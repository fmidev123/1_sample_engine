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105.xml" ContentType="application/vnd.openxmlformats-officedocument.drawingml.chart+xml"/>
  <Override PartName="/ppt/charts/chart106.xml" ContentType="application/vnd.openxmlformats-officedocument.drawingml.chart+xml"/>
  <Override PartName="/ppt/charts/chart107.xml" ContentType="application/vnd.openxmlformats-officedocument.drawingml.chart+xml"/>
  <Override PartName="/ppt/charts/chart108.xml" ContentType="application/vnd.openxmlformats-officedocument.drawingml.chart+xml"/>
  <Override PartName="/ppt/charts/chart109.xml" ContentType="application/vnd.openxmlformats-officedocument.drawingml.chart+xml"/>
  <Override PartName="/ppt/charts/chart11.xml" ContentType="application/vnd.openxmlformats-officedocument.drawingml.chart+xml"/>
  <Override PartName="/ppt/charts/chart110.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charts/chart113.xml" ContentType="application/vnd.openxmlformats-officedocument.drawingml.chart+xml"/>
  <Override PartName="/ppt/charts/chart114.xml" ContentType="application/vnd.openxmlformats-officedocument.drawingml.chart+xml"/>
  <Override PartName="/ppt/charts/chart115.xml" ContentType="application/vnd.openxmlformats-officedocument.drawingml.chart+xml"/>
  <Override PartName="/ppt/charts/chart116.xml" ContentType="application/vnd.openxmlformats-officedocument.drawingml.chart+xml"/>
  <Override PartName="/ppt/charts/chart117.xml" ContentType="application/vnd.openxmlformats-officedocument.drawingml.chart+xml"/>
  <Override PartName="/ppt/charts/chart118.xml" ContentType="application/vnd.openxmlformats-officedocument.drawingml.chart+xml"/>
  <Override PartName="/ppt/charts/chart119.xml" ContentType="application/vnd.openxmlformats-officedocument.drawingml.chart+xml"/>
  <Override PartName="/ppt/charts/chart12.xml" ContentType="application/vnd.openxmlformats-officedocument.drawingml.chart+xml"/>
  <Override PartName="/ppt/charts/chart120.xml" ContentType="application/vnd.openxmlformats-officedocument.drawingml.chart+xml"/>
  <Override PartName="/ppt/charts/chart121.xml" ContentType="application/vnd.openxmlformats-officedocument.drawingml.chart+xml"/>
  <Override PartName="/ppt/charts/chart122.xml" ContentType="application/vnd.openxmlformats-officedocument.drawingml.chart+xml"/>
  <Override PartName="/ppt/charts/chart123.xml" ContentType="application/vnd.openxmlformats-officedocument.drawingml.chart+xml"/>
  <Override PartName="/ppt/charts/chart124.xml" ContentType="application/vnd.openxmlformats-officedocument.drawingml.chart+xml"/>
  <Override PartName="/ppt/charts/chart125.xml" ContentType="application/vnd.openxmlformats-officedocument.drawingml.chart+xml"/>
  <Override PartName="/ppt/charts/chart126.xml" ContentType="application/vnd.openxmlformats-officedocument.drawingml.chart+xml"/>
  <Override PartName="/ppt/charts/chart127.xml" ContentType="application/vnd.openxmlformats-officedocument.drawingml.chart+xml"/>
  <Override PartName="/ppt/charts/chart128.xml" ContentType="application/vnd.openxmlformats-officedocument.drawingml.chart+xml"/>
  <Override PartName="/ppt/charts/chart129.xml" ContentType="application/vnd.openxmlformats-officedocument.drawingml.chart+xml"/>
  <Override PartName="/ppt/charts/chart13.xml" ContentType="application/vnd.openxmlformats-officedocument.drawingml.chart+xml"/>
  <Override PartName="/ppt/charts/chart130.xml" ContentType="application/vnd.openxmlformats-officedocument.drawingml.chart+xml"/>
  <Override PartName="/ppt/charts/chart131.xml" ContentType="application/vnd.openxmlformats-officedocument.drawingml.chart+xml"/>
  <Override PartName="/ppt/charts/chart132.xml" ContentType="application/vnd.openxmlformats-officedocument.drawingml.chart+xml"/>
  <Override PartName="/ppt/charts/chart133.xml" ContentType="application/vnd.openxmlformats-officedocument.drawingml.chart+xml"/>
  <Override PartName="/ppt/charts/chart134.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499" r:id="rId251"/>
    <p:sldId id="491" r:id="rId243"/>
    <p:sldId id="492" r:id="rId244"/>
    <p:sldId id="493" r:id="rId245"/>
    <p:sldId id="494" r:id="rId246"/>
    <p:sldId id="495" r:id="rId247"/>
    <p:sldId id="496" r:id="rId248"/>
    <p:sldId id="497" r:id="rId249"/>
    <p:sldId id="498" r:id="rId250"/>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3" r:id="rId45"/>
    <p:sldId id="294" r:id="rId46"/>
    <p:sldId id="295" r:id="rId47"/>
    <p:sldId id="300" r:id="rId52"/>
    <p:sldId id="301" r:id="rId53"/>
    <p:sldId id="302" r:id="rId54"/>
    <p:sldId id="303" r:id="rId55"/>
    <p:sldId id="304" r:id="rId56"/>
    <p:sldId id="305" r:id="rId57"/>
    <p:sldId id="306" r:id="rId58"/>
    <p:sldId id="308" r:id="rId60"/>
    <p:sldId id="309" r:id="rId61"/>
    <p:sldId id="312" r:id="rId64"/>
    <p:sldId id="313" r:id="rId65"/>
    <p:sldId id="314" r:id="rId66"/>
    <p:sldId id="315" r:id="rId67"/>
    <p:sldId id="316" r:id="rId68"/>
    <p:sldId id="318" r:id="rId70"/>
    <p:sldId id="319" r:id="rId71"/>
    <p:sldId id="322" r:id="rId74"/>
    <p:sldId id="323" r:id="rId75"/>
    <p:sldId id="324" r:id="rId76"/>
    <p:sldId id="325" r:id="rId77"/>
    <p:sldId id="327" r:id="rId79"/>
    <p:sldId id="328" r:id="rId80"/>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8" r:id="rId110"/>
    <p:sldId id="359" r:id="rId111"/>
    <p:sldId id="360" r:id="rId112"/>
    <p:sldId id="365" r:id="rId117"/>
    <p:sldId id="366" r:id="rId118"/>
    <p:sldId id="367" r:id="rId119"/>
    <p:sldId id="368" r:id="rId120"/>
    <p:sldId id="369" r:id="rId121"/>
    <p:sldId id="370" r:id="rId122"/>
    <p:sldId id="371" r:id="rId123"/>
    <p:sldId id="373" r:id="rId125"/>
    <p:sldId id="374" r:id="rId126"/>
    <p:sldId id="377" r:id="rId129"/>
    <p:sldId id="378" r:id="rId130"/>
    <p:sldId id="379" r:id="rId131"/>
    <p:sldId id="380" r:id="rId132"/>
    <p:sldId id="381" r:id="rId133"/>
    <p:sldId id="383" r:id="rId135"/>
    <p:sldId id="384" r:id="rId136"/>
    <p:sldId id="387" r:id="rId139"/>
    <p:sldId id="388" r:id="rId140"/>
    <p:sldId id="389" r:id="rId141"/>
    <p:sldId id="390" r:id="rId142"/>
    <p:sldId id="392" r:id="rId144"/>
    <p:sldId id="393" r:id="rId145"/>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12" r:id="rId164"/>
    <p:sldId id="413" r:id="rId165"/>
    <p:sldId id="414" r:id="rId166"/>
    <p:sldId id="416" r:id="rId168"/>
    <p:sldId id="419" r:id="rId171"/>
    <p:sldId id="420" r:id="rId172"/>
    <p:sldId id="421" r:id="rId173"/>
    <p:sldId id="423" r:id="rId175"/>
    <p:sldId id="424" r:id="rId176"/>
    <p:sldId id="425" r:id="rId177"/>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500" r:id="rId17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slide" Target="slides/slide23.xml"/><Relationship Id="rId22" Type="http://schemas.openxmlformats.org/officeDocument/2006/relationships/slide" Target="slides/slide24.xml"/><Relationship Id="rId23" Type="http://schemas.openxmlformats.org/officeDocument/2006/relationships/slide" Target="slides/slide25.xml"/><Relationship Id="rId24" Type="http://schemas.openxmlformats.org/officeDocument/2006/relationships/slide" Target="slides/slide26.xml"/><Relationship Id="rId25" Type="http://schemas.openxmlformats.org/officeDocument/2006/relationships/slide" Target="slides/slide27.xml"/><Relationship Id="rId26" Type="http://schemas.openxmlformats.org/officeDocument/2006/relationships/slide" Target="slides/slide28.xml"/><Relationship Id="rId27" Type="http://schemas.openxmlformats.org/officeDocument/2006/relationships/slide" Target="slides/slide29.xml"/><Relationship Id="rId28" Type="http://schemas.openxmlformats.org/officeDocument/2006/relationships/slide" Target="slides/slide30.xml"/><Relationship Id="rId29" Type="http://schemas.openxmlformats.org/officeDocument/2006/relationships/slide" Target="slides/slide31.xml"/><Relationship Id="rId30" Type="http://schemas.openxmlformats.org/officeDocument/2006/relationships/slide" Target="slides/slide32.xml"/><Relationship Id="rId31" Type="http://schemas.openxmlformats.org/officeDocument/2006/relationships/slide" Target="slides/slide33.xml"/><Relationship Id="rId32" Type="http://schemas.openxmlformats.org/officeDocument/2006/relationships/slide" Target="slides/slide34.xml"/><Relationship Id="rId33" Type="http://schemas.openxmlformats.org/officeDocument/2006/relationships/slide" Target="slides/slide35.xml"/><Relationship Id="rId34" Type="http://schemas.openxmlformats.org/officeDocument/2006/relationships/slide" Target="slides/slide36.xml"/><Relationship Id="rId35" Type="http://schemas.openxmlformats.org/officeDocument/2006/relationships/slide" Target="slides/slide37.xml"/><Relationship Id="rId36" Type="http://schemas.openxmlformats.org/officeDocument/2006/relationships/slide" Target="slides/slide38.xml"/><Relationship Id="rId37" Type="http://schemas.openxmlformats.org/officeDocument/2006/relationships/slide" Target="slides/slide39.xml"/><Relationship Id="rId38" Type="http://schemas.openxmlformats.org/officeDocument/2006/relationships/slide" Target="slides/slide40.xml"/><Relationship Id="rId39" Type="http://schemas.openxmlformats.org/officeDocument/2006/relationships/slide" Target="slides/slide41.xml"/><Relationship Id="rId40" Type="http://schemas.openxmlformats.org/officeDocument/2006/relationships/slide" Target="slides/slide42.xml"/><Relationship Id="rId41" Type="http://schemas.openxmlformats.org/officeDocument/2006/relationships/slide" Target="slides/slide43.xml"/><Relationship Id="rId42"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slide" Target="slides/slide46.xml"/><Relationship Id="rId47"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9" Type="http://schemas.openxmlformats.org/officeDocument/2006/relationships/slide" Target="slides/slide68.xml"/><Relationship Id="rId80" Type="http://schemas.openxmlformats.org/officeDocument/2006/relationships/slide" Target="slides/slide69.xml"/><Relationship Id="rId83" Type="http://schemas.openxmlformats.org/officeDocument/2006/relationships/slide" Target="slides/slide70.xml"/><Relationship Id="rId84" Type="http://schemas.openxmlformats.org/officeDocument/2006/relationships/slide" Target="slides/slide71.xml"/><Relationship Id="rId85" Type="http://schemas.openxmlformats.org/officeDocument/2006/relationships/slide" Target="slides/slide72.xml"/><Relationship Id="rId86" Type="http://schemas.openxmlformats.org/officeDocument/2006/relationships/slide" Target="slides/slide73.xml"/><Relationship Id="rId87" Type="http://schemas.openxmlformats.org/officeDocument/2006/relationships/slide" Target="slides/slide74.xml"/><Relationship Id="rId88" Type="http://schemas.openxmlformats.org/officeDocument/2006/relationships/slide" Target="slides/slide75.xml"/><Relationship Id="rId89" Type="http://schemas.openxmlformats.org/officeDocument/2006/relationships/slide" Target="slides/slide76.xml"/><Relationship Id="rId90" Type="http://schemas.openxmlformats.org/officeDocument/2006/relationships/slide" Target="slides/slide77.xml"/><Relationship Id="rId91" Type="http://schemas.openxmlformats.org/officeDocument/2006/relationships/slide" Target="slides/slide78.xml"/><Relationship Id="rId92" Type="http://schemas.openxmlformats.org/officeDocument/2006/relationships/slide" Target="slides/slide79.xml"/><Relationship Id="rId93" Type="http://schemas.openxmlformats.org/officeDocument/2006/relationships/slide" Target="slides/slide80.xml"/><Relationship Id="rId94" Type="http://schemas.openxmlformats.org/officeDocument/2006/relationships/slide" Target="slides/slide81.xml"/><Relationship Id="rId95" Type="http://schemas.openxmlformats.org/officeDocument/2006/relationships/slide" Target="slides/slide82.xml"/><Relationship Id="rId96" Type="http://schemas.openxmlformats.org/officeDocument/2006/relationships/slide" Target="slides/slide83.xml"/><Relationship Id="rId97" Type="http://schemas.openxmlformats.org/officeDocument/2006/relationships/slide" Target="slides/slide84.xml"/><Relationship Id="rId98" Type="http://schemas.openxmlformats.org/officeDocument/2006/relationships/slide" Target="slides/slide85.xml"/><Relationship Id="rId99" Type="http://schemas.openxmlformats.org/officeDocument/2006/relationships/slide" Target="slides/slide86.xml"/><Relationship Id="rId100" Type="http://schemas.openxmlformats.org/officeDocument/2006/relationships/slide" Target="slides/slide87.xml"/><Relationship Id="rId101" Type="http://schemas.openxmlformats.org/officeDocument/2006/relationships/slide" Target="slides/slide88.xml"/><Relationship Id="rId102" Type="http://schemas.openxmlformats.org/officeDocument/2006/relationships/slide" Target="slides/slide89.xml"/><Relationship Id="rId103" Type="http://schemas.openxmlformats.org/officeDocument/2006/relationships/slide" Target="slides/slide90.xml"/><Relationship Id="rId104" Type="http://schemas.openxmlformats.org/officeDocument/2006/relationships/slide" Target="slides/slide91.xml"/><Relationship Id="rId105" Type="http://schemas.openxmlformats.org/officeDocument/2006/relationships/slide" Target="slides/slide92.xml"/><Relationship Id="rId106" Type="http://schemas.openxmlformats.org/officeDocument/2006/relationships/slide" Target="slides/slide93.xml"/><Relationship Id="rId107" Type="http://schemas.openxmlformats.org/officeDocument/2006/relationships/slide" Target="slides/slide94.xml"/><Relationship Id="rId110" Type="http://schemas.openxmlformats.org/officeDocument/2006/relationships/slide" Target="slides/slide95.xml"/><Relationship Id="rId111" Type="http://schemas.openxmlformats.org/officeDocument/2006/relationships/slide" Target="slides/slide96.xml"/><Relationship Id="rId112" Type="http://schemas.openxmlformats.org/officeDocument/2006/relationships/slide" Target="slides/slide97.xml"/><Relationship Id="rId117" Type="http://schemas.openxmlformats.org/officeDocument/2006/relationships/slide" Target="slides/slide98.xml"/><Relationship Id="rId118" Type="http://schemas.openxmlformats.org/officeDocument/2006/relationships/slide" Target="slides/slide99.xml"/><Relationship Id="rId119" Type="http://schemas.openxmlformats.org/officeDocument/2006/relationships/slide" Target="slides/slide100.xml"/><Relationship Id="rId120" Type="http://schemas.openxmlformats.org/officeDocument/2006/relationships/slide" Target="slides/slide101.xml"/><Relationship Id="rId121" Type="http://schemas.openxmlformats.org/officeDocument/2006/relationships/slide" Target="slides/slide102.xml"/><Relationship Id="rId122" Type="http://schemas.openxmlformats.org/officeDocument/2006/relationships/slide" Target="slides/slide103.xml"/><Relationship Id="rId123" Type="http://schemas.openxmlformats.org/officeDocument/2006/relationships/slide" Target="slides/slide104.xml"/><Relationship Id="rId125" Type="http://schemas.openxmlformats.org/officeDocument/2006/relationships/slide" Target="slides/slide105.xml"/><Relationship Id="rId126" Type="http://schemas.openxmlformats.org/officeDocument/2006/relationships/slide" Target="slides/slide106.xml"/><Relationship Id="rId129" Type="http://schemas.openxmlformats.org/officeDocument/2006/relationships/slide" Target="slides/slide107.xml"/><Relationship Id="rId130" Type="http://schemas.openxmlformats.org/officeDocument/2006/relationships/slide" Target="slides/slide108.xml"/><Relationship Id="rId131" Type="http://schemas.openxmlformats.org/officeDocument/2006/relationships/slide" Target="slides/slide109.xml"/><Relationship Id="rId132" Type="http://schemas.openxmlformats.org/officeDocument/2006/relationships/slide" Target="slides/slide110.xml"/><Relationship Id="rId133" Type="http://schemas.openxmlformats.org/officeDocument/2006/relationships/slide" Target="slides/slide111.xml"/><Relationship Id="rId135" Type="http://schemas.openxmlformats.org/officeDocument/2006/relationships/slide" Target="slides/slide112.xml"/><Relationship Id="rId136" Type="http://schemas.openxmlformats.org/officeDocument/2006/relationships/slide" Target="slides/slide113.xml"/><Relationship Id="rId139" Type="http://schemas.openxmlformats.org/officeDocument/2006/relationships/slide" Target="slides/slide114.xml"/><Relationship Id="rId140" Type="http://schemas.openxmlformats.org/officeDocument/2006/relationships/slide" Target="slides/slide115.xml"/><Relationship Id="rId141" Type="http://schemas.openxmlformats.org/officeDocument/2006/relationships/slide" Target="slides/slide116.xml"/><Relationship Id="rId142" Type="http://schemas.openxmlformats.org/officeDocument/2006/relationships/slide" Target="slides/slide117.xml"/><Relationship Id="rId144" Type="http://schemas.openxmlformats.org/officeDocument/2006/relationships/slide" Target="slides/slide118.xml"/><Relationship Id="rId145" Type="http://schemas.openxmlformats.org/officeDocument/2006/relationships/slide" Target="slides/slide119.xml"/><Relationship Id="rId148" Type="http://schemas.openxmlformats.org/officeDocument/2006/relationships/slide" Target="slides/slide120.xml"/><Relationship Id="rId149" Type="http://schemas.openxmlformats.org/officeDocument/2006/relationships/slide" Target="slides/slide121.xml"/><Relationship Id="rId150" Type="http://schemas.openxmlformats.org/officeDocument/2006/relationships/slide" Target="slides/slide122.xml"/><Relationship Id="rId151" Type="http://schemas.openxmlformats.org/officeDocument/2006/relationships/slide" Target="slides/slide123.xml"/><Relationship Id="rId152" Type="http://schemas.openxmlformats.org/officeDocument/2006/relationships/slide" Target="slides/slide124.xml"/><Relationship Id="rId153" Type="http://schemas.openxmlformats.org/officeDocument/2006/relationships/slide" Target="slides/slide125.xml"/><Relationship Id="rId154" Type="http://schemas.openxmlformats.org/officeDocument/2006/relationships/slide" Target="slides/slide126.xml"/><Relationship Id="rId155" Type="http://schemas.openxmlformats.org/officeDocument/2006/relationships/slide" Target="slides/slide127.xml"/><Relationship Id="rId156" Type="http://schemas.openxmlformats.org/officeDocument/2006/relationships/slide" Target="slides/slide128.xml"/><Relationship Id="rId157" Type="http://schemas.openxmlformats.org/officeDocument/2006/relationships/slide" Target="slides/slide129.xml"/><Relationship Id="rId158" Type="http://schemas.openxmlformats.org/officeDocument/2006/relationships/slide" Target="slides/slide130.xml"/><Relationship Id="rId159" Type="http://schemas.openxmlformats.org/officeDocument/2006/relationships/slide" Target="slides/slide131.xml"/><Relationship Id="rId164" Type="http://schemas.openxmlformats.org/officeDocument/2006/relationships/slide" Target="slides/slide132.xml"/><Relationship Id="rId165" Type="http://schemas.openxmlformats.org/officeDocument/2006/relationships/slide" Target="slides/slide133.xml"/><Relationship Id="rId166" Type="http://schemas.openxmlformats.org/officeDocument/2006/relationships/slide" Target="slides/slide134.xml"/><Relationship Id="rId168" Type="http://schemas.openxmlformats.org/officeDocument/2006/relationships/slide" Target="slides/slide135.xml"/><Relationship Id="rId171" Type="http://schemas.openxmlformats.org/officeDocument/2006/relationships/slide" Target="slides/slide136.xml"/><Relationship Id="rId172" Type="http://schemas.openxmlformats.org/officeDocument/2006/relationships/slide" Target="slides/slide137.xml"/><Relationship Id="rId173" Type="http://schemas.openxmlformats.org/officeDocument/2006/relationships/slide" Target="slides/slide138.xml"/><Relationship Id="rId175" Type="http://schemas.openxmlformats.org/officeDocument/2006/relationships/slide" Target="slides/slide139.xml"/><Relationship Id="rId176" Type="http://schemas.openxmlformats.org/officeDocument/2006/relationships/slide" Target="slides/slide140.xml"/><Relationship Id="rId177" Type="http://schemas.openxmlformats.org/officeDocument/2006/relationships/slide" Target="slides/slide141.xml"/><Relationship Id="rId178" Type="http://schemas.openxmlformats.org/officeDocument/2006/relationships/slide" Target="slides/slide196.xml"/><Relationship Id="rId179" Type="http://schemas.openxmlformats.org/officeDocument/2006/relationships/slide" Target="slides/slide142.xml"/><Relationship Id="rId180" Type="http://schemas.openxmlformats.org/officeDocument/2006/relationships/slide" Target="slides/slide143.xml"/><Relationship Id="rId181" Type="http://schemas.openxmlformats.org/officeDocument/2006/relationships/slide" Target="slides/slide144.xml"/><Relationship Id="rId182" Type="http://schemas.openxmlformats.org/officeDocument/2006/relationships/slide" Target="slides/slide145.xml"/><Relationship Id="rId183" Type="http://schemas.openxmlformats.org/officeDocument/2006/relationships/slide" Target="slides/slide146.xml"/><Relationship Id="rId184" Type="http://schemas.openxmlformats.org/officeDocument/2006/relationships/slide" Target="slides/slide147.xml"/><Relationship Id="rId185" Type="http://schemas.openxmlformats.org/officeDocument/2006/relationships/slide" Target="slides/slide148.xml"/><Relationship Id="rId186" Type="http://schemas.openxmlformats.org/officeDocument/2006/relationships/slide" Target="slides/slide149.xml"/><Relationship Id="rId187" Type="http://schemas.openxmlformats.org/officeDocument/2006/relationships/slide" Target="slides/slide150.xml"/><Relationship Id="rId188" Type="http://schemas.openxmlformats.org/officeDocument/2006/relationships/slide" Target="slides/slide151.xml"/><Relationship Id="rId189" Type="http://schemas.openxmlformats.org/officeDocument/2006/relationships/slide" Target="slides/slide152.xml"/><Relationship Id="rId190" Type="http://schemas.openxmlformats.org/officeDocument/2006/relationships/slide" Target="slides/slide153.xml"/><Relationship Id="rId191" Type="http://schemas.openxmlformats.org/officeDocument/2006/relationships/slide" Target="slides/slide154.xml"/><Relationship Id="rId192" Type="http://schemas.openxmlformats.org/officeDocument/2006/relationships/slide" Target="slides/slide155.xml"/><Relationship Id="rId193" Type="http://schemas.openxmlformats.org/officeDocument/2006/relationships/slide" Target="slides/slide156.xml"/><Relationship Id="rId194" Type="http://schemas.openxmlformats.org/officeDocument/2006/relationships/slide" Target="slides/slide157.xml"/><Relationship Id="rId195" Type="http://schemas.openxmlformats.org/officeDocument/2006/relationships/slide" Target="slides/slide158.xml"/><Relationship Id="rId196" Type="http://schemas.openxmlformats.org/officeDocument/2006/relationships/slide" Target="slides/slide159.xml"/><Relationship Id="rId197" Type="http://schemas.openxmlformats.org/officeDocument/2006/relationships/slide" Target="slides/slide160.xml"/><Relationship Id="rId198" Type="http://schemas.openxmlformats.org/officeDocument/2006/relationships/slide" Target="slides/slide161.xml"/><Relationship Id="rId199" Type="http://schemas.openxmlformats.org/officeDocument/2006/relationships/slide" Target="slides/slide162.xml"/><Relationship Id="rId200" Type="http://schemas.openxmlformats.org/officeDocument/2006/relationships/slide" Target="slides/slide163.xml"/><Relationship Id="rId201" Type="http://schemas.openxmlformats.org/officeDocument/2006/relationships/slide" Target="slides/slide164.xml"/><Relationship Id="rId202" Type="http://schemas.openxmlformats.org/officeDocument/2006/relationships/slide" Target="slides/slide165.xml"/><Relationship Id="rId203" Type="http://schemas.openxmlformats.org/officeDocument/2006/relationships/slide" Target="slides/slide166.xml"/><Relationship Id="rId204" Type="http://schemas.openxmlformats.org/officeDocument/2006/relationships/slide" Target="slides/slide167.xml"/><Relationship Id="rId205" Type="http://schemas.openxmlformats.org/officeDocument/2006/relationships/slide" Target="slides/slide168.xml"/><Relationship Id="rId206" Type="http://schemas.openxmlformats.org/officeDocument/2006/relationships/slide" Target="slides/slide169.xml"/><Relationship Id="rId207" Type="http://schemas.openxmlformats.org/officeDocument/2006/relationships/slide" Target="slides/slide170.xml"/><Relationship Id="rId208" Type="http://schemas.openxmlformats.org/officeDocument/2006/relationships/slide" Target="slides/slide171.xml"/><Relationship Id="rId209" Type="http://schemas.openxmlformats.org/officeDocument/2006/relationships/slide" Target="slides/slide172.xml"/><Relationship Id="rId210" Type="http://schemas.openxmlformats.org/officeDocument/2006/relationships/slide" Target="slides/slide173.xml"/><Relationship Id="rId211" Type="http://schemas.openxmlformats.org/officeDocument/2006/relationships/slide" Target="slides/slide174.xml"/><Relationship Id="rId212" Type="http://schemas.openxmlformats.org/officeDocument/2006/relationships/slide" Target="slides/slide175.xml"/><Relationship Id="rId213" Type="http://schemas.openxmlformats.org/officeDocument/2006/relationships/slide" Target="slides/slide176.xml"/><Relationship Id="rId214" Type="http://schemas.openxmlformats.org/officeDocument/2006/relationships/slide" Target="slides/slide177.xml"/><Relationship Id="rId215" Type="http://schemas.openxmlformats.org/officeDocument/2006/relationships/slide" Target="slides/slide178.xml"/><Relationship Id="rId216" Type="http://schemas.openxmlformats.org/officeDocument/2006/relationships/slide" Target="slides/slide179.xml"/><Relationship Id="rId217" Type="http://schemas.openxmlformats.org/officeDocument/2006/relationships/slide" Target="slides/slide180.xml"/><Relationship Id="rId218" Type="http://schemas.openxmlformats.org/officeDocument/2006/relationships/slide" Target="slides/slide181.xml"/><Relationship Id="rId219" Type="http://schemas.openxmlformats.org/officeDocument/2006/relationships/slide" Target="slides/slide182.xml"/><Relationship Id="rId220" Type="http://schemas.openxmlformats.org/officeDocument/2006/relationships/slide" Target="slides/slide183.xml"/><Relationship Id="rId221" Type="http://schemas.openxmlformats.org/officeDocument/2006/relationships/slide" Target="slides/slide184.xml"/><Relationship Id="rId222" Type="http://schemas.openxmlformats.org/officeDocument/2006/relationships/slide" Target="slides/slide185.xml"/><Relationship Id="rId223" Type="http://schemas.openxmlformats.org/officeDocument/2006/relationships/slide" Target="slides/slide186.xml"/><Relationship Id="rId224" Type="http://schemas.openxmlformats.org/officeDocument/2006/relationships/slide" Target="slides/slide187.xml"/><Relationship Id="rId225" Type="http://schemas.openxmlformats.org/officeDocument/2006/relationships/slide" Target="slides/slide188.xml"/><Relationship Id="rId226" Type="http://schemas.openxmlformats.org/officeDocument/2006/relationships/slide" Target="slides/slide189.xml"/><Relationship Id="rId227" Type="http://schemas.openxmlformats.org/officeDocument/2006/relationships/slide" Target="slides/slide190.xml"/><Relationship Id="rId228" Type="http://schemas.openxmlformats.org/officeDocument/2006/relationships/slide" Target="slides/slide191.xml"/><Relationship Id="rId229" Type="http://schemas.openxmlformats.org/officeDocument/2006/relationships/slide" Target="slides/slide192.xml"/><Relationship Id="rId230" Type="http://schemas.openxmlformats.org/officeDocument/2006/relationships/slide" Target="slides/slide193.xml"/><Relationship Id="rId231" Type="http://schemas.openxmlformats.org/officeDocument/2006/relationships/slide" Target="slides/slide194.xml"/><Relationship Id="rId232" Type="http://schemas.openxmlformats.org/officeDocument/2006/relationships/slide" Target="slides/slide195.xml"/><Relationship Id="rId243" Type="http://schemas.openxmlformats.org/officeDocument/2006/relationships/slide" Target="slides/slide11.xml"/><Relationship Id="rId244" Type="http://schemas.openxmlformats.org/officeDocument/2006/relationships/slide" Target="slides/slide12.xml"/><Relationship Id="rId245" Type="http://schemas.openxmlformats.org/officeDocument/2006/relationships/slide" Target="slides/slide13.xml"/><Relationship Id="rId246" Type="http://schemas.openxmlformats.org/officeDocument/2006/relationships/slide" Target="slides/slide14.xml"/><Relationship Id="rId247" Type="http://schemas.openxmlformats.org/officeDocument/2006/relationships/slide" Target="slides/slide15.xml"/><Relationship Id="rId248" Type="http://schemas.openxmlformats.org/officeDocument/2006/relationships/slide" Target="slides/slide16.xml"/><Relationship Id="rId249" Type="http://schemas.openxmlformats.org/officeDocument/2006/relationships/slide" Target="slides/slide17.xml"/><Relationship Id="rId250" Type="http://schemas.openxmlformats.org/officeDocument/2006/relationships/slide" Target="slides/slide18.xml"/><Relationship Id="rId251" Type="http://schemas.openxmlformats.org/officeDocument/2006/relationships/slide" Target="slides/slide10.xml"/></Relationships>
</file>

<file path=ppt/charts/_rels/chart1.xml.rels><?xml version='1.0' encoding='UTF-8' standalone='yes'?>
<Relationships xmlns="http://schemas.openxmlformats.org/package/2006/relationships"><Relationship Id="rId2" Type="http://schemas.openxmlformats.org/officeDocument/2006/relationships/image" Target="../media/image3.png"/></Relationships>
</file>

<file path=ppt/charts/_rels/chart3.xml.rels><?xml version='1.0' encoding='UTF-8' standalone='yes'?>
<Relationships xmlns="http://schemas.openxmlformats.org/package/2006/relationships"><Relationship Id="rId2" Type="http://schemas.openxmlformats.org/officeDocument/2006/relationships/image" Target="../media/image4.png"/></Relationships>
</file>

<file path=ppt/charts/_rels/chart5.xml.rels><?xml version='1.0' encoding='UTF-8' standalone='yes'?>
<Relationships xmlns="http://schemas.openxmlformats.org/package/2006/relationships"><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s>
</file>

<file path=ppt/charts/_rels/chart6.xml.rels><?xml version='1.0' encoding='UTF-8' standalone='yes'?>
<Relationships xmlns="http://schemas.openxmlformats.org/package/2006/relationships"><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image" Target="../media/image29.png"/><Relationship Id="rId17" Type="http://schemas.openxmlformats.org/officeDocument/2006/relationships/image" Target="../media/image30.png"/><Relationship Id="rId18" Type="http://schemas.openxmlformats.org/officeDocument/2006/relationships/image" Target="../media/image31.png"/><Relationship Id="rId19" Type="http://schemas.openxmlformats.org/officeDocument/2006/relationships/image" Target="../media/image32.png"/><Relationship Id="rId20" Type="http://schemas.openxmlformats.org/officeDocument/2006/relationships/image" Target="../media/image33.png"/><Relationship Id="rId21" Type="http://schemas.openxmlformats.org/officeDocument/2006/relationships/image" Target="../media/image34.png"/><Relationship Id="rId22" Type="http://schemas.openxmlformats.org/officeDocument/2006/relationships/image" Target="../media/image35.png"/><Relationship Id="rId23" Type="http://schemas.openxmlformats.org/officeDocument/2006/relationships/image" Target="../media/image36.png"/></Relationships>
</file>

<file path=ppt/charts/_rels/chart7.xml.rels><?xml version='1.0' encoding='UTF-8' standalone='yes'?>
<Relationships xmlns="http://schemas.openxmlformats.org/package/2006/relationships"><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 Id="rId11" Type="http://schemas.openxmlformats.org/officeDocument/2006/relationships/image" Target="../media/image46.png"/></Relationships>
</file>

<file path=ppt/charts/_rels/chart8.xml.rels><?xml version='1.0' encoding='UTF-8' standalone='yes'?>
<Relationships xmlns="http://schemas.openxmlformats.org/package/2006/relationships"><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image" Target="../media/image52.png"/><Relationship Id="rId8" Type="http://schemas.openxmlformats.org/officeDocument/2006/relationships/image" Target="../media/image53.png"/><Relationship Id="rId9" Type="http://schemas.openxmlformats.org/officeDocument/2006/relationships/image" Target="../media/image54.png"/><Relationship Id="rId10" Type="http://schemas.openxmlformats.org/officeDocument/2006/relationships/image" Target="../media/image55.png"/><Relationship Id="rId11" Type="http://schemas.openxmlformats.org/officeDocument/2006/relationships/image" Target="../media/image56.png"/></Relationships>
</file>

<file path=ppt/charts/_rels/chart9.xml.rels><?xml version='1.0' encoding='UTF-8' standalone='yes'?>
<Relationships xmlns="http://schemas.openxmlformats.org/package/2006/relationships"><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 Id="rId7" Type="http://schemas.openxmlformats.org/officeDocument/2006/relationships/image" Target="../media/image62.png"/><Relationship Id="rId8" Type="http://schemas.openxmlformats.org/officeDocument/2006/relationships/image" Target="../media/image63.png"/></Relationships>
</file>

<file path=ppt/charts/_rels/chart11.xml.rels><?xml version='1.0' encoding='UTF-8' standalone='yes'?>
<Relationships xmlns="http://schemas.openxmlformats.org/package/2006/relationships"><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90.png"/><Relationship Id="rId11" Type="http://schemas.openxmlformats.org/officeDocument/2006/relationships/image" Target="../media/image91.png"/><Relationship Id="rId12" Type="http://schemas.openxmlformats.org/officeDocument/2006/relationships/image" Target="../media/image92.png"/></Relationships>
</file>

<file path=ppt/charts/_rels/chart12.xml.rels><?xml version='1.0' encoding='UTF-8' standalone='yes'?>
<Relationships xmlns="http://schemas.openxmlformats.org/package/2006/relationships"><Relationship Id="rId2" Type="http://schemas.openxmlformats.org/officeDocument/2006/relationships/image" Target="../media/image94.png"/><Relationship Id="rId3" Type="http://schemas.openxmlformats.org/officeDocument/2006/relationships/image" Target="../media/image95.png"/><Relationship Id="rId4" Type="http://schemas.openxmlformats.org/officeDocument/2006/relationships/image" Target="../media/image96.png"/><Relationship Id="rId5" Type="http://schemas.openxmlformats.org/officeDocument/2006/relationships/image" Target="../media/image97.png"/><Relationship Id="rId6" Type="http://schemas.openxmlformats.org/officeDocument/2006/relationships/image" Target="../media/image98.png"/><Relationship Id="rId7" Type="http://schemas.openxmlformats.org/officeDocument/2006/relationships/image" Target="../media/image99.png"/><Relationship Id="rId8" Type="http://schemas.openxmlformats.org/officeDocument/2006/relationships/image" Target="../media/image100.png"/><Relationship Id="rId9" Type="http://schemas.openxmlformats.org/officeDocument/2006/relationships/image" Target="../media/image101.png"/><Relationship Id="rId10" Type="http://schemas.openxmlformats.org/officeDocument/2006/relationships/image" Target="../media/image102.png"/><Relationship Id="rId11" Type="http://schemas.openxmlformats.org/officeDocument/2006/relationships/image" Target="../media/image103.png"/><Relationship Id="rId12" Type="http://schemas.openxmlformats.org/officeDocument/2006/relationships/image" Target="../media/image104.png"/><Relationship Id="rId13" Type="http://schemas.openxmlformats.org/officeDocument/2006/relationships/image" Target="../media/image105.png"/></Relationships>
</file>

<file path=ppt/charts/_rels/chart13.xml.rels><?xml version='1.0' encoding='UTF-8' standalone='yes'?>
<Relationships xmlns="http://schemas.openxmlformats.org/package/2006/relationships"><Relationship Id="rId2" Type="http://schemas.openxmlformats.org/officeDocument/2006/relationships/image" Target="../media/image109.png"/></Relationships>
</file>

<file path=ppt/charts/_rels/chart14.xml.rels><?xml version='1.0' encoding='UTF-8' standalone='yes'?>
<Relationships xmlns="http://schemas.openxmlformats.org/package/2006/relationships"><Relationship Id="rId2" Type="http://schemas.openxmlformats.org/officeDocument/2006/relationships/image" Target="../media/image110.png"/></Relationships>
</file>

<file path=ppt/charts/_rels/chart15.xml.rels><?xml version='1.0' encoding='UTF-8' standalone='yes'?>
<Relationships xmlns="http://schemas.openxmlformats.org/package/2006/relationships"><Relationship Id="rId2" Type="http://schemas.openxmlformats.org/officeDocument/2006/relationships/image" Target="../media/image123.png"/><Relationship Id="rId3" Type="http://schemas.openxmlformats.org/officeDocument/2006/relationships/image" Target="../media/image124.png"/><Relationship Id="rId4" Type="http://schemas.openxmlformats.org/officeDocument/2006/relationships/image" Target="../media/image125.png"/><Relationship Id="rId5" Type="http://schemas.openxmlformats.org/officeDocument/2006/relationships/image" Target="../media/image126.png"/><Relationship Id="rId6" Type="http://schemas.openxmlformats.org/officeDocument/2006/relationships/image" Target="../media/image127.png"/><Relationship Id="rId7" Type="http://schemas.openxmlformats.org/officeDocument/2006/relationships/image" Target="../media/image128.png"/><Relationship Id="rId8" Type="http://schemas.openxmlformats.org/officeDocument/2006/relationships/image" Target="../media/image129.png"/><Relationship Id="rId9" Type="http://schemas.openxmlformats.org/officeDocument/2006/relationships/image" Target="../media/image130.png"/><Relationship Id="rId10" Type="http://schemas.openxmlformats.org/officeDocument/2006/relationships/image" Target="../media/image131.png"/><Relationship Id="rId11" Type="http://schemas.openxmlformats.org/officeDocument/2006/relationships/image" Target="../media/image132.png"/><Relationship Id="rId12" Type="http://schemas.openxmlformats.org/officeDocument/2006/relationships/image" Target="../media/image133.png"/><Relationship Id="rId13" Type="http://schemas.openxmlformats.org/officeDocument/2006/relationships/image" Target="../media/image134.png"/><Relationship Id="rId14" Type="http://schemas.openxmlformats.org/officeDocument/2006/relationships/image" Target="../media/image135.png"/><Relationship Id="rId15" Type="http://schemas.openxmlformats.org/officeDocument/2006/relationships/image" Target="../media/image136.png"/><Relationship Id="rId16" Type="http://schemas.openxmlformats.org/officeDocument/2006/relationships/image" Target="../media/image137.png"/><Relationship Id="rId17" Type="http://schemas.openxmlformats.org/officeDocument/2006/relationships/image" Target="../media/image138.png"/><Relationship Id="rId18" Type="http://schemas.openxmlformats.org/officeDocument/2006/relationships/image" Target="../media/image139.png"/><Relationship Id="rId19" Type="http://schemas.openxmlformats.org/officeDocument/2006/relationships/image" Target="../media/image140.png"/><Relationship Id="rId20" Type="http://schemas.openxmlformats.org/officeDocument/2006/relationships/image" Target="../media/image141.png"/><Relationship Id="rId21" Type="http://schemas.openxmlformats.org/officeDocument/2006/relationships/image" Target="../media/image142.png"/><Relationship Id="rId22" Type="http://schemas.openxmlformats.org/officeDocument/2006/relationships/image" Target="../media/image143.png"/><Relationship Id="rId23" Type="http://schemas.openxmlformats.org/officeDocument/2006/relationships/image" Target="../media/image144.png"/><Relationship Id="rId24" Type="http://schemas.openxmlformats.org/officeDocument/2006/relationships/image" Target="../media/image145.png"/><Relationship Id="rId25" Type="http://schemas.openxmlformats.org/officeDocument/2006/relationships/image" Target="../media/image146.png"/><Relationship Id="rId26" Type="http://schemas.openxmlformats.org/officeDocument/2006/relationships/image" Target="../media/image147.png"/><Relationship Id="rId27" Type="http://schemas.openxmlformats.org/officeDocument/2006/relationships/image" Target="../media/image148.png"/><Relationship Id="rId28" Type="http://schemas.openxmlformats.org/officeDocument/2006/relationships/image" Target="../media/image149.png"/><Relationship Id="rId29" Type="http://schemas.openxmlformats.org/officeDocument/2006/relationships/image" Target="../media/image150.png"/><Relationship Id="rId30" Type="http://schemas.openxmlformats.org/officeDocument/2006/relationships/image" Target="../media/image151.png"/><Relationship Id="rId31" Type="http://schemas.openxmlformats.org/officeDocument/2006/relationships/image" Target="../media/image152.png"/><Relationship Id="rId32" Type="http://schemas.openxmlformats.org/officeDocument/2006/relationships/image" Target="../media/image153.png"/><Relationship Id="rId33" Type="http://schemas.openxmlformats.org/officeDocument/2006/relationships/image" Target="../media/image154.png"/><Relationship Id="rId34" Type="http://schemas.openxmlformats.org/officeDocument/2006/relationships/image" Target="../media/image155.png"/><Relationship Id="rId35" Type="http://schemas.openxmlformats.org/officeDocument/2006/relationships/image" Target="../media/image156.png"/><Relationship Id="rId36" Type="http://schemas.openxmlformats.org/officeDocument/2006/relationships/image" Target="../media/image157.png"/></Relationships>
</file>

<file path=ppt/charts/_rels/chart24.xml.rels><?xml version='1.0' encoding='UTF-8' standalone='yes'?>
<Relationships xmlns="http://schemas.openxmlformats.org/package/2006/relationships"><Relationship Id="rId2" Type="http://schemas.openxmlformats.org/officeDocument/2006/relationships/image" Target="../media/image158.png"/><Relationship Id="rId3" Type="http://schemas.openxmlformats.org/officeDocument/2006/relationships/image" Target="../media/image159.png"/><Relationship Id="rId4" Type="http://schemas.openxmlformats.org/officeDocument/2006/relationships/image" Target="../media/image160.png"/><Relationship Id="rId5" Type="http://schemas.openxmlformats.org/officeDocument/2006/relationships/image" Target="../media/image161.png"/><Relationship Id="rId6" Type="http://schemas.openxmlformats.org/officeDocument/2006/relationships/image" Target="../media/image162.png"/><Relationship Id="rId7" Type="http://schemas.openxmlformats.org/officeDocument/2006/relationships/image" Target="../media/image163.png"/><Relationship Id="rId8" Type="http://schemas.openxmlformats.org/officeDocument/2006/relationships/image" Target="../media/image164.png"/><Relationship Id="rId9" Type="http://schemas.openxmlformats.org/officeDocument/2006/relationships/image" Target="../media/image165.png"/><Relationship Id="rId10" Type="http://schemas.openxmlformats.org/officeDocument/2006/relationships/image" Target="../media/image166.png"/><Relationship Id="rId11" Type="http://schemas.openxmlformats.org/officeDocument/2006/relationships/image" Target="../media/image167.png"/><Relationship Id="rId12" Type="http://schemas.openxmlformats.org/officeDocument/2006/relationships/image" Target="../media/image168.png"/><Relationship Id="rId13" Type="http://schemas.openxmlformats.org/officeDocument/2006/relationships/image" Target="../media/image169.png"/><Relationship Id="rId14" Type="http://schemas.openxmlformats.org/officeDocument/2006/relationships/image" Target="../media/image170.png"/><Relationship Id="rId15" Type="http://schemas.openxmlformats.org/officeDocument/2006/relationships/image" Target="../media/image171.png"/><Relationship Id="rId16" Type="http://schemas.openxmlformats.org/officeDocument/2006/relationships/image" Target="../media/image172.png"/><Relationship Id="rId17" Type="http://schemas.openxmlformats.org/officeDocument/2006/relationships/image" Target="../media/image173.png"/><Relationship Id="rId18" Type="http://schemas.openxmlformats.org/officeDocument/2006/relationships/image" Target="../media/image174.png"/><Relationship Id="rId19" Type="http://schemas.openxmlformats.org/officeDocument/2006/relationships/image" Target="../media/image175.png"/><Relationship Id="rId20" Type="http://schemas.openxmlformats.org/officeDocument/2006/relationships/image" Target="../media/image176.png"/></Relationships>
</file>

<file path=ppt/charts/_rels/chart25.xml.rels><?xml version='1.0' encoding='UTF-8' standalone='yes'?>
<Relationships xmlns="http://schemas.openxmlformats.org/package/2006/relationships"><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image" Target="../media/image221.png"/><Relationship Id="rId22" Type="http://schemas.openxmlformats.org/officeDocument/2006/relationships/image" Target="../media/image222.png"/><Relationship Id="rId23" Type="http://schemas.openxmlformats.org/officeDocument/2006/relationships/image" Target="../media/image223.png"/><Relationship Id="rId24" Type="http://schemas.openxmlformats.org/officeDocument/2006/relationships/image" Target="../media/image224.png"/><Relationship Id="rId25" Type="http://schemas.openxmlformats.org/officeDocument/2006/relationships/image" Target="../media/image225.png"/><Relationship Id="rId26" Type="http://schemas.openxmlformats.org/officeDocument/2006/relationships/image" Target="../media/image226.png"/><Relationship Id="rId27" Type="http://schemas.openxmlformats.org/officeDocument/2006/relationships/image" Target="../media/image227.png"/><Relationship Id="rId28" Type="http://schemas.openxmlformats.org/officeDocument/2006/relationships/image" Target="../media/image228.png"/><Relationship Id="rId29" Type="http://schemas.openxmlformats.org/officeDocument/2006/relationships/image" Target="../media/image229.png"/><Relationship Id="rId30" Type="http://schemas.openxmlformats.org/officeDocument/2006/relationships/image" Target="../media/image230.png"/><Relationship Id="rId31" Type="http://schemas.openxmlformats.org/officeDocument/2006/relationships/image" Target="../media/image231.png"/><Relationship Id="rId32" Type="http://schemas.openxmlformats.org/officeDocument/2006/relationships/image" Target="../media/image232.png"/><Relationship Id="rId33" Type="http://schemas.openxmlformats.org/officeDocument/2006/relationships/image" Target="../media/image233.png"/><Relationship Id="rId34" Type="http://schemas.openxmlformats.org/officeDocument/2006/relationships/image" Target="../media/image234.png"/><Relationship Id="rId35" Type="http://schemas.openxmlformats.org/officeDocument/2006/relationships/image" Target="../media/image235.png"/><Relationship Id="rId36" Type="http://schemas.openxmlformats.org/officeDocument/2006/relationships/image" Target="../media/image236.png"/><Relationship Id="rId37" Type="http://schemas.openxmlformats.org/officeDocument/2006/relationships/image" Target="../media/image237.png"/><Relationship Id="rId38" Type="http://schemas.openxmlformats.org/officeDocument/2006/relationships/image" Target="../media/image238.png"/><Relationship Id="rId39" Type="http://schemas.openxmlformats.org/officeDocument/2006/relationships/image" Target="../media/image239.png"/><Relationship Id="rId40" Type="http://schemas.openxmlformats.org/officeDocument/2006/relationships/image" Target="../media/image240.png"/><Relationship Id="rId41" Type="http://schemas.openxmlformats.org/officeDocument/2006/relationships/image" Target="../media/image241.png"/><Relationship Id="rId42" Type="http://schemas.openxmlformats.org/officeDocument/2006/relationships/image" Target="../media/image242.png"/><Relationship Id="rId43" Type="http://schemas.openxmlformats.org/officeDocument/2006/relationships/image" Target="../media/image243.png"/><Relationship Id="rId44" Type="http://schemas.openxmlformats.org/officeDocument/2006/relationships/image" Target="../media/image244.png"/><Relationship Id="rId45" Type="http://schemas.openxmlformats.org/officeDocument/2006/relationships/image" Target="../media/image245.png"/><Relationship Id="rId46" Type="http://schemas.openxmlformats.org/officeDocument/2006/relationships/image" Target="../media/image246.png"/><Relationship Id="rId47" Type="http://schemas.openxmlformats.org/officeDocument/2006/relationships/image" Target="../media/image247.png"/><Relationship Id="rId48" Type="http://schemas.openxmlformats.org/officeDocument/2006/relationships/image" Target="../media/image248.png"/></Relationships>
</file>

<file path=ppt/charts/_rels/chart36.xml.rels><?xml version='1.0' encoding='UTF-8' standalone='yes'?>
<Relationships xmlns="http://schemas.openxmlformats.org/package/2006/relationships"><Relationship Id="rId2" Type="http://schemas.openxmlformats.org/officeDocument/2006/relationships/image" Target="../media/image249.png"/><Relationship Id="rId3" Type="http://schemas.openxmlformats.org/officeDocument/2006/relationships/image" Target="../media/image250.png"/><Relationship Id="rId4" Type="http://schemas.openxmlformats.org/officeDocument/2006/relationships/image" Target="../media/image251.png"/><Relationship Id="rId5" Type="http://schemas.openxmlformats.org/officeDocument/2006/relationships/image" Target="../media/image252.png"/><Relationship Id="rId6" Type="http://schemas.openxmlformats.org/officeDocument/2006/relationships/image" Target="../media/image253.png"/><Relationship Id="rId7" Type="http://schemas.openxmlformats.org/officeDocument/2006/relationships/image" Target="../media/image254.png"/><Relationship Id="rId8" Type="http://schemas.openxmlformats.org/officeDocument/2006/relationships/image" Target="../media/image255.png"/><Relationship Id="rId9" Type="http://schemas.openxmlformats.org/officeDocument/2006/relationships/image" Target="../media/image256.png"/><Relationship Id="rId10" Type="http://schemas.openxmlformats.org/officeDocument/2006/relationships/image" Target="../media/image257.png"/><Relationship Id="rId11" Type="http://schemas.openxmlformats.org/officeDocument/2006/relationships/image" Target="../media/image258.png"/><Relationship Id="rId12" Type="http://schemas.openxmlformats.org/officeDocument/2006/relationships/image" Target="../media/image259.png"/><Relationship Id="rId13" Type="http://schemas.openxmlformats.org/officeDocument/2006/relationships/image" Target="../media/image260.png"/><Relationship Id="rId14" Type="http://schemas.openxmlformats.org/officeDocument/2006/relationships/image" Target="../media/image261.png"/><Relationship Id="rId15" Type="http://schemas.openxmlformats.org/officeDocument/2006/relationships/image" Target="../media/image262.png"/><Relationship Id="rId16" Type="http://schemas.openxmlformats.org/officeDocument/2006/relationships/image" Target="../media/image263.png"/><Relationship Id="rId17" Type="http://schemas.openxmlformats.org/officeDocument/2006/relationships/image" Target="../media/image264.png"/><Relationship Id="rId18" Type="http://schemas.openxmlformats.org/officeDocument/2006/relationships/image" Target="../media/image265.png"/><Relationship Id="rId19" Type="http://schemas.openxmlformats.org/officeDocument/2006/relationships/image" Target="../media/image266.png"/><Relationship Id="rId20" Type="http://schemas.openxmlformats.org/officeDocument/2006/relationships/image" Target="../media/image267.png"/><Relationship Id="rId21" Type="http://schemas.openxmlformats.org/officeDocument/2006/relationships/image" Target="../media/image268.png"/><Relationship Id="rId22" Type="http://schemas.openxmlformats.org/officeDocument/2006/relationships/image" Target="../media/image269.png"/><Relationship Id="rId23" Type="http://schemas.openxmlformats.org/officeDocument/2006/relationships/image" Target="../media/image270.png"/><Relationship Id="rId24" Type="http://schemas.openxmlformats.org/officeDocument/2006/relationships/image" Target="../media/image271.png"/><Relationship Id="rId25" Type="http://schemas.openxmlformats.org/officeDocument/2006/relationships/image" Target="../media/image272.png"/><Relationship Id="rId26" Type="http://schemas.openxmlformats.org/officeDocument/2006/relationships/image" Target="../media/image273.png"/><Relationship Id="rId27" Type="http://schemas.openxmlformats.org/officeDocument/2006/relationships/image" Target="../media/image274.png"/></Relationships>
</file>

<file path=ppt/charts/_rels/chart37.xml.rels><?xml version='1.0' encoding='UTF-8' standalone='yes'?>
<Relationships xmlns="http://schemas.openxmlformats.org/package/2006/relationships"><Relationship Id="rId2" Type="http://schemas.openxmlformats.org/officeDocument/2006/relationships/image" Target="../media/image289.png"/><Relationship Id="rId3" Type="http://schemas.openxmlformats.org/officeDocument/2006/relationships/image" Target="../media/image290.png"/><Relationship Id="rId4" Type="http://schemas.openxmlformats.org/officeDocument/2006/relationships/image" Target="../media/image291.png"/><Relationship Id="rId5" Type="http://schemas.openxmlformats.org/officeDocument/2006/relationships/image" Target="../media/image292.png"/><Relationship Id="rId6" Type="http://schemas.openxmlformats.org/officeDocument/2006/relationships/image" Target="../media/image293.png"/><Relationship Id="rId7" Type="http://schemas.openxmlformats.org/officeDocument/2006/relationships/image" Target="../media/image294.png"/><Relationship Id="rId8" Type="http://schemas.openxmlformats.org/officeDocument/2006/relationships/image" Target="../media/image295.png"/><Relationship Id="rId9" Type="http://schemas.openxmlformats.org/officeDocument/2006/relationships/image" Target="../media/image296.png"/><Relationship Id="rId10" Type="http://schemas.openxmlformats.org/officeDocument/2006/relationships/image" Target="../media/image297.png"/><Relationship Id="rId11" Type="http://schemas.openxmlformats.org/officeDocument/2006/relationships/image" Target="../media/image298.png"/><Relationship Id="rId12" Type="http://schemas.openxmlformats.org/officeDocument/2006/relationships/image" Target="../media/image299.png"/><Relationship Id="rId13" Type="http://schemas.openxmlformats.org/officeDocument/2006/relationships/image" Target="../media/image300.png"/><Relationship Id="rId14" Type="http://schemas.openxmlformats.org/officeDocument/2006/relationships/image" Target="../media/image301.png"/><Relationship Id="rId15" Type="http://schemas.openxmlformats.org/officeDocument/2006/relationships/image" Target="../media/image302.png"/><Relationship Id="rId16" Type="http://schemas.openxmlformats.org/officeDocument/2006/relationships/image" Target="../media/image303.png"/><Relationship Id="rId17" Type="http://schemas.openxmlformats.org/officeDocument/2006/relationships/image" Target="../media/image304.png"/><Relationship Id="rId18" Type="http://schemas.openxmlformats.org/officeDocument/2006/relationships/image" Target="../media/image305.png"/><Relationship Id="rId19" Type="http://schemas.openxmlformats.org/officeDocument/2006/relationships/image" Target="../media/image306.png"/><Relationship Id="rId20" Type="http://schemas.openxmlformats.org/officeDocument/2006/relationships/image" Target="../media/image307.png"/><Relationship Id="rId21" Type="http://schemas.openxmlformats.org/officeDocument/2006/relationships/image" Target="../media/image308.png"/><Relationship Id="rId22" Type="http://schemas.openxmlformats.org/officeDocument/2006/relationships/image" Target="../media/image309.png"/><Relationship Id="rId23" Type="http://schemas.openxmlformats.org/officeDocument/2006/relationships/image" Target="../media/image310.png"/><Relationship Id="rId24" Type="http://schemas.openxmlformats.org/officeDocument/2006/relationships/image" Target="../media/image311.png"/><Relationship Id="rId25" Type="http://schemas.openxmlformats.org/officeDocument/2006/relationships/image" Target="../media/image312.png"/><Relationship Id="rId26" Type="http://schemas.openxmlformats.org/officeDocument/2006/relationships/image" Target="../media/image313.png"/><Relationship Id="rId27" Type="http://schemas.openxmlformats.org/officeDocument/2006/relationships/image" Target="../media/image314.png"/></Relationships>
</file>

<file path=ppt/charts/_rels/chart44.xml.rels><?xml version='1.0' encoding='UTF-8' standalone='yes'?>
<Relationships xmlns="http://schemas.openxmlformats.org/package/2006/relationships"><Relationship Id="rId2" Type="http://schemas.openxmlformats.org/officeDocument/2006/relationships/image" Target="../media/image315.png"/><Relationship Id="rId3" Type="http://schemas.openxmlformats.org/officeDocument/2006/relationships/image" Target="../media/image316.png"/><Relationship Id="rId4" Type="http://schemas.openxmlformats.org/officeDocument/2006/relationships/image" Target="../media/image317.png"/><Relationship Id="rId5" Type="http://schemas.openxmlformats.org/officeDocument/2006/relationships/image" Target="../media/image318.png"/><Relationship Id="rId6" Type="http://schemas.openxmlformats.org/officeDocument/2006/relationships/image" Target="../media/image319.png"/><Relationship Id="rId7" Type="http://schemas.openxmlformats.org/officeDocument/2006/relationships/image" Target="../media/image320.png"/><Relationship Id="rId8" Type="http://schemas.openxmlformats.org/officeDocument/2006/relationships/image" Target="../media/image321.png"/><Relationship Id="rId9" Type="http://schemas.openxmlformats.org/officeDocument/2006/relationships/image" Target="../media/image322.png"/><Relationship Id="rId10" Type="http://schemas.openxmlformats.org/officeDocument/2006/relationships/image" Target="../media/image323.png"/><Relationship Id="rId11" Type="http://schemas.openxmlformats.org/officeDocument/2006/relationships/image" Target="../media/image324.png"/><Relationship Id="rId12" Type="http://schemas.openxmlformats.org/officeDocument/2006/relationships/image" Target="../media/image325.png"/><Relationship Id="rId13" Type="http://schemas.openxmlformats.org/officeDocument/2006/relationships/image" Target="../media/image326.png"/><Relationship Id="rId14" Type="http://schemas.openxmlformats.org/officeDocument/2006/relationships/image" Target="../media/image327.png"/></Relationships>
</file>

<file path=ppt/charts/_rels/chart45.xml.rels><?xml version='1.0' encoding='UTF-8' standalone='yes'?>
<Relationships xmlns="http://schemas.openxmlformats.org/package/2006/relationships"><Relationship Id="rId2" Type="http://schemas.openxmlformats.org/officeDocument/2006/relationships/image" Target="../media/image337.png"/><Relationship Id="rId3" Type="http://schemas.openxmlformats.org/officeDocument/2006/relationships/image" Target="../media/image338.png"/><Relationship Id="rId4" Type="http://schemas.openxmlformats.org/officeDocument/2006/relationships/image" Target="../media/image339.png"/><Relationship Id="rId5" Type="http://schemas.openxmlformats.org/officeDocument/2006/relationships/image" Target="../media/image340.png"/><Relationship Id="rId6" Type="http://schemas.openxmlformats.org/officeDocument/2006/relationships/image" Target="../media/image341.png"/><Relationship Id="rId7" Type="http://schemas.openxmlformats.org/officeDocument/2006/relationships/image" Target="../media/image342.png"/><Relationship Id="rId8" Type="http://schemas.openxmlformats.org/officeDocument/2006/relationships/image" Target="../media/image343.png"/><Relationship Id="rId9" Type="http://schemas.openxmlformats.org/officeDocument/2006/relationships/image" Target="../media/image344.png"/><Relationship Id="rId10" Type="http://schemas.openxmlformats.org/officeDocument/2006/relationships/image" Target="../media/image345.png"/><Relationship Id="rId11" Type="http://schemas.openxmlformats.org/officeDocument/2006/relationships/image" Target="../media/image346.png"/><Relationship Id="rId12" Type="http://schemas.openxmlformats.org/officeDocument/2006/relationships/image" Target="../media/image347.png"/><Relationship Id="rId13" Type="http://schemas.openxmlformats.org/officeDocument/2006/relationships/image" Target="../media/image348.png"/><Relationship Id="rId14" Type="http://schemas.openxmlformats.org/officeDocument/2006/relationships/image" Target="../media/image349.png"/><Relationship Id="rId15" Type="http://schemas.openxmlformats.org/officeDocument/2006/relationships/image" Target="../media/image350.png"/><Relationship Id="rId16" Type="http://schemas.openxmlformats.org/officeDocument/2006/relationships/image" Target="../media/image351.png"/><Relationship Id="rId17" Type="http://schemas.openxmlformats.org/officeDocument/2006/relationships/image" Target="../media/image352.png"/><Relationship Id="rId18" Type="http://schemas.openxmlformats.org/officeDocument/2006/relationships/image" Target="../media/image353.png"/><Relationship Id="rId19" Type="http://schemas.openxmlformats.org/officeDocument/2006/relationships/image" Target="../media/image354.png"/></Relationships>
</file>

<file path=ppt/charts/_rels/chart50.xml.rels><?xml version='1.0' encoding='UTF-8' standalone='yes'?>
<Relationships xmlns="http://schemas.openxmlformats.org/package/2006/relationships"><Relationship Id="rId2" Type="http://schemas.openxmlformats.org/officeDocument/2006/relationships/image" Target="../media/image355.png"/><Relationship Id="rId3" Type="http://schemas.openxmlformats.org/officeDocument/2006/relationships/image" Target="../media/image356.png"/><Relationship Id="rId4" Type="http://schemas.openxmlformats.org/officeDocument/2006/relationships/image" Target="../media/image357.png"/><Relationship Id="rId5" Type="http://schemas.openxmlformats.org/officeDocument/2006/relationships/image" Target="../media/image358.png"/><Relationship Id="rId6" Type="http://schemas.openxmlformats.org/officeDocument/2006/relationships/image" Target="../media/image359.png"/><Relationship Id="rId7" Type="http://schemas.openxmlformats.org/officeDocument/2006/relationships/image" Target="../media/image360.png"/><Relationship Id="rId8" Type="http://schemas.openxmlformats.org/officeDocument/2006/relationships/image" Target="../media/image361.png"/><Relationship Id="rId9" Type="http://schemas.openxmlformats.org/officeDocument/2006/relationships/image" Target="../media/image362.png"/><Relationship Id="rId10" Type="http://schemas.openxmlformats.org/officeDocument/2006/relationships/image" Target="../media/image363.png"/></Relationships>
</file>

<file path=ppt/charts/_rels/chart51.xml.rels><?xml version='1.0' encoding='UTF-8' standalone='yes'?>
<Relationships xmlns="http://schemas.openxmlformats.org/package/2006/relationships"><Relationship Id="rId2" Type="http://schemas.openxmlformats.org/officeDocument/2006/relationships/image" Target="../media/image364.png"/></Relationships>
</file>

<file path=ppt/charts/_rels/chart53.xml.rels><?xml version='1.0' encoding='UTF-8' standalone='yes'?>
<Relationships xmlns="http://schemas.openxmlformats.org/package/2006/relationships"><Relationship Id="rId2" Type="http://schemas.openxmlformats.org/officeDocument/2006/relationships/image" Target="../media/image365.png"/></Relationships>
</file>

<file path=ppt/charts/_rels/chart55.xml.rels><?xml version='1.0' encoding='UTF-8' standalone='yes'?>
<Relationships xmlns="http://schemas.openxmlformats.org/package/2006/relationships"><Relationship Id="rId2" Type="http://schemas.openxmlformats.org/officeDocument/2006/relationships/image" Target="../media/image366.png"/><Relationship Id="rId3" Type="http://schemas.openxmlformats.org/officeDocument/2006/relationships/image" Target="../media/image367.png"/><Relationship Id="rId4" Type="http://schemas.openxmlformats.org/officeDocument/2006/relationships/image" Target="../media/image368.png"/><Relationship Id="rId5" Type="http://schemas.openxmlformats.org/officeDocument/2006/relationships/image" Target="../media/image369.png"/><Relationship Id="rId6" Type="http://schemas.openxmlformats.org/officeDocument/2006/relationships/image" Target="../media/image370.png"/><Relationship Id="rId7" Type="http://schemas.openxmlformats.org/officeDocument/2006/relationships/image" Target="../media/image371.png"/><Relationship Id="rId8" Type="http://schemas.openxmlformats.org/officeDocument/2006/relationships/image" Target="../media/image372.png"/><Relationship Id="rId9" Type="http://schemas.openxmlformats.org/officeDocument/2006/relationships/image" Target="../media/image373.png"/><Relationship Id="rId10" Type="http://schemas.openxmlformats.org/officeDocument/2006/relationships/image" Target="../media/image374.png"/><Relationship Id="rId11" Type="http://schemas.openxmlformats.org/officeDocument/2006/relationships/image" Target="../media/image375.png"/></Relationships>
</file>

<file path=ppt/charts/_rels/chart56.xml.rels><?xml version='1.0' encoding='UTF-8' standalone='yes'?>
<Relationships xmlns="http://schemas.openxmlformats.org/package/2006/relationships"><Relationship Id="rId2" Type="http://schemas.openxmlformats.org/officeDocument/2006/relationships/image" Target="../media/image376.png"/><Relationship Id="rId3" Type="http://schemas.openxmlformats.org/officeDocument/2006/relationships/image" Target="../media/image377.png"/><Relationship Id="rId4" Type="http://schemas.openxmlformats.org/officeDocument/2006/relationships/image" Target="../media/image378.png"/><Relationship Id="rId5" Type="http://schemas.openxmlformats.org/officeDocument/2006/relationships/image" Target="../media/image379.png"/><Relationship Id="rId6" Type="http://schemas.openxmlformats.org/officeDocument/2006/relationships/image" Target="../media/image380.png"/><Relationship Id="rId7" Type="http://schemas.openxmlformats.org/officeDocument/2006/relationships/image" Target="../media/image381.png"/><Relationship Id="rId8" Type="http://schemas.openxmlformats.org/officeDocument/2006/relationships/image" Target="../media/image382.png"/><Relationship Id="rId9" Type="http://schemas.openxmlformats.org/officeDocument/2006/relationships/image" Target="../media/image383.png"/><Relationship Id="rId10" Type="http://schemas.openxmlformats.org/officeDocument/2006/relationships/image" Target="../media/image384.png"/><Relationship Id="rId11" Type="http://schemas.openxmlformats.org/officeDocument/2006/relationships/image" Target="../media/image385.png"/><Relationship Id="rId12" Type="http://schemas.openxmlformats.org/officeDocument/2006/relationships/image" Target="../media/image386.png"/><Relationship Id="rId13" Type="http://schemas.openxmlformats.org/officeDocument/2006/relationships/image" Target="../media/image387.png"/><Relationship Id="rId14" Type="http://schemas.openxmlformats.org/officeDocument/2006/relationships/image" Target="../media/image388.png"/><Relationship Id="rId15" Type="http://schemas.openxmlformats.org/officeDocument/2006/relationships/image" Target="../media/image389.png"/><Relationship Id="rId16" Type="http://schemas.openxmlformats.org/officeDocument/2006/relationships/image" Target="../media/image390.png"/><Relationship Id="rId17" Type="http://schemas.openxmlformats.org/officeDocument/2006/relationships/image" Target="../media/image391.png"/><Relationship Id="rId18" Type="http://schemas.openxmlformats.org/officeDocument/2006/relationships/image" Target="../media/image392.png"/><Relationship Id="rId19" Type="http://schemas.openxmlformats.org/officeDocument/2006/relationships/image" Target="../media/image393.png"/><Relationship Id="rId20" Type="http://schemas.openxmlformats.org/officeDocument/2006/relationships/image" Target="../media/image394.png"/><Relationship Id="rId21" Type="http://schemas.openxmlformats.org/officeDocument/2006/relationships/image" Target="../media/image395.png"/><Relationship Id="rId22" Type="http://schemas.openxmlformats.org/officeDocument/2006/relationships/image" Target="../media/image396.png"/><Relationship Id="rId23" Type="http://schemas.openxmlformats.org/officeDocument/2006/relationships/image" Target="../media/image397.png"/></Relationships>
</file>

<file path=ppt/charts/_rels/chart57.xml.rels><?xml version='1.0' encoding='UTF-8' standalone='yes'?>
<Relationships xmlns="http://schemas.openxmlformats.org/package/2006/relationships"><Relationship Id="rId2" Type="http://schemas.openxmlformats.org/officeDocument/2006/relationships/image" Target="../media/image398.png"/><Relationship Id="rId3" Type="http://schemas.openxmlformats.org/officeDocument/2006/relationships/image" Target="../media/image399.png"/></Relationships>
</file>

<file path=ppt/charts/_rels/chart58.xml.rels><?xml version='1.0' encoding='UTF-8' standalone='yes'?>
<Relationships xmlns="http://schemas.openxmlformats.org/package/2006/relationships"><Relationship Id="rId2" Type="http://schemas.openxmlformats.org/officeDocument/2006/relationships/image" Target="../media/image400.png"/><Relationship Id="rId3" Type="http://schemas.openxmlformats.org/officeDocument/2006/relationships/image" Target="../media/image401.png"/></Relationships>
</file>

<file path=ppt/charts/_rels/chart59.xml.rels><?xml version='1.0' encoding='UTF-8' standalone='yes'?>
<Relationships xmlns="http://schemas.openxmlformats.org/package/2006/relationships"><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s>
</file>

<file path=ppt/charts/_rels/chart61.xml.rels><?xml version='1.0' encoding='UTF-8' standalone='yes'?>
<Relationships xmlns="http://schemas.openxmlformats.org/package/2006/relationships"><Relationship Id="rId2" Type="http://schemas.openxmlformats.org/officeDocument/2006/relationships/image" Target="../media/image409.png"/><Relationship Id="rId3" Type="http://schemas.openxmlformats.org/officeDocument/2006/relationships/image" Target="../media/image410.png"/><Relationship Id="rId4" Type="http://schemas.openxmlformats.org/officeDocument/2006/relationships/image" Target="../media/image411.png"/><Relationship Id="rId5" Type="http://schemas.openxmlformats.org/officeDocument/2006/relationships/image" Target="../media/image412.png"/></Relationships>
</file>

<file path=ppt/charts/_rels/chart62.xml.rels><?xml version='1.0' encoding='UTF-8' standalone='yes'?>
<Relationships xmlns="http://schemas.openxmlformats.org/package/2006/relationships"><Relationship Id="rId2" Type="http://schemas.openxmlformats.org/officeDocument/2006/relationships/image" Target="../media/image413.png"/><Relationship Id="rId3" Type="http://schemas.openxmlformats.org/officeDocument/2006/relationships/image" Target="../media/image414.png"/><Relationship Id="rId4" Type="http://schemas.openxmlformats.org/officeDocument/2006/relationships/image" Target="../media/image415.png"/><Relationship Id="rId5" Type="http://schemas.openxmlformats.org/officeDocument/2006/relationships/image" Target="../media/image416.png"/></Relationships>
</file>

<file path=ppt/charts/_rels/chart63.xml.rels><?xml version='1.0' encoding='UTF-8' standalone='yes'?>
<Relationships xmlns="http://schemas.openxmlformats.org/package/2006/relationships"><Relationship Id="rId2" Type="http://schemas.openxmlformats.org/officeDocument/2006/relationships/image" Target="../media/image417.png"/><Relationship Id="rId3" Type="http://schemas.openxmlformats.org/officeDocument/2006/relationships/image" Target="../media/image418.png"/><Relationship Id="rId4" Type="http://schemas.openxmlformats.org/officeDocument/2006/relationships/image" Target="../media/image419.png"/><Relationship Id="rId5" Type="http://schemas.openxmlformats.org/officeDocument/2006/relationships/image" Target="../media/image420.png"/><Relationship Id="rId6" Type="http://schemas.openxmlformats.org/officeDocument/2006/relationships/image" Target="../media/image421.png"/><Relationship Id="rId7" Type="http://schemas.openxmlformats.org/officeDocument/2006/relationships/image" Target="../media/image422.png"/><Relationship Id="rId8" Type="http://schemas.openxmlformats.org/officeDocument/2006/relationships/image" Target="../media/image423.png"/><Relationship Id="rId9" Type="http://schemas.openxmlformats.org/officeDocument/2006/relationships/image" Target="../media/image424.png"/><Relationship Id="rId10" Type="http://schemas.openxmlformats.org/officeDocument/2006/relationships/image" Target="../media/image425.png"/><Relationship Id="rId11" Type="http://schemas.openxmlformats.org/officeDocument/2006/relationships/image" Target="../media/image426.png"/><Relationship Id="rId12" Type="http://schemas.openxmlformats.org/officeDocument/2006/relationships/image" Target="../media/image427.png"/><Relationship Id="rId13" Type="http://schemas.openxmlformats.org/officeDocument/2006/relationships/image" Target="../media/image428.png"/><Relationship Id="rId14" Type="http://schemas.openxmlformats.org/officeDocument/2006/relationships/image" Target="../media/image429.png"/><Relationship Id="rId15" Type="http://schemas.openxmlformats.org/officeDocument/2006/relationships/image" Target="../media/image430.png"/><Relationship Id="rId16" Type="http://schemas.openxmlformats.org/officeDocument/2006/relationships/image" Target="../media/image431.png"/><Relationship Id="rId17" Type="http://schemas.openxmlformats.org/officeDocument/2006/relationships/image" Target="../media/image432.png"/><Relationship Id="rId18" Type="http://schemas.openxmlformats.org/officeDocument/2006/relationships/image" Target="../media/image433.png"/><Relationship Id="rId19" Type="http://schemas.openxmlformats.org/officeDocument/2006/relationships/image" Target="../media/image434.png"/><Relationship Id="rId20" Type="http://schemas.openxmlformats.org/officeDocument/2006/relationships/image" Target="../media/image435.png"/><Relationship Id="rId21" Type="http://schemas.openxmlformats.org/officeDocument/2006/relationships/image" Target="../media/image436.png"/><Relationship Id="rId22" Type="http://schemas.openxmlformats.org/officeDocument/2006/relationships/image" Target="../media/image437.png"/><Relationship Id="rId23" Type="http://schemas.openxmlformats.org/officeDocument/2006/relationships/image" Target="../media/image438.png"/><Relationship Id="rId24" Type="http://schemas.openxmlformats.org/officeDocument/2006/relationships/image" Target="../media/image439.png"/><Relationship Id="rId25" Type="http://schemas.openxmlformats.org/officeDocument/2006/relationships/image" Target="../media/image440.png"/><Relationship Id="rId26" Type="http://schemas.openxmlformats.org/officeDocument/2006/relationships/image" Target="../media/image441.png"/><Relationship Id="rId27" Type="http://schemas.openxmlformats.org/officeDocument/2006/relationships/image" Target="../media/image442.png"/><Relationship Id="rId28" Type="http://schemas.openxmlformats.org/officeDocument/2006/relationships/image" Target="../media/image443.png"/><Relationship Id="rId29" Type="http://schemas.openxmlformats.org/officeDocument/2006/relationships/image" Target="../media/image444.png"/><Relationship Id="rId30" Type="http://schemas.openxmlformats.org/officeDocument/2006/relationships/image" Target="../media/image445.png"/><Relationship Id="rId31" Type="http://schemas.openxmlformats.org/officeDocument/2006/relationships/image" Target="../media/image446.png"/><Relationship Id="rId32" Type="http://schemas.openxmlformats.org/officeDocument/2006/relationships/image" Target="../media/image447.png"/><Relationship Id="rId33" Type="http://schemas.openxmlformats.org/officeDocument/2006/relationships/image" Target="../media/image448.png"/></Relationships>
</file>

<file path=ppt/charts/_rels/chart64.xml.rels><?xml version='1.0' encoding='UTF-8' standalone='yes'?>
<Relationships xmlns="http://schemas.openxmlformats.org/package/2006/relationships"><Relationship Id="rId2" Type="http://schemas.openxmlformats.org/officeDocument/2006/relationships/image" Target="../media/image449.png"/><Relationship Id="rId3" Type="http://schemas.openxmlformats.org/officeDocument/2006/relationships/image" Target="../media/image450.png"/><Relationship Id="rId4" Type="http://schemas.openxmlformats.org/officeDocument/2006/relationships/image" Target="../media/image451.png"/><Relationship Id="rId5" Type="http://schemas.openxmlformats.org/officeDocument/2006/relationships/image" Target="../media/image452.png"/><Relationship Id="rId6" Type="http://schemas.openxmlformats.org/officeDocument/2006/relationships/image" Target="../media/image453.png"/><Relationship Id="rId7" Type="http://schemas.openxmlformats.org/officeDocument/2006/relationships/image" Target="../media/image454.png"/><Relationship Id="rId8" Type="http://schemas.openxmlformats.org/officeDocument/2006/relationships/image" Target="../media/image455.png"/><Relationship Id="rId9" Type="http://schemas.openxmlformats.org/officeDocument/2006/relationships/image" Target="../media/image456.png"/><Relationship Id="rId10" Type="http://schemas.openxmlformats.org/officeDocument/2006/relationships/image" Target="../media/image457.png"/><Relationship Id="rId11" Type="http://schemas.openxmlformats.org/officeDocument/2006/relationships/image" Target="../media/image458.png"/><Relationship Id="rId12" Type="http://schemas.openxmlformats.org/officeDocument/2006/relationships/image" Target="../media/image459.png"/><Relationship Id="rId13" Type="http://schemas.openxmlformats.org/officeDocument/2006/relationships/image" Target="../media/image460.png"/><Relationship Id="rId14" Type="http://schemas.openxmlformats.org/officeDocument/2006/relationships/image" Target="../media/image461.png"/><Relationship Id="rId15" Type="http://schemas.openxmlformats.org/officeDocument/2006/relationships/image" Target="../media/image462.png"/><Relationship Id="rId16" Type="http://schemas.openxmlformats.org/officeDocument/2006/relationships/image" Target="../media/image463.png"/><Relationship Id="rId17" Type="http://schemas.openxmlformats.org/officeDocument/2006/relationships/image" Target="../media/image464.png"/><Relationship Id="rId18" Type="http://schemas.openxmlformats.org/officeDocument/2006/relationships/image" Target="../media/image465.png"/><Relationship Id="rId19" Type="http://schemas.openxmlformats.org/officeDocument/2006/relationships/image" Target="../media/image466.png"/><Relationship Id="rId20" Type="http://schemas.openxmlformats.org/officeDocument/2006/relationships/image" Target="../media/image467.png"/><Relationship Id="rId21" Type="http://schemas.openxmlformats.org/officeDocument/2006/relationships/image" Target="../media/image468.png"/><Relationship Id="rId22" Type="http://schemas.openxmlformats.org/officeDocument/2006/relationships/image" Target="../media/image469.png"/><Relationship Id="rId23" Type="http://schemas.openxmlformats.org/officeDocument/2006/relationships/image" Target="../media/image470.png"/><Relationship Id="rId24" Type="http://schemas.openxmlformats.org/officeDocument/2006/relationships/image" Target="../media/image471.png"/><Relationship Id="rId25" Type="http://schemas.openxmlformats.org/officeDocument/2006/relationships/image" Target="../media/image472.png"/><Relationship Id="rId26" Type="http://schemas.openxmlformats.org/officeDocument/2006/relationships/image" Target="../media/image473.png"/><Relationship Id="rId27" Type="http://schemas.openxmlformats.org/officeDocument/2006/relationships/image" Target="../media/image474.png"/><Relationship Id="rId28" Type="http://schemas.openxmlformats.org/officeDocument/2006/relationships/image" Target="../media/image475.png"/><Relationship Id="rId29" Type="http://schemas.openxmlformats.org/officeDocument/2006/relationships/image" Target="../media/image476.png"/><Relationship Id="rId30" Type="http://schemas.openxmlformats.org/officeDocument/2006/relationships/image" Target="../media/image477.png"/><Relationship Id="rId31" Type="http://schemas.openxmlformats.org/officeDocument/2006/relationships/image" Target="../media/image478.png"/><Relationship Id="rId32" Type="http://schemas.openxmlformats.org/officeDocument/2006/relationships/image" Target="../media/image479.png"/><Relationship Id="rId33" Type="http://schemas.openxmlformats.org/officeDocument/2006/relationships/image" Target="../media/image480.png"/></Relationships>
</file>

<file path=ppt/charts/_rels/chart65.xml.rels><?xml version='1.0' encoding='UTF-8' standalone='yes'?>
<Relationships xmlns="http://schemas.openxmlformats.org/package/2006/relationships"><Relationship Id="rId2" Type="http://schemas.openxmlformats.org/officeDocument/2006/relationships/image" Target="../media/image489.png"/><Relationship Id="rId3" Type="http://schemas.openxmlformats.org/officeDocument/2006/relationships/image" Target="../media/image490.png"/><Relationship Id="rId4" Type="http://schemas.openxmlformats.org/officeDocument/2006/relationships/image" Target="../media/image491.png"/><Relationship Id="rId5" Type="http://schemas.openxmlformats.org/officeDocument/2006/relationships/image" Target="../media/image492.png"/><Relationship Id="rId6" Type="http://schemas.openxmlformats.org/officeDocument/2006/relationships/image" Target="../media/image493.png"/><Relationship Id="rId7" Type="http://schemas.openxmlformats.org/officeDocument/2006/relationships/image" Target="../media/image494.png"/><Relationship Id="rId8" Type="http://schemas.openxmlformats.org/officeDocument/2006/relationships/image" Target="../media/image495.png"/><Relationship Id="rId9" Type="http://schemas.openxmlformats.org/officeDocument/2006/relationships/image" Target="../media/image496.png"/><Relationship Id="rId10" Type="http://schemas.openxmlformats.org/officeDocument/2006/relationships/image" Target="../media/image497.png"/><Relationship Id="rId11" Type="http://schemas.openxmlformats.org/officeDocument/2006/relationships/image" Target="../media/image498.png"/><Relationship Id="rId12" Type="http://schemas.openxmlformats.org/officeDocument/2006/relationships/image" Target="../media/image499.png"/><Relationship Id="rId13" Type="http://schemas.openxmlformats.org/officeDocument/2006/relationships/image" Target="../media/image500.png"/><Relationship Id="rId14" Type="http://schemas.openxmlformats.org/officeDocument/2006/relationships/image" Target="../media/image501.png"/><Relationship Id="rId15" Type="http://schemas.openxmlformats.org/officeDocument/2006/relationships/image" Target="../media/image502.png"/></Relationships>
</file>

<file path=ppt/charts/_rels/chart74.xml.rels><?xml version='1.0' encoding='UTF-8' standalone='yes'?>
<Relationships xmlns="http://schemas.openxmlformats.org/package/2006/relationships"><Relationship Id="rId2" Type="http://schemas.openxmlformats.org/officeDocument/2006/relationships/image" Target="../media/image503.png"/><Relationship Id="rId3" Type="http://schemas.openxmlformats.org/officeDocument/2006/relationships/image" Target="../media/image504.png"/><Relationship Id="rId4" Type="http://schemas.openxmlformats.org/officeDocument/2006/relationships/image" Target="../media/image505.png"/><Relationship Id="rId5" Type="http://schemas.openxmlformats.org/officeDocument/2006/relationships/image" Target="../media/image506.png"/><Relationship Id="rId6" Type="http://schemas.openxmlformats.org/officeDocument/2006/relationships/image" Target="../media/image507.png"/><Relationship Id="rId7" Type="http://schemas.openxmlformats.org/officeDocument/2006/relationships/image" Target="../media/image508.png"/><Relationship Id="rId8" Type="http://schemas.openxmlformats.org/officeDocument/2006/relationships/image" Target="../media/image509.png"/><Relationship Id="rId9" Type="http://schemas.openxmlformats.org/officeDocument/2006/relationships/image" Target="../media/image510.png"/><Relationship Id="rId10" Type="http://schemas.openxmlformats.org/officeDocument/2006/relationships/image" Target="../media/image511.png"/><Relationship Id="rId11" Type="http://schemas.openxmlformats.org/officeDocument/2006/relationships/image" Target="../media/image512.png"/><Relationship Id="rId12" Type="http://schemas.openxmlformats.org/officeDocument/2006/relationships/image" Target="../media/image513.png"/><Relationship Id="rId13" Type="http://schemas.openxmlformats.org/officeDocument/2006/relationships/image" Target="../media/image514.png"/><Relationship Id="rId14" Type="http://schemas.openxmlformats.org/officeDocument/2006/relationships/image" Target="../media/image515.png"/><Relationship Id="rId15" Type="http://schemas.openxmlformats.org/officeDocument/2006/relationships/image" Target="../media/image516.png"/><Relationship Id="rId16" Type="http://schemas.openxmlformats.org/officeDocument/2006/relationships/image" Target="../media/image517.png"/><Relationship Id="rId17" Type="http://schemas.openxmlformats.org/officeDocument/2006/relationships/image" Target="../media/image518.png"/><Relationship Id="rId18" Type="http://schemas.openxmlformats.org/officeDocument/2006/relationships/image" Target="../media/image519.png"/><Relationship Id="rId19" Type="http://schemas.openxmlformats.org/officeDocument/2006/relationships/image" Target="../media/image520.png"/><Relationship Id="rId20" Type="http://schemas.openxmlformats.org/officeDocument/2006/relationships/image" Target="../media/image521.png"/></Relationships>
</file>

<file path=ppt/charts/_rels/chart75.xml.rels><?xml version='1.0' encoding='UTF-8' standalone='yes'?>
<Relationships xmlns="http://schemas.openxmlformats.org/package/2006/relationships"><Relationship Id="rId2" Type="http://schemas.openxmlformats.org/officeDocument/2006/relationships/image" Target="../media/image544.png"/><Relationship Id="rId3" Type="http://schemas.openxmlformats.org/officeDocument/2006/relationships/image" Target="../media/image545.png"/><Relationship Id="rId4" Type="http://schemas.openxmlformats.org/officeDocument/2006/relationships/image" Target="../media/image546.png"/><Relationship Id="rId5" Type="http://schemas.openxmlformats.org/officeDocument/2006/relationships/image" Target="../media/image547.png"/><Relationship Id="rId6" Type="http://schemas.openxmlformats.org/officeDocument/2006/relationships/image" Target="../media/image548.png"/><Relationship Id="rId7" Type="http://schemas.openxmlformats.org/officeDocument/2006/relationships/image" Target="../media/image549.png"/><Relationship Id="rId8" Type="http://schemas.openxmlformats.org/officeDocument/2006/relationships/image" Target="../media/image550.png"/><Relationship Id="rId9" Type="http://schemas.openxmlformats.org/officeDocument/2006/relationships/image" Target="../media/image551.png"/><Relationship Id="rId10" Type="http://schemas.openxmlformats.org/officeDocument/2006/relationships/image" Target="../media/image552.png"/><Relationship Id="rId11" Type="http://schemas.openxmlformats.org/officeDocument/2006/relationships/image" Target="../media/image553.png"/><Relationship Id="rId12" Type="http://schemas.openxmlformats.org/officeDocument/2006/relationships/image" Target="../media/image554.png"/><Relationship Id="rId13" Type="http://schemas.openxmlformats.org/officeDocument/2006/relationships/image" Target="../media/image555.png"/><Relationship Id="rId14" Type="http://schemas.openxmlformats.org/officeDocument/2006/relationships/image" Target="../media/image556.png"/><Relationship Id="rId15" Type="http://schemas.openxmlformats.org/officeDocument/2006/relationships/image" Target="../media/image557.png"/><Relationship Id="rId16" Type="http://schemas.openxmlformats.org/officeDocument/2006/relationships/image" Target="../media/image558.png"/><Relationship Id="rId17" Type="http://schemas.openxmlformats.org/officeDocument/2006/relationships/image" Target="../media/image559.png"/><Relationship Id="rId18" Type="http://schemas.openxmlformats.org/officeDocument/2006/relationships/image" Target="../media/image560.png"/></Relationships>
</file>

<file path=ppt/charts/_rels/chart86.xml.rels><?xml version='1.0' encoding='UTF-8' standalone='yes'?>
<Relationships xmlns="http://schemas.openxmlformats.org/package/2006/relationships"><Relationship Id="rId2" Type="http://schemas.openxmlformats.org/officeDocument/2006/relationships/image" Target="../media/image561.png"/><Relationship Id="rId3" Type="http://schemas.openxmlformats.org/officeDocument/2006/relationships/image" Target="../media/image562.png"/><Relationship Id="rId4" Type="http://schemas.openxmlformats.org/officeDocument/2006/relationships/image" Target="../media/image563.png"/><Relationship Id="rId5" Type="http://schemas.openxmlformats.org/officeDocument/2006/relationships/image" Target="../media/image564.png"/><Relationship Id="rId6" Type="http://schemas.openxmlformats.org/officeDocument/2006/relationships/image" Target="../media/image565.png"/><Relationship Id="rId7" Type="http://schemas.openxmlformats.org/officeDocument/2006/relationships/image" Target="../media/image566.png"/><Relationship Id="rId8" Type="http://schemas.openxmlformats.org/officeDocument/2006/relationships/image" Target="../media/image567.png"/><Relationship Id="rId9" Type="http://schemas.openxmlformats.org/officeDocument/2006/relationships/image" Target="../media/image568.png"/><Relationship Id="rId10" Type="http://schemas.openxmlformats.org/officeDocument/2006/relationships/image" Target="../media/image569.png"/><Relationship Id="rId11" Type="http://schemas.openxmlformats.org/officeDocument/2006/relationships/image" Target="../media/image570.png"/><Relationship Id="rId12" Type="http://schemas.openxmlformats.org/officeDocument/2006/relationships/image" Target="../media/image571.png"/><Relationship Id="rId13" Type="http://schemas.openxmlformats.org/officeDocument/2006/relationships/image" Target="../media/image572.png"/><Relationship Id="rId14" Type="http://schemas.openxmlformats.org/officeDocument/2006/relationships/image" Target="../media/image573.png"/><Relationship Id="rId15" Type="http://schemas.openxmlformats.org/officeDocument/2006/relationships/image" Target="../media/image574.png"/><Relationship Id="rId16" Type="http://schemas.openxmlformats.org/officeDocument/2006/relationships/image" Target="../media/image575.png"/><Relationship Id="rId17" Type="http://schemas.openxmlformats.org/officeDocument/2006/relationships/image" Target="../media/image576.png"/><Relationship Id="rId18" Type="http://schemas.openxmlformats.org/officeDocument/2006/relationships/image" Target="../media/image577.png"/><Relationship Id="rId19" Type="http://schemas.openxmlformats.org/officeDocument/2006/relationships/image" Target="../media/image578.png"/><Relationship Id="rId20" Type="http://schemas.openxmlformats.org/officeDocument/2006/relationships/image" Target="../media/image579.png"/><Relationship Id="rId21" Type="http://schemas.openxmlformats.org/officeDocument/2006/relationships/image" Target="../media/image580.png"/><Relationship Id="rId22" Type="http://schemas.openxmlformats.org/officeDocument/2006/relationships/image" Target="../media/image581.png"/><Relationship Id="rId23" Type="http://schemas.openxmlformats.org/officeDocument/2006/relationships/image" Target="../media/image582.png"/><Relationship Id="rId24" Type="http://schemas.openxmlformats.org/officeDocument/2006/relationships/image" Target="../media/image583.png"/><Relationship Id="rId25" Type="http://schemas.openxmlformats.org/officeDocument/2006/relationships/image" Target="../media/image584.png"/><Relationship Id="rId26" Type="http://schemas.openxmlformats.org/officeDocument/2006/relationships/image" Target="../media/image585.png"/><Relationship Id="rId27" Type="http://schemas.openxmlformats.org/officeDocument/2006/relationships/image" Target="../media/image586.png"/><Relationship Id="rId28" Type="http://schemas.openxmlformats.org/officeDocument/2006/relationships/image" Target="../media/image587.png"/></Relationships>
</file>

<file path=ppt/charts/_rels/chart87.xml.rels><?xml version='1.0' encoding='UTF-8' standalone='yes'?>
<Relationships xmlns="http://schemas.openxmlformats.org/package/2006/relationships"><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image" Target="../media/image605.png"/><Relationship Id="rId6" Type="http://schemas.openxmlformats.org/officeDocument/2006/relationships/image" Target="../media/image606.png"/><Relationship Id="rId7" Type="http://schemas.openxmlformats.org/officeDocument/2006/relationships/image" Target="../media/image607.png"/><Relationship Id="rId8" Type="http://schemas.openxmlformats.org/officeDocument/2006/relationships/image" Target="../media/image608.png"/><Relationship Id="rId9" Type="http://schemas.openxmlformats.org/officeDocument/2006/relationships/image" Target="../media/image609.png"/><Relationship Id="rId10" Type="http://schemas.openxmlformats.org/officeDocument/2006/relationships/image" Target="../media/image610.png"/></Relationships>
</file>

<file path=ppt/charts/_rels/chart94.xml.rels><?xml version='1.0' encoding='UTF-8' standalone='yes'?>
<Relationships xmlns="http://schemas.openxmlformats.org/package/2006/relationships"><Relationship Id="rId2" Type="http://schemas.openxmlformats.org/officeDocument/2006/relationships/image" Target="../media/image611.png"/><Relationship Id="rId3" Type="http://schemas.openxmlformats.org/officeDocument/2006/relationships/image" Target="../media/image612.png"/><Relationship Id="rId4" Type="http://schemas.openxmlformats.org/officeDocument/2006/relationships/image" Target="../media/image613.png"/><Relationship Id="rId5" Type="http://schemas.openxmlformats.org/officeDocument/2006/relationships/image" Target="../media/image614.png"/><Relationship Id="rId6" Type="http://schemas.openxmlformats.org/officeDocument/2006/relationships/image" Target="../media/image615.png"/><Relationship Id="rId7" Type="http://schemas.openxmlformats.org/officeDocument/2006/relationships/image" Target="../media/image616.png"/><Relationship Id="rId8" Type="http://schemas.openxmlformats.org/officeDocument/2006/relationships/image" Target="../media/image617.png"/><Relationship Id="rId9" Type="http://schemas.openxmlformats.org/officeDocument/2006/relationships/image" Target="../media/image618.png"/><Relationship Id="rId10" Type="http://schemas.openxmlformats.org/officeDocument/2006/relationships/image" Target="../media/image619.png"/><Relationship Id="rId11" Type="http://schemas.openxmlformats.org/officeDocument/2006/relationships/image" Target="../media/image620.png"/><Relationship Id="rId12" Type="http://schemas.openxmlformats.org/officeDocument/2006/relationships/image" Target="../media/image621.png"/><Relationship Id="rId13" Type="http://schemas.openxmlformats.org/officeDocument/2006/relationships/image" Target="../media/image622.png"/><Relationship Id="rId14" Type="http://schemas.openxmlformats.org/officeDocument/2006/relationships/image" Target="../media/image623.png"/><Relationship Id="rId15" Type="http://schemas.openxmlformats.org/officeDocument/2006/relationships/image" Target="../media/image624.png"/><Relationship Id="rId16" Type="http://schemas.openxmlformats.org/officeDocument/2006/relationships/image" Target="../media/image625.png"/></Relationships>
</file>

<file path=ppt/charts/_rels/chart95.xml.rels><?xml version='1.0' encoding='UTF-8' standalone='yes'?>
<Relationships xmlns="http://schemas.openxmlformats.org/package/2006/relationships"><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image" Target="../media/image635.png"/><Relationship Id="rId6" Type="http://schemas.openxmlformats.org/officeDocument/2006/relationships/image" Target="../media/image636.png"/><Relationship Id="rId7" Type="http://schemas.openxmlformats.org/officeDocument/2006/relationships/image" Target="../media/image637.png"/></Relationships>
</file>

<file path=ppt/charts/_rels/chart100.xml.rels><?xml version='1.0' encoding='UTF-8' standalone='yes'?>
<Relationships xmlns="http://schemas.openxmlformats.org/package/2006/relationships"><Relationship Id="rId2" Type="http://schemas.openxmlformats.org/officeDocument/2006/relationships/image" Target="../media/image638.png"/><Relationship Id="rId3" Type="http://schemas.openxmlformats.org/officeDocument/2006/relationships/image" Target="../media/image639.png"/><Relationship Id="rId4" Type="http://schemas.openxmlformats.org/officeDocument/2006/relationships/image" Target="../media/image640.png"/><Relationship Id="rId5" Type="http://schemas.openxmlformats.org/officeDocument/2006/relationships/image" Target="../media/image641.png"/><Relationship Id="rId6" Type="http://schemas.openxmlformats.org/officeDocument/2006/relationships/image" Target="../media/image642.png"/><Relationship Id="rId7" Type="http://schemas.openxmlformats.org/officeDocument/2006/relationships/image" Target="../media/image643.png"/><Relationship Id="rId8" Type="http://schemas.openxmlformats.org/officeDocument/2006/relationships/image" Target="../media/image644.png"/><Relationship Id="rId9" Type="http://schemas.openxmlformats.org/officeDocument/2006/relationships/image" Target="../media/image645.png"/><Relationship Id="rId10" Type="http://schemas.openxmlformats.org/officeDocument/2006/relationships/image" Target="../media/image646.png"/></Relationships>
</file>

<file path=ppt/charts/_rels/chart124.xml.rels><?xml version='1.0' encoding='UTF-8' standalone='yes'?>
<Relationships xmlns="http://schemas.openxmlformats.org/package/2006/relationships"><Relationship Id="rId2" Type="http://schemas.openxmlformats.org/officeDocument/2006/relationships/image" Target="../media/image647.png"/><Relationship Id="rId3" Type="http://schemas.openxmlformats.org/officeDocument/2006/relationships/image" Target="../media/image648.png"/><Relationship Id="rId4" Type="http://schemas.openxmlformats.org/officeDocument/2006/relationships/image" Target="../media/image649.png"/><Relationship Id="rId5" Type="http://schemas.openxmlformats.org/officeDocument/2006/relationships/image" Target="../media/image650.png"/><Relationship Id="rId6" Type="http://schemas.openxmlformats.org/officeDocument/2006/relationships/image" Target="../media/image651.png"/><Relationship Id="rId7" Type="http://schemas.openxmlformats.org/officeDocument/2006/relationships/image" Target="../media/image652.png"/><Relationship Id="rId8" Type="http://schemas.openxmlformats.org/officeDocument/2006/relationships/image" Target="../media/image653.png"/><Relationship Id="rId9" Type="http://schemas.openxmlformats.org/officeDocument/2006/relationships/image" Target="../media/image654.png"/><Relationship Id="rId10" Type="http://schemas.openxmlformats.org/officeDocument/2006/relationships/image" Target="../media/image655.png"/><Relationship Id="rId11" Type="http://schemas.openxmlformats.org/officeDocument/2006/relationships/image" Target="../media/image656.png"/></Relationships>
</file>

<file path=ppt/charts/_rels/chart125.xml.rels><?xml version='1.0' encoding='UTF-8' standalone='yes'?>
<Relationships xmlns="http://schemas.openxmlformats.org/package/2006/relationships"><Relationship Id="rId2" Type="http://schemas.openxmlformats.org/officeDocument/2006/relationships/image" Target="../media/image657.png"/><Relationship Id="rId3" Type="http://schemas.openxmlformats.org/officeDocument/2006/relationships/image" Target="../media/image658.png"/><Relationship Id="rId4" Type="http://schemas.openxmlformats.org/officeDocument/2006/relationships/image" Target="../media/image659.png"/><Relationship Id="rId5" Type="http://schemas.openxmlformats.org/officeDocument/2006/relationships/image" Target="../media/image660.png"/><Relationship Id="rId6" Type="http://schemas.openxmlformats.org/officeDocument/2006/relationships/image" Target="../media/image661.png"/><Relationship Id="rId7" Type="http://schemas.openxmlformats.org/officeDocument/2006/relationships/image" Target="../media/image662.png"/><Relationship Id="rId8" Type="http://schemas.openxmlformats.org/officeDocument/2006/relationships/image" Target="../media/image663.png"/><Relationship Id="rId9" Type="http://schemas.openxmlformats.org/officeDocument/2006/relationships/image" Target="../media/image664.png"/><Relationship Id="rId10" Type="http://schemas.openxmlformats.org/officeDocument/2006/relationships/image" Target="../media/image665.png"/><Relationship Id="rId11" Type="http://schemas.openxmlformats.org/officeDocument/2006/relationships/image" Target="../media/image666.png"/><Relationship Id="rId12" Type="http://schemas.openxmlformats.org/officeDocument/2006/relationships/image" Target="../media/image667.png"/></Relationships>
</file>

<file path=ppt/charts/_rels/chart126.xml.rels><?xml version='1.0' encoding='UTF-8' standalone='yes'?>
<Relationships xmlns="http://schemas.openxmlformats.org/package/2006/relationships"><Relationship Id="rId2" Type="http://schemas.openxmlformats.org/officeDocument/2006/relationships/image" Target="../media/image668.png"/><Relationship Id="rId3" Type="http://schemas.openxmlformats.org/officeDocument/2006/relationships/image" Target="../media/image669.png"/><Relationship Id="rId4" Type="http://schemas.openxmlformats.org/officeDocument/2006/relationships/image" Target="../media/image670.png"/><Relationship Id="rId5" Type="http://schemas.openxmlformats.org/officeDocument/2006/relationships/image" Target="../media/image671.png"/><Relationship Id="rId6" Type="http://schemas.openxmlformats.org/officeDocument/2006/relationships/image" Target="../media/image672.png"/><Relationship Id="rId7" Type="http://schemas.openxmlformats.org/officeDocument/2006/relationships/image" Target="../media/image673.png"/><Relationship Id="rId8" Type="http://schemas.openxmlformats.org/officeDocument/2006/relationships/image" Target="../media/image674.png"/><Relationship Id="rId9" Type="http://schemas.openxmlformats.org/officeDocument/2006/relationships/image" Target="../media/image675.png"/><Relationship Id="rId10" Type="http://schemas.openxmlformats.org/officeDocument/2006/relationships/image" Target="../media/image676.png"/><Relationship Id="rId11" Type="http://schemas.openxmlformats.org/officeDocument/2006/relationships/image" Target="../media/image677.png"/></Relationships>
</file>

<file path=ppt/charts/_rels/chart127.xml.rels><?xml version='1.0' encoding='UTF-8' standalone='yes'?>
<Relationships xmlns="http://schemas.openxmlformats.org/package/2006/relationships"><Relationship Id="rId2" Type="http://schemas.openxmlformats.org/officeDocument/2006/relationships/image" Target="../media/image678.png"/><Relationship Id="rId3" Type="http://schemas.openxmlformats.org/officeDocument/2006/relationships/image" Target="../media/image679.png"/><Relationship Id="rId4" Type="http://schemas.openxmlformats.org/officeDocument/2006/relationships/image" Target="../media/image680.png"/><Relationship Id="rId5" Type="http://schemas.openxmlformats.org/officeDocument/2006/relationships/image" Target="../media/image681.png"/><Relationship Id="rId6" Type="http://schemas.openxmlformats.org/officeDocument/2006/relationships/image" Target="../media/image682.png"/><Relationship Id="rId7" Type="http://schemas.openxmlformats.org/officeDocument/2006/relationships/image" Target="../media/image683.png"/><Relationship Id="rId8" Type="http://schemas.openxmlformats.org/officeDocument/2006/relationships/image" Target="../media/image684.png"/><Relationship Id="rId9" Type="http://schemas.openxmlformats.org/officeDocument/2006/relationships/image" Target="../media/image685.png"/><Relationship Id="rId10" Type="http://schemas.openxmlformats.org/officeDocument/2006/relationships/image" Target="../media/image686.png"/><Relationship Id="rId11" Type="http://schemas.openxmlformats.org/officeDocument/2006/relationships/image" Target="../media/image687.png"/><Relationship Id="rId12" Type="http://schemas.openxmlformats.org/officeDocument/2006/relationships/image" Target="../media/image688.png"/></Relationships>
</file>

<file path=ppt/charts/_rels/chart128.xml.rels><?xml version='1.0' encoding='UTF-8' standalone='yes'?>
<Relationships xmlns="http://schemas.openxmlformats.org/package/2006/relationships"><Relationship Id="rId2" Type="http://schemas.openxmlformats.org/officeDocument/2006/relationships/image" Target="../media/image689.png"/><Relationship Id="rId3" Type="http://schemas.openxmlformats.org/officeDocument/2006/relationships/image" Target="../media/image690.png"/><Relationship Id="rId4" Type="http://schemas.openxmlformats.org/officeDocument/2006/relationships/image" Target="../media/image691.png"/><Relationship Id="rId5" Type="http://schemas.openxmlformats.org/officeDocument/2006/relationships/image" Target="../media/image692.png"/><Relationship Id="rId6" Type="http://schemas.openxmlformats.org/officeDocument/2006/relationships/image" Target="../media/image693.png"/><Relationship Id="rId7" Type="http://schemas.openxmlformats.org/officeDocument/2006/relationships/image" Target="../media/image694.png"/><Relationship Id="rId8" Type="http://schemas.openxmlformats.org/officeDocument/2006/relationships/image" Target="../media/image695.png"/><Relationship Id="rId9" Type="http://schemas.openxmlformats.org/officeDocument/2006/relationships/image" Target="../media/image696.png"/><Relationship Id="rId10" Type="http://schemas.openxmlformats.org/officeDocument/2006/relationships/image" Target="../media/image697.png"/><Relationship Id="rId11" Type="http://schemas.openxmlformats.org/officeDocument/2006/relationships/image" Target="../media/image698.png"/></Relationships>
</file>

<file path=ppt/charts/_rels/chart129.xml.rels><?xml version='1.0' encoding='UTF-8' standalone='yes'?>
<Relationships xmlns="http://schemas.openxmlformats.org/package/2006/relationships"><Relationship Id="rId2" Type="http://schemas.openxmlformats.org/officeDocument/2006/relationships/image" Target="../media/image699.png"/><Relationship Id="rId3" Type="http://schemas.openxmlformats.org/officeDocument/2006/relationships/image" Target="../media/image700.png"/><Relationship Id="rId4" Type="http://schemas.openxmlformats.org/officeDocument/2006/relationships/image" Target="../media/image701.png"/><Relationship Id="rId5" Type="http://schemas.openxmlformats.org/officeDocument/2006/relationships/image" Target="../media/image702.png"/><Relationship Id="rId6" Type="http://schemas.openxmlformats.org/officeDocument/2006/relationships/image" Target="../media/image703.png"/><Relationship Id="rId7" Type="http://schemas.openxmlformats.org/officeDocument/2006/relationships/image" Target="../media/image704.png"/><Relationship Id="rId8" Type="http://schemas.openxmlformats.org/officeDocument/2006/relationships/image" Target="../media/image705.png"/><Relationship Id="rId9" Type="http://schemas.openxmlformats.org/officeDocument/2006/relationships/image" Target="../media/image706.png"/><Relationship Id="rId10" Type="http://schemas.openxmlformats.org/officeDocument/2006/relationships/image" Target="../media/image707.png"/></Relationships>
</file>

<file path=ppt/charts/_rels/chart130.xml.rels><?xml version='1.0' encoding='UTF-8' standalone='yes'?>
<Relationships xmlns="http://schemas.openxmlformats.org/package/2006/relationships"><Relationship Id="rId2" Type="http://schemas.openxmlformats.org/officeDocument/2006/relationships/image" Target="../media/image708.png"/><Relationship Id="rId3" Type="http://schemas.openxmlformats.org/officeDocument/2006/relationships/image" Target="../media/image709.png"/><Relationship Id="rId4" Type="http://schemas.openxmlformats.org/officeDocument/2006/relationships/image" Target="../media/image710.png"/><Relationship Id="rId5" Type="http://schemas.openxmlformats.org/officeDocument/2006/relationships/image" Target="../media/image711.png"/><Relationship Id="rId6" Type="http://schemas.openxmlformats.org/officeDocument/2006/relationships/image" Target="../media/image712.png"/><Relationship Id="rId7" Type="http://schemas.openxmlformats.org/officeDocument/2006/relationships/image" Target="../media/image713.png"/><Relationship Id="rId8" Type="http://schemas.openxmlformats.org/officeDocument/2006/relationships/image" Target="../media/image714.png"/><Relationship Id="rId9" Type="http://schemas.openxmlformats.org/officeDocument/2006/relationships/image" Target="../media/image715.png"/><Relationship Id="rId10" Type="http://schemas.openxmlformats.org/officeDocument/2006/relationships/image" Target="../media/image716.png"/><Relationship Id="rId11" Type="http://schemas.openxmlformats.org/officeDocument/2006/relationships/image" Target="../media/image717.png"/><Relationship Id="rId12" Type="http://schemas.openxmlformats.org/officeDocument/2006/relationships/image" Target="../media/image718.png"/></Relationships>
</file>

<file path=ppt/charts/_rels/chart131.xml.rels><?xml version='1.0' encoding='UTF-8' standalone='yes'?>
<Relationships xmlns="http://schemas.openxmlformats.org/package/2006/relationships"><Relationship Id="rId2" Type="http://schemas.openxmlformats.org/officeDocument/2006/relationships/image" Target="../media/image719.png"/><Relationship Id="rId3" Type="http://schemas.openxmlformats.org/officeDocument/2006/relationships/image" Target="../media/image720.png"/><Relationship Id="rId4" Type="http://schemas.openxmlformats.org/officeDocument/2006/relationships/image" Target="../media/image721.png"/><Relationship Id="rId5" Type="http://schemas.openxmlformats.org/officeDocument/2006/relationships/image" Target="../media/image722.png"/></Relationships>
</file>

<file path=ppt/charts/_rels/chart132.xml.rels><?xml version='1.0' encoding='UTF-8' standalone='yes'?>
<Relationships xmlns="http://schemas.openxmlformats.org/package/2006/relationships"><Relationship Id="rId2" Type="http://schemas.openxmlformats.org/officeDocument/2006/relationships/image" Target="../media/image723.png"/><Relationship Id="rId3" Type="http://schemas.openxmlformats.org/officeDocument/2006/relationships/image" Target="../media/image724.png"/><Relationship Id="rId4" Type="http://schemas.openxmlformats.org/officeDocument/2006/relationships/image" Target="../media/image725.png"/><Relationship Id="rId5" Type="http://schemas.openxmlformats.org/officeDocument/2006/relationships/image" Target="../media/image726.png"/><Relationship Id="rId6" Type="http://schemas.openxmlformats.org/officeDocument/2006/relationships/image" Target="../media/image727.png"/></Relationships>
</file>

<file path=ppt/charts/_rels/chart133.xml.rels><?xml version='1.0' encoding='UTF-8' standalone='yes'?>
<Relationships xmlns="http://schemas.openxmlformats.org/package/2006/relationships"><Relationship Id="rId2" Type="http://schemas.openxmlformats.org/officeDocument/2006/relationships/image" Target="../media/image728.png"/><Relationship Id="rId3" Type="http://schemas.openxmlformats.org/officeDocument/2006/relationships/image" Target="../media/image729.png"/><Relationship Id="rId4" Type="http://schemas.openxmlformats.org/officeDocument/2006/relationships/image" Target="../media/image730.png"/><Relationship Id="rId5" Type="http://schemas.openxmlformats.org/officeDocument/2006/relationships/image" Target="../media/image731.png"/></Relationships>
</file>

<file path=ppt/charts/_rels/chart134.xml.rels><?xml version='1.0' encoding='UTF-8' standalone='yes'?>
<Relationships xmlns="http://schemas.openxmlformats.org/package/2006/relationships"><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image" Target="../media/image736.png"/><Relationship Id="rId7" Type="http://schemas.openxmlformats.org/officeDocument/2006/relationships/image" Target="../media/image737.png"/><Relationship Id="rId8" Type="http://schemas.openxmlformats.org/officeDocument/2006/relationships/image" Target="../media/image738.png"/><Relationship Id="rId9" Type="http://schemas.openxmlformats.org/officeDocument/2006/relationships/image" Target="../media/image739.png"/><Relationship Id="rId10" Type="http://schemas.openxmlformats.org/officeDocument/2006/relationships/image" Target="../media/image740.png"/><Relationship Id="rId11" Type="http://schemas.openxmlformats.org/officeDocument/2006/relationships/image" Target="../media/image741.png"/></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4.8531005958249995</c:v>
                </c:pt>
                <c:pt idx="1">
                  <c:v>4.906912051495027</c:v>
                </c:pt>
                <c:pt idx="2">
                  <c:v>4.888971831807765</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6.477123907973436"/>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166.48299999999998</c:v>
                </c:pt>
                <c:pt idx="2">
                  <c:v>0.0</c:v>
                </c:pt>
                <c:pt idx="3">
                  <c:v>210.99699999999999</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166.48299999999998</c:v>
                </c:pt>
                <c:pt idx="1">
                  <c:v>44.51400000000001</c:v>
                </c:pt>
                <c:pt idx="2">
                  <c:v>210.99699999999999</c:v>
                </c:pt>
                <c:pt idx="3">
                  <c:v>129.66</c:v>
                </c:pt>
                <c:pt idx="4">
                  <c:v>340.657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5.500039429331838</c:v>
                </c:pt>
                <c:pt idx="1">
                  <c:v>5.499987637423742</c:v>
                </c:pt>
                <c:pt idx="2">
                  <c:v>5.500004901390287</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7.260052046718026"/>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1614.4319999999998</c:v>
                </c:pt>
                <c:pt idx="2">
                  <c:v>0.0</c:v>
                </c:pt>
                <c:pt idx="3">
                  <c:v>2110.002</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1614.4319999999998</c:v>
                </c:pt>
                <c:pt idx="1">
                  <c:v>495.57000000000016</c:v>
                </c:pt>
                <c:pt idx="2">
                  <c:v>2110.002</c:v>
                </c:pt>
                <c:pt idx="3">
                  <c:v>1494.1820000000002</c:v>
                </c:pt>
                <c:pt idx="4">
                  <c:v>3604.184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1614.4319999999998</c:v>
                </c:pt>
                <c:pt idx="1">
                  <c:v>1703.23</c:v>
                </c:pt>
                <c:pt idx="2">
                  <c:v>1796.9080000000001</c:v>
                </c:pt>
                <c:pt idx="3">
                  <c:v>1895.734</c:v>
                </c:pt>
                <c:pt idx="4">
                  <c:v>2000.0</c:v>
                </c:pt>
              </c:numCache>
            </c:numRef>
          </c:val>
        </c:ser>
        <c:gapWidth val="50"/>
        <c:axId val="-2068027336"/>
        <c:axId val="-2113994440"/>
      </c:barChart>
      <c:barChart>
        <c:barDir val="col"/>
        <c:grouping val="clustered"/>
        <c:varyColors val="0"/>
        <c:ser>
          <c:idx val="1"/>
          <c:order val="1"/>
          <c:tx>
            <c:strRef>
              <c:strCache>
                <c:ptCount val="1"/>
                <c:pt idx="0">
                  <c:v>Volume (Mn Units)</c:v>
                </c:pt>
              </c:strCache>
            </c:strRef>
          </c:tx>
          <c:spPr>
            <a:solidFill>
              <a:srgbClr val="C55A11"/>
            </a:solidFill>
            <a:ln>
              <a:noFill/>
            </a:ln>
          </c:spPr>
          <c:dLbls>
            <c:dLbl>
              <c:idx val="0"/>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166.48299999999998</c:v>
                </c:pt>
                <c:pt idx="1">
                  <c:v>174.534</c:v>
                </c:pt>
                <c:pt idx="2">
                  <c:v>182.99499999999998</c:v>
                </c:pt>
                <c:pt idx="3">
                  <c:v>191.87699999999998</c:v>
                </c:pt>
                <c:pt idx="4">
                  <c:v>201.20499999999998</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2360"/>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277"/>
          <c:min val="0"/>
        </c:scaling>
        <c:delete val="0"/>
        <c:axPos val="r"/>
        <c:numFmt formatCode="General"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2110.002</c:v>
                </c:pt>
                <c:pt idx="1">
                  <c:v>2226.049</c:v>
                </c:pt>
                <c:pt idx="2">
                  <c:v>2348.4809999999998</c:v>
                </c:pt>
                <c:pt idx="3">
                  <c:v>2477.6479999999997</c:v>
                </c:pt>
                <c:pt idx="4">
                  <c:v>2613.9179999999997</c:v>
                </c:pt>
                <c:pt idx="5">
                  <c:v>2757.6869999999994</c:v>
                </c:pt>
                <c:pt idx="6">
                  <c:v>2909.361</c:v>
                </c:pt>
                <c:pt idx="7">
                  <c:v>3069.3699999999994</c:v>
                </c:pt>
                <c:pt idx="8">
                  <c:v>3238.1899999999996</c:v>
                </c:pt>
                <c:pt idx="9">
                  <c:v>3416.2900000000004</c:v>
                </c:pt>
                <c:pt idx="10">
                  <c:v>3604.184</c:v>
                </c:pt>
              </c:numCache>
            </c:numRef>
          </c:val>
        </c:ser>
        <c:gapWidth val="50"/>
        <c:axId val="-2068027336"/>
        <c:axId val="-2113994440"/>
      </c:barChart>
      <c:barChart>
        <c:barDir val="col"/>
        <c:grouping val="clustered"/>
        <c:varyColors val="0"/>
        <c:ser>
          <c:idx val="1"/>
          <c:order val="1"/>
          <c:tx>
            <c:strRef>
              <c:strCache>
                <c:ptCount val="1"/>
                <c:pt idx="0">
                  <c:v>Volume (Mn Units)</c:v>
                </c:pt>
              </c:strCache>
            </c:strRef>
          </c:tx>
          <c:spPr>
            <a:solidFill>
              <a:srgbClr val="C55A11"/>
            </a:solidFill>
            <a:ln>
              <a:noFill/>
            </a:ln>
          </c:spPr>
          <c:dLbls>
            <c:dLbl>
              <c:idx val="0"/>
              <c:numFmt formatCode="&quot;MMMMM&quot;;&quot;MMMMM&quot;;&quot;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quot;;&quot;MMMMM&quot;;&quot;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210.99699999999999</c:v>
                </c:pt>
                <c:pt idx="1">
                  <c:v>221.28399999999996</c:v>
                </c:pt>
                <c:pt idx="2">
                  <c:v>232.088</c:v>
                </c:pt>
                <c:pt idx="3">
                  <c:v>243.43599999999998</c:v>
                </c:pt>
                <c:pt idx="4">
                  <c:v>255.36200000000002</c:v>
                </c:pt>
                <c:pt idx="5">
                  <c:v>267.87300000000005</c:v>
                </c:pt>
                <c:pt idx="6">
                  <c:v>281.03499999999997</c:v>
                </c:pt>
                <c:pt idx="7">
                  <c:v>294.855</c:v>
                </c:pt>
                <c:pt idx="8">
                  <c:v>309.377</c:v>
                </c:pt>
                <c:pt idx="9">
                  <c:v>324.63100000000003</c:v>
                </c:pt>
                <c:pt idx="10">
                  <c:v>340.657</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4253"/>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483"/>
          <c:min val="0"/>
        </c:scaling>
        <c:delete val="0"/>
        <c:axPos val="r"/>
        <c:numFmt formatCode="General"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0"/>
                <c:pt idx="0">
                  <c:v>Mexico</c:v>
                </c:pt>
                <c:pt idx="1">
                  <c:v>China</c:v>
                </c:pt>
                <c:pt idx="2">
                  <c:v>Malaysia</c:v>
                </c:pt>
                <c:pt idx="3">
                  <c:v>Spain</c:v>
                </c:pt>
                <c:pt idx="4">
                  <c:v>Thailand</c:v>
                </c:pt>
                <c:pt idx="5">
                  <c:v>Brazil</c:v>
                </c:pt>
                <c:pt idx="6">
                  <c:v>France</c:v>
                </c:pt>
                <c:pt idx="7">
                  <c:v>Netherlands</c:v>
                </c:pt>
                <c:pt idx="8">
                  <c:v>Germany</c:v>
                </c:pt>
                <c:pt idx="9">
                  <c:v>India</c:v>
                </c:pt>
              </c:strCache>
            </c:strRef>
          </c:cat>
          <c:val>
            <c:numRef>
              <c:numCache>
                <c:formatCode>General</c:formatCode>
                <c:ptCount val="10"/>
                <c:pt idx="0">
                  <c:v>101.71642439772799</c:v>
                </c:pt>
                <c:pt idx="1">
                  <c:v>102.11196574999101</c:v>
                </c:pt>
                <c:pt idx="2">
                  <c:v>106.07852915404588</c:v>
                </c:pt>
                <c:pt idx="3">
                  <c:v>113.7935156710031</c:v>
                </c:pt>
                <c:pt idx="4">
                  <c:v>117.11192562907505</c:v>
                </c:pt>
                <c:pt idx="5">
                  <c:v>117.5947798095172</c:v>
                </c:pt>
                <c:pt idx="6">
                  <c:v>121.62162473751268</c:v>
                </c:pt>
                <c:pt idx="7">
                  <c:v>125.92596091015473</c:v>
                </c:pt>
                <c:pt idx="8">
                  <c:v>128.98735149294848</c:v>
                </c:pt>
                <c:pt idx="9">
                  <c:v>132.979710696331</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0"/>
                <c:pt idx="0">
                  <c:v>Turkey</c:v>
                </c:pt>
                <c:pt idx="1">
                  <c:v>Japan</c:v>
                </c:pt>
                <c:pt idx="2">
                  <c:v>U.K.</c:v>
                </c:pt>
                <c:pt idx="3">
                  <c:v>France</c:v>
                </c:pt>
                <c:pt idx="4">
                  <c:v>Brazil</c:v>
                </c:pt>
                <c:pt idx="5">
                  <c:v>India</c:v>
                </c:pt>
                <c:pt idx="6">
                  <c:v>China</c:v>
                </c:pt>
                <c:pt idx="7">
                  <c:v>Canada</c:v>
                </c:pt>
                <c:pt idx="8">
                  <c:v>Germany</c:v>
                </c:pt>
                <c:pt idx="9">
                  <c:v>U.S.</c:v>
                </c:pt>
              </c:strCache>
            </c:strRef>
          </c:cat>
          <c:val>
            <c:numRef>
              <c:numCache>
                <c:formatCode>General</c:formatCode>
                <c:ptCount val="10"/>
                <c:pt idx="0">
                  <c:v>2.752944420425357</c:v>
                </c:pt>
                <c:pt idx="1">
                  <c:v>3.0929297769615762</c:v>
                </c:pt>
                <c:pt idx="2">
                  <c:v>3.4813697394293324</c:v>
                </c:pt>
                <c:pt idx="3">
                  <c:v>3.6837547233201837</c:v>
                </c:pt>
                <c:pt idx="4">
                  <c:v>5.336030015085179</c:v>
                </c:pt>
                <c:pt idx="5">
                  <c:v>7.056369304408699</c:v>
                </c:pt>
                <c:pt idx="6">
                  <c:v>7.700266768037626</c:v>
                </c:pt>
                <c:pt idx="7">
                  <c:v>9.30810302894828</c:v>
                </c:pt>
                <c:pt idx="8">
                  <c:v>14.087038928323317</c:v>
                </c:pt>
                <c:pt idx="9">
                  <c:v>17.10581441885928</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Ear Drops</c:v>
                </c:pt>
                <c:pt idx="1">
                  <c:v>Ear Sprays</c:v>
                </c:pt>
                <c:pt idx="2">
                  <c:v>Irrigation Devices and Accessories</c:v>
                </c:pt>
                <c:pt idx="3">
                  <c:v>Manual Removal Tools</c:v>
                </c:pt>
                <c:pt idx="4">
                  <c:v>Camera-Assisted Removal Devices</c:v>
                </c:pt>
                <c:pt idx="5">
                  <c:v>Suction Devices and Accessories</c:v>
                </c:pt>
                <c:pt idx="6">
                  <c:v>Combination Removal Kits</c:v>
                </c:pt>
              </c:strCache>
            </c:strRef>
          </c:cat>
          <c:val>
            <c:numRef>
              <c:numCache>
                <c:formatCode>General</c:formatCode>
                <c:ptCount val="7"/>
                <c:pt idx="0">
                  <c:v>800.38</c:v>
                </c:pt>
                <c:pt idx="1">
                  <c:v>505.004</c:v>
                </c:pt>
                <c:pt idx="2">
                  <c:v>924.797</c:v>
                </c:pt>
                <c:pt idx="3">
                  <c:v>412.67</c:v>
                </c:pt>
                <c:pt idx="4">
                  <c:v>305.67199999999997</c:v>
                </c:pt>
                <c:pt idx="5">
                  <c:v>358.558</c:v>
                </c:pt>
                <c:pt idx="6">
                  <c:v>297.103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0.06439721185263864</c:v>
                </c:pt>
                <c:pt idx="1">
                  <c:v>0.06576721185263865</c:v>
                </c:pt>
                <c:pt idx="2">
                  <c:v>0.06751721185263865</c:v>
                </c:pt>
                <c:pt idx="3">
                  <c:v>0.07001721185263865</c:v>
                </c:pt>
                <c:pt idx="4">
                  <c:v>0.07201721185263865</c:v>
                </c:pt>
                <c:pt idx="5">
                  <c:v>0.07203721185263864</c:v>
                </c:pt>
                <c:pt idx="6">
                  <c:v>0.07121721185263864</c:v>
                </c:pt>
                <c:pt idx="7">
                  <c:v>0.06979721185263865</c:v>
                </c:pt>
                <c:pt idx="8">
                  <c:v>0.06862721185263865</c:v>
                </c:pt>
                <c:pt idx="9">
                  <c:v>0.06778721185263864</c:v>
                </c:pt>
                <c:pt idx="10">
                  <c:v>0.06709721185263864</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0.04961897838672836</c:v>
                </c:pt>
                <c:pt idx="1">
                  <c:v>0.05379140854419596</c:v>
                </c:pt>
                <c:pt idx="2">
                  <c:v>0.057513673129118745</c:v>
                </c:pt>
                <c:pt idx="3">
                  <c:v>0.06083280436549393</c:v>
                </c:pt>
                <c:pt idx="4">
                  <c:v>0.06119562437918677</c:v>
                </c:pt>
                <c:pt idx="5">
                  <c:v>0.059025423186172224</c:v>
                </c:pt>
                <c:pt idx="6">
                  <c:v>0.056895535328012434</c:v>
                </c:pt>
                <c:pt idx="7">
                  <c:v>0.05386531632476302</c:v>
                </c:pt>
                <c:pt idx="8">
                  <c:v>0.05231325293285478</c:v>
                </c:pt>
                <c:pt idx="9">
                  <c:v>0.051103852887212</c:v>
                </c:pt>
                <c:pt idx="10">
                  <c:v>0.04893365169419745</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0.03506666688677987</c:v>
                </c:pt>
                <c:pt idx="1">
                  <c:v>0.03676000787788629</c:v>
                </c:pt>
                <c:pt idx="2">
                  <c:v>0.03920041107095143</c:v>
                </c:pt>
                <c:pt idx="3">
                  <c:v>0.04074433962166611</c:v>
                </c:pt>
                <c:pt idx="4">
                  <c:v>0.04141569952049301</c:v>
                </c:pt>
                <c:pt idx="5">
                  <c:v>0.04207510642408857</c:v>
                </c:pt>
                <c:pt idx="6">
                  <c:v>0.04274845848878736</c:v>
                </c:pt>
                <c:pt idx="7">
                  <c:v>0.043419818387614266</c:v>
                </c:pt>
                <c:pt idx="8">
                  <c:v>0.044017468149181234</c:v>
                </c:pt>
                <c:pt idx="9">
                  <c:v>0.044366097176761966</c:v>
                </c:pt>
                <c:pt idx="10">
                  <c:v>0.043981609163487215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6D5E1"/>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South Asia &amp; Pacific</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19.42112921036792</c:v>
                </c:pt>
                <c:pt idx="1">
                  <c:v>22.361202030194594</c:v>
                </c:pt>
              </c:numCache>
            </c:numRef>
          </c:val>
        </c:ser>
        <c:ser>
          <c:idx val="1"/>
          <c:order val="1"/>
          <c:tx>
            <c:strRef>
              <c:strCache>
                <c:ptCount val="1"/>
                <c:pt idx="0">
                  <c:v>Europe</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22.194154419257146</c:v>
                </c:pt>
                <c:pt idx="1">
                  <c:v>22.040938539351902</c:v>
                </c:pt>
              </c:numCache>
            </c:numRef>
          </c:val>
        </c:ser>
        <c:ser>
          <c:idx val="2"/>
          <c:order val="2"/>
          <c:tx>
            <c:strRef>
              <c:strCache>
                <c:ptCount val="1"/>
                <c:pt idx="0">
                  <c:v>North America</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24.12309179751371</c:v>
                </c:pt>
                <c:pt idx="1">
                  <c:v>20.304881449669317</c:v>
                </c:pt>
              </c:numCache>
            </c:numRef>
          </c:val>
        </c:ser>
        <c:ser>
          <c:idx val="3"/>
          <c:order val="3"/>
          <c:tx>
            <c:strRef>
              <c:strCache>
                <c:ptCount val="1"/>
                <c:pt idx="0">
                  <c:v>East Asia</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18.29315108745622</c:v>
                </c:pt>
                <c:pt idx="1">
                  <c:v>19.04232116175508</c:v>
                </c:pt>
              </c:numCache>
            </c:numRef>
          </c:val>
        </c:ser>
        <c:ser>
          <c:idx val="4"/>
          <c:order val="4"/>
          <c:tx>
            <c:strRef>
              <c:strCache>
                <c:ptCount val="1"/>
                <c:pt idx="0">
                  <c:v>Latin America</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8.382109698242154</c:v>
                </c:pt>
                <c:pt idx="1">
                  <c:v>8.657975617703437</c:v>
                </c:pt>
              </c:numCache>
            </c:numRef>
          </c:val>
        </c:ser>
        <c:ser>
          <c:idx val="5"/>
          <c:order val="5"/>
          <c:tx>
            <c:strRef>
              <c:strCache>
                <c:ptCount val="1"/>
                <c:pt idx="0">
                  <c:v>Middle East &amp; Africa</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7.58636378716285</c:v>
                </c:pt>
                <c:pt idx="1">
                  <c:v>7.592681201325674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North America</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32.999921327088785</c:v>
                </c:pt>
                <c:pt idx="1">
                  <c:v>30.269570033050474</c:v>
                </c:pt>
              </c:numCache>
            </c:numRef>
          </c:val>
        </c:ser>
        <c:ser>
          <c:idx val="1"/>
          <c:order val="1"/>
          <c:tx>
            <c:strRef>
              <c:strCache>
                <c:ptCount val="1"/>
                <c:pt idx="0">
                  <c:v>Europe</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27.00006919424721</c:v>
                </c:pt>
                <c:pt idx="1">
                  <c:v>28.62867156615755</c:v>
                </c:pt>
              </c:numCache>
            </c:numRef>
          </c:val>
        </c:ser>
        <c:ser>
          <c:idx val="2"/>
          <c:order val="2"/>
          <c:tx>
            <c:strRef>
              <c:strCache>
                <c:ptCount val="1"/>
                <c:pt idx="0">
                  <c:v>South Asia &amp; Pacific</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11.9999886256032</c:v>
                </c:pt>
                <c:pt idx="1">
                  <c:v>13.06012678597985</c:v>
                </c:pt>
              </c:numCache>
            </c:numRef>
          </c:val>
        </c:ser>
        <c:ser>
          <c:idx val="3"/>
          <c:order val="3"/>
          <c:tx>
            <c:strRef>
              <c:strCache>
                <c:ptCount val="1"/>
                <c:pt idx="0">
                  <c:v>East Asia</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12.999987677736799</c:v>
                </c:pt>
                <c:pt idx="1">
                  <c:v>12.798958099808445</c:v>
                </c:pt>
              </c:numCache>
            </c:numRef>
          </c:val>
        </c:ser>
        <c:ser>
          <c:idx val="4"/>
          <c:order val="4"/>
          <c:tx>
            <c:strRef>
              <c:strCache>
                <c:ptCount val="1"/>
                <c:pt idx="0">
                  <c:v>Latin America</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7.999992417068799</c:v>
                </c:pt>
                <c:pt idx="1">
                  <c:v>8.314503366087859</c:v>
                </c:pt>
              </c:numCache>
            </c:numRef>
          </c:val>
        </c:ser>
        <c:ser>
          <c:idx val="5"/>
          <c:order val="5"/>
          <c:tx>
            <c:strRef>
              <c:strCache>
                <c:ptCount val="1"/>
                <c:pt idx="0">
                  <c:v>Middle East &amp; Africa</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7.000040758255205</c:v>
                </c:pt>
                <c:pt idx="1">
                  <c:v>6.928170148915816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43.523</c:v>
                </c:pt>
                <c:pt idx="1">
                  <c:v>44.914</c:v>
                </c:pt>
                <c:pt idx="2">
                  <c:v>46.347</c:v>
                </c:pt>
                <c:pt idx="3">
                  <c:v>47.823</c:v>
                </c:pt>
                <c:pt idx="4">
                  <c:v>49.339</c:v>
                </c:pt>
                <c:pt idx="5">
                  <c:v>50.899</c:v>
                </c:pt>
                <c:pt idx="6">
                  <c:v>52.507</c:v>
                </c:pt>
                <c:pt idx="7">
                  <c:v>54.159</c:v>
                </c:pt>
                <c:pt idx="8">
                  <c:v>55.859</c:v>
                </c:pt>
                <c:pt idx="9">
                  <c:v>57.609</c:v>
                </c:pt>
                <c:pt idx="10">
                  <c:v>59.405</c:v>
                </c:pt>
                <c:pt idx="11">
                  <c:v>61.253</c:v>
                </c:pt>
                <c:pt idx="12">
                  <c:v>63.152</c:v>
                </c:pt>
                <c:pt idx="13">
                  <c:v>65.104</c:v>
                </c:pt>
                <c:pt idx="14">
                  <c:v>67.109</c:v>
                </c:pt>
                <c:pt idx="15">
                  <c:v>69.17</c:v>
                </c:pt>
              </c:numCache>
            </c:numRef>
          </c:val>
        </c:ser>
        <c:ser>
          <c:idx val="1"/>
          <c:order val="1"/>
          <c:tx>
            <c:strRef>
              <c:strCache>
                <c:ptCount val="1"/>
                <c:pt idx="0">
                  <c:v>Europe</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36.989</c:v>
                </c:pt>
                <c:pt idx="1">
                  <c:v>38.771</c:v>
                </c:pt>
                <c:pt idx="2">
                  <c:v>40.649</c:v>
                </c:pt>
                <c:pt idx="3">
                  <c:v>42.61</c:v>
                </c:pt>
                <c:pt idx="4">
                  <c:v>44.672</c:v>
                </c:pt>
                <c:pt idx="5">
                  <c:v>46.829</c:v>
                </c:pt>
                <c:pt idx="6">
                  <c:v>49.092</c:v>
                </c:pt>
                <c:pt idx="7">
                  <c:v>51.463</c:v>
                </c:pt>
                <c:pt idx="8">
                  <c:v>53.949</c:v>
                </c:pt>
                <c:pt idx="9">
                  <c:v>56.563</c:v>
                </c:pt>
                <c:pt idx="10">
                  <c:v>59.292</c:v>
                </c:pt>
                <c:pt idx="11">
                  <c:v>62.16</c:v>
                </c:pt>
                <c:pt idx="12">
                  <c:v>65.166</c:v>
                </c:pt>
                <c:pt idx="13">
                  <c:v>68.319</c:v>
                </c:pt>
                <c:pt idx="14">
                  <c:v>71.621</c:v>
                </c:pt>
                <c:pt idx="15">
                  <c:v>75.084</c:v>
                </c:pt>
              </c:numCache>
            </c:numRef>
          </c:val>
        </c:ser>
        <c:ser>
          <c:idx val="2"/>
          <c:order val="2"/>
          <c:tx>
            <c:strRef>
              <c:strCache>
                <c:ptCount val="1"/>
                <c:pt idx="0">
                  <c:v>South Asia &amp; Pacific</c:v>
                </c:pt>
              </c:strCache>
            </c:strRef>
          </c:tx>
          <c:spPr>
            <a:solidFill>
              <a:srgbClr val="008189"/>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30.044</c:v>
                </c:pt>
                <c:pt idx="1">
                  <c:v>31.968</c:v>
                </c:pt>
                <c:pt idx="2">
                  <c:v>34.014</c:v>
                </c:pt>
                <c:pt idx="3">
                  <c:v>36.194</c:v>
                </c:pt>
                <c:pt idx="4">
                  <c:v>38.51</c:v>
                </c:pt>
                <c:pt idx="5">
                  <c:v>40.978</c:v>
                </c:pt>
                <c:pt idx="6">
                  <c:v>43.602</c:v>
                </c:pt>
                <c:pt idx="7">
                  <c:v>46.391</c:v>
                </c:pt>
                <c:pt idx="8">
                  <c:v>49.36</c:v>
                </c:pt>
                <c:pt idx="9">
                  <c:v>52.518</c:v>
                </c:pt>
                <c:pt idx="10">
                  <c:v>55.875</c:v>
                </c:pt>
                <c:pt idx="11">
                  <c:v>59.451</c:v>
                </c:pt>
                <c:pt idx="12">
                  <c:v>63.254</c:v>
                </c:pt>
                <c:pt idx="13">
                  <c:v>67.296</c:v>
                </c:pt>
                <c:pt idx="14">
                  <c:v>71.601</c:v>
                </c:pt>
                <c:pt idx="15">
                  <c:v>76.175</c:v>
                </c:pt>
              </c:numCache>
            </c:numRef>
          </c:val>
        </c:ser>
        <c:ser>
          <c:idx val="3"/>
          <c:order val="3"/>
          <c:tx>
            <c:strRef>
              <c:strCache>
                <c:ptCount val="1"/>
                <c:pt idx="0">
                  <c:v>East Asia</c:v>
                </c:pt>
              </c:strCache>
            </c:strRef>
          </c:tx>
          <c:spPr>
            <a:solidFill>
              <a:srgbClr val="40315E"/>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29.687</c:v>
                </c:pt>
                <c:pt idx="1">
                  <c:v>31.29</c:v>
                </c:pt>
                <c:pt idx="2">
                  <c:v>32.98</c:v>
                </c:pt>
                <c:pt idx="3">
                  <c:v>34.758</c:v>
                </c:pt>
                <c:pt idx="4">
                  <c:v>36.63</c:v>
                </c:pt>
                <c:pt idx="5">
                  <c:v>38.598</c:v>
                </c:pt>
                <c:pt idx="6">
                  <c:v>40.67</c:v>
                </c:pt>
                <c:pt idx="7">
                  <c:v>42.85</c:v>
                </c:pt>
                <c:pt idx="8">
                  <c:v>45.142</c:v>
                </c:pt>
                <c:pt idx="9">
                  <c:v>47.553</c:v>
                </c:pt>
                <c:pt idx="10">
                  <c:v>50.087</c:v>
                </c:pt>
                <c:pt idx="11">
                  <c:v>52.755</c:v>
                </c:pt>
                <c:pt idx="12">
                  <c:v>55.561</c:v>
                </c:pt>
                <c:pt idx="13">
                  <c:v>58.51</c:v>
                </c:pt>
                <c:pt idx="14">
                  <c:v>61.61</c:v>
                </c:pt>
                <c:pt idx="15">
                  <c:v>64.869</c:v>
                </c:pt>
              </c:numCache>
            </c:numRef>
          </c:val>
        </c:ser>
        <c:ser>
          <c:idx val="4"/>
          <c:order val="4"/>
          <c:tx>
            <c:strRef>
              <c:strCache>
                <c:ptCount val="1"/>
                <c:pt idx="0">
                  <c:v>Latin America</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13.662</c:v>
                </c:pt>
                <c:pt idx="1">
                  <c:v>14.389</c:v>
                </c:pt>
                <c:pt idx="2">
                  <c:v>15.152</c:v>
                </c:pt>
                <c:pt idx="3">
                  <c:v>15.954</c:v>
                </c:pt>
                <c:pt idx="4">
                  <c:v>16.798</c:v>
                </c:pt>
                <c:pt idx="5">
                  <c:v>17.686</c:v>
                </c:pt>
                <c:pt idx="6">
                  <c:v>18.62</c:v>
                </c:pt>
                <c:pt idx="7">
                  <c:v>19.601</c:v>
                </c:pt>
                <c:pt idx="8">
                  <c:v>20.632</c:v>
                </c:pt>
                <c:pt idx="9">
                  <c:v>21.717</c:v>
                </c:pt>
                <c:pt idx="10">
                  <c:v>22.858</c:v>
                </c:pt>
                <c:pt idx="11">
                  <c:v>24.056</c:v>
                </c:pt>
                <c:pt idx="12">
                  <c:v>25.315</c:v>
                </c:pt>
                <c:pt idx="13">
                  <c:v>26.641</c:v>
                </c:pt>
                <c:pt idx="14">
                  <c:v>28.031</c:v>
                </c:pt>
                <c:pt idx="15">
                  <c:v>29.494</c:v>
                </c:pt>
              </c:numCache>
            </c:numRef>
          </c:val>
        </c:ser>
        <c:ser>
          <c:idx val="5"/>
          <c:order val="5"/>
          <c:tx>
            <c:strRef>
              <c:strCache>
                <c:ptCount val="1"/>
                <c:pt idx="0">
                  <c:v>Middle East &amp; Africa</c:v>
                </c:pt>
              </c:strCache>
            </c:strRef>
          </c:tx>
          <c:spPr>
            <a:solidFill>
              <a:srgbClr val="808080"/>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12.578</c:v>
                </c:pt>
                <c:pt idx="1">
                  <c:v>13.202</c:v>
                </c:pt>
                <c:pt idx="2">
                  <c:v>13.853</c:v>
                </c:pt>
                <c:pt idx="3">
                  <c:v>14.538</c:v>
                </c:pt>
                <c:pt idx="4">
                  <c:v>15.256</c:v>
                </c:pt>
                <c:pt idx="5">
                  <c:v>16.007</c:v>
                </c:pt>
                <c:pt idx="6">
                  <c:v>16.793</c:v>
                </c:pt>
                <c:pt idx="7">
                  <c:v>17.624</c:v>
                </c:pt>
                <c:pt idx="8">
                  <c:v>18.494</c:v>
                </c:pt>
                <c:pt idx="9">
                  <c:v>19.402</c:v>
                </c:pt>
                <c:pt idx="10">
                  <c:v>20.356</c:v>
                </c:pt>
                <c:pt idx="11">
                  <c:v>21.36</c:v>
                </c:pt>
                <c:pt idx="12">
                  <c:v>22.407</c:v>
                </c:pt>
                <c:pt idx="13">
                  <c:v>23.507</c:v>
                </c:pt>
                <c:pt idx="14">
                  <c:v>24.659</c:v>
                </c:pt>
                <c:pt idx="15">
                  <c:v>25.865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554.592</c:v>
                </c:pt>
                <c:pt idx="1">
                  <c:v>580.516</c:v>
                </c:pt>
                <c:pt idx="2">
                  <c:v>607.6</c:v>
                </c:pt>
                <c:pt idx="3">
                  <c:v>635.89</c:v>
                </c:pt>
                <c:pt idx="4">
                  <c:v>665.439</c:v>
                </c:pt>
                <c:pt idx="5">
                  <c:v>696.299</c:v>
                </c:pt>
                <c:pt idx="6">
                  <c:v>728.574</c:v>
                </c:pt>
                <c:pt idx="7">
                  <c:v>762.275</c:v>
                </c:pt>
                <c:pt idx="8">
                  <c:v>797.464</c:v>
                </c:pt>
                <c:pt idx="9">
                  <c:v>834.202</c:v>
                </c:pt>
                <c:pt idx="10">
                  <c:v>872.557</c:v>
                </c:pt>
                <c:pt idx="11">
                  <c:v>912.592</c:v>
                </c:pt>
                <c:pt idx="12">
                  <c:v>954.377</c:v>
                </c:pt>
                <c:pt idx="13">
                  <c:v>997.984</c:v>
                </c:pt>
                <c:pt idx="14">
                  <c:v>1043.49</c:v>
                </c:pt>
                <c:pt idx="15">
                  <c:v>1090.971</c:v>
                </c:pt>
              </c:numCache>
            </c:numRef>
          </c:val>
        </c:ser>
        <c:ser>
          <c:idx val="1"/>
          <c:order val="1"/>
          <c:tx>
            <c:strRef>
              <c:strCache>
                <c:ptCount val="1"/>
                <c:pt idx="0">
                  <c:v>Europe</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423.53</c:v>
                </c:pt>
                <c:pt idx="1">
                  <c:v>449.38</c:v>
                </c:pt>
                <c:pt idx="2">
                  <c:v>476.824</c:v>
                </c:pt>
                <c:pt idx="3">
                  <c:v>505.951</c:v>
                </c:pt>
                <c:pt idx="4">
                  <c:v>536.874</c:v>
                </c:pt>
                <c:pt idx="5">
                  <c:v>569.702</c:v>
                </c:pt>
                <c:pt idx="6">
                  <c:v>604.521</c:v>
                </c:pt>
                <c:pt idx="7">
                  <c:v>641.478</c:v>
                </c:pt>
                <c:pt idx="8">
                  <c:v>680.713</c:v>
                </c:pt>
                <c:pt idx="9">
                  <c:v>722.354</c:v>
                </c:pt>
                <c:pt idx="10">
                  <c:v>766.561</c:v>
                </c:pt>
                <c:pt idx="11">
                  <c:v>813.481</c:v>
                </c:pt>
                <c:pt idx="12">
                  <c:v>863.285</c:v>
                </c:pt>
                <c:pt idx="13">
                  <c:v>916.152</c:v>
                </c:pt>
                <c:pt idx="14">
                  <c:v>972.268</c:v>
                </c:pt>
                <c:pt idx="15">
                  <c:v>1031.83</c:v>
                </c:pt>
              </c:numCache>
            </c:numRef>
          </c:val>
        </c:ser>
        <c:ser>
          <c:idx val="2"/>
          <c:order val="2"/>
          <c:tx>
            <c:strRef>
              <c:strCache>
                <c:ptCount val="1"/>
                <c:pt idx="0">
                  <c:v>East Asia</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210.834</c:v>
                </c:pt>
                <c:pt idx="1">
                  <c:v>222.266</c:v>
                </c:pt>
                <c:pt idx="2">
                  <c:v>234.298</c:v>
                </c:pt>
                <c:pt idx="3">
                  <c:v>246.96</c:v>
                </c:pt>
                <c:pt idx="4">
                  <c:v>260.282</c:v>
                </c:pt>
                <c:pt idx="5">
                  <c:v>274.3</c:v>
                </c:pt>
                <c:pt idx="6">
                  <c:v>289.05</c:v>
                </c:pt>
                <c:pt idx="7">
                  <c:v>304.567</c:v>
                </c:pt>
                <c:pt idx="8">
                  <c:v>320.888</c:v>
                </c:pt>
                <c:pt idx="9">
                  <c:v>338.057</c:v>
                </c:pt>
                <c:pt idx="10">
                  <c:v>356.11</c:v>
                </c:pt>
                <c:pt idx="11">
                  <c:v>375.096</c:v>
                </c:pt>
                <c:pt idx="12">
                  <c:v>395.058</c:v>
                </c:pt>
                <c:pt idx="13">
                  <c:v>416.045</c:v>
                </c:pt>
                <c:pt idx="14">
                  <c:v>438.107</c:v>
                </c:pt>
                <c:pt idx="15">
                  <c:v>461.298</c:v>
                </c:pt>
              </c:numCache>
            </c:numRef>
          </c:val>
        </c:ser>
        <c:ser>
          <c:idx val="3"/>
          <c:order val="3"/>
          <c:tx>
            <c:strRef>
              <c:strCache>
                <c:ptCount val="1"/>
                <c:pt idx="0">
                  <c:v>South Asia &amp; Pacific</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185.627</c:v>
                </c:pt>
                <c:pt idx="1">
                  <c:v>197.519</c:v>
                </c:pt>
                <c:pt idx="2">
                  <c:v>210.168</c:v>
                </c:pt>
                <c:pt idx="3">
                  <c:v>223.632</c:v>
                </c:pt>
                <c:pt idx="4">
                  <c:v>237.957</c:v>
                </c:pt>
                <c:pt idx="5">
                  <c:v>253.2</c:v>
                </c:pt>
                <c:pt idx="6">
                  <c:v>269.398</c:v>
                </c:pt>
                <c:pt idx="7">
                  <c:v>286.642</c:v>
                </c:pt>
                <c:pt idx="8">
                  <c:v>304.982</c:v>
                </c:pt>
                <c:pt idx="9">
                  <c:v>324.497</c:v>
                </c:pt>
                <c:pt idx="10">
                  <c:v>345.259</c:v>
                </c:pt>
                <c:pt idx="11">
                  <c:v>367.346</c:v>
                </c:pt>
                <c:pt idx="12">
                  <c:v>390.841</c:v>
                </c:pt>
                <c:pt idx="13">
                  <c:v>415.838</c:v>
                </c:pt>
                <c:pt idx="14">
                  <c:v>442.428</c:v>
                </c:pt>
                <c:pt idx="15">
                  <c:v>470.711</c:v>
                </c:pt>
              </c:numCache>
            </c:numRef>
          </c:val>
        </c:ser>
        <c:ser>
          <c:idx val="4"/>
          <c:order val="4"/>
          <c:tx>
            <c:strRef>
              <c:strCache>
                <c:ptCount val="1"/>
                <c:pt idx="0">
                  <c:v>Latin America</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126.399</c:v>
                </c:pt>
                <c:pt idx="1">
                  <c:v>133.942</c:v>
                </c:pt>
                <c:pt idx="2">
                  <c:v>141.928</c:v>
                </c:pt>
                <c:pt idx="3">
                  <c:v>150.381</c:v>
                </c:pt>
                <c:pt idx="4">
                  <c:v>159.329</c:v>
                </c:pt>
                <c:pt idx="5">
                  <c:v>168.8</c:v>
                </c:pt>
                <c:pt idx="6">
                  <c:v>178.819</c:v>
                </c:pt>
                <c:pt idx="7">
                  <c:v>189.42</c:v>
                </c:pt>
                <c:pt idx="8">
                  <c:v>200.639</c:v>
                </c:pt>
                <c:pt idx="9">
                  <c:v>212.513</c:v>
                </c:pt>
                <c:pt idx="10">
                  <c:v>225.074</c:v>
                </c:pt>
                <c:pt idx="11">
                  <c:v>238.365</c:v>
                </c:pt>
                <c:pt idx="12">
                  <c:v>252.424</c:v>
                </c:pt>
                <c:pt idx="13">
                  <c:v>267.298</c:v>
                </c:pt>
                <c:pt idx="14">
                  <c:v>283.031</c:v>
                </c:pt>
                <c:pt idx="15">
                  <c:v>299.67</c:v>
                </c:pt>
              </c:numCache>
            </c:numRef>
          </c:val>
        </c:ser>
        <c:ser>
          <c:idx val="5"/>
          <c:order val="5"/>
          <c:tx>
            <c:strRef>
              <c:strCache>
                <c:ptCount val="1"/>
                <c:pt idx="0">
                  <c:v>Middle East &amp; Africa</c:v>
                </c:pt>
              </c:strCache>
            </c:strRef>
          </c:tx>
          <c:spPr>
            <a:solidFill>
              <a:srgbClr val="808080"/>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113.45</c:v>
                </c:pt>
                <c:pt idx="1">
                  <c:v>119.607</c:v>
                </c:pt>
                <c:pt idx="2">
                  <c:v>126.09</c:v>
                </c:pt>
                <c:pt idx="3">
                  <c:v>132.92</c:v>
                </c:pt>
                <c:pt idx="4">
                  <c:v>140.119</c:v>
                </c:pt>
                <c:pt idx="5">
                  <c:v>147.701</c:v>
                </c:pt>
                <c:pt idx="6">
                  <c:v>155.687</c:v>
                </c:pt>
                <c:pt idx="7">
                  <c:v>164.099</c:v>
                </c:pt>
                <c:pt idx="8">
                  <c:v>172.962</c:v>
                </c:pt>
                <c:pt idx="9">
                  <c:v>182.295</c:v>
                </c:pt>
                <c:pt idx="10">
                  <c:v>192.126</c:v>
                </c:pt>
                <c:pt idx="11">
                  <c:v>202.481</c:v>
                </c:pt>
                <c:pt idx="12">
                  <c:v>213.385</c:v>
                </c:pt>
                <c:pt idx="13">
                  <c:v>224.873</c:v>
                </c:pt>
                <c:pt idx="14">
                  <c:v>236.966</c:v>
                </c:pt>
                <c:pt idx="15">
                  <c:v>249.704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Ear Drops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20.73575112933714</c:v>
                </c:pt>
                <c:pt idx="1">
                  <c:v>20.729802783061366</c:v>
                </c:pt>
                <c:pt idx="2">
                  <c:v>23.30510862826199</c:v>
                </c:pt>
                <c:pt idx="3">
                  <c:v>21.7044003645549</c:v>
                </c:pt>
                <c:pt idx="4">
                  <c:v>22.21557814756307</c:v>
                </c:pt>
                <c:pt idx="5">
                  <c:v>22.69382045902228</c:v>
                </c:pt>
              </c:numCache>
            </c:numRef>
          </c:val>
        </c:ser>
        <c:ser>
          <c:idx val="1"/>
          <c:order val="1"/>
          <c:tx>
            <c:strRef>
              <c:strCache>
                <c:ptCount val="1"/>
                <c:pt idx="0">
                  <c:v>Ear Sprays</c:v>
                </c:pt>
              </c:strCache>
            </c:strRef>
          </c:tx>
          <c:spPr>
            <a:solidFill>
              <a:srgbClr val="9E7E0A"/>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15.462707846089769</c:v>
                </c:pt>
                <c:pt idx="1">
                  <c:v>13.889611906430407</c:v>
                </c:pt>
                <c:pt idx="2">
                  <c:v>14.291846051792984</c:v>
                </c:pt>
                <c:pt idx="3">
                  <c:v>15.309393661928446</c:v>
                </c:pt>
                <c:pt idx="4">
                  <c:v>14.30293749939428</c:v>
                </c:pt>
                <c:pt idx="5">
                  <c:v>12.759000926697409</c:v>
                </c:pt>
              </c:numCache>
            </c:numRef>
          </c:val>
        </c:ser>
        <c:ser>
          <c:idx val="2"/>
          <c:order val="2"/>
          <c:tx>
            <c:strRef>
              <c:strCache>
                <c:ptCount val="1"/>
                <c:pt idx="0">
                  <c:v>Irrigation Devices and Accessories</c:v>
                </c:pt>
              </c:strCache>
            </c:strRef>
          </c:tx>
          <c:spPr>
            <a:solidFill>
              <a:srgbClr val="008189"/>
            </a:solidFill>
            <a:ln>
              <a:noFill/>
            </a:ln>
          </c:spPr>
          <c:dLbls>
            <c:dLbl>
              <c:idx val="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24.701646749751703</c:v>
                </c:pt>
                <c:pt idx="1">
                  <c:v>27.164881369506453</c:v>
                </c:pt>
                <c:pt idx="2">
                  <c:v>24.791999965315263</c:v>
                </c:pt>
                <c:pt idx="3">
                  <c:v>25.625277505730697</c:v>
                </c:pt>
                <c:pt idx="4">
                  <c:v>25.638428810947545</c:v>
                </c:pt>
                <c:pt idx="5">
                  <c:v>25.86503215942495</c:v>
                </c:pt>
              </c:numCache>
            </c:numRef>
          </c:val>
        </c:ser>
        <c:ser>
          <c:idx val="3"/>
          <c:order val="3"/>
          <c:tx>
            <c:strRef>
              <c:strCache>
                <c:ptCount val="1"/>
                <c:pt idx="0">
                  <c:v>Manual Removal Tools</c:v>
                </c:pt>
              </c:strCache>
            </c:strRef>
          </c:tx>
          <c:spPr>
            <a:solidFill>
              <a:srgbClr val="40315E"/>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11.716272066126294</c:v>
                </c:pt>
                <c:pt idx="1">
                  <c:v>11.946808155637868</c:v>
                </c:pt>
                <c:pt idx="2">
                  <c:v>11.110822071632654</c:v>
                </c:pt>
                <c:pt idx="3">
                  <c:v>11.649398463175922</c:v>
                </c:pt>
                <c:pt idx="4">
                  <c:v>11.275500809241834</c:v>
                </c:pt>
                <c:pt idx="5">
                  <c:v>11.474182173494986</c:v>
                </c:pt>
              </c:numCache>
            </c:numRef>
          </c:val>
        </c:ser>
        <c:ser>
          <c:idx val="4"/>
          <c:order val="4"/>
          <c:tx>
            <c:strRef>
              <c:strCache>
                <c:ptCount val="1"/>
                <c:pt idx="0">
                  <c:v>Camera-Assisted Removal Devices</c:v>
                </c:pt>
              </c:strCache>
            </c:strRef>
          </c:tx>
          <c:spPr>
            <a:solidFill>
              <a:srgbClr val="A35313"/>
            </a:solidFill>
            <a:ln>
              <a:noFill/>
            </a:ln>
          </c:spPr>
          <c:dLbls>
            <c:dLbl>
              <c:idx val="0"/>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8.889725434914938</c:v>
                </c:pt>
                <c:pt idx="1">
                  <c:v>9.430039710348048</c:v>
                </c:pt>
                <c:pt idx="2">
                  <c:v>7.420799569909256</c:v>
                </c:pt>
                <c:pt idx="3">
                  <c:v>8.144487806743419</c:v>
                </c:pt>
                <c:pt idx="4">
                  <c:v>8.725856003411414</c:v>
                </c:pt>
                <c:pt idx="5">
                  <c:v>8.488768262401107</c:v>
                </c:pt>
              </c:numCache>
            </c:numRef>
          </c:val>
        </c:ser>
        <c:ser>
          <c:idx val="5"/>
          <c:order val="5"/>
          <c:tx>
            <c:strRef>
              <c:strCache>
                <c:ptCount val="1"/>
                <c:pt idx="0">
                  <c:v>Suction Devices and Accessories</c:v>
                </c:pt>
              </c:strCache>
            </c:strRef>
          </c:tx>
          <c:spPr>
            <a:solidFill>
              <a:srgbClr val="808080"/>
            </a:solidFill>
            <a:ln>
              <a:noFill/>
            </a:ln>
          </c:spPr>
          <c:dLbls>
            <c:dLbl>
              <c:idx val="0"/>
              <c:numFmt formatCode="&quot;MMM&quot;;&quot;MMM&quot;;&quot;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9.85967385384295</c:v>
                </c:pt>
                <c:pt idx="1">
                  <c:v>8.37220943037341</c:v>
                </c:pt>
                <c:pt idx="2">
                  <c:v>10.732975213419525</c:v>
                </c:pt>
                <c:pt idx="3">
                  <c:v>9.401947267006722</c:v>
                </c:pt>
                <c:pt idx="4">
                  <c:v>8.68108118585426</c:v>
                </c:pt>
                <c:pt idx="5">
                  <c:v>11.504247133975145</c:v>
                </c:pt>
              </c:numCache>
            </c:numRef>
          </c:val>
        </c:ser>
        <c:ser>
          <c:idx val="6"/>
          <c:order val="6"/>
          <c:tx>
            <c:strRef>
              <c:strCache>
                <c:ptCount val="1"/>
                <c:pt idx="0">
                  <c:v>Combination Removal Kits</c:v>
                </c:pt>
              </c:strCache>
            </c:strRef>
          </c:tx>
          <c:spPr>
            <a:solidFill>
              <a:srgbClr val="0E72AE"/>
            </a:solidFill>
            <a:ln>
              <a:noFill/>
            </a:ln>
          </c:spPr>
          <c:dLbls>
            <c:dLbl>
              <c:idx val="0"/>
              <c:numFmt formatCode="&quot;MMM&quot;;&quot;MMM&quot;;&quot;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3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3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3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8.634222919937207</c:v>
                </c:pt>
                <c:pt idx="1">
                  <c:v>8.46664664464244</c:v>
                </c:pt>
                <c:pt idx="2">
                  <c:v>8.346448499668329</c:v>
                </c:pt>
                <c:pt idx="3">
                  <c:v>8.165094930859913</c:v>
                </c:pt>
                <c:pt idx="4">
                  <c:v>9.160617543587609</c:v>
                </c:pt>
                <c:pt idx="5">
                  <c:v>7.214948884984109</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Ear Drops</c:v>
                </c:pt>
              </c:strCache>
            </c:strRef>
          </c:tx>
          <c:spPr>
            <a:solidFill>
              <a:srgbClr val="3D85C6"/>
            </a:solidFill>
          </c:spPr>
          <c:invertIfNegative val="0"/>
          <c:xVal>
            <c:numRef>
              <c:numCache>
                <c:formatCode>General</c:formatCode>
                <c:ptCount val="1"/>
                <c:pt idx="0">
                  <c:v>125.10107845683866</c:v>
                </c:pt>
              </c:numCache>
            </c:numRef>
          </c:xVal>
          <c:yVal>
            <c:numRef>
              <c:numCache>
                <c:formatCode>General</c:formatCode>
                <c:ptCount val="1"/>
                <c:pt idx="0">
                  <c:v>136.49754834355608</c:v>
                </c:pt>
              </c:numCache>
            </c:numRef>
          </c:yVal>
          <c:bubbleSize>
            <c:numRef>
              <c:numCache>
                <c:formatCode>General</c:formatCode>
                <c:ptCount val="1"/>
                <c:pt idx="0">
                  <c:v>800.38</c:v>
                </c:pt>
              </c:numCache>
            </c:numRef>
          </c:bubbleSize>
          <c:bubble3D val="0"/>
        </c:ser>
        <c:ser>
          <c:idx val="1"/>
          <c:order val="1"/>
          <c:tx>
            <c:strRef>
              <c:strCache>
                <c:ptCount val="1"/>
                <c:pt idx="0">
                  <c:v>Ear Sprays</c:v>
                </c:pt>
              </c:strCache>
            </c:strRef>
          </c:tx>
          <c:spPr>
            <a:solidFill>
              <a:srgbClr val="9E7E0A"/>
            </a:solidFill>
          </c:spPr>
          <c:invertIfNegative val="0"/>
          <c:xVal>
            <c:numRef>
              <c:numCache>
                <c:formatCode>General</c:formatCode>
                <c:ptCount val="1"/>
                <c:pt idx="0">
                  <c:v>52.702846096248216</c:v>
                </c:pt>
              </c:numCache>
            </c:numRef>
          </c:xVal>
          <c:yVal>
            <c:numRef>
              <c:numCache>
                <c:formatCode>General</c:formatCode>
                <c:ptCount val="1"/>
                <c:pt idx="0">
                  <c:v>125.89637355793977</c:v>
                </c:pt>
              </c:numCache>
            </c:numRef>
          </c:yVal>
          <c:bubbleSize>
            <c:numRef>
              <c:numCache>
                <c:formatCode>General</c:formatCode>
                <c:ptCount val="1"/>
                <c:pt idx="0">
                  <c:v>505.004</c:v>
                </c:pt>
              </c:numCache>
            </c:numRef>
          </c:bubbleSize>
          <c:bubble3D val="0"/>
        </c:ser>
        <c:ser>
          <c:idx val="2"/>
          <c:order val="2"/>
          <c:tx>
            <c:strRef>
              <c:strCache>
                <c:ptCount val="1"/>
                <c:pt idx="0">
                  <c:v>Irrigation Devices and Accessories</c:v>
                </c:pt>
              </c:strCache>
            </c:strRef>
          </c:tx>
          <c:spPr>
            <a:solidFill>
              <a:srgbClr val="008189"/>
            </a:solidFill>
          </c:spPr>
          <c:invertIfNegative val="0"/>
          <c:xVal>
            <c:numRef>
              <c:numCache>
                <c:formatCode>General</c:formatCode>
                <c:ptCount val="1"/>
                <c:pt idx="0">
                  <c:v>114.56250515382837</c:v>
                </c:pt>
              </c:numCache>
            </c:numRef>
          </c:xVal>
          <c:yVal>
            <c:numRef>
              <c:numCache>
                <c:formatCode>General</c:formatCode>
                <c:ptCount val="1"/>
                <c:pt idx="0">
                  <c:v>166.52951039856836</c:v>
                </c:pt>
              </c:numCache>
            </c:numRef>
          </c:yVal>
          <c:bubbleSize>
            <c:numRef>
              <c:numCache>
                <c:formatCode>General</c:formatCode>
                <c:ptCount val="1"/>
                <c:pt idx="0">
                  <c:v>924.797</c:v>
                </c:pt>
              </c:numCache>
            </c:numRef>
          </c:bubbleSize>
          <c:bubble3D val="0"/>
        </c:ser>
        <c:ser>
          <c:idx val="3"/>
          <c:order val="3"/>
          <c:tx>
            <c:strRef>
              <c:strCache>
                <c:ptCount val="1"/>
                <c:pt idx="0">
                  <c:v>Manual Removal Tools</c:v>
                </c:pt>
              </c:strCache>
            </c:strRef>
          </c:tx>
          <c:spPr>
            <a:solidFill>
              <a:srgbClr val="40315E"/>
            </a:solidFill>
          </c:spPr>
          <c:invertIfNegative val="0"/>
          <c:xVal>
            <c:numRef>
              <c:numCache>
                <c:formatCode>General</c:formatCode>
                <c:ptCount val="1"/>
                <c:pt idx="0">
                  <c:v>102.74074848555985</c:v>
                </c:pt>
              </c:numCache>
            </c:numRef>
          </c:xVal>
          <c:yVal>
            <c:numRef>
              <c:numCache>
                <c:formatCode>General</c:formatCode>
                <c:ptCount val="1"/>
                <c:pt idx="0">
                  <c:v>79.01201041515601</c:v>
                </c:pt>
              </c:numCache>
            </c:numRef>
          </c:yVal>
          <c:bubbleSize>
            <c:numRef>
              <c:numCache>
                <c:formatCode>General</c:formatCode>
                <c:ptCount val="1"/>
                <c:pt idx="0">
                  <c:v>412.67</c:v>
                </c:pt>
              </c:numCache>
            </c:numRef>
          </c:bubbleSize>
          <c:bubble3D val="0"/>
        </c:ser>
        <c:ser>
          <c:idx val="4"/>
          <c:order val="4"/>
          <c:tx>
            <c:strRef>
              <c:strCache>
                <c:ptCount val="1"/>
                <c:pt idx="0">
                  <c:v>Camera-Assisted Removal Devices</c:v>
                </c:pt>
              </c:strCache>
            </c:strRef>
          </c:tx>
          <c:spPr>
            <a:solidFill>
              <a:srgbClr val="A35313"/>
            </a:solidFill>
          </c:spPr>
          <c:invertIfNegative val="0"/>
          <c:xVal>
            <c:numRef>
              <c:numCache>
                <c:formatCode>General</c:formatCode>
                <c:ptCount val="1"/>
                <c:pt idx="0">
                  <c:v>99.24480984305518</c:v>
                </c:pt>
              </c:numCache>
            </c:numRef>
          </c:xVal>
          <c:yVal>
            <c:numRef>
              <c:numCache>
                <c:formatCode>General</c:formatCode>
                <c:ptCount val="1"/>
                <c:pt idx="0">
                  <c:v>59.60146009340277</c:v>
                </c:pt>
              </c:numCache>
            </c:numRef>
          </c:yVal>
          <c:bubbleSize>
            <c:numRef>
              <c:numCache>
                <c:formatCode>General</c:formatCode>
                <c:ptCount val="1"/>
                <c:pt idx="0">
                  <c:v>305.67199999999997</c:v>
                </c:pt>
              </c:numCache>
            </c:numRef>
          </c:bubbleSize>
          <c:bubble3D val="0"/>
        </c:ser>
        <c:ser>
          <c:idx val="5"/>
          <c:order val="5"/>
          <c:tx>
            <c:strRef>
              <c:strCache>
                <c:ptCount val="1"/>
                <c:pt idx="0">
                  <c:v>Suction Devices and Accessories</c:v>
                </c:pt>
              </c:strCache>
            </c:strRef>
          </c:tx>
          <c:spPr>
            <a:solidFill>
              <a:srgbClr val="808080"/>
            </a:solidFill>
          </c:spPr>
          <c:invertIfNegative val="0"/>
          <c:xVal>
            <c:numRef>
              <c:numCache>
                <c:formatCode>General</c:formatCode>
                <c:ptCount val="1"/>
                <c:pt idx="0">
                  <c:v>78.46759398889127</c:v>
                </c:pt>
              </c:numCache>
            </c:numRef>
          </c:xVal>
          <c:yVal>
            <c:numRef>
              <c:numCache>
                <c:formatCode>General</c:formatCode>
                <c:ptCount val="1"/>
                <c:pt idx="0">
                  <c:v>77.9610161506956</c:v>
                </c:pt>
              </c:numCache>
            </c:numRef>
          </c:yVal>
          <c:bubbleSize>
            <c:numRef>
              <c:numCache>
                <c:formatCode>General</c:formatCode>
                <c:ptCount val="1"/>
                <c:pt idx="0">
                  <c:v>358.558</c:v>
                </c:pt>
              </c:numCache>
            </c:numRef>
          </c:bubbleSize>
          <c:bubble3D val="0"/>
        </c:ser>
        <c:ser>
          <c:idx val="6"/>
          <c:order val="6"/>
          <c:tx>
            <c:strRef>
              <c:strCache>
                <c:ptCount val="1"/>
                <c:pt idx="0">
                  <c:v>Combination Removal Kits</c:v>
                </c:pt>
              </c:strCache>
            </c:strRef>
          </c:tx>
          <c:spPr>
            <a:solidFill>
              <a:srgbClr val="0E72AE"/>
            </a:solidFill>
          </c:spPr>
          <c:invertIfNegative val="0"/>
          <c:xVal>
            <c:numRef>
              <c:numCache>
                <c:formatCode>General</c:formatCode>
                <c:ptCount val="1"/>
                <c:pt idx="0">
                  <c:v>110.97831802129015</c:v>
                </c:pt>
              </c:numCache>
            </c:numRef>
          </c:xVal>
          <c:yVal>
            <c:numRef>
              <c:numCache>
                <c:formatCode>General</c:formatCode>
                <c:ptCount val="1"/>
                <c:pt idx="0">
                  <c:v>54.50208104068148</c:v>
                </c:pt>
              </c:numCache>
            </c:numRef>
          </c:yVal>
          <c:bubbleSize>
            <c:numRef>
              <c:numCache>
                <c:formatCode>General</c:formatCode>
                <c:ptCount val="1"/>
                <c:pt idx="0">
                  <c:v>297.103</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50.0"/>
          <c:min val="3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00.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411.443</c:v>
                </c:pt>
                <c:pt idx="2">
                  <c:v>470.985</c:v>
                </c:pt>
                <c:pt idx="3">
                  <c:v>538.5409999999999</c:v>
                </c:pt>
                <c:pt idx="4">
                  <c:v>615.154</c:v>
                </c:pt>
                <c:pt idx="5">
                  <c:v>702.005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411.443</c:v>
                </c:pt>
                <c:pt idx="1">
                  <c:v>59.54200000000003</c:v>
                </c:pt>
                <c:pt idx="2">
                  <c:v>67.55599999999993</c:v>
                </c:pt>
                <c:pt idx="3">
                  <c:v>76.61300000000006</c:v>
                </c:pt>
                <c:pt idx="4">
                  <c:v>86.851</c:v>
                </c:pt>
                <c:pt idx="5">
                  <c:v>98.375</c:v>
                </c:pt>
                <c:pt idx="6">
                  <c:v>800.38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379.488</c:v>
                </c:pt>
                <c:pt idx="2">
                  <c:v>403.319</c:v>
                </c:pt>
                <c:pt idx="3">
                  <c:v>427.919</c:v>
                </c:pt>
                <c:pt idx="4">
                  <c:v>453.168</c:v>
                </c:pt>
                <c:pt idx="5">
                  <c:v>478.928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379.488</c:v>
                </c:pt>
                <c:pt idx="1">
                  <c:v>23.831000000000017</c:v>
                </c:pt>
                <c:pt idx="2">
                  <c:v>24.599999999999966</c:v>
                </c:pt>
                <c:pt idx="3">
                  <c:v>25.249000000000024</c:v>
                </c:pt>
                <c:pt idx="4">
                  <c:v>25.75999999999999</c:v>
                </c:pt>
                <c:pt idx="5">
                  <c:v>26.076000000000022</c:v>
                </c:pt>
                <c:pt idx="6">
                  <c:v>505.004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501.968</c:v>
                </c:pt>
                <c:pt idx="2">
                  <c:v>567.689</c:v>
                </c:pt>
                <c:pt idx="3">
                  <c:v>641.7259999999999</c:v>
                </c:pt>
                <c:pt idx="4">
                  <c:v>725.143</c:v>
                </c:pt>
                <c:pt idx="5">
                  <c:v>819.053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501.968</c:v>
                </c:pt>
                <c:pt idx="1">
                  <c:v>65.72099999999995</c:v>
                </c:pt>
                <c:pt idx="2">
                  <c:v>74.03699999999992</c:v>
                </c:pt>
                <c:pt idx="3">
                  <c:v>83.41700000000014</c:v>
                </c:pt>
                <c:pt idx="4">
                  <c:v>93.90999999999997</c:v>
                </c:pt>
                <c:pt idx="5">
                  <c:v>105.74400000000003</c:v>
                </c:pt>
                <c:pt idx="6">
                  <c:v>924.797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238.165</c:v>
                </c:pt>
                <c:pt idx="2">
                  <c:v>265.861</c:v>
                </c:pt>
                <c:pt idx="3">
                  <c:v>296.76800000000003</c:v>
                </c:pt>
                <c:pt idx="4">
                  <c:v>331.25300000000004</c:v>
                </c:pt>
                <c:pt idx="5">
                  <c:v>369.74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238.165</c:v>
                </c:pt>
                <c:pt idx="1">
                  <c:v>27.695999999999998</c:v>
                </c:pt>
                <c:pt idx="2">
                  <c:v>30.90700000000004</c:v>
                </c:pt>
                <c:pt idx="3">
                  <c:v>34.485000000000014</c:v>
                </c:pt>
                <c:pt idx="4">
                  <c:v>38.486999999999966</c:v>
                </c:pt>
                <c:pt idx="5">
                  <c:v>42.93000000000001</c:v>
                </c:pt>
                <c:pt idx="6">
                  <c:v>412.67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179.656</c:v>
                </c:pt>
                <c:pt idx="2">
                  <c:v>199.805</c:v>
                </c:pt>
                <c:pt idx="3">
                  <c:v>222.214</c:v>
                </c:pt>
                <c:pt idx="4">
                  <c:v>247.135</c:v>
                </c:pt>
                <c:pt idx="5">
                  <c:v>274.851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179.656</c:v>
                </c:pt>
                <c:pt idx="1">
                  <c:v>20.149</c:v>
                </c:pt>
                <c:pt idx="2">
                  <c:v>22.408999999999992</c:v>
                </c:pt>
                <c:pt idx="3">
                  <c:v>24.920999999999992</c:v>
                </c:pt>
                <c:pt idx="4">
                  <c:v>27.716000000000008</c:v>
                </c:pt>
                <c:pt idx="5">
                  <c:v>30.82099999999997</c:v>
                </c:pt>
                <c:pt idx="6">
                  <c:v>305.67199999999997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234.997</c:v>
                </c:pt>
                <c:pt idx="2">
                  <c:v>255.803</c:v>
                </c:pt>
                <c:pt idx="3">
                  <c:v>278.413</c:v>
                </c:pt>
                <c:pt idx="4">
                  <c:v>302.959</c:v>
                </c:pt>
                <c:pt idx="5">
                  <c:v>329.618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234.997</c:v>
                </c:pt>
                <c:pt idx="1">
                  <c:v>20.805999999999983</c:v>
                </c:pt>
                <c:pt idx="2">
                  <c:v>22.610000000000014</c:v>
                </c:pt>
                <c:pt idx="3">
                  <c:v>24.545999999999992</c:v>
                </c:pt>
                <c:pt idx="4">
                  <c:v>26.658999999999992</c:v>
                </c:pt>
                <c:pt idx="5">
                  <c:v>28.939999999999998</c:v>
                </c:pt>
                <c:pt idx="6">
                  <c:v>358.558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164.285</c:v>
                </c:pt>
                <c:pt idx="2">
                  <c:v>185.019</c:v>
                </c:pt>
                <c:pt idx="3">
                  <c:v>208.337</c:v>
                </c:pt>
                <c:pt idx="4">
                  <c:v>234.54899999999998</c:v>
                </c:pt>
                <c:pt idx="5">
                  <c:v>263.995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164.285</c:v>
                </c:pt>
                <c:pt idx="1">
                  <c:v>20.73400000000001</c:v>
                </c:pt>
                <c:pt idx="2">
                  <c:v>23.317999999999984</c:v>
                </c:pt>
                <c:pt idx="3">
                  <c:v>26.21199999999999</c:v>
                </c:pt>
                <c:pt idx="4">
                  <c:v>29.446000000000026</c:v>
                </c:pt>
                <c:pt idx="5">
                  <c:v>33.108000000000004</c:v>
                </c:pt>
                <c:pt idx="6">
                  <c:v>297.103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Irrigation Devices and Accessories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22.81471130403758</c:v>
                </c:pt>
                <c:pt idx="1">
                  <c:v>23.789930056938335</c:v>
                </c:pt>
                <c:pt idx="2">
                  <c:v>25.658984114018597</c:v>
                </c:pt>
              </c:numCache>
            </c:numRef>
          </c:val>
        </c:ser>
        <c:ser>
          <c:idx val="1"/>
          <c:order val="1"/>
          <c:tx>
            <c:strRef>
              <c:strCache>
                <c:ptCount val="1"/>
                <c:pt idx="0">
                  <c:v>Drops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18.08109601395413</c:v>
                </c:pt>
                <c:pt idx="1">
                  <c:v>19.499649763365152</c:v>
                </c:pt>
                <c:pt idx="2">
                  <c:v>22.206968345678245</c:v>
                </c:pt>
              </c:numCache>
            </c:numRef>
          </c:val>
        </c:ser>
        <c:ser>
          <c:idx val="2"/>
          <c:order val="2"/>
          <c:tx>
            <c:strRef>
              <c:strCache>
                <c:ptCount val="1"/>
                <c:pt idx="0">
                  <c:v>Sprays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20.05219173059008</c:v>
                </c:pt>
                <c:pt idx="1">
                  <c:v>17.98519622256282</c:v>
                </c:pt>
                <c:pt idx="2">
                  <c:v>14.011604291012889</c:v>
                </c:pt>
              </c:numCache>
            </c:numRef>
          </c:val>
        </c:ser>
        <c:ser>
          <c:idx val="3"/>
          <c:order val="3"/>
          <c:tx>
            <c:strRef>
              <c:strCache>
                <c:ptCount val="1"/>
                <c:pt idx="0">
                  <c:v>Manual Removal Tools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11.202453866127529</c:v>
                </c:pt>
                <c:pt idx="1">
                  <c:v>11.287430059307999</c:v>
                </c:pt>
                <c:pt idx="2">
                  <c:v>11.449748403522127</c:v>
                </c:pt>
              </c:numCache>
            </c:numRef>
          </c:val>
        </c:ser>
        <c:ser>
          <c:idx val="4"/>
          <c:order val="4"/>
          <c:tx>
            <c:strRef>
              <c:strCache>
                <c:ptCount val="1"/>
                <c:pt idx="0">
                  <c:v>Suction Devices and Accessories</c:v>
                </c:pt>
              </c:strCache>
            </c:strRef>
          </c:tx>
          <c:spPr>
            <a:solidFill>
              <a:srgbClr val="A35313"/>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11.765128540564113</c:v>
                </c:pt>
                <c:pt idx="1">
                  <c:v>11.137288021527942</c:v>
                </c:pt>
                <c:pt idx="2">
                  <c:v>9.948382213560683</c:v>
                </c:pt>
              </c:numCache>
            </c:numRef>
          </c:val>
        </c:ser>
        <c:ser>
          <c:idx val="5"/>
          <c:order val="5"/>
          <c:tx>
            <c:strRef>
              <c:strCache>
                <c:ptCount val="1"/>
                <c:pt idx="0">
                  <c:v>Camera-Assisted Removal Devices</c:v>
                </c:pt>
              </c:strCache>
            </c:strRef>
          </c:tx>
          <c:spPr>
            <a:solidFill>
              <a:srgbClr val="808080"/>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8.531483518661672</c:v>
                </c:pt>
                <c:pt idx="1">
                  <c:v>8.514494299057537</c:v>
                </c:pt>
                <c:pt idx="2">
                  <c:v>8.481032044978834</c:v>
                </c:pt>
              </c:numCache>
            </c:numRef>
          </c:val>
        </c:ser>
        <c:ser>
          <c:idx val="6"/>
          <c:order val="6"/>
          <c:tx>
            <c:strRef>
              <c:strCache>
                <c:ptCount val="1"/>
                <c:pt idx="0">
                  <c:v>Combination Removal Kits</c:v>
                </c:pt>
              </c:strCache>
            </c:strRef>
          </c:tx>
          <c:spPr>
            <a:solidFill>
              <a:srgbClr val="0E72AE"/>
            </a:solidFill>
            <a:ln>
              <a:noFill/>
            </a:ln>
          </c:spPr>
          <c:dLbls>
            <c:dLbl>
              <c:idx val="0"/>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7.552935026064894</c:v>
                </c:pt>
                <c:pt idx="1">
                  <c:v>7.7860115772402105</c:v>
                </c:pt>
                <c:pt idx="2">
                  <c:v>8.243280587228622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Individual consumers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11.62376253484125</c:v>
                </c:pt>
                <c:pt idx="1">
                  <c:v>9.992992291520672</c:v>
                </c:pt>
                <c:pt idx="2">
                  <c:v>10.143985016193437</c:v>
                </c:pt>
                <c:pt idx="3">
                  <c:v>11.27592089413674</c:v>
                </c:pt>
                <c:pt idx="4">
                  <c:v>9.884186348526406</c:v>
                </c:pt>
                <c:pt idx="5">
                  <c:v>11.872359576927343</c:v>
                </c:pt>
              </c:numCache>
            </c:numRef>
          </c:val>
        </c:ser>
        <c:ser>
          <c:idx val="1"/>
          <c:order val="1"/>
          <c:tx>
            <c:strRef>
              <c:strCache>
                <c:ptCount val="1"/>
                <c:pt idx="0">
                  <c:v>Healthcare professionals</c:v>
                </c:pt>
              </c:strCache>
            </c:strRef>
          </c:tx>
          <c:spPr>
            <a:solidFill>
              <a:srgbClr val="9E7E0A"/>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9.400730464870406</c:v>
                </c:pt>
                <c:pt idx="1">
                  <c:v>8.556412053258583</c:v>
                </c:pt>
                <c:pt idx="2">
                  <c:v>9.272747768253927</c:v>
                </c:pt>
                <c:pt idx="3">
                  <c:v>12.077049399737842</c:v>
                </c:pt>
                <c:pt idx="4">
                  <c:v>12.009633369838054</c:v>
                </c:pt>
                <c:pt idx="5">
                  <c:v>13.050667707940908</c:v>
                </c:pt>
              </c:numCache>
            </c:numRef>
          </c:val>
        </c:ser>
        <c:ser>
          <c:idx val="2"/>
          <c:order val="2"/>
          <c:tx>
            <c:strRef>
              <c:strCache>
                <c:ptCount val="1"/>
                <c:pt idx="0">
                  <c:v>ENT specialists</c:v>
                </c:pt>
              </c:strCache>
            </c:strRef>
          </c:tx>
          <c:spPr>
            <a:solidFill>
              <a:srgbClr val="008189"/>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12.52322750136161</c:v>
                </c:pt>
                <c:pt idx="1">
                  <c:v>11.608435946207495</c:v>
                </c:pt>
                <c:pt idx="2">
                  <c:v>13.284037650282466</c:v>
                </c:pt>
                <c:pt idx="3">
                  <c:v>10.832973947921335</c:v>
                </c:pt>
                <c:pt idx="4">
                  <c:v>12.807729955515928</c:v>
                </c:pt>
                <c:pt idx="5">
                  <c:v>12.701620849683447</c:v>
                </c:pt>
              </c:numCache>
            </c:numRef>
          </c:val>
        </c:ser>
        <c:ser>
          <c:idx val="3"/>
          <c:order val="3"/>
          <c:tx>
            <c:strRef>
              <c:strCache>
                <c:ptCount val="1"/>
                <c:pt idx="0">
                  <c:v>General practitioners</c:v>
                </c:pt>
              </c:strCache>
            </c:strRef>
          </c:tx>
          <c:spPr>
            <a:solidFill>
              <a:srgbClr val="40315E"/>
            </a:solidFill>
            <a:ln>
              <a:noFill/>
            </a:ln>
          </c:spPr>
          <c:dLbls>
            <c:dLbl>
              <c:idx val="0"/>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13.771104988306154</c:v>
                </c:pt>
                <c:pt idx="1">
                  <c:v>13.713084392832114</c:v>
                </c:pt>
                <c:pt idx="2">
                  <c:v>12.491057841135232</c:v>
                </c:pt>
                <c:pt idx="3">
                  <c:v>12.330920671069933</c:v>
                </c:pt>
                <c:pt idx="4">
                  <c:v>13.68820445228381</c:v>
                </c:pt>
                <c:pt idx="5">
                  <c:v>12.139461085583392</c:v>
                </c:pt>
              </c:numCache>
            </c:numRef>
          </c:val>
        </c:ser>
        <c:ser>
          <c:idx val="4"/>
          <c:order val="4"/>
          <c:tx>
            <c:strRef>
              <c:strCache>
                <c:ptCount val="1"/>
                <c:pt idx="0">
                  <c:v>Audiologists</c:v>
                </c:pt>
              </c:strCache>
            </c:strRef>
          </c:tx>
          <c:spPr>
            <a:solidFill>
              <a:srgbClr val="A35313"/>
            </a:solidFill>
            <a:ln>
              <a:noFill/>
            </a:ln>
          </c:spPr>
          <c:dLbls>
            <c:dLbl>
              <c:idx val="0"/>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14.109505654695159</c:v>
                </c:pt>
                <c:pt idx="1">
                  <c:v>15.757333066373008</c:v>
                </c:pt>
                <c:pt idx="2">
                  <c:v>15.508413216619193</c:v>
                </c:pt>
                <c:pt idx="3">
                  <c:v>15.124991767772581</c:v>
                </c:pt>
                <c:pt idx="4">
                  <c:v>15.554015680877667</c:v>
                </c:pt>
                <c:pt idx="5">
                  <c:v>16.13773418358508</c:v>
                </c:pt>
              </c:numCache>
            </c:numRef>
          </c:val>
        </c:ser>
        <c:ser>
          <c:idx val="5"/>
          <c:order val="5"/>
          <c:tx>
            <c:strRef>
              <c:strCache>
                <c:ptCount val="1"/>
                <c:pt idx="0">
                  <c:v>Hospitals and Clinics</c:v>
                </c:pt>
              </c:strCache>
            </c:strRef>
          </c:tx>
          <c:spPr>
            <a:solidFill>
              <a:srgbClr val="808080"/>
            </a:solidFill>
            <a:ln>
              <a:noFill/>
            </a:ln>
          </c:spPr>
          <c:dLbls>
            <c:dLbl>
              <c:idx val="0"/>
              <c:numFmt formatCode="&quot;MMM&quot;;&quot;MMM&quot;;&quot;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8.948995610803191</c:v>
                </c:pt>
                <c:pt idx="1">
                  <c:v>11.117896352654586</c:v>
                </c:pt>
                <c:pt idx="2">
                  <c:v>10.313289890699721</c:v>
                </c:pt>
                <c:pt idx="3">
                  <c:v>11.420808096687777</c:v>
                </c:pt>
                <c:pt idx="4">
                  <c:v>9.558357481368056</c:v>
                </c:pt>
                <c:pt idx="5">
                  <c:v>9.069993611195898</c:v>
                </c:pt>
              </c:numCache>
            </c:numRef>
          </c:val>
        </c:ser>
        <c:ser>
          <c:idx val="6"/>
          <c:order val="6"/>
          <c:tx>
            <c:strRef>
              <c:strCache>
                <c:ptCount val="1"/>
                <c:pt idx="0">
                  <c:v>Nursing Homes</c:v>
                </c:pt>
              </c:strCache>
            </c:strRef>
          </c:tx>
          <c:spPr>
            <a:solidFill>
              <a:srgbClr val="0E72AE"/>
            </a:solidFill>
            <a:ln>
              <a:noFill/>
            </a:ln>
          </c:spPr>
          <c:dLbls>
            <c:dLbl>
              <c:idx val="0"/>
              <c:numFmt formatCode="&quot;MMM&quot;;&quot;MMM&quot;;&quot;MMM&quot;" sourceLinked="0"/>
              <c:spPr>
                <a:blipFill>
                  <a:blip r:embed="rId3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3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3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3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3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3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7.679892993304072</c:v>
                </c:pt>
                <c:pt idx="1">
                  <c:v>7.914706176794474</c:v>
                </c:pt>
                <c:pt idx="2">
                  <c:v>7.8498064158093035</c:v>
                </c:pt>
                <c:pt idx="3">
                  <c:v>7.791192472663694</c:v>
                </c:pt>
                <c:pt idx="4">
                  <c:v>8.316680073267884</c:v>
                </c:pt>
                <c:pt idx="5">
                  <c:v>7.152069120077435</c:v>
                </c:pt>
              </c:numCache>
            </c:numRef>
          </c:val>
        </c:ser>
        <c:ser>
          <c:idx val="7"/>
          <c:order val="7"/>
          <c:tx>
            <c:strRef>
              <c:strCache>
                <c:ptCount val="1"/>
                <c:pt idx="0">
                  <c:v>Assisted Living Facilities</c:v>
                </c:pt>
              </c:strCache>
            </c:strRef>
          </c:tx>
          <c:spPr>
            <a:solidFill>
              <a:srgbClr val="A86F00"/>
            </a:solidFill>
            <a:ln>
              <a:noFill/>
            </a:ln>
          </c:spPr>
          <c:dLbls>
            <c:dLbl>
              <c:idx val="0"/>
              <c:numFmt formatCode="&quot;MMM&quot;;&quot;MMM&quot;;&quot;MMM&quot;" sourceLinked="0"/>
              <c:spPr>
                <a:blipFill>
                  <a:blip r:embed="rId3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4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4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3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4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1.820956011918111</c:v>
                </c:pt>
                <c:pt idx="1">
                  <c:v>2.070944705843094</c:v>
                </c:pt>
                <c:pt idx="2">
                  <c:v>1.868857007834415</c:v>
                </c:pt>
                <c:pt idx="3">
                  <c:v>2.0209852754662627</c:v>
                </c:pt>
                <c:pt idx="4">
                  <c:v>1.752032796100133</c:v>
                </c:pt>
                <c:pt idx="5">
                  <c:v>2.163118909668543</c:v>
                </c:pt>
              </c:numCache>
            </c:numRef>
          </c:val>
        </c:ser>
        <c:ser>
          <c:idx val="8"/>
          <c:order val="8"/>
          <c:tx>
            <c:strRef>
              <c:strCache>
                <c:ptCount val="1"/>
                <c:pt idx="0">
                  <c:v>Others</c:v>
                </c:pt>
              </c:strCache>
            </c:strRef>
          </c:tx>
          <c:spPr>
            <a:solidFill>
              <a:srgbClr val="0B2E4A"/>
            </a:solidFill>
            <a:ln>
              <a:noFill/>
            </a:ln>
          </c:spPr>
          <c:dLbls>
            <c:dLbl>
              <c:idx val="0"/>
              <c:numFmt formatCode="&quot;MMMM&quot;;&quot;MMMM&quot;;&quot;MMMM&quot;" sourceLinked="0"/>
              <c:spPr>
                <a:blipFill>
                  <a:blip r:embed="rId4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4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4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4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4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20.12182423990004</c:v>
                </c:pt>
                <c:pt idx="1">
                  <c:v>19.268195014515964</c:v>
                </c:pt>
                <c:pt idx="2">
                  <c:v>19.26780519317231</c:v>
                </c:pt>
                <c:pt idx="3">
                  <c:v>17.12515747454383</c:v>
                </c:pt>
                <c:pt idx="4">
                  <c:v>16.42915984222207</c:v>
                </c:pt>
                <c:pt idx="5">
                  <c:v>15.712974955337952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2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Individual consumers</c:v>
                </c:pt>
              </c:strCache>
            </c:strRef>
          </c:tx>
          <c:spPr>
            <a:solidFill>
              <a:srgbClr val="3D85C6"/>
            </a:solidFill>
          </c:spPr>
          <c:invertIfNegative val="0"/>
          <c:xVal>
            <c:numRef>
              <c:numCache>
                <c:formatCode>General</c:formatCode>
                <c:ptCount val="1"/>
                <c:pt idx="0">
                  <c:v>122.18345248441251</c:v>
                </c:pt>
              </c:numCache>
            </c:numRef>
          </c:xVal>
          <c:yVal>
            <c:numRef>
              <c:numCache>
                <c:formatCode>General</c:formatCode>
                <c:ptCount val="1"/>
                <c:pt idx="0">
                  <c:v>86.88745318724817</c:v>
                </c:pt>
              </c:numCache>
            </c:numRef>
          </c:yVal>
          <c:bubbleSize>
            <c:numRef>
              <c:numCache>
                <c:formatCode>General</c:formatCode>
                <c:ptCount val="1"/>
                <c:pt idx="0">
                  <c:v>390.354</c:v>
                </c:pt>
              </c:numCache>
            </c:numRef>
          </c:bubbleSize>
          <c:bubble3D val="0"/>
        </c:ser>
        <c:ser>
          <c:idx val="1"/>
          <c:order val="1"/>
          <c:tx>
            <c:strRef>
              <c:strCache>
                <c:ptCount val="1"/>
                <c:pt idx="0">
                  <c:v>Healthcare professionals</c:v>
                </c:pt>
              </c:strCache>
            </c:strRef>
          </c:tx>
          <c:spPr>
            <a:solidFill>
              <a:srgbClr val="9E7E0A"/>
            </a:solidFill>
          </c:spPr>
          <c:invertIfNegative val="0"/>
          <c:xVal>
            <c:numRef>
              <c:numCache>
                <c:formatCode>General</c:formatCode>
                <c:ptCount val="1"/>
                <c:pt idx="0">
                  <c:v>132.06036414898622</c:v>
                </c:pt>
              </c:numCache>
            </c:numRef>
          </c:xVal>
          <c:yVal>
            <c:numRef>
              <c:numCache>
                <c:formatCode>General</c:formatCode>
                <c:ptCount val="1"/>
                <c:pt idx="0">
                  <c:v>87.80792624841114</c:v>
                </c:pt>
              </c:numCache>
            </c:numRef>
          </c:yVal>
          <c:bubbleSize>
            <c:numRef>
              <c:numCache>
                <c:formatCode>General</c:formatCode>
                <c:ptCount val="1"/>
                <c:pt idx="0">
                  <c:v>415.036</c:v>
                </c:pt>
              </c:numCache>
            </c:numRef>
          </c:bubbleSize>
          <c:bubble3D val="0"/>
        </c:ser>
        <c:ser>
          <c:idx val="2"/>
          <c:order val="2"/>
          <c:tx>
            <c:strRef>
              <c:strCache>
                <c:ptCount val="1"/>
                <c:pt idx="0">
                  <c:v>ENT specialists</c:v>
                </c:pt>
              </c:strCache>
            </c:strRef>
          </c:tx>
          <c:spPr>
            <a:solidFill>
              <a:srgbClr val="008189"/>
            </a:solidFill>
          </c:spPr>
          <c:invertIfNegative val="0"/>
          <c:xVal>
            <c:numRef>
              <c:numCache>
                <c:formatCode>General</c:formatCode>
                <c:ptCount val="1"/>
                <c:pt idx="0">
                  <c:v>53.12699643072503</c:v>
                </c:pt>
              </c:numCache>
            </c:numRef>
          </c:xVal>
          <c:yVal>
            <c:numRef>
              <c:numCache>
                <c:formatCode>General</c:formatCode>
                <c:ptCount val="1"/>
                <c:pt idx="0">
                  <c:v>143.60744681758598</c:v>
                </c:pt>
              </c:numCache>
            </c:numRef>
          </c:yVal>
          <c:bubbleSize>
            <c:numRef>
              <c:numCache>
                <c:formatCode>General</c:formatCode>
                <c:ptCount val="1"/>
                <c:pt idx="0">
                  <c:v>449.054</c:v>
                </c:pt>
              </c:numCache>
            </c:numRef>
          </c:bubbleSize>
          <c:bubble3D val="0"/>
        </c:ser>
        <c:ser>
          <c:idx val="3"/>
          <c:order val="3"/>
          <c:tx>
            <c:strRef>
              <c:strCache>
                <c:ptCount val="1"/>
                <c:pt idx="0">
                  <c:v>General practitioners</c:v>
                </c:pt>
              </c:strCache>
            </c:strRef>
          </c:tx>
          <c:spPr>
            <a:solidFill>
              <a:srgbClr val="40315E"/>
            </a:solidFill>
          </c:spPr>
          <c:invertIfNegative val="0"/>
          <c:xVal>
            <c:numRef>
              <c:numCache>
                <c:formatCode>General</c:formatCode>
                <c:ptCount val="1"/>
                <c:pt idx="0">
                  <c:v>72.67510850827472</c:v>
                </c:pt>
              </c:numCache>
            </c:numRef>
          </c:xVal>
          <c:yVal>
            <c:numRef>
              <c:numCache>
                <c:formatCode>General</c:formatCode>
                <c:ptCount val="1"/>
                <c:pt idx="0">
                  <c:v>133.97788248541946</c:v>
                </c:pt>
              </c:numCache>
            </c:numRef>
          </c:yVal>
          <c:bubbleSize>
            <c:numRef>
              <c:numCache>
                <c:formatCode>General</c:formatCode>
                <c:ptCount val="1"/>
                <c:pt idx="0">
                  <c:v>464.822</c:v>
                </c:pt>
              </c:numCache>
            </c:numRef>
          </c:bubbleSize>
          <c:bubble3D val="0"/>
        </c:ser>
        <c:ser>
          <c:idx val="4"/>
          <c:order val="4"/>
          <c:tx>
            <c:strRef>
              <c:strCache>
                <c:ptCount val="1"/>
                <c:pt idx="0">
                  <c:v>Audiologists</c:v>
                </c:pt>
              </c:strCache>
            </c:strRef>
          </c:tx>
          <c:spPr>
            <a:solidFill>
              <a:srgbClr val="A35313"/>
            </a:solidFill>
          </c:spPr>
          <c:invertIfNegative val="0"/>
          <c:xVal>
            <c:numRef>
              <c:numCache>
                <c:formatCode>General</c:formatCode>
                <c:ptCount val="1"/>
                <c:pt idx="0">
                  <c:v>73.52889695876253</c:v>
                </c:pt>
              </c:numCache>
            </c:numRef>
          </c:xVal>
          <c:yVal>
            <c:numRef>
              <c:numCache>
                <c:formatCode>General</c:formatCode>
                <c:ptCount val="1"/>
                <c:pt idx="0">
                  <c:v>161.18259603545403</c:v>
                </c:pt>
              </c:numCache>
            </c:numRef>
          </c:yVal>
          <c:bubbleSize>
            <c:numRef>
              <c:numCache>
                <c:formatCode>General</c:formatCode>
                <c:ptCount val="1"/>
                <c:pt idx="0">
                  <c:v>561.736</c:v>
                </c:pt>
              </c:numCache>
            </c:numRef>
          </c:bubbleSize>
          <c:bubble3D val="0"/>
        </c:ser>
        <c:ser>
          <c:idx val="5"/>
          <c:order val="5"/>
          <c:tx>
            <c:strRef>
              <c:strCache>
                <c:ptCount val="1"/>
                <c:pt idx="0">
                  <c:v>Hospitals and Clinics</c:v>
                </c:pt>
              </c:strCache>
            </c:strRef>
          </c:tx>
          <c:spPr>
            <a:solidFill>
              <a:srgbClr val="808080"/>
            </a:solidFill>
          </c:spPr>
          <c:invertIfNegative val="0"/>
          <c:xVal>
            <c:numRef>
              <c:numCache>
                <c:formatCode>General</c:formatCode>
                <c:ptCount val="1"/>
                <c:pt idx="0">
                  <c:v>148.35418136971268</c:v>
                </c:pt>
              </c:numCache>
            </c:numRef>
          </c:xVal>
          <c:yVal>
            <c:numRef>
              <c:numCache>
                <c:formatCode>General</c:formatCode>
                <c:ptCount val="1"/>
                <c:pt idx="0">
                  <c:v>69.02737532950205</c:v>
                </c:pt>
              </c:numCache>
            </c:numRef>
          </c:yVal>
          <c:bubbleSize>
            <c:numRef>
              <c:numCache>
                <c:formatCode>General</c:formatCode>
                <c:ptCount val="1"/>
                <c:pt idx="0">
                  <c:v>354.574</c:v>
                </c:pt>
              </c:numCache>
            </c:numRef>
          </c:bubbleSize>
          <c:bubble3D val="0"/>
        </c:ser>
        <c:ser>
          <c:idx val="6"/>
          <c:order val="6"/>
          <c:tx>
            <c:strRef>
              <c:strCache>
                <c:ptCount val="1"/>
                <c:pt idx="0">
                  <c:v>Nursing Homes</c:v>
                </c:pt>
              </c:strCache>
            </c:strRef>
          </c:tx>
          <c:spPr>
            <a:solidFill>
              <a:srgbClr val="0E72AE"/>
            </a:solidFill>
          </c:spPr>
          <c:invertIfNegative val="0"/>
          <c:xVal>
            <c:numRef>
              <c:numCache>
                <c:formatCode>General</c:formatCode>
                <c:ptCount val="1"/>
                <c:pt idx="0">
                  <c:v>140.40948423477536</c:v>
                </c:pt>
              </c:numCache>
            </c:numRef>
          </c:xVal>
          <c:yVal>
            <c:numRef>
              <c:numCache>
                <c:formatCode>General</c:formatCode>
                <c:ptCount val="1"/>
                <c:pt idx="0">
                  <c:v>56.68459082029307</c:v>
                </c:pt>
              </c:numCache>
            </c:numRef>
          </c:yVal>
          <c:bubbleSize>
            <c:numRef>
              <c:numCache>
                <c:formatCode>General</c:formatCode>
                <c:ptCount val="1"/>
                <c:pt idx="0">
                  <c:v>279.621</c:v>
                </c:pt>
              </c:numCache>
            </c:numRef>
          </c:bubbleSize>
          <c:bubble3D val="0"/>
        </c:ser>
        <c:ser>
          <c:idx val="7"/>
          <c:order val="7"/>
          <c:tx>
            <c:strRef>
              <c:strCache>
                <c:ptCount val="1"/>
                <c:pt idx="0">
                  <c:v>Assisted Living Facilities</c:v>
                </c:pt>
              </c:strCache>
            </c:strRef>
          </c:tx>
          <c:spPr>
            <a:solidFill>
              <a:srgbClr val="A86F00"/>
            </a:solidFill>
          </c:spPr>
          <c:invertIfNegative val="0"/>
          <c:xVal>
            <c:numRef>
              <c:numCache>
                <c:formatCode>General</c:formatCode>
                <c:ptCount val="1"/>
                <c:pt idx="0">
                  <c:v>63.42652685699135</c:v>
                </c:pt>
              </c:numCache>
            </c:numRef>
          </c:xVal>
          <c:yVal>
            <c:numRef>
              <c:numCache>
                <c:formatCode>General</c:formatCode>
                <c:ptCount val="1"/>
                <c:pt idx="0">
                  <c:v>21.361117193253847</c:v>
                </c:pt>
              </c:numCache>
            </c:numRef>
          </c:yVal>
          <c:bubbleSize>
            <c:numRef>
              <c:numCache>
                <c:formatCode>General</c:formatCode>
                <c:ptCount val="1"/>
                <c:pt idx="0">
                  <c:v>70.564</c:v>
                </c:pt>
              </c:numCache>
            </c:numRef>
          </c:bubbleSize>
          <c:bubble3D val="0"/>
        </c:ser>
        <c:ser>
          <c:idx val="8"/>
          <c:order val="8"/>
          <c:tx>
            <c:strRef>
              <c:strCache>
                <c:ptCount val="1"/>
                <c:pt idx="0">
                  <c:v>Others</c:v>
                </c:pt>
              </c:strCache>
            </c:strRef>
          </c:tx>
          <c:spPr>
            <a:solidFill>
              <a:srgbClr val="0B2E4A"/>
            </a:solidFill>
          </c:spPr>
          <c:invertIfNegative val="0"/>
          <c:xVal>
            <c:numRef>
              <c:numCache>
                <c:formatCode>General</c:formatCode>
                <c:ptCount val="1"/>
                <c:pt idx="0">
                  <c:v>119.64877285138151</c:v>
                </c:pt>
              </c:numCache>
            </c:numRef>
          </c:xVal>
          <c:yVal>
            <c:numRef>
              <c:numCache>
                <c:formatCode>General</c:formatCode>
                <c:ptCount val="1"/>
                <c:pt idx="0">
                  <c:v>139.46361188283234</c:v>
                </c:pt>
              </c:numCache>
            </c:numRef>
          </c:yVal>
          <c:bubbleSize>
            <c:numRef>
              <c:numCache>
                <c:formatCode>General</c:formatCode>
                <c:ptCount val="1"/>
                <c:pt idx="0">
                  <c:v>618.423</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80.0"/>
          <c:min val="2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203.703</c:v>
                </c:pt>
                <c:pt idx="2">
                  <c:v>232.103</c:v>
                </c:pt>
                <c:pt idx="3">
                  <c:v>264.406</c:v>
                </c:pt>
                <c:pt idx="4">
                  <c:v>301.132</c:v>
                </c:pt>
                <c:pt idx="5">
                  <c:v>342.885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203.703</c:v>
                </c:pt>
                <c:pt idx="1">
                  <c:v>28.400000000000006</c:v>
                </c:pt>
                <c:pt idx="2">
                  <c:v>32.303</c:v>
                </c:pt>
                <c:pt idx="3">
                  <c:v>36.726</c:v>
                </c:pt>
                <c:pt idx="4">
                  <c:v>41.752999999999986</c:v>
                </c:pt>
                <c:pt idx="5">
                  <c:v>47.468999999999994</c:v>
                </c:pt>
                <c:pt idx="6">
                  <c:v>390.354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205.861</c:v>
                </c:pt>
                <c:pt idx="2">
                  <c:v>237.109</c:v>
                </c:pt>
                <c:pt idx="3">
                  <c:v>272.944</c:v>
                </c:pt>
                <c:pt idx="4">
                  <c:v>314.021</c:v>
                </c:pt>
                <c:pt idx="5">
                  <c:v>361.096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205.861</c:v>
                </c:pt>
                <c:pt idx="1">
                  <c:v>31.24800000000002</c:v>
                </c:pt>
                <c:pt idx="2">
                  <c:v>35.83500000000001</c:v>
                </c:pt>
                <c:pt idx="3">
                  <c:v>41.077</c:v>
                </c:pt>
                <c:pt idx="4">
                  <c:v>47.07499999999999</c:v>
                </c:pt>
                <c:pt idx="5">
                  <c:v>53.94</c:v>
                </c:pt>
                <c:pt idx="6">
                  <c:v>415.036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336.68</c:v>
                </c:pt>
                <c:pt idx="2">
                  <c:v>358.824</c:v>
                </c:pt>
                <c:pt idx="3">
                  <c:v>381.395</c:v>
                </c:pt>
                <c:pt idx="4">
                  <c:v>404.16</c:v>
                </c:pt>
                <c:pt idx="5">
                  <c:v>426.835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336.68</c:v>
                </c:pt>
                <c:pt idx="1">
                  <c:v>22.144000000000005</c:v>
                </c:pt>
                <c:pt idx="2">
                  <c:v>22.57099999999997</c:v>
                </c:pt>
                <c:pt idx="3">
                  <c:v>22.765000000000043</c:v>
                </c:pt>
                <c:pt idx="4">
                  <c:v>22.674999999999955</c:v>
                </c:pt>
                <c:pt idx="5">
                  <c:v>22.218999999999994</c:v>
                </c:pt>
                <c:pt idx="6">
                  <c:v>449.054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314.104</c:v>
                </c:pt>
                <c:pt idx="2">
                  <c:v>340.6</c:v>
                </c:pt>
                <c:pt idx="3">
                  <c:v>368.883</c:v>
                </c:pt>
                <c:pt idx="4">
                  <c:v>399.007</c:v>
                </c:pt>
                <c:pt idx="5">
                  <c:v>430.989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314.104</c:v>
                </c:pt>
                <c:pt idx="1">
                  <c:v>26.496000000000038</c:v>
                </c:pt>
                <c:pt idx="2">
                  <c:v>28.28299999999996</c:v>
                </c:pt>
                <c:pt idx="3">
                  <c:v>30.124000000000024</c:v>
                </c:pt>
                <c:pt idx="4">
                  <c:v>31.98199999999997</c:v>
                </c:pt>
                <c:pt idx="5">
                  <c:v>33.83300000000003</c:v>
                </c:pt>
                <c:pt idx="6">
                  <c:v>464.822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377.884</c:v>
                </c:pt>
                <c:pt idx="2">
                  <c:v>410.043</c:v>
                </c:pt>
                <c:pt idx="3">
                  <c:v>444.45</c:v>
                </c:pt>
                <c:pt idx="4">
                  <c:v>481.172</c:v>
                </c:pt>
                <c:pt idx="5">
                  <c:v>520.254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377.884</c:v>
                </c:pt>
                <c:pt idx="1">
                  <c:v>32.15899999999999</c:v>
                </c:pt>
                <c:pt idx="2">
                  <c:v>34.40699999999998</c:v>
                </c:pt>
                <c:pt idx="3">
                  <c:v>36.72200000000004</c:v>
                </c:pt>
                <c:pt idx="4">
                  <c:v>39.081999999999994</c:v>
                </c:pt>
                <c:pt idx="5">
                  <c:v>41.48199999999997</c:v>
                </c:pt>
                <c:pt idx="6">
                  <c:v>561.736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161.831</c:v>
                </c:pt>
                <c:pt idx="2">
                  <c:v>189.94</c:v>
                </c:pt>
                <c:pt idx="3">
                  <c:v>222.527</c:v>
                </c:pt>
                <c:pt idx="4">
                  <c:v>260.285</c:v>
                </c:pt>
                <c:pt idx="5">
                  <c:v>304.001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161.831</c:v>
                </c:pt>
                <c:pt idx="1">
                  <c:v>28.10900000000001</c:v>
                </c:pt>
                <c:pt idx="2">
                  <c:v>32.58699999999999</c:v>
                </c:pt>
                <c:pt idx="3">
                  <c:v>37.75800000000004</c:v>
                </c:pt>
                <c:pt idx="4">
                  <c:v>43.71599999999995</c:v>
                </c:pt>
                <c:pt idx="5">
                  <c:v>50.573000000000036</c:v>
                </c:pt>
                <c:pt idx="6">
                  <c:v>354.574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132.894</c:v>
                </c:pt>
                <c:pt idx="2">
                  <c:v>154.522</c:v>
                </c:pt>
                <c:pt idx="3">
                  <c:v>179.477</c:v>
                </c:pt>
                <c:pt idx="4">
                  <c:v>208.259</c:v>
                </c:pt>
                <c:pt idx="5">
                  <c:v>241.423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132.894</c:v>
                </c:pt>
                <c:pt idx="1">
                  <c:v>21.627999999999986</c:v>
                </c:pt>
                <c:pt idx="2">
                  <c:v>24.955000000000013</c:v>
                </c:pt>
                <c:pt idx="3">
                  <c:v>28.781999999999982</c:v>
                </c:pt>
                <c:pt idx="4">
                  <c:v>33.164000000000016</c:v>
                </c:pt>
                <c:pt idx="5">
                  <c:v>38.19799999999998</c:v>
                </c:pt>
                <c:pt idx="6">
                  <c:v>279.621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50.08</c:v>
                </c:pt>
                <c:pt idx="2">
                  <c:v>53.849</c:v>
                </c:pt>
                <c:pt idx="3">
                  <c:v>57.797</c:v>
                </c:pt>
                <c:pt idx="4">
                  <c:v>61.913</c:v>
                </c:pt>
                <c:pt idx="5">
                  <c:v>66.179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50.08</c:v>
                </c:pt>
                <c:pt idx="1">
                  <c:v>3.7689999999999984</c:v>
                </c:pt>
                <c:pt idx="2">
                  <c:v>3.9480000000000004</c:v>
                </c:pt>
                <c:pt idx="3">
                  <c:v>4.116</c:v>
                </c:pt>
                <c:pt idx="4">
                  <c:v>4.266000000000005</c:v>
                </c:pt>
                <c:pt idx="5">
                  <c:v>4.384999999999991</c:v>
                </c:pt>
                <c:pt idx="6">
                  <c:v>70.564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326.965</c:v>
                </c:pt>
                <c:pt idx="2">
                  <c:v>371.491</c:v>
                </c:pt>
                <c:pt idx="3">
                  <c:v>422.039</c:v>
                </c:pt>
                <c:pt idx="4">
                  <c:v>479.412</c:v>
                </c:pt>
                <c:pt idx="5">
                  <c:v>544.528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326.965</c:v>
                </c:pt>
                <c:pt idx="1">
                  <c:v>44.52600000000001</c:v>
                </c:pt>
                <c:pt idx="2">
                  <c:v>50.548</c:v>
                </c:pt>
                <c:pt idx="3">
                  <c:v>57.37299999999999</c:v>
                </c:pt>
                <c:pt idx="4">
                  <c:v>65.11600000000004</c:v>
                </c:pt>
                <c:pt idx="5">
                  <c:v>73.89499999999998</c:v>
                </c:pt>
                <c:pt idx="6">
                  <c:v>618.423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Others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14.710374918237498</c:v>
                </c:pt>
                <c:pt idx="1">
                  <c:v>15.49595687587026</c:v>
                </c:pt>
                <c:pt idx="2">
                  <c:v>17.158474706063842</c:v>
                </c:pt>
              </c:numCache>
            </c:numRef>
          </c:val>
        </c:ser>
        <c:ser>
          <c:idx val="1"/>
          <c:order val="1"/>
          <c:tx>
            <c:strRef>
              <c:strCache>
                <c:ptCount val="1"/>
                <c:pt idx="0">
                  <c:v>Audiologists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18.99974727953856</c:v>
                </c:pt>
                <c:pt idx="1">
                  <c:v>17.909177337272666</c:v>
                </c:pt>
                <c:pt idx="2">
                  <c:v>15.585663772992723</c:v>
                </c:pt>
              </c:numCache>
            </c:numRef>
          </c:val>
        </c:ser>
        <c:ser>
          <c:idx val="2"/>
          <c:order val="2"/>
          <c:tx>
            <c:strRef>
              <c:strCache>
                <c:ptCount val="1"/>
                <c:pt idx="0">
                  <c:v>General practitioners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15.815345582842758</c:v>
                </c:pt>
                <c:pt idx="1">
                  <c:v>14.886431387268829</c:v>
                </c:pt>
                <c:pt idx="2">
                  <c:v>12.896733352126308</c:v>
                </c:pt>
              </c:numCache>
            </c:numRef>
          </c:val>
        </c:ser>
        <c:ser>
          <c:idx val="3"/>
          <c:order val="3"/>
          <c:tx>
            <c:strRef>
              <c:strCache>
                <c:ptCount val="1"/>
                <c:pt idx="0">
                  <c:v>ENT specialists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17.60470555588591</c:v>
                </c:pt>
                <c:pt idx="1">
                  <c:v>15.956382979731773</c:v>
                </c:pt>
                <c:pt idx="2">
                  <c:v>12.459241814513353</c:v>
                </c:pt>
              </c:numCache>
            </c:numRef>
          </c:val>
        </c:ser>
        <c:ser>
          <c:idx val="4"/>
          <c:order val="4"/>
          <c:tx>
            <c:strRef>
              <c:strCache>
                <c:ptCount val="1"/>
                <c:pt idx="0">
                  <c:v>Healthcare professionals</c:v>
                </c:pt>
              </c:strCache>
            </c:strRef>
          </c:tx>
          <c:spPr>
            <a:solidFill>
              <a:srgbClr val="A35313"/>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8.931500366692436</c:v>
                </c:pt>
                <c:pt idx="1">
                  <c:v>9.756436249823459</c:v>
                </c:pt>
                <c:pt idx="2">
                  <c:v>11.515394330589118</c:v>
                </c:pt>
              </c:numCache>
            </c:numRef>
          </c:val>
        </c:ser>
        <c:ser>
          <c:idx val="5"/>
          <c:order val="5"/>
          <c:tx>
            <c:strRef>
              <c:strCache>
                <c:ptCount val="1"/>
                <c:pt idx="0">
                  <c:v>Individual consumers</c:v>
                </c:pt>
              </c:strCache>
            </c:strRef>
          </c:tx>
          <c:spPr>
            <a:solidFill>
              <a:srgbClr val="808080"/>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9.09496342986264</c:v>
                </c:pt>
                <c:pt idx="1">
                  <c:v>9.654161465249796</c:v>
                </c:pt>
                <c:pt idx="2">
                  <c:v>10.830579126925818</c:v>
                </c:pt>
              </c:numCache>
            </c:numRef>
          </c:val>
        </c:ser>
        <c:ser>
          <c:idx val="6"/>
          <c:order val="6"/>
          <c:tx>
            <c:strRef>
              <c:strCache>
                <c:ptCount val="1"/>
                <c:pt idx="0">
                  <c:v>Hospitals and Clinics</c:v>
                </c:pt>
              </c:strCache>
            </c:strRef>
          </c:tx>
          <c:spPr>
            <a:solidFill>
              <a:srgbClr val="0E72AE"/>
            </a:solidFill>
            <a:ln>
              <a:noFill/>
            </a:ln>
          </c:spPr>
          <c:dLbls>
            <c:dLbl>
              <c:idx val="0"/>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6.65788339180591</c:v>
                </c:pt>
                <c:pt idx="1">
                  <c:v>7.669708369944672</c:v>
                </c:pt>
                <c:pt idx="2">
                  <c:v>9.837844016842649</c:v>
                </c:pt>
              </c:numCache>
            </c:numRef>
          </c:val>
        </c:ser>
        <c:ser>
          <c:idx val="7"/>
          <c:order val="7"/>
          <c:tx>
            <c:strRef>
              <c:strCache>
                <c:ptCount val="1"/>
                <c:pt idx="0">
                  <c:v>Nursing Homes</c:v>
                </c:pt>
              </c:strCache>
            </c:strRef>
          </c:tx>
          <c:spPr>
            <a:solidFill>
              <a:srgbClr val="A86F00"/>
            </a:solidFill>
            <a:ln>
              <a:noFill/>
            </a:ln>
          </c:spPr>
          <c:dLbls>
            <c:dLbl>
              <c:idx val="0"/>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5.615968959980972</c:v>
                </c:pt>
                <c:pt idx="1">
                  <c:v>6.298287868921451</c:v>
                </c:pt>
                <c:pt idx="2">
                  <c:v>7.758233208959366</c:v>
                </c:pt>
              </c:numCache>
            </c:numRef>
          </c:val>
        </c:ser>
        <c:ser>
          <c:idx val="8"/>
          <c:order val="8"/>
          <c:tx>
            <c:strRef>
              <c:strCache>
                <c:ptCount val="1"/>
                <c:pt idx="0">
                  <c:v>Assisted Living Facilities</c:v>
                </c:pt>
              </c:strCache>
            </c:strRef>
          </c:tx>
          <c:spPr>
            <a:solidFill>
              <a:srgbClr val="0B2E4A"/>
            </a:solidFill>
            <a:ln>
              <a:noFill/>
            </a:ln>
          </c:spPr>
          <c:dLbls>
            <c:dLbl>
              <c:idx val="0"/>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2.5695105151533166</c:v>
                </c:pt>
                <c:pt idx="1">
                  <c:v>2.373457465917094</c:v>
                </c:pt>
                <c:pt idx="2">
                  <c:v>1.9578356709868308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Retail Pharmacies and Drug Stores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22.745330471277992</c:v>
                </c:pt>
                <c:pt idx="1">
                  <c:v>20.895985584142558</c:v>
                </c:pt>
                <c:pt idx="2">
                  <c:v>23.75535987582864</c:v>
                </c:pt>
                <c:pt idx="3">
                  <c:v>22.809749506597466</c:v>
                </c:pt>
                <c:pt idx="4">
                  <c:v>22.264326487890447</c:v>
                </c:pt>
                <c:pt idx="5">
                  <c:v>20.915221394519197</c:v>
                </c:pt>
              </c:numCache>
            </c:numRef>
          </c:val>
        </c:ser>
        <c:ser>
          <c:idx val="1"/>
          <c:order val="1"/>
          <c:tx>
            <c:strRef>
              <c:strCache>
                <c:ptCount val="1"/>
                <c:pt idx="0">
                  <c:v>Supermarkets and Mass Retailers</c:v>
                </c:pt>
              </c:strCache>
            </c:strRef>
          </c:tx>
          <c:spPr>
            <a:solidFill>
              <a:srgbClr val="9E7E0A"/>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10.681847307211738</c:v>
                </c:pt>
                <c:pt idx="1">
                  <c:v>11.967497580672072</c:v>
                </c:pt>
                <c:pt idx="2">
                  <c:v>10.667074212331292</c:v>
                </c:pt>
                <c:pt idx="3">
                  <c:v>10.27976826545375</c:v>
                </c:pt>
                <c:pt idx="4">
                  <c:v>10.381845846699553</c:v>
                </c:pt>
                <c:pt idx="5">
                  <c:v>10.233544246364017</c:v>
                </c:pt>
              </c:numCache>
            </c:numRef>
          </c:val>
        </c:ser>
        <c:ser>
          <c:idx val="2"/>
          <c:order val="2"/>
          <c:tx>
            <c:strRef>
              <c:strCache>
                <c:ptCount val="1"/>
                <c:pt idx="0">
                  <c:v>Online Channels</c:v>
                </c:pt>
              </c:strCache>
            </c:strRef>
          </c:tx>
          <c:spPr>
            <a:solidFill>
              <a:srgbClr val="008189"/>
            </a:solidFill>
            <a:ln>
              <a:noFill/>
            </a:ln>
          </c:spPr>
          <c:dLbls>
            <c:dLbl>
              <c:idx val="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29.778457693909587</c:v>
                </c:pt>
                <c:pt idx="1">
                  <c:v>30.289985650882635</c:v>
                </c:pt>
                <c:pt idx="2">
                  <c:v>26.546397339680638</c:v>
                </c:pt>
                <c:pt idx="3">
                  <c:v>27.663258347478603</c:v>
                </c:pt>
                <c:pt idx="4">
                  <c:v>30.301309324210386</c:v>
                </c:pt>
                <c:pt idx="5">
                  <c:v>25.484637080179027</c:v>
                </c:pt>
              </c:numCache>
            </c:numRef>
          </c:val>
        </c:ser>
        <c:ser>
          <c:idx val="3"/>
          <c:order val="3"/>
          <c:tx>
            <c:strRef>
              <c:strCache>
                <c:ptCount val="1"/>
                <c:pt idx="0">
                  <c:v>Medical Distributors and Institutional Procurement</c:v>
                </c:pt>
              </c:strCache>
            </c:strRef>
          </c:tx>
          <c:spPr>
            <a:solidFill>
              <a:srgbClr val="40315E"/>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15.24244705731586</c:v>
                </c:pt>
                <c:pt idx="1">
                  <c:v>17.08579437381119</c:v>
                </c:pt>
                <c:pt idx="2">
                  <c:v>17.57584034615368</c:v>
                </c:pt>
                <c:pt idx="3">
                  <c:v>16.94670402858654</c:v>
                </c:pt>
                <c:pt idx="4">
                  <c:v>15.909791341596971</c:v>
                </c:pt>
                <c:pt idx="5">
                  <c:v>18.136320763796654</c:v>
                </c:pt>
              </c:numCache>
            </c:numRef>
          </c:val>
        </c:ser>
        <c:ser>
          <c:idx val="4"/>
          <c:order val="4"/>
          <c:tx>
            <c:strRef>
              <c:strCache>
                <c:ptCount val="1"/>
                <c:pt idx="0">
                  <c:v>Other Offline Channels</c:v>
                </c:pt>
              </c:strCache>
            </c:strRef>
          </c:tx>
          <c:spPr>
            <a:solidFill>
              <a:srgbClr val="A35313"/>
            </a:solidFill>
            <a:ln>
              <a:noFill/>
            </a:ln>
          </c:spPr>
          <c:dLbls>
            <c:dLbl>
              <c:idx val="0"/>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21.551917470284817</c:v>
                </c:pt>
                <c:pt idx="1">
                  <c:v>19.76073681049154</c:v>
                </c:pt>
                <c:pt idx="2">
                  <c:v>21.455328226005747</c:v>
                </c:pt>
                <c:pt idx="3">
                  <c:v>22.300519851883642</c:v>
                </c:pt>
                <c:pt idx="4">
                  <c:v>21.14272699960265</c:v>
                </c:pt>
                <c:pt idx="5">
                  <c:v>25.2302765151411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38.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Retail Pharmacies and Drug Stores</c:v>
                </c:pt>
              </c:strCache>
            </c:strRef>
          </c:tx>
          <c:spPr>
            <a:solidFill>
              <a:srgbClr val="3D85C6"/>
            </a:solidFill>
          </c:spPr>
          <c:invertIfNegative val="0"/>
          <c:xVal>
            <c:numRef>
              <c:numCache>
                <c:formatCode>General</c:formatCode>
                <c:ptCount val="1"/>
                <c:pt idx="0">
                  <c:v>97.01652858942599</c:v>
                </c:pt>
              </c:numCache>
            </c:numRef>
          </c:xVal>
          <c:yVal>
            <c:numRef>
              <c:numCache>
                <c:formatCode>General</c:formatCode>
                <c:ptCount val="1"/>
                <c:pt idx="0">
                  <c:v>111.91648159575203</c:v>
                </c:pt>
              </c:numCache>
            </c:numRef>
          </c:yVal>
          <c:bubbleSize>
            <c:numRef>
              <c:numCache>
                <c:formatCode>General</c:formatCode>
                <c:ptCount val="1"/>
                <c:pt idx="0">
                  <c:v>794.275</c:v>
                </c:pt>
              </c:numCache>
            </c:numRef>
          </c:bubbleSize>
          <c:bubble3D val="0"/>
        </c:ser>
        <c:ser>
          <c:idx val="1"/>
          <c:order val="1"/>
          <c:tx>
            <c:strRef>
              <c:strCache>
                <c:ptCount val="1"/>
                <c:pt idx="0">
                  <c:v>Supermarkets and Mass Retailers</c:v>
                </c:pt>
              </c:strCache>
            </c:strRef>
          </c:tx>
          <c:spPr>
            <a:solidFill>
              <a:srgbClr val="9E7E0A"/>
            </a:solidFill>
          </c:spPr>
          <c:invertIfNegative val="0"/>
          <c:xVal>
            <c:numRef>
              <c:numCache>
                <c:formatCode>General</c:formatCode>
                <c:ptCount val="1"/>
                <c:pt idx="0">
                  <c:v>123.07608520122693</c:v>
                </c:pt>
              </c:numCache>
            </c:numRef>
          </c:xVal>
          <c:yVal>
            <c:numRef>
              <c:numCache>
                <c:formatCode>General</c:formatCode>
                <c:ptCount val="1"/>
                <c:pt idx="0">
                  <c:v>46.63929228503101</c:v>
                </c:pt>
              </c:numCache>
            </c:numRef>
          </c:yVal>
          <c:bubbleSize>
            <c:numRef>
              <c:numCache>
                <c:formatCode>General</c:formatCode>
                <c:ptCount val="1"/>
                <c:pt idx="0">
                  <c:v>378.899</c:v>
                </c:pt>
              </c:numCache>
            </c:numRef>
          </c:bubbleSize>
          <c:bubble3D val="0"/>
        </c:ser>
        <c:ser>
          <c:idx val="2"/>
          <c:order val="2"/>
          <c:tx>
            <c:strRef>
              <c:strCache>
                <c:ptCount val="1"/>
                <c:pt idx="0">
                  <c:v>Online Channels</c:v>
                </c:pt>
              </c:strCache>
            </c:strRef>
          </c:tx>
          <c:spPr>
            <a:solidFill>
              <a:srgbClr val="008189"/>
            </a:solidFill>
          </c:spPr>
          <c:invertIfNegative val="0"/>
          <c:xVal>
            <c:numRef>
              <c:numCache>
                <c:formatCode>General</c:formatCode>
                <c:ptCount val="1"/>
                <c:pt idx="0">
                  <c:v>93.43641253076301</c:v>
                </c:pt>
              </c:numCache>
            </c:numRef>
          </c:xVal>
          <c:yVal>
            <c:numRef>
              <c:numCache>
                <c:formatCode>General</c:formatCode>
                <c:ptCount val="1"/>
                <c:pt idx="0">
                  <c:v>144.78374902014312</c:v>
                </c:pt>
              </c:numCache>
            </c:numRef>
          </c:yVal>
          <c:bubbleSize>
            <c:numRef>
              <c:numCache>
                <c:formatCode>General</c:formatCode>
                <c:ptCount val="1"/>
                <c:pt idx="0">
                  <c:v>1008.488</c:v>
                </c:pt>
              </c:numCache>
            </c:numRef>
          </c:bubbleSize>
          <c:bubble3D val="0"/>
        </c:ser>
        <c:ser>
          <c:idx val="3"/>
          <c:order val="3"/>
          <c:tx>
            <c:strRef>
              <c:strCache>
                <c:ptCount val="1"/>
                <c:pt idx="0">
                  <c:v>Medical Distributors and Institutional Procurement</c:v>
                </c:pt>
              </c:strCache>
            </c:strRef>
          </c:tx>
          <c:spPr>
            <a:solidFill>
              <a:srgbClr val="40315E"/>
            </a:solidFill>
          </c:spPr>
          <c:invertIfNegative val="0"/>
          <c:xVal>
            <c:numRef>
              <c:numCache>
                <c:formatCode>General</c:formatCode>
                <c:ptCount val="1"/>
                <c:pt idx="0">
                  <c:v>61.955995515295434</c:v>
                </c:pt>
              </c:numCache>
            </c:numRef>
          </c:xVal>
          <c:yVal>
            <c:numRef>
              <c:numCache>
                <c:formatCode>General</c:formatCode>
                <c:ptCount val="1"/>
                <c:pt idx="0">
                  <c:v>103.75511492406169</c:v>
                </c:pt>
              </c:numCache>
            </c:numRef>
          </c:yVal>
          <c:bubbleSize>
            <c:numRef>
              <c:numCache>
                <c:formatCode>General</c:formatCode>
                <c:ptCount val="1"/>
                <c:pt idx="0">
                  <c:v>612.133</c:v>
                </c:pt>
              </c:numCache>
            </c:numRef>
          </c:bubbleSize>
          <c:bubble3D val="0"/>
        </c:ser>
        <c:ser>
          <c:idx val="4"/>
          <c:order val="4"/>
          <c:tx>
            <c:strRef>
              <c:strCache>
                <c:ptCount val="1"/>
                <c:pt idx="0">
                  <c:v>Other Offline Channels</c:v>
                </c:pt>
              </c:strCache>
            </c:strRef>
          </c:tx>
          <c:spPr>
            <a:solidFill>
              <a:srgbClr val="A35313"/>
            </a:solidFill>
          </c:spPr>
          <c:invertIfNegative val="0"/>
          <c:xVal>
            <c:numRef>
              <c:numCache>
                <c:formatCode>General</c:formatCode>
                <c:ptCount val="1"/>
                <c:pt idx="0">
                  <c:v>136.92895267361948</c:v>
                </c:pt>
              </c:numCache>
            </c:numRef>
          </c:xVal>
          <c:yVal>
            <c:numRef>
              <c:numCache>
                <c:formatCode>General</c:formatCode>
                <c:ptCount val="1"/>
                <c:pt idx="0">
                  <c:v>92.90536217501214</c:v>
                </c:pt>
              </c:numCache>
            </c:numRef>
          </c:yVal>
          <c:bubbleSize>
            <c:numRef>
              <c:numCache>
                <c:formatCode>General</c:formatCode>
                <c:ptCount val="1"/>
                <c:pt idx="0">
                  <c:v>810.389</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60.0"/>
          <c:min val="4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472.288</c:v>
                </c:pt>
                <c:pt idx="2">
                  <c:v>524.137</c:v>
                </c:pt>
                <c:pt idx="3">
                  <c:v>581.619</c:v>
                </c:pt>
                <c:pt idx="4">
                  <c:v>645.353</c:v>
                </c:pt>
                <c:pt idx="5">
                  <c:v>715.988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472.288</c:v>
                </c:pt>
                <c:pt idx="1">
                  <c:v>51.84899999999993</c:v>
                </c:pt>
                <c:pt idx="2">
                  <c:v>57.482000000000085</c:v>
                </c:pt>
                <c:pt idx="3">
                  <c:v>63.733999999999924</c:v>
                </c:pt>
                <c:pt idx="4">
                  <c:v>70.6350000000001</c:v>
                </c:pt>
                <c:pt idx="5">
                  <c:v>78.28699999999992</c:v>
                </c:pt>
                <c:pt idx="6">
                  <c:v>794.275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196.818</c:v>
                </c:pt>
                <c:pt idx="2">
                  <c:v>224.17</c:v>
                </c:pt>
                <c:pt idx="3">
                  <c:v>255.43</c:v>
                </c:pt>
                <c:pt idx="4">
                  <c:v>291.174</c:v>
                </c:pt>
                <c:pt idx="5">
                  <c:v>332.072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196.818</c:v>
                </c:pt>
                <c:pt idx="1">
                  <c:v>27.351999999999975</c:v>
                </c:pt>
                <c:pt idx="2">
                  <c:v>31.26000000000002</c:v>
                </c:pt>
                <c:pt idx="3">
                  <c:v>35.74399999999997</c:v>
                </c:pt>
                <c:pt idx="4">
                  <c:v>40.898000000000025</c:v>
                </c:pt>
                <c:pt idx="5">
                  <c:v>46.827</c:v>
                </c:pt>
                <c:pt idx="6">
                  <c:v>378.899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610.988</c:v>
                </c:pt>
                <c:pt idx="2">
                  <c:v>675.874</c:v>
                </c:pt>
                <c:pt idx="3">
                  <c:v>747.401</c:v>
                </c:pt>
                <c:pt idx="4">
                  <c:v>826.212</c:v>
                </c:pt>
                <c:pt idx="5">
                  <c:v>912.997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610.988</c:v>
                </c:pt>
                <c:pt idx="1">
                  <c:v>64.88599999999997</c:v>
                </c:pt>
                <c:pt idx="2">
                  <c:v>71.52699999999993</c:v>
                </c:pt>
                <c:pt idx="3">
                  <c:v>78.81100000000004</c:v>
                </c:pt>
                <c:pt idx="4">
                  <c:v>86.78499999999997</c:v>
                </c:pt>
                <c:pt idx="5">
                  <c:v>95.4910000000001</c:v>
                </c:pt>
                <c:pt idx="6">
                  <c:v>1008.488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437.847</c:v>
                </c:pt>
                <c:pt idx="2">
                  <c:v>471.07</c:v>
                </c:pt>
                <c:pt idx="3">
                  <c:v>505.469</c:v>
                </c:pt>
                <c:pt idx="4">
                  <c:v>540.744</c:v>
                </c:pt>
                <c:pt idx="5">
                  <c:v>576.478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437.847</c:v>
                </c:pt>
                <c:pt idx="1">
                  <c:v>33.22300000000001</c:v>
                </c:pt>
                <c:pt idx="2">
                  <c:v>34.399</c:v>
                </c:pt>
                <c:pt idx="3">
                  <c:v>35.275000000000034</c:v>
                </c:pt>
                <c:pt idx="4">
                  <c:v>35.733999999999924</c:v>
                </c:pt>
                <c:pt idx="5">
                  <c:v>35.655000000000086</c:v>
                </c:pt>
                <c:pt idx="6">
                  <c:v>612.133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392.061</c:v>
                </c:pt>
                <c:pt idx="2">
                  <c:v>453.23</c:v>
                </c:pt>
                <c:pt idx="3">
                  <c:v>523.999</c:v>
                </c:pt>
                <c:pt idx="4">
                  <c:v>605.878</c:v>
                </c:pt>
                <c:pt idx="5">
                  <c:v>700.655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392.061</c:v>
                </c:pt>
                <c:pt idx="1">
                  <c:v>61.16900000000004</c:v>
                </c:pt>
                <c:pt idx="2">
                  <c:v>70.769</c:v>
                </c:pt>
                <c:pt idx="3">
                  <c:v>81.87900000000002</c:v>
                </c:pt>
                <c:pt idx="4">
                  <c:v>94.77699999999993</c:v>
                </c:pt>
                <c:pt idx="5">
                  <c:v>109.73400000000004</c:v>
                </c:pt>
                <c:pt idx="6">
                  <c:v>810.389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Online Channels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29.36933856613348</c:v>
                </c:pt>
                <c:pt idx="1">
                  <c:v>28.956749804028625</c:v>
                </c:pt>
                <c:pt idx="2">
                  <c:v>27.98103537444259</c:v>
                </c:pt>
              </c:numCache>
            </c:numRef>
          </c:val>
        </c:ser>
        <c:ser>
          <c:idx val="1"/>
          <c:order val="1"/>
          <c:tx>
            <c:strRef>
              <c:strCache>
                <c:ptCount val="1"/>
                <c:pt idx="0">
                  <c:v>Other Offline Channels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16.903158510237656</c:v>
                </c:pt>
                <c:pt idx="1">
                  <c:v>18.58107243500243</c:v>
                </c:pt>
                <c:pt idx="2">
                  <c:v>22.48467336850727</c:v>
                </c:pt>
              </c:numCache>
            </c:numRef>
          </c:val>
        </c:ser>
        <c:ser>
          <c:idx val="2"/>
          <c:order val="2"/>
          <c:tx>
            <c:strRef>
              <c:strCache>
                <c:ptCount val="1"/>
                <c:pt idx="0">
                  <c:v>Retail Pharmacies and Drug Stores</c:v>
                </c:pt>
              </c:strCache>
            </c:strRef>
          </c:tx>
          <c:spPr>
            <a:solidFill>
              <a:srgbClr val="008189"/>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22.539382271907392</c:v>
                </c:pt>
                <c:pt idx="1">
                  <c:v>22.383296319150407</c:v>
                </c:pt>
                <c:pt idx="2">
                  <c:v>22.037581877062877</c:v>
                </c:pt>
              </c:numCache>
            </c:numRef>
          </c:val>
        </c:ser>
        <c:ser>
          <c:idx val="3"/>
          <c:order val="3"/>
          <c:tx>
            <c:strRef>
              <c:strCache>
                <c:ptCount val="1"/>
                <c:pt idx="0">
                  <c:v>Medical Distributors and Institutional Procurement</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22.367619075935067</c:v>
                </c:pt>
                <c:pt idx="1">
                  <c:v>20.751022984812337</c:v>
                </c:pt>
                <c:pt idx="2">
                  <c:v>16.9839553141571</c:v>
                </c:pt>
              </c:numCache>
            </c:numRef>
          </c:val>
        </c:ser>
        <c:ser>
          <c:idx val="4"/>
          <c:order val="4"/>
          <c:tx>
            <c:strRef>
              <c:strCache>
                <c:ptCount val="1"/>
                <c:pt idx="0">
                  <c:v>Supermarkets and Mass Retailers</c:v>
                </c:pt>
              </c:strCache>
            </c:strRef>
          </c:tx>
          <c:spPr>
            <a:solidFill>
              <a:srgbClr val="A35313"/>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8.820501575786407</c:v>
                </c:pt>
                <c:pt idx="1">
                  <c:v>9.327858457006203</c:v>
                </c:pt>
                <c:pt idx="2">
                  <c:v>10.512754065830157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Paediatric</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61.128776471342064</c:v>
                </c:pt>
                <c:pt idx="1">
                  <c:v>59.413020989755395</c:v>
                </c:pt>
                <c:pt idx="2">
                  <c:v>61.0423197152383</c:v>
                </c:pt>
                <c:pt idx="3">
                  <c:v>58.79085043689227</c:v>
                </c:pt>
                <c:pt idx="4">
                  <c:v>59.99408817343943</c:v>
                </c:pt>
                <c:pt idx="5">
                  <c:v>64.87679324198352</c:v>
                </c:pt>
              </c:numCache>
            </c:numRef>
          </c:val>
        </c:ser>
        <c:ser>
          <c:idx val="1"/>
          <c:order val="1"/>
          <c:tx>
            <c:strRef>
              <c:strCache>
                <c:ptCount val="1"/>
                <c:pt idx="0">
                  <c:v>Adult</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20.78500945119021</c:v>
                </c:pt>
                <c:pt idx="1">
                  <c:v>22.33056361998198</c:v>
                </c:pt>
                <c:pt idx="2">
                  <c:v>20.731717891688238</c:v>
                </c:pt>
                <c:pt idx="3">
                  <c:v>21.408889955832773</c:v>
                </c:pt>
                <c:pt idx="4">
                  <c:v>24.83354816200343</c:v>
                </c:pt>
                <c:pt idx="5">
                  <c:v>21.191580711127976</c:v>
                </c:pt>
              </c:numCache>
            </c:numRef>
          </c:val>
        </c:ser>
        <c:ser>
          <c:idx val="2"/>
          <c:order val="2"/>
          <c:tx>
            <c:strRef>
              <c:strCache>
                <c:ptCount val="1"/>
                <c:pt idx="0">
                  <c:v>Geriatric</c:v>
                </c:pt>
              </c:strCache>
            </c:strRef>
          </c:tx>
          <c:spPr>
            <a:solidFill>
              <a:srgbClr val="008189"/>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18.086214077467723</c:v>
                </c:pt>
                <c:pt idx="1">
                  <c:v>18.256415390262624</c:v>
                </c:pt>
                <c:pt idx="2">
                  <c:v>18.225962393073456</c:v>
                </c:pt>
                <c:pt idx="3">
                  <c:v>19.80025960727495</c:v>
                </c:pt>
                <c:pt idx="4">
                  <c:v>15.172363664557148</c:v>
                </c:pt>
                <c:pt idx="5">
                  <c:v>13.931626046888507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4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Paediatric</c:v>
                </c:pt>
              </c:strCache>
            </c:strRef>
          </c:tx>
          <c:spPr>
            <a:solidFill>
              <a:srgbClr val="3D85C6"/>
            </a:solidFill>
          </c:spPr>
          <c:invertIfNegative val="0"/>
          <c:xVal>
            <c:numRef>
              <c:numCache>
                <c:formatCode>General</c:formatCode>
                <c:ptCount val="1"/>
                <c:pt idx="0">
                  <c:v>109.37641822823423</c:v>
                </c:pt>
              </c:numCache>
            </c:numRef>
          </c:xVal>
          <c:yVal>
            <c:numRef>
              <c:numCache>
                <c:formatCode>General</c:formatCode>
                <c:ptCount val="1"/>
                <c:pt idx="0">
                  <c:v>175.6602126443482</c:v>
                </c:pt>
              </c:numCache>
            </c:numRef>
          </c:yVal>
          <c:bubbleSize>
            <c:numRef>
              <c:numCache>
                <c:formatCode>General</c:formatCode>
                <c:ptCount val="1"/>
                <c:pt idx="0">
                  <c:v>2215.83</c:v>
                </c:pt>
              </c:numCache>
            </c:numRef>
          </c:bubbleSize>
          <c:bubble3D val="0"/>
        </c:ser>
        <c:ser>
          <c:idx val="1"/>
          <c:order val="1"/>
          <c:tx>
            <c:strRef>
              <c:strCache>
                <c:ptCount val="1"/>
                <c:pt idx="0">
                  <c:v>Adult</c:v>
                </c:pt>
              </c:strCache>
            </c:strRef>
          </c:tx>
          <c:spPr>
            <a:solidFill>
              <a:srgbClr val="9E7E0A"/>
            </a:solidFill>
          </c:spPr>
          <c:invertIfNegative val="0"/>
          <c:xVal>
            <c:numRef>
              <c:numCache>
                <c:formatCode>General</c:formatCode>
                <c:ptCount val="1"/>
                <c:pt idx="0">
                  <c:v>112.34368920799578</c:v>
                </c:pt>
              </c:numCache>
            </c:numRef>
          </c:xVal>
          <c:yVal>
            <c:numRef>
              <c:numCache>
                <c:formatCode>General</c:formatCode>
                <c:ptCount val="1"/>
                <c:pt idx="0">
                  <c:v>62.659845820051366</c:v>
                </c:pt>
              </c:numCache>
            </c:numRef>
          </c:yVal>
          <c:bubbleSize>
            <c:numRef>
              <c:numCache>
                <c:formatCode>General</c:formatCode>
                <c:ptCount val="1"/>
                <c:pt idx="0">
                  <c:v>802.662</c:v>
                </c:pt>
              </c:numCache>
            </c:numRef>
          </c:bubbleSize>
          <c:bubble3D val="0"/>
        </c:ser>
        <c:ser>
          <c:idx val="2"/>
          <c:order val="2"/>
          <c:tx>
            <c:strRef>
              <c:strCache>
                <c:ptCount val="1"/>
                <c:pt idx="0">
                  <c:v>Geriatric</c:v>
                </c:pt>
              </c:strCache>
            </c:strRef>
          </c:tx>
          <c:spPr>
            <a:solidFill>
              <a:srgbClr val="008189"/>
            </a:solidFill>
          </c:spPr>
          <c:invertIfNegative val="0"/>
          <c:xVal>
            <c:numRef>
              <c:numCache>
                <c:formatCode>General</c:formatCode>
                <c:ptCount val="1"/>
                <c:pt idx="0">
                  <c:v>55.40452457829057</c:v>
                </c:pt>
              </c:numCache>
            </c:numRef>
          </c:xVal>
          <c:yVal>
            <c:numRef>
              <c:numCache>
                <c:formatCode>General</c:formatCode>
                <c:ptCount val="1"/>
                <c:pt idx="0">
                  <c:v>61.67994153560045</c:v>
                </c:pt>
              </c:numCache>
            </c:numRef>
          </c:yVal>
          <c:bubbleSize>
            <c:numRef>
              <c:numCache>
                <c:formatCode>General</c:formatCode>
                <c:ptCount val="1"/>
                <c:pt idx="0">
                  <c:v>585.692</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0.0"/>
          <c:min val="4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2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1235.478</c:v>
                </c:pt>
                <c:pt idx="2">
                  <c:v>1388.793</c:v>
                </c:pt>
                <c:pt idx="3">
                  <c:v>1561.025</c:v>
                </c:pt>
                <c:pt idx="4">
                  <c:v>1754.492</c:v>
                </c:pt>
                <c:pt idx="5">
                  <c:v>1971.78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1235.478</c:v>
                </c:pt>
                <c:pt idx="1">
                  <c:v>153.31499999999983</c:v>
                </c:pt>
                <c:pt idx="2">
                  <c:v>172.2320000000002</c:v>
                </c:pt>
                <c:pt idx="3">
                  <c:v>193.46699999999987</c:v>
                </c:pt>
                <c:pt idx="4">
                  <c:v>217.288</c:v>
                </c:pt>
                <c:pt idx="5">
                  <c:v>244.04999999999995</c:v>
                </c:pt>
                <c:pt idx="6">
                  <c:v>2215.83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440.708</c:v>
                </c:pt>
                <c:pt idx="2">
                  <c:v>496.942</c:v>
                </c:pt>
                <c:pt idx="3">
                  <c:v>560.291</c:v>
                </c:pt>
                <c:pt idx="4">
                  <c:v>631.67</c:v>
                </c:pt>
                <c:pt idx="5">
                  <c:v>712.081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440.708</c:v>
                </c:pt>
                <c:pt idx="1">
                  <c:v>56.23399999999998</c:v>
                </c:pt>
                <c:pt idx="2">
                  <c:v>63.349000000000046</c:v>
                </c:pt>
                <c:pt idx="3">
                  <c:v>71.3789999999999</c:v>
                </c:pt>
                <c:pt idx="4">
                  <c:v>80.41100000000006</c:v>
                </c:pt>
                <c:pt idx="5">
                  <c:v>90.58100000000002</c:v>
                </c:pt>
                <c:pt idx="6">
                  <c:v>802.662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433.816</c:v>
                </c:pt>
                <c:pt idx="2">
                  <c:v>462.746</c:v>
                </c:pt>
                <c:pt idx="3">
                  <c:v>492.602</c:v>
                </c:pt>
                <c:pt idx="4">
                  <c:v>523.199</c:v>
                </c:pt>
                <c:pt idx="5">
                  <c:v>554.329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433.816</c:v>
                </c:pt>
                <c:pt idx="1">
                  <c:v>28.930000000000007</c:v>
                </c:pt>
                <c:pt idx="2">
                  <c:v>29.855999999999995</c:v>
                </c:pt>
                <c:pt idx="3">
                  <c:v>30.59699999999998</c:v>
                </c:pt>
                <c:pt idx="4">
                  <c:v>31.129999999999995</c:v>
                </c:pt>
                <c:pt idx="5">
                  <c:v>31.363000000000056</c:v>
                </c:pt>
                <c:pt idx="6">
                  <c:v>585.692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Paediatric</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57.102064379298724</c:v>
                </c:pt>
                <c:pt idx="1">
                  <c:v>58.55340421478273</c:v>
                </c:pt>
                <c:pt idx="2">
                  <c:v>61.479380630955575</c:v>
                </c:pt>
              </c:numCache>
            </c:numRef>
          </c:val>
        </c:ser>
        <c:ser>
          <c:idx val="1"/>
          <c:order val="1"/>
          <c:tx>
            <c:strRef>
              <c:strCache>
                <c:ptCount val="1"/>
                <c:pt idx="0">
                  <c:v>Adult</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20.210451725436563</c:v>
                </c:pt>
                <c:pt idx="1">
                  <c:v>20.886615273350454</c:v>
                </c:pt>
                <c:pt idx="2">
                  <c:v>22.270283648115637</c:v>
                </c:pt>
              </c:numCache>
            </c:numRef>
          </c:val>
        </c:ser>
        <c:ser>
          <c:idx val="2"/>
          <c:order val="2"/>
          <c:tx>
            <c:strRef>
              <c:strCache>
                <c:ptCount val="1"/>
                <c:pt idx="0">
                  <c:v>Geriatric</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22.687483895264712</c:v>
                </c:pt>
                <c:pt idx="1">
                  <c:v>20.55998051186681</c:v>
                </c:pt>
                <c:pt idx="2">
                  <c:v>16.250335720928785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3.1806086371026554</c:v>
                </c:pt>
                <c:pt idx="1">
                  <c:v>3.1147641034165785</c:v>
                </c:pt>
                <c:pt idx="2">
                  <c:v>3.1367076112562176</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4.198403400975505"/>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43.522999999999996</c:v>
                </c:pt>
                <c:pt idx="2">
                  <c:v>0.0</c:v>
                </c:pt>
                <c:pt idx="3">
                  <c:v>50.898999999999994</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43.522999999999996</c:v>
                </c:pt>
                <c:pt idx="1">
                  <c:v>7.375999999999998</c:v>
                </c:pt>
                <c:pt idx="2">
                  <c:v>50.898999999999994</c:v>
                </c:pt>
                <c:pt idx="3">
                  <c:v>18.271000000000008</c:v>
                </c:pt>
                <c:pt idx="4">
                  <c:v>69.17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4.6560728691537046</c:v>
                </c:pt>
                <c:pt idx="1">
                  <c:v>4.592788937856684</c:v>
                </c:pt>
                <c:pt idx="2">
                  <c:v>4.61387932860946</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6.14601618728289"/>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554.592</c:v>
                </c:pt>
                <c:pt idx="2">
                  <c:v>0.0</c:v>
                </c:pt>
                <c:pt idx="3">
                  <c:v>696.299</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554.592</c:v>
                </c:pt>
                <c:pt idx="1">
                  <c:v>141.707</c:v>
                </c:pt>
                <c:pt idx="2">
                  <c:v>696.299</c:v>
                </c:pt>
                <c:pt idx="3">
                  <c:v>394.67200000000025</c:v>
                </c:pt>
                <c:pt idx="4">
                  <c:v>1090.9710000000002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554.592</c:v>
                </c:pt>
                <c:pt idx="1">
                  <c:v>580.516</c:v>
                </c:pt>
                <c:pt idx="2">
                  <c:v>607.6</c:v>
                </c:pt>
                <c:pt idx="3">
                  <c:v>635.8899999999999</c:v>
                </c:pt>
                <c:pt idx="4">
                  <c:v>665.439</c:v>
                </c:pt>
              </c:numCache>
            </c:numRef>
          </c:val>
        </c:ser>
        <c:gapWidth val="50"/>
        <c:axId val="-2068027336"/>
        <c:axId val="-2113994440"/>
      </c:barChart>
      <c:barChart>
        <c:barDir val="col"/>
        <c:grouping val="clustered"/>
        <c:varyColors val="0"/>
        <c:ser>
          <c:idx val="1"/>
          <c:order val="1"/>
          <c:tx>
            <c:strRef>
              <c:strCache>
                <c:ptCount val="1"/>
                <c:pt idx="0">
                  <c:v>Volume (Mn Units)</c:v>
                </c:pt>
              </c:strCache>
            </c:strRef>
          </c:tx>
          <c:spPr>
            <a:solidFill>
              <a:srgbClr val="C55A11"/>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43.522999999999996</c:v>
                </c:pt>
                <c:pt idx="1">
                  <c:v>44.914</c:v>
                </c:pt>
                <c:pt idx="2">
                  <c:v>46.347</c:v>
                </c:pt>
                <c:pt idx="3">
                  <c:v>47.82300000000001</c:v>
                </c:pt>
                <c:pt idx="4">
                  <c:v>49.339</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785"/>
          <c:min val="0"/>
        </c:scaling>
        <c:delete val="0"/>
        <c:axPos val="l"/>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70"/>
          <c:min val="0"/>
        </c:scaling>
        <c:delete val="0"/>
        <c:axPos val="r"/>
        <c:numFmt formatCode="General"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696.299</c:v>
                </c:pt>
                <c:pt idx="1">
                  <c:v>728.5740000000002</c:v>
                </c:pt>
                <c:pt idx="2">
                  <c:v>762.275</c:v>
                </c:pt>
                <c:pt idx="3">
                  <c:v>797.4639999999999</c:v>
                </c:pt>
                <c:pt idx="4">
                  <c:v>834.202</c:v>
                </c:pt>
                <c:pt idx="5">
                  <c:v>872.5570000000001</c:v>
                </c:pt>
                <c:pt idx="6">
                  <c:v>912.5919999999999</c:v>
                </c:pt>
                <c:pt idx="7">
                  <c:v>954.377</c:v>
                </c:pt>
                <c:pt idx="8">
                  <c:v>997.9839999999999</c:v>
                </c:pt>
                <c:pt idx="9">
                  <c:v>1043.49</c:v>
                </c:pt>
                <c:pt idx="10">
                  <c:v>1090.9710000000002</c:v>
                </c:pt>
              </c:numCache>
            </c:numRef>
          </c:val>
        </c:ser>
        <c:gapWidth val="50"/>
        <c:axId val="-2068027336"/>
        <c:axId val="-2113994440"/>
      </c:barChart>
      <c:barChart>
        <c:barDir val="col"/>
        <c:grouping val="clustered"/>
        <c:varyColors val="0"/>
        <c:ser>
          <c:idx val="1"/>
          <c:order val="1"/>
          <c:tx>
            <c:strRef>
              <c:strCache>
                <c:ptCount val="1"/>
                <c:pt idx="0">
                  <c:v>Volume (Mn Units)</c:v>
                </c:pt>
              </c:strCache>
            </c:strRef>
          </c:tx>
          <c:spPr>
            <a:solidFill>
              <a:srgbClr val="C55A11"/>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50.898999999999994</c:v>
                </c:pt>
                <c:pt idx="1">
                  <c:v>52.507</c:v>
                </c:pt>
                <c:pt idx="2">
                  <c:v>54.15899999999999</c:v>
                </c:pt>
                <c:pt idx="3">
                  <c:v>55.858999999999995</c:v>
                </c:pt>
                <c:pt idx="4">
                  <c:v>57.608999999999995</c:v>
                </c:pt>
                <c:pt idx="5">
                  <c:v>59.405</c:v>
                </c:pt>
                <c:pt idx="6">
                  <c:v>61.253</c:v>
                </c:pt>
                <c:pt idx="7">
                  <c:v>63.152000000000015</c:v>
                </c:pt>
                <c:pt idx="8">
                  <c:v>65.104</c:v>
                </c:pt>
                <c:pt idx="9">
                  <c:v>67.109</c:v>
                </c:pt>
                <c:pt idx="10">
                  <c:v>69.17</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1287"/>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07"/>
          <c:min val="0"/>
        </c:scaling>
        <c:delete val="0"/>
        <c:axPos val="r"/>
        <c:numFmt formatCode="General"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2"/>
                <c:pt idx="0">
                  <c:v>U.S.</c:v>
                </c:pt>
                <c:pt idx="1">
                  <c:v>Canada</c:v>
                </c:pt>
              </c:strCache>
            </c:strRef>
          </c:cat>
          <c:val>
            <c:numRef>
              <c:numCache>
                <c:formatCode>General</c:formatCode>
                <c:ptCount val="2"/>
                <c:pt idx="0">
                  <c:v>94.96039549787616</c:v>
                </c:pt>
                <c:pt idx="1">
                  <c:v>110.8377843600628</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35.23938865691002</c:v>
                </c:pt>
                <c:pt idx="1">
                  <c:v>64.76061134308992</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Ear Drops</c:v>
                </c:pt>
                <c:pt idx="1">
                  <c:v>Ear Sprays</c:v>
                </c:pt>
                <c:pt idx="2">
                  <c:v>Irrigation Devices and Accessories</c:v>
                </c:pt>
                <c:pt idx="3">
                  <c:v>Manual Removal Tools</c:v>
                </c:pt>
                <c:pt idx="4">
                  <c:v>Camera-Assisted Removal Devices</c:v>
                </c:pt>
                <c:pt idx="5">
                  <c:v>Suction Devices and Accessories</c:v>
                </c:pt>
                <c:pt idx="6">
                  <c:v>Combination Removal Kits</c:v>
                </c:pt>
              </c:strCache>
            </c:strRef>
          </c:cat>
          <c:val>
            <c:numRef>
              <c:numCache>
                <c:formatCode>General</c:formatCode>
                <c:ptCount val="7"/>
                <c:pt idx="0">
                  <c:v>247.583</c:v>
                </c:pt>
                <c:pt idx="1">
                  <c:v>139.197</c:v>
                </c:pt>
                <c:pt idx="2">
                  <c:v>282.18</c:v>
                </c:pt>
                <c:pt idx="3">
                  <c:v>125.18</c:v>
                </c:pt>
                <c:pt idx="4">
                  <c:v>92.61</c:v>
                </c:pt>
                <c:pt idx="5">
                  <c:v>125.50800000000001</c:v>
                </c:pt>
                <c:pt idx="6">
                  <c:v>78.713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6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0.0530333407976837</c:v>
                </c:pt>
                <c:pt idx="1">
                  <c:v>0.0525333407976837</c:v>
                </c:pt>
                <c:pt idx="2">
                  <c:v>0.0530333407976837</c:v>
                </c:pt>
                <c:pt idx="3">
                  <c:v>0.0560333407976837</c:v>
                </c:pt>
                <c:pt idx="4">
                  <c:v>0.0592833407976837</c:v>
                </c:pt>
                <c:pt idx="5">
                  <c:v>0.0600333407976837</c:v>
                </c:pt>
                <c:pt idx="6">
                  <c:v>0.0607833407976837</c:v>
                </c:pt>
                <c:pt idx="7">
                  <c:v>0.0597833407976837</c:v>
                </c:pt>
                <c:pt idx="8">
                  <c:v>0.0582833407976837</c:v>
                </c:pt>
                <c:pt idx="9">
                  <c:v>0.0587833407976837</c:v>
                </c:pt>
                <c:pt idx="10">
                  <c:v>0.0605333407976837</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0.04358713675758533</c:v>
                </c:pt>
                <c:pt idx="1">
                  <c:v>0.042097136757585335</c:v>
                </c:pt>
                <c:pt idx="2">
                  <c:v>0.04189713675758533</c:v>
                </c:pt>
                <c:pt idx="3">
                  <c:v>0.04256713675758533</c:v>
                </c:pt>
                <c:pt idx="4">
                  <c:v>0.04479713675758533</c:v>
                </c:pt>
                <c:pt idx="5">
                  <c:v>0.04681713675758534</c:v>
                </c:pt>
                <c:pt idx="6">
                  <c:v>0.04883713675758533</c:v>
                </c:pt>
                <c:pt idx="7">
                  <c:v>0.049507136757585335</c:v>
                </c:pt>
                <c:pt idx="8">
                  <c:v>0.04933713675758533</c:v>
                </c:pt>
                <c:pt idx="9">
                  <c:v>0.048527136757585326</c:v>
                </c:pt>
                <c:pt idx="10">
                  <c:v>0.04772713675758533</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0.02931354561049359</c:v>
                </c:pt>
                <c:pt idx="1">
                  <c:v>0.03054830040315004</c:v>
                </c:pt>
                <c:pt idx="2">
                  <c:v>0.031678101038430696</c:v>
                </c:pt>
                <c:pt idx="3">
                  <c:v>0.03253625561932693</c:v>
                </c:pt>
                <c:pt idx="4">
                  <c:v>0.03398091872673498</c:v>
                </c:pt>
                <c:pt idx="5">
                  <c:v>0.03559227373115165</c:v>
                </c:pt>
                <c:pt idx="6">
                  <c:v>0.03703076306459641</c:v>
                </c:pt>
                <c:pt idx="7">
                  <c:v>0.03756788139940197</c:v>
                </c:pt>
                <c:pt idx="8">
                  <c:v>0.03749996988580587</c:v>
                </c:pt>
                <c:pt idx="9">
                  <c:v>0.037006067968743284</c:v>
                </c:pt>
                <c:pt idx="10">
                  <c:v>0.03653068737357055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6D5E1"/>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6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70.02298669914929</c:v>
                </c:pt>
                <c:pt idx="1">
                  <c:v>68.88535492265433</c:v>
                </c:pt>
              </c:numCache>
            </c:numRef>
          </c:val>
        </c:ser>
        <c:ser>
          <c:idx val="1"/>
          <c:order val="1"/>
          <c:tx>
            <c:strRef>
              <c:strCache>
                <c:ptCount val="1"/>
                <c:pt idx="0">
                  <c:v>Canada</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29.977013300850704</c:v>
                </c:pt>
                <c:pt idx="1">
                  <c:v>31.114645077345664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68.93575891965952</c:v>
                </c:pt>
                <c:pt idx="1">
                  <c:v>67.42534861146629</c:v>
                </c:pt>
              </c:numCache>
            </c:numRef>
          </c:val>
        </c:ser>
        <c:ser>
          <c:idx val="1"/>
          <c:order val="1"/>
          <c:tx>
            <c:strRef>
              <c:strCache>
                <c:ptCount val="1"/>
                <c:pt idx="0">
                  <c:v>Canada</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31.064241080340487</c:v>
                </c:pt>
                <c:pt idx="1">
                  <c:v>32.574651388533695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30.722</c:v>
                </c:pt>
                <c:pt idx="1">
                  <c:v>31.654</c:v>
                </c:pt>
                <c:pt idx="2">
                  <c:v>32.611</c:v>
                </c:pt>
                <c:pt idx="3">
                  <c:v>33.595</c:v>
                </c:pt>
                <c:pt idx="4">
                  <c:v>34.605</c:v>
                </c:pt>
                <c:pt idx="5">
                  <c:v>35.641</c:v>
                </c:pt>
                <c:pt idx="6">
                  <c:v>36.708</c:v>
                </c:pt>
                <c:pt idx="7">
                  <c:v>37.802</c:v>
                </c:pt>
                <c:pt idx="8">
                  <c:v>38.925</c:v>
                </c:pt>
                <c:pt idx="9">
                  <c:v>40.079</c:v>
                </c:pt>
                <c:pt idx="10">
                  <c:v>41.261</c:v>
                </c:pt>
                <c:pt idx="11">
                  <c:v>42.475</c:v>
                </c:pt>
                <c:pt idx="12">
                  <c:v>43.72</c:v>
                </c:pt>
                <c:pt idx="13">
                  <c:v>44.997</c:v>
                </c:pt>
                <c:pt idx="14">
                  <c:v>46.306</c:v>
                </c:pt>
                <c:pt idx="15">
                  <c:v>47.648</c:v>
                </c:pt>
              </c:numCache>
            </c:numRef>
          </c:val>
        </c:ser>
        <c:ser>
          <c:idx val="1"/>
          <c:order val="1"/>
          <c:tx>
            <c:strRef>
              <c:strCache>
                <c:ptCount val="1"/>
                <c:pt idx="0">
                  <c:v>Canada</c:v>
                </c:pt>
              </c:strCache>
            </c:strRef>
          </c:tx>
          <c:spPr>
            <a:solidFill>
              <a:srgbClr val="9E7E0A"/>
            </a:solidFill>
            <a:ln>
              <a:noFill/>
            </a:ln>
          </c:spPr>
          <c:dLbls>
            <c:dLbl>
              <c:idx val="0"/>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quot;;&quot;MMMM&quot;;&quot;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12.801</c:v>
                </c:pt>
                <c:pt idx="1">
                  <c:v>13.26</c:v>
                </c:pt>
                <c:pt idx="2">
                  <c:v>13.736</c:v>
                </c:pt>
                <c:pt idx="3">
                  <c:v>14.228</c:v>
                </c:pt>
                <c:pt idx="4">
                  <c:v>14.734</c:v>
                </c:pt>
                <c:pt idx="5">
                  <c:v>15.258</c:v>
                </c:pt>
                <c:pt idx="6">
                  <c:v>15.799</c:v>
                </c:pt>
                <c:pt idx="7">
                  <c:v>16.357</c:v>
                </c:pt>
                <c:pt idx="8">
                  <c:v>16.934</c:v>
                </c:pt>
                <c:pt idx="9">
                  <c:v>17.53</c:v>
                </c:pt>
                <c:pt idx="10">
                  <c:v>18.144</c:v>
                </c:pt>
                <c:pt idx="11">
                  <c:v>18.778</c:v>
                </c:pt>
                <c:pt idx="12">
                  <c:v>19.432</c:v>
                </c:pt>
                <c:pt idx="13">
                  <c:v>20.107</c:v>
                </c:pt>
                <c:pt idx="14">
                  <c:v>20.803</c:v>
                </c:pt>
                <c:pt idx="15">
                  <c:v>21.522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3D85C6"/>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quot;;&quot;MMMMM&quot;;&quot;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quot;;&quot;MMMMM&quot;;&quot;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quot;;&quot;MMMMM&quot;;&quot;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quot;;&quot;MMMMM&quot;;&quot;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quot;;&quot;MMMMM&quot;;&quot;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quot;;&quot;MMMMM&quot;;&quot;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386.451</c:v>
                </c:pt>
                <c:pt idx="1">
                  <c:v>403.654</c:v>
                </c:pt>
                <c:pt idx="2">
                  <c:v>421.582</c:v>
                </c:pt>
                <c:pt idx="3">
                  <c:v>440.262</c:v>
                </c:pt>
                <c:pt idx="4">
                  <c:v>459.724</c:v>
                </c:pt>
                <c:pt idx="5">
                  <c:v>479.999</c:v>
                </c:pt>
                <c:pt idx="6">
                  <c:v>501.16</c:v>
                </c:pt>
                <c:pt idx="7">
                  <c:v>523.201</c:v>
                </c:pt>
                <c:pt idx="8">
                  <c:v>546.157</c:v>
                </c:pt>
                <c:pt idx="9">
                  <c:v>570.062</c:v>
                </c:pt>
                <c:pt idx="10">
                  <c:v>594.956</c:v>
                </c:pt>
                <c:pt idx="11">
                  <c:v>620.874</c:v>
                </c:pt>
                <c:pt idx="12">
                  <c:v>647.855</c:v>
                </c:pt>
                <c:pt idx="13">
                  <c:v>675.94</c:v>
                </c:pt>
                <c:pt idx="14">
                  <c:v>705.171</c:v>
                </c:pt>
                <c:pt idx="15">
                  <c:v>735.591</c:v>
                </c:pt>
              </c:numCache>
            </c:numRef>
          </c:val>
        </c:ser>
        <c:ser>
          <c:idx val="1"/>
          <c:order val="1"/>
          <c:tx>
            <c:strRef>
              <c:strCache>
                <c:ptCount val="1"/>
                <c:pt idx="0">
                  <c:v>Canada</c:v>
                </c:pt>
              </c:strCache>
            </c:strRef>
          </c:tx>
          <c:spPr>
            <a:solidFill>
              <a:srgbClr val="9E7E0A"/>
            </a:solidFill>
            <a:ln>
              <a:noFill/>
            </a:ln>
          </c:spPr>
          <c:dLbls>
            <c:dLbl>
              <c:idx val="0"/>
              <c:numFmt formatCode="&quot;MMMMM&quot;;&quot;MMMMM&quot;;&quot;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quot;;&quot;MMMMM&quot;;&quot;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quot;;&quot;MMMMM&quot;;&quot;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quot;;&quot;MMMMM&quot;;&quot;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quot;;&quot;MMMMM&quot;;&quot;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quot;;&quot;MMMMM&quot;;&quot;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quot;;&quot;MMMMM&quot;;&quot;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168.141</c:v>
                </c:pt>
                <c:pt idx="1">
                  <c:v>176.862</c:v>
                </c:pt>
                <c:pt idx="2">
                  <c:v>186.018</c:v>
                </c:pt>
                <c:pt idx="3">
                  <c:v>195.628</c:v>
                </c:pt>
                <c:pt idx="4">
                  <c:v>205.715</c:v>
                </c:pt>
                <c:pt idx="5">
                  <c:v>216.3</c:v>
                </c:pt>
                <c:pt idx="6">
                  <c:v>227.414</c:v>
                </c:pt>
                <c:pt idx="7">
                  <c:v>239.074</c:v>
                </c:pt>
                <c:pt idx="8">
                  <c:v>251.307</c:v>
                </c:pt>
                <c:pt idx="9">
                  <c:v>264.14</c:v>
                </c:pt>
                <c:pt idx="10">
                  <c:v>277.601</c:v>
                </c:pt>
                <c:pt idx="11">
                  <c:v>291.718</c:v>
                </c:pt>
                <c:pt idx="12">
                  <c:v>306.522</c:v>
                </c:pt>
                <c:pt idx="13">
                  <c:v>322.044</c:v>
                </c:pt>
                <c:pt idx="14">
                  <c:v>338.319</c:v>
                </c:pt>
                <c:pt idx="15">
                  <c:v>355.38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Ear Drops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21.069559344926557</c:v>
                </c:pt>
                <c:pt idx="1">
                  <c:v>23.47853630618102</c:v>
                </c:pt>
              </c:numCache>
            </c:numRef>
          </c:val>
        </c:ser>
        <c:ser>
          <c:idx val="1"/>
          <c:order val="1"/>
          <c:tx>
            <c:strRef>
              <c:strCache>
                <c:ptCount val="1"/>
                <c:pt idx="0">
                  <c:v>Ear Sprays</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14.033710394507287</c:v>
                </c:pt>
                <c:pt idx="1">
                  <c:v>12.143161077283436</c:v>
                </c:pt>
              </c:numCache>
            </c:numRef>
          </c:val>
        </c:ser>
        <c:ser>
          <c:idx val="2"/>
          <c:order val="2"/>
          <c:tx>
            <c:strRef>
              <c:strCache>
                <c:ptCount val="1"/>
                <c:pt idx="0">
                  <c:v>Irrigation Devices and Accessories</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24.94287804603523</c:v>
                </c:pt>
                <c:pt idx="1">
                  <c:v>26.310544854409585</c:v>
                </c:pt>
              </c:numCache>
            </c:numRef>
          </c:val>
        </c:ser>
        <c:ser>
          <c:idx val="3"/>
          <c:order val="3"/>
          <c:tx>
            <c:strRef>
              <c:strCache>
                <c:ptCount val="1"/>
                <c:pt idx="0">
                  <c:v>Manual Removal Tools</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11.97478755135348</c:v>
                </c:pt>
                <c:pt idx="1">
                  <c:v>11.232328834909616</c:v>
                </c:pt>
              </c:numCache>
            </c:numRef>
          </c:val>
        </c:ser>
        <c:ser>
          <c:idx val="4"/>
          <c:order val="4"/>
          <c:tx>
            <c:strRef>
              <c:strCache>
                <c:ptCount val="1"/>
                <c:pt idx="0">
                  <c:v>Camera-Assisted Removal Devices</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9.041589284709326</c:v>
                </c:pt>
                <c:pt idx="1">
                  <c:v>8.221688411087138</c:v>
                </c:pt>
              </c:numCache>
            </c:numRef>
          </c:val>
        </c:ser>
        <c:ser>
          <c:idx val="5"/>
          <c:order val="5"/>
          <c:tx>
            <c:strRef>
              <c:strCache>
                <c:ptCount val="1"/>
                <c:pt idx="0">
                  <c:v>Suction Devices and Accessories</c:v>
                </c:pt>
              </c:strCache>
            </c:strRef>
          </c:tx>
          <c:spPr>
            <a:solidFill>
              <a:srgbClr val="808080"/>
            </a:solidFill>
            <a:ln>
              <a:noFill/>
            </a:ln>
          </c:spPr>
          <c:dLbls>
            <c:dLbl>
              <c:idx val="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11.382745230457537</c:v>
                </c:pt>
                <c:pt idx="1">
                  <c:v>11.562947344380232</c:v>
                </c:pt>
              </c:numCache>
            </c:numRef>
          </c:val>
        </c:ser>
        <c:ser>
          <c:idx val="6"/>
          <c:order val="6"/>
          <c:tx>
            <c:strRef>
              <c:strCache>
                <c:ptCount val="1"/>
                <c:pt idx="0">
                  <c:v>Combination Removal Kits</c:v>
                </c:pt>
              </c:strCache>
            </c:strRef>
          </c:tx>
          <c:spPr>
            <a:solidFill>
              <a:srgbClr val="0E72AE"/>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7.55473014801058</c:v>
                </c:pt>
                <c:pt idx="1">
                  <c:v>7.050793171748975</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Ear Drops</c:v>
                </c:pt>
              </c:strCache>
            </c:strRef>
          </c:tx>
          <c:spPr>
            <a:solidFill>
              <a:srgbClr val="3D85C6"/>
            </a:solidFill>
          </c:spPr>
          <c:invertIfNegative val="0"/>
          <c:xVal>
            <c:numRef>
              <c:numCache>
                <c:formatCode>General</c:formatCode>
                <c:ptCount val="1"/>
                <c:pt idx="0">
                  <c:v>128.95366144542731</c:v>
                </c:pt>
              </c:numCache>
            </c:numRef>
          </c:xVal>
          <c:yVal>
            <c:numRef>
              <c:numCache>
                <c:formatCode>General</c:formatCode>
                <c:ptCount val="1"/>
                <c:pt idx="0">
                  <c:v>140.00321700878504</c:v>
                </c:pt>
              </c:numCache>
            </c:numRef>
          </c:yVal>
          <c:bubbleSize>
            <c:numRef>
              <c:numCache>
                <c:formatCode>General</c:formatCode>
                <c:ptCount val="1"/>
                <c:pt idx="0">
                  <c:v>247.583</c:v>
                </c:pt>
              </c:numCache>
            </c:numRef>
          </c:bubbleSize>
          <c:bubble3D val="0"/>
        </c:ser>
        <c:ser>
          <c:idx val="1"/>
          <c:order val="1"/>
          <c:tx>
            <c:strRef>
              <c:strCache>
                <c:ptCount val="1"/>
                <c:pt idx="0">
                  <c:v>Ear Sprays</c:v>
                </c:pt>
              </c:strCache>
            </c:strRef>
          </c:tx>
          <c:spPr>
            <a:solidFill>
              <a:srgbClr val="9E7E0A"/>
            </a:solidFill>
          </c:spPr>
          <c:invertIfNegative val="0"/>
          <c:xVal>
            <c:numRef>
              <c:numCache>
                <c:formatCode>General</c:formatCode>
                <c:ptCount val="1"/>
                <c:pt idx="0">
                  <c:v>42.99109435323038</c:v>
                </c:pt>
              </c:numCache>
            </c:numRef>
          </c:xVal>
          <c:yVal>
            <c:numRef>
              <c:numCache>
                <c:formatCode>General</c:formatCode>
                <c:ptCount val="1"/>
                <c:pt idx="0">
                  <c:v>115.0844680230763</c:v>
                </c:pt>
              </c:numCache>
            </c:numRef>
          </c:yVal>
          <c:bubbleSize>
            <c:numRef>
              <c:numCache>
                <c:formatCode>General</c:formatCode>
                <c:ptCount val="1"/>
                <c:pt idx="0">
                  <c:v>139.197</c:v>
                </c:pt>
              </c:numCache>
            </c:numRef>
          </c:bubbleSize>
          <c:bubble3D val="0"/>
        </c:ser>
        <c:ser>
          <c:idx val="2"/>
          <c:order val="2"/>
          <c:tx>
            <c:strRef>
              <c:strCache>
                <c:ptCount val="1"/>
                <c:pt idx="0">
                  <c:v>Irrigation Devices and Accessories</c:v>
                </c:pt>
              </c:strCache>
            </c:strRef>
          </c:tx>
          <c:spPr>
            <a:solidFill>
              <a:srgbClr val="008189"/>
            </a:solidFill>
          </c:spPr>
          <c:invertIfNegative val="0"/>
          <c:xVal>
            <c:numRef>
              <c:numCache>
                <c:formatCode>General</c:formatCode>
                <c:ptCount val="1"/>
                <c:pt idx="0">
                  <c:v>116.48153819391807</c:v>
                </c:pt>
              </c:numCache>
            </c:numRef>
          </c:xVal>
          <c:yVal>
            <c:numRef>
              <c:numCache>
                <c:formatCode>General</c:formatCode>
                <c:ptCount val="1"/>
                <c:pt idx="0">
                  <c:v>168.4586650275241</c:v>
                </c:pt>
              </c:numCache>
            </c:numRef>
          </c:yVal>
          <c:bubbleSize>
            <c:numRef>
              <c:numCache>
                <c:formatCode>General</c:formatCode>
                <c:ptCount val="1"/>
                <c:pt idx="0">
                  <c:v>282.18</c:v>
                </c:pt>
              </c:numCache>
            </c:numRef>
          </c:bubbleSize>
          <c:bubble3D val="0"/>
        </c:ser>
        <c:ser>
          <c:idx val="3"/>
          <c:order val="3"/>
          <c:tx>
            <c:strRef>
              <c:strCache>
                <c:ptCount val="1"/>
                <c:pt idx="0">
                  <c:v>Manual Removal Tools</c:v>
                </c:pt>
              </c:strCache>
            </c:strRef>
          </c:tx>
          <c:spPr>
            <a:solidFill>
              <a:srgbClr val="40315E"/>
            </a:solidFill>
          </c:spPr>
          <c:invertIfNegative val="0"/>
          <c:xVal>
            <c:numRef>
              <c:numCache>
                <c:formatCode>General</c:formatCode>
                <c:ptCount val="1"/>
                <c:pt idx="0">
                  <c:v>103.7350634148565</c:v>
                </c:pt>
              </c:numCache>
            </c:numRef>
          </c:xVal>
          <c:yVal>
            <c:numRef>
              <c:numCache>
                <c:formatCode>General</c:formatCode>
                <c:ptCount val="1"/>
                <c:pt idx="0">
                  <c:v>79.01375702104987</c:v>
                </c:pt>
              </c:numCache>
            </c:numRef>
          </c:yVal>
          <c:bubbleSize>
            <c:numRef>
              <c:numCache>
                <c:formatCode>General</c:formatCode>
                <c:ptCount val="1"/>
                <c:pt idx="0">
                  <c:v>125.18</c:v>
                </c:pt>
              </c:numCache>
            </c:numRef>
          </c:bubbleSize>
          <c:bubble3D val="0"/>
        </c:ser>
        <c:ser>
          <c:idx val="4"/>
          <c:order val="4"/>
          <c:tx>
            <c:strRef>
              <c:strCache>
                <c:ptCount val="1"/>
                <c:pt idx="0">
                  <c:v>Camera-Assisted Removal Devices</c:v>
                </c:pt>
              </c:strCache>
            </c:strRef>
          </c:tx>
          <c:spPr>
            <a:solidFill>
              <a:srgbClr val="A35313"/>
            </a:solidFill>
          </c:spPr>
          <c:invertIfNegative val="0"/>
          <c:xVal>
            <c:numRef>
              <c:numCache>
                <c:formatCode>General</c:formatCode>
                <c:ptCount val="1"/>
                <c:pt idx="0">
                  <c:v>100.71481759258292</c:v>
                </c:pt>
              </c:numCache>
            </c:numRef>
          </c:xVal>
          <c:yVal>
            <c:numRef>
              <c:numCache>
                <c:formatCode>General</c:formatCode>
                <c:ptCount val="1"/>
                <c:pt idx="0">
                  <c:v>59.235184884654444</c:v>
                </c:pt>
              </c:numCache>
            </c:numRef>
          </c:yVal>
          <c:bubbleSize>
            <c:numRef>
              <c:numCache>
                <c:formatCode>General</c:formatCode>
                <c:ptCount val="1"/>
                <c:pt idx="0">
                  <c:v>92.61</c:v>
                </c:pt>
              </c:numCache>
            </c:numRef>
          </c:bubbleSize>
          <c:bubble3D val="0"/>
        </c:ser>
        <c:ser>
          <c:idx val="5"/>
          <c:order val="5"/>
          <c:tx>
            <c:strRef>
              <c:strCache>
                <c:ptCount val="1"/>
                <c:pt idx="0">
                  <c:v>Suction Devices and Accessories</c:v>
                </c:pt>
              </c:strCache>
            </c:strRef>
          </c:tx>
          <c:spPr>
            <a:solidFill>
              <a:srgbClr val="808080"/>
            </a:solidFill>
          </c:spPr>
          <c:invertIfNegative val="0"/>
          <c:xVal>
            <c:numRef>
              <c:numCache>
                <c:formatCode>General</c:formatCode>
                <c:ptCount val="1"/>
                <c:pt idx="0">
                  <c:v>74.45613194002362</c:v>
                </c:pt>
              </c:numCache>
            </c:numRef>
          </c:xVal>
          <c:yVal>
            <c:numRef>
              <c:numCache>
                <c:formatCode>General</c:formatCode>
                <c:ptCount val="1"/>
                <c:pt idx="0">
                  <c:v>90.14561273246122</c:v>
                </c:pt>
              </c:numCache>
            </c:numRef>
          </c:yVal>
          <c:bubbleSize>
            <c:numRef>
              <c:numCache>
                <c:formatCode>General</c:formatCode>
                <c:ptCount val="1"/>
                <c:pt idx="0">
                  <c:v>125.50800000000001</c:v>
                </c:pt>
              </c:numCache>
            </c:numRef>
          </c:bubbleSize>
          <c:bubble3D val="0"/>
        </c:ser>
        <c:ser>
          <c:idx val="6"/>
          <c:order val="6"/>
          <c:tx>
            <c:strRef>
              <c:strCache>
                <c:ptCount val="1"/>
                <c:pt idx="0">
                  <c:v>Combination Removal Kits</c:v>
                </c:pt>
              </c:strCache>
            </c:strRef>
          </c:tx>
          <c:spPr>
            <a:solidFill>
              <a:srgbClr val="0E72AE"/>
            </a:solidFill>
          </c:spPr>
          <c:invertIfNegative val="0"/>
          <c:xVal>
            <c:numRef>
              <c:numCache>
                <c:formatCode>General</c:formatCode>
                <c:ptCount val="1"/>
                <c:pt idx="0">
                  <c:v>111.33134490045202</c:v>
                </c:pt>
              </c:numCache>
            </c:numRef>
          </c:xVal>
          <c:yVal>
            <c:numRef>
              <c:numCache>
                <c:formatCode>General</c:formatCode>
                <c:ptCount val="1"/>
                <c:pt idx="0">
                  <c:v>48.059095302449094</c:v>
                </c:pt>
              </c:numCache>
            </c:numRef>
          </c:yVal>
          <c:bubbleSize>
            <c:numRef>
              <c:numCache>
                <c:formatCode>General</c:formatCode>
                <c:ptCount val="1"/>
                <c:pt idx="0">
                  <c:v>78.713</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60.0"/>
          <c:min val="2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6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139.263</c:v>
                </c:pt>
                <c:pt idx="2">
                  <c:v>156.66400000000002</c:v>
                </c:pt>
                <c:pt idx="3">
                  <c:v>175.99</c:v>
                </c:pt>
                <c:pt idx="4">
                  <c:v>197.44299999999998</c:v>
                </c:pt>
                <c:pt idx="5">
                  <c:v>221.233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139.263</c:v>
                </c:pt>
                <c:pt idx="1">
                  <c:v>17.40100000000001</c:v>
                </c:pt>
                <c:pt idx="2">
                  <c:v>19.325999999999993</c:v>
                </c:pt>
                <c:pt idx="3">
                  <c:v>21.452999999999975</c:v>
                </c:pt>
                <c:pt idx="4">
                  <c:v>23.79000000000002</c:v>
                </c:pt>
                <c:pt idx="5">
                  <c:v>26.349999999999994</c:v>
                </c:pt>
                <c:pt idx="6">
                  <c:v>247.583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114.476</c:v>
                </c:pt>
                <c:pt idx="2">
                  <c:v>119.583</c:v>
                </c:pt>
                <c:pt idx="3">
                  <c:v>124.655</c:v>
                </c:pt>
                <c:pt idx="4">
                  <c:v>129.652</c:v>
                </c:pt>
                <c:pt idx="5">
                  <c:v>134.517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114.476</c:v>
                </c:pt>
                <c:pt idx="1">
                  <c:v>5.106999999999999</c:v>
                </c:pt>
                <c:pt idx="2">
                  <c:v>5.072000000000003</c:v>
                </c:pt>
                <c:pt idx="3">
                  <c:v>4.996999999999986</c:v>
                </c:pt>
                <c:pt idx="4">
                  <c:v>4.865000000000009</c:v>
                </c:pt>
                <c:pt idx="5">
                  <c:v>4.680000000000007</c:v>
                </c:pt>
                <c:pt idx="6">
                  <c:v>139.197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167.56799999999998</c:v>
                </c:pt>
                <c:pt idx="2">
                  <c:v>186.248</c:v>
                </c:pt>
                <c:pt idx="3">
                  <c:v>206.856</c:v>
                </c:pt>
                <c:pt idx="4">
                  <c:v>229.579</c:v>
                </c:pt>
                <c:pt idx="5">
                  <c:v>254.612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167.56799999999998</c:v>
                </c:pt>
                <c:pt idx="1">
                  <c:v>18.680000000000007</c:v>
                </c:pt>
                <c:pt idx="2">
                  <c:v>20.608000000000004</c:v>
                </c:pt>
                <c:pt idx="3">
                  <c:v>22.723000000000013</c:v>
                </c:pt>
                <c:pt idx="4">
                  <c:v>25.032999999999987</c:v>
                </c:pt>
                <c:pt idx="5">
                  <c:v>27.568000000000012</c:v>
                </c:pt>
                <c:pt idx="6">
                  <c:v>282.18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78.596</c:v>
                </c:pt>
                <c:pt idx="2">
                  <c:v>86.337</c:v>
                </c:pt>
                <c:pt idx="3">
                  <c:v>94.799</c:v>
                </c:pt>
                <c:pt idx="4">
                  <c:v>104.048</c:v>
                </c:pt>
                <c:pt idx="5">
                  <c:v>114.15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78.596</c:v>
                </c:pt>
                <c:pt idx="1">
                  <c:v>7.741</c:v>
                </c:pt>
                <c:pt idx="2">
                  <c:v>8.462000000000003</c:v>
                </c:pt>
                <c:pt idx="3">
                  <c:v>9.248999999999995</c:v>
                </c:pt>
                <c:pt idx="4">
                  <c:v>10.102000000000004</c:v>
                </c:pt>
                <c:pt idx="5">
                  <c:v>11.030000000000001</c:v>
                </c:pt>
                <c:pt idx="6">
                  <c:v>125.18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58.922000000000004</c:v>
                </c:pt>
                <c:pt idx="2">
                  <c:v>64.54400000000001</c:v>
                </c:pt>
                <c:pt idx="3">
                  <c:v>70.678</c:v>
                </c:pt>
                <c:pt idx="4">
                  <c:v>77.367</c:v>
                </c:pt>
                <c:pt idx="5">
                  <c:v>84.661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58.922000000000004</c:v>
                </c:pt>
                <c:pt idx="1">
                  <c:v>5.622000000000007</c:v>
                </c:pt>
                <c:pt idx="2">
                  <c:v>6.133999999999986</c:v>
                </c:pt>
                <c:pt idx="3">
                  <c:v>6.689000000000007</c:v>
                </c:pt>
                <c:pt idx="4">
                  <c:v>7.293999999999997</c:v>
                </c:pt>
                <c:pt idx="5">
                  <c:v>7.948999999999998</c:v>
                </c:pt>
                <c:pt idx="6">
                  <c:v>92.61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89.669</c:v>
                </c:pt>
                <c:pt idx="2">
                  <c:v>96.023</c:v>
                </c:pt>
                <c:pt idx="3">
                  <c:v>102.772</c:v>
                </c:pt>
                <c:pt idx="4">
                  <c:v>109.92</c:v>
                </c:pt>
                <c:pt idx="5">
                  <c:v>117.493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89.669</c:v>
                </c:pt>
                <c:pt idx="1">
                  <c:v>6.353999999999999</c:v>
                </c:pt>
                <c:pt idx="2">
                  <c:v>6.749000000000009</c:v>
                </c:pt>
                <c:pt idx="3">
                  <c:v>7.147999999999996</c:v>
                </c:pt>
                <c:pt idx="4">
                  <c:v>7.572999999999993</c:v>
                </c:pt>
                <c:pt idx="5">
                  <c:v>8.015000000000015</c:v>
                </c:pt>
                <c:pt idx="6">
                  <c:v>125.50800000000001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47.805</c:v>
                </c:pt>
                <c:pt idx="2">
                  <c:v>52.876000000000005</c:v>
                </c:pt>
                <c:pt idx="3">
                  <c:v>58.452</c:v>
                </c:pt>
                <c:pt idx="4">
                  <c:v>64.583</c:v>
                </c:pt>
                <c:pt idx="5">
                  <c:v>71.318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47.805</c:v>
                </c:pt>
                <c:pt idx="1">
                  <c:v>5.071000000000005</c:v>
                </c:pt>
                <c:pt idx="2">
                  <c:v>5.575999999999993</c:v>
                </c:pt>
                <c:pt idx="3">
                  <c:v>6.131</c:v>
                </c:pt>
                <c:pt idx="4">
                  <c:v>6.734999999999999</c:v>
                </c:pt>
                <c:pt idx="5">
                  <c:v>7.394999999999996</c:v>
                </c:pt>
                <c:pt idx="6">
                  <c:v>78.713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Irrigation Devices and Accessories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23.128894755063182</c:v>
                </c:pt>
                <c:pt idx="1">
                  <c:v>24.065523575360583</c:v>
                </c:pt>
                <c:pt idx="2">
                  <c:v>25.865032159424956</c:v>
                </c:pt>
              </c:numCache>
            </c:numRef>
          </c:val>
        </c:ser>
        <c:ser>
          <c:idx val="1"/>
          <c:order val="1"/>
          <c:tx>
            <c:strRef>
              <c:strCache>
                <c:ptCount val="1"/>
                <c:pt idx="0">
                  <c:v>Drops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18.591865731925452</c:v>
                </c:pt>
                <c:pt idx="1">
                  <c:v>20.000459572683578</c:v>
                </c:pt>
                <c:pt idx="2">
                  <c:v>22.693820459022284</c:v>
                </c:pt>
              </c:numCache>
            </c:numRef>
          </c:val>
        </c:ser>
        <c:ser>
          <c:idx val="2"/>
          <c:order val="2"/>
          <c:tx>
            <c:strRef>
              <c:strCache>
                <c:ptCount val="1"/>
                <c:pt idx="0">
                  <c:v>Sprays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18.361245744619467</c:v>
                </c:pt>
                <c:pt idx="1">
                  <c:v>16.4406382890109</c:v>
                </c:pt>
                <c:pt idx="2">
                  <c:v>12.75900092669741</c:v>
                </c:pt>
              </c:numCache>
            </c:numRef>
          </c:val>
        </c:ser>
        <c:ser>
          <c:idx val="3"/>
          <c:order val="3"/>
          <c:tx>
            <c:strRef>
              <c:strCache>
                <c:ptCount val="1"/>
                <c:pt idx="0">
                  <c:v>Suction Devices and Accessories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13.593596734175753</c:v>
                </c:pt>
                <c:pt idx="1">
                  <c:v>12.877944676065885</c:v>
                </c:pt>
                <c:pt idx="2">
                  <c:v>11.504247133975149</c:v>
                </c:pt>
              </c:numCache>
            </c:numRef>
          </c:val>
        </c:ser>
        <c:ser>
          <c:idx val="4"/>
          <c:order val="4"/>
          <c:tx>
            <c:strRef>
              <c:strCache>
                <c:ptCount val="1"/>
                <c:pt idx="0">
                  <c:v>Manual Removal Tools</c:v>
                </c:pt>
              </c:strCache>
            </c:strRef>
          </c:tx>
          <c:spPr>
            <a:solidFill>
              <a:srgbClr val="A35313"/>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11.189306733598753</c:v>
                </c:pt>
                <c:pt idx="1">
                  <c:v>11.287679574435696</c:v>
                </c:pt>
                <c:pt idx="2">
                  <c:v>11.474182173494988</c:v>
                </c:pt>
              </c:numCache>
            </c:numRef>
          </c:val>
        </c:ser>
        <c:ser>
          <c:idx val="5"/>
          <c:order val="5"/>
          <c:tx>
            <c:strRef>
              <c:strCache>
                <c:ptCount val="1"/>
                <c:pt idx="0">
                  <c:v>Camera-Assisted Removal Devices</c:v>
                </c:pt>
              </c:strCache>
            </c:strRef>
          </c:tx>
          <c:spPr>
            <a:solidFill>
              <a:srgbClr val="808080"/>
            </a:solidFill>
            <a:ln>
              <a:noFill/>
            </a:ln>
          </c:spPr>
          <c:dLbls>
            <c:dLbl>
              <c:idx val="0"/>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8.449454734291155</c:v>
                </c:pt>
                <c:pt idx="1">
                  <c:v>8.462169269236348</c:v>
                </c:pt>
                <c:pt idx="2">
                  <c:v>8.48876826240111</c:v>
                </c:pt>
              </c:numCache>
            </c:numRef>
          </c:val>
        </c:ser>
        <c:ser>
          <c:idx val="6"/>
          <c:order val="6"/>
          <c:tx>
            <c:strRef>
              <c:strCache>
                <c:ptCount val="1"/>
                <c:pt idx="0">
                  <c:v>Combination Removal Kits</c:v>
                </c:pt>
              </c:strCache>
            </c:strRef>
          </c:tx>
          <c:spPr>
            <a:solidFill>
              <a:srgbClr val="0E72AE"/>
            </a:solidFill>
            <a:ln>
              <a:noFill/>
            </a:ln>
          </c:spPr>
          <c:dLbls>
            <c:dLbl>
              <c:idx val="0"/>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6.685635566326237</c:v>
                </c:pt>
                <c:pt idx="1">
                  <c:v>6.865585043207013</c:v>
                </c:pt>
                <c:pt idx="2">
                  <c:v>7.21494888498411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Individual consumers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11.944397546288481</c:v>
                </c:pt>
                <c:pt idx="1">
                  <c:v>11.8375564682004</c:v>
                </c:pt>
              </c:numCache>
            </c:numRef>
          </c:val>
        </c:ser>
        <c:ser>
          <c:idx val="1"/>
          <c:order val="1"/>
          <c:tx>
            <c:strRef>
              <c:strCache>
                <c:ptCount val="1"/>
                <c:pt idx="0">
                  <c:v>Healthcare professionals</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12.979627441049018</c:v>
                </c:pt>
                <c:pt idx="1">
                  <c:v>13.084988804920128</c:v>
                </c:pt>
              </c:numCache>
            </c:numRef>
          </c:val>
        </c:ser>
        <c:ser>
          <c:idx val="2"/>
          <c:order val="2"/>
          <c:tx>
            <c:strRef>
              <c:strCache>
                <c:ptCount val="1"/>
                <c:pt idx="0">
                  <c:v>ENT specialists</c:v>
                </c:pt>
              </c:strCache>
            </c:strRef>
          </c:tx>
          <c:spPr>
            <a:solidFill>
              <a:srgbClr val="008189"/>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13.00523383420564</c:v>
                </c:pt>
                <c:pt idx="1">
                  <c:v>12.554938817902887</c:v>
                </c:pt>
              </c:numCache>
            </c:numRef>
          </c:val>
        </c:ser>
        <c:ser>
          <c:idx val="3"/>
          <c:order val="3"/>
          <c:tx>
            <c:strRef>
              <c:strCache>
                <c:ptCount val="1"/>
                <c:pt idx="0">
                  <c:v>General practitioners</c:v>
                </c:pt>
              </c:strCache>
            </c:strRef>
          </c:tx>
          <c:spPr>
            <a:solidFill>
              <a:srgbClr val="40315E"/>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11.707468062355789</c:v>
                </c:pt>
                <c:pt idx="1">
                  <c:v>12.348166304372947</c:v>
                </c:pt>
              </c:numCache>
            </c:numRef>
          </c:val>
        </c:ser>
        <c:ser>
          <c:idx val="4"/>
          <c:order val="4"/>
          <c:tx>
            <c:strRef>
              <c:strCache>
                <c:ptCount val="1"/>
                <c:pt idx="0">
                  <c:v>Audiologists</c:v>
                </c:pt>
              </c:strCache>
            </c:strRef>
          </c:tx>
          <c:spPr>
            <a:solidFill>
              <a:srgbClr val="A35313"/>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16.346727446676798</c:v>
                </c:pt>
                <c:pt idx="1">
                  <c:v>16.036764995765314</c:v>
                </c:pt>
              </c:numCache>
            </c:numRef>
          </c:val>
        </c:ser>
        <c:ser>
          <c:idx val="5"/>
          <c:order val="5"/>
          <c:tx>
            <c:strRef>
              <c:strCache>
                <c:ptCount val="1"/>
                <c:pt idx="0">
                  <c:v>Hospitals and Clinics</c:v>
                </c:pt>
              </c:strCache>
            </c:strRef>
          </c:tx>
          <c:spPr>
            <a:solidFill>
              <a:srgbClr val="808080"/>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9.891102481850416</c:v>
                </c:pt>
                <c:pt idx="1">
                  <c:v>8.673298069171592</c:v>
                </c:pt>
              </c:numCache>
            </c:numRef>
          </c:val>
        </c:ser>
        <c:ser>
          <c:idx val="6"/>
          <c:order val="6"/>
          <c:tx>
            <c:strRef>
              <c:strCache>
                <c:ptCount val="1"/>
                <c:pt idx="0">
                  <c:v>Nursing Homes</c:v>
                </c:pt>
              </c:strCache>
            </c:strRef>
          </c:tx>
          <c:spPr>
            <a:solidFill>
              <a:srgbClr val="0E72AE"/>
            </a:solidFill>
            <a:ln>
              <a:noFill/>
            </a:ln>
          </c:spPr>
          <c:dLbls>
            <c:dLbl>
              <c:idx val="0"/>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7.258427598626822</c:v>
                </c:pt>
                <c:pt idx="1">
                  <c:v>7.100685027413332</c:v>
                </c:pt>
              </c:numCache>
            </c:numRef>
          </c:val>
        </c:ser>
        <c:ser>
          <c:idx val="7"/>
          <c:order val="7"/>
          <c:tx>
            <c:strRef>
              <c:strCache>
                <c:ptCount val="1"/>
                <c:pt idx="0">
                  <c:v>Assisted Living Facilities</c:v>
                </c:pt>
              </c:strCache>
            </c:strRef>
          </c:tx>
          <c:spPr>
            <a:solidFill>
              <a:srgbClr val="A86F00"/>
            </a:solidFill>
            <a:ln>
              <a:noFill/>
            </a:ln>
          </c:spPr>
          <c:dLbls>
            <c:dLbl>
              <c:idx val="0"/>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2.0316281163824637</c:v>
                </c:pt>
                <c:pt idx="1">
                  <c:v>2.226644969826983</c:v>
                </c:pt>
              </c:numCache>
            </c:numRef>
          </c:val>
        </c:ser>
        <c:ser>
          <c:idx val="8"/>
          <c:order val="8"/>
          <c:tx>
            <c:strRef>
              <c:strCache>
                <c:ptCount val="1"/>
                <c:pt idx="0">
                  <c:v>Others</c:v>
                </c:pt>
              </c:strCache>
            </c:strRef>
          </c:tx>
          <c:spPr>
            <a:solidFill>
              <a:srgbClr val="0B2E4A"/>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14.835387472564578</c:v>
                </c:pt>
                <c:pt idx="1">
                  <c:v>16.136956542426432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Individual consumers</c:v>
                </c:pt>
              </c:strCache>
            </c:strRef>
          </c:tx>
          <c:spPr>
            <a:solidFill>
              <a:srgbClr val="3D85C6"/>
            </a:solidFill>
          </c:spPr>
          <c:invertIfNegative val="0"/>
          <c:xVal>
            <c:numRef>
              <c:numCache>
                <c:formatCode>General</c:formatCode>
                <c:ptCount val="1"/>
                <c:pt idx="0">
                  <c:v>128.60250180518173</c:v>
                </c:pt>
              </c:numCache>
            </c:numRef>
          </c:xVal>
          <c:yVal>
            <c:numRef>
              <c:numCache>
                <c:formatCode>General</c:formatCode>
                <c:ptCount val="1"/>
                <c:pt idx="0">
                  <c:v>94.31336250662432</c:v>
                </c:pt>
              </c:numCache>
            </c:numRef>
          </c:yVal>
          <c:bubbleSize>
            <c:numRef>
              <c:numCache>
                <c:formatCode>General</c:formatCode>
                <c:ptCount val="1"/>
                <c:pt idx="0">
                  <c:v>129.524</c:v>
                </c:pt>
              </c:numCache>
            </c:numRef>
          </c:bubbleSize>
          <c:bubble3D val="0"/>
        </c:ser>
        <c:ser>
          <c:idx val="1"/>
          <c:order val="1"/>
          <c:tx>
            <c:strRef>
              <c:strCache>
                <c:ptCount val="1"/>
                <c:pt idx="0">
                  <c:v>Healthcare professionals</c:v>
                </c:pt>
              </c:strCache>
            </c:strRef>
          </c:tx>
          <c:spPr>
            <a:solidFill>
              <a:srgbClr val="9E7E0A"/>
            </a:solidFill>
          </c:spPr>
          <c:invertIfNegative val="0"/>
          <c:xVal>
            <c:numRef>
              <c:numCache>
                <c:formatCode>General</c:formatCode>
                <c:ptCount val="1"/>
                <c:pt idx="0">
                  <c:v>138.39456943744617</c:v>
                </c:pt>
              </c:numCache>
            </c:numRef>
          </c:xVal>
          <c:yVal>
            <c:numRef>
              <c:numCache>
                <c:formatCode>General</c:formatCode>
                <c:ptCount val="1"/>
                <c:pt idx="0">
                  <c:v>99.37239605399407</c:v>
                </c:pt>
              </c:numCache>
            </c:numRef>
          </c:yVal>
          <c:bubbleSize>
            <c:numRef>
              <c:numCache>
                <c:formatCode>General</c:formatCode>
                <c:ptCount val="1"/>
                <c:pt idx="0">
                  <c:v>142.379</c:v>
                </c:pt>
              </c:numCache>
            </c:numRef>
          </c:bubbleSize>
          <c:bubble3D val="0"/>
        </c:ser>
        <c:ser>
          <c:idx val="2"/>
          <c:order val="2"/>
          <c:tx>
            <c:strRef>
              <c:strCache>
                <c:ptCount val="1"/>
                <c:pt idx="0">
                  <c:v>ENT specialists</c:v>
                </c:pt>
              </c:strCache>
            </c:strRef>
          </c:tx>
          <c:spPr>
            <a:solidFill>
              <a:srgbClr val="008189"/>
            </a:solidFill>
          </c:spPr>
          <c:invertIfNegative val="0"/>
          <c:xVal>
            <c:numRef>
              <c:numCache>
                <c:formatCode>General</c:formatCode>
                <c:ptCount val="1"/>
                <c:pt idx="0">
                  <c:v>45.21103148540585</c:v>
                </c:pt>
              </c:numCache>
            </c:numRef>
          </c:xVal>
          <c:yVal>
            <c:numRef>
              <c:numCache>
                <c:formatCode>General</c:formatCode>
                <c:ptCount val="1"/>
                <c:pt idx="0">
                  <c:v>145.8356252127319</c:v>
                </c:pt>
              </c:numCache>
            </c:numRef>
          </c:yVal>
          <c:bubbleSize>
            <c:numRef>
              <c:numCache>
                <c:formatCode>General</c:formatCode>
                <c:ptCount val="1"/>
                <c:pt idx="0">
                  <c:v>138.571</c:v>
                </c:pt>
              </c:numCache>
            </c:numRef>
          </c:bubbleSize>
          <c:bubble3D val="0"/>
        </c:ser>
        <c:ser>
          <c:idx val="3"/>
          <c:order val="3"/>
          <c:tx>
            <c:strRef>
              <c:strCache>
                <c:ptCount val="1"/>
                <c:pt idx="0">
                  <c:v>General practitioners</c:v>
                </c:pt>
              </c:strCache>
            </c:strRef>
          </c:tx>
          <c:spPr>
            <a:solidFill>
              <a:srgbClr val="40315E"/>
            </a:solidFill>
          </c:spPr>
          <c:invertIfNegative val="0"/>
          <c:xVal>
            <c:numRef>
              <c:numCache>
                <c:formatCode>General</c:formatCode>
                <c:ptCount val="1"/>
                <c:pt idx="0">
                  <c:v>66.84637955498415</c:v>
                </c:pt>
              </c:numCache>
            </c:numRef>
          </c:xVal>
          <c:yVal>
            <c:numRef>
              <c:numCache>
                <c:formatCode>General</c:formatCode>
                <c:ptCount val="1"/>
                <c:pt idx="0">
                  <c:v>126.51203003307488</c:v>
                </c:pt>
              </c:numCache>
            </c:numRef>
          </c:yVal>
          <c:bubbleSize>
            <c:numRef>
              <c:numCache>
                <c:formatCode>General</c:formatCode>
                <c:ptCount val="1"/>
                <c:pt idx="0">
                  <c:v>132.438</c:v>
                </c:pt>
              </c:numCache>
            </c:numRef>
          </c:bubbleSize>
          <c:bubble3D val="0"/>
        </c:ser>
        <c:ser>
          <c:idx val="4"/>
          <c:order val="4"/>
          <c:tx>
            <c:strRef>
              <c:strCache>
                <c:ptCount val="1"/>
                <c:pt idx="0">
                  <c:v>Audiologists</c:v>
                </c:pt>
              </c:strCache>
            </c:strRef>
          </c:tx>
          <c:spPr>
            <a:solidFill>
              <a:srgbClr val="A35313"/>
            </a:solidFill>
          </c:spPr>
          <c:invertIfNegative val="0"/>
          <c:xVal>
            <c:numRef>
              <c:numCache>
                <c:formatCode>General</c:formatCode>
                <c:ptCount val="1"/>
                <c:pt idx="0">
                  <c:v>68.88877995013205</c:v>
                </c:pt>
              </c:numCache>
            </c:numRef>
          </c:xVal>
          <c:yVal>
            <c:numRef>
              <c:numCache>
                <c:formatCode>General</c:formatCode>
                <c:ptCount val="1"/>
                <c:pt idx="0">
                  <c:v>166.65728372437704</c:v>
                </c:pt>
              </c:numCache>
            </c:numRef>
          </c:yVal>
          <c:bubbleSize>
            <c:numRef>
              <c:numCache>
                <c:formatCode>General</c:formatCode>
                <c:ptCount val="1"/>
                <c:pt idx="0">
                  <c:v>176.058</c:v>
                </c:pt>
              </c:numCache>
            </c:numRef>
          </c:bubbleSize>
          <c:bubble3D val="0"/>
        </c:ser>
        <c:ser>
          <c:idx val="5"/>
          <c:order val="5"/>
          <c:tx>
            <c:strRef>
              <c:strCache>
                <c:ptCount val="1"/>
                <c:pt idx="0">
                  <c:v>Hospitals and Clinics</c:v>
                </c:pt>
              </c:strCache>
            </c:strRef>
          </c:tx>
          <c:spPr>
            <a:solidFill>
              <a:srgbClr val="808080"/>
            </a:solidFill>
          </c:spPr>
          <c:invertIfNegative val="0"/>
          <c:xVal>
            <c:numRef>
              <c:numCache>
                <c:formatCode>General</c:formatCode>
                <c:ptCount val="1"/>
                <c:pt idx="0">
                  <c:v>156.81499363659782</c:v>
                </c:pt>
              </c:numCache>
            </c:numRef>
          </c:xVal>
          <c:yVal>
            <c:numRef>
              <c:numCache>
                <c:formatCode>General</c:formatCode>
                <c:ptCount val="1"/>
                <c:pt idx="0">
                  <c:v>63.80147034535452</c:v>
                </c:pt>
              </c:numCache>
            </c:numRef>
          </c:yVal>
          <c:bubbleSize>
            <c:numRef>
              <c:numCache>
                <c:formatCode>General</c:formatCode>
                <c:ptCount val="1"/>
                <c:pt idx="0">
                  <c:v>98.951</c:v>
                </c:pt>
              </c:numCache>
            </c:numRef>
          </c:bubbleSize>
          <c:bubble3D val="0"/>
        </c:ser>
        <c:ser>
          <c:idx val="6"/>
          <c:order val="6"/>
          <c:tx>
            <c:strRef>
              <c:strCache>
                <c:ptCount val="1"/>
                <c:pt idx="0">
                  <c:v>Nursing Homes</c:v>
                </c:pt>
              </c:strCache>
            </c:strRef>
          </c:tx>
          <c:spPr>
            <a:solidFill>
              <a:srgbClr val="0E72AE"/>
            </a:solidFill>
          </c:spPr>
          <c:invertIfNegative val="0"/>
          <c:xVal>
            <c:numRef>
              <c:numCache>
                <c:formatCode>General</c:formatCode>
                <c:ptCount val="1"/>
                <c:pt idx="0">
                  <c:v>147.1914187963672</c:v>
                </c:pt>
              </c:numCache>
            </c:numRef>
          </c:xVal>
          <c:yVal>
            <c:numRef>
              <c:numCache>
                <c:formatCode>General</c:formatCode>
                <c:ptCount val="1"/>
                <c:pt idx="0">
                  <c:v>52.4322166195844</c:v>
                </c:pt>
              </c:numCache>
            </c:numRef>
          </c:yVal>
          <c:bubbleSize>
            <c:numRef>
              <c:numCache>
                <c:formatCode>General</c:formatCode>
                <c:ptCount val="1"/>
                <c:pt idx="0">
                  <c:v>78.027</c:v>
                </c:pt>
              </c:numCache>
            </c:numRef>
          </c:bubbleSize>
          <c:bubble3D val="0"/>
        </c:ser>
        <c:ser>
          <c:idx val="7"/>
          <c:order val="7"/>
          <c:tx>
            <c:strRef>
              <c:strCache>
                <c:ptCount val="1"/>
                <c:pt idx="0">
                  <c:v>Assisted Living Facilities</c:v>
                </c:pt>
              </c:strCache>
            </c:strRef>
          </c:tx>
          <c:spPr>
            <a:solidFill>
              <a:srgbClr val="A86F00"/>
            </a:solidFill>
          </c:spPr>
          <c:invertIfNegative val="0"/>
          <c:xVal>
            <c:numRef>
              <c:numCache>
                <c:formatCode>General</c:formatCode>
                <c:ptCount val="1"/>
                <c:pt idx="0">
                  <c:v>56.98530750732878</c:v>
                </c:pt>
              </c:numCache>
            </c:numRef>
          </c:xVal>
          <c:yVal>
            <c:numRef>
              <c:numCache>
                <c:formatCode>General</c:formatCode>
                <c:ptCount val="1"/>
                <c:pt idx="0">
                  <c:v>23.55798299293838</c:v>
                </c:pt>
              </c:numCache>
            </c:numRef>
          </c:yVal>
          <c:bubbleSize>
            <c:numRef>
              <c:numCache>
                <c:formatCode>General</c:formatCode>
                <c:ptCount val="1"/>
                <c:pt idx="0">
                  <c:v>23.599</c:v>
                </c:pt>
              </c:numCache>
            </c:numRef>
          </c:bubbleSize>
          <c:bubble3D val="0"/>
        </c:ser>
        <c:ser>
          <c:idx val="8"/>
          <c:order val="8"/>
          <c:tx>
            <c:strRef>
              <c:strCache>
                <c:ptCount val="1"/>
                <c:pt idx="0">
                  <c:v>Others</c:v>
                </c:pt>
              </c:strCache>
            </c:strRef>
          </c:tx>
          <c:spPr>
            <a:solidFill>
              <a:srgbClr val="0B2E4A"/>
            </a:solidFill>
          </c:spPr>
          <c:invertIfNegative val="0"/>
          <c:xVal>
            <c:numRef>
              <c:numCache>
                <c:formatCode>General</c:formatCode>
                <c:ptCount val="1"/>
                <c:pt idx="0">
                  <c:v>123.68276860873468</c:v>
                </c:pt>
              </c:numCache>
            </c:numRef>
          </c:xVal>
          <c:yVal>
            <c:numRef>
              <c:numCache>
                <c:formatCode>General</c:formatCode>
                <c:ptCount val="1"/>
                <c:pt idx="0">
                  <c:v>127.51763251132058</c:v>
                </c:pt>
              </c:numCache>
            </c:numRef>
          </c:yVal>
          <c:bubbleSize>
            <c:numRef>
              <c:numCache>
                <c:formatCode>General</c:formatCode>
                <c:ptCount val="1"/>
                <c:pt idx="0">
                  <c:v>171.424</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90.0"/>
          <c:min val="1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7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72.967</c:v>
                </c:pt>
                <c:pt idx="2">
                  <c:v>81.933</c:v>
                </c:pt>
                <c:pt idx="3">
                  <c:v>91.948</c:v>
                </c:pt>
                <c:pt idx="4">
                  <c:v>103.13</c:v>
                </c:pt>
                <c:pt idx="5">
                  <c:v>115.607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72.967</c:v>
                </c:pt>
                <c:pt idx="1">
                  <c:v>8.966000000000008</c:v>
                </c:pt>
                <c:pt idx="2">
                  <c:v>10.014999999999986</c:v>
                </c:pt>
                <c:pt idx="3">
                  <c:v>11.182000000000002</c:v>
                </c:pt>
                <c:pt idx="4">
                  <c:v>12.477000000000004</c:v>
                </c:pt>
                <c:pt idx="5">
                  <c:v>13.917000000000002</c:v>
                </c:pt>
                <c:pt idx="6">
                  <c:v>129.524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76.881</c:v>
                </c:pt>
                <c:pt idx="2">
                  <c:v>87.126</c:v>
                </c:pt>
                <c:pt idx="3">
                  <c:v>98.641</c:v>
                </c:pt>
                <c:pt idx="4">
                  <c:v>111.576</c:v>
                </c:pt>
                <c:pt idx="5">
                  <c:v>126.095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76.881</c:v>
                </c:pt>
                <c:pt idx="1">
                  <c:v>10.245000000000005</c:v>
                </c:pt>
                <c:pt idx="2">
                  <c:v>11.515</c:v>
                </c:pt>
                <c:pt idx="3">
                  <c:v>12.934999999999988</c:v>
                </c:pt>
                <c:pt idx="4">
                  <c:v>14.519000000000005</c:v>
                </c:pt>
                <c:pt idx="5">
                  <c:v>16.283999999999992</c:v>
                </c:pt>
                <c:pt idx="6">
                  <c:v>142.379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112.828</c:v>
                </c:pt>
                <c:pt idx="2">
                  <c:v>118.363</c:v>
                </c:pt>
                <c:pt idx="3">
                  <c:v>123.791</c:v>
                </c:pt>
                <c:pt idx="4">
                  <c:v>129.034</c:v>
                </c:pt>
                <c:pt idx="5">
                  <c:v>133.997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112.828</c:v>
                </c:pt>
                <c:pt idx="1">
                  <c:v>5.534999999999997</c:v>
                </c:pt>
                <c:pt idx="2">
                  <c:v>5.427999999999997</c:v>
                </c:pt>
                <c:pt idx="3">
                  <c:v>5.242999999999995</c:v>
                </c:pt>
                <c:pt idx="4">
                  <c:v>4.963000000000022</c:v>
                </c:pt>
                <c:pt idx="5">
                  <c:v>4.573999999999984</c:v>
                </c:pt>
                <c:pt idx="6">
                  <c:v>138.571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97.878</c:v>
                </c:pt>
                <c:pt idx="2">
                  <c:v>104.326</c:v>
                </c:pt>
                <c:pt idx="3">
                  <c:v>111.025</c:v>
                </c:pt>
                <c:pt idx="4">
                  <c:v>117.96</c:v>
                </c:pt>
                <c:pt idx="5">
                  <c:v>125.108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97.878</c:v>
                </c:pt>
                <c:pt idx="1">
                  <c:v>6.447999999999993</c:v>
                </c:pt>
                <c:pt idx="2">
                  <c:v>6.699000000000012</c:v>
                </c:pt>
                <c:pt idx="3">
                  <c:v>6.934999999999988</c:v>
                </c:pt>
                <c:pt idx="4">
                  <c:v>7.14800000000001</c:v>
                </c:pt>
                <c:pt idx="5">
                  <c:v>7.329999999999984</c:v>
                </c:pt>
                <c:pt idx="6">
                  <c:v>132.438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128.937</c:v>
                </c:pt>
                <c:pt idx="2">
                  <c:v>137.651</c:v>
                </c:pt>
                <c:pt idx="3">
                  <c:v>146.739</c:v>
                </c:pt>
                <c:pt idx="4">
                  <c:v>156.187</c:v>
                </c:pt>
                <c:pt idx="5">
                  <c:v>165.97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128.937</c:v>
                </c:pt>
                <c:pt idx="1">
                  <c:v>8.713999999999999</c:v>
                </c:pt>
                <c:pt idx="2">
                  <c:v>9.087999999999994</c:v>
                </c:pt>
                <c:pt idx="3">
                  <c:v>9.448000000000008</c:v>
                </c:pt>
                <c:pt idx="4">
                  <c:v>9.782999999999987</c:v>
                </c:pt>
                <c:pt idx="5">
                  <c:v>10.087999999999994</c:v>
                </c:pt>
                <c:pt idx="6">
                  <c:v>176.058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49.361</c:v>
                </c:pt>
                <c:pt idx="2">
                  <c:v>56.952</c:v>
                </c:pt>
                <c:pt idx="3">
                  <c:v>65.572</c:v>
                </c:pt>
                <c:pt idx="4">
                  <c:v>75.347</c:v>
                </c:pt>
                <c:pt idx="5">
                  <c:v>86.421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49.361</c:v>
                </c:pt>
                <c:pt idx="1">
                  <c:v>7.591000000000001</c:v>
                </c:pt>
                <c:pt idx="2">
                  <c:v>8.620000000000005</c:v>
                </c:pt>
                <c:pt idx="3">
                  <c:v>9.774999999999991</c:v>
                </c:pt>
                <c:pt idx="4">
                  <c:v>11.074000000000012</c:v>
                </c:pt>
                <c:pt idx="5">
                  <c:v>12.529999999999987</c:v>
                </c:pt>
                <c:pt idx="6">
                  <c:v>98.951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40.565</c:v>
                </c:pt>
                <c:pt idx="2">
                  <c:v>46.361</c:v>
                </c:pt>
                <c:pt idx="3">
                  <c:v>52.91</c:v>
                </c:pt>
                <c:pt idx="4">
                  <c:v>60.302</c:v>
                </c:pt>
                <c:pt idx="5">
                  <c:v>68.636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40.565</c:v>
                </c:pt>
                <c:pt idx="1">
                  <c:v>5.795999999999999</c:v>
                </c:pt>
                <c:pt idx="2">
                  <c:v>6.5489999999999995</c:v>
                </c:pt>
                <c:pt idx="3">
                  <c:v>7.392000000000003</c:v>
                </c:pt>
                <c:pt idx="4">
                  <c:v>8.333999999999996</c:v>
                </c:pt>
                <c:pt idx="5">
                  <c:v>9.391000000000005</c:v>
                </c:pt>
                <c:pt idx="6">
                  <c:v>78.027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18.226</c:v>
                </c:pt>
                <c:pt idx="2">
                  <c:v>19.283</c:v>
                </c:pt>
                <c:pt idx="3">
                  <c:v>20.357</c:v>
                </c:pt>
                <c:pt idx="4">
                  <c:v>21.441</c:v>
                </c:pt>
                <c:pt idx="5">
                  <c:v>22.525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18.226</c:v>
                </c:pt>
                <c:pt idx="1">
                  <c:v>1.0570000000000022</c:v>
                </c:pt>
                <c:pt idx="2">
                  <c:v>1.073999999999998</c:v>
                </c:pt>
                <c:pt idx="3">
                  <c:v>1.0839999999999996</c:v>
                </c:pt>
                <c:pt idx="4">
                  <c:v>1.0839999999999996</c:v>
                </c:pt>
                <c:pt idx="5">
                  <c:v>1.0740000000000016</c:v>
                </c:pt>
                <c:pt idx="6">
                  <c:v>23.599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98.656</c:v>
                </c:pt>
                <c:pt idx="2">
                  <c:v>110.28</c:v>
                </c:pt>
                <c:pt idx="3">
                  <c:v>123.219</c:v>
                </c:pt>
                <c:pt idx="4">
                  <c:v>137.615</c:v>
                </c:pt>
                <c:pt idx="5">
                  <c:v>153.625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98.656</c:v>
                </c:pt>
                <c:pt idx="1">
                  <c:v>11.623999999999995</c:v>
                </c:pt>
                <c:pt idx="2">
                  <c:v>12.938999999999993</c:v>
                </c:pt>
                <c:pt idx="3">
                  <c:v>14.396000000000015</c:v>
                </c:pt>
                <c:pt idx="4">
                  <c:v>16.00999999999999</c:v>
                </c:pt>
                <c:pt idx="5">
                  <c:v>17.799000000000007</c:v>
                </c:pt>
                <c:pt idx="6">
                  <c:v>171.424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Audiologists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19.632811147654493</c:v>
                </c:pt>
                <c:pt idx="1">
                  <c:v>18.517475969375226</c:v>
                </c:pt>
                <c:pt idx="2">
                  <c:v>16.13773418358508</c:v>
                </c:pt>
              </c:numCache>
            </c:numRef>
          </c:val>
        </c:ser>
        <c:ser>
          <c:idx val="1"/>
          <c:order val="1"/>
          <c:tx>
            <c:strRef>
              <c:strCache>
                <c:ptCount val="1"/>
                <c:pt idx="0">
                  <c:v>Others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13.443035600946281</c:v>
                </c:pt>
                <c:pt idx="1">
                  <c:v>14.168625834591175</c:v>
                </c:pt>
                <c:pt idx="2">
                  <c:v>15.712974955337952</c:v>
                </c:pt>
              </c:numCache>
            </c:numRef>
          </c:val>
        </c:ser>
        <c:ser>
          <c:idx val="2"/>
          <c:order val="2"/>
          <c:tx>
            <c:strRef>
              <c:strCache>
                <c:ptCount val="1"/>
                <c:pt idx="0">
                  <c:v>Healthcare professionals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10.098595003173505</c:v>
                </c:pt>
                <c:pt idx="1">
                  <c:v>11.041377339332673</c:v>
                </c:pt>
                <c:pt idx="2">
                  <c:v>13.050667707940908</c:v>
                </c:pt>
              </c:numCache>
            </c:numRef>
          </c:val>
        </c:ser>
        <c:ser>
          <c:idx val="3"/>
          <c:order val="3"/>
          <c:tx>
            <c:strRef>
              <c:strCache>
                <c:ptCount val="1"/>
                <c:pt idx="0">
                  <c:v>ENT specialists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17.845010386013502</c:v>
                </c:pt>
                <c:pt idx="1">
                  <c:v>16.20395835697021</c:v>
                </c:pt>
                <c:pt idx="2">
                  <c:v>12.701620849683447</c:v>
                </c:pt>
              </c:numCache>
            </c:numRef>
          </c:val>
        </c:ser>
        <c:ser>
          <c:idx val="4"/>
          <c:order val="4"/>
          <c:tx>
            <c:strRef>
              <c:strCache>
                <c:ptCount val="1"/>
                <c:pt idx="0">
                  <c:v>General practitioners</c:v>
                </c:pt>
              </c:strCache>
            </c:strRef>
          </c:tx>
          <c:spPr>
            <a:solidFill>
              <a:srgbClr val="A35313"/>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14.957482257226937</c:v>
                </c:pt>
                <c:pt idx="1">
                  <c:v>14.056892225897208</c:v>
                </c:pt>
                <c:pt idx="2">
                  <c:v>12.139461085583392</c:v>
                </c:pt>
              </c:numCache>
            </c:numRef>
          </c:val>
        </c:ser>
        <c:ser>
          <c:idx val="5"/>
          <c:order val="5"/>
          <c:tx>
            <c:strRef>
              <c:strCache>
                <c:ptCount val="1"/>
                <c:pt idx="0">
                  <c:v>Individual consumers</c:v>
                </c:pt>
              </c:strCache>
            </c:strRef>
          </c:tx>
          <c:spPr>
            <a:solidFill>
              <a:srgbClr val="808080"/>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9.825781836016388</c:v>
                </c:pt>
                <c:pt idx="1">
                  <c:v>10.479262500736034</c:v>
                </c:pt>
                <c:pt idx="2">
                  <c:v>11.872359576927343</c:v>
                </c:pt>
              </c:numCache>
            </c:numRef>
          </c:val>
        </c:ser>
        <c:ser>
          <c:idx val="6"/>
          <c:order val="6"/>
          <c:tx>
            <c:strRef>
              <c:strCache>
                <c:ptCount val="1"/>
                <c:pt idx="0">
                  <c:v>Hospitals and Clinics</c:v>
                </c:pt>
              </c:strCache>
            </c:strRef>
          </c:tx>
          <c:spPr>
            <a:solidFill>
              <a:srgbClr val="0E72AE"/>
            </a:solidFill>
            <a:ln>
              <a:noFill/>
            </a:ln>
          </c:spPr>
          <c:dLbls>
            <c:dLbl>
              <c:idx val="0"/>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6.162187698344008</c:v>
                </c:pt>
                <c:pt idx="1">
                  <c:v>7.089052260594945</c:v>
                </c:pt>
                <c:pt idx="2">
                  <c:v>9.069993611195898</c:v>
                </c:pt>
              </c:numCache>
            </c:numRef>
          </c:val>
        </c:ser>
        <c:ser>
          <c:idx val="7"/>
          <c:order val="7"/>
          <c:tx>
            <c:strRef>
              <c:strCache>
                <c:ptCount val="1"/>
                <c:pt idx="0">
                  <c:v>Nursing Homes</c:v>
                </c:pt>
              </c:strCache>
            </c:strRef>
          </c:tx>
          <c:spPr>
            <a:solidFill>
              <a:srgbClr val="A86F00"/>
            </a:solidFill>
            <a:ln>
              <a:noFill/>
            </a:ln>
          </c:spPr>
          <c:dLbls>
            <c:dLbl>
              <c:idx val="0"/>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5.20382551497317</c:v>
                </c:pt>
                <c:pt idx="1">
                  <c:v>5.825801846620489</c:v>
                </c:pt>
                <c:pt idx="2">
                  <c:v>7.152069120077435</c:v>
                </c:pt>
              </c:numCache>
            </c:numRef>
          </c:val>
        </c:ser>
        <c:ser>
          <c:idx val="8"/>
          <c:order val="8"/>
          <c:tx>
            <c:strRef>
              <c:strCache>
                <c:ptCount val="1"/>
                <c:pt idx="0">
                  <c:v>Assisted Living Facilities</c:v>
                </c:pt>
              </c:strCache>
            </c:strRef>
          </c:tx>
          <c:spPr>
            <a:solidFill>
              <a:srgbClr val="0B2E4A"/>
            </a:solidFill>
            <a:ln>
              <a:noFill/>
            </a:ln>
          </c:spPr>
          <c:dLbls>
            <c:dLbl>
              <c:idx val="0"/>
              <c:numFmt formatCode="&quot;MMM&quot;;&quot;MMM&quot;;&quot;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2.8312705556517224</c:v>
                </c:pt>
                <c:pt idx="1">
                  <c:v>2.617553665882042</c:v>
                </c:pt>
                <c:pt idx="2">
                  <c:v>2.163118909668543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Retail Pharmacies and Drug Stores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17.684731836344195</c:v>
                </c:pt>
                <c:pt idx="1">
                  <c:v>22.475941114015804</c:v>
                </c:pt>
              </c:numCache>
            </c:numRef>
          </c:val>
        </c:ser>
        <c:ser>
          <c:idx val="1"/>
          <c:order val="1"/>
          <c:tx>
            <c:strRef>
              <c:strCache>
                <c:ptCount val="1"/>
                <c:pt idx="0">
                  <c:v>Supermarkets and Mass Retailers</c:v>
                </c:pt>
              </c:strCache>
            </c:strRef>
          </c:tx>
          <c:spPr>
            <a:solidFill>
              <a:srgbClr val="9E7E0A"/>
            </a:solidFill>
            <a:ln>
              <a:noFill/>
            </a:ln>
          </c:spPr>
          <c:dLbls>
            <c:dLbl>
              <c:idx val="0"/>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8.584332264055378</c:v>
                </c:pt>
                <c:pt idx="1">
                  <c:v>11.030314400257753</c:v>
                </c:pt>
              </c:numCache>
            </c:numRef>
          </c:val>
        </c:ser>
        <c:ser>
          <c:idx val="2"/>
          <c:order val="2"/>
          <c:tx>
            <c:strRef>
              <c:strCache>
                <c:ptCount val="1"/>
                <c:pt idx="0">
                  <c:v>Online Channels</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29.219427092126736</c:v>
                </c:pt>
                <c:pt idx="1">
                  <c:v>23.680278850611277</c:v>
                </c:pt>
              </c:numCache>
            </c:numRef>
          </c:val>
        </c:ser>
        <c:ser>
          <c:idx val="3"/>
          <c:order val="3"/>
          <c:tx>
            <c:strRef>
              <c:strCache>
                <c:ptCount val="1"/>
                <c:pt idx="0">
                  <c:v>Medical Distributors and Institutional Procurement</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19.13641735606956</c:v>
                </c:pt>
                <c:pt idx="1">
                  <c:v>17.653152363201833</c:v>
                </c:pt>
              </c:numCache>
            </c:numRef>
          </c:val>
        </c:ser>
        <c:ser>
          <c:idx val="4"/>
          <c:order val="4"/>
          <c:tx>
            <c:strRef>
              <c:strCache>
                <c:ptCount val="1"/>
                <c:pt idx="0">
                  <c:v>Other Offline Channels</c:v>
                </c:pt>
              </c:strCache>
            </c:strRef>
          </c:tx>
          <c:spPr>
            <a:solidFill>
              <a:srgbClr val="A35313"/>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25.37509145140413</c:v>
                </c:pt>
                <c:pt idx="1">
                  <c:v>25.16031327191333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8.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Retail Pharmacies and Drug Stores</c:v>
                </c:pt>
              </c:strCache>
            </c:strRef>
          </c:tx>
          <c:spPr>
            <a:solidFill>
              <a:srgbClr val="3D85C6"/>
            </a:solidFill>
          </c:spPr>
          <c:invertIfNegative val="0"/>
          <c:xVal>
            <c:numRef>
              <c:numCache>
                <c:formatCode>General</c:formatCode>
                <c:ptCount val="1"/>
                <c:pt idx="0">
                  <c:v>95.3848175350408</c:v>
                </c:pt>
              </c:numCache>
            </c:numRef>
          </c:xVal>
          <c:yVal>
            <c:numRef>
              <c:numCache>
                <c:formatCode>General</c:formatCode>
                <c:ptCount val="1"/>
                <c:pt idx="0">
                  <c:v>106.71923986678135</c:v>
                </c:pt>
              </c:numCache>
            </c:numRef>
          </c:yVal>
          <c:bubbleSize>
            <c:numRef>
              <c:numCache>
                <c:formatCode>General</c:formatCode>
                <c:ptCount val="1"/>
                <c:pt idx="0">
                  <c:v>228.179</c:v>
                </c:pt>
              </c:numCache>
            </c:numRef>
          </c:bubbleSize>
          <c:bubble3D val="0"/>
        </c:ser>
        <c:ser>
          <c:idx val="1"/>
          <c:order val="1"/>
          <c:tx>
            <c:strRef>
              <c:strCache>
                <c:ptCount val="1"/>
                <c:pt idx="0">
                  <c:v>Supermarkets and Mass Retailers</c:v>
                </c:pt>
              </c:strCache>
            </c:strRef>
          </c:tx>
          <c:spPr>
            <a:solidFill>
              <a:srgbClr val="9E7E0A"/>
            </a:solidFill>
          </c:spPr>
          <c:invertIfNegative val="0"/>
          <c:xVal>
            <c:numRef>
              <c:numCache>
                <c:formatCode>General</c:formatCode>
                <c:ptCount val="1"/>
                <c:pt idx="0">
                  <c:v>126.30141499997369</c:v>
                </c:pt>
              </c:numCache>
            </c:numRef>
          </c:xVal>
          <c:yVal>
            <c:numRef>
              <c:numCache>
                <c:formatCode>General</c:formatCode>
                <c:ptCount val="1"/>
                <c:pt idx="0">
                  <c:v>45.61689733864331</c:v>
                </c:pt>
              </c:numCache>
            </c:numRef>
          </c:yVal>
          <c:bubbleSize>
            <c:numRef>
              <c:numCache>
                <c:formatCode>General</c:formatCode>
                <c:ptCount val="1"/>
                <c:pt idx="0">
                  <c:v>111.645</c:v>
                </c:pt>
              </c:numCache>
            </c:numRef>
          </c:bubbleSize>
          <c:bubble3D val="0"/>
        </c:ser>
        <c:ser>
          <c:idx val="2"/>
          <c:order val="2"/>
          <c:tx>
            <c:strRef>
              <c:strCache>
                <c:ptCount val="1"/>
                <c:pt idx="0">
                  <c:v>Online Channels</c:v>
                </c:pt>
              </c:strCache>
            </c:strRef>
          </c:tx>
          <c:spPr>
            <a:solidFill>
              <a:srgbClr val="008189"/>
            </a:solidFill>
          </c:spPr>
          <c:invertIfNegative val="0"/>
          <c:xVal>
            <c:numRef>
              <c:numCache>
                <c:formatCode>General</c:formatCode>
                <c:ptCount val="1"/>
                <c:pt idx="0">
                  <c:v>91.27656748734775</c:v>
                </c:pt>
              </c:numCache>
            </c:numRef>
          </c:xVal>
          <c:yVal>
            <c:numRef>
              <c:numCache>
                <c:formatCode>General</c:formatCode>
                <c:ptCount val="1"/>
                <c:pt idx="0">
                  <c:v>132.4086347962585</c:v>
                </c:pt>
              </c:numCache>
            </c:numRef>
          </c:yVal>
          <c:bubbleSize>
            <c:numRef>
              <c:numCache>
                <c:formatCode>General</c:formatCode>
                <c:ptCount val="1"/>
                <c:pt idx="0">
                  <c:v>278.03</c:v>
                </c:pt>
              </c:numCache>
            </c:numRef>
          </c:bubbleSize>
          <c:bubble3D val="0"/>
        </c:ser>
        <c:ser>
          <c:idx val="3"/>
          <c:order val="3"/>
          <c:tx>
            <c:strRef>
              <c:strCache>
                <c:ptCount val="1"/>
                <c:pt idx="0">
                  <c:v>Medical Distributors and Institutional Procurement</c:v>
                </c:pt>
              </c:strCache>
            </c:strRef>
          </c:tx>
          <c:spPr>
            <a:solidFill>
              <a:srgbClr val="40315E"/>
            </a:solidFill>
          </c:spPr>
          <c:invertIfNegative val="0"/>
          <c:xVal>
            <c:numRef>
              <c:numCache>
                <c:formatCode>General</c:formatCode>
                <c:ptCount val="1"/>
                <c:pt idx="0">
                  <c:v>54.19430780102474</c:v>
                </c:pt>
              </c:numCache>
            </c:numRef>
          </c:xVal>
          <c:yVal>
            <c:numRef>
              <c:numCache>
                <c:formatCode>General</c:formatCode>
                <c:ptCount val="1"/>
                <c:pt idx="0">
                  <c:v>111.11246748882304</c:v>
                </c:pt>
              </c:numCache>
            </c:numRef>
          </c:yVal>
          <c:bubbleSize>
            <c:numRef>
              <c:numCache>
                <c:formatCode>General</c:formatCode>
                <c:ptCount val="1"/>
                <c:pt idx="0">
                  <c:v>197.862</c:v>
                </c:pt>
              </c:numCache>
            </c:numRef>
          </c:bubbleSize>
          <c:bubble3D val="0"/>
        </c:ser>
        <c:ser>
          <c:idx val="4"/>
          <c:order val="4"/>
          <c:tx>
            <c:strRef>
              <c:strCache>
                <c:ptCount val="1"/>
                <c:pt idx="0">
                  <c:v>Other Offline Channels</c:v>
                </c:pt>
              </c:strCache>
            </c:strRef>
          </c:tx>
          <c:spPr>
            <a:solidFill>
              <a:srgbClr val="A35313"/>
            </a:solidFill>
          </c:spPr>
          <c:invertIfNegative val="0"/>
          <c:xVal>
            <c:numRef>
              <c:numCache>
                <c:formatCode>General</c:formatCode>
                <c:ptCount val="1"/>
                <c:pt idx="0">
                  <c:v>144.0821154731392</c:v>
                </c:pt>
              </c:numCache>
            </c:numRef>
          </c:xVal>
          <c:yVal>
            <c:numRef>
              <c:numCache>
                <c:formatCode>General</c:formatCode>
                <c:ptCount val="1"/>
                <c:pt idx="0">
                  <c:v>104.14276050949375</c:v>
                </c:pt>
              </c:numCache>
            </c:numRef>
          </c:yVal>
          <c:bubbleSize>
            <c:numRef>
              <c:numCache>
                <c:formatCode>General</c:formatCode>
                <c:ptCount val="1"/>
                <c:pt idx="0">
                  <c:v>275.255</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70.0"/>
          <c:min val="3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8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148.617</c:v>
                </c:pt>
                <c:pt idx="2">
                  <c:v>162.085</c:v>
                </c:pt>
                <c:pt idx="3">
                  <c:v>176.686</c:v>
                </c:pt>
                <c:pt idx="4">
                  <c:v>192.508</c:v>
                </c:pt>
                <c:pt idx="5">
                  <c:v>209.64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148.617</c:v>
                </c:pt>
                <c:pt idx="1">
                  <c:v>13.468000000000018</c:v>
                </c:pt>
                <c:pt idx="2">
                  <c:v>14.600999999999999</c:v>
                </c:pt>
                <c:pt idx="3">
                  <c:v>15.822000000000003</c:v>
                </c:pt>
                <c:pt idx="4">
                  <c:v>17.131999999999977</c:v>
                </c:pt>
                <c:pt idx="5">
                  <c:v>18.539000000000016</c:v>
                </c:pt>
                <c:pt idx="6">
                  <c:v>228.179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63.526</c:v>
                </c:pt>
                <c:pt idx="2">
                  <c:v>71.105</c:v>
                </c:pt>
                <c:pt idx="3">
                  <c:v>79.589</c:v>
                </c:pt>
                <c:pt idx="4">
                  <c:v>89.09</c:v>
                </c:pt>
                <c:pt idx="5">
                  <c:v>99.728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63.526</c:v>
                </c:pt>
                <c:pt idx="1">
                  <c:v>7.579000000000001</c:v>
                </c:pt>
                <c:pt idx="2">
                  <c:v>8.483999999999995</c:v>
                </c:pt>
                <c:pt idx="3">
                  <c:v>9.501000000000005</c:v>
                </c:pt>
                <c:pt idx="4">
                  <c:v>10.637999999999991</c:v>
                </c:pt>
                <c:pt idx="5">
                  <c:v>11.917000000000002</c:v>
                </c:pt>
                <c:pt idx="6">
                  <c:v>111.645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184.392</c:v>
                </c:pt>
                <c:pt idx="2">
                  <c:v>200.473</c:v>
                </c:pt>
                <c:pt idx="3">
                  <c:v>217.801</c:v>
                </c:pt>
                <c:pt idx="4">
                  <c:v>236.452</c:v>
                </c:pt>
                <c:pt idx="5">
                  <c:v>256.503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184.392</c:v>
                </c:pt>
                <c:pt idx="1">
                  <c:v>16.081000000000017</c:v>
                </c:pt>
                <c:pt idx="2">
                  <c:v>17.327999999999975</c:v>
                </c:pt>
                <c:pt idx="3">
                  <c:v>18.65100000000001</c:v>
                </c:pt>
                <c:pt idx="4">
                  <c:v>20.050999999999988</c:v>
                </c:pt>
                <c:pt idx="5">
                  <c:v>21.526999999999987</c:v>
                </c:pt>
                <c:pt idx="6">
                  <c:v>278.03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154.735</c:v>
                </c:pt>
                <c:pt idx="2">
                  <c:v>163.664</c:v>
                </c:pt>
                <c:pt idx="3">
                  <c:v>172.578</c:v>
                </c:pt>
                <c:pt idx="4">
                  <c:v>181.357</c:v>
                </c:pt>
                <c:pt idx="5">
                  <c:v>189.846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154.735</c:v>
                </c:pt>
                <c:pt idx="1">
                  <c:v>8.928999999999974</c:v>
                </c:pt>
                <c:pt idx="2">
                  <c:v>8.914000000000016</c:v>
                </c:pt>
                <c:pt idx="3">
                  <c:v>8.778999999999996</c:v>
                </c:pt>
                <c:pt idx="4">
                  <c:v>8.489000000000004</c:v>
                </c:pt>
                <c:pt idx="5">
                  <c:v>8.015999999999991</c:v>
                </c:pt>
                <c:pt idx="6">
                  <c:v>197.862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145.029</c:v>
                </c:pt>
                <c:pt idx="2">
                  <c:v>164.948</c:v>
                </c:pt>
                <c:pt idx="3">
                  <c:v>187.548</c:v>
                </c:pt>
                <c:pt idx="4">
                  <c:v>213.185</c:v>
                </c:pt>
                <c:pt idx="5">
                  <c:v>242.267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145.029</c:v>
                </c:pt>
                <c:pt idx="1">
                  <c:v>19.91900000000001</c:v>
                </c:pt>
                <c:pt idx="2">
                  <c:v>22.599999999999994</c:v>
                </c:pt>
                <c:pt idx="3">
                  <c:v>25.637</c:v>
                </c:pt>
                <c:pt idx="4">
                  <c:v>29.081999999999994</c:v>
                </c:pt>
                <c:pt idx="5">
                  <c:v>32.988</c:v>
                </c:pt>
                <c:pt idx="6">
                  <c:v>275.255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Online Channels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26.90554497720847</c:v>
                </c:pt>
                <c:pt idx="1">
                  <c:v>26.4817269592517</c:v>
                </c:pt>
                <c:pt idx="2">
                  <c:v>25.484637080179027</c:v>
                </c:pt>
              </c:numCache>
            </c:numRef>
          </c:val>
        </c:ser>
        <c:ser>
          <c:idx val="1"/>
          <c:order val="1"/>
          <c:tx>
            <c:strRef>
              <c:strCache>
                <c:ptCount val="1"/>
                <c:pt idx="0">
                  <c:v>Other Offline Channels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18.933738676360278</c:v>
                </c:pt>
                <c:pt idx="1">
                  <c:v>20.828552101898755</c:v>
                </c:pt>
                <c:pt idx="2">
                  <c:v>25.2302765151411</c:v>
                </c:pt>
              </c:numCache>
            </c:numRef>
          </c:val>
        </c:ser>
        <c:ser>
          <c:idx val="2"/>
          <c:order val="2"/>
          <c:tx>
            <c:strRef>
              <c:strCache>
                <c:ptCount val="1"/>
                <c:pt idx="0">
                  <c:v>Retail Pharmacies and Drug Stores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21.535831746581273</c:v>
                </c:pt>
                <c:pt idx="1">
                  <c:v>21.343847973356272</c:v>
                </c:pt>
                <c:pt idx="2">
                  <c:v>20.915221394519197</c:v>
                </c:pt>
              </c:numCache>
            </c:numRef>
          </c:val>
        </c:ser>
        <c:ser>
          <c:idx val="3"/>
          <c:order val="3"/>
          <c:tx>
            <c:strRef>
              <c:strCache>
                <c:ptCount val="1"/>
                <c:pt idx="0">
                  <c:v>Medical Distributors and Institutional Procurement</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23.979970861462125</c:v>
                </c:pt>
                <c:pt idx="1">
                  <c:v>22.22249349776461</c:v>
                </c:pt>
                <c:pt idx="2">
                  <c:v>18.136320763796654</c:v>
                </c:pt>
              </c:numCache>
            </c:numRef>
          </c:val>
        </c:ser>
        <c:ser>
          <c:idx val="4"/>
          <c:order val="4"/>
          <c:tx>
            <c:strRef>
              <c:strCache>
                <c:ptCount val="1"/>
                <c:pt idx="0">
                  <c:v>Supermarkets and Mass Retailers</c:v>
                </c:pt>
              </c:strCache>
            </c:strRef>
          </c:tx>
          <c:spPr>
            <a:solidFill>
              <a:srgbClr val="A35313"/>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8.64491373838786</c:v>
                </c:pt>
                <c:pt idx="1">
                  <c:v>9.123379467728663</c:v>
                </c:pt>
                <c:pt idx="2">
                  <c:v>10.233544246364017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Paediatric</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68.44814001913446</c:v>
                </c:pt>
                <c:pt idx="1">
                  <c:v>63.15139799154692</c:v>
                </c:pt>
              </c:numCache>
            </c:numRef>
          </c:val>
        </c:ser>
        <c:ser>
          <c:idx val="1"/>
          <c:order val="1"/>
          <c:tx>
            <c:strRef>
              <c:strCache>
                <c:ptCount val="1"/>
                <c:pt idx="0">
                  <c:v>Adult</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15.5256345320502</c:v>
                </c:pt>
                <c:pt idx="1">
                  <c:v>23.928922458268246</c:v>
                </c:pt>
              </c:numCache>
            </c:numRef>
          </c:val>
        </c:ser>
        <c:ser>
          <c:idx val="2"/>
          <c:order val="2"/>
          <c:tx>
            <c:strRef>
              <c:strCache>
                <c:ptCount val="1"/>
                <c:pt idx="0">
                  <c:v>Geriatric</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16.026225448815353</c:v>
                </c:pt>
                <c:pt idx="1">
                  <c:v>12.919679550184815</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9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Paediatric</c:v>
                </c:pt>
              </c:strCache>
            </c:strRef>
          </c:tx>
          <c:spPr>
            <a:solidFill>
              <a:srgbClr val="3D85C6"/>
            </a:solidFill>
          </c:spPr>
          <c:invertIfNegative val="0"/>
          <c:xVal>
            <c:numRef>
              <c:numCache>
                <c:formatCode>General</c:formatCode>
                <c:ptCount val="1"/>
                <c:pt idx="0">
                  <c:v>110.5678677040061</c:v>
                </c:pt>
              </c:numCache>
            </c:numRef>
          </c:xVal>
          <c:yVal>
            <c:numRef>
              <c:numCache>
                <c:formatCode>General</c:formatCode>
                <c:ptCount val="1"/>
                <c:pt idx="0">
                  <c:v>185.82491142454606</c:v>
                </c:pt>
              </c:numCache>
            </c:numRef>
          </c:yVal>
          <c:bubbleSize>
            <c:numRef>
              <c:numCache>
                <c:formatCode>General</c:formatCode>
                <c:ptCount val="1"/>
                <c:pt idx="0">
                  <c:v>707.787</c:v>
                </c:pt>
              </c:numCache>
            </c:numRef>
          </c:bubbleSize>
          <c:bubble3D val="0"/>
        </c:ser>
        <c:ser>
          <c:idx val="1"/>
          <c:order val="1"/>
          <c:tx>
            <c:strRef>
              <c:strCache>
                <c:ptCount val="1"/>
                <c:pt idx="0">
                  <c:v>Adult</c:v>
                </c:pt>
              </c:strCache>
            </c:strRef>
          </c:tx>
          <c:spPr>
            <a:solidFill>
              <a:srgbClr val="9E7E0A"/>
            </a:solidFill>
          </c:spPr>
          <c:invertIfNegative val="0"/>
          <c:xVal>
            <c:numRef>
              <c:numCache>
                <c:formatCode>General</c:formatCode>
                <c:ptCount val="1"/>
                <c:pt idx="0">
                  <c:v>110.81811423810532</c:v>
                </c:pt>
              </c:numCache>
            </c:numRef>
          </c:xVal>
          <c:yVal>
            <c:numRef>
              <c:numCache>
                <c:formatCode>General</c:formatCode>
                <c:ptCount val="1"/>
                <c:pt idx="0">
                  <c:v>60.632142226256256</c:v>
                </c:pt>
              </c:numCache>
            </c:numRef>
          </c:yVal>
          <c:bubbleSize>
            <c:numRef>
              <c:numCache>
                <c:formatCode>General</c:formatCode>
                <c:ptCount val="1"/>
                <c:pt idx="0">
                  <c:v>231.194</c:v>
                </c:pt>
              </c:numCache>
            </c:numRef>
          </c:bubbleSize>
          <c:bubble3D val="0"/>
        </c:ser>
        <c:ser>
          <c:idx val="2"/>
          <c:order val="2"/>
          <c:tx>
            <c:strRef>
              <c:strCache>
                <c:ptCount val="1"/>
                <c:pt idx="0">
                  <c:v>Geriatric</c:v>
                </c:pt>
              </c:strCache>
            </c:strRef>
          </c:tx>
          <c:spPr>
            <a:solidFill>
              <a:srgbClr val="008189"/>
            </a:solidFill>
          </c:spPr>
          <c:invertIfNegative val="0"/>
          <c:xVal>
            <c:numRef>
              <c:numCache>
                <c:formatCode>General</c:formatCode>
                <c:ptCount val="1"/>
                <c:pt idx="0">
                  <c:v>44.28124446580049</c:v>
                </c:pt>
              </c:numCache>
            </c:numRef>
          </c:xVal>
          <c:yVal>
            <c:numRef>
              <c:numCache>
                <c:formatCode>General</c:formatCode>
                <c:ptCount val="1"/>
                <c:pt idx="0">
                  <c:v>53.542946349197685</c:v>
                </c:pt>
              </c:numCache>
            </c:numRef>
          </c:yVal>
          <c:bubbleSize>
            <c:numRef>
              <c:numCache>
                <c:formatCode>General</c:formatCode>
                <c:ptCount val="1"/>
                <c:pt idx="0">
                  <c:v>151.99</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0.0"/>
          <c:min val="2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9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431.299</c:v>
                </c:pt>
                <c:pt idx="2">
                  <c:v>476.639</c:v>
                </c:pt>
                <c:pt idx="3">
                  <c:v>526.51</c:v>
                </c:pt>
                <c:pt idx="4">
                  <c:v>581.343</c:v>
                </c:pt>
                <c:pt idx="5">
                  <c:v>641.6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431.299</c:v>
                </c:pt>
                <c:pt idx="1">
                  <c:v>45.34000000000003</c:v>
                </c:pt>
                <c:pt idx="2">
                  <c:v>49.87099999999998</c:v>
                </c:pt>
                <c:pt idx="3">
                  <c:v>54.83299999999997</c:v>
                </c:pt>
                <c:pt idx="4">
                  <c:v>60.25700000000006</c:v>
                </c:pt>
                <c:pt idx="5">
                  <c:v>66.18700000000001</c:v>
                </c:pt>
                <c:pt idx="6">
                  <c:v>707.787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140.727</c:v>
                </c:pt>
                <c:pt idx="2">
                  <c:v>155.571</c:v>
                </c:pt>
                <c:pt idx="3">
                  <c:v>171.896</c:v>
                </c:pt>
                <c:pt idx="4">
                  <c:v>189.839</c:v>
                </c:pt>
                <c:pt idx="5">
                  <c:v>209.55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140.727</c:v>
                </c:pt>
                <c:pt idx="1">
                  <c:v>14.843999999999994</c:v>
                </c:pt>
                <c:pt idx="2">
                  <c:v>16.32499999999999</c:v>
                </c:pt>
                <c:pt idx="3">
                  <c:v>17.943000000000012</c:v>
                </c:pt>
                <c:pt idx="4">
                  <c:v>19.711000000000013</c:v>
                </c:pt>
                <c:pt idx="5">
                  <c:v>21.643999999999977</c:v>
                </c:pt>
                <c:pt idx="6">
                  <c:v>231.194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124.273</c:v>
                </c:pt>
                <c:pt idx="2">
                  <c:v>130.065</c:v>
                </c:pt>
                <c:pt idx="3">
                  <c:v>135.796</c:v>
                </c:pt>
                <c:pt idx="4">
                  <c:v>141.41</c:v>
                </c:pt>
                <c:pt idx="5">
                  <c:v>146.834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124.273</c:v>
                </c:pt>
                <c:pt idx="1">
                  <c:v>5.792000000000002</c:v>
                </c:pt>
                <c:pt idx="2">
                  <c:v>5.7309999999999945</c:v>
                </c:pt>
                <c:pt idx="3">
                  <c:v>5.614000000000004</c:v>
                </c:pt>
                <c:pt idx="4">
                  <c:v>5.424000000000007</c:v>
                </c:pt>
                <c:pt idx="5">
                  <c:v>5.156000000000006</c:v>
                </c:pt>
                <c:pt idx="6">
                  <c:v>151.99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Paediatric</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60.47400611620796</c:v>
                </c:pt>
                <c:pt idx="1">
                  <c:v>61.94163714151535</c:v>
                </c:pt>
                <c:pt idx="2">
                  <c:v>64.87679324198352</c:v>
                </c:pt>
              </c:numCache>
            </c:numRef>
          </c:val>
        </c:ser>
        <c:ser>
          <c:idx val="1"/>
          <c:order val="1"/>
          <c:tx>
            <c:strRef>
              <c:strCache>
                <c:ptCount val="1"/>
                <c:pt idx="0">
                  <c:v>Adult</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19.71142749985575</c:v>
                </c:pt>
                <c:pt idx="1">
                  <c:v>20.21071407541875</c:v>
                </c:pt>
                <c:pt idx="2">
                  <c:v>21.191580711127976</c:v>
                </c:pt>
              </c:numCache>
            </c:numRef>
          </c:val>
        </c:ser>
        <c:ser>
          <c:idx val="2"/>
          <c:order val="2"/>
          <c:tx>
            <c:strRef>
              <c:strCache>
                <c:ptCount val="1"/>
                <c:pt idx="0">
                  <c:v>Geriatric</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19.8145663839363</c:v>
                </c:pt>
                <c:pt idx="1">
                  <c:v>17.847648783065896</c:v>
                </c:pt>
                <c:pt idx="2">
                  <c:v>13.931626046888507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Volume (Mn Units)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30.721999999999998</c:v>
                </c:pt>
                <c:pt idx="1">
                  <c:v>31.654</c:v>
                </c:pt>
                <c:pt idx="2">
                  <c:v>32.611000000000004</c:v>
                </c:pt>
                <c:pt idx="3">
                  <c:v>33.595</c:v>
                </c:pt>
                <c:pt idx="4">
                  <c:v>34.605000000000004</c:v>
                </c:pt>
                <c:pt idx="5">
                  <c:v>35.641000000000005</c:v>
                </c:pt>
                <c:pt idx="6">
                  <c:v>36.708</c:v>
                </c:pt>
                <c:pt idx="7">
                  <c:v>37.80200000000001</c:v>
                </c:pt>
                <c:pt idx="8">
                  <c:v>38.925</c:v>
                </c:pt>
                <c:pt idx="9">
                  <c:v>40.079</c:v>
                </c:pt>
                <c:pt idx="10">
                  <c:v>41.260999999999996</c:v>
                </c:pt>
                <c:pt idx="11">
                  <c:v>42.475</c:v>
                </c:pt>
                <c:pt idx="12">
                  <c:v>43.72</c:v>
                </c:pt>
                <c:pt idx="13">
                  <c:v>44.997</c:v>
                </c:pt>
                <c:pt idx="14">
                  <c:v>46.306000000000004</c:v>
                </c:pt>
                <c:pt idx="15">
                  <c:v>47.647999999999996</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3D85C6"/>
            </a:solidFill>
            <a:ln>
              <a:noFill/>
            </a:ln>
          </c:spPr>
          <c:dPt>
            <c:idx val="0"/>
            <c:spPr>
              <a:solidFill>
                <a:srgbClr val="008189"/>
              </a:solidFill>
            </c:spPr>
          </c:dPt>
          <c:dPt>
            <c:idx val="1"/>
            <c:spPr>
              <a:solidFill>
                <a:srgbClr val="9E7E0A"/>
              </a:solidFill>
            </c:spPr>
          </c:dPt>
          <c:dPt>
            <c:idx val="2"/>
            <c:spPr>
              <a:solidFill>
                <a:srgbClr val="3D85C6"/>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0.04906912051495027</c:v>
                </c:pt>
                <c:pt idx="1">
                  <c:v>0.031147641034165785</c:v>
                </c:pt>
                <c:pt idx="2">
                  <c:v>0.029460006871413702</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6624331269518287"/>
          <c:min val="0.0"/>
        </c:scaling>
        <c:delete/>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35.641000000000005</c:v>
                </c:pt>
                <c:pt idx="2">
                  <c:v>36.708</c:v>
                </c:pt>
                <c:pt idx="3">
                  <c:v>37.80200000000001</c:v>
                </c:pt>
                <c:pt idx="4">
                  <c:v>38.925</c:v>
                </c:pt>
                <c:pt idx="5">
                  <c:v>40.079</c:v>
                </c:pt>
                <c:pt idx="6">
                  <c:v>41.260999999999996</c:v>
                </c:pt>
                <c:pt idx="7">
                  <c:v>42.475</c:v>
                </c:pt>
                <c:pt idx="8">
                  <c:v>43.72</c:v>
                </c:pt>
                <c:pt idx="9">
                  <c:v>44.997</c:v>
                </c:pt>
                <c:pt idx="10">
                  <c:v>46.306000000000004</c:v>
                </c:pt>
                <c:pt idx="11">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35.641000000000005</c:v>
                </c:pt>
                <c:pt idx="1">
                  <c:v>1.066999999999993</c:v>
                </c:pt>
                <c:pt idx="2">
                  <c:v>1.0940000000000083</c:v>
                </c:pt>
                <c:pt idx="3">
                  <c:v>1.1229999999999905</c:v>
                </c:pt>
                <c:pt idx="4">
                  <c:v>1.1540000000000035</c:v>
                </c:pt>
                <c:pt idx="5">
                  <c:v>1.181999999999995</c:v>
                </c:pt>
                <c:pt idx="6">
                  <c:v>1.2140000000000057</c:v>
                </c:pt>
                <c:pt idx="7">
                  <c:v>1.2449999999999974</c:v>
                </c:pt>
                <c:pt idx="8">
                  <c:v>1.277000000000001</c:v>
                </c:pt>
                <c:pt idx="9">
                  <c:v>1.3090000000000046</c:v>
                </c:pt>
                <c:pt idx="10">
                  <c:v>1.3419999999999916</c:v>
                </c:pt>
                <c:pt idx="11">
                  <c:v>47.647999999999996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70.0229866991493</c:v>
                </c:pt>
                <c:pt idx="1">
                  <c:v>16.8917093607966</c:v>
                </c:pt>
              </c:numCache>
            </c:numRef>
          </c:val>
        </c:ser>
        <c:ser>
          <c:idx val="1"/>
          <c:order val="1"/>
          <c:tx>
            <c:strRef>
              <c:strCache>
                <c:ptCount val="1"/>
                <c:pt idx="0">
                  <c:v>Rest of the market</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29.9770133008507</c:v>
                </c:pt>
                <c:pt idx="1">
                  <c:v>83.1082906392034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0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386.45099999999996</c:v>
                </c:pt>
                <c:pt idx="1">
                  <c:v>403.6540000000001</c:v>
                </c:pt>
                <c:pt idx="2">
                  <c:v>421.582</c:v>
                </c:pt>
                <c:pt idx="3">
                  <c:v>440.26199999999994</c:v>
                </c:pt>
                <c:pt idx="4">
                  <c:v>459.724</c:v>
                </c:pt>
                <c:pt idx="5">
                  <c:v>479.999</c:v>
                </c:pt>
                <c:pt idx="6">
                  <c:v>501.1599999999999</c:v>
                </c:pt>
                <c:pt idx="7">
                  <c:v>523.201</c:v>
                </c:pt>
                <c:pt idx="8">
                  <c:v>546.1569999999999</c:v>
                </c:pt>
                <c:pt idx="9">
                  <c:v>570.0619999999999</c:v>
                </c:pt>
                <c:pt idx="10">
                  <c:v>594.956</c:v>
                </c:pt>
                <c:pt idx="11">
                  <c:v>620.8739999999999</c:v>
                </c:pt>
                <c:pt idx="12">
                  <c:v>647.8549999999999</c:v>
                </c:pt>
                <c:pt idx="13">
                  <c:v>675.9399999999999</c:v>
                </c:pt>
                <c:pt idx="14">
                  <c:v>705.171</c:v>
                </c:pt>
                <c:pt idx="15">
                  <c:v>735.591</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3D85C6"/>
            </a:solidFill>
            <a:ln>
              <a:noFill/>
            </a:ln>
          </c:spPr>
          <c:dPt>
            <c:idx val="0"/>
            <c:spPr>
              <a:solidFill>
                <a:srgbClr val="008189"/>
              </a:solidFill>
            </c:spPr>
          </c:dPt>
          <c:dPt>
            <c:idx val="1"/>
            <c:spPr>
              <a:solidFill>
                <a:srgbClr val="9E7E0A"/>
              </a:solidFill>
            </c:spPr>
          </c:dPt>
          <c:dPt>
            <c:idx val="2"/>
            <c:spPr>
              <a:solidFill>
                <a:srgbClr val="3D85C6"/>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0.05499987637423742</c:v>
                </c:pt>
                <c:pt idx="1">
                  <c:v>0.045927889378566844</c:v>
                </c:pt>
                <c:pt idx="2">
                  <c:v>0.04361330539771413</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424983310522053"/>
          <c:min val="0.0"/>
        </c:scaling>
        <c:delete/>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479.999</c:v>
                </c:pt>
                <c:pt idx="2">
                  <c:v>501.1599999999999</c:v>
                </c:pt>
                <c:pt idx="3">
                  <c:v>523.201</c:v>
                </c:pt>
                <c:pt idx="4">
                  <c:v>546.1569999999999</c:v>
                </c:pt>
                <c:pt idx="5">
                  <c:v>570.0619999999999</c:v>
                </c:pt>
                <c:pt idx="6">
                  <c:v>594.956</c:v>
                </c:pt>
                <c:pt idx="7">
                  <c:v>620.8739999999999</c:v>
                </c:pt>
                <c:pt idx="8">
                  <c:v>647.8549999999999</c:v>
                </c:pt>
                <c:pt idx="9">
                  <c:v>675.9399999999999</c:v>
                </c:pt>
                <c:pt idx="10">
                  <c:v>705.171</c:v>
                </c:pt>
                <c:pt idx="11">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479.999</c:v>
                </c:pt>
                <c:pt idx="1">
                  <c:v>21.160999999999888</c:v>
                </c:pt>
                <c:pt idx="2">
                  <c:v>22.04100000000011</c:v>
                </c:pt>
                <c:pt idx="3">
                  <c:v>22.955999999999904</c:v>
                </c:pt>
                <c:pt idx="4">
                  <c:v>23.904999999999973</c:v>
                </c:pt>
                <c:pt idx="5">
                  <c:v>24.89400000000012</c:v>
                </c:pt>
                <c:pt idx="6">
                  <c:v>25.917999999999893</c:v>
                </c:pt>
                <c:pt idx="7">
                  <c:v>26.980999999999995</c:v>
                </c:pt>
                <c:pt idx="8">
                  <c:v>28.085000000000036</c:v>
                </c:pt>
                <c:pt idx="9">
                  <c:v>29.23100000000011</c:v>
                </c:pt>
                <c:pt idx="10">
                  <c:v>30.41999999999996</c:v>
                </c:pt>
                <c:pt idx="11">
                  <c:v>735.591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68.93575891965952</c:v>
                </c:pt>
                <c:pt idx="1">
                  <c:v>22.748746209719233</c:v>
                </c:pt>
              </c:numCache>
            </c:numRef>
          </c:val>
        </c:ser>
        <c:ser>
          <c:idx val="1"/>
          <c:order val="1"/>
          <c:tx>
            <c:strRef>
              <c:strCache>
                <c:ptCount val="1"/>
                <c:pt idx="0">
                  <c:v>Rest of the market</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31.06424108034048</c:v>
                </c:pt>
                <c:pt idx="1">
                  <c:v>77.25125379028077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0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9EC6DE"/>
              </a:solidFill>
            </c:spPr>
          </c:dPt>
          <c:dPt>
            <c:idx val="3"/>
            <c:spPr>
              <a:solidFill>
                <a:srgbClr val="86B8D6"/>
              </a:solidFill>
            </c:spPr>
          </c:dPt>
          <c:dPt>
            <c:idx val="4"/>
            <c:spPr>
              <a:solidFill>
                <a:srgbClr val="6EAACE"/>
              </a:solidFill>
            </c:spPr>
          </c:dPt>
          <c:dPt>
            <c:idx val="5"/>
            <c:spPr>
              <a:solidFill>
                <a:srgbClr val="569CC6"/>
              </a:solidFill>
            </c:spPr>
          </c:dPt>
          <c:dPt>
            <c:idx val="6"/>
            <c:spPr>
              <a:solidFill>
                <a:srgbClr val="3E8EBE"/>
              </a:solidFill>
            </c:spPr>
          </c:dPt>
          <c:dPt>
            <c:idx val="7"/>
            <c:spPr>
              <a:solidFill>
                <a:srgbClr val="2680B6"/>
              </a:solidFill>
            </c:spPr>
          </c:dPt>
          <c:dPt>
            <c:idx val="8"/>
            <c:spPr>
              <a:solidFill>
                <a:srgbClr val="0E72AE"/>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9"/>
                <c:pt idx="0">
                  <c:v> </c:v>
                </c:pt>
                <c:pt idx="1">
                  <c:v>  </c:v>
                </c:pt>
                <c:pt idx="2">
                  <c:v>Combination Removal K…</c:v>
                </c:pt>
                <c:pt idx="3">
                  <c:v>Camera-Assisted Remov…</c:v>
                </c:pt>
                <c:pt idx="4">
                  <c:v>Manual Removal Tools</c:v>
                </c:pt>
                <c:pt idx="5">
                  <c:v>Suction Devices and A…</c:v>
                </c:pt>
                <c:pt idx="6">
                  <c:v>Sprays</c:v>
                </c:pt>
                <c:pt idx="7">
                  <c:v>Drops</c:v>
                </c:pt>
                <c:pt idx="8">
                  <c:v>Irrigation Devices an…</c:v>
                </c:pt>
              </c:strCache>
            </c:strRef>
          </c:cat>
          <c:val>
            <c:numRef>
              <c:numCache>
                <c:formatCode>General</c:formatCode>
                <c:ptCount val="9"/>
                <c:pt idx="2">
                  <c:v>32.437</c:v>
                </c:pt>
                <c:pt idx="3">
                  <c:v>39.504</c:v>
                </c:pt>
                <c:pt idx="4">
                  <c:v>52.887</c:v>
                </c:pt>
                <c:pt idx="5">
                  <c:v>62.016999999999996</c:v>
                </c:pt>
                <c:pt idx="6">
                  <c:v>76.06899999999999</c:v>
                </c:pt>
                <c:pt idx="7">
                  <c:v>99.268</c:v>
                </c:pt>
                <c:pt idx="8">
                  <c:v>117.81700000000001</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57.87478000000002"/>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9DABB6"/>
              </a:solidFill>
            </c:spPr>
          </c:dPt>
          <c:dPt>
            <c:idx val="1"/>
            <c:spPr>
              <a:solidFill>
                <a:srgbClr val="8B9BA9"/>
              </a:solidFill>
            </c:spPr>
          </c:dPt>
          <c:dPt>
            <c:idx val="2"/>
            <c:spPr>
              <a:solidFill>
                <a:srgbClr val="788C9B"/>
              </a:solidFill>
            </c:spPr>
          </c:dPt>
          <c:dPt>
            <c:idx val="3"/>
            <c:spPr>
              <a:solidFill>
                <a:srgbClr val="667C8D"/>
              </a:solidFill>
            </c:spPr>
          </c:dPt>
          <c:dPt>
            <c:idx val="4"/>
            <c:spPr>
              <a:solidFill>
                <a:srgbClr val="546C80"/>
              </a:solidFill>
            </c:spPr>
          </c:dPt>
          <c:dPt>
            <c:idx val="5"/>
            <c:spPr>
              <a:solidFill>
                <a:srgbClr val="415D72"/>
              </a:solidFill>
            </c:spPr>
          </c:dPt>
          <c:dPt>
            <c:idx val="6"/>
            <c:spPr>
              <a:solidFill>
                <a:srgbClr val="2F4D65"/>
              </a:solidFill>
            </c:spPr>
          </c:dPt>
          <c:dPt>
            <c:idx val="7"/>
            <c:spPr>
              <a:solidFill>
                <a:srgbClr val="1D3D57"/>
              </a:solidFill>
            </c:spPr>
          </c:dPt>
          <c:dPt>
            <c:idx val="8"/>
            <c:spPr>
              <a:solidFill>
                <a:srgbClr val="0B2E4A"/>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9"/>
                <c:pt idx="0">
                  <c:v>Assisted Living Facil…</c:v>
                </c:pt>
                <c:pt idx="1">
                  <c:v>Nursing Homes</c:v>
                </c:pt>
                <c:pt idx="2">
                  <c:v>Hospitals and Clinics</c:v>
                </c:pt>
                <c:pt idx="3">
                  <c:v>Individual consumers</c:v>
                </c:pt>
                <c:pt idx="4">
                  <c:v>Healthcare profession…</c:v>
                </c:pt>
                <c:pt idx="5">
                  <c:v>General practitioners</c:v>
                </c:pt>
                <c:pt idx="6">
                  <c:v>Others</c:v>
                </c:pt>
                <c:pt idx="7">
                  <c:v>ENT specialists</c:v>
                </c:pt>
                <c:pt idx="8">
                  <c:v>Audiologists</c:v>
                </c:pt>
              </c:strCache>
            </c:strRef>
          </c:cat>
          <c:val>
            <c:numRef>
              <c:numCache>
                <c:formatCode>General</c:formatCode>
                <c:ptCount val="9"/>
                <c:pt idx="0">
                  <c:v>12.911</c:v>
                </c:pt>
                <c:pt idx="1">
                  <c:v>27.761</c:v>
                </c:pt>
                <c:pt idx="2">
                  <c:v>32.591</c:v>
                </c:pt>
                <c:pt idx="3">
                  <c:v>50.139</c:v>
                </c:pt>
                <c:pt idx="4">
                  <c:v>53.11</c:v>
                </c:pt>
                <c:pt idx="5">
                  <c:v>68.551</c:v>
                </c:pt>
                <c:pt idx="6">
                  <c:v>69.73</c:v>
                </c:pt>
                <c:pt idx="7">
                  <c:v>76.89</c:v>
                </c:pt>
                <c:pt idx="8">
                  <c:v>88.316</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18.34344000000002"/>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C5B1E6"/>
              </a:solidFill>
            </c:spPr>
          </c:dPt>
          <c:dPt>
            <c:idx val="5"/>
            <c:spPr>
              <a:solidFill>
                <a:srgbClr val="AF93DD"/>
              </a:solidFill>
            </c:spPr>
          </c:dPt>
          <c:dPt>
            <c:idx val="6"/>
            <c:spPr>
              <a:solidFill>
                <a:srgbClr val="9A76D4"/>
              </a:solidFill>
            </c:spPr>
          </c:dPt>
          <c:dPt>
            <c:idx val="7"/>
            <c:spPr>
              <a:solidFill>
                <a:srgbClr val="8459CB"/>
              </a:solidFill>
            </c:spPr>
          </c:dPt>
          <c:dPt>
            <c:idx val="8"/>
            <c:spPr>
              <a:solidFill>
                <a:srgbClr val="6F3CC2"/>
              </a:solidFill>
            </c:spPr>
          </c:dPt>
          <c:dLbls>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9"/>
                <c:pt idx="0">
                  <c:v> </c:v>
                </c:pt>
                <c:pt idx="1">
                  <c:v>  </c:v>
                </c:pt>
                <c:pt idx="2">
                  <c:v>   </c:v>
                </c:pt>
                <c:pt idx="3">
                  <c:v>    </c:v>
                </c:pt>
                <c:pt idx="4">
                  <c:v>Supermarkets and Mass…</c:v>
                </c:pt>
                <c:pt idx="5">
                  <c:v>Other Offline Channels</c:v>
                </c:pt>
                <c:pt idx="6">
                  <c:v>Medical Distributors…</c:v>
                </c:pt>
                <c:pt idx="7">
                  <c:v>Retail Pharmacies and…</c:v>
                </c:pt>
                <c:pt idx="8">
                  <c:v>Online Channels</c:v>
                </c:pt>
              </c:strCache>
            </c:strRef>
          </c:cat>
          <c:val>
            <c:numRef>
              <c:numCache>
                <c:formatCode>General</c:formatCode>
                <c:ptCount val="9"/>
                <c:pt idx="4">
                  <c:v>47.121</c:v>
                </c:pt>
                <c:pt idx="5">
                  <c:v>99.94</c:v>
                </c:pt>
                <c:pt idx="6">
                  <c:v>104.203</c:v>
                </c:pt>
                <c:pt idx="7">
                  <c:v>109.925</c:v>
                </c:pt>
                <c:pt idx="8">
                  <c:v>118.81</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59.20540000000003"/>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FFFFFF"/>
              </a:solidFill>
            </c:spPr>
          </c:dPt>
          <c:dPt>
            <c:idx val="5"/>
            <c:spPr>
              <a:solidFill>
                <a:srgbClr val="FFFFFF"/>
              </a:solidFill>
            </c:spPr>
          </c:dPt>
          <c:dPt>
            <c:idx val="6"/>
            <c:spPr>
              <a:solidFill>
                <a:srgbClr val="DABAA0"/>
              </a:solidFill>
            </c:spPr>
          </c:dPt>
          <c:dPt>
            <c:idx val="7"/>
            <c:spPr>
              <a:solidFill>
                <a:srgbClr val="BE8659"/>
              </a:solidFill>
            </c:spPr>
          </c:dPt>
          <c:dPt>
            <c:idx val="8"/>
            <c:spPr>
              <a:solidFill>
                <a:srgbClr val="A35313"/>
              </a:solidFill>
            </c:spPr>
          </c:dPt>
          <c:dLbls>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9"/>
                <c:pt idx="0">
                  <c:v> </c:v>
                </c:pt>
                <c:pt idx="1">
                  <c:v>  </c:v>
                </c:pt>
                <c:pt idx="2">
                  <c:v>   </c:v>
                </c:pt>
                <c:pt idx="3">
                  <c:v>    </c:v>
                </c:pt>
                <c:pt idx="4">
                  <c:v>     </c:v>
                </c:pt>
                <c:pt idx="5">
                  <c:v>      </c:v>
                </c:pt>
                <c:pt idx="6">
                  <c:v>Geriatric</c:v>
                </c:pt>
                <c:pt idx="7">
                  <c:v>Adult</c:v>
                </c:pt>
                <c:pt idx="8">
                  <c:v>Paediatric</c:v>
                </c:pt>
              </c:strCache>
            </c:strRef>
          </c:cat>
          <c:val>
            <c:numRef>
              <c:numCache>
                <c:formatCode>General</c:formatCode>
                <c:ptCount val="9"/>
                <c:pt idx="6">
                  <c:v>80.028</c:v>
                </c:pt>
                <c:pt idx="7">
                  <c:v>109.16</c:v>
                </c:pt>
                <c:pt idx="8">
                  <c:v>290.811</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389.68674"/>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9"/>
                <c:pt idx="0">
                  <c:v>2026</c:v>
                </c:pt>
                <c:pt idx="1">
                  <c:v>Ear Drops</c:v>
                </c:pt>
                <c:pt idx="2">
                  <c:v>Ear Sprays</c:v>
                </c:pt>
                <c:pt idx="3">
                  <c:v>Irrigation Devices and Accessories</c:v>
                </c:pt>
                <c:pt idx="4">
                  <c:v>Manual Removal Tools</c:v>
                </c:pt>
                <c:pt idx="5">
                  <c:v>Camera-Assisted Removal Devices</c:v>
                </c:pt>
                <c:pt idx="6">
                  <c:v>Suction Devices and Accessories</c:v>
                </c:pt>
                <c:pt idx="7">
                  <c:v>Combination Removal Kits</c:v>
                </c:pt>
                <c:pt idx="8">
                  <c:v>2036 Total</c:v>
                </c:pt>
              </c:strCache>
            </c:strRef>
          </c:cat>
          <c:val>
            <c:numRef>
              <c:numCache>
                <c:formatCode>General</c:formatCode>
                <c:ptCount val="9"/>
                <c:pt idx="0">
                  <c:v>0.0</c:v>
                </c:pt>
                <c:pt idx="1">
                  <c:v>479.999</c:v>
                </c:pt>
                <c:pt idx="2">
                  <c:v>553.437</c:v>
                </c:pt>
                <c:pt idx="3">
                  <c:v>566.692</c:v>
                </c:pt>
                <c:pt idx="4">
                  <c:v>642.413</c:v>
                </c:pt>
                <c:pt idx="5">
                  <c:v>672.15</c:v>
                </c:pt>
                <c:pt idx="6">
                  <c:v>693.124</c:v>
                </c:pt>
                <c:pt idx="7">
                  <c:v>716.163</c:v>
                </c:pt>
                <c:pt idx="8">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9"/>
                <c:pt idx="0">
                  <c:v>2026</c:v>
                </c:pt>
                <c:pt idx="1">
                  <c:v>Ear Drops</c:v>
                </c:pt>
                <c:pt idx="2">
                  <c:v>Ear Sprays</c:v>
                </c:pt>
                <c:pt idx="3">
                  <c:v>Irrigation Devices and Accessories</c:v>
                </c:pt>
                <c:pt idx="4">
                  <c:v>Manual Removal Tools</c:v>
                </c:pt>
                <c:pt idx="5">
                  <c:v>Camera-Assisted Removal Devices</c:v>
                </c:pt>
                <c:pt idx="6">
                  <c:v>Suction Devices and Accessories</c:v>
                </c:pt>
                <c:pt idx="7">
                  <c:v>Combination Removal Kits</c:v>
                </c:pt>
                <c:pt idx="8">
                  <c:v>2036 Total</c:v>
                </c:pt>
              </c:strCache>
            </c:strRef>
          </c:cat>
          <c:val>
            <c:numRef>
              <c:numCache>
                <c:formatCode>General</c:formatCode>
                <c:ptCount val="9"/>
                <c:pt idx="0">
                  <c:v>479.999</c:v>
                </c:pt>
                <c:pt idx="1">
                  <c:v>73.43800000000002</c:v>
                </c:pt>
                <c:pt idx="2">
                  <c:v>13.25500000000001</c:v>
                </c:pt>
                <c:pt idx="3">
                  <c:v>75.721</c:v>
                </c:pt>
                <c:pt idx="4">
                  <c:v>29.736999999999995</c:v>
                </c:pt>
                <c:pt idx="5">
                  <c:v>20.973999999999997</c:v>
                </c:pt>
                <c:pt idx="6">
                  <c:v>23.039</c:v>
                </c:pt>
                <c:pt idx="7">
                  <c:v>19.428000000000004</c:v>
                </c:pt>
                <c:pt idx="8">
                  <c:v>735.591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8"/>
                <c:pt idx="0">
                  <c:v>Ear Drops</c:v>
                </c:pt>
                <c:pt idx="1">
                  <c:v>Ear Sprays</c:v>
                </c:pt>
                <c:pt idx="2">
                  <c:v>Irrigation Devices and Accessories</c:v>
                </c:pt>
                <c:pt idx="3">
                  <c:v>Manual Removal Tools</c:v>
                </c:pt>
                <c:pt idx="4">
                  <c:v>Camera-Assisted Removal Devices</c:v>
                </c:pt>
                <c:pt idx="5">
                  <c:v>Suction Devices and Accessories</c:v>
                </c:pt>
                <c:pt idx="6">
                  <c:v>Combination Removal Kits</c:v>
                </c:pt>
                <c:pt idx="7">
                  <c:v>Total Absolute $ Opportunity</c:v>
                </c:pt>
              </c:strCache>
            </c:strRef>
          </c:cat>
          <c:val>
            <c:numRef>
              <c:numCache>
                <c:formatCode>General</c:formatCode>
                <c:ptCount val="8"/>
                <c:pt idx="0">
                  <c:v>0.0</c:v>
                </c:pt>
                <c:pt idx="1">
                  <c:v>73.43800000000002</c:v>
                </c:pt>
                <c:pt idx="2">
                  <c:v>86.69300000000003</c:v>
                </c:pt>
                <c:pt idx="3">
                  <c:v>162.41400000000004</c:v>
                </c:pt>
                <c:pt idx="4">
                  <c:v>192.15100000000004</c:v>
                </c:pt>
                <c:pt idx="5">
                  <c:v>213.12500000000003</c:v>
                </c:pt>
                <c:pt idx="6">
                  <c:v>236.16400000000004</c:v>
                </c:pt>
                <c:pt idx="7">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8"/>
                <c:pt idx="0">
                  <c:v>Ear Drops</c:v>
                </c:pt>
                <c:pt idx="1">
                  <c:v>Ear Sprays</c:v>
                </c:pt>
                <c:pt idx="2">
                  <c:v>Irrigation Devices and Accessories</c:v>
                </c:pt>
                <c:pt idx="3">
                  <c:v>Manual Removal Tools</c:v>
                </c:pt>
                <c:pt idx="4">
                  <c:v>Camera-Assisted Removal Devices</c:v>
                </c:pt>
                <c:pt idx="5">
                  <c:v>Suction Devices and Accessories</c:v>
                </c:pt>
                <c:pt idx="6">
                  <c:v>Combination Removal Kits</c:v>
                </c:pt>
                <c:pt idx="7">
                  <c:v>Total Absolute $ Opportunity</c:v>
                </c:pt>
              </c:strCache>
            </c:strRef>
          </c:cat>
          <c:val>
            <c:numRef>
              <c:numCache>
                <c:formatCode>General</c:formatCode>
                <c:ptCount val="8"/>
                <c:pt idx="0">
                  <c:v>73.43800000000002</c:v>
                </c:pt>
                <c:pt idx="1">
                  <c:v>13.25500000000001</c:v>
                </c:pt>
                <c:pt idx="2">
                  <c:v>75.721</c:v>
                </c:pt>
                <c:pt idx="3">
                  <c:v>29.736999999999995</c:v>
                </c:pt>
                <c:pt idx="4">
                  <c:v>20.973999999999997</c:v>
                </c:pt>
                <c:pt idx="5">
                  <c:v>23.039</c:v>
                </c:pt>
                <c:pt idx="6">
                  <c:v>19.428000000000004</c:v>
                </c:pt>
                <c:pt idx="7">
                  <c:v>255.59200000000004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1"/>
                <c:pt idx="0">
                  <c:v>2026</c:v>
                </c:pt>
                <c:pt idx="1">
                  <c:v>Individual consumers</c:v>
                </c:pt>
                <c:pt idx="2">
                  <c:v>Healthcare professionals</c:v>
                </c:pt>
                <c:pt idx="3">
                  <c:v>ENT specialists</c:v>
                </c:pt>
                <c:pt idx="4">
                  <c:v>General practitioners</c:v>
                </c:pt>
                <c:pt idx="5">
                  <c:v>Audiologists</c:v>
                </c:pt>
                <c:pt idx="6">
                  <c:v>Hospitals and Clinics</c:v>
                </c:pt>
                <c:pt idx="7">
                  <c:v>Nursing Homes</c:v>
                </c:pt>
                <c:pt idx="8">
                  <c:v>Assisted Living Facilities</c:v>
                </c:pt>
                <c:pt idx="9">
                  <c:v>Others</c:v>
                </c:pt>
                <c:pt idx="10">
                  <c:v>2036 Total</c:v>
                </c:pt>
              </c:strCache>
            </c:strRef>
          </c:cat>
          <c:val>
            <c:numRef>
              <c:numCache>
                <c:formatCode>General</c:formatCode>
                <c:ptCount val="11"/>
                <c:pt idx="0">
                  <c:v>0.0</c:v>
                </c:pt>
                <c:pt idx="1">
                  <c:v>479.999</c:v>
                </c:pt>
                <c:pt idx="2">
                  <c:v>516.936</c:v>
                </c:pt>
                <c:pt idx="3">
                  <c:v>560.078</c:v>
                </c:pt>
                <c:pt idx="4">
                  <c:v>575.5409999999999</c:v>
                </c:pt>
                <c:pt idx="5">
                  <c:v>597.8219999999999</c:v>
                </c:pt>
                <c:pt idx="6">
                  <c:v>627.4709999999999</c:v>
                </c:pt>
                <c:pt idx="7">
                  <c:v>658.6799999999998</c:v>
                </c:pt>
                <c:pt idx="8">
                  <c:v>683.1509999999998</c:v>
                </c:pt>
                <c:pt idx="9">
                  <c:v>686.6189999999998</c:v>
                </c:pt>
                <c:pt idx="10">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1"/>
                <c:pt idx="0">
                  <c:v>2026</c:v>
                </c:pt>
                <c:pt idx="1">
                  <c:v>Individual consumers</c:v>
                </c:pt>
                <c:pt idx="2">
                  <c:v>Healthcare professionals</c:v>
                </c:pt>
                <c:pt idx="3">
                  <c:v>ENT specialists</c:v>
                </c:pt>
                <c:pt idx="4">
                  <c:v>General practitioners</c:v>
                </c:pt>
                <c:pt idx="5">
                  <c:v>Audiologists</c:v>
                </c:pt>
                <c:pt idx="6">
                  <c:v>Hospitals and Clinics</c:v>
                </c:pt>
                <c:pt idx="7">
                  <c:v>Nursing Homes</c:v>
                </c:pt>
                <c:pt idx="8">
                  <c:v>Assisted Living Facilities</c:v>
                </c:pt>
                <c:pt idx="9">
                  <c:v>Others</c:v>
                </c:pt>
                <c:pt idx="10">
                  <c:v>2036 Total</c:v>
                </c:pt>
              </c:strCache>
            </c:strRef>
          </c:cat>
          <c:val>
            <c:numRef>
              <c:numCache>
                <c:formatCode>General</c:formatCode>
                <c:ptCount val="11"/>
                <c:pt idx="0">
                  <c:v>479.999</c:v>
                </c:pt>
                <c:pt idx="1">
                  <c:v>36.93699999999999</c:v>
                </c:pt>
                <c:pt idx="2">
                  <c:v>43.141999999999996</c:v>
                </c:pt>
                <c:pt idx="3">
                  <c:v>15.462999999999994</c:v>
                </c:pt>
                <c:pt idx="4">
                  <c:v>22.28099999999999</c:v>
                </c:pt>
                <c:pt idx="5">
                  <c:v>29.649</c:v>
                </c:pt>
                <c:pt idx="6">
                  <c:v>31.208999999999996</c:v>
                </c:pt>
                <c:pt idx="7">
                  <c:v>24.471</c:v>
                </c:pt>
                <c:pt idx="8">
                  <c:v>3.4680000000000017</c:v>
                </c:pt>
                <c:pt idx="9">
                  <c:v>48.971999999999994</c:v>
                </c:pt>
                <c:pt idx="10">
                  <c:v>735.5909999999999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0"/>
                <c:pt idx="0">
                  <c:v>Individual consumers</c:v>
                </c:pt>
                <c:pt idx="1">
                  <c:v>Healthcare professionals</c:v>
                </c:pt>
                <c:pt idx="2">
                  <c:v>ENT specialists</c:v>
                </c:pt>
                <c:pt idx="3">
                  <c:v>General practitioners</c:v>
                </c:pt>
                <c:pt idx="4">
                  <c:v>Audiologists</c:v>
                </c:pt>
                <c:pt idx="5">
                  <c:v>Hospitals and Clinics</c:v>
                </c:pt>
                <c:pt idx="6">
                  <c:v>Nursing Homes</c:v>
                </c:pt>
                <c:pt idx="7">
                  <c:v>Assisted Living Facilities</c:v>
                </c:pt>
                <c:pt idx="8">
                  <c:v>Others</c:v>
                </c:pt>
                <c:pt idx="9">
                  <c:v>Total Absolute $ Opportunity</c:v>
                </c:pt>
              </c:strCache>
            </c:strRef>
          </c:cat>
          <c:val>
            <c:numRef>
              <c:numCache>
                <c:formatCode>General</c:formatCode>
                <c:ptCount val="10"/>
                <c:pt idx="0">
                  <c:v>0.0</c:v>
                </c:pt>
                <c:pt idx="1">
                  <c:v>36.93699999999999</c:v>
                </c:pt>
                <c:pt idx="2">
                  <c:v>80.07899999999998</c:v>
                </c:pt>
                <c:pt idx="3">
                  <c:v>95.54199999999997</c:v>
                </c:pt>
                <c:pt idx="4">
                  <c:v>117.82299999999996</c:v>
                </c:pt>
                <c:pt idx="5">
                  <c:v>147.47199999999998</c:v>
                </c:pt>
                <c:pt idx="6">
                  <c:v>178.68099999999998</c:v>
                </c:pt>
                <c:pt idx="7">
                  <c:v>203.152</c:v>
                </c:pt>
                <c:pt idx="8">
                  <c:v>206.61999999999998</c:v>
                </c:pt>
                <c:pt idx="9">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0"/>
                <c:pt idx="0">
                  <c:v>Individual consumers</c:v>
                </c:pt>
                <c:pt idx="1">
                  <c:v>Healthcare professionals</c:v>
                </c:pt>
                <c:pt idx="2">
                  <c:v>ENT specialists</c:v>
                </c:pt>
                <c:pt idx="3">
                  <c:v>General practitioners</c:v>
                </c:pt>
                <c:pt idx="4">
                  <c:v>Audiologists</c:v>
                </c:pt>
                <c:pt idx="5">
                  <c:v>Hospitals and Clinics</c:v>
                </c:pt>
                <c:pt idx="6">
                  <c:v>Nursing Homes</c:v>
                </c:pt>
                <c:pt idx="7">
                  <c:v>Assisted Living Facilities</c:v>
                </c:pt>
                <c:pt idx="8">
                  <c:v>Others</c:v>
                </c:pt>
                <c:pt idx="9">
                  <c:v>Total Absolute $ Opportunity</c:v>
                </c:pt>
              </c:strCache>
            </c:strRef>
          </c:cat>
          <c:val>
            <c:numRef>
              <c:numCache>
                <c:formatCode>General</c:formatCode>
                <c:ptCount val="10"/>
                <c:pt idx="0">
                  <c:v>36.93699999999999</c:v>
                </c:pt>
                <c:pt idx="1">
                  <c:v>43.141999999999996</c:v>
                </c:pt>
                <c:pt idx="2">
                  <c:v>15.462999999999994</c:v>
                </c:pt>
                <c:pt idx="3">
                  <c:v>22.28099999999999</c:v>
                </c:pt>
                <c:pt idx="4">
                  <c:v>29.649</c:v>
                </c:pt>
                <c:pt idx="5">
                  <c:v>31.208999999999996</c:v>
                </c:pt>
                <c:pt idx="6">
                  <c:v>24.471</c:v>
                </c:pt>
                <c:pt idx="7">
                  <c:v>3.4680000000000017</c:v>
                </c:pt>
                <c:pt idx="8">
                  <c:v>48.971999999999994</c:v>
                </c:pt>
                <c:pt idx="9">
                  <c:v>255.59199999999993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Retail Pharmacies and Drug Stores</c:v>
                </c:pt>
                <c:pt idx="2">
                  <c:v>Supermarkets and Mass Retailers</c:v>
                </c:pt>
                <c:pt idx="3">
                  <c:v>Online Channels</c:v>
                </c:pt>
                <c:pt idx="4">
                  <c:v>Medical Distributors and Institutional Procurement</c:v>
                </c:pt>
                <c:pt idx="5">
                  <c:v>Other Offline Channels</c:v>
                </c:pt>
                <c:pt idx="6">
                  <c:v>2036 Total</c:v>
                </c:pt>
              </c:strCache>
            </c:strRef>
          </c:cat>
          <c:val>
            <c:numRef>
              <c:numCache>
                <c:formatCode>General</c:formatCode>
                <c:ptCount val="7"/>
                <c:pt idx="0">
                  <c:v>0.0</c:v>
                </c:pt>
                <c:pt idx="1">
                  <c:v>479.99899999999997</c:v>
                </c:pt>
                <c:pt idx="2">
                  <c:v>535.405</c:v>
                </c:pt>
                <c:pt idx="3">
                  <c:v>569.422</c:v>
                </c:pt>
                <c:pt idx="4">
                  <c:v>624.802</c:v>
                </c:pt>
                <c:pt idx="5">
                  <c:v>650.454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Retail Pharmacies and Drug Stores</c:v>
                </c:pt>
                <c:pt idx="2">
                  <c:v>Supermarkets and Mass Retailers</c:v>
                </c:pt>
                <c:pt idx="3">
                  <c:v>Online Channels</c:v>
                </c:pt>
                <c:pt idx="4">
                  <c:v>Medical Distributors and Institutional Procurement</c:v>
                </c:pt>
                <c:pt idx="5">
                  <c:v>Other Offline Channels</c:v>
                </c:pt>
                <c:pt idx="6">
                  <c:v>2036 Total</c:v>
                </c:pt>
              </c:strCache>
            </c:strRef>
          </c:cat>
          <c:val>
            <c:numRef>
              <c:numCache>
                <c:formatCode>General</c:formatCode>
                <c:ptCount val="7"/>
                <c:pt idx="0">
                  <c:v>479.99899999999997</c:v>
                </c:pt>
                <c:pt idx="1">
                  <c:v>55.40599999999999</c:v>
                </c:pt>
                <c:pt idx="2">
                  <c:v>34.017</c:v>
                </c:pt>
                <c:pt idx="3">
                  <c:v>55.379999999999995</c:v>
                </c:pt>
                <c:pt idx="4">
                  <c:v>25.651999999999987</c:v>
                </c:pt>
                <c:pt idx="5">
                  <c:v>85.137</c:v>
                </c:pt>
                <c:pt idx="6">
                  <c:v>735.591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Retail Pharmacies and Drug Stores</c:v>
                </c:pt>
                <c:pt idx="1">
                  <c:v>Supermarkets and Mass Retailers</c:v>
                </c:pt>
                <c:pt idx="2">
                  <c:v>Online Channels</c:v>
                </c:pt>
                <c:pt idx="3">
                  <c:v>Medical Distributors and Institutional Procurement</c:v>
                </c:pt>
                <c:pt idx="4">
                  <c:v>Other Offline Channels</c:v>
                </c:pt>
                <c:pt idx="5">
                  <c:v>Total Absolute $ Opportunity</c:v>
                </c:pt>
              </c:strCache>
            </c:strRef>
          </c:cat>
          <c:val>
            <c:numRef>
              <c:numCache>
                <c:formatCode>General</c:formatCode>
                <c:ptCount val="6"/>
                <c:pt idx="0">
                  <c:v>0.0</c:v>
                </c:pt>
                <c:pt idx="1">
                  <c:v>55.40599999999999</c:v>
                </c:pt>
                <c:pt idx="2">
                  <c:v>89.423</c:v>
                </c:pt>
                <c:pt idx="3">
                  <c:v>144.803</c:v>
                </c:pt>
                <c:pt idx="4">
                  <c:v>170.45499999999998</c:v>
                </c:pt>
                <c:pt idx="5">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Retail Pharmacies and Drug Stores</c:v>
                </c:pt>
                <c:pt idx="1">
                  <c:v>Supermarkets and Mass Retailers</c:v>
                </c:pt>
                <c:pt idx="2">
                  <c:v>Online Channels</c:v>
                </c:pt>
                <c:pt idx="3">
                  <c:v>Medical Distributors and Institutional Procurement</c:v>
                </c:pt>
                <c:pt idx="4">
                  <c:v>Other Offline Channels</c:v>
                </c:pt>
                <c:pt idx="5">
                  <c:v>Total Absolute $ Opportunity</c:v>
                </c:pt>
              </c:strCache>
            </c:strRef>
          </c:cat>
          <c:val>
            <c:numRef>
              <c:numCache>
                <c:formatCode>General</c:formatCode>
                <c:ptCount val="6"/>
                <c:pt idx="0">
                  <c:v>55.40599999999999</c:v>
                </c:pt>
                <c:pt idx="1">
                  <c:v>34.017</c:v>
                </c:pt>
                <c:pt idx="2">
                  <c:v>55.379999999999995</c:v>
                </c:pt>
                <c:pt idx="3">
                  <c:v>25.651999999999987</c:v>
                </c:pt>
                <c:pt idx="4">
                  <c:v>85.137</c:v>
                </c:pt>
                <c:pt idx="5">
                  <c:v>255.59199999999998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2026</c:v>
                </c:pt>
                <c:pt idx="1">
                  <c:v>Paediatric</c:v>
                </c:pt>
                <c:pt idx="2">
                  <c:v>Adult</c:v>
                </c:pt>
                <c:pt idx="3">
                  <c:v>Geriatric</c:v>
                </c:pt>
                <c:pt idx="4">
                  <c:v>2036 Total</c:v>
                </c:pt>
              </c:strCache>
            </c:strRef>
          </c:cat>
          <c:val>
            <c:numRef>
              <c:numCache>
                <c:formatCode>General</c:formatCode>
                <c:ptCount val="5"/>
                <c:pt idx="0">
                  <c:v>0.0</c:v>
                </c:pt>
                <c:pt idx="1">
                  <c:v>479.999</c:v>
                </c:pt>
                <c:pt idx="2">
                  <c:v>653.724</c:v>
                </c:pt>
                <c:pt idx="3">
                  <c:v>720.5830000000001</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2026</c:v>
                </c:pt>
                <c:pt idx="1">
                  <c:v>Paediatric</c:v>
                </c:pt>
                <c:pt idx="2">
                  <c:v>Adult</c:v>
                </c:pt>
                <c:pt idx="3">
                  <c:v>Geriatric</c:v>
                </c:pt>
                <c:pt idx="4">
                  <c:v>2036 Total</c:v>
                </c:pt>
              </c:strCache>
            </c:strRef>
          </c:cat>
          <c:val>
            <c:numRef>
              <c:numCache>
                <c:formatCode>General</c:formatCode>
                <c:ptCount val="5"/>
                <c:pt idx="0">
                  <c:v>479.999</c:v>
                </c:pt>
                <c:pt idx="1">
                  <c:v>173.72500000000002</c:v>
                </c:pt>
                <c:pt idx="2">
                  <c:v>66.85900000000001</c:v>
                </c:pt>
                <c:pt idx="3">
                  <c:v>15.007999999999996</c:v>
                </c:pt>
                <c:pt idx="4">
                  <c:v>735.5910000000001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Paediatric</c:v>
                </c:pt>
                <c:pt idx="1">
                  <c:v>Adult</c:v>
                </c:pt>
                <c:pt idx="2">
                  <c:v>Geriatric</c:v>
                </c:pt>
                <c:pt idx="3">
                  <c:v>Total Absolute $ Opportunity</c:v>
                </c:pt>
              </c:strCache>
            </c:strRef>
          </c:cat>
          <c:val>
            <c:numRef>
              <c:numCache>
                <c:formatCode>General</c:formatCode>
                <c:ptCount val="4"/>
                <c:pt idx="0">
                  <c:v>0.0</c:v>
                </c:pt>
                <c:pt idx="1">
                  <c:v>173.72500000000002</c:v>
                </c:pt>
                <c:pt idx="2">
                  <c:v>240.58400000000003</c:v>
                </c:pt>
                <c:pt idx="3">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Paediatric</c:v>
                </c:pt>
                <c:pt idx="1">
                  <c:v>Adult</c:v>
                </c:pt>
                <c:pt idx="2">
                  <c:v>Geriatric</c:v>
                </c:pt>
                <c:pt idx="3">
                  <c:v>Total Absolute $ Opportunity</c:v>
                </c:pt>
              </c:strCache>
            </c:strRef>
          </c:cat>
          <c:val>
            <c:numRef>
              <c:numCache>
                <c:formatCode>General</c:formatCode>
                <c:ptCount val="4"/>
                <c:pt idx="0">
                  <c:v>173.72500000000002</c:v>
                </c:pt>
                <c:pt idx="1">
                  <c:v>66.85900000000001</c:v>
                </c:pt>
                <c:pt idx="2">
                  <c:v>15.007999999999996</c:v>
                </c:pt>
                <c:pt idx="3">
                  <c:v>255.59200000000004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strCache>
                <c:ptCount val="1"/>
                <c:pt idx="0">
                  <c:v>Camera-Assisted Removal Devices</c:v>
                </c:pt>
              </c:strCache>
            </c:strRef>
          </c:tx>
          <c:spPr>
            <a:ln w="25400">
              <a:solidFill>
                <a:srgbClr val="C55A1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12.0</c:v>
                </c:pt>
                <c:pt idx="1">
                  <c:v>12.0</c:v>
                </c:pt>
                <c:pt idx="2">
                  <c:v>12.0</c:v>
                </c:pt>
                <c:pt idx="3">
                  <c:v>12.0</c:v>
                </c:pt>
                <c:pt idx="4">
                  <c:v>12.0</c:v>
                </c:pt>
                <c:pt idx="5">
                  <c:v>12.0</c:v>
                </c:pt>
                <c:pt idx="6">
                  <c:v>13.0</c:v>
                </c:pt>
                <c:pt idx="7">
                  <c:v>13.0</c:v>
                </c:pt>
                <c:pt idx="8">
                  <c:v>13.0</c:v>
                </c:pt>
                <c:pt idx="9">
                  <c:v>13.0</c:v>
                </c:pt>
                <c:pt idx="10">
                  <c:v>13.0</c:v>
                </c:pt>
                <c:pt idx="11">
                  <c:v>13.0</c:v>
                </c:pt>
                <c:pt idx="12">
                  <c:v>13.0</c:v>
                </c:pt>
                <c:pt idx="13">
                  <c:v>13.0</c:v>
                </c:pt>
                <c:pt idx="14">
                  <c:v>13.0</c:v>
                </c:pt>
                <c:pt idx="15">
                  <c:v>13.0</c:v>
                </c:pt>
              </c:numCache>
            </c:numRef>
          </c:val>
          <c:smooth val="0"/>
        </c:ser>
        <c:ser>
          <c:idx val="1"/>
          <c:order val="1"/>
          <c:tx>
            <c:strRef>
              <c:strCache>
                <c:ptCount val="1"/>
                <c:pt idx="0">
                  <c:v>Combination Removal Kits</c:v>
                </c:pt>
              </c:strCache>
            </c:strRef>
          </c:tx>
          <c:spPr>
            <a:ln w="25400">
              <a:solidFill>
                <a:srgbClr val="0B2E4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11.0</c:v>
                </c:pt>
                <c:pt idx="1">
                  <c:v>11.0</c:v>
                </c:pt>
                <c:pt idx="2">
                  <c:v>11.0</c:v>
                </c:pt>
                <c:pt idx="3">
                  <c:v>11.0</c:v>
                </c:pt>
                <c:pt idx="4">
                  <c:v>11.0</c:v>
                </c:pt>
                <c:pt idx="5">
                  <c:v>11.0</c:v>
                </c:pt>
                <c:pt idx="6">
                  <c:v>12.0</c:v>
                </c:pt>
                <c:pt idx="7">
                  <c:v>12.0</c:v>
                </c:pt>
                <c:pt idx="8">
                  <c:v>12.0</c:v>
                </c:pt>
                <c:pt idx="9">
                  <c:v>12.0</c:v>
                </c:pt>
                <c:pt idx="10">
                  <c:v>12.0</c:v>
                </c:pt>
                <c:pt idx="11">
                  <c:v>12.0</c:v>
                </c:pt>
                <c:pt idx="12">
                  <c:v>12.0</c:v>
                </c:pt>
                <c:pt idx="13">
                  <c:v>12.0</c:v>
                </c:pt>
                <c:pt idx="14">
                  <c:v>12.0</c:v>
                </c:pt>
                <c:pt idx="15">
                  <c:v>12.0</c:v>
                </c:pt>
              </c:numCache>
            </c:numRef>
          </c:val>
          <c:smooth val="0"/>
        </c:ser>
        <c:ser>
          <c:idx val="2"/>
          <c:order val="2"/>
          <c:tx>
            <c:strRef>
              <c:strCache>
                <c:ptCount val="1"/>
                <c:pt idx="0">
                  <c:v>Suction Devices and Accessories</c:v>
                </c:pt>
              </c:strCache>
            </c:strRef>
          </c:tx>
          <c:spPr>
            <a:ln w="25400">
              <a:solidFill>
                <a:srgbClr val="7030A0"/>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10.0</c:v>
                </c:pt>
                <c:pt idx="1">
                  <c:v>10.0</c:v>
                </c:pt>
                <c:pt idx="2">
                  <c:v>10.0</c:v>
                </c:pt>
                <c:pt idx="3">
                  <c:v>10.0</c:v>
                </c:pt>
                <c:pt idx="4">
                  <c:v>10.0</c:v>
                </c:pt>
                <c:pt idx="5">
                  <c:v>10.0</c:v>
                </c:pt>
                <c:pt idx="6">
                  <c:v>10.0</c:v>
                </c:pt>
                <c:pt idx="7">
                  <c:v>11.0</c:v>
                </c:pt>
                <c:pt idx="8">
                  <c:v>11.0</c:v>
                </c:pt>
                <c:pt idx="9">
                  <c:v>11.0</c:v>
                </c:pt>
                <c:pt idx="10">
                  <c:v>11.0</c:v>
                </c:pt>
                <c:pt idx="11">
                  <c:v>11.0</c:v>
                </c:pt>
                <c:pt idx="12">
                  <c:v>11.0</c:v>
                </c:pt>
                <c:pt idx="13">
                  <c:v>11.0</c:v>
                </c:pt>
                <c:pt idx="14">
                  <c:v>11.0</c:v>
                </c:pt>
                <c:pt idx="15">
                  <c:v>11.0</c:v>
                </c:pt>
              </c:numCache>
            </c:numRef>
          </c:val>
          <c:smooth val="0"/>
        </c:ser>
        <c:ser>
          <c:idx val="3"/>
          <c:order val="3"/>
          <c:tx>
            <c:strRef>
              <c:strCache>
                <c:ptCount val="1"/>
                <c:pt idx="0">
                  <c:v>Manual Removal Tools</c:v>
                </c:pt>
              </c:strCache>
            </c:strRef>
          </c:tx>
          <c:spPr>
            <a:ln w="25400">
              <a:solidFill>
                <a:srgbClr val="008189"/>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11.0</c:v>
                </c:pt>
                <c:pt idx="14">
                  <c:v>11.0</c:v>
                </c:pt>
                <c:pt idx="15">
                  <c:v>11.0</c:v>
                </c:pt>
              </c:numCache>
            </c:numRef>
          </c:val>
          <c:smooth val="0"/>
        </c:ser>
        <c:ser>
          <c:idx val="4"/>
          <c:order val="4"/>
          <c:tx>
            <c:strRef>
              <c:strCache>
                <c:ptCount val="1"/>
                <c:pt idx="0">
                  <c:v>Irrigation Devices and Accessories</c:v>
                </c:pt>
              </c:strCache>
            </c:strRef>
          </c:tx>
          <c:spPr>
            <a:ln w="25400">
              <a:solidFill>
                <a:srgbClr val="9E7E0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11.0</c:v>
                </c:pt>
              </c:numCache>
            </c:numRef>
          </c:val>
          <c:smooth val="0"/>
        </c:ser>
        <c:ser>
          <c:idx val="5"/>
          <c:order val="5"/>
          <c:tx>
            <c:strRef>
              <c:strCache>
                <c:ptCount val="1"/>
                <c:pt idx="0">
                  <c:v>Ear Sprays</c:v>
                </c:pt>
              </c:strCache>
            </c:strRef>
          </c:tx>
          <c:spPr>
            <a:ln w="25400">
              <a:solidFill>
                <a:srgbClr val="5B7DB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9.0</c:v>
                </c:pt>
                <c:pt idx="1">
                  <c:v>9.0</c:v>
                </c:pt>
                <c:pt idx="2">
                  <c:v>9.0</c:v>
                </c:pt>
                <c:pt idx="3">
                  <c:v>9.0</c:v>
                </c:pt>
                <c:pt idx="4">
                  <c:v>9.0</c:v>
                </c:pt>
                <c:pt idx="5">
                  <c:v>9.0</c:v>
                </c:pt>
                <c:pt idx="6">
                  <c:v>9.0</c:v>
                </c:pt>
                <c:pt idx="7">
                  <c:v>9.0</c:v>
                </c:pt>
                <c:pt idx="8">
                  <c:v>10.0</c:v>
                </c:pt>
                <c:pt idx="9">
                  <c:v>10.0</c:v>
                </c:pt>
                <c:pt idx="10">
                  <c:v>10.0</c:v>
                </c:pt>
                <c:pt idx="11">
                  <c:v>10.0</c:v>
                </c:pt>
                <c:pt idx="12">
                  <c:v>10.0</c:v>
                </c:pt>
                <c:pt idx="13">
                  <c:v>10.0</c:v>
                </c:pt>
                <c:pt idx="14">
                  <c:v>10.0</c:v>
                </c:pt>
                <c:pt idx="15">
                  <c:v>10.0</c:v>
                </c:pt>
              </c:numCache>
            </c:numRef>
          </c:val>
          <c:smooth val="0"/>
        </c:ser>
        <c:ser>
          <c:idx val="6"/>
          <c:order val="6"/>
          <c:tx>
            <c:strRef>
              <c:strCache>
                <c:ptCount val="1"/>
                <c:pt idx="0">
                  <c:v>Ear Drops</c:v>
                </c:pt>
              </c:strCache>
            </c:strRef>
          </c:tx>
          <c:spPr>
            <a:ln w="25400">
              <a:solidFill>
                <a:srgbClr val="A23B5C"/>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9.0</c:v>
                </c:pt>
                <c:pt idx="1">
                  <c:v>9.0</c:v>
                </c:pt>
                <c:pt idx="2">
                  <c:v>9.0</c:v>
                </c:pt>
                <c:pt idx="3">
                  <c:v>9.0</c:v>
                </c:pt>
                <c:pt idx="4">
                  <c:v>9.0</c:v>
                </c:pt>
                <c:pt idx="5">
                  <c:v>9.0</c:v>
                </c:pt>
                <c:pt idx="6">
                  <c:v>9.0</c:v>
                </c:pt>
                <c:pt idx="7">
                  <c:v>9.0</c:v>
                </c:pt>
                <c:pt idx="8">
                  <c:v>9.0</c:v>
                </c:pt>
                <c:pt idx="9">
                  <c:v>9.0</c:v>
                </c:pt>
                <c:pt idx="10">
                  <c:v>9.0</c:v>
                </c:pt>
                <c:pt idx="11">
                  <c:v>9.0</c:v>
                </c:pt>
                <c:pt idx="12">
                  <c:v>9.0</c:v>
                </c:pt>
                <c:pt idx="13">
                  <c:v>9.0</c:v>
                </c:pt>
                <c:pt idx="14">
                  <c:v>9.0</c:v>
                </c:pt>
                <c:pt idx="15">
                  <c:v>9.0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D9DEE4"/>
            </a:solidFill>
          </a:ln>
        </c:spPr>
        <c:txPr>
          <a:bodyPr/>
          <a:lstStyle/>
          <a:p>
            <a:pPr>
              <a:defRPr sz="900">
                <a:solidFill>
                  <a:srgbClr val="59636E"/>
                </a:solidFill>
                <a:latin typeface="Calibri"/>
              </a:defRPr>
            </a:pPr>
          </a:p>
        </c:txPr>
        <c:crossAx val="2140495176"/>
        <c:crosses val="autoZero"/>
        <c:auto val="1"/>
        <c:lblAlgn val="ctr"/>
        <c:lblOffset val="100"/>
        <c:noMultiLvlLbl val="0"/>
      </c:catAx>
      <c:valAx>
        <c:axId val="2140495176"/>
        <c:scaling>
          <c:max val="500.0"/>
          <c:min val="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900">
                <a:solidFill>
                  <a:srgbClr val="59636E"/>
                </a:solidFill>
                <a:latin typeface="Calibri"/>
              </a:defRPr>
            </a:pPr>
          </a:p>
        </c:txPr>
        <c:crossAx val="2118791784"/>
        <c:crosses val="autoZero"/>
        <c:majorUnit val="500.0"/>
      </c:valAx>
    </c:plotArea>
    <c:legend>
      <c:legendPos val="b"/>
      <c:layout/>
      <c:overlay val="0"/>
      <c:txPr>
        <a:bodyPr/>
        <a:lstStyle/>
        <a:p>
          <a:pPr>
            <a:defRPr sz="900">
              <a:latin typeface="Calibri"/>
            </a:defRPr>
          </a:pPr>
        </a:p>
      </c:txPr>
    </c:legend>
    <c:plotVisOnly val="1"/>
    <c:dispBlanksAs val="gap"/>
    <c:showDLblsOverMax val="0"/>
  </c:chart>
  <c:txPr>
    <a:bodyPr/>
    <a:lstStyle/>
    <a:p>
      <a:pPr>
        <a:defRPr sz="1800"/>
      </a:pPr>
      <a:endParaRPr lang="en-US"/>
    </a:p>
  </c:txPr>
</c:chartSpace>
</file>

<file path=ppt/charts/chart1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strCache>
                <c:ptCount val="1"/>
                <c:pt idx="0">
                  <c:v>Index</c:v>
                </c:pt>
              </c:strCache>
            </c:strRef>
          </c:tx>
          <c:dPt>
            <c:idx val="0"/>
            <c:spPr>
              <a:solidFill>
                <a:srgbClr val="5B7DB1"/>
              </a:solidFill>
            </c:spPr>
          </c:dPt>
          <c:dPt>
            <c:idx val="1"/>
            <c:spPr>
              <a:solidFill>
                <a:srgbClr val="5B7DB1"/>
              </a:solidFill>
            </c:spPr>
          </c:dPt>
          <c:dPt>
            <c:idx val="2"/>
            <c:spPr>
              <a:solidFill>
                <a:srgbClr val="5B7DB1"/>
              </a:solidFill>
            </c:spPr>
          </c:dPt>
          <c:dPt>
            <c:idx val="3"/>
            <c:spPr>
              <a:solidFill>
                <a:srgbClr val="C55A11"/>
              </a:solidFill>
            </c:spPr>
          </c:dPt>
          <c:dPt>
            <c:idx val="4"/>
            <c:spPr>
              <a:solidFill>
                <a:srgbClr val="C55A11"/>
              </a:solidFill>
            </c:spPr>
          </c:dPt>
          <c:dPt>
            <c:idx val="5"/>
            <c:spPr>
              <a:solidFill>
                <a:srgbClr val="C55A11"/>
              </a:solidFill>
            </c:spPr>
          </c:dPt>
          <c:dPt>
            <c:idx val="6"/>
            <c:spPr>
              <a:solidFill>
                <a:srgbClr val="C55A11"/>
              </a:solidFill>
            </c:spPr>
          </c:dPt>
          <c:cat>
            <c:strRef>
              <c:strCache>
                <c:ptCount val="7"/>
                <c:pt idx="0">
                  <c:v>Ear Drops</c:v>
                </c:pt>
                <c:pt idx="1">
                  <c:v>Ear Sprays</c:v>
                </c:pt>
                <c:pt idx="2">
                  <c:v>Irrigation Devices and Accessories</c:v>
                </c:pt>
                <c:pt idx="3">
                  <c:v>Manual Removal Tools</c:v>
                </c:pt>
                <c:pt idx="4">
                  <c:v>Suction Devices and Accessories</c:v>
                </c:pt>
                <c:pt idx="5">
                  <c:v>Combination Removal Kits</c:v>
                </c:pt>
                <c:pt idx="6">
                  <c:v>Camera-Assisted Removal Devices</c:v>
                </c:pt>
              </c:strCache>
            </c:strRef>
          </c:cat>
          <c:val>
            <c:numRef>
              <c:numCache>
                <c:formatCode>General</c:formatCode>
                <c:ptCount val="7"/>
                <c:pt idx="0">
                  <c:v>90.9</c:v>
                </c:pt>
                <c:pt idx="1">
                  <c:v>93.6</c:v>
                </c:pt>
                <c:pt idx="2">
                  <c:v>99.7</c:v>
                </c:pt>
                <c:pt idx="3">
                  <c:v>101.0</c:v>
                </c:pt>
                <c:pt idx="4">
                  <c:v>104.6</c:v>
                </c:pt>
                <c:pt idx="5">
                  <c:v>114.7</c:v>
                </c:pt>
                <c:pt idx="6">
                  <c:v>124.4</c:v>
                </c:pt>
              </c:numCache>
            </c:numRef>
          </c:val>
        </c:ser>
        <c:gapWidth val="45"/>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26.0"/>
          <c:min val="88.0"/>
        </c:scaling>
        <c:delete/>
        <c:axPos val="b"/>
        <c:majorTickMark val="out"/>
        <c:minorTickMark val="none"/>
        <c:tickLblPos val="none"/>
        <c:crossAx val="-2068027336"/>
        <c:crosses val="autoZero"/>
      </c:valAx>
    </c:plotArea>
    <c:dispBlanksAs val="gap"/>
  </c:chart>
  <c:txPr>
    <a:bodyPr/>
    <a:lstStyle/>
    <a:p>
      <a:pPr>
        <a:defRPr sz="1800"/>
      </a:pPr>
      <a:endParaRPr lang="en-US"/>
    </a:p>
  </c:txPr>
</c:chartSpace>
</file>

<file path=ppt/charts/chart12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strCache>
                <c:ptCount val="1"/>
                <c:pt idx="0">
                  <c:v>Base</c:v>
                </c:pt>
              </c:strCache>
            </c:strRef>
          </c:tx>
          <c:spPr>
            <a:noFill/>
          </c:spPr>
          <c:cat>
            <c:strRef>
              <c:strCache>
                <c:ptCount val="6"/>
                <c:pt idx="0">
                  <c:v>North America</c:v>
                </c:pt>
                <c:pt idx="1">
                  <c:v>Europe</c:v>
                </c:pt>
                <c:pt idx="2">
                  <c:v>Latin America</c:v>
                </c:pt>
                <c:pt idx="3">
                  <c:v>Middle East &amp; Africa</c:v>
                </c:pt>
                <c:pt idx="4">
                  <c:v>East Asia</c:v>
                </c:pt>
                <c:pt idx="5">
                  <c:v>South Asia &amp; Pacific</c:v>
                </c:pt>
              </c:strCache>
            </c:strRef>
          </c:cat>
          <c:val>
            <c:numRef>
              <c:numCache>
                <c:formatCode>General</c:formatCode>
                <c:ptCount val="6"/>
                <c:pt idx="0">
                  <c:v>124.6</c:v>
                </c:pt>
                <c:pt idx="1">
                  <c:v>110.2</c:v>
                </c:pt>
                <c:pt idx="2">
                  <c:v>86.9</c:v>
                </c:pt>
                <c:pt idx="3">
                  <c:v>84.3</c:v>
                </c:pt>
                <c:pt idx="4">
                  <c:v>63.2</c:v>
                </c:pt>
                <c:pt idx="5">
                  <c:v>56.3</c:v>
                </c:pt>
              </c:numCache>
            </c:numRef>
          </c:val>
        </c:ser>
        <c:ser>
          <c:idx val="1"/>
          <c:order val="1"/>
          <c:tx>
            <c:strRef>
              <c:strCache>
                <c:ptCount val="1"/>
                <c:pt idx="0">
                  <c:v>Range</c:v>
                </c:pt>
              </c:strCache>
            </c:strRef>
          </c:tx>
          <c:spPr>
            <a:solidFill>
              <a:srgbClr val="008189"/>
            </a:solidFill>
          </c:spPr>
          <c:dPt>
            <c:idx val="2"/>
            <c:spPr>
              <a:solidFill>
                <a:srgbClr val="5B7DB1"/>
              </a:solidFill>
            </c:spPr>
          </c:dPt>
          <c:dPt>
            <c:idx val="3"/>
            <c:spPr>
              <a:solidFill>
                <a:srgbClr val="5B7DB1"/>
              </a:solidFill>
            </c:spPr>
          </c:dPt>
          <c:dPt>
            <c:idx val="4"/>
            <c:spPr>
              <a:solidFill>
                <a:srgbClr val="5B7DB1"/>
              </a:solidFill>
            </c:spPr>
          </c:dPt>
          <c:dPt>
            <c:idx val="5"/>
            <c:spPr>
              <a:solidFill>
                <a:srgbClr val="5B7DB1"/>
              </a:solidFill>
            </c:spPr>
          </c:dPt>
          <c:cat>
            <c:strRef>
              <c:strCache>
                <c:ptCount val="6"/>
                <c:pt idx="0">
                  <c:v>North America</c:v>
                </c:pt>
                <c:pt idx="1">
                  <c:v>Europe</c:v>
                </c:pt>
                <c:pt idx="2">
                  <c:v>Latin America</c:v>
                </c:pt>
                <c:pt idx="3">
                  <c:v>Middle East &amp; Africa</c:v>
                </c:pt>
                <c:pt idx="4">
                  <c:v>East Asia</c:v>
                </c:pt>
                <c:pt idx="5">
                  <c:v>South Asia &amp; Pacific</c:v>
                </c:pt>
              </c:strCache>
            </c:strRef>
          </c:cat>
          <c:val>
            <c:numRef>
              <c:numCache>
                <c:formatCode>General</c:formatCode>
                <c:ptCount val="6"/>
                <c:pt idx="0">
                  <c:v>43.7</c:v>
                </c:pt>
                <c:pt idx="1">
                  <c:v>39.3</c:v>
                </c:pt>
                <c:pt idx="2">
                  <c:v>30.9</c:v>
                </c:pt>
                <c:pt idx="3">
                  <c:v>29.3</c:v>
                </c:pt>
                <c:pt idx="4">
                  <c:v>24.2</c:v>
                </c:pt>
                <c:pt idx="5">
                  <c:v>20.4</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70.0"/>
          <c:min val="55.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850">
                <a:solidFill>
                  <a:srgbClr val="59636E"/>
                </a:solidFill>
                <a:latin typeface="Calibri"/>
              </a:defRPr>
            </a:pPr>
          </a:p>
        </c:txPr>
        <c:crossAx val="-2068027336"/>
        <c:crosses val="autoZero"/>
        <c:majorUnit val="10.0"/>
      </c:valAx>
    </c:plotArea>
    <c:dispBlanksAs val="gap"/>
  </c:chart>
  <c:txPr>
    <a:bodyPr/>
    <a:lstStyle/>
    <a:p>
      <a:pPr>
        <a:defRPr sz="1800"/>
      </a:pPr>
      <a:endParaRPr lang="en-US"/>
    </a:p>
  </c:txPr>
</c:chartSpace>
</file>

<file path=ppt/charts/chart12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Prestige Consumer Healthcare</c:v>
                </c:pt>
                <c:pt idx="1">
                  <c:v>Diomed Group</c:v>
                </c:pt>
                <c:pt idx="2">
                  <c:v>NeilMed Pharmaceuticals</c:v>
                </c:pt>
                <c:pt idx="3">
                  <c:v>Quest Products</c:v>
                </c:pt>
                <c:pt idx="4">
                  <c:v>Eosera</c:v>
                </c:pt>
                <c:pt idx="5">
                  <c:v>Coopération Pharmaceutique Française</c:v>
                </c:pt>
                <c:pt idx="6">
                  <c:v>Orion Pharma</c:v>
                </c:pt>
                <c:pt idx="7">
                  <c:v>Farmacia Nordic</c:v>
                </c:pt>
                <c:pt idx="8">
                  <c:v>Key Pharmaceuticals</c:v>
                </c:pt>
                <c:pt idx="9">
                  <c:v>Lanes Health</c:v>
                </c:pt>
                <c:pt idx="10">
                  <c:v>Others</c:v>
                </c:pt>
              </c:strCache>
            </c:strRef>
          </c:cat>
          <c:val>
            <c:numRef>
              <c:numCache>
                <c:formatCode>General</c:formatCode>
                <c:ptCount val="11"/>
                <c:pt idx="0">
                  <c:v>15.401240790072531</c:v>
                </c:pt>
                <c:pt idx="1">
                  <c:v>13.483170759180721</c:v>
                </c:pt>
                <c:pt idx="2">
                  <c:v>9.299352883645389</c:v>
                </c:pt>
                <c:pt idx="3">
                  <c:v>6.532876475193234</c:v>
                </c:pt>
                <c:pt idx="4">
                  <c:v>6.473319829711895</c:v>
                </c:pt>
                <c:pt idx="5">
                  <c:v>6.433244680872182</c:v>
                </c:pt>
                <c:pt idx="6">
                  <c:v>5.1503700280767655</c:v>
                </c:pt>
                <c:pt idx="7">
                  <c:v>3.1015192989370006</c:v>
                </c:pt>
                <c:pt idx="8">
                  <c:v>2.164598136819089</c:v>
                </c:pt>
                <c:pt idx="9">
                  <c:v>2.136096181068746</c:v>
                </c:pt>
                <c:pt idx="10">
                  <c:v>29.824210936422443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2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Prestige Consumer Healthcare</c:v>
                </c:pt>
                <c:pt idx="1">
                  <c:v>Diomed Group</c:v>
                </c:pt>
                <c:pt idx="2">
                  <c:v>NeilMed Pharmaceuticals</c:v>
                </c:pt>
                <c:pt idx="3">
                  <c:v>Quest Products</c:v>
                </c:pt>
                <c:pt idx="4">
                  <c:v>Eosera</c:v>
                </c:pt>
                <c:pt idx="5">
                  <c:v>Coopération Pharmaceutique Française</c:v>
                </c:pt>
                <c:pt idx="6">
                  <c:v>Orion Pharma</c:v>
                </c:pt>
                <c:pt idx="7">
                  <c:v>Farmacia Nordic</c:v>
                </c:pt>
                <c:pt idx="8">
                  <c:v>Key Pharmaceuticals</c:v>
                </c:pt>
                <c:pt idx="9">
                  <c:v>Lanes Health</c:v>
                </c:pt>
                <c:pt idx="10">
                  <c:v>Others</c:v>
                </c:pt>
              </c:strCache>
            </c:strRef>
          </c:cat>
          <c:val>
            <c:numRef>
              <c:numCache>
                <c:formatCode>General</c:formatCode>
                <c:ptCount val="11"/>
                <c:pt idx="0">
                  <c:v>11.693602256562977</c:v>
                </c:pt>
                <c:pt idx="1">
                  <c:v>9.98907014549872</c:v>
                </c:pt>
                <c:pt idx="2">
                  <c:v>11.264513875278551</c:v>
                </c:pt>
                <c:pt idx="3">
                  <c:v>11.542462021743303</c:v>
                </c:pt>
                <c:pt idx="4">
                  <c:v>9.170712625473369</c:v>
                </c:pt>
                <c:pt idx="5">
                  <c:v>5.69371565484273</c:v>
                </c:pt>
                <c:pt idx="6">
                  <c:v>3.7515880157620747</c:v>
                </c:pt>
                <c:pt idx="7">
                  <c:v>3.240076671241286</c:v>
                </c:pt>
                <c:pt idx="8">
                  <c:v>3.3901784262482124</c:v>
                </c:pt>
                <c:pt idx="9">
                  <c:v>3.0300946920704144</c:v>
                </c:pt>
                <c:pt idx="10">
                  <c:v>27.23398561527836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2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Prestige Consumer Healthcare</c:v>
                </c:pt>
                <c:pt idx="1">
                  <c:v>Diomed Group</c:v>
                </c:pt>
                <c:pt idx="2">
                  <c:v>NeilMed Pharmaceuticals</c:v>
                </c:pt>
                <c:pt idx="3">
                  <c:v>Quest Products</c:v>
                </c:pt>
                <c:pt idx="4">
                  <c:v>Eosera</c:v>
                </c:pt>
                <c:pt idx="5">
                  <c:v>Coopération Pharmaceutique Française</c:v>
                </c:pt>
                <c:pt idx="6">
                  <c:v>Orion Pharma</c:v>
                </c:pt>
                <c:pt idx="7">
                  <c:v>Farmacia Nordic</c:v>
                </c:pt>
                <c:pt idx="8">
                  <c:v>Key Pharmaceuticals</c:v>
                </c:pt>
                <c:pt idx="9">
                  <c:v>Lanes Health</c:v>
                </c:pt>
                <c:pt idx="10">
                  <c:v>Others</c:v>
                </c:pt>
              </c:strCache>
            </c:strRef>
          </c:cat>
          <c:val>
            <c:numRef>
              <c:numCache>
                <c:formatCode>General</c:formatCode>
                <c:ptCount val="11"/>
                <c:pt idx="0">
                  <c:v>12.127056022733685</c:v>
                </c:pt>
                <c:pt idx="1">
                  <c:v>13.515963661294228</c:v>
                </c:pt>
                <c:pt idx="2">
                  <c:v>13.672509787055716</c:v>
                </c:pt>
                <c:pt idx="3">
                  <c:v>10.747277583816313</c:v>
                </c:pt>
                <c:pt idx="4">
                  <c:v>6.853819923875349</c:v>
                </c:pt>
                <c:pt idx="5">
                  <c:v>4.527540451517601</c:v>
                </c:pt>
                <c:pt idx="6">
                  <c:v>4.351504519294602</c:v>
                </c:pt>
                <c:pt idx="7">
                  <c:v>4.386878793633664</c:v>
                </c:pt>
                <c:pt idx="8">
                  <c:v>3.8343075690671227</c:v>
                </c:pt>
                <c:pt idx="9">
                  <c:v>2.614124464284719</c:v>
                </c:pt>
                <c:pt idx="10">
                  <c:v>23.369017223427004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2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Prestige Consumer Healthcare</c:v>
                </c:pt>
                <c:pt idx="1">
                  <c:v>Diomed Group</c:v>
                </c:pt>
                <c:pt idx="2">
                  <c:v>NeilMed Pharmaceuticals</c:v>
                </c:pt>
                <c:pt idx="3">
                  <c:v>Quest Products</c:v>
                </c:pt>
                <c:pt idx="4">
                  <c:v>Eosera</c:v>
                </c:pt>
                <c:pt idx="5">
                  <c:v>Coopération Pharmaceutique Française</c:v>
                </c:pt>
                <c:pt idx="6">
                  <c:v>Orion Pharma</c:v>
                </c:pt>
                <c:pt idx="7">
                  <c:v>Farmacia Nordic</c:v>
                </c:pt>
                <c:pt idx="8">
                  <c:v>Key Pharmaceuticals</c:v>
                </c:pt>
                <c:pt idx="9">
                  <c:v>Lanes Health</c:v>
                </c:pt>
                <c:pt idx="10">
                  <c:v>Others</c:v>
                </c:pt>
              </c:strCache>
            </c:strRef>
          </c:cat>
          <c:val>
            <c:numRef>
              <c:numCache>
                <c:formatCode>General</c:formatCode>
                <c:ptCount val="11"/>
                <c:pt idx="0">
                  <c:v>16.616982878130067</c:v>
                </c:pt>
                <c:pt idx="1">
                  <c:v>15.838373751146182</c:v>
                </c:pt>
                <c:pt idx="2">
                  <c:v>12.226323321243273</c:v>
                </c:pt>
                <c:pt idx="3">
                  <c:v>7.956018792951128</c:v>
                </c:pt>
                <c:pt idx="4">
                  <c:v>5.814138033935409</c:v>
                </c:pt>
                <c:pt idx="5">
                  <c:v>5.618762435113717</c:v>
                </c:pt>
                <c:pt idx="6">
                  <c:v>5.851259038190952</c:v>
                </c:pt>
                <c:pt idx="7">
                  <c:v>4.767350351372047</c:v>
                </c:pt>
                <c:pt idx="8">
                  <c:v>3.1905899020099833</c:v>
                </c:pt>
                <c:pt idx="9">
                  <c:v>1.9266097914653117</c:v>
                </c:pt>
                <c:pt idx="10">
                  <c:v>20.193591704441936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2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Prestige Consumer Healthcare</c:v>
                </c:pt>
                <c:pt idx="1">
                  <c:v>Diomed Group</c:v>
                </c:pt>
                <c:pt idx="2">
                  <c:v>NeilMed Pharmaceuticals</c:v>
                </c:pt>
                <c:pt idx="3">
                  <c:v>Quest Products</c:v>
                </c:pt>
                <c:pt idx="4">
                  <c:v>Eosera</c:v>
                </c:pt>
                <c:pt idx="5">
                  <c:v>Coopération Pharmaceutique Française</c:v>
                </c:pt>
                <c:pt idx="6">
                  <c:v>Orion Pharma</c:v>
                </c:pt>
                <c:pt idx="7">
                  <c:v>Farmacia Nordic</c:v>
                </c:pt>
                <c:pt idx="8">
                  <c:v>Key Pharmaceuticals</c:v>
                </c:pt>
                <c:pt idx="9">
                  <c:v>Lanes Health</c:v>
                </c:pt>
                <c:pt idx="10">
                  <c:v>Others</c:v>
                </c:pt>
              </c:strCache>
            </c:strRef>
          </c:cat>
          <c:val>
            <c:numRef>
              <c:numCache>
                <c:formatCode>General</c:formatCode>
                <c:ptCount val="11"/>
                <c:pt idx="0">
                  <c:v>17.074931814674855</c:v>
                </c:pt>
                <c:pt idx="1">
                  <c:v>12.550885260107192</c:v>
                </c:pt>
                <c:pt idx="2">
                  <c:v>8.380043562697718</c:v>
                </c:pt>
                <c:pt idx="3">
                  <c:v>7.444952014860334</c:v>
                </c:pt>
                <c:pt idx="4">
                  <c:v>8.04660708305492</c:v>
                </c:pt>
                <c:pt idx="5">
                  <c:v>6.919214229256515</c:v>
                </c:pt>
                <c:pt idx="6">
                  <c:v>4.691071174682332</c:v>
                </c:pt>
                <c:pt idx="7">
                  <c:v>2.86510879859984</c:v>
                </c:pt>
                <c:pt idx="8">
                  <c:v>2.560369933335589</c:v>
                </c:pt>
                <c:pt idx="9">
                  <c:v>2.6169804142295043</c:v>
                </c:pt>
                <c:pt idx="10">
                  <c:v>26.849835714501204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2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Prestige Consumer Healthcare</c:v>
                </c:pt>
                <c:pt idx="1">
                  <c:v>Diomed Group</c:v>
                </c:pt>
                <c:pt idx="2">
                  <c:v>NeilMed Pharmaceuticals</c:v>
                </c:pt>
                <c:pt idx="3">
                  <c:v>Quest Products</c:v>
                </c:pt>
                <c:pt idx="4">
                  <c:v>Eosera</c:v>
                </c:pt>
                <c:pt idx="5">
                  <c:v>Coopération Pharmaceutique Française</c:v>
                </c:pt>
                <c:pt idx="6">
                  <c:v>Orion Pharma</c:v>
                </c:pt>
                <c:pt idx="7">
                  <c:v>Farmacia Nordic</c:v>
                </c:pt>
                <c:pt idx="8">
                  <c:v>Key Pharmaceuticals</c:v>
                </c:pt>
                <c:pt idx="9">
                  <c:v>Lanes Health</c:v>
                </c:pt>
                <c:pt idx="10">
                  <c:v>Others</c:v>
                </c:pt>
              </c:strCache>
            </c:strRef>
          </c:cat>
          <c:val>
            <c:numRef>
              <c:numCache>
                <c:formatCode>General</c:formatCode>
                <c:ptCount val="11"/>
                <c:pt idx="0">
                  <c:v>15.570454803610694</c:v>
                </c:pt>
                <c:pt idx="1">
                  <c:v>10.546713911504883</c:v>
                </c:pt>
                <c:pt idx="2">
                  <c:v>10.489494550876001</c:v>
                </c:pt>
                <c:pt idx="3">
                  <c:v>11.523850319189417</c:v>
                </c:pt>
                <c:pt idx="4">
                  <c:v>9.716274527037694</c:v>
                </c:pt>
                <c:pt idx="5">
                  <c:v>6.041847824962319</c:v>
                </c:pt>
                <c:pt idx="6">
                  <c:v>4.100995695833606</c:v>
                </c:pt>
                <c:pt idx="7">
                  <c:v>3.8524851858046234</c:v>
                </c:pt>
                <c:pt idx="8">
                  <c:v>3.889793811996375</c:v>
                </c:pt>
                <c:pt idx="9">
                  <c:v>2.9792010725276863</c:v>
                </c:pt>
                <c:pt idx="10">
                  <c:v>21.288888296656708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3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Prestige Consumer Healthcare</c:v>
                </c:pt>
                <c:pt idx="1">
                  <c:v>Diomed Group</c:v>
                </c:pt>
                <c:pt idx="2">
                  <c:v>NeilMed Pharmaceuticals</c:v>
                </c:pt>
                <c:pt idx="3">
                  <c:v>Quest Products</c:v>
                </c:pt>
                <c:pt idx="4">
                  <c:v>Eosera</c:v>
                </c:pt>
                <c:pt idx="5">
                  <c:v>Coopération Pharmaceutique Française</c:v>
                </c:pt>
                <c:pt idx="6">
                  <c:v>Orion Pharma</c:v>
                </c:pt>
                <c:pt idx="7">
                  <c:v>Farmacia Nordic</c:v>
                </c:pt>
                <c:pt idx="8">
                  <c:v>Key Pharmaceuticals</c:v>
                </c:pt>
                <c:pt idx="9">
                  <c:v>Lanes Health</c:v>
                </c:pt>
                <c:pt idx="10">
                  <c:v>Others</c:v>
                </c:pt>
              </c:strCache>
            </c:strRef>
          </c:cat>
          <c:val>
            <c:numRef>
              <c:numCache>
                <c:formatCode>General</c:formatCode>
                <c:ptCount val="11"/>
                <c:pt idx="0">
                  <c:v>11.931858870012501</c:v>
                </c:pt>
                <c:pt idx="1">
                  <c:v>12.495250983383206</c:v>
                </c:pt>
                <c:pt idx="2">
                  <c:v>13.557011133261542</c:v>
                </c:pt>
                <c:pt idx="3">
                  <c:v>11.024479649083794</c:v>
                </c:pt>
                <c:pt idx="4">
                  <c:v>6.975036720459171</c:v>
                </c:pt>
                <c:pt idx="5">
                  <c:v>4.918850211127804</c:v>
                </c:pt>
                <c:pt idx="6">
                  <c:v>5.131252406943278</c:v>
                </c:pt>
                <c:pt idx="7">
                  <c:v>4.808839258461541</c:v>
                </c:pt>
                <c:pt idx="8">
                  <c:v>3.5084788144252483</c:v>
                </c:pt>
                <c:pt idx="9">
                  <c:v>2.100246059545411</c:v>
                </c:pt>
                <c:pt idx="10">
                  <c:v>23.5486958932965</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1668A8"/>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Individual consumers</c:v>
                </c:pt>
                <c:pt idx="1">
                  <c:v>Healthcare professionals</c:v>
                </c:pt>
                <c:pt idx="2">
                  <c:v>ENT specialists</c:v>
                </c:pt>
                <c:pt idx="3">
                  <c:v>General practitioners</c:v>
                </c:pt>
              </c:strCache>
            </c:strRef>
          </c:cat>
          <c:val>
            <c:numRef>
              <c:numCache>
                <c:formatCode>General</c:formatCode>
                <c:ptCount val="4"/>
                <c:pt idx="0">
                  <c:v>155.07552213278205</c:v>
                </c:pt>
                <c:pt idx="1">
                  <c:v>86.27400903723705</c:v>
                </c:pt>
                <c:pt idx="2">
                  <c:v>108.594417592208</c:v>
                </c:pt>
                <c:pt idx="3">
                  <c:v>205.14510759504063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270.7915420254536"/>
          <c:min val="0.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E3A5F"/>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184.27919141171955</c:v>
                </c:pt>
                <c:pt idx="1">
                  <c:v>112.17033351783725</c:v>
                </c:pt>
                <c:pt idx="2">
                  <c:v>60.490209096320115</c:v>
                </c:pt>
                <c:pt idx="3">
                  <c:v>68.34930598643591</c:v>
                </c:pt>
                <c:pt idx="4">
                  <c:v>129.80001634495494</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243.24853266346983"/>
          <c:min val="0.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4"/>
                <c:pt idx="0">
                  <c:v>Irrigation Devices and Accessories</c:v>
                </c:pt>
                <c:pt idx="1">
                  <c:v>Ear Drops</c:v>
                </c:pt>
                <c:pt idx="2">
                  <c:v>Ear Sprays</c:v>
                </c:pt>
                <c:pt idx="3">
                  <c:v>Manual Removal Tools</c:v>
                </c:pt>
              </c:strCache>
            </c:strRef>
          </c:cat>
          <c:val>
            <c:numRef>
              <c:numCache>
                <c:formatCode>General</c:formatCode>
                <c:ptCount val="4"/>
                <c:pt idx="0">
                  <c:v>63.95664769761102</c:v>
                </c:pt>
                <c:pt idx="1">
                  <c:v>88.91460448596744</c:v>
                </c:pt>
                <c:pt idx="2">
                  <c:v>165.79701051114185</c:v>
                </c:pt>
                <c:pt idx="3">
                  <c:v>236.42079366254742</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SAM</c:v>
                </c:pt>
              </c:strCache>
            </c:strRef>
          </c:tx>
          <c:spPr>
            <a:solidFill>
              <a:srgbClr val="69B1E0"/>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562.252704</c:v>
                </c:pt>
                <c:pt idx="1">
                  <c:v>505.4102130751286</c:v>
                </c:pt>
                <c:pt idx="2">
                  <c:v>369.3626325435307</c:v>
                </c:pt>
                <c:pt idx="3">
                  <c:v>236.63459917477593</c:v>
                </c:pt>
                <c:pt idx="4">
                  <c:v>187.73715697344213</c:v>
                </c:pt>
              </c:numCache>
            </c:numRef>
          </c:val>
        </c:ser>
        <c:ser>
          <c:idx val="1"/>
          <c:order val="1"/>
          <c:tx>
            <c:strRef>
              <c:strCache>
                <c:ptCount val="1"/>
                <c:pt idx="0">
                  <c:v>SOM</c:v>
                </c:pt>
              </c:strCache>
            </c:strRef>
          </c:tx>
          <c:spPr>
            <a:solidFill>
              <a:srgbClr val="0E72AE"/>
            </a:solidFill>
            <a:ln>
              <a:noFill/>
            </a:ln>
          </c:spPr>
          <c:dLbls>
            <c:dLbl>
              <c:idx val="0"/>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184.27919141171955</c:v>
                </c:pt>
                <c:pt idx="1">
                  <c:v>112.17033351783725</c:v>
                </c:pt>
                <c:pt idx="2">
                  <c:v>60.490209096320115</c:v>
                </c:pt>
                <c:pt idx="3">
                  <c:v>68.34930598643591</c:v>
                </c:pt>
                <c:pt idx="4">
                  <c:v>129.80001634495494</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719.6834611200001"/>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Market Signals Market Signals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Overview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Market Taxonomy Geographic Coverage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Market Taxonomy Market Segments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Market Taxonomy Company Coverage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Global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Global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Global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Global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Global Overview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Global Overview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Global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Global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Global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Global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By Region Global Ear Wax Removal Products – Regional Outlook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By Region Market Analysis By Region (1/2)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By Region Market Analysis By Region (2/2)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By Region Volume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By Region Value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By Region Market Trends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By Region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Product Type By Product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Product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Product Type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Product Type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Product Type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Product Type Market Value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Product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End User By End User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End User By End User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End User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End User Absolute $ Analysis  (1/3)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End User Absolute $ Analysis  (2/3)</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End User Absolute $ Analysis  (3/3)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End User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End User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Sales Channel By Sales Channel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Sales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Sales Channel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Sales Channel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Sales Channel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Sales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Age Group By Age Group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Age Group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Age Group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Age Group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Age Group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North America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North America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North America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North America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North America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North America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North America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North America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North America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North America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By Country North America Ear Wax Removal Products –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Product Type By Product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Product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Product Type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Product Type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Product Type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Product Type Market Value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Product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End User By End User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End User By End User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End User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End User Absolute $ Analysis  (1/3)</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End User Absolute $ Analysis  (2/3)</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End User Absolute $ Analysis  (3/3)</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End User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End User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Sales Channel By Sales Channel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Sales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Sales Channel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Sales Channel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Sales Channel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Sales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Age Group By Age Group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Age Group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Age Group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Age Group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Age Group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Country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Country Overview Key Segments (Value)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Country Product Type Segmental</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Country Product Type Table (Volume &amp; Value)  (1/4)</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Country Product Type Table (Volume &amp; Value)  (2/4)</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Country Product Type Table (Volume &amp; Value)  (3/4)</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Country Product Type Table (Volume &amp; Value)  (4/4)</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Country End User Segmental  (1/2)</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Country End User Segmental  (2/2)</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Country End User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Country Sales Channel Segmental</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Country Sales Channel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Country Age Group Segmental</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Country Age Group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Pricing Product Pricing &amp; Regional Price Index Trends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Pricing Price Positioning &amp; Key Findings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Pricing Key Pricing Drivers</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Pricing Factors Impacting Pricing</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Pricing Regional Price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Pricing Global Pricing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Pricing Price Forecast &amp; Dynamics  (1/2)</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Pricing Price Forecast &amp; Dynamics  (2/2)</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Pricing Competitor Pricing Strategies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 Analysis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Supply Chain Analysis Value Chain &amp; Stakeholder Mapping</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Supply Chain Analysis Operating Margin Analysis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Supply Chain Analysis Buyers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Dynamics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Market Dynamics Market Dynamics &amp; Forces Market Dynamics by Geography</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Market Dynamics Market Dynamics &amp; Forces Driving Factors Supply Side (1/2)</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Market Dynamics Market Dynamics &amp; Forces Driving Factors Demand Side (2/2)</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Market Dynamics Market Dynamics &amp; Forces Market Restraints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Market Dynamics Market Dynamics &amp; Forces Market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Market Dynamics Market Dynamics &amp; Forces Recent Developments &amp; Milestones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Market Dynamics Market Dynamics &amp; Forces Five Forces Analysis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Competition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Competitive Landscape Competitive Landscape at a Glance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Competitive Landscape Segment Leadership Map</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Competitive Landscape Value Chain Positioning</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Competitive Landscape Player Landscape</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Competitive Landscape Corporate Scorecard</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Competitive Landscape Offering Scorecard</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Competitive Landscape Execution Scorecard</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Competitive Landscape Success Factors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Competitive Landscape Strategic Activity Tracker</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Competitive Landscape Strategic Activity by Function</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Competitive Landscape Industry Structure Landscape  (1/2)</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Competitive Landscape Industry Structure Landscape  (2/2)</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Competitive Landscape Competitive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Market Share by Leading Players Advice for Vendors &amp; Suppliers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Market Share by Leading Players Company Value Share</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Market Share by Leading Players Company Share by Product Type</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Market Share by Leading Players Company Share by Region</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Market Share by Leading Players Who Shaped Growth</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Company Profiles &amp; Strategic Benchmarking Prestige Consumer Healthcare Snapshot</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Company Profiles &amp; Strategic Benchmarking Prestige Consumer Healthcare Penetration &amp; Win</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Company Profiles &amp; Strategic Benchmarking Prestige Consumer Healthcare SWOT Analysis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Company Profiles &amp; Strategic Benchmarking Prestige Consumer Healthcare Key Financials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Competitor Company Profiles &amp; Strategic Benchmarking Prestige Consumer Healthcare Strategy Analysis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List of Figures  (1/4)</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List of Figures  (2/4)</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List of Figures  (3/4)</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List of Figures  (4/4)</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List of Tables  (1/4)</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List of Tables  (2/4)</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List of Tables  (3/4)</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 Wax Removal Products Market List of Tables  (4/4)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2.jp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9.xml"/><Relationship Id="rId8" Type="http://schemas.openxmlformats.org/officeDocument/2006/relationships/slide" Target="slide20.xml"/><Relationship Id="rId9" Type="http://schemas.openxmlformats.org/officeDocument/2006/relationships/slide" Target="slide31.xml"/><Relationship Id="rId10" Type="http://schemas.openxmlformats.org/officeDocument/2006/relationships/slide" Target="slide39.xml"/><Relationship Id="rId11" Type="http://schemas.openxmlformats.org/officeDocument/2006/relationships/slide" Target="slide70.xml"/><Relationship Id="rId12" Type="http://schemas.openxmlformats.org/officeDocument/2006/relationships/slide" Target="slide71.xml"/><Relationship Id="rId13" Type="http://schemas.openxmlformats.org/officeDocument/2006/relationships/slide" Target="slide81.xml"/><Relationship Id="rId14" Type="http://schemas.openxmlformats.org/officeDocument/2006/relationships/slide" Target="slide89.xml"/><Relationship Id="rId15" Type="http://schemas.openxmlformats.org/officeDocument/2006/relationships/slide" Target="slide120.xml"/><Relationship Id="rId16" Type="http://schemas.openxmlformats.org/officeDocument/2006/relationships/slide" Target="slide121.xml"/><Relationship Id="rId17" Type="http://schemas.openxmlformats.org/officeDocument/2006/relationships/slide" Target="slide125.xml"/><Relationship Id="rId18" Type="http://schemas.openxmlformats.org/officeDocument/2006/relationships/slide" Target="slide142.xml"/><Relationship Id="rId19" Type="http://schemas.openxmlformats.org/officeDocument/2006/relationships/slide" Target="slide143.xml"/><Relationship Id="rId20" Type="http://schemas.openxmlformats.org/officeDocument/2006/relationships/slide" Target="slide156.xml"/><Relationship Id="rId21" Type="http://schemas.openxmlformats.org/officeDocument/2006/relationships/slide" Target="slide160.xml"/><Relationship Id="rId22" Type="http://schemas.openxmlformats.org/officeDocument/2006/relationships/slide" Target="slide161.xml"/><Relationship Id="rId23" Type="http://schemas.openxmlformats.org/officeDocument/2006/relationships/slide" Target="slide169.xml"/><Relationship Id="rId24" Type="http://schemas.openxmlformats.org/officeDocument/2006/relationships/slide" Target="slide170.xml"/><Relationship Id="rId25" Type="http://schemas.openxmlformats.org/officeDocument/2006/relationships/slide" Target="slide184.xml"/><Relationship Id="rId26" Type="http://schemas.openxmlformats.org/officeDocument/2006/relationships/slide" Target="slide19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7.xml"/><Relationship Id="rId6"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notesSlide" Target="../notesSlides/notesSlide9.xml"/><Relationship Id="rId6"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10.xml"/><Relationship Id="rId6"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11.xml"/><Relationship Id="rId6"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xml"/><Relationship Id="rId4" Type="http://schemas.openxmlformats.org/officeDocument/2006/relationships/notesSlide" Target="../notesSlides/notesSlide14.xml"/><Relationship Id="rId5"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xml"/><Relationship Id="rId4" Type="http://schemas.openxmlformats.org/officeDocument/2006/relationships/notesSlide" Target="../notesSlides/notesSlide16.xml"/><Relationship Id="rId5"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70.png"/><Relationship Id="rId11" Type="http://schemas.openxmlformats.org/officeDocument/2006/relationships/image" Target="../media/image71.png"/><Relationship Id="rId12" Type="http://schemas.openxmlformats.org/officeDocument/2006/relationships/image" Target="../media/image72.png"/><Relationship Id="rId13" Type="http://schemas.openxmlformats.org/officeDocument/2006/relationships/image" Target="../media/image73.png"/><Relationship Id="rId14" Type="http://schemas.openxmlformats.org/officeDocument/2006/relationships/image" Target="../media/image74.png"/><Relationship Id="rId15" Type="http://schemas.openxmlformats.org/officeDocument/2006/relationships/image" Target="../media/image75.png"/><Relationship Id="rId16" Type="http://schemas.openxmlformats.org/officeDocument/2006/relationships/image" Target="../media/image76.png"/><Relationship Id="rId17" Type="http://schemas.openxmlformats.org/officeDocument/2006/relationships/image" Target="../media/image77.png"/><Relationship Id="rId18" Type="http://schemas.openxmlformats.org/officeDocument/2006/relationships/image" Target="../media/image78.png"/><Relationship Id="rId19" Type="http://schemas.openxmlformats.org/officeDocument/2006/relationships/image" Target="../media/image79.png"/><Relationship Id="rId20" Type="http://schemas.openxmlformats.org/officeDocument/2006/relationships/image" Target="../media/image80.png"/><Relationship Id="rId21" Type="http://schemas.openxmlformats.org/officeDocument/2006/relationships/image" Target="../media/image81.png"/><Relationship Id="rId22"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xml"/><Relationship Id="rId4" Type="http://schemas.openxmlformats.org/officeDocument/2006/relationships/notesSlide" Target="../notesSlides/notesSlide18.xml"/><Relationship Id="rId5" Type="http://schemas.openxmlformats.org/officeDocument/2006/relationships/image" Target="../media/image2.png"/><Relationship Id="rId6" Type="http://schemas.openxmlformats.org/officeDocument/2006/relationships/image" Target="../media/image26.png"/><Relationship Id="rId7" Type="http://schemas.openxmlformats.org/officeDocument/2006/relationships/image" Target="../media/image36.png"/><Relationship Id="rId8" Type="http://schemas.openxmlformats.org/officeDocument/2006/relationships/image" Target="../media/image9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xml"/><Relationship Id="rId4" Type="http://schemas.openxmlformats.org/officeDocument/2006/relationships/notesSlide" Target="../notesSlides/notesSlide19.xml"/><Relationship Id="rId5" Type="http://schemas.openxmlformats.org/officeDocument/2006/relationships/image" Target="../media/image2.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 Id="rId4" Type="http://schemas.openxmlformats.org/officeDocument/2006/relationships/image" Target="../media/image111.png"/><Relationship Id="rId5" Type="http://schemas.openxmlformats.org/officeDocument/2006/relationships/image" Target="../media/image59.png"/><Relationship Id="rId6" Type="http://schemas.openxmlformats.org/officeDocument/2006/relationships/image" Target="../media/image112.png"/><Relationship Id="rId7" Type="http://schemas.openxmlformats.org/officeDocument/2006/relationships/image" Target="../media/image113.png"/><Relationship Id="rId8" Type="http://schemas.openxmlformats.org/officeDocument/2006/relationships/image" Target="../media/image57.png"/><Relationship Id="rId9" Type="http://schemas.openxmlformats.org/officeDocument/2006/relationships/image" Target="../media/image114.png"/><Relationship Id="rId10" Type="http://schemas.openxmlformats.org/officeDocument/2006/relationships/image" Target="../media/image115.png"/><Relationship Id="rId11" Type="http://schemas.openxmlformats.org/officeDocument/2006/relationships/image" Target="../media/image58.png"/><Relationship Id="rId12" Type="http://schemas.openxmlformats.org/officeDocument/2006/relationships/image" Target="../media/image116.png"/><Relationship Id="rId13" Type="http://schemas.openxmlformats.org/officeDocument/2006/relationships/image" Target="../media/image117.png"/><Relationship Id="rId14" Type="http://schemas.openxmlformats.org/officeDocument/2006/relationships/image" Target="../media/image60.png"/><Relationship Id="rId15" Type="http://schemas.openxmlformats.org/officeDocument/2006/relationships/image" Target="../media/image118.png"/><Relationship Id="rId16" Type="http://schemas.openxmlformats.org/officeDocument/2006/relationships/image" Target="../media/image119.png"/><Relationship Id="rId17" Type="http://schemas.openxmlformats.org/officeDocument/2006/relationships/image" Target="../media/image62.png"/><Relationship Id="rId18" Type="http://schemas.openxmlformats.org/officeDocument/2006/relationships/image" Target="../media/image120.png"/><Relationship Id="rId19" Type="http://schemas.openxmlformats.org/officeDocument/2006/relationships/image" Target="../media/image121.png"/><Relationship Id="rId20" Type="http://schemas.openxmlformats.org/officeDocument/2006/relationships/image" Target="../media/image61.png"/><Relationship Id="rId21" Type="http://schemas.openxmlformats.org/officeDocument/2006/relationships/image" Target="../media/image108.png"/><Relationship Id="rId22" Type="http://schemas.openxmlformats.org/officeDocument/2006/relationships/image" Target="../media/image122.png"/><Relationship Id="rId23" Type="http://schemas.openxmlformats.org/officeDocument/2006/relationships/image" Target="../media/image63.png"/><Relationship Id="rId24" Type="http://schemas.openxmlformats.org/officeDocument/2006/relationships/image" Target="../media/image69.png"/><Relationship Id="rId25"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xml"/><Relationship Id="rId4" Type="http://schemas.openxmlformats.org/officeDocument/2006/relationships/chart" Target="../charts/chart16.xml"/><Relationship Id="rId5" Type="http://schemas.openxmlformats.org/officeDocument/2006/relationships/notesSlide" Target="../notesSlides/notesSlide25.xml"/><Relationship Id="rId6"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chart" Target="../charts/chart19.xml"/><Relationship Id="rId6" Type="http://schemas.openxmlformats.org/officeDocument/2006/relationships/chart" Target="../charts/chart20.xml"/><Relationship Id="rId7" Type="http://schemas.openxmlformats.org/officeDocument/2006/relationships/notesSlide" Target="../notesSlides/notesSlide26.xml"/><Relationship Id="rId8"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1.xml"/><Relationship Id="rId4" Type="http://schemas.openxmlformats.org/officeDocument/2006/relationships/chart" Target="../charts/chart22.xml"/><Relationship Id="rId5" Type="http://schemas.openxmlformats.org/officeDocument/2006/relationships/chart" Target="../charts/chart23.xml"/><Relationship Id="rId6" Type="http://schemas.openxmlformats.org/officeDocument/2006/relationships/notesSlide" Target="../notesSlides/notesSlide27.xml"/><Relationship Id="rId7"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4.xml"/><Relationship Id="rId4" Type="http://schemas.openxmlformats.org/officeDocument/2006/relationships/notesSlide" Target="../notesSlides/notesSlide32.xml"/><Relationship Id="rId5"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 Id="rId4" Type="http://schemas.openxmlformats.org/officeDocument/2006/relationships/image" Target="../media/image177.png"/><Relationship Id="rId5" Type="http://schemas.openxmlformats.org/officeDocument/2006/relationships/image" Target="../media/image178.png"/><Relationship Id="rId6" Type="http://schemas.openxmlformats.org/officeDocument/2006/relationships/image" Target="../media/image179.png"/><Relationship Id="rId7" Type="http://schemas.openxmlformats.org/officeDocument/2006/relationships/image" Target="../media/image180.png"/><Relationship Id="rId8" Type="http://schemas.openxmlformats.org/officeDocument/2006/relationships/image" Target="../media/image181.png"/><Relationship Id="rId9" Type="http://schemas.openxmlformats.org/officeDocument/2006/relationships/image" Target="../media/image116.png"/><Relationship Id="rId10" Type="http://schemas.openxmlformats.org/officeDocument/2006/relationships/image" Target="../media/image182.png"/><Relationship Id="rId11" Type="http://schemas.openxmlformats.org/officeDocument/2006/relationships/image" Target="../media/image183.png"/><Relationship Id="rId12" Type="http://schemas.openxmlformats.org/officeDocument/2006/relationships/image" Target="../media/image184.png"/><Relationship Id="rId13" Type="http://schemas.openxmlformats.org/officeDocument/2006/relationships/image" Target="../media/image185.png"/><Relationship Id="rId14" Type="http://schemas.openxmlformats.org/officeDocument/2006/relationships/image" Target="../media/image186.png"/><Relationship Id="rId15" Type="http://schemas.openxmlformats.org/officeDocument/2006/relationships/image" Target="../media/image187.png"/><Relationship Id="rId16" Type="http://schemas.openxmlformats.org/officeDocument/2006/relationships/image" Target="../media/image188.png"/><Relationship Id="rId17" Type="http://schemas.openxmlformats.org/officeDocument/2006/relationships/image" Target="../media/image189.png"/><Relationship Id="rId18"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 Id="rId4" Type="http://schemas.openxmlformats.org/officeDocument/2006/relationships/image" Target="../media/image190.png"/><Relationship Id="rId5" Type="http://schemas.openxmlformats.org/officeDocument/2006/relationships/image" Target="../media/image191.png"/><Relationship Id="rId6" Type="http://schemas.openxmlformats.org/officeDocument/2006/relationships/image" Target="../media/image192.png"/><Relationship Id="rId7" Type="http://schemas.openxmlformats.org/officeDocument/2006/relationships/image" Target="../media/image193.png"/><Relationship Id="rId8" Type="http://schemas.openxmlformats.org/officeDocument/2006/relationships/image" Target="../media/image194.png"/><Relationship Id="rId9" Type="http://schemas.openxmlformats.org/officeDocument/2006/relationships/image" Target="../media/image195.png"/><Relationship Id="rId10" Type="http://schemas.openxmlformats.org/officeDocument/2006/relationships/image" Target="../media/image196.png"/><Relationship Id="rId11" Type="http://schemas.openxmlformats.org/officeDocument/2006/relationships/image" Target="../media/image197.png"/><Relationship Id="rId12" Type="http://schemas.openxmlformats.org/officeDocument/2006/relationships/image" Target="../media/image198.png"/><Relationship Id="rId13" Type="http://schemas.openxmlformats.org/officeDocument/2006/relationships/image" Target="../media/image199.png"/><Relationship Id="rId14" Type="http://schemas.openxmlformats.org/officeDocument/2006/relationships/image" Target="../media/image200.png"/><Relationship Id="rId15" Type="http://schemas.openxmlformats.org/officeDocument/2006/relationships/image" Target="../media/image201.png"/><Relationship Id="rId16"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5.xml"/><Relationship Id="rId4" Type="http://schemas.openxmlformats.org/officeDocument/2006/relationships/chart" Target="../charts/chart26.xml"/><Relationship Id="rId5" Type="http://schemas.openxmlformats.org/officeDocument/2006/relationships/notesSlide" Target="../notesSlides/notesSlide39.xml"/><Relationship Id="rId6"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7.xml"/><Relationship Id="rId4" Type="http://schemas.openxmlformats.org/officeDocument/2006/relationships/chart" Target="../charts/chart28.xml"/><Relationship Id="rId5" Type="http://schemas.openxmlformats.org/officeDocument/2006/relationships/chart" Target="../charts/chart29.xml"/><Relationship Id="rId6" Type="http://schemas.openxmlformats.org/officeDocument/2006/relationships/chart" Target="../charts/chart30.xml"/><Relationship Id="rId7" Type="http://schemas.openxmlformats.org/officeDocument/2006/relationships/notesSlide" Target="../notesSlides/notesSlide40.xml"/><Relationship Id="rId8"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1.xml"/><Relationship Id="rId4" Type="http://schemas.openxmlformats.org/officeDocument/2006/relationships/chart" Target="../charts/chart32.xml"/><Relationship Id="rId5" Type="http://schemas.openxmlformats.org/officeDocument/2006/relationships/chart" Target="../charts/chart33.xml"/><Relationship Id="rId6" Type="http://schemas.openxmlformats.org/officeDocument/2006/relationships/chart" Target="../charts/chart34.xml"/><Relationship Id="rId7" Type="http://schemas.openxmlformats.org/officeDocument/2006/relationships/notesSlide" Target="../notesSlides/notesSlide41.xml"/><Relationship Id="rId8"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5.xml"/><Relationship Id="rId4" Type="http://schemas.openxmlformats.org/officeDocument/2006/relationships/notesSlide" Target="../notesSlides/notesSlide42.xml"/><Relationship Id="rId5"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 Id="rId4"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6.xml"/><Relationship Id="rId4" Type="http://schemas.openxmlformats.org/officeDocument/2006/relationships/notesSlide" Target="../notesSlides/notesSlide45.xml"/><Relationship Id="rId5"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 Id="rId4" Type="http://schemas.openxmlformats.org/officeDocument/2006/relationships/image" Target="../media/image275.png"/><Relationship Id="rId5" Type="http://schemas.openxmlformats.org/officeDocument/2006/relationships/image" Target="../media/image276.png"/><Relationship Id="rId6" Type="http://schemas.openxmlformats.org/officeDocument/2006/relationships/image" Target="../media/image277.png"/><Relationship Id="rId7" Type="http://schemas.openxmlformats.org/officeDocument/2006/relationships/image" Target="../media/image278.png"/><Relationship Id="rId8" Type="http://schemas.openxmlformats.org/officeDocument/2006/relationships/image" Target="../media/image279.png"/><Relationship Id="rId9" Type="http://schemas.openxmlformats.org/officeDocument/2006/relationships/image" Target="../media/image72.png"/><Relationship Id="rId10" Type="http://schemas.openxmlformats.org/officeDocument/2006/relationships/image" Target="../media/image280.png"/><Relationship Id="rId11" Type="http://schemas.openxmlformats.org/officeDocument/2006/relationships/image" Target="../media/image281.png"/><Relationship Id="rId12" Type="http://schemas.openxmlformats.org/officeDocument/2006/relationships/image" Target="../media/image282.png"/><Relationship Id="rId13" Type="http://schemas.openxmlformats.org/officeDocument/2006/relationships/image" Target="../media/image283.png"/><Relationship Id="rId14" Type="http://schemas.openxmlformats.org/officeDocument/2006/relationships/image" Target="../media/image284.png"/><Relationship Id="rId15" Type="http://schemas.openxmlformats.org/officeDocument/2006/relationships/image" Target="../media/image285.png"/><Relationship Id="rId16" Type="http://schemas.openxmlformats.org/officeDocument/2006/relationships/image" Target="../media/image286.png"/><Relationship Id="rId17" Type="http://schemas.openxmlformats.org/officeDocument/2006/relationships/image" Target="../media/image287.png"/><Relationship Id="rId18" Type="http://schemas.openxmlformats.org/officeDocument/2006/relationships/image" Target="../media/image288.png"/><Relationship Id="rId19"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7.xml"/><Relationship Id="rId4" Type="http://schemas.openxmlformats.org/officeDocument/2006/relationships/chart" Target="../charts/chart38.xml"/><Relationship Id="rId5" Type="http://schemas.openxmlformats.org/officeDocument/2006/relationships/notesSlide" Target="../notesSlides/notesSlide49.xml"/><Relationship Id="rId6"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9.xml"/><Relationship Id="rId4" Type="http://schemas.openxmlformats.org/officeDocument/2006/relationships/chart" Target="../charts/chart40.xml"/><Relationship Id="rId5" Type="http://schemas.openxmlformats.org/officeDocument/2006/relationships/chart" Target="../charts/chart41.xml"/><Relationship Id="rId6" Type="http://schemas.openxmlformats.org/officeDocument/2006/relationships/chart" Target="../charts/chart42.xml"/><Relationship Id="rId7" Type="http://schemas.openxmlformats.org/officeDocument/2006/relationships/notesSlide" Target="../notesSlides/notesSlide50.xml"/><Relationship Id="rId8"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3.xml"/><Relationship Id="rId4" Type="http://schemas.openxmlformats.org/officeDocument/2006/relationships/notesSlide" Target="../notesSlides/notesSlide51.xml"/><Relationship Id="rId5"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3.xml"/><Relationship Id="rId4"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4.xml"/><Relationship Id="rId4" Type="http://schemas.openxmlformats.org/officeDocument/2006/relationships/notesSlide" Target="../notesSlides/notesSlide54.xml"/><Relationship Id="rId5"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 Id="rId4" Type="http://schemas.openxmlformats.org/officeDocument/2006/relationships/image" Target="../media/image328.png"/><Relationship Id="rId5" Type="http://schemas.openxmlformats.org/officeDocument/2006/relationships/image" Target="../media/image329.png"/><Relationship Id="rId6" Type="http://schemas.openxmlformats.org/officeDocument/2006/relationships/image" Target="../media/image330.png"/><Relationship Id="rId7" Type="http://schemas.openxmlformats.org/officeDocument/2006/relationships/image" Target="../media/image331.png"/><Relationship Id="rId8" Type="http://schemas.openxmlformats.org/officeDocument/2006/relationships/image" Target="../media/image332.png"/><Relationship Id="rId9" Type="http://schemas.openxmlformats.org/officeDocument/2006/relationships/image" Target="../media/image333.png"/><Relationship Id="rId10" Type="http://schemas.openxmlformats.org/officeDocument/2006/relationships/image" Target="../media/image334.png"/><Relationship Id="rId11" Type="http://schemas.openxmlformats.org/officeDocument/2006/relationships/image" Target="../media/image335.png"/><Relationship Id="rId12" Type="http://schemas.openxmlformats.org/officeDocument/2006/relationships/image" Target="../media/image336.png"/><Relationship Id="rId13"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5.xml"/><Relationship Id="rId4" Type="http://schemas.openxmlformats.org/officeDocument/2006/relationships/chart" Target="../charts/chart46.xml"/><Relationship Id="rId5" Type="http://schemas.openxmlformats.org/officeDocument/2006/relationships/notesSlide" Target="../notesSlides/notesSlide58.xml"/><Relationship Id="rId6"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7.xml"/><Relationship Id="rId4" Type="http://schemas.openxmlformats.org/officeDocument/2006/relationships/chart" Target="../charts/chart48.xml"/><Relationship Id="rId5" Type="http://schemas.openxmlformats.org/officeDocument/2006/relationships/chart" Target="../charts/chart49.xml"/><Relationship Id="rId6" Type="http://schemas.openxmlformats.org/officeDocument/2006/relationships/notesSlide" Target="../notesSlides/notesSlide59.xml"/><Relationship Id="rId7"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 Id="rId4"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0.xml"/><Relationship Id="rId4" Type="http://schemas.openxmlformats.org/officeDocument/2006/relationships/notesSlide" Target="../notesSlides/notesSlide62.xml"/><Relationship Id="rId5" Type="http://schemas.openxmlformats.org/officeDocument/2006/relationships/image" Target="../media/image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1.xml"/><Relationship Id="rId4" Type="http://schemas.openxmlformats.org/officeDocument/2006/relationships/chart" Target="../charts/chart52.xml"/><Relationship Id="rId5" Type="http://schemas.openxmlformats.org/officeDocument/2006/relationships/notesSlide" Target="../notesSlides/notesSlide66.xml"/><Relationship Id="rId6" Type="http://schemas.openxmlformats.org/officeDocument/2006/relationships/image" Target="../media/image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 Id="rId4" Type="http://schemas.openxmlformats.org/officeDocument/2006/relationships/image" Target="../media/image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3.xml"/><Relationship Id="rId4" Type="http://schemas.openxmlformats.org/officeDocument/2006/relationships/chart" Target="../charts/chart54.xml"/><Relationship Id="rId5" Type="http://schemas.openxmlformats.org/officeDocument/2006/relationships/notesSlide" Target="../notesSlides/notesSlide68.xml"/><Relationship Id="rId6"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5.xml"/><Relationship Id="rId4" Type="http://schemas.openxmlformats.org/officeDocument/2006/relationships/chart" Target="../charts/chart56.xml"/><Relationship Id="rId5" Type="http://schemas.openxmlformats.org/officeDocument/2006/relationships/notesSlide" Target="../notesSlides/notesSlide69.xml"/><Relationship Id="rId6"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7.xml"/><Relationship Id="rId4" Type="http://schemas.openxmlformats.org/officeDocument/2006/relationships/chart" Target="../charts/chart58.xml"/><Relationship Id="rId5" Type="http://schemas.openxmlformats.org/officeDocument/2006/relationships/notesSlide" Target="../notesSlides/notesSlide70.xml"/><Relationship Id="rId6"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 Id="rId4"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9.xml"/><Relationship Id="rId4" Type="http://schemas.openxmlformats.org/officeDocument/2006/relationships/notesSlide" Target="../notesSlides/notesSlide72.xml"/><Relationship Id="rId5"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 Id="rId4"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0.xml"/><Relationship Id="rId4" Type="http://schemas.openxmlformats.org/officeDocument/2006/relationships/notesSlide" Target="../notesSlides/notesSlide74.xml"/><Relationship Id="rId5"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 Id="rId4" Type="http://schemas.openxmlformats.org/officeDocument/2006/relationships/image" Target="../media/image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1.xml"/><Relationship Id="rId4" Type="http://schemas.openxmlformats.org/officeDocument/2006/relationships/notesSlide" Target="../notesSlides/notesSlide76.xml"/><Relationship Id="rId5" Type="http://schemas.openxmlformats.org/officeDocument/2006/relationships/image" Target="../media/image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2.xml"/><Relationship Id="rId4" Type="http://schemas.openxmlformats.org/officeDocument/2006/relationships/notesSlide" Target="../notesSlides/notesSlide77.xml"/><Relationship Id="rId5" Type="http://schemas.openxmlformats.org/officeDocument/2006/relationships/image" Target="../media/image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 Id="rId4" Type="http://schemas.openxmlformats.org/officeDocument/2006/relationships/image" Target="../media/image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 Id="rId4"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3.xml"/><Relationship Id="rId4" Type="http://schemas.openxmlformats.org/officeDocument/2006/relationships/chart" Target="../charts/chart64.xml"/><Relationship Id="rId5" Type="http://schemas.openxmlformats.org/officeDocument/2006/relationships/notesSlide" Target="../notesSlides/notesSlide80.xml"/><Relationship Id="rId6" Type="http://schemas.openxmlformats.org/officeDocument/2006/relationships/image" Target="../media/image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 Id="rId4" Type="http://schemas.openxmlformats.org/officeDocument/2006/relationships/image" Target="../media/image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 Id="rId4" Type="http://schemas.openxmlformats.org/officeDocument/2006/relationships/image" Target="../media/image481.png"/><Relationship Id="rId5" Type="http://schemas.openxmlformats.org/officeDocument/2006/relationships/image" Target="../media/image404.png"/><Relationship Id="rId6" Type="http://schemas.openxmlformats.org/officeDocument/2006/relationships/image" Target="../media/image72.png"/><Relationship Id="rId7" Type="http://schemas.openxmlformats.org/officeDocument/2006/relationships/image" Target="../media/image482.png"/><Relationship Id="rId8" Type="http://schemas.openxmlformats.org/officeDocument/2006/relationships/image" Target="../media/image402.png"/><Relationship Id="rId9" Type="http://schemas.openxmlformats.org/officeDocument/2006/relationships/image" Target="../media/image78.png"/><Relationship Id="rId10" Type="http://schemas.openxmlformats.org/officeDocument/2006/relationships/image" Target="../media/image483.png"/><Relationship Id="rId11" Type="http://schemas.openxmlformats.org/officeDocument/2006/relationships/image" Target="../media/image403.png"/><Relationship Id="rId12" Type="http://schemas.openxmlformats.org/officeDocument/2006/relationships/image" Target="../media/image484.png"/><Relationship Id="rId13" Type="http://schemas.openxmlformats.org/officeDocument/2006/relationships/image" Target="../media/image485.png"/><Relationship Id="rId14" Type="http://schemas.openxmlformats.org/officeDocument/2006/relationships/image" Target="../media/image407.png"/><Relationship Id="rId15" Type="http://schemas.openxmlformats.org/officeDocument/2006/relationships/image" Target="../media/image282.png"/><Relationship Id="rId16" Type="http://schemas.openxmlformats.org/officeDocument/2006/relationships/image" Target="../media/image486.png"/><Relationship Id="rId17" Type="http://schemas.openxmlformats.org/officeDocument/2006/relationships/image" Target="../media/image405.png"/><Relationship Id="rId18" Type="http://schemas.openxmlformats.org/officeDocument/2006/relationships/image" Target="../media/image487.png"/><Relationship Id="rId19" Type="http://schemas.openxmlformats.org/officeDocument/2006/relationships/image" Target="../media/image488.png"/><Relationship Id="rId20" Type="http://schemas.openxmlformats.org/officeDocument/2006/relationships/image" Target="../media/image406.png"/><Relationship Id="rId21" Type="http://schemas.openxmlformats.org/officeDocument/2006/relationships/image" Target="../media/image66.png"/><Relationship Id="rId22" Type="http://schemas.openxmlformats.org/officeDocument/2006/relationships/image" Target="../media/image374.png"/><Relationship Id="rId23" Type="http://schemas.openxmlformats.org/officeDocument/2006/relationships/image" Target="../media/image408.png"/><Relationship Id="rId24" Type="http://schemas.openxmlformats.org/officeDocument/2006/relationships/image" Target="../media/image277.png"/><Relationship Id="rId25" Type="http://schemas.openxmlformats.org/officeDocument/2006/relationships/image" Target="../media/image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5.xml"/><Relationship Id="rId4" Type="http://schemas.openxmlformats.org/officeDocument/2006/relationships/chart" Target="../charts/chart66.xml"/><Relationship Id="rId5" Type="http://schemas.openxmlformats.org/officeDocument/2006/relationships/notesSlide" Target="../notesSlides/notesSlide83.xml"/><Relationship Id="rId6"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7.xml"/><Relationship Id="rId4" Type="http://schemas.openxmlformats.org/officeDocument/2006/relationships/chart" Target="../charts/chart68.xml"/><Relationship Id="rId5" Type="http://schemas.openxmlformats.org/officeDocument/2006/relationships/chart" Target="../charts/chart69.xml"/><Relationship Id="rId6" Type="http://schemas.openxmlformats.org/officeDocument/2006/relationships/chart" Target="../charts/chart70.xml"/><Relationship Id="rId7" Type="http://schemas.openxmlformats.org/officeDocument/2006/relationships/notesSlide" Target="../notesSlides/notesSlide84.xml"/><Relationship Id="rId8" Type="http://schemas.openxmlformats.org/officeDocument/2006/relationships/image" Target="../media/image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1.xml"/><Relationship Id="rId4" Type="http://schemas.openxmlformats.org/officeDocument/2006/relationships/chart" Target="../charts/chart72.xml"/><Relationship Id="rId5" Type="http://schemas.openxmlformats.org/officeDocument/2006/relationships/chart" Target="../charts/chart73.xml"/><Relationship Id="rId6" Type="http://schemas.openxmlformats.org/officeDocument/2006/relationships/notesSlide" Target="../notesSlides/notesSlide85.xml"/><Relationship Id="rId7" Type="http://schemas.openxmlformats.org/officeDocument/2006/relationships/image" Target="../media/image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 Id="rId4" Type="http://schemas.openxmlformats.org/officeDocument/2006/relationships/image" Target="../media/image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 Id="rId4" Type="http://schemas.openxmlformats.org/officeDocument/2006/relationships/image" Target="../media/image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4.xml"/><Relationship Id="rId4" Type="http://schemas.openxmlformats.org/officeDocument/2006/relationships/notesSlide" Target="../notesSlides/notesSlide90.xml"/><Relationship Id="rId5" Type="http://schemas.openxmlformats.org/officeDocument/2006/relationships/image" Target="../media/image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 Id="rId4" Type="http://schemas.openxmlformats.org/officeDocument/2006/relationships/image" Target="../media/image522.png"/><Relationship Id="rId5" Type="http://schemas.openxmlformats.org/officeDocument/2006/relationships/image" Target="../media/image523.png"/><Relationship Id="rId6" Type="http://schemas.openxmlformats.org/officeDocument/2006/relationships/image" Target="../media/image524.png"/><Relationship Id="rId7" Type="http://schemas.openxmlformats.org/officeDocument/2006/relationships/image" Target="../media/image525.png"/><Relationship Id="rId8" Type="http://schemas.openxmlformats.org/officeDocument/2006/relationships/image" Target="../media/image526.png"/><Relationship Id="rId9" Type="http://schemas.openxmlformats.org/officeDocument/2006/relationships/image" Target="../media/image527.png"/><Relationship Id="rId10" Type="http://schemas.openxmlformats.org/officeDocument/2006/relationships/image" Target="../media/image528.png"/><Relationship Id="rId11" Type="http://schemas.openxmlformats.org/officeDocument/2006/relationships/image" Target="../media/image529.png"/><Relationship Id="rId12" Type="http://schemas.openxmlformats.org/officeDocument/2006/relationships/image" Target="../media/image118.png"/><Relationship Id="rId13" Type="http://schemas.openxmlformats.org/officeDocument/2006/relationships/image" Target="../media/image530.png"/><Relationship Id="rId14" Type="http://schemas.openxmlformats.org/officeDocument/2006/relationships/image" Target="../media/image531.png"/><Relationship Id="rId15" Type="http://schemas.openxmlformats.org/officeDocument/2006/relationships/image" Target="../media/image532.png"/><Relationship Id="rId16" Type="http://schemas.openxmlformats.org/officeDocument/2006/relationships/image" Target="../media/image533.png"/><Relationship Id="rId17" Type="http://schemas.openxmlformats.org/officeDocument/2006/relationships/image" Target="../media/image534.png"/><Relationship Id="rId18" Type="http://schemas.openxmlformats.org/officeDocument/2006/relationships/image" Target="../media/image75.png"/><Relationship Id="rId19" Type="http://schemas.openxmlformats.org/officeDocument/2006/relationships/image" Target="../media/image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6.xml"/><Relationship Id="rId4" Type="http://schemas.openxmlformats.org/officeDocument/2006/relationships/image" Target="../media/image535.png"/><Relationship Id="rId5" Type="http://schemas.openxmlformats.org/officeDocument/2006/relationships/image" Target="../media/image536.png"/><Relationship Id="rId6" Type="http://schemas.openxmlformats.org/officeDocument/2006/relationships/image" Target="../media/image78.png"/><Relationship Id="rId7" Type="http://schemas.openxmlformats.org/officeDocument/2006/relationships/image" Target="../media/image537.png"/><Relationship Id="rId8" Type="http://schemas.openxmlformats.org/officeDocument/2006/relationships/image" Target="../media/image538.png"/><Relationship Id="rId9" Type="http://schemas.openxmlformats.org/officeDocument/2006/relationships/image" Target="../media/image539.png"/><Relationship Id="rId10" Type="http://schemas.openxmlformats.org/officeDocument/2006/relationships/image" Target="../media/image540.png"/><Relationship Id="rId11" Type="http://schemas.openxmlformats.org/officeDocument/2006/relationships/image" Target="../media/image541.png"/><Relationship Id="rId12" Type="http://schemas.openxmlformats.org/officeDocument/2006/relationships/image" Target="../media/image288.png"/><Relationship Id="rId13" Type="http://schemas.openxmlformats.org/officeDocument/2006/relationships/image" Target="../media/image351.png"/><Relationship Id="rId14" Type="http://schemas.openxmlformats.org/officeDocument/2006/relationships/image" Target="../media/image542.png"/><Relationship Id="rId15" Type="http://schemas.openxmlformats.org/officeDocument/2006/relationships/image" Target="../media/image543.png"/><Relationship Id="rId16" Type="http://schemas.openxmlformats.org/officeDocument/2006/relationships/image" Target="../media/image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5.xml"/><Relationship Id="rId4" Type="http://schemas.openxmlformats.org/officeDocument/2006/relationships/chart" Target="../charts/chart76.xml"/><Relationship Id="rId5" Type="http://schemas.openxmlformats.org/officeDocument/2006/relationships/notesSlide" Target="../notesSlides/notesSlide97.xml"/><Relationship Id="rId6" Type="http://schemas.openxmlformats.org/officeDocument/2006/relationships/image" Target="../media/image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7.xml"/><Relationship Id="rId4" Type="http://schemas.openxmlformats.org/officeDocument/2006/relationships/chart" Target="../charts/chart78.xml"/><Relationship Id="rId5" Type="http://schemas.openxmlformats.org/officeDocument/2006/relationships/chart" Target="../charts/chart79.xml"/><Relationship Id="rId6" Type="http://schemas.openxmlformats.org/officeDocument/2006/relationships/chart" Target="../charts/chart80.xml"/><Relationship Id="rId7" Type="http://schemas.openxmlformats.org/officeDocument/2006/relationships/notesSlide" Target="../notesSlides/notesSlide98.xml"/><Relationship Id="rId8" Type="http://schemas.openxmlformats.org/officeDocument/2006/relationships/image" Target="../media/image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1.xml"/><Relationship Id="rId4" Type="http://schemas.openxmlformats.org/officeDocument/2006/relationships/chart" Target="../charts/chart82.xml"/><Relationship Id="rId5" Type="http://schemas.openxmlformats.org/officeDocument/2006/relationships/chart" Target="../charts/chart83.xml"/><Relationship Id="rId6" Type="http://schemas.openxmlformats.org/officeDocument/2006/relationships/chart" Target="../charts/chart84.xml"/><Relationship Id="rId7" Type="http://schemas.openxmlformats.org/officeDocument/2006/relationships/notesSlide" Target="../notesSlides/notesSlide99.xml"/><Relationship Id="rId8" Type="http://schemas.openxmlformats.org/officeDocument/2006/relationships/image" Target="../media/image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5.xml"/><Relationship Id="rId4" Type="http://schemas.openxmlformats.org/officeDocument/2006/relationships/notesSlide" Target="../notesSlides/notesSlide100.xml"/><Relationship Id="rId5" Type="http://schemas.openxmlformats.org/officeDocument/2006/relationships/image" Target="../media/image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2.xml"/><Relationship Id="rId4" Type="http://schemas.openxmlformats.org/officeDocument/2006/relationships/image" Target="../media/image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6.xml"/><Relationship Id="rId4" Type="http://schemas.openxmlformats.org/officeDocument/2006/relationships/notesSlide" Target="../notesSlides/notesSlide103.xml"/><Relationship Id="rId5" Type="http://schemas.openxmlformats.org/officeDocument/2006/relationships/image" Target="../media/image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6.xml"/><Relationship Id="rId4" Type="http://schemas.openxmlformats.org/officeDocument/2006/relationships/image" Target="../media/image588.png"/><Relationship Id="rId5" Type="http://schemas.openxmlformats.org/officeDocument/2006/relationships/image" Target="../media/image589.png"/><Relationship Id="rId6" Type="http://schemas.openxmlformats.org/officeDocument/2006/relationships/image" Target="../media/image590.png"/><Relationship Id="rId7" Type="http://schemas.openxmlformats.org/officeDocument/2006/relationships/image" Target="../media/image591.png"/><Relationship Id="rId8" Type="http://schemas.openxmlformats.org/officeDocument/2006/relationships/image" Target="../media/image592.png"/><Relationship Id="rId9" Type="http://schemas.openxmlformats.org/officeDocument/2006/relationships/image" Target="../media/image593.png"/><Relationship Id="rId10" Type="http://schemas.openxmlformats.org/officeDocument/2006/relationships/image" Target="../media/image594.png"/><Relationship Id="rId11" Type="http://schemas.openxmlformats.org/officeDocument/2006/relationships/image" Target="../media/image595.png"/><Relationship Id="rId12" Type="http://schemas.openxmlformats.org/officeDocument/2006/relationships/image" Target="../media/image596.png"/><Relationship Id="rId13" Type="http://schemas.openxmlformats.org/officeDocument/2006/relationships/image" Target="../media/image597.png"/><Relationship Id="rId14" Type="http://schemas.openxmlformats.org/officeDocument/2006/relationships/image" Target="../media/image598.png"/><Relationship Id="rId15" Type="http://schemas.openxmlformats.org/officeDocument/2006/relationships/image" Target="../media/image184.png"/><Relationship Id="rId16" Type="http://schemas.openxmlformats.org/officeDocument/2006/relationships/image" Target="../media/image599.png"/><Relationship Id="rId17" Type="http://schemas.openxmlformats.org/officeDocument/2006/relationships/image" Target="../media/image600.png"/><Relationship Id="rId18" Type="http://schemas.openxmlformats.org/officeDocument/2006/relationships/image" Target="../media/image601.png"/><Relationship Id="rId19" Type="http://schemas.openxmlformats.org/officeDocument/2006/relationships/image" Target="../media/image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7.xml"/><Relationship Id="rId4" Type="http://schemas.openxmlformats.org/officeDocument/2006/relationships/chart" Target="../charts/chart88.xml"/><Relationship Id="rId5" Type="http://schemas.openxmlformats.org/officeDocument/2006/relationships/notesSlide" Target="../notesSlides/notesSlide107.xml"/><Relationship Id="rId6" Type="http://schemas.openxmlformats.org/officeDocument/2006/relationships/image" Target="../media/image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9.xml"/><Relationship Id="rId4" Type="http://schemas.openxmlformats.org/officeDocument/2006/relationships/chart" Target="../charts/chart90.xml"/><Relationship Id="rId5" Type="http://schemas.openxmlformats.org/officeDocument/2006/relationships/chart" Target="../charts/chart91.xml"/><Relationship Id="rId6" Type="http://schemas.openxmlformats.org/officeDocument/2006/relationships/chart" Target="../charts/chart92.xml"/><Relationship Id="rId7" Type="http://schemas.openxmlformats.org/officeDocument/2006/relationships/notesSlide" Target="../notesSlides/notesSlide108.xml"/><Relationship Id="rId8" Type="http://schemas.openxmlformats.org/officeDocument/2006/relationships/image" Target="../media/image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3.xml"/><Relationship Id="rId4" Type="http://schemas.openxmlformats.org/officeDocument/2006/relationships/notesSlide" Target="../notesSlides/notesSlide109.xml"/><Relationship Id="rId5" Type="http://schemas.openxmlformats.org/officeDocument/2006/relationships/image" Target="../media/image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 Id="rId4" Type="http://schemas.openxmlformats.org/officeDocument/2006/relationships/image" Target="../media/image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4.xml"/><Relationship Id="rId4" Type="http://schemas.openxmlformats.org/officeDocument/2006/relationships/notesSlide" Target="../notesSlides/notesSlide112.xml"/><Relationship Id="rId5" Type="http://schemas.openxmlformats.org/officeDocument/2006/relationships/image" Target="../media/image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5.xml"/><Relationship Id="rId4" Type="http://schemas.openxmlformats.org/officeDocument/2006/relationships/image" Target="../media/image626.png"/><Relationship Id="rId5" Type="http://schemas.openxmlformats.org/officeDocument/2006/relationships/image" Target="../media/image627.png"/><Relationship Id="rId6" Type="http://schemas.openxmlformats.org/officeDocument/2006/relationships/image" Target="../media/image277.png"/><Relationship Id="rId7" Type="http://schemas.openxmlformats.org/officeDocument/2006/relationships/image" Target="../media/image628.png"/><Relationship Id="rId8" Type="http://schemas.openxmlformats.org/officeDocument/2006/relationships/image" Target="../media/image629.png"/><Relationship Id="rId9" Type="http://schemas.openxmlformats.org/officeDocument/2006/relationships/image" Target="../media/image630.png"/><Relationship Id="rId10" Type="http://schemas.openxmlformats.org/officeDocument/2006/relationships/image" Target="../media/image631.png"/><Relationship Id="rId11" Type="http://schemas.openxmlformats.org/officeDocument/2006/relationships/image" Target="../media/image484.png"/><Relationship Id="rId12" Type="http://schemas.openxmlformats.org/officeDocument/2006/relationships/image" Target="../media/image2.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5.xml"/><Relationship Id="rId4" Type="http://schemas.openxmlformats.org/officeDocument/2006/relationships/chart" Target="../charts/chart96.xml"/><Relationship Id="rId5" Type="http://schemas.openxmlformats.org/officeDocument/2006/relationships/notesSlide" Target="../notesSlides/notesSlide116.xml"/><Relationship Id="rId6" Type="http://schemas.openxmlformats.org/officeDocument/2006/relationships/image" Target="../media/image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7.xml"/><Relationship Id="rId4" Type="http://schemas.openxmlformats.org/officeDocument/2006/relationships/chart" Target="../charts/chart98.xml"/><Relationship Id="rId5" Type="http://schemas.openxmlformats.org/officeDocument/2006/relationships/chart" Target="../charts/chart99.xml"/><Relationship Id="rId6" Type="http://schemas.openxmlformats.org/officeDocument/2006/relationships/notesSlide" Target="../notesSlides/notesSlide117.xml"/><Relationship Id="rId7" Type="http://schemas.openxmlformats.org/officeDocument/2006/relationships/image" Target="../media/image2.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9.xml"/><Relationship Id="rId4" Type="http://schemas.openxmlformats.org/officeDocument/2006/relationships/image" Target="../media/image2.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0.xml"/><Relationship Id="rId4" Type="http://schemas.openxmlformats.org/officeDocument/2006/relationships/notesSlide" Target="../notesSlides/notesSlide120.xml"/><Relationship Id="rId5" Type="http://schemas.openxmlformats.org/officeDocument/2006/relationships/image" Target="../media/image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1.xml"/><Relationship Id="rId4" Type="http://schemas.openxmlformats.org/officeDocument/2006/relationships/chart" Target="../charts/chart102.xml"/><Relationship Id="rId5" Type="http://schemas.openxmlformats.org/officeDocument/2006/relationships/chart" Target="../charts/chart103.xml"/><Relationship Id="rId6" Type="http://schemas.openxmlformats.org/officeDocument/2006/relationships/chart" Target="../charts/chart104.xml"/><Relationship Id="rId7" Type="http://schemas.openxmlformats.org/officeDocument/2006/relationships/notesSlide" Target="../notesSlides/notesSlide124.xml"/><Relationship Id="rId8" Type="http://schemas.openxmlformats.org/officeDocument/2006/relationships/image" Target="../media/image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5.xml"/><Relationship Id="rId4" Type="http://schemas.openxmlformats.org/officeDocument/2006/relationships/chart" Target="../charts/chart106.xml"/><Relationship Id="rId5" Type="http://schemas.openxmlformats.org/officeDocument/2006/relationships/chart" Target="../charts/chart107.xml"/><Relationship Id="rId6" Type="http://schemas.openxmlformats.org/officeDocument/2006/relationships/chart" Target="../charts/chart108.xml"/><Relationship Id="rId7" Type="http://schemas.openxmlformats.org/officeDocument/2006/relationships/notesSlide" Target="../notesSlides/notesSlide125.xml"/><Relationship Id="rId8" Type="http://schemas.openxmlformats.org/officeDocument/2006/relationships/image" Target="../media/image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9.xml"/><Relationship Id="rId4" Type="http://schemas.openxmlformats.org/officeDocument/2006/relationships/chart" Target="../charts/chart110.xml"/><Relationship Id="rId5" Type="http://schemas.openxmlformats.org/officeDocument/2006/relationships/chart" Target="../charts/chart111.xml"/><Relationship Id="rId6" Type="http://schemas.openxmlformats.org/officeDocument/2006/relationships/chart" Target="../charts/chart112.xml"/><Relationship Id="rId7" Type="http://schemas.openxmlformats.org/officeDocument/2006/relationships/notesSlide" Target="../notesSlides/notesSlide126.xml"/><Relationship Id="rId8" Type="http://schemas.openxmlformats.org/officeDocument/2006/relationships/image" Target="../media/image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3.xml"/><Relationship Id="rId4" Type="http://schemas.openxmlformats.org/officeDocument/2006/relationships/chart" Target="../charts/chart114.xml"/><Relationship Id="rId5" Type="http://schemas.openxmlformats.org/officeDocument/2006/relationships/notesSlide" Target="../notesSlides/notesSlide127.xml"/><Relationship Id="rId6" Type="http://schemas.openxmlformats.org/officeDocument/2006/relationships/image" Target="../media/image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8.xml"/><Relationship Id="rId4" Type="http://schemas.openxmlformats.org/officeDocument/2006/relationships/image" Target="../media/image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9.xml"/><Relationship Id="rId4" Type="http://schemas.openxmlformats.org/officeDocument/2006/relationships/image" Target="../media/image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0.xml"/><Relationship Id="rId4" Type="http://schemas.openxmlformats.org/officeDocument/2006/relationships/image" Target="../media/image2.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1.xml"/><Relationship Id="rId4" Type="http://schemas.openxmlformats.org/officeDocument/2006/relationships/image" Target="../media/image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5.xml"/><Relationship Id="rId4" Type="http://schemas.openxmlformats.org/officeDocument/2006/relationships/notesSlide" Target="../notesSlides/notesSlide136.xml"/><Relationship Id="rId5" Type="http://schemas.openxmlformats.org/officeDocument/2006/relationships/image" Target="../media/image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6.xml"/><Relationship Id="rId4" Type="http://schemas.openxmlformats.org/officeDocument/2006/relationships/notesSlide" Target="../notesSlides/notesSlide137.xml"/><Relationship Id="rId5" Type="http://schemas.openxmlformats.org/officeDocument/2006/relationships/image" Target="../media/image2.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9.xml"/><Relationship Id="rId4" Type="http://schemas.openxmlformats.org/officeDocument/2006/relationships/image" Target="../media/image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7.xml"/><Relationship Id="rId4" Type="http://schemas.openxmlformats.org/officeDocument/2006/relationships/chart" Target="../charts/chart118.xml"/><Relationship Id="rId5" Type="http://schemas.openxmlformats.org/officeDocument/2006/relationships/notesSlide" Target="../notesSlides/notesSlide142.xml"/><Relationship Id="rId6" Type="http://schemas.openxmlformats.org/officeDocument/2006/relationships/image" Target="../media/image2.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3.xml"/><Relationship Id="rId4" Type="http://schemas.openxmlformats.org/officeDocument/2006/relationships/image" Target="../media/image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9.xml"/><Relationship Id="rId4" Type="http://schemas.openxmlformats.org/officeDocument/2006/relationships/chart" Target="../charts/chart120.xml"/><Relationship Id="rId5" Type="http://schemas.openxmlformats.org/officeDocument/2006/relationships/notesSlide" Target="../notesSlides/notesSlide145.xml"/><Relationship Id="rId6" Type="http://schemas.openxmlformats.org/officeDocument/2006/relationships/image" Target="../media/image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6.xml"/><Relationship Id="rId4" Type="http://schemas.openxmlformats.org/officeDocument/2006/relationships/image" Target="../media/image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8.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9.xml"/><Relationship Id="rId4" Type="http://schemas.openxmlformats.org/officeDocument/2006/relationships/image" Target="../media/image2.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1.xml"/><Relationship Id="rId4" Type="http://schemas.openxmlformats.org/officeDocument/2006/relationships/chart" Target="../charts/chart122.xml"/><Relationship Id="rId5" Type="http://schemas.openxmlformats.org/officeDocument/2006/relationships/notesSlide" Target="../notesSlides/notesSlide150.xml"/><Relationship Id="rId6" Type="http://schemas.openxmlformats.org/officeDocument/2006/relationships/image" Target="../media/image2.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3.xml"/><Relationship Id="rId4" Type="http://schemas.openxmlformats.org/officeDocument/2006/relationships/notesSlide" Target="../notesSlides/notesSlide151.xml"/><Relationship Id="rId5" Type="http://schemas.openxmlformats.org/officeDocument/2006/relationships/image" Target="../media/image2.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2.xml"/><Relationship Id="rId4" Type="http://schemas.openxmlformats.org/officeDocument/2006/relationships/image" Target="../media/image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3.xml"/><Relationship Id="rId4" Type="http://schemas.openxmlformats.org/officeDocument/2006/relationships/image" Target="../media/image2.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4.xml"/><Relationship Id="rId4" Type="http://schemas.openxmlformats.org/officeDocument/2006/relationships/image" Target="../media/image2.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5.xml"/><Relationship Id="rId4" Type="http://schemas.openxmlformats.org/officeDocument/2006/relationships/image" Target="../media/image2.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6.xml"/><Relationship Id="rId4" Type="http://schemas.openxmlformats.org/officeDocument/2006/relationships/image" Target="../media/image2.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7.xml"/><Relationship Id="rId4" Type="http://schemas.openxmlformats.org/officeDocument/2006/relationships/image" Target="../media/image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8.xml"/><Relationship Id="rId4" Type="http://schemas.openxmlformats.org/officeDocument/2006/relationships/image" Target="../media/image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9.xml"/><Relationship Id="rId4" Type="http://schemas.openxmlformats.org/officeDocument/2006/relationships/image" Target="../media/image2.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0.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1.xml"/><Relationship Id="rId4" Type="http://schemas.openxmlformats.org/officeDocument/2006/relationships/image" Target="../media/image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2.xml"/><Relationship Id="rId4" Type="http://schemas.openxmlformats.org/officeDocument/2006/relationships/image" Target="../media/image2.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3.xml"/><Relationship Id="rId4" Type="http://schemas.openxmlformats.org/officeDocument/2006/relationships/image" Target="../media/image2.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4.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5.xml"/><Relationship Id="rId4" Type="http://schemas.openxmlformats.org/officeDocument/2006/relationships/image" Target="../media/image2.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6.xml"/><Relationship Id="rId4" Type="http://schemas.openxmlformats.org/officeDocument/2006/relationships/image" Target="../media/image2.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7.xml"/><Relationship Id="rId4" Type="http://schemas.openxmlformats.org/officeDocument/2006/relationships/image" Target="../media/image2.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8.xml"/><Relationship Id="rId4" Type="http://schemas.openxmlformats.org/officeDocument/2006/relationships/image" Target="../media/image2.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9.xml"/><Relationship Id="rId4" Type="http://schemas.openxmlformats.org/officeDocument/2006/relationships/image" Target="../media/image2.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0.xml"/><Relationship Id="rId4" Type="http://schemas.openxmlformats.org/officeDocument/2006/relationships/image" Target="../media/image2.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1.xml"/><Relationship Id="rId4" Type="http://schemas.openxmlformats.org/officeDocument/2006/relationships/image" Target="../media/image2.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3.xml"/><Relationship Id="rId4" Type="http://schemas.openxmlformats.org/officeDocument/2006/relationships/image" Target="../media/image2.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4.xml"/><Relationship Id="rId4" Type="http://schemas.openxmlformats.org/officeDocument/2006/relationships/image" Target="../media/image2.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5.xml"/><Relationship Id="rId4" Type="http://schemas.openxmlformats.org/officeDocument/2006/relationships/image" Target="../media/image2.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6.xml"/><Relationship Id="rId4" Type="http://schemas.openxmlformats.org/officeDocument/2006/relationships/image" Target="../media/image2.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7.xml"/><Relationship Id="rId4" Type="http://schemas.openxmlformats.org/officeDocument/2006/relationships/image" Target="../media/image2.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8.xml"/><Relationship Id="rId4" Type="http://schemas.openxmlformats.org/officeDocument/2006/relationships/image" Target="../media/image2.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9.xml"/><Relationship Id="rId4" Type="http://schemas.openxmlformats.org/officeDocument/2006/relationships/image" Target="../media/image2.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0.xml"/><Relationship Id="rId4" Type="http://schemas.openxmlformats.org/officeDocument/2006/relationships/image" Target="../media/image2.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1.xml"/><Relationship Id="rId4" Type="http://schemas.openxmlformats.org/officeDocument/2006/relationships/image" Target="../media/image2.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3.xml"/><Relationship Id="rId4" Type="http://schemas.openxmlformats.org/officeDocument/2006/relationships/image" Target="../media/image2.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4.xml"/><Relationship Id="rId4" Type="http://schemas.openxmlformats.org/officeDocument/2006/relationships/image" Target="../media/image2.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5.xml"/><Relationship Id="rId4" Type="http://schemas.openxmlformats.org/officeDocument/2006/relationships/image" Target="../media/image2.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6.xml"/><Relationship Id="rId4" Type="http://schemas.openxmlformats.org/officeDocument/2006/relationships/image" Target="../media/image2.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4.xml"/><Relationship Id="rId4" Type="http://schemas.openxmlformats.org/officeDocument/2006/relationships/notesSlide" Target="../notesSlides/notesSlide187.xml"/><Relationship Id="rId5" Type="http://schemas.openxmlformats.org/officeDocument/2006/relationships/image" Target="../media/image2.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5.xml"/><Relationship Id="rId4" Type="http://schemas.openxmlformats.org/officeDocument/2006/relationships/chart" Target="../charts/chart126.xml"/><Relationship Id="rId5" Type="http://schemas.openxmlformats.org/officeDocument/2006/relationships/chart" Target="../charts/chart127.xml"/><Relationship Id="rId6" Type="http://schemas.openxmlformats.org/officeDocument/2006/relationships/notesSlide" Target="../notesSlides/notesSlide188.xml"/><Relationship Id="rId7" Type="http://schemas.openxmlformats.org/officeDocument/2006/relationships/image" Target="../media/image2.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8.xml"/><Relationship Id="rId4" Type="http://schemas.openxmlformats.org/officeDocument/2006/relationships/chart" Target="../charts/chart129.xml"/><Relationship Id="rId5" Type="http://schemas.openxmlformats.org/officeDocument/2006/relationships/chart" Target="../charts/chart130.xml"/><Relationship Id="rId6" Type="http://schemas.openxmlformats.org/officeDocument/2006/relationships/notesSlide" Target="../notesSlides/notesSlide189.xml"/><Relationship Id="rId7" Type="http://schemas.openxmlformats.org/officeDocument/2006/relationships/image" Target="../media/image2.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0.xml"/><Relationship Id="rId4" Type="http://schemas.openxmlformats.org/officeDocument/2006/relationships/image" Target="../media/image2.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1.xml"/><Relationship Id="rId4" Type="http://schemas.openxmlformats.org/officeDocument/2006/relationships/chart" Target="../charts/chart132.xml"/><Relationship Id="rId5" Type="http://schemas.openxmlformats.org/officeDocument/2006/relationships/chart" Target="../charts/chart133.xml"/><Relationship Id="rId6" Type="http://schemas.openxmlformats.org/officeDocument/2006/relationships/notesSlide" Target="../notesSlides/notesSlide191.xml"/><Relationship Id="rId7" Type="http://schemas.openxmlformats.org/officeDocument/2006/relationships/image" Target="../media/image2.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4.xml"/><Relationship Id="rId4" Type="http://schemas.openxmlformats.org/officeDocument/2006/relationships/notesSlide" Target="../notesSlides/notesSlide192.xml"/><Relationship Id="rId5" Type="http://schemas.openxmlformats.org/officeDocument/2006/relationships/image" Target="../media/image2.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3.xml"/><Relationship Id="rId4" Type="http://schemas.openxmlformats.org/officeDocument/2006/relationships/image" Target="../media/image2.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4.xml"/><Relationship Id="rId4" Type="http://schemas.openxmlformats.org/officeDocument/2006/relationships/image" Target="../media/image2.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5.xml"/><Relationship Id="rId4" Type="http://schemas.openxmlformats.org/officeDocument/2006/relationships/image" Target="../media/image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6.png"/><Relationship Id="rId3" Type="http://schemas.openxmlformats.org/officeDocument/2006/relationships/image" Target="../media/image747.png"/><Relationship Id="rId4" Type="http://schemas.openxmlformats.org/officeDocument/2006/relationships/image" Target="../media/image748.png"/><Relationship Id="rId5" Type="http://schemas.openxmlformats.org/officeDocument/2006/relationships/image" Target="../media/image749.png"/><Relationship Id="rId6" Type="http://schemas.openxmlformats.org/officeDocument/2006/relationships/image" Target="../media/image750.png"/><Relationship Id="rId7" Type="http://schemas.openxmlformats.org/officeDocument/2006/relationships/image" Target="../media/image751.png"/><Relationship Id="rId8" Type="http://schemas.openxmlformats.org/officeDocument/2006/relationships/image" Target="../media/image75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Box 5"/>
          <p:cNvSpPr txBox="1"/>
          <p:nvPr userDrawn="1"/>
        </p:nvSpPr>
        <p:spPr>
          <a:xfrm>
            <a:off x="0" y="2"/>
            <a:ext cx="12192000" cy="6824625"/>
          </a:xfrm>
          <a:prstGeom prst="rect">
            <a:avLst/>
          </a:prstGeom>
          <a:solidFill>
            <a:srgbClr val="FFFFFF"/>
          </a:solidFill>
        </p:spPr>
        <p:txBody>
          <a:bodyPr wrap="square" rtlCol="0">
            <a:spAutoFit/>
          </a:bodyPr>
          <a:lstStyle/>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IN" sz="1902" dirty="0"/>
          </a:p>
        </p:txBody>
      </p:sp>
      <p:pic>
        <p:nvPicPr>
          <p:cNvPr id="4" name="Picture 7"/>
          <p:cNvPicPr>
            <a:picLocks noChangeAspect="1"/>
          </p:cNvPicPr>
          <p:nvPr userDrawn="1"/>
        </p:nvPicPr>
        <p:blipFill>
          <a:blip r:embed="rId2" cstate="print">
            <a:duotone>
              <a:srgbClr val="F8F8F8">
                <a:shade val="45000"/>
                <a:satMod val="135000"/>
              </a:srgbClr>
              <a:prstClr val="white"/>
            </a:duotone>
            <a:extLst>
              <a:ext uri="{28A0092B-C50C-407E-A947-70E740481C1C}">
                <a14:useLocalDpi xmlns:a14="http://schemas.microsoft.com/office/drawing/2010/main" val="0"/>
              </a:ext>
            </a:extLst>
          </a:blip>
          <a:stretch>
            <a:fillRect/>
          </a:stretch>
        </p:blipFill>
        <p:spPr>
          <a:xfrm>
            <a:off x="0" y="10056"/>
            <a:ext cx="12192000" cy="6847944"/>
          </a:xfrm>
          <a:prstGeom prst="rect">
            <a:avLst/>
          </a:prstGeom>
          <a:effectLst>
            <a:outerShdw blurRad="50800" dist="38100" dir="18900000" algn="bl" rotWithShape="0">
              <a:prstClr val="black">
                <a:alpha val="40000"/>
              </a:prstClr>
            </a:outerShdw>
          </a:effectLst>
        </p:spPr>
      </p:pic>
      <p:sp>
        <p:nvSpPr>
          <p:cNvPr id="5" name="Rectangle 34"/>
          <p:cNvSpPr/>
          <p:nvPr userDrawn="1"/>
        </p:nvSpPr>
        <p:spPr>
          <a:xfrm>
            <a:off x="743259" y="10058"/>
            <a:ext cx="5906925" cy="6858001"/>
          </a:xfrm>
          <a:prstGeom prst="rect">
            <a:avLst/>
          </a:prstGeom>
          <a:solidFill>
            <a:srgbClr val="0070C0">
              <a:alpha val="81000"/>
            </a:srgbClr>
          </a:solidFill>
          <a:ln>
            <a:noFill/>
          </a:ln>
          <a:effectLst>
            <a:outerShdw blurRad="63500" sx="102000" sy="102000" algn="ctr"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6" name="TextBox 9"/>
          <p:cNvSpPr txBox="1"/>
          <p:nvPr userDrawn="1"/>
        </p:nvSpPr>
        <p:spPr>
          <a:xfrm>
            <a:off x="829068" y="6616282"/>
            <a:ext cx="1984839" cy="230832"/>
          </a:xfrm>
          <a:prstGeom prst="rect">
            <a:avLst/>
          </a:prstGeom>
          <a:noFill/>
        </p:spPr>
        <p:txBody>
          <a:bodyPr wrap="none" rtlCol="0">
            <a:spAutoFit/>
          </a:bodyPr>
          <a:lstStyle/>
          <a:p>
            <a:r>
              <a:rPr lang="en-US" sz="900" dirty="0">
                <a:solidFill>
                  <a:srgbClr val="FFFFFF"/>
                </a:solidFill>
              </a:rPr>
              <a:t>Source@ Future Market Insights, 2026</a:t>
            </a:r>
            <a:endParaRPr lang="en-IN" sz="900" dirty="0">
              <a:solidFill>
                <a:srgbClr val="FFFFFF"/>
              </a:solidFill>
            </a:endParaRPr>
          </a:p>
        </p:txBody>
      </p:sp>
      <p:sp>
        <p:nvSpPr>
          <p:cNvPr id="7" name="Rectangle 11"/>
          <p:cNvSpPr/>
          <p:nvPr userDrawn="1"/>
        </p:nvSpPr>
        <p:spPr>
          <a:xfrm>
            <a:off x="371630" y="5918917"/>
            <a:ext cx="11448743" cy="584895"/>
          </a:xfrm>
          <a:prstGeom prst="rect">
            <a:avLst/>
          </a:prstGeom>
          <a:solidFill>
            <a:srgbClr val="FCD150"/>
          </a:solidFill>
          <a:ln>
            <a:noFill/>
          </a:ln>
          <a:effectLst>
            <a:outerShdw blurRad="50800" dist="38100" dir="18900000" algn="bl"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8" name="Rectangle 12"/>
          <p:cNvSpPr/>
          <p:nvPr userDrawn="1"/>
        </p:nvSpPr>
        <p:spPr>
          <a:xfrm>
            <a:off x="371630" y="6559883"/>
            <a:ext cx="11448743" cy="57528"/>
          </a:xfrm>
          <a:prstGeom prst="rect">
            <a:avLst/>
          </a:prstGeom>
          <a:solidFill>
            <a:srgbClr val="FFFFFF"/>
          </a:solidFill>
          <a:ln>
            <a:noFill/>
          </a:ln>
          <a:effectLst>
            <a:outerShdw blurRad="50800" dist="38100" dir="18900000" algn="bl"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9" name="Text Placeholder 4"/>
          <p:cNvSpPr txBox="1">
            <a:spLocks/>
          </p:cNvSpPr>
          <p:nvPr/>
        </p:nvSpPr>
        <p:spPr bwMode="gray">
          <a:xfrm>
            <a:off x="934546" y="262851"/>
            <a:ext cx="5623008" cy="3800000"/>
          </a:xfrm>
          <a:prstGeom prst="rect">
            <a:avLst/>
          </a:prstGeom>
        </p:spPr>
        <p:txBody>
          <a:bodyPr vert="horz" lIns="0" tIns="77372" rIns="77372" bIns="77372" rtlCol="0">
            <a:noAutofit/>
          </a:bodyPr>
          <a:lstStyle>
            <a:lvl1pPr marL="0" indent="0" algn="l" defTabSz="792505" rtl="0" eaLnBrk="1" latinLnBrk="0" hangingPunct="1">
              <a:lnSpc>
                <a:spcPct val="90000"/>
              </a:lnSpc>
              <a:spcBef>
                <a:spcPts val="867"/>
              </a:spcBef>
              <a:buFont typeface="Wingdings" panose="05000000000000000000" pitchFamily="2" charset="2"/>
              <a:buNone/>
              <a:defRPr sz="1800" kern="1200">
                <a:solidFill>
                  <a:srgbClr val="000000"/>
                </a:solidFill>
                <a:latin typeface="Calibri" panose="020F0502020204030204" pitchFamily="34" charset="0"/>
                <a:ea typeface="+mn-ea"/>
                <a:cs typeface="Calibri" panose="020F0502020204030204" pitchFamily="34" charset="0"/>
              </a:defRPr>
            </a:lvl1pPr>
            <a:lvl2pPr marL="457196" indent="0" algn="ctr" defTabSz="792505" rtl="0" eaLnBrk="1" latinLnBrk="0" hangingPunct="1">
              <a:lnSpc>
                <a:spcPct val="90000"/>
              </a:lnSpc>
              <a:spcBef>
                <a:spcPts val="433"/>
              </a:spcBef>
              <a:buSzPct val="80000"/>
              <a:buFont typeface="Wingdings" panose="05000000000000000000" pitchFamily="2" charset="2"/>
              <a:buNone/>
              <a:defRPr sz="2000" kern="1200">
                <a:solidFill>
                  <a:srgbClr val="000000"/>
                </a:solidFill>
                <a:latin typeface="+mn-lt"/>
                <a:ea typeface="+mn-ea"/>
                <a:cs typeface="+mn-cs"/>
              </a:defRPr>
            </a:lvl2pPr>
            <a:lvl3pPr marL="914391" indent="0" algn="ctr" defTabSz="792505" rtl="0" eaLnBrk="1" latinLnBrk="0" hangingPunct="1">
              <a:lnSpc>
                <a:spcPct val="90000"/>
              </a:lnSpc>
              <a:spcBef>
                <a:spcPts val="433"/>
              </a:spcBef>
              <a:buFont typeface="Wingdings" panose="05000000000000000000" pitchFamily="2" charset="2"/>
              <a:buNone/>
              <a:defRPr sz="1800" kern="1200">
                <a:solidFill>
                  <a:srgbClr val="000000"/>
                </a:solidFill>
                <a:latin typeface="+mn-lt"/>
                <a:ea typeface="+mn-ea"/>
                <a:cs typeface="+mn-cs"/>
              </a:defRPr>
            </a:lvl3pPr>
            <a:lvl4pPr marL="1371587" indent="0" algn="ctr" defTabSz="792505" rtl="0" eaLnBrk="1" latinLnBrk="0" hangingPunct="1">
              <a:lnSpc>
                <a:spcPct val="90000"/>
              </a:lnSpc>
              <a:spcBef>
                <a:spcPts val="433"/>
              </a:spcBef>
              <a:buSzPct val="80000"/>
              <a:buFont typeface="Wingdings" panose="05000000000000000000" pitchFamily="2" charset="2"/>
              <a:buNone/>
              <a:defRPr sz="1600" kern="1200">
                <a:solidFill>
                  <a:srgbClr val="000000"/>
                </a:solidFill>
                <a:latin typeface="+mn-lt"/>
                <a:ea typeface="+mn-ea"/>
                <a:cs typeface="+mn-cs"/>
              </a:defRPr>
            </a:lvl4pPr>
            <a:lvl5pPr marL="1828783"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5pPr>
            <a:lvl6pPr marL="2285978"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6pPr>
            <a:lvl7pPr marL="2743174"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7pPr>
            <a:lvl8pPr marL="3200370"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8pPr>
            <a:lvl9pPr marL="3657565"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9pPr>
          </a:lstStyle>
          <a:p>
            <a:pPr>
              <a:spcBef>
                <a:spcPts val="0"/>
              </a:spcBef>
            </a:pPr>
            <a:r>
              <a:rPr lang="en-US" sz="6000" dirty="0">
                <a:solidFill>
                  <a:srgbClr val="FFFFFF"/>
                </a:solidFill>
                <a:latin typeface="Bell MT" panose="02020503060305020303" pitchFamily="18" charset="0"/>
              </a:rPr>
              <a:t>Ear Wax Removal Products Market</a:t>
            </a:r>
            <a:endParaRPr lang="en-US" sz="1600" dirty="0">
              <a:solidFill>
                <a:srgbClr val="FFFFFF"/>
              </a:solidFill>
              <a:latin typeface="Bell MT" panose="02020503060305020303" pitchFamily="18" charset="0"/>
            </a:endParaRPr>
          </a:p>
        </p:txBody>
      </p:sp>
      <p:sp>
        <p:nvSpPr>
          <p:cNvPr id="9" name="Front Page Subtitle"/>
          <p:cNvSpPr txBox="1">
            <a:spLocks/>
          </p:cNvSpPr>
          <p:nvPr/>
        </p:nvSpPr>
        <p:spPr bwMode="gray">
          <a:xfrm>
            <a:off x="934546" y="4150000"/>
            <a:ext cx="5623008" cy="1650000"/>
          </a:xfrm>
          <a:prstGeom prst="rect">
            <a:avLst/>
          </a:prstGeom>
        </p:spPr>
        <p:txBody>
          <a:bodyPr vert="horz" lIns="0" tIns="77372" rIns="77372" bIns="77372" rtlCol="0" anchor="b">
            <a:noAutofit/>
          </a:bodyPr>
          <a:lstStyle>
            <a:lvl1pPr marL="0" indent="0" algn="l" defTabSz="792505" rtl="0" eaLnBrk="1" latinLnBrk="0" hangingPunct="1">
              <a:lnSpc>
                <a:spcPct val="90000"/>
              </a:lnSpc>
              <a:spcBef>
                <a:spcPts val="867"/>
              </a:spcBef>
              <a:buFont typeface="Wingdings" panose="05000000000000000000" pitchFamily="2" charset="2"/>
              <a:buNone/>
              <a:defRPr sz="1800" kern="1200">
                <a:solidFill>
                  <a:srgbClr val="000000"/>
                </a:solidFill>
                <a:latin typeface="Calibri" panose="020F0502020204030204" pitchFamily="34" charset="0"/>
                <a:ea typeface="+mn-ea"/>
                <a:cs typeface="Calibri" panose="020F0502020204030204" pitchFamily="34" charset="0"/>
              </a:defRPr>
            </a:lvl1pPr>
            <a:lvl2pPr marL="457196" indent="0" algn="ctr" defTabSz="792505" rtl="0" eaLnBrk="1" latinLnBrk="0" hangingPunct="1">
              <a:lnSpc>
                <a:spcPct val="90000"/>
              </a:lnSpc>
              <a:spcBef>
                <a:spcPts val="433"/>
              </a:spcBef>
              <a:buSzPct val="80000"/>
              <a:buFont typeface="Wingdings" panose="05000000000000000000" pitchFamily="2" charset="2"/>
              <a:buNone/>
              <a:defRPr sz="2000" kern="1200">
                <a:solidFill>
                  <a:srgbClr val="000000"/>
                </a:solidFill>
                <a:latin typeface="+mn-lt"/>
                <a:ea typeface="+mn-ea"/>
                <a:cs typeface="+mn-cs"/>
              </a:defRPr>
            </a:lvl2pPr>
            <a:lvl3pPr marL="914391" indent="0" algn="ctr" defTabSz="792505" rtl="0" eaLnBrk="1" latinLnBrk="0" hangingPunct="1">
              <a:lnSpc>
                <a:spcPct val="90000"/>
              </a:lnSpc>
              <a:spcBef>
                <a:spcPts val="433"/>
              </a:spcBef>
              <a:buFont typeface="Wingdings" panose="05000000000000000000" pitchFamily="2" charset="2"/>
              <a:buNone/>
              <a:defRPr sz="1800" kern="1200">
                <a:solidFill>
                  <a:srgbClr val="000000"/>
                </a:solidFill>
                <a:latin typeface="+mn-lt"/>
                <a:ea typeface="+mn-ea"/>
                <a:cs typeface="+mn-cs"/>
              </a:defRPr>
            </a:lvl3pPr>
            <a:lvl4pPr marL="1371587" indent="0" algn="ctr" defTabSz="792505" rtl="0" eaLnBrk="1" latinLnBrk="0" hangingPunct="1">
              <a:lnSpc>
                <a:spcPct val="90000"/>
              </a:lnSpc>
              <a:spcBef>
                <a:spcPts val="433"/>
              </a:spcBef>
              <a:buSzPct val="80000"/>
              <a:buFont typeface="Wingdings" panose="05000000000000000000" pitchFamily="2" charset="2"/>
              <a:buNone/>
              <a:defRPr sz="1600" kern="1200">
                <a:solidFill>
                  <a:srgbClr val="000000"/>
                </a:solidFill>
                <a:latin typeface="+mn-lt"/>
                <a:ea typeface="+mn-ea"/>
                <a:cs typeface="+mn-cs"/>
              </a:defRPr>
            </a:lvl4pPr>
            <a:lvl5pPr marL="1828783"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5pPr>
            <a:lvl6pPr marL="2285978"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6pPr>
            <a:lvl7pPr marL="2743174"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7pPr>
            <a:lvl8pPr marL="3200370"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8pPr>
            <a:lvl9pPr marL="3657565"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9pPr>
          </a:lstStyle>
          <a:p>
            <a:pPr>
              <a:spcBef>
                <a:spcPts val="0"/>
              </a:spcBef>
            </a:pPr>
            <a:r>
              <a:rPr lang="en-US" sz="2400" dirty="0">
                <a:solidFill>
                  <a:srgbClr val="FFFFFF"/>
                </a:solidFill>
                <a:latin typeface="Bell MT" panose="02020503060305020303" pitchFamily="18" charset="0"/>
              </a:rPr>
              <a:t>Global Industry Analysis 2021 – 2025 and Opportunity Assessment 2026 – 2036</a:t>
            </a:r>
          </a:p>
        </p:txBody>
      </p:sp>
      <p:grpSp>
        <p:nvGrpSpPr>
          <p:cNvPr id="10" name="Group 8"/>
          <p:cNvGrpSpPr/>
          <p:nvPr/>
        </p:nvGrpSpPr>
        <p:grpSpPr>
          <a:xfrm>
            <a:off x="9124182" y="262851"/>
            <a:ext cx="2864618" cy="709680"/>
            <a:chOff x="201497" y="6393289"/>
            <a:chExt cx="1281818" cy="338050"/>
          </a:xfrm>
        </p:grpSpPr>
        <p:pic>
          <p:nvPicPr>
            <p:cNvPr id="11"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1497" y="6393289"/>
              <a:ext cx="537551" cy="338050"/>
            </a:xfrm>
            <a:prstGeom prst="rect">
              <a:avLst/>
            </a:prstGeom>
          </p:spPr>
        </p:pic>
        <p:pic>
          <p:nvPicPr>
            <p:cNvPr id="12" name="Picture 7" descr="C:\Users\Nandini\Desktop\ESOMAR_corporate2020_RGB.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1199" y="6426912"/>
              <a:ext cx="722116" cy="270803"/>
            </a:xfrm>
            <a:prstGeom prst="rect">
              <a:avLst/>
            </a:prstGeom>
            <a:noFill/>
            <a:ln>
              <a:noFill/>
            </a:ln>
          </p:spPr>
        </p:pic>
      </p:grpSp>
      <p:sp>
        <p:nvSpPr>
          <p:cNvPr id="13" name="Rectangle 3"/>
          <p:cNvSpPr/>
          <p:nvPr/>
        </p:nvSpPr>
        <p:spPr>
          <a:xfrm>
            <a:off x="934546" y="6015689"/>
            <a:ext cx="2551724" cy="400110"/>
          </a:xfrm>
          <a:prstGeom prst="rect">
            <a:avLst/>
          </a:prstGeom>
        </p:spPr>
        <p:txBody>
          <a:bodyPr wrap="none">
            <a:spAutoFit/>
          </a:bodyPr>
          <a:lstStyle/>
          <a:p>
            <a:r>
              <a:rPr lang="en-US" sz="2000" b="1" dirty="0">
                <a:solidFill>
                  <a:srgbClr val="000000">
                    <a:lumMod val="85000"/>
                    <a:lumOff val="15000"/>
                  </a:srgbClr>
                </a:solidFill>
                <a:latin typeface="Bell MT" panose="02020503060305020303" pitchFamily="18" charset="0"/>
              </a:rPr>
              <a:t>Sample Report</a:t>
            </a:r>
            <a:r>
              <a:rPr lang="en-US" sz="1600" b="1" dirty="0">
                <a:solidFill>
                  <a:srgbClr val="000000">
                    <a:lumMod val="85000"/>
                    <a:lumOff val="15000"/>
                  </a:srgbClr>
                </a:solidFill>
                <a:latin typeface="Bell MT" panose="02020503060305020303" pitchFamily="18" charset="0"/>
              </a:rPr>
              <a:t>| </a:t>
            </a:r>
            <a:r>
              <a:rPr lang="en-US" sz="2000" b="1" dirty="0">
                <a:solidFill>
                  <a:srgbClr val="000000">
                    <a:lumMod val="85000"/>
                    <a:lumOff val="15000"/>
                  </a:srgbClr>
                </a:solidFill>
                <a:latin typeface="Bell MT" panose="02020503060305020303" pitchFamily="18" charset="0"/>
              </a:rPr>
              <a:t>2026</a:t>
            </a:r>
          </a:p>
        </p:txBody>
      </p:sp>
      <p:pic>
        <p:nvPicPr>
          <p:cNvPr id="14" name="Picture 2" descr="A logo on a black background&#10;&#10;AI-generated content may be incorrect.">
            <a:extLst>
              <a:ext uri="{FF2B5EF4-FFF2-40B4-BE49-F238E27FC236}">
                <a16:creationId xmlns:a16="http://schemas.microsoft.com/office/drawing/2014/main" id="{94959869-610E-9143-54C1-1302C085AC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98778" y="4755786"/>
            <a:ext cx="5493222" cy="116679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Agenda</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Storyline of the report by section · click a section card to jump to it</a:t>
            </a:r>
          </a:p>
        </p:txBody>
      </p:sp>
      <p:sp>
        <p:nvSpPr>
          <p:cNvPr id="10" name="Rounded Rectangle 9">
            <a:hlinkClick action="ppaction://hlinksldjump" r:id="rId3"/>
          </p:cNvPr>
          <p:cNvSpPr/>
          <p:nvPr/>
        </p:nvSpPr>
        <p:spPr>
          <a:xfrm>
            <a:off x="314325" y="1135037"/>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 Market Signals</a:t>
            </a:r>
          </a:p>
        </p:txBody>
      </p:sp>
      <p:sp>
        <p:nvSpPr>
          <p:cNvPr id="11" name="Rounded Rectangle 10">
            <a:hlinkClick action="ppaction://hlinksldjump" r:id="rId4"/>
          </p:cNvPr>
          <p:cNvSpPr/>
          <p:nvPr/>
        </p:nvSpPr>
        <p:spPr>
          <a:xfrm>
            <a:off x="142875" y="1598017"/>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Market Overview</a:t>
            </a:r>
          </a:p>
        </p:txBody>
      </p:sp>
      <p:sp>
        <p:nvSpPr>
          <p:cNvPr id="12" name="Rounded Rectangle 11">
            <a:hlinkClick action="ppaction://hlinksldjump" r:id="rId5"/>
          </p:cNvPr>
          <p:cNvSpPr/>
          <p:nvPr/>
        </p:nvSpPr>
        <p:spPr>
          <a:xfrm>
            <a:off x="314325" y="2042744"/>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2. Market Taxonomy</a:t>
            </a:r>
          </a:p>
        </p:txBody>
      </p:sp>
      <p:sp>
        <p:nvSpPr>
          <p:cNvPr id="13" name="Rounded Rectangle 12">
            <a:hlinkClick action="ppaction://hlinksldjump" r:id="rId6"/>
          </p:cNvPr>
          <p:cNvSpPr/>
          <p:nvPr/>
        </p:nvSpPr>
        <p:spPr>
          <a:xfrm>
            <a:off x="314325" y="2505724"/>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3. List of Figures, List of Tables</a:t>
            </a:r>
          </a:p>
        </p:txBody>
      </p:sp>
      <p:sp>
        <p:nvSpPr>
          <p:cNvPr id="14" name="Rounded Rectangle 13">
            <a:hlinkClick action="ppaction://hlinksldjump" r:id="rId7"/>
          </p:cNvPr>
          <p:cNvSpPr/>
          <p:nvPr/>
        </p:nvSpPr>
        <p:spPr>
          <a:xfrm>
            <a:off x="142875" y="2968704"/>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Global Market Outlook</a:t>
            </a:r>
          </a:p>
        </p:txBody>
      </p:sp>
      <p:sp>
        <p:nvSpPr>
          <p:cNvPr id="15" name="Rounded Rectangle 14">
            <a:hlinkClick action="ppaction://hlinksldjump" r:id="rId8"/>
          </p:cNvPr>
          <p:cNvSpPr/>
          <p:nvPr/>
        </p:nvSpPr>
        <p:spPr>
          <a:xfrm>
            <a:off x="314325" y="3413430"/>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4. Ear Wax Removal Products Market Global Overview</a:t>
            </a:r>
          </a:p>
        </p:txBody>
      </p:sp>
      <p:sp>
        <p:nvSpPr>
          <p:cNvPr id="16" name="Rounded Rectangle 15">
            <a:hlinkClick action="ppaction://hlinksldjump" r:id="rId9"/>
          </p:cNvPr>
          <p:cNvSpPr/>
          <p:nvPr/>
        </p:nvSpPr>
        <p:spPr>
          <a:xfrm>
            <a:off x="314325" y="3876411"/>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5. Global Market Analysis By Region</a:t>
            </a:r>
          </a:p>
        </p:txBody>
      </p:sp>
      <p:sp>
        <p:nvSpPr>
          <p:cNvPr id="17" name="Rounded Rectangle 16">
            <a:hlinkClick action="ppaction://hlinksldjump" r:id="rId10"/>
          </p:cNvPr>
          <p:cNvSpPr/>
          <p:nvPr/>
        </p:nvSpPr>
        <p:spPr>
          <a:xfrm>
            <a:off x="314325" y="4339391"/>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6. Global Market Analysis By Segments</a:t>
            </a:r>
          </a:p>
        </p:txBody>
      </p:sp>
      <p:sp>
        <p:nvSpPr>
          <p:cNvPr id="18" name="Rounded Rectangle 17">
            <a:hlinkClick action="ppaction://hlinksldjump" r:id="rId11"/>
          </p:cNvPr>
          <p:cNvSpPr/>
          <p:nvPr/>
        </p:nvSpPr>
        <p:spPr>
          <a:xfrm>
            <a:off x="142875" y="4802371"/>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North America Market Outlook</a:t>
            </a:r>
          </a:p>
        </p:txBody>
      </p:sp>
      <p:sp>
        <p:nvSpPr>
          <p:cNvPr id="19" name="Rounded Rectangle 18">
            <a:hlinkClick action="ppaction://hlinksldjump" r:id="rId12"/>
          </p:cNvPr>
          <p:cNvSpPr/>
          <p:nvPr/>
        </p:nvSpPr>
        <p:spPr>
          <a:xfrm>
            <a:off x="314325" y="5247097"/>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7. North America Overview</a:t>
            </a:r>
          </a:p>
        </p:txBody>
      </p:sp>
      <p:sp>
        <p:nvSpPr>
          <p:cNvPr id="20" name="Rounded Rectangle 19">
            <a:hlinkClick action="ppaction://hlinksldjump" r:id="rId13"/>
          </p:cNvPr>
          <p:cNvSpPr/>
          <p:nvPr/>
        </p:nvSpPr>
        <p:spPr>
          <a:xfrm>
            <a:off x="314325" y="5710078"/>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8. North America Market Analysis By Country</a:t>
            </a:r>
          </a:p>
        </p:txBody>
      </p:sp>
      <p:sp>
        <p:nvSpPr>
          <p:cNvPr id="21" name="Rounded Rectangle 20">
            <a:hlinkClick action="ppaction://hlinksldjump" r:id="rId14"/>
          </p:cNvPr>
          <p:cNvSpPr/>
          <p:nvPr/>
        </p:nvSpPr>
        <p:spPr>
          <a:xfrm>
            <a:off x="314325" y="6173058"/>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9. North America Market Analysis By Segments</a:t>
            </a:r>
          </a:p>
        </p:txBody>
      </p:sp>
      <p:sp>
        <p:nvSpPr>
          <p:cNvPr id="22" name="Rounded Rectangle 21">
            <a:hlinkClick action="ppaction://hlinksldjump" r:id="rId15"/>
          </p:cNvPr>
          <p:cNvSpPr/>
          <p:nvPr/>
        </p:nvSpPr>
        <p:spPr>
          <a:xfrm>
            <a:off x="6219825" y="1135037"/>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Country Market Outlook</a:t>
            </a:r>
          </a:p>
        </p:txBody>
      </p:sp>
      <p:sp>
        <p:nvSpPr>
          <p:cNvPr id="23" name="Rounded Rectangle 22">
            <a:hlinkClick action="ppaction://hlinksldjump" r:id="rId16"/>
          </p:cNvPr>
          <p:cNvSpPr/>
          <p:nvPr/>
        </p:nvSpPr>
        <p:spPr>
          <a:xfrm>
            <a:off x="6391275" y="1581423"/>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10. Ear Wax Removal Products Market Overview (Volume &amp; Value)</a:t>
            </a:r>
          </a:p>
        </p:txBody>
      </p:sp>
      <p:sp>
        <p:nvSpPr>
          <p:cNvPr id="24" name="Rounded Rectangle 23">
            <a:hlinkClick action="ppaction://hlinksldjump" r:id="rId17"/>
          </p:cNvPr>
          <p:cNvSpPr/>
          <p:nvPr/>
        </p:nvSpPr>
        <p:spPr>
          <a:xfrm>
            <a:off x="6391275" y="2046062"/>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11. Segment Overview (Volume &amp; Value)</a:t>
            </a:r>
          </a:p>
        </p:txBody>
      </p:sp>
      <p:sp>
        <p:nvSpPr>
          <p:cNvPr id="25" name="Rounded Rectangle 24">
            <a:hlinkClick action="ppaction://hlinksldjump" r:id="rId18"/>
          </p:cNvPr>
          <p:cNvSpPr/>
          <p:nvPr/>
        </p:nvSpPr>
        <p:spPr>
          <a:xfrm>
            <a:off x="6219825" y="2510702"/>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Pricing Assessment</a:t>
            </a:r>
          </a:p>
        </p:txBody>
      </p:sp>
      <p:sp>
        <p:nvSpPr>
          <p:cNvPr id="26" name="Rounded Rectangle 25">
            <a:hlinkClick action="ppaction://hlinksldjump" r:id="rId19"/>
          </p:cNvPr>
          <p:cNvSpPr/>
          <p:nvPr/>
        </p:nvSpPr>
        <p:spPr>
          <a:xfrm>
            <a:off x="6391275" y="2957088"/>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12. Ear Wax Removal Products Market Pricing Analysis</a:t>
            </a:r>
          </a:p>
        </p:txBody>
      </p:sp>
      <p:sp>
        <p:nvSpPr>
          <p:cNvPr id="27" name="Rounded Rectangle 26">
            <a:hlinkClick action="ppaction://hlinksldjump" r:id="rId20"/>
          </p:cNvPr>
          <p:cNvSpPr/>
          <p:nvPr/>
        </p:nvSpPr>
        <p:spPr>
          <a:xfrm>
            <a:off x="6391275" y="3421727"/>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13. Supply Chain Analysis</a:t>
            </a:r>
          </a:p>
        </p:txBody>
      </p:sp>
      <p:sp>
        <p:nvSpPr>
          <p:cNvPr id="28" name="Rounded Rectangle 27">
            <a:hlinkClick action="ppaction://hlinksldjump" r:id="rId21"/>
          </p:cNvPr>
          <p:cNvSpPr/>
          <p:nvPr/>
        </p:nvSpPr>
        <p:spPr>
          <a:xfrm>
            <a:off x="6219825" y="3886367"/>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Market Dynamics</a:t>
            </a:r>
          </a:p>
        </p:txBody>
      </p:sp>
      <p:sp>
        <p:nvSpPr>
          <p:cNvPr id="29" name="Rounded Rectangle 28">
            <a:hlinkClick action="ppaction://hlinksldjump" r:id="rId22"/>
          </p:cNvPr>
          <p:cNvSpPr/>
          <p:nvPr/>
        </p:nvSpPr>
        <p:spPr>
          <a:xfrm>
            <a:off x="6391275" y="4332753"/>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14. Market Dynamics &amp; Forces</a:t>
            </a:r>
          </a:p>
        </p:txBody>
      </p:sp>
      <p:sp>
        <p:nvSpPr>
          <p:cNvPr id="30" name="Rounded Rectangle 29">
            <a:hlinkClick action="ppaction://hlinksldjump" r:id="rId23"/>
          </p:cNvPr>
          <p:cNvSpPr/>
          <p:nvPr/>
        </p:nvSpPr>
        <p:spPr>
          <a:xfrm>
            <a:off x="6219825" y="4797393"/>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Competition Assessment</a:t>
            </a:r>
          </a:p>
        </p:txBody>
      </p:sp>
      <p:sp>
        <p:nvSpPr>
          <p:cNvPr id="31" name="Rounded Rectangle 30">
            <a:hlinkClick action="ppaction://hlinksldjump" r:id="rId24"/>
          </p:cNvPr>
          <p:cNvSpPr/>
          <p:nvPr/>
        </p:nvSpPr>
        <p:spPr>
          <a:xfrm>
            <a:off x="6391275" y="5243779"/>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15. Competitive Landscape</a:t>
            </a:r>
          </a:p>
        </p:txBody>
      </p:sp>
      <p:sp>
        <p:nvSpPr>
          <p:cNvPr id="32" name="Rounded Rectangle 31">
            <a:hlinkClick action="ppaction://hlinksldjump" r:id="rId25"/>
          </p:cNvPr>
          <p:cNvSpPr/>
          <p:nvPr/>
        </p:nvSpPr>
        <p:spPr>
          <a:xfrm>
            <a:off x="6391275" y="5708418"/>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16. Market Share by Leading Players</a:t>
            </a:r>
          </a:p>
        </p:txBody>
      </p:sp>
      <p:sp>
        <p:nvSpPr>
          <p:cNvPr id="33" name="Rounded Rectangle 32">
            <a:hlinkClick action="ppaction://hlinksldjump" r:id="rId26"/>
          </p:cNvPr>
          <p:cNvSpPr/>
          <p:nvPr/>
        </p:nvSpPr>
        <p:spPr>
          <a:xfrm>
            <a:off x="6391275" y="6173058"/>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17. Company Profiles &amp; Strategic Benchmarking</a:t>
            </a:r>
          </a:p>
        </p:txBody>
      </p:sp>
      <p:sp>
        <p:nvSpPr>
          <p:cNvPr id="34" name="TextBox 3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B3C8C"/>
                </a:solidFill>
                <a:latin typeface="Calibri"/>
              </a:rPr>
              <a:t>Market Signals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Signals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Signals Reshaping Ear Wax Removal Products Demand</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Signals reshaping Ear Wax Removal Products demand, the evidence behind each and what it implies for the global market</a:t>
            </a:r>
          </a:p>
        </p:txBody>
      </p:sp>
      <p:graphicFrame>
        <p:nvGraphicFramePr>
          <p:cNvPr id="10" name="Table 9"/>
          <p:cNvGraphicFramePr>
            <a:graphicFrameLocks noGrp="1"/>
          </p:cNvGraphicFramePr>
          <p:nvPr/>
        </p:nvGraphicFramePr>
        <p:xfrm>
          <a:off x="142875" y="1062022"/>
          <a:ext cx="12382137" cy="5549125"/>
        </p:xfrm>
        <a:graphic>
          <a:graphicData uri="http://schemas.openxmlformats.org/drawingml/2006/table">
            <a:tbl>
              <a:tblPr>
                <a:tableStyleId>{5C22544A-7EE6-4342-B048-85BDC9FD1C3A}</a:tableStyleId>
              </a:tblPr>
              <a:tblGrid>
                <a:gridCol w="4761593"/>
                <a:gridCol w="4286794"/>
                <a:gridCol w="3333750"/>
              </a:tblGrid>
              <a:tr h="346820">
                <a:tc>
                  <a:txBody>
                    <a:bodyPr wrap="square"/>
                    <a:lstStyle/>
                    <a:p>
                      <a:pPr algn="l"/>
                      <a:r>
                        <a:rPr sz="1100" b="1">
                          <a:solidFill>
                            <a:srgbClr val="0B2E4A"/>
                          </a:solidFill>
                          <a:latin typeface="Calibri"/>
                        </a:rPr>
                        <a:t>QUESTIONS WE'RE HEARING</a:t>
                      </a:r>
                    </a:p>
                  </a:txBody>
                  <a:tcPr marL="70000" marR="70000" marT="45000" marB="45000" anchor="ctr">
                    <a:solidFill>
                      <a:srgbClr val="EAF1F8"/>
                    </a:solidFill>
                  </a:tcPr>
                </a:tc>
                <a:tc>
                  <a:txBody>
                    <a:bodyPr wrap="square"/>
                    <a:lstStyle/>
                    <a:p>
                      <a:pPr algn="l"/>
                      <a:r>
                        <a:rPr sz="1100" b="1">
                          <a:solidFill>
                            <a:srgbClr val="0B2E4A"/>
                          </a:solidFill>
                          <a:latin typeface="Calibri"/>
                        </a:rPr>
                        <a:t>WHAT WE'RE OBSERVING</a:t>
                      </a:r>
                    </a:p>
                  </a:txBody>
                  <a:tcPr marL="70000" marR="70000" marT="45000" marB="45000" anchor="ctr">
                    <a:solidFill>
                      <a:srgbClr val="EAF1F8"/>
                    </a:solidFill>
                  </a:tcPr>
                </a:tc>
                <a:tc>
                  <a:txBody>
                    <a:bodyPr wrap="square"/>
                    <a:lstStyle/>
                    <a:p>
                      <a:pPr algn="l"/>
                      <a:r>
                        <a:rPr sz="1100" b="1">
                          <a:solidFill>
                            <a:srgbClr val="0B2E4A"/>
                          </a:solidFill>
                          <a:latin typeface="Calibri"/>
                        </a:rPr>
                        <a:t>SELECT DATA POINTS</a:t>
                      </a:r>
                    </a:p>
                  </a:txBody>
                  <a:tcPr marL="70000" marR="70000" marT="45000" marB="45000" anchor="ctr">
                    <a:solidFill>
                      <a:srgbClr val="EAF1F8"/>
                    </a:solidFill>
                  </a:tcPr>
                </a:tc>
              </a:tr>
              <a:tr h="1040461">
                <a:tc>
                  <a:txBody>
                    <a:bodyPr wrap="square"/>
                    <a:lstStyle/>
                    <a:p>
                      <a:pPr algn="l"/>
                      <a:r>
                        <a:rPr sz="1100" b="1">
                          <a:solidFill>
                            <a:srgbClr val="0B2E4A"/>
                          </a:solidFill>
                          <a:latin typeface="Calibri"/>
                        </a:rPr>
                        <a:t>How fast is Ear Wax Removal Products demand set to grow through 2036?</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a:t> </a:t>
                      </a:r>
                    </a:p>
                  </a:txBody>
                  <a:tcPr marL="70000" marR="70000" marT="45000" marB="45000" anchor="ctr">
                    <a:solidFill>
                      <a:srgbClr val="FFFFFF"/>
                    </a:solidFill>
                  </a:tcPr>
                </a:tc>
              </a:tr>
              <a:tr h="1040461">
                <a:tc>
                  <a:txBody>
                    <a:bodyPr wrap="square"/>
                    <a:lstStyle/>
                    <a:p>
                      <a:pPr algn="l"/>
                      <a:r>
                        <a:rPr sz="1100" b="1">
                          <a:solidFill>
                            <a:srgbClr val="0B2E4A"/>
                          </a:solidFill>
                          <a:latin typeface="Calibri"/>
                        </a:rPr>
                        <a:t>Which product type categories are buyers prioritising?</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B2E4A"/>
                          </a:solidFill>
                          <a:latin typeface="Calibri"/>
                        </a:rPr>
                        <a:t>Where is incremental demand concentrating?</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r h="1040461">
                <a:tc>
                  <a:txBody>
                    <a:bodyPr wrap="square"/>
                    <a:lstStyle/>
                    <a:p>
                      <a:pPr algn="l"/>
                      <a:r>
                        <a:rPr sz="1100" b="1">
                          <a:solidFill>
                            <a:srgbClr val="0B2E4A"/>
                          </a:solidFill>
                          <a:latin typeface="Calibri"/>
                        </a:rPr>
                        <a:t>Which regions will drive the next wave of Ear Wax Removal Products demand?</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B2E4A"/>
                          </a:solidFill>
                          <a:latin typeface="Calibri"/>
                        </a:rPr>
                        <a:t>Where should suppliers focus investment?</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2" name="TextBox 11"/>
          <p:cNvSpPr txBox="1"/>
          <p:nvPr/>
        </p:nvSpPr>
        <p:spPr>
          <a:xfrm>
            <a:off x="3784750" y="1761432"/>
            <a:ext cx="1689844" cy="186689"/>
          </a:xfrm>
          <a:prstGeom prst="rect">
            <a:avLst/>
          </a:prstGeom>
          <a:noFill/>
        </p:spPr>
        <p:txBody>
          <a:bodyPr wrap="none" lIns="0" rIns="0" tIns="0" bIns="0">
            <a:spAutoFit/>
          </a:bodyPr>
          <a:lstStyle/>
          <a:p>
            <a:r>
              <a:rPr sz="1100" b="0">
                <a:solidFill>
                  <a:srgbClr val="2E2E2E"/>
                </a:solidFill>
                <a:latin typeface="Calibri"/>
              </a:rPr>
              <a:t>Global demand expands at a</a:t>
            </a:r>
          </a:p>
        </p:txBody>
      </p:sp>
      <p:pic>
        <p:nvPicPr>
          <p:cNvPr id="13" name="Picture 12" descr="lock.png"/>
          <p:cNvPicPr>
            <a:picLocks noChangeAspect="1"/>
          </p:cNvPicPr>
          <p:nvPr/>
        </p:nvPicPr>
        <p:blipFill>
          <a:blip r:embed="rId4"/>
          <a:stretch>
            <a:fillRect/>
          </a:stretch>
        </p:blipFill>
        <p:spPr>
          <a:xfrm>
            <a:off x="5422645" y="1751653"/>
            <a:ext cx="128699" cy="187198"/>
          </a:xfrm>
          <a:prstGeom prst="rect">
            <a:avLst/>
          </a:prstGeom>
        </p:spPr>
      </p:pic>
      <p:sp>
        <p:nvSpPr>
          <p:cNvPr id="14" name="TextBox 13"/>
          <p:cNvSpPr txBox="1"/>
          <p:nvPr/>
        </p:nvSpPr>
        <p:spPr>
          <a:xfrm>
            <a:off x="5590141" y="1761432"/>
            <a:ext cx="2438531" cy="186689"/>
          </a:xfrm>
          <a:prstGeom prst="rect">
            <a:avLst/>
          </a:prstGeom>
          <a:noFill/>
        </p:spPr>
        <p:txBody>
          <a:bodyPr wrap="none" lIns="0" rIns="0" tIns="0" bIns="0">
            <a:spAutoFit/>
          </a:bodyPr>
          <a:lstStyle/>
          <a:p>
            <a:r>
              <a:rPr sz="1100" b="0">
                <a:solidFill>
                  <a:srgbClr val="2E2E2E"/>
                </a:solidFill>
                <a:latin typeface="Calibri"/>
              </a:rPr>
              <a:t>forecast CAGR (2026–2036), shifting from</a:t>
            </a:r>
          </a:p>
        </p:txBody>
      </p:sp>
      <p:pic>
        <p:nvPicPr>
          <p:cNvPr id="15" name="Picture 14" descr="lock.png"/>
          <p:cNvPicPr>
            <a:picLocks noChangeAspect="1"/>
          </p:cNvPicPr>
          <p:nvPr/>
        </p:nvPicPr>
        <p:blipFill>
          <a:blip r:embed="rId4"/>
          <a:stretch>
            <a:fillRect/>
          </a:stretch>
        </p:blipFill>
        <p:spPr>
          <a:xfrm>
            <a:off x="7976724" y="1751653"/>
            <a:ext cx="128699" cy="187198"/>
          </a:xfrm>
          <a:prstGeom prst="rect">
            <a:avLst/>
          </a:prstGeom>
        </p:spPr>
      </p:pic>
      <p:sp>
        <p:nvSpPr>
          <p:cNvPr id="16" name="TextBox 15"/>
          <p:cNvSpPr txBox="1"/>
          <p:nvPr/>
        </p:nvSpPr>
        <p:spPr>
          <a:xfrm>
            <a:off x="3784750" y="1929072"/>
            <a:ext cx="1137865" cy="186689"/>
          </a:xfrm>
          <a:prstGeom prst="rect">
            <a:avLst/>
          </a:prstGeom>
          <a:noFill/>
        </p:spPr>
        <p:txBody>
          <a:bodyPr wrap="none" lIns="0" rIns="0" tIns="0" bIns="0">
            <a:spAutoFit/>
          </a:bodyPr>
          <a:lstStyle/>
          <a:p>
            <a:r>
              <a:rPr sz="1100" b="0">
                <a:solidFill>
                  <a:srgbClr val="2E2E2E"/>
                </a:solidFill>
                <a:latin typeface="Calibri"/>
              </a:rPr>
              <a:t>across 2021–2025.</a:t>
            </a:r>
          </a:p>
        </p:txBody>
      </p:sp>
      <p:pic>
        <p:nvPicPr>
          <p:cNvPr id="17" name="Picture 16" descr="lock.png"/>
          <p:cNvPicPr>
            <a:picLocks noChangeAspect="1"/>
          </p:cNvPicPr>
          <p:nvPr/>
        </p:nvPicPr>
        <p:blipFill>
          <a:blip r:embed="rId4"/>
          <a:stretch>
            <a:fillRect/>
          </a:stretch>
        </p:blipFill>
        <p:spPr>
          <a:xfrm>
            <a:off x="10214228" y="1689042"/>
            <a:ext cx="330041" cy="480060"/>
          </a:xfrm>
          <a:prstGeom prst="rect">
            <a:avLst/>
          </a:prstGeom>
        </p:spPr>
      </p:pic>
      <p:sp>
        <p:nvSpPr>
          <p:cNvPr id="18" name="TextBox 17"/>
          <p:cNvSpPr txBox="1"/>
          <p:nvPr/>
        </p:nvSpPr>
        <p:spPr>
          <a:xfrm>
            <a:off x="3784750" y="2801893"/>
            <a:ext cx="3293665" cy="186689"/>
          </a:xfrm>
          <a:prstGeom prst="rect">
            <a:avLst/>
          </a:prstGeom>
          <a:noFill/>
        </p:spPr>
        <p:txBody>
          <a:bodyPr wrap="none" lIns="0" rIns="0" tIns="0" bIns="0">
            <a:spAutoFit/>
          </a:bodyPr>
          <a:lstStyle/>
          <a:p>
            <a:r>
              <a:rPr sz="1100" b="0">
                <a:solidFill>
                  <a:srgbClr val="2E2E2E"/>
                </a:solidFill>
                <a:latin typeface="Calibri"/>
              </a:rPr>
              <a:t>Irrigation Devices and Accessories leads Product Type, at</a:t>
            </a:r>
          </a:p>
        </p:txBody>
      </p:sp>
      <p:pic>
        <p:nvPicPr>
          <p:cNvPr id="19" name="Picture 18" descr="lock.png"/>
          <p:cNvPicPr>
            <a:picLocks noChangeAspect="1"/>
          </p:cNvPicPr>
          <p:nvPr/>
        </p:nvPicPr>
        <p:blipFill>
          <a:blip r:embed="rId4"/>
          <a:stretch>
            <a:fillRect/>
          </a:stretch>
        </p:blipFill>
        <p:spPr>
          <a:xfrm>
            <a:off x="7026467" y="2792114"/>
            <a:ext cx="128699" cy="187198"/>
          </a:xfrm>
          <a:prstGeom prst="rect">
            <a:avLst/>
          </a:prstGeom>
        </p:spPr>
      </p:pic>
      <p:sp>
        <p:nvSpPr>
          <p:cNvPr id="20" name="TextBox 19"/>
          <p:cNvSpPr txBox="1"/>
          <p:nvPr/>
        </p:nvSpPr>
        <p:spPr>
          <a:xfrm>
            <a:off x="7193963" y="2801893"/>
            <a:ext cx="1367606" cy="186689"/>
          </a:xfrm>
          <a:prstGeom prst="rect">
            <a:avLst/>
          </a:prstGeom>
          <a:noFill/>
        </p:spPr>
        <p:txBody>
          <a:bodyPr wrap="none" lIns="0" rIns="0" tIns="0" bIns="0">
            <a:spAutoFit/>
          </a:bodyPr>
          <a:lstStyle/>
          <a:p>
            <a:r>
              <a:rPr sz="1100" b="0">
                <a:solidFill>
                  <a:srgbClr val="2E2E2E"/>
                </a:solidFill>
                <a:latin typeface="Calibri"/>
              </a:rPr>
              <a:t>of 2036 value, within a</a:t>
            </a:r>
          </a:p>
        </p:txBody>
      </p:sp>
      <p:sp>
        <p:nvSpPr>
          <p:cNvPr id="21" name="TextBox 20"/>
          <p:cNvSpPr txBox="1"/>
          <p:nvPr/>
        </p:nvSpPr>
        <p:spPr>
          <a:xfrm>
            <a:off x="3784750" y="2969533"/>
            <a:ext cx="1645096" cy="186689"/>
          </a:xfrm>
          <a:prstGeom prst="rect">
            <a:avLst/>
          </a:prstGeom>
          <a:noFill/>
        </p:spPr>
        <p:txBody>
          <a:bodyPr wrap="none" lIns="0" rIns="0" tIns="0" bIns="0">
            <a:spAutoFit/>
          </a:bodyPr>
          <a:lstStyle/>
          <a:p>
            <a:r>
              <a:rPr sz="1100" b="0">
                <a:solidFill>
                  <a:srgbClr val="2E2E2E"/>
                </a:solidFill>
                <a:latin typeface="Calibri"/>
              </a:rPr>
              <a:t>mix of 7 tracked categories.</a:t>
            </a:r>
          </a:p>
        </p:txBody>
      </p:sp>
      <p:sp>
        <p:nvSpPr>
          <p:cNvPr id="22" name="TextBox 21"/>
          <p:cNvSpPr txBox="1"/>
          <p:nvPr/>
        </p:nvSpPr>
        <p:spPr>
          <a:xfrm>
            <a:off x="8785375" y="2801893"/>
            <a:ext cx="2403896" cy="186689"/>
          </a:xfrm>
          <a:prstGeom prst="rect">
            <a:avLst/>
          </a:prstGeom>
          <a:noFill/>
        </p:spPr>
        <p:txBody>
          <a:bodyPr wrap="none" lIns="0" rIns="0" tIns="0" bIns="0">
            <a:spAutoFit/>
          </a:bodyPr>
          <a:lstStyle/>
          <a:p>
            <a:r>
              <a:rPr sz="1100" b="0">
                <a:solidFill>
                  <a:srgbClr val="2E2E2E"/>
                </a:solidFill>
                <a:latin typeface="Calibri"/>
              </a:rPr>
              <a:t>Lead: Irrigation Devices and Accessories ·</a:t>
            </a:r>
          </a:p>
        </p:txBody>
      </p:sp>
      <p:pic>
        <p:nvPicPr>
          <p:cNvPr id="23" name="Picture 22" descr="lock.png"/>
          <p:cNvPicPr>
            <a:picLocks noChangeAspect="1"/>
          </p:cNvPicPr>
          <p:nvPr/>
        </p:nvPicPr>
        <p:blipFill>
          <a:blip r:embed="rId4"/>
          <a:stretch>
            <a:fillRect/>
          </a:stretch>
        </p:blipFill>
        <p:spPr>
          <a:xfrm>
            <a:off x="11137323" y="2792114"/>
            <a:ext cx="128699" cy="187198"/>
          </a:xfrm>
          <a:prstGeom prst="rect">
            <a:avLst/>
          </a:prstGeom>
        </p:spPr>
      </p:pic>
      <p:sp>
        <p:nvSpPr>
          <p:cNvPr id="24" name="TextBox 23"/>
          <p:cNvSpPr txBox="1"/>
          <p:nvPr/>
        </p:nvSpPr>
        <p:spPr>
          <a:xfrm>
            <a:off x="11304819" y="2801893"/>
            <a:ext cx="389433"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25" name="TextBox 24"/>
          <p:cNvSpPr txBox="1"/>
          <p:nvPr/>
        </p:nvSpPr>
        <p:spPr>
          <a:xfrm>
            <a:off x="8785375" y="2969533"/>
            <a:ext cx="444549"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26" name="TextBox 25"/>
          <p:cNvSpPr txBox="1"/>
          <p:nvPr/>
        </p:nvSpPr>
        <p:spPr>
          <a:xfrm>
            <a:off x="3784750" y="3842354"/>
            <a:ext cx="3724225" cy="186689"/>
          </a:xfrm>
          <a:prstGeom prst="rect">
            <a:avLst/>
          </a:prstGeom>
          <a:noFill/>
        </p:spPr>
        <p:txBody>
          <a:bodyPr wrap="none" lIns="0" rIns="0" tIns="0" bIns="0">
            <a:spAutoFit/>
          </a:bodyPr>
          <a:lstStyle/>
          <a:p>
            <a:r>
              <a:rPr sz="1100" b="0">
                <a:solidFill>
                  <a:srgbClr val="2E2E2E"/>
                </a:solidFill>
                <a:latin typeface="Calibri"/>
              </a:rPr>
              <a:t>Hospitals and Clinics is the fastest-growing part of End User, at a</a:t>
            </a:r>
          </a:p>
        </p:txBody>
      </p:sp>
      <p:pic>
        <p:nvPicPr>
          <p:cNvPr id="27" name="Picture 26" descr="lock.png"/>
          <p:cNvPicPr>
            <a:picLocks noChangeAspect="1"/>
          </p:cNvPicPr>
          <p:nvPr/>
        </p:nvPicPr>
        <p:blipFill>
          <a:blip r:embed="rId4"/>
          <a:stretch>
            <a:fillRect/>
          </a:stretch>
        </p:blipFill>
        <p:spPr>
          <a:xfrm>
            <a:off x="7457026" y="3832575"/>
            <a:ext cx="128699" cy="187198"/>
          </a:xfrm>
          <a:prstGeom prst="rect">
            <a:avLst/>
          </a:prstGeom>
        </p:spPr>
      </p:pic>
      <p:sp>
        <p:nvSpPr>
          <p:cNvPr id="28" name="TextBox 27"/>
          <p:cNvSpPr txBox="1"/>
          <p:nvPr/>
        </p:nvSpPr>
        <p:spPr>
          <a:xfrm>
            <a:off x="7624522" y="3842354"/>
            <a:ext cx="889280" cy="186689"/>
          </a:xfrm>
          <a:prstGeom prst="rect">
            <a:avLst/>
          </a:prstGeom>
          <a:noFill/>
        </p:spPr>
        <p:txBody>
          <a:bodyPr wrap="none" lIns="0" rIns="0" tIns="0" bIns="0">
            <a:spAutoFit/>
          </a:bodyPr>
          <a:lstStyle/>
          <a:p>
            <a:r>
              <a:rPr sz="1100" b="0">
                <a:solidFill>
                  <a:srgbClr val="2E2E2E"/>
                </a:solidFill>
                <a:latin typeface="Calibri"/>
              </a:rPr>
              <a:t>forecast CAGR</a:t>
            </a:r>
          </a:p>
        </p:txBody>
      </p:sp>
      <p:sp>
        <p:nvSpPr>
          <p:cNvPr id="29" name="TextBox 28"/>
          <p:cNvSpPr txBox="1"/>
          <p:nvPr/>
        </p:nvSpPr>
        <p:spPr>
          <a:xfrm>
            <a:off x="3784750" y="4009994"/>
            <a:ext cx="1692299" cy="186689"/>
          </a:xfrm>
          <a:prstGeom prst="rect">
            <a:avLst/>
          </a:prstGeom>
          <a:noFill/>
        </p:spPr>
        <p:txBody>
          <a:bodyPr wrap="none" lIns="0" rIns="0" tIns="0" bIns="0">
            <a:spAutoFit/>
          </a:bodyPr>
          <a:lstStyle/>
          <a:p>
            <a:r>
              <a:rPr sz="1100" b="0">
                <a:solidFill>
                  <a:srgbClr val="2E2E2E"/>
                </a:solidFill>
                <a:latin typeface="Calibri"/>
              </a:rPr>
              <a:t>outpacing the wider market.</a:t>
            </a:r>
          </a:p>
        </p:txBody>
      </p:sp>
      <p:sp>
        <p:nvSpPr>
          <p:cNvPr id="30" name="TextBox 29"/>
          <p:cNvSpPr txBox="1"/>
          <p:nvPr/>
        </p:nvSpPr>
        <p:spPr>
          <a:xfrm>
            <a:off x="8785375" y="3926174"/>
            <a:ext cx="1772185" cy="186689"/>
          </a:xfrm>
          <a:prstGeom prst="rect">
            <a:avLst/>
          </a:prstGeom>
          <a:noFill/>
        </p:spPr>
        <p:txBody>
          <a:bodyPr wrap="none" lIns="0" rIns="0" tIns="0" bIns="0">
            <a:spAutoFit/>
          </a:bodyPr>
          <a:lstStyle/>
          <a:p>
            <a:r>
              <a:rPr sz="1100" b="0">
                <a:solidFill>
                  <a:srgbClr val="2E2E2E"/>
                </a:solidFill>
                <a:latin typeface="Calibri"/>
              </a:rPr>
              <a:t>Fastest: Hospitals and Clinics ·</a:t>
            </a:r>
          </a:p>
        </p:txBody>
      </p:sp>
      <p:pic>
        <p:nvPicPr>
          <p:cNvPr id="31" name="Picture 30" descr="lock.png"/>
          <p:cNvPicPr>
            <a:picLocks noChangeAspect="1"/>
          </p:cNvPicPr>
          <p:nvPr/>
        </p:nvPicPr>
        <p:blipFill>
          <a:blip r:embed="rId4"/>
          <a:stretch>
            <a:fillRect/>
          </a:stretch>
        </p:blipFill>
        <p:spPr>
          <a:xfrm>
            <a:off x="10505612" y="3916395"/>
            <a:ext cx="128699" cy="187198"/>
          </a:xfrm>
          <a:prstGeom prst="rect">
            <a:avLst/>
          </a:prstGeom>
        </p:spPr>
      </p:pic>
      <p:sp>
        <p:nvSpPr>
          <p:cNvPr id="32" name="TextBox 31"/>
          <p:cNvSpPr txBox="1"/>
          <p:nvPr/>
        </p:nvSpPr>
        <p:spPr>
          <a:xfrm>
            <a:off x="10673108" y="3926174"/>
            <a:ext cx="502377" cy="186689"/>
          </a:xfrm>
          <a:prstGeom prst="rect">
            <a:avLst/>
          </a:prstGeom>
          <a:noFill/>
        </p:spPr>
        <p:txBody>
          <a:bodyPr wrap="none" lIns="0" rIns="0" tIns="0" bIns="0">
            <a:spAutoFit/>
          </a:bodyPr>
          <a:lstStyle/>
          <a:p>
            <a:r>
              <a:rPr sz="1100" b="0">
                <a:solidFill>
                  <a:srgbClr val="2E2E2E"/>
                </a:solidFill>
                <a:latin typeface="Calibri"/>
              </a:rPr>
              <a:t>F-CAGR</a:t>
            </a:r>
          </a:p>
        </p:txBody>
      </p:sp>
      <p:sp>
        <p:nvSpPr>
          <p:cNvPr id="33" name="TextBox 32"/>
          <p:cNvSpPr txBox="1"/>
          <p:nvPr/>
        </p:nvSpPr>
        <p:spPr>
          <a:xfrm>
            <a:off x="3784750" y="4882815"/>
            <a:ext cx="2673474" cy="186689"/>
          </a:xfrm>
          <a:prstGeom prst="rect">
            <a:avLst/>
          </a:prstGeom>
          <a:noFill/>
        </p:spPr>
        <p:txBody>
          <a:bodyPr wrap="none" lIns="0" rIns="0" tIns="0" bIns="0">
            <a:spAutoFit/>
          </a:bodyPr>
          <a:lstStyle/>
          <a:p>
            <a:r>
              <a:rPr sz="1100" b="0">
                <a:solidFill>
                  <a:srgbClr val="2E2E2E"/>
                </a:solidFill>
                <a:latin typeface="Calibri"/>
              </a:rPr>
              <a:t>North America is the largest regional market (</a:t>
            </a:r>
          </a:p>
        </p:txBody>
      </p:sp>
      <p:pic>
        <p:nvPicPr>
          <p:cNvPr id="34" name="Picture 33" descr="lock.png"/>
          <p:cNvPicPr>
            <a:picLocks noChangeAspect="1"/>
          </p:cNvPicPr>
          <p:nvPr/>
        </p:nvPicPr>
        <p:blipFill>
          <a:blip r:embed="rId4"/>
          <a:stretch>
            <a:fillRect/>
          </a:stretch>
        </p:blipFill>
        <p:spPr>
          <a:xfrm>
            <a:off x="6406275" y="4873036"/>
            <a:ext cx="128699" cy="187198"/>
          </a:xfrm>
          <a:prstGeom prst="rect">
            <a:avLst/>
          </a:prstGeom>
        </p:spPr>
      </p:pic>
      <p:sp>
        <p:nvSpPr>
          <p:cNvPr id="35" name="TextBox 34"/>
          <p:cNvSpPr txBox="1"/>
          <p:nvPr/>
        </p:nvSpPr>
        <p:spPr>
          <a:xfrm>
            <a:off x="6573771" y="4882815"/>
            <a:ext cx="2016720" cy="186689"/>
          </a:xfrm>
          <a:prstGeom prst="rect">
            <a:avLst/>
          </a:prstGeom>
          <a:noFill/>
        </p:spPr>
        <p:txBody>
          <a:bodyPr wrap="none" lIns="0" rIns="0" tIns="0" bIns="0">
            <a:spAutoFit/>
          </a:bodyPr>
          <a:lstStyle/>
          <a:p>
            <a:r>
              <a:rPr sz="1100" b="0">
                <a:solidFill>
                  <a:srgbClr val="2E2E2E"/>
                </a:solidFill>
                <a:latin typeface="Calibri"/>
              </a:rPr>
              <a:t>of 2036 value), while South Asia &amp;</a:t>
            </a:r>
          </a:p>
        </p:txBody>
      </p:sp>
      <p:sp>
        <p:nvSpPr>
          <p:cNvPr id="36" name="TextBox 35"/>
          <p:cNvSpPr txBox="1"/>
          <p:nvPr/>
        </p:nvSpPr>
        <p:spPr>
          <a:xfrm>
            <a:off x="3784750" y="5050455"/>
            <a:ext cx="1374154" cy="186689"/>
          </a:xfrm>
          <a:prstGeom prst="rect">
            <a:avLst/>
          </a:prstGeom>
          <a:noFill/>
        </p:spPr>
        <p:txBody>
          <a:bodyPr wrap="none" lIns="0" rIns="0" tIns="0" bIns="0">
            <a:spAutoFit/>
          </a:bodyPr>
          <a:lstStyle/>
          <a:p>
            <a:r>
              <a:rPr sz="1100" b="0">
                <a:solidFill>
                  <a:srgbClr val="2E2E2E"/>
                </a:solidFill>
                <a:latin typeface="Calibri"/>
              </a:rPr>
              <a:t>Pacific grows fastest at</a:t>
            </a:r>
          </a:p>
        </p:txBody>
      </p:sp>
      <p:pic>
        <p:nvPicPr>
          <p:cNvPr id="37" name="Picture 36" descr="lock.png"/>
          <p:cNvPicPr>
            <a:picLocks noChangeAspect="1"/>
          </p:cNvPicPr>
          <p:nvPr/>
        </p:nvPicPr>
        <p:blipFill>
          <a:blip r:embed="rId4"/>
          <a:stretch>
            <a:fillRect/>
          </a:stretch>
        </p:blipFill>
        <p:spPr>
          <a:xfrm>
            <a:off x="5106956" y="5040676"/>
            <a:ext cx="128699" cy="187198"/>
          </a:xfrm>
          <a:prstGeom prst="rect">
            <a:avLst/>
          </a:prstGeom>
        </p:spPr>
      </p:pic>
      <p:sp>
        <p:nvSpPr>
          <p:cNvPr id="38" name="TextBox 37"/>
          <p:cNvSpPr txBox="1"/>
          <p:nvPr/>
        </p:nvSpPr>
        <p:spPr>
          <a:xfrm>
            <a:off x="5274452" y="505045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9" name="TextBox 38"/>
          <p:cNvSpPr txBox="1"/>
          <p:nvPr/>
        </p:nvSpPr>
        <p:spPr>
          <a:xfrm>
            <a:off x="8785375" y="4882815"/>
            <a:ext cx="1464195" cy="186689"/>
          </a:xfrm>
          <a:prstGeom prst="rect">
            <a:avLst/>
          </a:prstGeom>
          <a:noFill/>
        </p:spPr>
        <p:txBody>
          <a:bodyPr wrap="none" lIns="0" rIns="0" tIns="0" bIns="0">
            <a:spAutoFit/>
          </a:bodyPr>
          <a:lstStyle/>
          <a:p>
            <a:r>
              <a:rPr sz="1100" b="0">
                <a:solidFill>
                  <a:srgbClr val="2E2E2E"/>
                </a:solidFill>
                <a:latin typeface="Calibri"/>
              </a:rPr>
              <a:t>Largest: North America (</a:t>
            </a:r>
          </a:p>
        </p:txBody>
      </p:sp>
      <p:pic>
        <p:nvPicPr>
          <p:cNvPr id="40" name="Picture 39" descr="lock.png"/>
          <p:cNvPicPr>
            <a:picLocks noChangeAspect="1"/>
          </p:cNvPicPr>
          <p:nvPr/>
        </p:nvPicPr>
        <p:blipFill>
          <a:blip r:embed="rId4"/>
          <a:stretch>
            <a:fillRect/>
          </a:stretch>
        </p:blipFill>
        <p:spPr>
          <a:xfrm>
            <a:off x="10197622" y="4873036"/>
            <a:ext cx="128699" cy="187198"/>
          </a:xfrm>
          <a:prstGeom prst="rect">
            <a:avLst/>
          </a:prstGeom>
        </p:spPr>
      </p:pic>
      <p:sp>
        <p:nvSpPr>
          <p:cNvPr id="41" name="TextBox 40"/>
          <p:cNvSpPr txBox="1"/>
          <p:nvPr/>
        </p:nvSpPr>
        <p:spPr>
          <a:xfrm>
            <a:off x="10365118" y="4882815"/>
            <a:ext cx="1413931" cy="186689"/>
          </a:xfrm>
          <a:prstGeom prst="rect">
            <a:avLst/>
          </a:prstGeom>
          <a:noFill/>
        </p:spPr>
        <p:txBody>
          <a:bodyPr wrap="none" lIns="0" rIns="0" tIns="0" bIns="0">
            <a:spAutoFit/>
          </a:bodyPr>
          <a:lstStyle/>
          <a:p>
            <a:r>
              <a:rPr sz="1100" b="0">
                <a:solidFill>
                  <a:srgbClr val="2E2E2E"/>
                </a:solidFill>
                <a:latin typeface="Calibri"/>
              </a:rPr>
              <a:t>) · Fastest: South Asia &amp;</a:t>
            </a:r>
          </a:p>
        </p:txBody>
      </p:sp>
      <p:sp>
        <p:nvSpPr>
          <p:cNvPr id="42" name="TextBox 41"/>
          <p:cNvSpPr txBox="1"/>
          <p:nvPr/>
        </p:nvSpPr>
        <p:spPr>
          <a:xfrm>
            <a:off x="8785375" y="5050455"/>
            <a:ext cx="514672" cy="186689"/>
          </a:xfrm>
          <a:prstGeom prst="rect">
            <a:avLst/>
          </a:prstGeom>
          <a:noFill/>
        </p:spPr>
        <p:txBody>
          <a:bodyPr wrap="none" lIns="0" rIns="0" tIns="0" bIns="0">
            <a:spAutoFit/>
          </a:bodyPr>
          <a:lstStyle/>
          <a:p>
            <a:r>
              <a:rPr sz="1100" b="0">
                <a:solidFill>
                  <a:srgbClr val="2E2E2E"/>
                </a:solidFill>
                <a:latin typeface="Calibri"/>
              </a:rPr>
              <a:t>Pacific (</a:t>
            </a:r>
          </a:p>
        </p:txBody>
      </p:sp>
      <p:pic>
        <p:nvPicPr>
          <p:cNvPr id="43" name="Picture 42" descr="lock.png"/>
          <p:cNvPicPr>
            <a:picLocks noChangeAspect="1"/>
          </p:cNvPicPr>
          <p:nvPr/>
        </p:nvPicPr>
        <p:blipFill>
          <a:blip r:embed="rId4"/>
          <a:stretch>
            <a:fillRect/>
          </a:stretch>
        </p:blipFill>
        <p:spPr>
          <a:xfrm>
            <a:off x="9248099" y="5040676"/>
            <a:ext cx="128699" cy="187198"/>
          </a:xfrm>
          <a:prstGeom prst="rect">
            <a:avLst/>
          </a:prstGeom>
        </p:spPr>
      </p:pic>
      <p:sp>
        <p:nvSpPr>
          <p:cNvPr id="44" name="TextBox 43"/>
          <p:cNvSpPr txBox="1"/>
          <p:nvPr/>
        </p:nvSpPr>
        <p:spPr>
          <a:xfrm>
            <a:off x="9415594" y="5050455"/>
            <a:ext cx="118491" cy="186689"/>
          </a:xfrm>
          <a:prstGeom prst="rect">
            <a:avLst/>
          </a:prstGeom>
          <a:noFill/>
        </p:spPr>
        <p:txBody>
          <a:bodyPr wrap="none" lIns="0" rIns="0" tIns="0" bIns="0">
            <a:spAutoFit/>
          </a:bodyPr>
          <a:lstStyle/>
          <a:p>
            <a:r>
              <a:rPr sz="1100" b="0">
                <a:solidFill>
                  <a:srgbClr val="2E2E2E"/>
                </a:solidFill>
                <a:latin typeface="Calibri"/>
              </a:rPr>
              <a:t>)</a:t>
            </a:r>
          </a:p>
        </p:txBody>
      </p:sp>
      <p:sp>
        <p:nvSpPr>
          <p:cNvPr id="45" name="TextBox 44"/>
          <p:cNvSpPr txBox="1"/>
          <p:nvPr/>
        </p:nvSpPr>
        <p:spPr>
          <a:xfrm>
            <a:off x="3784750" y="5923276"/>
            <a:ext cx="945777" cy="186689"/>
          </a:xfrm>
          <a:prstGeom prst="rect">
            <a:avLst/>
          </a:prstGeom>
          <a:noFill/>
        </p:spPr>
        <p:txBody>
          <a:bodyPr wrap="none" lIns="0" rIns="0" tIns="0" bIns="0">
            <a:spAutoFit/>
          </a:bodyPr>
          <a:lstStyle/>
          <a:p>
            <a:r>
              <a:rPr sz="1100" b="0">
                <a:solidFill>
                  <a:srgbClr val="2E2E2E"/>
                </a:solidFill>
                <a:latin typeface="Calibri"/>
              </a:rPr>
              <a:t>An incremental</a:t>
            </a:r>
          </a:p>
        </p:txBody>
      </p:sp>
      <p:pic>
        <p:nvPicPr>
          <p:cNvPr id="46" name="Picture 45" descr="lock.png"/>
          <p:cNvPicPr>
            <a:picLocks noChangeAspect="1"/>
          </p:cNvPicPr>
          <p:nvPr/>
        </p:nvPicPr>
        <p:blipFill>
          <a:blip r:embed="rId4"/>
          <a:stretch>
            <a:fillRect/>
          </a:stretch>
        </p:blipFill>
        <p:spPr>
          <a:xfrm>
            <a:off x="4678579" y="5913497"/>
            <a:ext cx="128699" cy="187198"/>
          </a:xfrm>
          <a:prstGeom prst="rect">
            <a:avLst/>
          </a:prstGeom>
        </p:spPr>
      </p:pic>
      <p:sp>
        <p:nvSpPr>
          <p:cNvPr id="47" name="TextBox 46"/>
          <p:cNvSpPr txBox="1"/>
          <p:nvPr/>
        </p:nvSpPr>
        <p:spPr>
          <a:xfrm>
            <a:off x="4846075" y="5923276"/>
            <a:ext cx="3125043" cy="186689"/>
          </a:xfrm>
          <a:prstGeom prst="rect">
            <a:avLst/>
          </a:prstGeom>
          <a:noFill/>
        </p:spPr>
        <p:txBody>
          <a:bodyPr wrap="none" lIns="0" rIns="0" tIns="0" bIns="0">
            <a:spAutoFit/>
          </a:bodyPr>
          <a:lstStyle/>
          <a:p>
            <a:r>
              <a:rPr sz="1100" b="0">
                <a:solidFill>
                  <a:srgbClr val="2E2E2E"/>
                </a:solidFill>
                <a:latin typeface="Calibri"/>
              </a:rPr>
              <a:t>US$ Mn of demand is added between 2026 and 2036,</a:t>
            </a:r>
          </a:p>
        </p:txBody>
      </p:sp>
      <p:sp>
        <p:nvSpPr>
          <p:cNvPr id="48" name="TextBox 47"/>
          <p:cNvSpPr txBox="1"/>
          <p:nvPr/>
        </p:nvSpPr>
        <p:spPr>
          <a:xfrm>
            <a:off x="3784750" y="6090916"/>
            <a:ext cx="3324497" cy="186689"/>
          </a:xfrm>
          <a:prstGeom prst="rect">
            <a:avLst/>
          </a:prstGeom>
          <a:noFill/>
        </p:spPr>
        <p:txBody>
          <a:bodyPr wrap="none" lIns="0" rIns="0" tIns="0" bIns="0">
            <a:spAutoFit/>
          </a:bodyPr>
          <a:lstStyle/>
          <a:p>
            <a:r>
              <a:rPr sz="1100" b="0">
                <a:solidFill>
                  <a:srgbClr val="2E2E2E"/>
                </a:solidFill>
                <a:latin typeface="Calibri"/>
              </a:rPr>
              <a:t>front-loaded in the leading categories and regions above.</a:t>
            </a:r>
          </a:p>
        </p:txBody>
      </p:sp>
      <p:sp>
        <p:nvSpPr>
          <p:cNvPr id="49" name="TextBox 48"/>
          <p:cNvSpPr txBox="1"/>
          <p:nvPr/>
        </p:nvSpPr>
        <p:spPr>
          <a:xfrm>
            <a:off x="8785375" y="6007096"/>
            <a:ext cx="857919" cy="186689"/>
          </a:xfrm>
          <a:prstGeom prst="rect">
            <a:avLst/>
          </a:prstGeom>
          <a:noFill/>
        </p:spPr>
        <p:txBody>
          <a:bodyPr wrap="none" lIns="0" rIns="0" tIns="0" bIns="0">
            <a:spAutoFit/>
          </a:bodyPr>
          <a:lstStyle/>
          <a:p>
            <a:r>
              <a:rPr sz="1100" b="0">
                <a:solidFill>
                  <a:srgbClr val="2E2E2E"/>
                </a:solidFill>
                <a:latin typeface="Calibri"/>
              </a:rPr>
              <a:t>$ opportunity</a:t>
            </a:r>
          </a:p>
        </p:txBody>
      </p:sp>
      <p:pic>
        <p:nvPicPr>
          <p:cNvPr id="50" name="Picture 49" descr="lock.png"/>
          <p:cNvPicPr>
            <a:picLocks noChangeAspect="1"/>
          </p:cNvPicPr>
          <p:nvPr/>
        </p:nvPicPr>
        <p:blipFill>
          <a:blip r:embed="rId4"/>
          <a:stretch>
            <a:fillRect/>
          </a:stretch>
        </p:blipFill>
        <p:spPr>
          <a:xfrm>
            <a:off x="9591346" y="5997317"/>
            <a:ext cx="128699" cy="187198"/>
          </a:xfrm>
          <a:prstGeom prst="rect">
            <a:avLst/>
          </a:prstGeom>
        </p:spPr>
      </p:pic>
      <p:sp>
        <p:nvSpPr>
          <p:cNvPr id="51" name="TextBox 50"/>
          <p:cNvSpPr txBox="1"/>
          <p:nvPr/>
        </p:nvSpPr>
        <p:spPr>
          <a:xfrm>
            <a:off x="9758842" y="6007096"/>
            <a:ext cx="1345778" cy="186689"/>
          </a:xfrm>
          <a:prstGeom prst="rect">
            <a:avLst/>
          </a:prstGeom>
          <a:noFill/>
        </p:spPr>
        <p:txBody>
          <a:bodyPr wrap="none" lIns="0" rIns="0" tIns="0" bIns="0">
            <a:spAutoFit/>
          </a:bodyPr>
          <a:lstStyle/>
          <a:p>
            <a:r>
              <a:rPr sz="1100" b="0">
                <a:solidFill>
                  <a:srgbClr val="2E2E2E"/>
                </a:solidFill>
                <a:latin typeface="Calibri"/>
              </a:rPr>
              <a:t>US$ Mn (2026–2036) ·</a:t>
            </a:r>
          </a:p>
        </p:txBody>
      </p:sp>
      <p:pic>
        <p:nvPicPr>
          <p:cNvPr id="52" name="Picture 51" descr="lock.png"/>
          <p:cNvPicPr>
            <a:picLocks noChangeAspect="1"/>
          </p:cNvPicPr>
          <p:nvPr/>
        </p:nvPicPr>
        <p:blipFill>
          <a:blip r:embed="rId4"/>
          <a:stretch>
            <a:fillRect/>
          </a:stretch>
        </p:blipFill>
        <p:spPr>
          <a:xfrm>
            <a:off x="11052672" y="5997317"/>
            <a:ext cx="128699" cy="187198"/>
          </a:xfrm>
          <a:prstGeom prst="rect">
            <a:avLst/>
          </a:prstGeom>
        </p:spPr>
      </p:pic>
      <p:sp>
        <p:nvSpPr>
          <p:cNvPr id="53" name="TextBox 52"/>
          <p:cNvSpPr txBox="1"/>
          <p:nvPr/>
        </p:nvSpPr>
        <p:spPr>
          <a:xfrm>
            <a:off x="11220167" y="6007096"/>
            <a:ext cx="528315" cy="186689"/>
          </a:xfrm>
          <a:prstGeom prst="rect">
            <a:avLst/>
          </a:prstGeom>
          <a:noFill/>
        </p:spPr>
        <p:txBody>
          <a:bodyPr wrap="none" lIns="0" rIns="0" tIns="0" bIns="0">
            <a:spAutoFit/>
          </a:bodyPr>
          <a:lstStyle/>
          <a:p>
            <a:r>
              <a:rPr sz="1100" b="0">
                <a:solidFill>
                  <a:srgbClr val="2E2E2E"/>
                </a:solidFill>
                <a:latin typeface="Calibri"/>
              </a:rPr>
              <a:t>by 2031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197225"/>
            <a:ext cx="7239000" cy="247650"/>
          </a:xfrm>
          <a:prstGeom prst="rect">
            <a:avLst/>
          </a:prstGeom>
          <a:noFill/>
        </p:spPr>
        <p:txBody>
          <a:bodyPr wrap="none" lIns="0" tIns="0">
            <a:spAutoFit/>
          </a:bodyPr>
          <a:lstStyle/>
          <a:p>
            <a:r>
              <a:rPr sz="1400" b="0">
                <a:solidFill>
                  <a:srgbClr val="8FC8F2"/>
                </a:solidFill>
                <a:latin typeface="Calibri"/>
              </a:rPr>
              <a:t>Ear Wax Removal Products Market</a:t>
            </a:r>
          </a:p>
        </p:txBody>
      </p:sp>
      <p:sp>
        <p:nvSpPr>
          <p:cNvPr id="6" name="FMI Breaker Title"/>
          <p:cNvSpPr txBox="1"/>
          <p:nvPr/>
        </p:nvSpPr>
        <p:spPr>
          <a:xfrm>
            <a:off x="914400" y="3502025"/>
            <a:ext cx="7239000" cy="514350"/>
          </a:xfrm>
          <a:prstGeom prst="rect">
            <a:avLst/>
          </a:prstGeom>
          <a:noFill/>
        </p:spPr>
        <p:txBody>
          <a:bodyPr wrap="square" lIns="0" rIns="0" tIns="0">
            <a:spAutoFit/>
          </a:bodyPr>
          <a:lstStyle/>
          <a:p>
            <a:r>
              <a:rPr sz="3000" b="1" cap="all" spc="400">
                <a:solidFill>
                  <a:srgbClr val="FFFFFF"/>
                </a:solidFill>
                <a:latin typeface="Calibri"/>
              </a:rPr>
              <a:t>Market Overview</a:t>
            </a:r>
          </a:p>
        </p:txBody>
      </p:sp>
      <p:sp>
        <p:nvSpPr>
          <p:cNvPr id="7" name="TextBox 6"/>
          <p:cNvSpPr txBox="1"/>
          <p:nvPr/>
        </p:nvSpPr>
        <p:spPr>
          <a:xfrm>
            <a:off x="914400" y="4206875"/>
            <a:ext cx="71247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Taxonomy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List of Figures, List of Tables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Market Taxonomy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Geographic Coverage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Segments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Coverage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Regions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Geographic scope of the study: the global market broken into 6 regions and the countries assessed under each</a:t>
            </a:r>
          </a:p>
        </p:txBody>
      </p:sp>
      <p:cxnSp>
        <p:nvCxnSpPr>
          <p:cNvPr id="10" name="Connector 9"/>
          <p:cNvCxnSpPr/>
          <p:nvPr/>
        </p:nvCxnSpPr>
        <p:spPr>
          <a:xfrm>
            <a:off x="6096000" y="1682648"/>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85850" y="1846931"/>
            <a:ext cx="10010775" cy="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85850"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086100"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86350"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096125"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096375"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096625"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52525"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2525"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152775"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152775"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152775"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152775" y="346238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153025"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153025" y="2750489"/>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53025" y="309730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153025" y="3453257"/>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153025" y="3800077"/>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153025" y="4146897"/>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153025" y="4493717"/>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53025" y="4849664"/>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153025" y="5196485"/>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153025" y="5543305"/>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153025" y="589012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153025" y="6246072"/>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162800"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162800"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162800"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163050"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163050"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163050"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163050" y="346238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163050" y="3818331"/>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163050" y="4174278"/>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163050" y="453022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163050" y="488617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163050" y="524211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163300"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163300"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163300"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163300" y="346238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1163300" y="3818331"/>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1163300" y="4174278"/>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1163300" y="453022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1163300" y="488617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4667250" y="1080276"/>
            <a:ext cx="2857500" cy="602372"/>
          </a:xfrm>
          <a:prstGeom prst="roundRect">
            <a:avLst>
              <a:gd name="adj" fmla="val 10606"/>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500" b="1">
                <a:solidFill>
                  <a:srgbClr val="FFFFFF"/>
                </a:solidFill>
                <a:latin typeface="Calibri"/>
              </a:rPr>
              <a:t>Ear Wax Removal Products Market</a:t>
            </a:r>
          </a:p>
        </p:txBody>
      </p:sp>
      <p:sp>
        <p:nvSpPr>
          <p:cNvPr id="57" name="Rounded Rectangle 56"/>
          <p:cNvSpPr/>
          <p:nvPr/>
        </p:nvSpPr>
        <p:spPr>
          <a:xfrm>
            <a:off x="142875"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North America</a:t>
            </a:r>
          </a:p>
        </p:txBody>
      </p:sp>
      <p:sp>
        <p:nvSpPr>
          <p:cNvPr id="58" name="Rounded Rectangle 57"/>
          <p:cNvSpPr/>
          <p:nvPr/>
        </p:nvSpPr>
        <p:spPr>
          <a:xfrm>
            <a:off x="276225"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U.S.</a:t>
            </a:r>
          </a:p>
        </p:txBody>
      </p:sp>
      <p:sp>
        <p:nvSpPr>
          <p:cNvPr id="59" name="Rounded Rectangle 58"/>
          <p:cNvSpPr/>
          <p:nvPr/>
        </p:nvSpPr>
        <p:spPr>
          <a:xfrm>
            <a:off x="276225"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Canada</a:t>
            </a:r>
          </a:p>
        </p:txBody>
      </p:sp>
      <p:sp>
        <p:nvSpPr>
          <p:cNvPr id="60" name="Rounded Rectangle 59"/>
          <p:cNvSpPr/>
          <p:nvPr/>
        </p:nvSpPr>
        <p:spPr>
          <a:xfrm>
            <a:off x="2143125"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Latin America</a:t>
            </a:r>
          </a:p>
        </p:txBody>
      </p:sp>
      <p:sp>
        <p:nvSpPr>
          <p:cNvPr id="61" name="Rounded Rectangle 60"/>
          <p:cNvSpPr/>
          <p:nvPr/>
        </p:nvSpPr>
        <p:spPr>
          <a:xfrm>
            <a:off x="2276475"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Brazil</a:t>
            </a:r>
          </a:p>
        </p:txBody>
      </p:sp>
      <p:sp>
        <p:nvSpPr>
          <p:cNvPr id="62" name="Rounded Rectangle 61"/>
          <p:cNvSpPr/>
          <p:nvPr/>
        </p:nvSpPr>
        <p:spPr>
          <a:xfrm>
            <a:off x="2276475"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Mexico</a:t>
            </a:r>
          </a:p>
        </p:txBody>
      </p:sp>
      <p:sp>
        <p:nvSpPr>
          <p:cNvPr id="63" name="Rounded Rectangle 62"/>
          <p:cNvSpPr/>
          <p:nvPr/>
        </p:nvSpPr>
        <p:spPr>
          <a:xfrm>
            <a:off x="2276475"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Colombia</a:t>
            </a:r>
          </a:p>
        </p:txBody>
      </p:sp>
      <p:sp>
        <p:nvSpPr>
          <p:cNvPr id="64" name="Rounded Rectangle 63"/>
          <p:cNvSpPr/>
          <p:nvPr/>
        </p:nvSpPr>
        <p:spPr>
          <a:xfrm>
            <a:off x="2276475" y="3535398"/>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Latin America</a:t>
            </a:r>
          </a:p>
        </p:txBody>
      </p:sp>
      <p:sp>
        <p:nvSpPr>
          <p:cNvPr id="65" name="Rounded Rectangle 64"/>
          <p:cNvSpPr/>
          <p:nvPr/>
        </p:nvSpPr>
        <p:spPr>
          <a:xfrm>
            <a:off x="4143375"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Europe</a:t>
            </a:r>
          </a:p>
        </p:txBody>
      </p:sp>
      <p:sp>
        <p:nvSpPr>
          <p:cNvPr id="66" name="Rounded Rectangle 65"/>
          <p:cNvSpPr/>
          <p:nvPr/>
        </p:nvSpPr>
        <p:spPr>
          <a:xfrm>
            <a:off x="4276725"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Germany</a:t>
            </a:r>
          </a:p>
        </p:txBody>
      </p:sp>
      <p:sp>
        <p:nvSpPr>
          <p:cNvPr id="67" name="Rounded Rectangle 66"/>
          <p:cNvSpPr/>
          <p:nvPr/>
        </p:nvSpPr>
        <p:spPr>
          <a:xfrm>
            <a:off x="4276725" y="281437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U.K.</a:t>
            </a:r>
          </a:p>
        </p:txBody>
      </p:sp>
      <p:sp>
        <p:nvSpPr>
          <p:cNvPr id="68" name="Rounded Rectangle 67"/>
          <p:cNvSpPr/>
          <p:nvPr/>
        </p:nvSpPr>
        <p:spPr>
          <a:xfrm>
            <a:off x="4276725" y="317032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France</a:t>
            </a:r>
          </a:p>
        </p:txBody>
      </p:sp>
      <p:sp>
        <p:nvSpPr>
          <p:cNvPr id="69" name="Rounded Rectangle 68"/>
          <p:cNvSpPr/>
          <p:nvPr/>
        </p:nvSpPr>
        <p:spPr>
          <a:xfrm>
            <a:off x="4276725" y="351714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Italy</a:t>
            </a:r>
          </a:p>
        </p:txBody>
      </p:sp>
      <p:sp>
        <p:nvSpPr>
          <p:cNvPr id="70" name="Rounded Rectangle 69"/>
          <p:cNvSpPr/>
          <p:nvPr/>
        </p:nvSpPr>
        <p:spPr>
          <a:xfrm>
            <a:off x="4276725" y="386396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Spain</a:t>
            </a:r>
          </a:p>
        </p:txBody>
      </p:sp>
      <p:sp>
        <p:nvSpPr>
          <p:cNvPr id="71" name="Rounded Rectangle 70"/>
          <p:cNvSpPr/>
          <p:nvPr/>
        </p:nvSpPr>
        <p:spPr>
          <a:xfrm>
            <a:off x="4276725" y="421078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Belgium</a:t>
            </a:r>
          </a:p>
        </p:txBody>
      </p:sp>
      <p:sp>
        <p:nvSpPr>
          <p:cNvPr id="72" name="Rounded Rectangle 71"/>
          <p:cNvSpPr/>
          <p:nvPr/>
        </p:nvSpPr>
        <p:spPr>
          <a:xfrm>
            <a:off x="4276725" y="456673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Netherlands</a:t>
            </a:r>
          </a:p>
        </p:txBody>
      </p:sp>
      <p:sp>
        <p:nvSpPr>
          <p:cNvPr id="73" name="Rounded Rectangle 72"/>
          <p:cNvSpPr/>
          <p:nvPr/>
        </p:nvSpPr>
        <p:spPr>
          <a:xfrm>
            <a:off x="4276725" y="491355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Nordic Countries</a:t>
            </a:r>
          </a:p>
        </p:txBody>
      </p:sp>
      <p:sp>
        <p:nvSpPr>
          <p:cNvPr id="74" name="Rounded Rectangle 73"/>
          <p:cNvSpPr/>
          <p:nvPr/>
        </p:nvSpPr>
        <p:spPr>
          <a:xfrm>
            <a:off x="4276725" y="5260373"/>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Switzerland</a:t>
            </a:r>
          </a:p>
        </p:txBody>
      </p:sp>
      <p:sp>
        <p:nvSpPr>
          <p:cNvPr id="75" name="Rounded Rectangle 74"/>
          <p:cNvSpPr/>
          <p:nvPr/>
        </p:nvSpPr>
        <p:spPr>
          <a:xfrm>
            <a:off x="4276725" y="5607193"/>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Russia</a:t>
            </a:r>
          </a:p>
        </p:txBody>
      </p:sp>
      <p:sp>
        <p:nvSpPr>
          <p:cNvPr id="76" name="Rounded Rectangle 75"/>
          <p:cNvSpPr/>
          <p:nvPr/>
        </p:nvSpPr>
        <p:spPr>
          <a:xfrm>
            <a:off x="4276725" y="596314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Poland</a:t>
            </a:r>
          </a:p>
        </p:txBody>
      </p:sp>
      <p:sp>
        <p:nvSpPr>
          <p:cNvPr id="77" name="Rounded Rectangle 76"/>
          <p:cNvSpPr/>
          <p:nvPr/>
        </p:nvSpPr>
        <p:spPr>
          <a:xfrm>
            <a:off x="4276725" y="630996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Europe</a:t>
            </a:r>
          </a:p>
        </p:txBody>
      </p:sp>
      <p:sp>
        <p:nvSpPr>
          <p:cNvPr id="78" name="Rounded Rectangle 77"/>
          <p:cNvSpPr/>
          <p:nvPr/>
        </p:nvSpPr>
        <p:spPr>
          <a:xfrm>
            <a:off x="6153150"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East Asia</a:t>
            </a:r>
          </a:p>
        </p:txBody>
      </p:sp>
      <p:sp>
        <p:nvSpPr>
          <p:cNvPr id="79" name="Rounded Rectangle 78"/>
          <p:cNvSpPr/>
          <p:nvPr/>
        </p:nvSpPr>
        <p:spPr>
          <a:xfrm>
            <a:off x="6286500"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China</a:t>
            </a:r>
          </a:p>
        </p:txBody>
      </p:sp>
      <p:sp>
        <p:nvSpPr>
          <p:cNvPr id="80" name="Rounded Rectangle 79"/>
          <p:cNvSpPr/>
          <p:nvPr/>
        </p:nvSpPr>
        <p:spPr>
          <a:xfrm>
            <a:off x="6286500"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Japan</a:t>
            </a:r>
          </a:p>
        </p:txBody>
      </p:sp>
      <p:sp>
        <p:nvSpPr>
          <p:cNvPr id="81" name="Rounded Rectangle 80"/>
          <p:cNvSpPr/>
          <p:nvPr/>
        </p:nvSpPr>
        <p:spPr>
          <a:xfrm>
            <a:off x="6286500"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Korea</a:t>
            </a:r>
          </a:p>
        </p:txBody>
      </p:sp>
      <p:sp>
        <p:nvSpPr>
          <p:cNvPr id="82" name="Rounded Rectangle 81"/>
          <p:cNvSpPr/>
          <p:nvPr/>
        </p:nvSpPr>
        <p:spPr>
          <a:xfrm>
            <a:off x="8153400"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South Asia &amp; Pacific</a:t>
            </a:r>
          </a:p>
        </p:txBody>
      </p:sp>
      <p:sp>
        <p:nvSpPr>
          <p:cNvPr id="83" name="Rounded Rectangle 82"/>
          <p:cNvSpPr/>
          <p:nvPr/>
        </p:nvSpPr>
        <p:spPr>
          <a:xfrm>
            <a:off x="8286750"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India</a:t>
            </a:r>
          </a:p>
        </p:txBody>
      </p:sp>
      <p:sp>
        <p:nvSpPr>
          <p:cNvPr id="84" name="Rounded Rectangle 83"/>
          <p:cNvSpPr/>
          <p:nvPr/>
        </p:nvSpPr>
        <p:spPr>
          <a:xfrm>
            <a:off x="8286750"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Thailand</a:t>
            </a:r>
          </a:p>
        </p:txBody>
      </p:sp>
      <p:sp>
        <p:nvSpPr>
          <p:cNvPr id="85" name="Rounded Rectangle 84"/>
          <p:cNvSpPr/>
          <p:nvPr/>
        </p:nvSpPr>
        <p:spPr>
          <a:xfrm>
            <a:off x="8286750"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Malaysia</a:t>
            </a:r>
          </a:p>
        </p:txBody>
      </p:sp>
      <p:sp>
        <p:nvSpPr>
          <p:cNvPr id="86" name="Rounded Rectangle 85"/>
          <p:cNvSpPr/>
          <p:nvPr/>
        </p:nvSpPr>
        <p:spPr>
          <a:xfrm>
            <a:off x="8286750" y="3535398"/>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Indonesia</a:t>
            </a:r>
          </a:p>
        </p:txBody>
      </p:sp>
      <p:sp>
        <p:nvSpPr>
          <p:cNvPr id="87" name="Rounded Rectangle 86"/>
          <p:cNvSpPr/>
          <p:nvPr/>
        </p:nvSpPr>
        <p:spPr>
          <a:xfrm>
            <a:off x="8286750" y="389134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Singapore</a:t>
            </a:r>
          </a:p>
        </p:txBody>
      </p:sp>
      <p:sp>
        <p:nvSpPr>
          <p:cNvPr id="88" name="Rounded Rectangle 87"/>
          <p:cNvSpPr/>
          <p:nvPr/>
        </p:nvSpPr>
        <p:spPr>
          <a:xfrm>
            <a:off x="8286750" y="424729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Philippines</a:t>
            </a:r>
          </a:p>
        </p:txBody>
      </p:sp>
      <p:sp>
        <p:nvSpPr>
          <p:cNvPr id="89" name="Rounded Rectangle 88"/>
          <p:cNvSpPr/>
          <p:nvPr/>
        </p:nvSpPr>
        <p:spPr>
          <a:xfrm>
            <a:off x="8286750" y="460324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Australia</a:t>
            </a:r>
          </a:p>
        </p:txBody>
      </p:sp>
      <p:sp>
        <p:nvSpPr>
          <p:cNvPr id="90" name="Rounded Rectangle 89"/>
          <p:cNvSpPr/>
          <p:nvPr/>
        </p:nvSpPr>
        <p:spPr>
          <a:xfrm>
            <a:off x="8286750" y="495918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New Zealand</a:t>
            </a:r>
          </a:p>
        </p:txBody>
      </p:sp>
      <p:sp>
        <p:nvSpPr>
          <p:cNvPr id="91" name="Rounded Rectangle 90"/>
          <p:cNvSpPr/>
          <p:nvPr/>
        </p:nvSpPr>
        <p:spPr>
          <a:xfrm>
            <a:off x="8286750" y="531513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South Asia &amp; Pacific</a:t>
            </a:r>
          </a:p>
        </p:txBody>
      </p:sp>
      <p:sp>
        <p:nvSpPr>
          <p:cNvPr id="92" name="Rounded Rectangle 91"/>
          <p:cNvSpPr/>
          <p:nvPr/>
        </p:nvSpPr>
        <p:spPr>
          <a:xfrm>
            <a:off x="10153650"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Middle East &amp; Africa</a:t>
            </a:r>
          </a:p>
        </p:txBody>
      </p:sp>
      <p:sp>
        <p:nvSpPr>
          <p:cNvPr id="93" name="Rounded Rectangle 92"/>
          <p:cNvSpPr/>
          <p:nvPr/>
        </p:nvSpPr>
        <p:spPr>
          <a:xfrm>
            <a:off x="10287000"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Turkey</a:t>
            </a:r>
          </a:p>
        </p:txBody>
      </p:sp>
      <p:sp>
        <p:nvSpPr>
          <p:cNvPr id="94" name="Rounded Rectangle 93"/>
          <p:cNvSpPr/>
          <p:nvPr/>
        </p:nvSpPr>
        <p:spPr>
          <a:xfrm>
            <a:off x="10287000"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UAE</a:t>
            </a:r>
          </a:p>
        </p:txBody>
      </p:sp>
      <p:sp>
        <p:nvSpPr>
          <p:cNvPr id="95" name="Rounded Rectangle 94"/>
          <p:cNvSpPr/>
          <p:nvPr/>
        </p:nvSpPr>
        <p:spPr>
          <a:xfrm>
            <a:off x="10287000"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Saudi Arabia</a:t>
            </a:r>
          </a:p>
        </p:txBody>
      </p:sp>
      <p:sp>
        <p:nvSpPr>
          <p:cNvPr id="96" name="Rounded Rectangle 95"/>
          <p:cNvSpPr/>
          <p:nvPr/>
        </p:nvSpPr>
        <p:spPr>
          <a:xfrm>
            <a:off x="10287000" y="3535398"/>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Israel</a:t>
            </a:r>
          </a:p>
        </p:txBody>
      </p:sp>
      <p:sp>
        <p:nvSpPr>
          <p:cNvPr id="97" name="Rounded Rectangle 96"/>
          <p:cNvSpPr/>
          <p:nvPr/>
        </p:nvSpPr>
        <p:spPr>
          <a:xfrm>
            <a:off x="10287000" y="389134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Other GCC Countries</a:t>
            </a:r>
          </a:p>
        </p:txBody>
      </p:sp>
      <p:sp>
        <p:nvSpPr>
          <p:cNvPr id="98" name="Rounded Rectangle 97"/>
          <p:cNvSpPr/>
          <p:nvPr/>
        </p:nvSpPr>
        <p:spPr>
          <a:xfrm>
            <a:off x="10287000" y="424729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North Africa</a:t>
            </a:r>
          </a:p>
        </p:txBody>
      </p:sp>
      <p:sp>
        <p:nvSpPr>
          <p:cNvPr id="99" name="Rounded Rectangle 98"/>
          <p:cNvSpPr/>
          <p:nvPr/>
        </p:nvSpPr>
        <p:spPr>
          <a:xfrm>
            <a:off x="10287000" y="460324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Africa</a:t>
            </a:r>
          </a:p>
        </p:txBody>
      </p:sp>
      <p:sp>
        <p:nvSpPr>
          <p:cNvPr id="100" name="Rounded Rectangle 99"/>
          <p:cNvSpPr/>
          <p:nvPr/>
        </p:nvSpPr>
        <p:spPr>
          <a:xfrm>
            <a:off x="10287000" y="495918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Middle East &amp; Africa</a:t>
            </a:r>
          </a:p>
        </p:txBody>
      </p:sp>
      <p:sp>
        <p:nvSpPr>
          <p:cNvPr id="101" name="TextBox 10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Segments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Segmentation framework of the study: 4 axes and the sub-segments sized under each</a:t>
            </a:r>
          </a:p>
        </p:txBody>
      </p:sp>
      <p:sp>
        <p:nvSpPr>
          <p:cNvPr id="10" name="Rectangle 9"/>
          <p:cNvSpPr/>
          <p:nvPr/>
        </p:nvSpPr>
        <p:spPr>
          <a:xfrm>
            <a:off x="142875" y="1028700"/>
            <a:ext cx="2876550" cy="536638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8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90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Product Type (1/2)</a:t>
            </a:r>
          </a:p>
        </p:txBody>
      </p:sp>
      <p:sp>
        <p:nvSpPr>
          <p:cNvPr id="13" name="TextBox 12"/>
          <p:cNvSpPr txBox="1"/>
          <p:nvPr/>
        </p:nvSpPr>
        <p:spPr>
          <a:xfrm>
            <a:off x="2000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 name="TextBox 13"/>
          <p:cNvSpPr txBox="1"/>
          <p:nvPr/>
        </p:nvSpPr>
        <p:spPr>
          <a:xfrm>
            <a:off x="3905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Ear Drops</a:t>
            </a:r>
          </a:p>
        </p:txBody>
      </p:sp>
      <p:cxnSp>
        <p:nvCxnSpPr>
          <p:cNvPr id="15" name="Connector 14"/>
          <p:cNvCxnSpPr/>
          <p:nvPr/>
        </p:nvCxnSpPr>
        <p:spPr>
          <a:xfrm>
            <a:off x="1524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714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 name="TextBox 16"/>
          <p:cNvSpPr txBox="1"/>
          <p:nvPr/>
        </p:nvSpPr>
        <p:spPr>
          <a:xfrm>
            <a:off x="5619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Peroxide-Based Drops</a:t>
            </a:r>
          </a:p>
        </p:txBody>
      </p:sp>
      <p:cxnSp>
        <p:nvCxnSpPr>
          <p:cNvPr id="18" name="Connector 17"/>
          <p:cNvCxnSpPr/>
          <p:nvPr/>
        </p:nvCxnSpPr>
        <p:spPr>
          <a:xfrm>
            <a:off x="1524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714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 name="TextBox 19"/>
          <p:cNvSpPr txBox="1"/>
          <p:nvPr/>
        </p:nvSpPr>
        <p:spPr>
          <a:xfrm>
            <a:off x="5619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Oil-Based Drops</a:t>
            </a:r>
          </a:p>
        </p:txBody>
      </p:sp>
      <p:cxnSp>
        <p:nvCxnSpPr>
          <p:cNvPr id="21" name="Connector 20"/>
          <p:cNvCxnSpPr/>
          <p:nvPr/>
        </p:nvCxnSpPr>
        <p:spPr>
          <a:xfrm>
            <a:off x="1524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7147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 name="TextBox 22"/>
          <p:cNvSpPr txBox="1"/>
          <p:nvPr/>
        </p:nvSpPr>
        <p:spPr>
          <a:xfrm>
            <a:off x="561975" y="17887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Sodium Bicarbonate-Based Drops</a:t>
            </a:r>
          </a:p>
        </p:txBody>
      </p:sp>
      <p:cxnSp>
        <p:nvCxnSpPr>
          <p:cNvPr id="24" name="Connector 23"/>
          <p:cNvCxnSpPr/>
          <p:nvPr/>
        </p:nvCxnSpPr>
        <p:spPr>
          <a:xfrm>
            <a:off x="1524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7147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561975" y="19659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Surfactant-Based Drops</a:t>
            </a:r>
          </a:p>
        </p:txBody>
      </p:sp>
      <p:cxnSp>
        <p:nvCxnSpPr>
          <p:cNvPr id="27" name="Connector 26"/>
          <p:cNvCxnSpPr/>
          <p:nvPr/>
        </p:nvCxnSpPr>
        <p:spPr>
          <a:xfrm>
            <a:off x="1524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7147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561975" y="21431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Solvent-Containing Combination Drops</a:t>
            </a:r>
          </a:p>
        </p:txBody>
      </p:sp>
      <p:cxnSp>
        <p:nvCxnSpPr>
          <p:cNvPr id="30" name="Connector 29"/>
          <p:cNvCxnSpPr/>
          <p:nvPr/>
        </p:nvCxnSpPr>
        <p:spPr>
          <a:xfrm>
            <a:off x="1524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7147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2" name="TextBox 31"/>
          <p:cNvSpPr txBox="1"/>
          <p:nvPr/>
        </p:nvSpPr>
        <p:spPr>
          <a:xfrm>
            <a:off x="561975" y="232029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Wax-Dissolving Drops</a:t>
            </a:r>
          </a:p>
        </p:txBody>
      </p:sp>
      <p:cxnSp>
        <p:nvCxnSpPr>
          <p:cNvPr id="33" name="Connector 32"/>
          <p:cNvCxnSpPr/>
          <p:nvPr/>
        </p:nvCxnSpPr>
        <p:spPr>
          <a:xfrm>
            <a:off x="1524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0002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5" name="TextBox 34"/>
          <p:cNvSpPr txBox="1"/>
          <p:nvPr/>
        </p:nvSpPr>
        <p:spPr>
          <a:xfrm>
            <a:off x="390525" y="249745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Ear Sprays</a:t>
            </a:r>
          </a:p>
        </p:txBody>
      </p:sp>
      <p:cxnSp>
        <p:nvCxnSpPr>
          <p:cNvPr id="36" name="Connector 35"/>
          <p:cNvCxnSpPr/>
          <p:nvPr/>
        </p:nvCxnSpPr>
        <p:spPr>
          <a:xfrm>
            <a:off x="1524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37147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8" name="TextBox 37"/>
          <p:cNvSpPr txBox="1"/>
          <p:nvPr/>
        </p:nvSpPr>
        <p:spPr>
          <a:xfrm>
            <a:off x="561975" y="26746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Oil-Based Sprays</a:t>
            </a:r>
          </a:p>
        </p:txBody>
      </p:sp>
      <p:cxnSp>
        <p:nvCxnSpPr>
          <p:cNvPr id="39" name="Connector 38"/>
          <p:cNvCxnSpPr/>
          <p:nvPr/>
        </p:nvCxnSpPr>
        <p:spPr>
          <a:xfrm>
            <a:off x="152400" y="28517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371475" y="28517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1" name="TextBox 40"/>
          <p:cNvSpPr txBox="1"/>
          <p:nvPr/>
        </p:nvSpPr>
        <p:spPr>
          <a:xfrm>
            <a:off x="561975" y="2851785"/>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Saline/Seawater-Based Cleansing Sprays</a:t>
            </a:r>
          </a:p>
        </p:txBody>
      </p:sp>
      <p:cxnSp>
        <p:nvCxnSpPr>
          <p:cNvPr id="42" name="Connector 41"/>
          <p:cNvCxnSpPr/>
          <p:nvPr/>
        </p:nvCxnSpPr>
        <p:spPr>
          <a:xfrm>
            <a:off x="152400" y="32061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371475" y="32061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4" name="TextBox 43"/>
          <p:cNvSpPr txBox="1"/>
          <p:nvPr/>
        </p:nvSpPr>
        <p:spPr>
          <a:xfrm>
            <a:off x="561975" y="320611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Wax-Dispersing Sprays</a:t>
            </a:r>
          </a:p>
        </p:txBody>
      </p:sp>
      <p:cxnSp>
        <p:nvCxnSpPr>
          <p:cNvPr id="45" name="Connector 44"/>
          <p:cNvCxnSpPr/>
          <p:nvPr/>
        </p:nvCxnSpPr>
        <p:spPr>
          <a:xfrm>
            <a:off x="152400" y="33832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00025" y="33832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7" name="TextBox 46"/>
          <p:cNvSpPr txBox="1"/>
          <p:nvPr/>
        </p:nvSpPr>
        <p:spPr>
          <a:xfrm>
            <a:off x="390525" y="338328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Irrigation Devices and Accessories</a:t>
            </a:r>
          </a:p>
        </p:txBody>
      </p:sp>
      <p:cxnSp>
        <p:nvCxnSpPr>
          <p:cNvPr id="48" name="Connector 47"/>
          <p:cNvCxnSpPr/>
          <p:nvPr/>
        </p:nvCxnSpPr>
        <p:spPr>
          <a:xfrm>
            <a:off x="152400" y="35604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371475" y="35604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0" name="TextBox 49"/>
          <p:cNvSpPr txBox="1"/>
          <p:nvPr/>
        </p:nvSpPr>
        <p:spPr>
          <a:xfrm>
            <a:off x="561975" y="356044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Bulb Syringes</a:t>
            </a:r>
          </a:p>
        </p:txBody>
      </p:sp>
      <p:cxnSp>
        <p:nvCxnSpPr>
          <p:cNvPr id="51" name="Connector 50"/>
          <p:cNvCxnSpPr/>
          <p:nvPr/>
        </p:nvCxnSpPr>
        <p:spPr>
          <a:xfrm>
            <a:off x="152400" y="37376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71475" y="37376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3" name="TextBox 52"/>
          <p:cNvSpPr txBox="1"/>
          <p:nvPr/>
        </p:nvSpPr>
        <p:spPr>
          <a:xfrm>
            <a:off x="561975" y="373761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Manual Pump Irrigators</a:t>
            </a:r>
          </a:p>
        </p:txBody>
      </p:sp>
      <p:cxnSp>
        <p:nvCxnSpPr>
          <p:cNvPr id="54" name="Connector 53"/>
          <p:cNvCxnSpPr/>
          <p:nvPr/>
        </p:nvCxnSpPr>
        <p:spPr>
          <a:xfrm>
            <a:off x="152400" y="391477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371475" y="391477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6" name="TextBox 55"/>
          <p:cNvSpPr txBox="1"/>
          <p:nvPr/>
        </p:nvSpPr>
        <p:spPr>
          <a:xfrm>
            <a:off x="561975" y="391477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Powered Irrigation Systems</a:t>
            </a:r>
          </a:p>
        </p:txBody>
      </p:sp>
      <p:cxnSp>
        <p:nvCxnSpPr>
          <p:cNvPr id="57" name="Connector 56"/>
          <p:cNvCxnSpPr/>
          <p:nvPr/>
        </p:nvCxnSpPr>
        <p:spPr>
          <a:xfrm>
            <a:off x="152400" y="409194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371475" y="409194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9" name="TextBox 58"/>
          <p:cNvSpPr txBox="1"/>
          <p:nvPr/>
        </p:nvSpPr>
        <p:spPr>
          <a:xfrm>
            <a:off x="561975" y="4091940"/>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Irrigation Tips and Replacement Accessories</a:t>
            </a:r>
          </a:p>
        </p:txBody>
      </p:sp>
      <p:cxnSp>
        <p:nvCxnSpPr>
          <p:cNvPr id="60" name="Connector 59"/>
          <p:cNvCxnSpPr/>
          <p:nvPr/>
        </p:nvCxnSpPr>
        <p:spPr>
          <a:xfrm>
            <a:off x="152400" y="444627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200025" y="444627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2" name="TextBox 61"/>
          <p:cNvSpPr txBox="1"/>
          <p:nvPr/>
        </p:nvSpPr>
        <p:spPr>
          <a:xfrm>
            <a:off x="390525" y="444627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Manual Removal Tools</a:t>
            </a:r>
          </a:p>
        </p:txBody>
      </p:sp>
      <p:cxnSp>
        <p:nvCxnSpPr>
          <p:cNvPr id="63" name="Connector 62"/>
          <p:cNvCxnSpPr/>
          <p:nvPr/>
        </p:nvCxnSpPr>
        <p:spPr>
          <a:xfrm>
            <a:off x="152400" y="462343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371475" y="462343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5" name="TextBox 64"/>
          <p:cNvSpPr txBox="1"/>
          <p:nvPr/>
        </p:nvSpPr>
        <p:spPr>
          <a:xfrm>
            <a:off x="561975" y="462343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Flexible Ear Scoops and Cleaners</a:t>
            </a:r>
          </a:p>
        </p:txBody>
      </p:sp>
      <p:cxnSp>
        <p:nvCxnSpPr>
          <p:cNvPr id="66" name="Connector 65"/>
          <p:cNvCxnSpPr/>
          <p:nvPr/>
        </p:nvCxnSpPr>
        <p:spPr>
          <a:xfrm>
            <a:off x="152400" y="480060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371475" y="48006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561975" y="480060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Ear Curettes, Loops, and Hooks</a:t>
            </a:r>
          </a:p>
        </p:txBody>
      </p:sp>
      <p:cxnSp>
        <p:nvCxnSpPr>
          <p:cNvPr id="69" name="Connector 68"/>
          <p:cNvCxnSpPr/>
          <p:nvPr/>
        </p:nvCxnSpPr>
        <p:spPr>
          <a:xfrm>
            <a:off x="152400" y="49777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371475" y="49777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1" name="TextBox 70"/>
          <p:cNvSpPr txBox="1"/>
          <p:nvPr/>
        </p:nvSpPr>
        <p:spPr>
          <a:xfrm>
            <a:off x="561975" y="49777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Lighted Manual Instruments</a:t>
            </a:r>
          </a:p>
        </p:txBody>
      </p:sp>
      <p:cxnSp>
        <p:nvCxnSpPr>
          <p:cNvPr id="72" name="Connector 71"/>
          <p:cNvCxnSpPr/>
          <p:nvPr/>
        </p:nvCxnSpPr>
        <p:spPr>
          <a:xfrm>
            <a:off x="152400" y="51549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200025" y="51549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4" name="TextBox 73"/>
          <p:cNvSpPr txBox="1"/>
          <p:nvPr/>
        </p:nvSpPr>
        <p:spPr>
          <a:xfrm>
            <a:off x="390525" y="515493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Camera-Assisted Removal Devices</a:t>
            </a:r>
          </a:p>
        </p:txBody>
      </p:sp>
      <p:cxnSp>
        <p:nvCxnSpPr>
          <p:cNvPr id="75" name="Connector 74"/>
          <p:cNvCxnSpPr/>
          <p:nvPr/>
        </p:nvCxnSpPr>
        <p:spPr>
          <a:xfrm>
            <a:off x="152400" y="53320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371475" y="53320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7" name="TextBox 76"/>
          <p:cNvSpPr txBox="1"/>
          <p:nvPr/>
        </p:nvSpPr>
        <p:spPr>
          <a:xfrm>
            <a:off x="561975" y="53320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Smartphone-Connected Ear Cleaners</a:t>
            </a:r>
          </a:p>
        </p:txBody>
      </p:sp>
      <p:cxnSp>
        <p:nvCxnSpPr>
          <p:cNvPr id="78" name="Connector 77"/>
          <p:cNvCxnSpPr/>
          <p:nvPr/>
        </p:nvCxnSpPr>
        <p:spPr>
          <a:xfrm>
            <a:off x="152400" y="55092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371475" y="55092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0" name="TextBox 79"/>
          <p:cNvSpPr txBox="1"/>
          <p:nvPr/>
        </p:nvSpPr>
        <p:spPr>
          <a:xfrm>
            <a:off x="561975" y="5509260"/>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Replacement Extraction Tips and Accessories</a:t>
            </a:r>
          </a:p>
        </p:txBody>
      </p:sp>
      <p:cxnSp>
        <p:nvCxnSpPr>
          <p:cNvPr id="81" name="Connector 80"/>
          <p:cNvCxnSpPr/>
          <p:nvPr/>
        </p:nvCxnSpPr>
        <p:spPr>
          <a:xfrm>
            <a:off x="152400" y="58635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200025" y="58635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3" name="TextBox 82"/>
          <p:cNvSpPr txBox="1"/>
          <p:nvPr/>
        </p:nvSpPr>
        <p:spPr>
          <a:xfrm>
            <a:off x="390525" y="586359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Suction Devices and Accessories</a:t>
            </a:r>
          </a:p>
        </p:txBody>
      </p:sp>
      <p:cxnSp>
        <p:nvCxnSpPr>
          <p:cNvPr id="84" name="Connector 83"/>
          <p:cNvCxnSpPr/>
          <p:nvPr/>
        </p:nvCxnSpPr>
        <p:spPr>
          <a:xfrm>
            <a:off x="152400" y="60407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371475" y="60407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6" name="TextBox 85"/>
          <p:cNvSpPr txBox="1"/>
          <p:nvPr/>
        </p:nvSpPr>
        <p:spPr>
          <a:xfrm>
            <a:off x="561975" y="60407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Professional Microsuction Systems</a:t>
            </a:r>
          </a:p>
        </p:txBody>
      </p:sp>
      <p:cxnSp>
        <p:nvCxnSpPr>
          <p:cNvPr id="87" name="Connector 86"/>
          <p:cNvCxnSpPr/>
          <p:nvPr/>
        </p:nvCxnSpPr>
        <p:spPr>
          <a:xfrm>
            <a:off x="152400" y="62179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371475" y="62179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9" name="TextBox 88"/>
          <p:cNvSpPr txBox="1"/>
          <p:nvPr/>
        </p:nvSpPr>
        <p:spPr>
          <a:xfrm>
            <a:off x="561975" y="62179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Suction Tips and Consumables</a:t>
            </a:r>
          </a:p>
        </p:txBody>
      </p:sp>
      <p:sp>
        <p:nvSpPr>
          <p:cNvPr id="90" name="Rectangle 89"/>
          <p:cNvSpPr/>
          <p:nvPr/>
        </p:nvSpPr>
        <p:spPr>
          <a:xfrm>
            <a:off x="3152775" y="1028700"/>
            <a:ext cx="2876550" cy="76009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31527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32289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Product Type (2/2)</a:t>
            </a:r>
          </a:p>
        </p:txBody>
      </p:sp>
      <p:sp>
        <p:nvSpPr>
          <p:cNvPr id="93" name="TextBox 92"/>
          <p:cNvSpPr txBox="1"/>
          <p:nvPr/>
        </p:nvSpPr>
        <p:spPr>
          <a:xfrm>
            <a:off x="32099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4" name="TextBox 93"/>
          <p:cNvSpPr txBox="1"/>
          <p:nvPr/>
        </p:nvSpPr>
        <p:spPr>
          <a:xfrm>
            <a:off x="34004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Combination Removal Kits</a:t>
            </a:r>
          </a:p>
        </p:txBody>
      </p:sp>
      <p:cxnSp>
        <p:nvCxnSpPr>
          <p:cNvPr id="95" name="Connector 94"/>
          <p:cNvCxnSpPr/>
          <p:nvPr/>
        </p:nvCxnSpPr>
        <p:spPr>
          <a:xfrm>
            <a:off x="31623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33813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7" name="TextBox 96"/>
          <p:cNvSpPr txBox="1"/>
          <p:nvPr/>
        </p:nvSpPr>
        <p:spPr>
          <a:xfrm>
            <a:off x="35718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Drops with Irrigation Tools</a:t>
            </a:r>
          </a:p>
        </p:txBody>
      </p:sp>
      <p:cxnSp>
        <p:nvCxnSpPr>
          <p:cNvPr id="98" name="Connector 97"/>
          <p:cNvCxnSpPr/>
          <p:nvPr/>
        </p:nvCxnSpPr>
        <p:spPr>
          <a:xfrm>
            <a:off x="31623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33813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0" name="TextBox 99"/>
          <p:cNvSpPr txBox="1"/>
          <p:nvPr/>
        </p:nvSpPr>
        <p:spPr>
          <a:xfrm>
            <a:off x="35718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Drops with Manual Cleaning Tools</a:t>
            </a:r>
          </a:p>
        </p:txBody>
      </p:sp>
      <p:sp>
        <p:nvSpPr>
          <p:cNvPr id="101" name="Rectangle 100"/>
          <p:cNvSpPr/>
          <p:nvPr/>
        </p:nvSpPr>
        <p:spPr>
          <a:xfrm>
            <a:off x="3152775" y="1903095"/>
            <a:ext cx="2876550" cy="76009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3152775" y="1903095"/>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3228975" y="1903095"/>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Age Group</a:t>
            </a:r>
          </a:p>
        </p:txBody>
      </p:sp>
      <p:sp>
        <p:nvSpPr>
          <p:cNvPr id="104" name="TextBox 103"/>
          <p:cNvSpPr txBox="1"/>
          <p:nvPr/>
        </p:nvSpPr>
        <p:spPr>
          <a:xfrm>
            <a:off x="3209925" y="21316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5" name="TextBox 104"/>
          <p:cNvSpPr txBox="1"/>
          <p:nvPr/>
        </p:nvSpPr>
        <p:spPr>
          <a:xfrm>
            <a:off x="3400425" y="21316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Paediatric</a:t>
            </a:r>
          </a:p>
        </p:txBody>
      </p:sp>
      <p:cxnSp>
        <p:nvCxnSpPr>
          <p:cNvPr id="106" name="Connector 105"/>
          <p:cNvCxnSpPr/>
          <p:nvPr/>
        </p:nvCxnSpPr>
        <p:spPr>
          <a:xfrm>
            <a:off x="3162300" y="23088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3209925" y="23088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8" name="TextBox 107"/>
          <p:cNvSpPr txBox="1"/>
          <p:nvPr/>
        </p:nvSpPr>
        <p:spPr>
          <a:xfrm>
            <a:off x="3400425" y="23088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Adult</a:t>
            </a:r>
          </a:p>
        </p:txBody>
      </p:sp>
      <p:cxnSp>
        <p:nvCxnSpPr>
          <p:cNvPr id="109" name="Connector 108"/>
          <p:cNvCxnSpPr/>
          <p:nvPr/>
        </p:nvCxnSpPr>
        <p:spPr>
          <a:xfrm>
            <a:off x="3162300" y="24860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3209925" y="24860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1" name="TextBox 110"/>
          <p:cNvSpPr txBox="1"/>
          <p:nvPr/>
        </p:nvSpPr>
        <p:spPr>
          <a:xfrm>
            <a:off x="3400425" y="24860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Geriatric</a:t>
            </a:r>
          </a:p>
        </p:txBody>
      </p:sp>
      <p:sp>
        <p:nvSpPr>
          <p:cNvPr id="112" name="Rectangle 111"/>
          <p:cNvSpPr/>
          <p:nvPr/>
        </p:nvSpPr>
        <p:spPr>
          <a:xfrm>
            <a:off x="6162675" y="1028700"/>
            <a:ext cx="2876550" cy="182308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61626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2388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End User</a:t>
            </a:r>
          </a:p>
        </p:txBody>
      </p:sp>
      <p:sp>
        <p:nvSpPr>
          <p:cNvPr id="115" name="TextBox 114"/>
          <p:cNvSpPr txBox="1"/>
          <p:nvPr/>
        </p:nvSpPr>
        <p:spPr>
          <a:xfrm>
            <a:off x="62198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6" name="TextBox 115"/>
          <p:cNvSpPr txBox="1"/>
          <p:nvPr/>
        </p:nvSpPr>
        <p:spPr>
          <a:xfrm>
            <a:off x="64103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Individual consumers</a:t>
            </a:r>
          </a:p>
        </p:txBody>
      </p:sp>
      <p:cxnSp>
        <p:nvCxnSpPr>
          <p:cNvPr id="117" name="Connector 116"/>
          <p:cNvCxnSpPr/>
          <p:nvPr/>
        </p:nvCxnSpPr>
        <p:spPr>
          <a:xfrm>
            <a:off x="61722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62198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9" name="TextBox 118"/>
          <p:cNvSpPr txBox="1"/>
          <p:nvPr/>
        </p:nvSpPr>
        <p:spPr>
          <a:xfrm>
            <a:off x="64103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Healthcare professionals</a:t>
            </a:r>
          </a:p>
        </p:txBody>
      </p:sp>
      <p:cxnSp>
        <p:nvCxnSpPr>
          <p:cNvPr id="120" name="Connector 119"/>
          <p:cNvCxnSpPr/>
          <p:nvPr/>
        </p:nvCxnSpPr>
        <p:spPr>
          <a:xfrm>
            <a:off x="61722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1" name="TextBox 120"/>
          <p:cNvSpPr txBox="1"/>
          <p:nvPr/>
        </p:nvSpPr>
        <p:spPr>
          <a:xfrm>
            <a:off x="62198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2" name="TextBox 121"/>
          <p:cNvSpPr txBox="1"/>
          <p:nvPr/>
        </p:nvSpPr>
        <p:spPr>
          <a:xfrm>
            <a:off x="64103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ENT specialists</a:t>
            </a:r>
          </a:p>
        </p:txBody>
      </p:sp>
      <p:cxnSp>
        <p:nvCxnSpPr>
          <p:cNvPr id="123" name="Connector 122"/>
          <p:cNvCxnSpPr/>
          <p:nvPr/>
        </p:nvCxnSpPr>
        <p:spPr>
          <a:xfrm>
            <a:off x="61722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62198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5" name="TextBox 124"/>
          <p:cNvSpPr txBox="1"/>
          <p:nvPr/>
        </p:nvSpPr>
        <p:spPr>
          <a:xfrm>
            <a:off x="64103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General practitioners</a:t>
            </a:r>
          </a:p>
        </p:txBody>
      </p:sp>
      <p:cxnSp>
        <p:nvCxnSpPr>
          <p:cNvPr id="126" name="Connector 125"/>
          <p:cNvCxnSpPr/>
          <p:nvPr/>
        </p:nvCxnSpPr>
        <p:spPr>
          <a:xfrm>
            <a:off x="61722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621982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8" name="TextBox 127"/>
          <p:cNvSpPr txBox="1"/>
          <p:nvPr/>
        </p:nvSpPr>
        <p:spPr>
          <a:xfrm>
            <a:off x="6410325" y="19659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Audiologists</a:t>
            </a:r>
          </a:p>
        </p:txBody>
      </p:sp>
      <p:cxnSp>
        <p:nvCxnSpPr>
          <p:cNvPr id="129" name="Connector 128"/>
          <p:cNvCxnSpPr/>
          <p:nvPr/>
        </p:nvCxnSpPr>
        <p:spPr>
          <a:xfrm>
            <a:off x="61722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621982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1" name="TextBox 130"/>
          <p:cNvSpPr txBox="1"/>
          <p:nvPr/>
        </p:nvSpPr>
        <p:spPr>
          <a:xfrm>
            <a:off x="6410325" y="21431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Hospitals and Clinics</a:t>
            </a:r>
          </a:p>
        </p:txBody>
      </p:sp>
      <p:cxnSp>
        <p:nvCxnSpPr>
          <p:cNvPr id="132" name="Connector 131"/>
          <p:cNvCxnSpPr/>
          <p:nvPr/>
        </p:nvCxnSpPr>
        <p:spPr>
          <a:xfrm>
            <a:off x="61722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3" name="TextBox 132"/>
          <p:cNvSpPr txBox="1"/>
          <p:nvPr/>
        </p:nvSpPr>
        <p:spPr>
          <a:xfrm>
            <a:off x="621982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4" name="TextBox 133"/>
          <p:cNvSpPr txBox="1"/>
          <p:nvPr/>
        </p:nvSpPr>
        <p:spPr>
          <a:xfrm>
            <a:off x="6410325" y="232029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Nursing Homes</a:t>
            </a:r>
          </a:p>
        </p:txBody>
      </p:sp>
      <p:cxnSp>
        <p:nvCxnSpPr>
          <p:cNvPr id="135" name="Connector 134"/>
          <p:cNvCxnSpPr/>
          <p:nvPr/>
        </p:nvCxnSpPr>
        <p:spPr>
          <a:xfrm>
            <a:off x="61722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621982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7" name="TextBox 136"/>
          <p:cNvSpPr txBox="1"/>
          <p:nvPr/>
        </p:nvSpPr>
        <p:spPr>
          <a:xfrm>
            <a:off x="6410325" y="249745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Assisted Living Facilities</a:t>
            </a:r>
          </a:p>
        </p:txBody>
      </p:sp>
      <p:cxnSp>
        <p:nvCxnSpPr>
          <p:cNvPr id="138" name="Connector 137"/>
          <p:cNvCxnSpPr/>
          <p:nvPr/>
        </p:nvCxnSpPr>
        <p:spPr>
          <a:xfrm>
            <a:off x="61722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621982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0" name="TextBox 139"/>
          <p:cNvSpPr txBox="1"/>
          <p:nvPr/>
        </p:nvSpPr>
        <p:spPr>
          <a:xfrm>
            <a:off x="6410325" y="267462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Others</a:t>
            </a:r>
          </a:p>
        </p:txBody>
      </p:sp>
      <p:sp>
        <p:nvSpPr>
          <p:cNvPr id="141" name="Rectangle 140"/>
          <p:cNvSpPr/>
          <p:nvPr/>
        </p:nvSpPr>
        <p:spPr>
          <a:xfrm>
            <a:off x="9172575" y="1028700"/>
            <a:ext cx="2876550" cy="12915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91725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2487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Sales Channel</a:t>
            </a:r>
          </a:p>
        </p:txBody>
      </p:sp>
      <p:sp>
        <p:nvSpPr>
          <p:cNvPr id="144" name="TextBox 143"/>
          <p:cNvSpPr txBox="1"/>
          <p:nvPr/>
        </p:nvSpPr>
        <p:spPr>
          <a:xfrm>
            <a:off x="92297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5" name="TextBox 144"/>
          <p:cNvSpPr txBox="1"/>
          <p:nvPr/>
        </p:nvSpPr>
        <p:spPr>
          <a:xfrm>
            <a:off x="94202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Retail Pharmacies and Drug Stores</a:t>
            </a:r>
          </a:p>
        </p:txBody>
      </p:sp>
      <p:cxnSp>
        <p:nvCxnSpPr>
          <p:cNvPr id="146" name="Connector 145"/>
          <p:cNvCxnSpPr/>
          <p:nvPr/>
        </p:nvCxnSpPr>
        <p:spPr>
          <a:xfrm>
            <a:off x="91821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7" name="TextBox 146"/>
          <p:cNvSpPr txBox="1"/>
          <p:nvPr/>
        </p:nvSpPr>
        <p:spPr>
          <a:xfrm>
            <a:off x="92297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8" name="TextBox 147"/>
          <p:cNvSpPr txBox="1"/>
          <p:nvPr/>
        </p:nvSpPr>
        <p:spPr>
          <a:xfrm>
            <a:off x="94202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Supermarkets and Mass Retailers</a:t>
            </a:r>
          </a:p>
        </p:txBody>
      </p:sp>
      <p:cxnSp>
        <p:nvCxnSpPr>
          <p:cNvPr id="149" name="Connector 148"/>
          <p:cNvCxnSpPr/>
          <p:nvPr/>
        </p:nvCxnSpPr>
        <p:spPr>
          <a:xfrm>
            <a:off x="91821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0" name="TextBox 149"/>
          <p:cNvSpPr txBox="1"/>
          <p:nvPr/>
        </p:nvSpPr>
        <p:spPr>
          <a:xfrm>
            <a:off x="92297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1" name="TextBox 150"/>
          <p:cNvSpPr txBox="1"/>
          <p:nvPr/>
        </p:nvSpPr>
        <p:spPr>
          <a:xfrm>
            <a:off x="94202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Online Channels</a:t>
            </a:r>
          </a:p>
        </p:txBody>
      </p:sp>
      <p:cxnSp>
        <p:nvCxnSpPr>
          <p:cNvPr id="152" name="Connector 151"/>
          <p:cNvCxnSpPr/>
          <p:nvPr/>
        </p:nvCxnSpPr>
        <p:spPr>
          <a:xfrm>
            <a:off x="91821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3" name="TextBox 152"/>
          <p:cNvSpPr txBox="1"/>
          <p:nvPr/>
        </p:nvSpPr>
        <p:spPr>
          <a:xfrm>
            <a:off x="92297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4" name="TextBox 153"/>
          <p:cNvSpPr txBox="1"/>
          <p:nvPr/>
        </p:nvSpPr>
        <p:spPr>
          <a:xfrm>
            <a:off x="9420225" y="1788795"/>
            <a:ext cx="259080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Medical Distributors and Institutional Procurement</a:t>
            </a:r>
          </a:p>
        </p:txBody>
      </p:sp>
      <p:cxnSp>
        <p:nvCxnSpPr>
          <p:cNvPr id="155" name="Connector 154"/>
          <p:cNvCxnSpPr/>
          <p:nvPr/>
        </p:nvCxnSpPr>
        <p:spPr>
          <a:xfrm>
            <a:off x="91821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6" name="TextBox 155"/>
          <p:cNvSpPr txBox="1"/>
          <p:nvPr/>
        </p:nvSpPr>
        <p:spPr>
          <a:xfrm>
            <a:off x="922972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7" name="TextBox 156"/>
          <p:cNvSpPr txBox="1"/>
          <p:nvPr/>
        </p:nvSpPr>
        <p:spPr>
          <a:xfrm>
            <a:off x="9420225" y="21431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Offline Channels</a:t>
            </a:r>
          </a:p>
        </p:txBody>
      </p:sp>
      <p:sp>
        <p:nvSpPr>
          <p:cNvPr id="158" name="TextBox 15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Company Coverage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Companies profiled and benchmarked across the competition assessment</a:t>
            </a:r>
          </a:p>
        </p:txBody>
      </p:sp>
      <p:sp>
        <p:nvSpPr>
          <p:cNvPr id="10" name="TextBox 9"/>
          <p:cNvSpPr txBox="1"/>
          <p:nvPr/>
        </p:nvSpPr>
        <p:spPr>
          <a:xfrm>
            <a:off x="142875" y="1007261"/>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Companies covered in this study of the Ear Wax Removal Products Market profiled and benchmarked in the Competition Assessment section.</a:t>
            </a:r>
          </a:p>
        </p:txBody>
      </p:sp>
      <p:sp>
        <p:nvSpPr>
          <p:cNvPr id="11" name="Rectangle 10"/>
          <p:cNvSpPr/>
          <p:nvPr/>
        </p:nvSpPr>
        <p:spPr>
          <a:xfrm>
            <a:off x="142875" y="2084229"/>
            <a:ext cx="5857875" cy="3595978"/>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2875" y="2084229"/>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2875" y="2148117"/>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14" name="TextBox 13"/>
          <p:cNvSpPr txBox="1"/>
          <p:nvPr/>
        </p:nvSpPr>
        <p:spPr>
          <a:xfrm>
            <a:off x="333375" y="235803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5" name="TextBox 14"/>
          <p:cNvSpPr txBox="1"/>
          <p:nvPr/>
        </p:nvSpPr>
        <p:spPr>
          <a:xfrm>
            <a:off x="581025" y="235803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Prestige Consumer Healthcare</a:t>
            </a:r>
          </a:p>
        </p:txBody>
      </p:sp>
      <p:sp>
        <p:nvSpPr>
          <p:cNvPr id="16" name="Rectangle 15"/>
          <p:cNvSpPr/>
          <p:nvPr/>
        </p:nvSpPr>
        <p:spPr>
          <a:xfrm>
            <a:off x="152400" y="2832631"/>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52400" y="283263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33375" y="2832631"/>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9" name="TextBox 18"/>
          <p:cNvSpPr txBox="1"/>
          <p:nvPr/>
        </p:nvSpPr>
        <p:spPr>
          <a:xfrm>
            <a:off x="581025" y="2832631"/>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Diomed Group</a:t>
            </a:r>
          </a:p>
        </p:txBody>
      </p:sp>
      <p:cxnSp>
        <p:nvCxnSpPr>
          <p:cNvPr id="20" name="Connector 19"/>
          <p:cNvCxnSpPr/>
          <p:nvPr/>
        </p:nvCxnSpPr>
        <p:spPr>
          <a:xfrm>
            <a:off x="152400" y="330722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33375" y="330722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2" name="TextBox 21"/>
          <p:cNvSpPr txBox="1"/>
          <p:nvPr/>
        </p:nvSpPr>
        <p:spPr>
          <a:xfrm>
            <a:off x="581025" y="330722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NeilMed Pharmaceuticals</a:t>
            </a:r>
          </a:p>
        </p:txBody>
      </p:sp>
      <p:sp>
        <p:nvSpPr>
          <p:cNvPr id="23" name="Rectangle 22"/>
          <p:cNvSpPr/>
          <p:nvPr/>
        </p:nvSpPr>
        <p:spPr>
          <a:xfrm>
            <a:off x="152400" y="3781823"/>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152400" y="378182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33375" y="3781823"/>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6" name="TextBox 25"/>
          <p:cNvSpPr txBox="1"/>
          <p:nvPr/>
        </p:nvSpPr>
        <p:spPr>
          <a:xfrm>
            <a:off x="581025" y="3781823"/>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Quest Products</a:t>
            </a:r>
          </a:p>
        </p:txBody>
      </p:sp>
      <p:cxnSp>
        <p:nvCxnSpPr>
          <p:cNvPr id="27" name="Connector 26"/>
          <p:cNvCxnSpPr/>
          <p:nvPr/>
        </p:nvCxnSpPr>
        <p:spPr>
          <a:xfrm>
            <a:off x="152400" y="425641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33375" y="425641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9" name="TextBox 28"/>
          <p:cNvSpPr txBox="1"/>
          <p:nvPr/>
        </p:nvSpPr>
        <p:spPr>
          <a:xfrm>
            <a:off x="581025" y="425641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Eosera</a:t>
            </a:r>
          </a:p>
        </p:txBody>
      </p:sp>
      <p:sp>
        <p:nvSpPr>
          <p:cNvPr id="30" name="Rectangle 29"/>
          <p:cNvSpPr/>
          <p:nvPr/>
        </p:nvSpPr>
        <p:spPr>
          <a:xfrm>
            <a:off x="152400" y="4731015"/>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152400" y="473101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33375" y="473101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3" name="TextBox 32"/>
          <p:cNvSpPr txBox="1"/>
          <p:nvPr/>
        </p:nvSpPr>
        <p:spPr>
          <a:xfrm>
            <a:off x="581025" y="473101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Coopération Pharmaceutique Française (Cooper)</a:t>
            </a:r>
          </a:p>
        </p:txBody>
      </p:sp>
      <p:cxnSp>
        <p:nvCxnSpPr>
          <p:cNvPr id="34" name="Connector 33"/>
          <p:cNvCxnSpPr/>
          <p:nvPr/>
        </p:nvCxnSpPr>
        <p:spPr>
          <a:xfrm>
            <a:off x="152400" y="5205612"/>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33375" y="5205612"/>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6" name="TextBox 35"/>
          <p:cNvSpPr txBox="1"/>
          <p:nvPr/>
        </p:nvSpPr>
        <p:spPr>
          <a:xfrm>
            <a:off x="581025" y="5205612"/>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Orion Pharma</a:t>
            </a:r>
          </a:p>
        </p:txBody>
      </p:sp>
      <p:sp>
        <p:nvSpPr>
          <p:cNvPr id="37" name="Rectangle 36"/>
          <p:cNvSpPr/>
          <p:nvPr/>
        </p:nvSpPr>
        <p:spPr>
          <a:xfrm>
            <a:off x="6191250" y="2084229"/>
            <a:ext cx="5857875" cy="3595978"/>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191250" y="2084229"/>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91250" y="2148117"/>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40" name="TextBox 39"/>
          <p:cNvSpPr txBox="1"/>
          <p:nvPr/>
        </p:nvSpPr>
        <p:spPr>
          <a:xfrm>
            <a:off x="6381750" y="235803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1" name="TextBox 40"/>
          <p:cNvSpPr txBox="1"/>
          <p:nvPr/>
        </p:nvSpPr>
        <p:spPr>
          <a:xfrm>
            <a:off x="6629400" y="235803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Farmacia Nordic</a:t>
            </a:r>
          </a:p>
        </p:txBody>
      </p:sp>
      <p:sp>
        <p:nvSpPr>
          <p:cNvPr id="42" name="Rectangle 41"/>
          <p:cNvSpPr/>
          <p:nvPr/>
        </p:nvSpPr>
        <p:spPr>
          <a:xfrm>
            <a:off x="6200775" y="2832631"/>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6200775" y="283263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381750" y="2832631"/>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5" name="TextBox 44"/>
          <p:cNvSpPr txBox="1"/>
          <p:nvPr/>
        </p:nvSpPr>
        <p:spPr>
          <a:xfrm>
            <a:off x="6629400" y="2832631"/>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Key Pharmaceuticals</a:t>
            </a:r>
          </a:p>
        </p:txBody>
      </p:sp>
      <p:cxnSp>
        <p:nvCxnSpPr>
          <p:cNvPr id="46" name="Connector 45"/>
          <p:cNvCxnSpPr/>
          <p:nvPr/>
        </p:nvCxnSpPr>
        <p:spPr>
          <a:xfrm>
            <a:off x="6200775" y="330722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381750" y="330722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8" name="TextBox 47"/>
          <p:cNvSpPr txBox="1"/>
          <p:nvPr/>
        </p:nvSpPr>
        <p:spPr>
          <a:xfrm>
            <a:off x="6629400" y="330722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Lanes Health</a:t>
            </a:r>
          </a:p>
        </p:txBody>
      </p:sp>
      <p:sp>
        <p:nvSpPr>
          <p:cNvPr id="49" name="Rectangle 48"/>
          <p:cNvSpPr/>
          <p:nvPr/>
        </p:nvSpPr>
        <p:spPr>
          <a:xfrm>
            <a:off x="6200775" y="3781823"/>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a:off x="6200775" y="378182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381750" y="3781823"/>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2" name="TextBox 51"/>
          <p:cNvSpPr txBox="1"/>
          <p:nvPr/>
        </p:nvSpPr>
        <p:spPr>
          <a:xfrm>
            <a:off x="6629400" y="3781823"/>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NuLife Pharmaceuticals</a:t>
            </a:r>
          </a:p>
        </p:txBody>
      </p:sp>
      <p:cxnSp>
        <p:nvCxnSpPr>
          <p:cNvPr id="53" name="Connector 52"/>
          <p:cNvCxnSpPr/>
          <p:nvPr/>
        </p:nvCxnSpPr>
        <p:spPr>
          <a:xfrm>
            <a:off x="6200775" y="425641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381750" y="425641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5" name="TextBox 54"/>
          <p:cNvSpPr txBox="1"/>
          <p:nvPr/>
        </p:nvSpPr>
        <p:spPr>
          <a:xfrm>
            <a:off x="6629400" y="425641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Arrotex Pharmaceuticals</a:t>
            </a:r>
          </a:p>
        </p:txBody>
      </p:sp>
      <p:sp>
        <p:nvSpPr>
          <p:cNvPr id="56" name="Rectangle 55"/>
          <p:cNvSpPr/>
          <p:nvPr/>
        </p:nvSpPr>
        <p:spPr>
          <a:xfrm>
            <a:off x="6200775" y="4731015"/>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6200775" y="473101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381750" y="473101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9" name="TextBox 58"/>
          <p:cNvSpPr txBox="1"/>
          <p:nvPr/>
        </p:nvSpPr>
        <p:spPr>
          <a:xfrm>
            <a:off x="6629400" y="473101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Bionix</a:t>
            </a:r>
          </a:p>
        </p:txBody>
      </p:sp>
      <p:cxnSp>
        <p:nvCxnSpPr>
          <p:cNvPr id="60" name="Connector 59"/>
          <p:cNvCxnSpPr/>
          <p:nvPr/>
        </p:nvCxnSpPr>
        <p:spPr>
          <a:xfrm>
            <a:off x="6200775" y="5205612"/>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381750" y="5205612"/>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2" name="TextBox 61"/>
          <p:cNvSpPr txBox="1"/>
          <p:nvPr/>
        </p:nvSpPr>
        <p:spPr>
          <a:xfrm>
            <a:off x="6629400" y="5205612"/>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Bebird</a:t>
            </a:r>
          </a:p>
        </p:txBody>
      </p:sp>
      <p:sp>
        <p:nvSpPr>
          <p:cNvPr id="63" name="TextBox 62"/>
          <p:cNvSpPr txBox="1"/>
          <p:nvPr/>
        </p:nvSpPr>
        <p:spPr>
          <a:xfrm>
            <a:off x="142875" y="6337341"/>
            <a:ext cx="11906250" cy="182537"/>
          </a:xfrm>
          <a:prstGeom prst="rect">
            <a:avLst/>
          </a:prstGeom>
          <a:noFill/>
        </p:spPr>
        <p:txBody>
          <a:bodyPr wrap="square" lIns="28575" rIns="28575" tIns="9525" bIns="9525" anchor="ctr">
            <a:spAutoFit/>
          </a:bodyPr>
          <a:lstStyle/>
          <a:p>
            <a:pPr algn="l"/>
            <a:r>
              <a:rPr sz="1100" b="1">
                <a:solidFill>
                  <a:srgbClr val="B06A2C"/>
                </a:solidFill>
                <a:latin typeface="Calibri"/>
              </a:rPr>
              <a:t>Note: the list of companies is indicative and can be customised on request.</a:t>
            </a:r>
          </a:p>
        </p:txBody>
      </p:sp>
      <p:sp>
        <p:nvSpPr>
          <p:cNvPr id="64" name="TextBox 6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3292475"/>
            <a:ext cx="8572500" cy="514350"/>
          </a:xfrm>
          <a:prstGeom prst="rect">
            <a:avLst/>
          </a:prstGeom>
          <a:noFill/>
        </p:spPr>
        <p:txBody>
          <a:bodyPr wrap="square" lIns="0" rIns="0" tIns="0">
            <a:spAutoFit/>
          </a:bodyPr>
          <a:lstStyle/>
          <a:p>
            <a:r>
              <a:rPr sz="3000" b="1">
                <a:solidFill>
                  <a:srgbClr val="0B3C8C"/>
                </a:solidFill>
                <a:latin typeface="Calibri"/>
              </a:rPr>
              <a:t>List of Figures, List of Tables</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figure in the full study, by analysis block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table in the full study, by analysis block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(1/4)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 Global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2: Global Market Value Snapshot,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3: Global Market Taxonomy by Segment, 2026</a:t>
                      </a:r>
                      <a:endParaRPr sz="1050"/>
                    </a:p>
                  </a:txBody>
                  <a:tcPr marL="9525" marR="9525" marT="9525" marB="0" anchor="ctr"/>
                </a:tc>
              </a:tr>
              <a:tr h="169606">
                <a:tc>
                  <a:txBody>
                    <a:bodyPr wrap="square"/>
                    <a:lstStyle/>
                    <a:p>
                      <a:pPr algn="l"/>
                      <a:r>
                        <a:rPr sz="1050" b="0" i="0">
                          <a:solidFill>
                            <a:srgbClr val="000000"/>
                          </a:solidFill>
                          <a:latin typeface="Calibri"/>
                        </a:rPr>
                        <a:t>Figure 4: Global Market Share by Product Type, %, 2026</a:t>
                      </a:r>
                      <a:endParaRPr sz="1050"/>
                    </a:p>
                  </a:txBody>
                  <a:tcPr marL="9525" marR="9525" marT="9525" marB="0" anchor="ctr"/>
                </a:tc>
              </a:tr>
              <a:tr h="169606">
                <a:tc>
                  <a:txBody>
                    <a:bodyPr wrap="square"/>
                    <a:lstStyle/>
                    <a:p>
                      <a:pPr algn="l"/>
                      <a:r>
                        <a:rPr sz="1050" b="0" i="0">
                          <a:solidFill>
                            <a:srgbClr val="000000"/>
                          </a:solidFill>
                          <a:latin typeface="Calibri"/>
                        </a:rPr>
                        <a:t>Figure 5: Global Market Share by End User, %, 2026</a:t>
                      </a:r>
                      <a:endParaRPr sz="1050"/>
                    </a:p>
                  </a:txBody>
                  <a:tcPr marL="9525" marR="9525" marT="9525" marB="0" anchor="ctr"/>
                </a:tc>
              </a:tr>
              <a:tr h="169606">
                <a:tc>
                  <a:txBody>
                    <a:bodyPr wrap="square"/>
                    <a:lstStyle/>
                    <a:p>
                      <a:pPr algn="l"/>
                      <a:r>
                        <a:rPr sz="1050" b="0" i="0">
                          <a:solidFill>
                            <a:srgbClr val="000000"/>
                          </a:solidFill>
                          <a:latin typeface="Calibri"/>
                        </a:rPr>
                        <a:t>Figure 6: Global Market Share by Sales Channel, %, 2026</a:t>
                      </a:r>
                      <a:endParaRPr sz="1050"/>
                    </a:p>
                  </a:txBody>
                  <a:tcPr marL="9525" marR="9525" marT="9525" marB="0" anchor="ctr"/>
                </a:tc>
              </a:tr>
              <a:tr h="169606">
                <a:tc>
                  <a:txBody>
                    <a:bodyPr wrap="square"/>
                    <a:lstStyle/>
                    <a:p>
                      <a:pPr algn="l"/>
                      <a:r>
                        <a:rPr sz="1050" b="0" i="0">
                          <a:solidFill>
                            <a:srgbClr val="000000"/>
                          </a:solidFill>
                          <a:latin typeface="Calibri"/>
                        </a:rPr>
                        <a:t>Figure 7: Global Market Share by Age Group, %, 2026</a:t>
                      </a:r>
                      <a:endParaRPr sz="1050"/>
                    </a:p>
                  </a:txBody>
                  <a:tcPr marL="9525" marR="9525" marT="9525" marB="0" anchor="ctr"/>
                </a:tc>
              </a:tr>
              <a:tr h="169606">
                <a:tc>
                  <a:txBody>
                    <a:bodyPr wrap="square"/>
                    <a:lstStyle/>
                    <a:p>
                      <a:pPr algn="l"/>
                      <a:r>
                        <a:rPr sz="1050" b="0" i="0">
                          <a:solidFill>
                            <a:srgbClr val="000000"/>
                          </a:solidFill>
                          <a:latin typeface="Calibri"/>
                        </a:rPr>
                        <a:t>Figure 8: Global Market Share by Region, %, 2026</a:t>
                      </a:r>
                      <a:endParaRPr sz="1050"/>
                    </a:p>
                  </a:txBody>
                  <a:tcPr marL="9525" marR="9525" marT="9525" marB="0" anchor="ctr"/>
                </a:tc>
              </a:tr>
              <a:tr h="169606">
                <a:tc>
                  <a:txBody>
                    <a:bodyPr wrap="square"/>
                    <a:lstStyle/>
                    <a:p>
                      <a:pPr algn="l"/>
                      <a:r>
                        <a:rPr sz="1050" b="0" i="0">
                          <a:solidFill>
                            <a:srgbClr val="000000"/>
                          </a:solidFill>
                          <a:latin typeface="Calibri"/>
                        </a:rPr>
                        <a:t>Figure 9: Global Market Incremental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10: Global Market Key Demand Drivers Impact Assessment, 2026–2036</a:t>
                      </a:r>
                      <a:endParaRPr sz="1050"/>
                    </a:p>
                  </a:txBody>
                  <a:tcPr marL="9525" marR="9525" marT="9525" marB="0" anchor="ctr"/>
                </a:tc>
              </a:tr>
              <a:tr h="169606">
                <a:tc>
                  <a:txBody>
                    <a:bodyPr wrap="square"/>
                    <a:lstStyle/>
                    <a:p>
                      <a:pPr algn="l"/>
                      <a:r>
                        <a:rPr sz="1050" b="0" i="0">
                          <a:solidFill>
                            <a:srgbClr val="000000"/>
                          </a:solidFill>
                          <a:latin typeface="Calibri"/>
                        </a:rPr>
                        <a:t>Figure 11: Global Market Historical Value, US$ Mn, 2021–2025</a:t>
                      </a:r>
                      <a:endParaRPr sz="1050"/>
                    </a:p>
                  </a:txBody>
                  <a:tcPr marL="9525" marR="9525" marT="9525" marB="0" anchor="ctr"/>
                </a:tc>
              </a:tr>
              <a:tr h="169606">
                <a:tc>
                  <a:txBody>
                    <a:bodyPr wrap="square"/>
                    <a:lstStyle/>
                    <a:p>
                      <a:pPr algn="l"/>
                      <a:r>
                        <a:rPr sz="1050" b="0" i="0">
                          <a:solidFill>
                            <a:srgbClr val="000000"/>
                          </a:solidFill>
                          <a:latin typeface="Calibri"/>
                        </a:rPr>
                        <a:t>Figure 12: Global Market Forecast Value, US$ Mn, 2026–2036</a:t>
                      </a:r>
                      <a:endParaRPr sz="1050"/>
                    </a:p>
                  </a:txBody>
                  <a:tcPr marL="9525" marR="9525" marT="9525" marB="0" anchor="ctr"/>
                </a:tc>
              </a:tr>
              <a:tr h="169606">
                <a:tc>
                  <a:txBody>
                    <a:bodyPr wrap="square"/>
                    <a:lstStyle/>
                    <a:p>
                      <a:pPr algn="l"/>
                      <a:r>
                        <a:rPr sz="1050" b="0" i="0">
                          <a:solidFill>
                            <a:srgbClr val="000000"/>
                          </a:solidFill>
                          <a:latin typeface="Calibri"/>
                        </a:rPr>
                        <a:t>Figure 13: Global Market YoY Growth, %, 2021–2036</a:t>
                      </a:r>
                      <a:endParaRPr sz="1050"/>
                    </a:p>
                  </a:txBody>
                  <a:tcPr marL="9525" marR="9525" marT="9525" marB="0" anchor="ctr"/>
                </a:tc>
              </a:tr>
              <a:tr h="169606">
                <a:tc>
                  <a:txBody>
                    <a:bodyPr wrap="square"/>
                    <a:lstStyle/>
                    <a:p>
                      <a:pPr algn="l"/>
                      <a:r>
                        <a:rPr sz="1050" b="0" i="0">
                          <a:solidFill>
                            <a:srgbClr val="000000"/>
                          </a:solidFill>
                          <a:latin typeface="Calibri"/>
                        </a:rPr>
                        <a:t>Figure 14: Global Market Volume and YoY Growth, Mn Units and %, 2021–2036</a:t>
                      </a:r>
                      <a:endParaRPr sz="1050"/>
                    </a:p>
                  </a:txBody>
                  <a:tcPr marL="9525" marR="9525" marT="9525" marB="0" anchor="ctr"/>
                </a:tc>
              </a:tr>
              <a:tr h="169606">
                <a:tc>
                  <a:txBody>
                    <a:bodyPr wrap="square"/>
                    <a:lstStyle/>
                    <a:p>
                      <a:pPr algn="l"/>
                      <a:r>
                        <a:rPr sz="1050" b="0" i="0">
                          <a:solidFill>
                            <a:srgbClr val="000000"/>
                          </a:solidFill>
                          <a:latin typeface="Calibri"/>
                        </a:rPr>
                        <a:t>Figure 15: Global Market Volume vs Value CAGR Comparison, %, 2026–2036</a:t>
                      </a:r>
                      <a:endParaRPr sz="1050"/>
                    </a:p>
                  </a:txBody>
                  <a:tcPr marL="9525" marR="9525" marT="9525" marB="0" anchor="ctr"/>
                </a:tc>
              </a:tr>
              <a:tr h="169606">
                <a:tc>
                  <a:txBody>
                    <a:bodyPr wrap="square"/>
                    <a:lstStyle/>
                    <a:p>
                      <a:pPr algn="l"/>
                      <a:r>
                        <a:rPr sz="1050" b="0" i="0">
                          <a:solidFill>
                            <a:srgbClr val="000000"/>
                          </a:solidFill>
                          <a:latin typeface="Calibri"/>
                        </a:rPr>
                        <a:t>Figure 16: Global Market Average Selling Price, US$/Units, 2021–2036</a:t>
                      </a:r>
                      <a:endParaRPr sz="1050"/>
                    </a:p>
                  </a:txBody>
                  <a:tcPr marL="9525" marR="9525" marT="9525" marB="0" anchor="ctr"/>
                </a:tc>
              </a:tr>
              <a:tr h="169606">
                <a:tc>
                  <a:txBody>
                    <a:bodyPr wrap="square"/>
                    <a:lstStyle/>
                    <a:p>
                      <a:pPr algn="l"/>
                      <a:r>
                        <a:rPr sz="1050" b="0" i="0">
                          <a:solidFill>
                            <a:srgbClr val="000000"/>
                          </a:solidFill>
                          <a:latin typeface="Calibri"/>
                        </a:rPr>
                        <a:t>Figure 17: Global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18: Global Market Incremental Opportunity by Year, US$ Mn, 2026–2036</a:t>
                      </a:r>
                      <a:endParaRPr sz="1050"/>
                    </a:p>
                  </a:txBody>
                  <a:tcPr marL="9525" marR="9525" marT="9525" marB="0" anchor="ctr"/>
                </a:tc>
              </a:tr>
              <a:tr h="169606">
                <a:tc>
                  <a:txBody>
                    <a:bodyPr wrap="square"/>
                    <a:lstStyle/>
                    <a:p>
                      <a:pPr algn="l"/>
                      <a:r>
                        <a:rPr sz="1050" b="0" i="0">
                          <a:solidFill>
                            <a:srgbClr val="000000"/>
                          </a:solidFill>
                          <a:latin typeface="Calibri"/>
                        </a:rPr>
                        <a:t>Figure 19: Global Market Historical vs Forecast CAGR, %, 2021–2036</a:t>
                      </a:r>
                      <a:endParaRPr sz="1050"/>
                    </a:p>
                  </a:txBody>
                  <a:tcPr marL="9525" marR="9525" marT="9525" marB="0" anchor="ctr"/>
                </a:tc>
              </a:tr>
              <a:tr h="169606">
                <a:tc>
                  <a:txBody>
                    <a:bodyPr wrap="square"/>
                    <a:lstStyle/>
                    <a:p>
                      <a:pPr algn="l"/>
                      <a:r>
                        <a:rPr sz="1050" b="0" i="0">
                          <a:solidFill>
                            <a:srgbClr val="000000"/>
                          </a:solidFill>
                          <a:latin typeface="Calibri"/>
                        </a:rPr>
                        <a:t>Figure 20: Global Market Value by Scenario (Optimistic, Likely, Pessimistic), US$ Mn, 2026–2036</a:t>
                      </a:r>
                      <a:endParaRPr sz="1050"/>
                    </a:p>
                  </a:txBody>
                  <a:tcPr marL="9525" marR="9525" marT="9525" marB="0" anchor="ctr"/>
                </a:tc>
              </a:tr>
              <a:tr h="169606">
                <a:tc>
                  <a:txBody>
                    <a:bodyPr wrap="square"/>
                    <a:lstStyle/>
                    <a:p>
                      <a:pPr algn="l"/>
                      <a:r>
                        <a:rPr sz="1050" b="0" i="0">
                          <a:solidFill>
                            <a:srgbClr val="000000"/>
                          </a:solidFill>
                          <a:latin typeface="Calibri"/>
                        </a:rPr>
                        <a:t>Figure 21: Global Market Size Evolution Index, 2025=100, 2021–2036</a:t>
                      </a:r>
                      <a:endParaRPr sz="1050"/>
                    </a:p>
                  </a:txBody>
                  <a:tcPr marL="9525" marR="9525" marT="9525" marB="0" anchor="ctr"/>
                </a:tc>
              </a:tr>
              <a:tr h="169606">
                <a:tc>
                  <a:txBody>
                    <a:bodyPr wrap="square"/>
                    <a:lstStyle/>
                    <a:p>
                      <a:pPr algn="l"/>
                      <a:r>
                        <a:rPr sz="1050" b="0" i="0">
                          <a:solidFill>
                            <a:srgbClr val="000000"/>
                          </a:solidFill>
                          <a:latin typeface="Calibri"/>
                        </a:rPr>
                        <a:t>Figure 22: Global Market Cumulative Value Addition, US$ Mn, 2026–2036</a:t>
                      </a:r>
                      <a:endParaRPr sz="1050"/>
                    </a:p>
                  </a:txBody>
                  <a:tcPr marL="9525" marR="9525" marT="9525" marB="0" anchor="ctr"/>
                </a:tc>
              </a:tr>
              <a:tr h="169606">
                <a:tc>
                  <a:txBody>
                    <a:bodyPr wrap="square"/>
                    <a:lstStyle/>
                    <a:p>
                      <a:pPr algn="l"/>
                      <a:r>
                        <a:rPr sz="1050" b="0" i="0">
                          <a:solidFill>
                            <a:srgbClr val="000000"/>
                          </a:solidFill>
                          <a:latin typeface="Calibri"/>
                        </a:rPr>
                        <a:t>Figure 23: Global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Figure 24: Global Market Value by End User, US$ Mn, 2021–2036</a:t>
                      </a:r>
                      <a:endParaRPr sz="1050"/>
                    </a:p>
                  </a:txBody>
                  <a:tcPr marL="9525" marR="9525" marT="9525" marB="0" anchor="ctr"/>
                </a:tc>
              </a:tr>
              <a:tr h="169606">
                <a:tc>
                  <a:txBody>
                    <a:bodyPr wrap="square"/>
                    <a:lstStyle/>
                    <a:p>
                      <a:pPr algn="l"/>
                      <a:r>
                        <a:rPr sz="1050" b="0" i="0">
                          <a:solidFill>
                            <a:srgbClr val="000000"/>
                          </a:solidFill>
                          <a:latin typeface="Calibri"/>
                        </a:rPr>
                        <a:t>Figure 25: Global Market Value by Sales Channel, US$ Mn, 2021–2036</a:t>
                      </a:r>
                      <a:endParaRPr sz="1050"/>
                    </a:p>
                  </a:txBody>
                  <a:tcPr marL="9525" marR="9525" marT="9525" marB="0" anchor="ctr"/>
                </a:tc>
              </a:tr>
              <a:tr h="169606">
                <a:tc>
                  <a:txBody>
                    <a:bodyPr wrap="square"/>
                    <a:lstStyle/>
                    <a:p>
                      <a:pPr algn="l"/>
                      <a:r>
                        <a:rPr sz="1050" b="0" i="0">
                          <a:solidFill>
                            <a:srgbClr val="000000"/>
                          </a:solidFill>
                          <a:latin typeface="Calibri"/>
                        </a:rPr>
                        <a:t>Figure 26: Global Market Value by Age Group, US$ Mn, 2021–2036</a:t>
                      </a:r>
                      <a:endParaRPr sz="1050"/>
                    </a:p>
                  </a:txBody>
                  <a:tcPr marL="9525" marR="9525" marT="9525" marB="0" anchor="ctr"/>
                </a:tc>
              </a:tr>
              <a:tr h="169606">
                <a:tc>
                  <a:txBody>
                    <a:bodyPr wrap="square"/>
                    <a:lstStyle/>
                    <a:p>
                      <a:pPr algn="l"/>
                      <a:r>
                        <a:rPr sz="1050" b="0" i="0">
                          <a:solidFill>
                            <a:srgbClr val="000000"/>
                          </a:solidFill>
                          <a:latin typeface="Calibri"/>
                        </a:rPr>
                        <a:t>Figure 27: Global Market Share by Product Type, %, 2026 and 2036</a:t>
                      </a:r>
                      <a:endParaRPr sz="1050"/>
                    </a:p>
                  </a:txBody>
                  <a:tcPr marL="9525" marR="9525" marT="9525" marB="0" anchor="ctr"/>
                </a:tc>
              </a:tr>
              <a:tr h="169606">
                <a:tc>
                  <a:txBody>
                    <a:bodyPr wrap="square"/>
                    <a:lstStyle/>
                    <a:p>
                      <a:pPr algn="l"/>
                      <a:r>
                        <a:rPr sz="1050" b="0" i="0">
                          <a:solidFill>
                            <a:srgbClr val="000000"/>
                          </a:solidFill>
                          <a:latin typeface="Calibri"/>
                        </a:rPr>
                        <a:t>Figure 28: Global Market Share by End User, %, 2026 and 2036</a:t>
                      </a:r>
                      <a:endParaRPr sz="1050"/>
                    </a:p>
                  </a:txBody>
                  <a:tcPr marL="9525" marR="9525" marT="9525" marB="0" anchor="ctr"/>
                </a:tc>
              </a:tr>
              <a:tr h="169606">
                <a:tc>
                  <a:txBody>
                    <a:bodyPr wrap="square"/>
                    <a:lstStyle/>
                    <a:p>
                      <a:pPr algn="l"/>
                      <a:r>
                        <a:rPr sz="1050" b="0" i="0">
                          <a:solidFill>
                            <a:srgbClr val="000000"/>
                          </a:solidFill>
                          <a:latin typeface="Calibri"/>
                        </a:rPr>
                        <a:t>Figure 29: Global Market Share by Sales Channel, %, 2026 and 2036</a:t>
                      </a:r>
                      <a:endParaRPr sz="1050"/>
                    </a:p>
                  </a:txBody>
                  <a:tcPr marL="9525" marR="9525" marT="9525" marB="0" anchor="ctr"/>
                </a:tc>
              </a:tr>
              <a:tr h="169606">
                <a:tc>
                  <a:txBody>
                    <a:bodyPr wrap="square"/>
                    <a:lstStyle/>
                    <a:p>
                      <a:pPr algn="l"/>
                      <a:r>
                        <a:rPr sz="1050" b="0" i="0">
                          <a:solidFill>
                            <a:srgbClr val="000000"/>
                          </a:solidFill>
                          <a:latin typeface="Calibri"/>
                        </a:rPr>
                        <a:t>Figure 30: Global Market Share by Age Group, %, 2026 and 2036</a:t>
                      </a:r>
                      <a:endParaRPr sz="1050"/>
                    </a:p>
                  </a:txBody>
                  <a:tcPr marL="9525" marR="9525" marT="9525" marB="0" anchor="ctr"/>
                </a:tc>
              </a:tr>
              <a:tr h="169606">
                <a:tc>
                  <a:txBody>
                    <a:bodyPr wrap="square"/>
                    <a:lstStyle/>
                    <a:p>
                      <a:pPr algn="l"/>
                      <a:r>
                        <a:rPr sz="1050" b="0" i="0">
                          <a:solidFill>
                            <a:srgbClr val="000000"/>
                          </a:solidFill>
                          <a:latin typeface="Calibri"/>
                        </a:rPr>
                        <a:t>Figure 31: Global Market Absolute $ Opportunity by Product Type, US$ Mn,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93"/>
        </p:xfrm>
        <a:graphic>
          <a:graphicData uri="http://schemas.openxmlformats.org/drawingml/2006/table">
            <a:tbl>
              <a:tblPr>
                <a:tableStyleId>{3B4B98B0-60AC-42C2-AFA5-B58CD77FA1E5}</a:tableStyleId>
              </a:tblPr>
              <a:tblGrid>
                <a:gridCol w="5876925"/>
              </a:tblGrid>
              <a:tr h="170045">
                <a:tc>
                  <a:txBody>
                    <a:bodyPr wrap="square"/>
                    <a:lstStyle/>
                    <a:p>
                      <a:pPr algn="l"/>
                      <a:r>
                        <a:rPr sz="1050" b="0" i="0">
                          <a:solidFill>
                            <a:srgbClr val="000000"/>
                          </a:solidFill>
                          <a:latin typeface="Calibri"/>
                        </a:rPr>
                        <a:t>Figure 32: Global Market Absolute $ Opportunity by End User, US$ Mn, 2026–2036</a:t>
                      </a:r>
                      <a:endParaRPr sz="1050"/>
                    </a:p>
                  </a:txBody>
                  <a:tcPr marL="9525" marR="9525" marT="9525" marB="0" anchor="ctr"/>
                </a:tc>
              </a:tr>
              <a:tr h="170045">
                <a:tc>
                  <a:txBody>
                    <a:bodyPr wrap="square"/>
                    <a:lstStyle/>
                    <a:p>
                      <a:pPr algn="l"/>
                      <a:r>
                        <a:rPr sz="1050" b="0" i="0">
                          <a:solidFill>
                            <a:srgbClr val="000000"/>
                          </a:solidFill>
                          <a:latin typeface="Calibri"/>
                        </a:rPr>
                        <a:t>Figure 33: Global Market Absolute $ Opportunity by Sales Channel, US$ Mn, 2026–2036</a:t>
                      </a:r>
                      <a:endParaRPr sz="1050"/>
                    </a:p>
                  </a:txBody>
                  <a:tcPr marL="9525" marR="9525" marT="9525" marB="0" anchor="ctr"/>
                </a:tc>
              </a:tr>
              <a:tr h="170045">
                <a:tc>
                  <a:txBody>
                    <a:bodyPr wrap="square"/>
                    <a:lstStyle/>
                    <a:p>
                      <a:pPr algn="l"/>
                      <a:r>
                        <a:rPr sz="1050" b="0" i="0">
                          <a:solidFill>
                            <a:srgbClr val="000000"/>
                          </a:solidFill>
                          <a:latin typeface="Calibri"/>
                        </a:rPr>
                        <a:t>Figure 34: Global Market Absolute $ Opportunity by Age Group, US$ Mn, 2026–2036</a:t>
                      </a:r>
                      <a:endParaRPr sz="1050"/>
                    </a:p>
                  </a:txBody>
                  <a:tcPr marL="9525" marR="9525" marT="9525" marB="0" anchor="ctr"/>
                </a:tc>
              </a:tr>
              <a:tr h="170045">
                <a:tc>
                  <a:txBody>
                    <a:bodyPr wrap="square"/>
                    <a:lstStyle/>
                    <a:p>
                      <a:pPr algn="l"/>
                      <a:r>
                        <a:rPr sz="1050" b="0" i="0">
                          <a:solidFill>
                            <a:srgbClr val="000000"/>
                          </a:solidFill>
                          <a:latin typeface="Calibri"/>
                        </a:rPr>
                        <a:t>Figure 35: Global Market BPS Share Change by Product Type, 2026–2036</a:t>
                      </a:r>
                      <a:endParaRPr sz="1050"/>
                    </a:p>
                  </a:txBody>
                  <a:tcPr marL="9525" marR="9525" marT="9525" marB="0" anchor="ctr"/>
                </a:tc>
              </a:tr>
              <a:tr h="170045">
                <a:tc>
                  <a:txBody>
                    <a:bodyPr wrap="square"/>
                    <a:lstStyle/>
                    <a:p>
                      <a:pPr algn="l"/>
                      <a:r>
                        <a:rPr sz="1050" b="0" i="0">
                          <a:solidFill>
                            <a:srgbClr val="000000"/>
                          </a:solidFill>
                          <a:latin typeface="Calibri"/>
                        </a:rPr>
                        <a:t>Figure 36: Global Market BPS Share Change by End User, 2026–2036</a:t>
                      </a:r>
                      <a:endParaRPr sz="1050"/>
                    </a:p>
                  </a:txBody>
                  <a:tcPr marL="9525" marR="9525" marT="9525" marB="0" anchor="ctr"/>
                </a:tc>
              </a:tr>
              <a:tr h="170045">
                <a:tc>
                  <a:txBody>
                    <a:bodyPr wrap="square"/>
                    <a:lstStyle/>
                    <a:p>
                      <a:pPr algn="l"/>
                      <a:r>
                        <a:rPr sz="1050" b="0" i="0">
                          <a:solidFill>
                            <a:srgbClr val="000000"/>
                          </a:solidFill>
                          <a:latin typeface="Calibri"/>
                        </a:rPr>
                        <a:t>Figure 37: Global Market BPS Share Change by Sales Channel, 2026–2036</a:t>
                      </a:r>
                      <a:endParaRPr sz="1050"/>
                    </a:p>
                  </a:txBody>
                  <a:tcPr marL="9525" marR="9525" marT="9525" marB="0" anchor="ctr"/>
                </a:tc>
              </a:tr>
              <a:tr h="170045">
                <a:tc>
                  <a:txBody>
                    <a:bodyPr wrap="square"/>
                    <a:lstStyle/>
                    <a:p>
                      <a:pPr algn="l"/>
                      <a:r>
                        <a:rPr sz="1050" b="0" i="0">
                          <a:solidFill>
                            <a:srgbClr val="000000"/>
                          </a:solidFill>
                          <a:latin typeface="Calibri"/>
                        </a:rPr>
                        <a:t>Figure 38: Global Market BPS Share Change by Age Group, 2026–2036</a:t>
                      </a:r>
                      <a:endParaRPr sz="1050"/>
                    </a:p>
                  </a:txBody>
                  <a:tcPr marL="9525" marR="9525" marT="9525" marB="0" anchor="ctr"/>
                </a:tc>
              </a:tr>
              <a:tr h="170045">
                <a:tc>
                  <a:txBody>
                    <a:bodyPr wrap="square"/>
                    <a:lstStyle/>
                    <a:p>
                      <a:pPr algn="l"/>
                      <a:r>
                        <a:rPr sz="1050" b="0" i="0">
                          <a:solidFill>
                            <a:srgbClr val="000000"/>
                          </a:solidFill>
                          <a:latin typeface="Calibri"/>
                        </a:rPr>
                        <a:t>Figure 39: Global Market YoY Growth by Product Type, %, 2026–2036</a:t>
                      </a:r>
                      <a:endParaRPr sz="1050"/>
                    </a:p>
                  </a:txBody>
                  <a:tcPr marL="9525" marR="9525" marT="9525" marB="0" anchor="ctr"/>
                </a:tc>
              </a:tr>
              <a:tr h="170045">
                <a:tc>
                  <a:txBody>
                    <a:bodyPr wrap="square"/>
                    <a:lstStyle/>
                    <a:p>
                      <a:pPr algn="l"/>
                      <a:r>
                        <a:rPr sz="1050" b="0" i="0">
                          <a:solidFill>
                            <a:srgbClr val="000000"/>
                          </a:solidFill>
                          <a:latin typeface="Calibri"/>
                        </a:rPr>
                        <a:t>Figure 40: Global Market YoY Growth by End User, %, 2026–2036</a:t>
                      </a:r>
                      <a:endParaRPr sz="1050"/>
                    </a:p>
                  </a:txBody>
                  <a:tcPr marL="9525" marR="9525" marT="9525" marB="0" anchor="ctr"/>
                </a:tc>
              </a:tr>
              <a:tr h="170045">
                <a:tc>
                  <a:txBody>
                    <a:bodyPr wrap="square"/>
                    <a:lstStyle/>
                    <a:p>
                      <a:pPr algn="l"/>
                      <a:r>
                        <a:rPr sz="1050" b="0" i="0">
                          <a:solidFill>
                            <a:srgbClr val="000000"/>
                          </a:solidFill>
                          <a:latin typeface="Calibri"/>
                        </a:rPr>
                        <a:t>Figure 41: Global Market YoY Growth by Sales Channel, %, 2026–2036</a:t>
                      </a:r>
                      <a:endParaRPr sz="1050"/>
                    </a:p>
                  </a:txBody>
                  <a:tcPr marL="9525" marR="9525" marT="9525" marB="0" anchor="ctr"/>
                </a:tc>
              </a:tr>
              <a:tr h="170045">
                <a:tc>
                  <a:txBody>
                    <a:bodyPr wrap="square"/>
                    <a:lstStyle/>
                    <a:p>
                      <a:pPr algn="l"/>
                      <a:r>
                        <a:rPr sz="1050" b="0" i="0">
                          <a:solidFill>
                            <a:srgbClr val="000000"/>
                          </a:solidFill>
                          <a:latin typeface="Calibri"/>
                        </a:rPr>
                        <a:t>Figure 42: Global Market YoY Growth by Age Group, %, 2026–2036</a:t>
                      </a:r>
                      <a:endParaRPr sz="1050"/>
                    </a:p>
                  </a:txBody>
                  <a:tcPr marL="9525" marR="9525" marT="9525" marB="0" anchor="ctr"/>
                </a:tc>
              </a:tr>
              <a:tr h="170045">
                <a:tc>
                  <a:txBody>
                    <a:bodyPr wrap="square"/>
                    <a:lstStyle/>
                    <a:p>
                      <a:pPr algn="l"/>
                      <a:r>
                        <a:rPr sz="1050" b="0" i="0">
                          <a:solidFill>
                            <a:srgbClr val="000000"/>
                          </a:solidFill>
                          <a:latin typeface="Calibri"/>
                        </a:rPr>
                        <a:t>Figure 43: Global Market Attractiveness by Product Type, 2026–2036</a:t>
                      </a:r>
                      <a:endParaRPr sz="1050"/>
                    </a:p>
                  </a:txBody>
                  <a:tcPr marL="9525" marR="9525" marT="9525" marB="0" anchor="ctr"/>
                </a:tc>
              </a:tr>
              <a:tr h="170045">
                <a:tc>
                  <a:txBody>
                    <a:bodyPr wrap="square"/>
                    <a:lstStyle/>
                    <a:p>
                      <a:pPr algn="l"/>
                      <a:r>
                        <a:rPr sz="1050" b="0" i="0">
                          <a:solidFill>
                            <a:srgbClr val="000000"/>
                          </a:solidFill>
                          <a:latin typeface="Calibri"/>
                        </a:rPr>
                        <a:t>Figure 44: Global Market Attractiveness by End User, 2026–2036</a:t>
                      </a:r>
                      <a:endParaRPr sz="1050"/>
                    </a:p>
                  </a:txBody>
                  <a:tcPr marL="9525" marR="9525" marT="9525" marB="0" anchor="ctr"/>
                </a:tc>
              </a:tr>
              <a:tr h="170045">
                <a:tc>
                  <a:txBody>
                    <a:bodyPr wrap="square"/>
                    <a:lstStyle/>
                    <a:p>
                      <a:pPr algn="l"/>
                      <a:r>
                        <a:rPr sz="1050" b="0" i="0">
                          <a:solidFill>
                            <a:srgbClr val="000000"/>
                          </a:solidFill>
                          <a:latin typeface="Calibri"/>
                        </a:rPr>
                        <a:t>Figure 45: Global Market Attractiveness by Sales Channel, 2026–2036</a:t>
                      </a:r>
                      <a:endParaRPr sz="1050"/>
                    </a:p>
                  </a:txBody>
                  <a:tcPr marL="9525" marR="9525" marT="9525" marB="0" anchor="ctr"/>
                </a:tc>
              </a:tr>
              <a:tr h="170045">
                <a:tc>
                  <a:txBody>
                    <a:bodyPr wrap="square"/>
                    <a:lstStyle/>
                    <a:p>
                      <a:pPr algn="l"/>
                      <a:r>
                        <a:rPr sz="1050" b="0" i="0">
                          <a:solidFill>
                            <a:srgbClr val="000000"/>
                          </a:solidFill>
                          <a:latin typeface="Calibri"/>
                        </a:rPr>
                        <a:t>Figure 46: Global Market Attractiveness by Age Group, 2026–2036</a:t>
                      </a:r>
                      <a:endParaRPr sz="1050"/>
                    </a:p>
                  </a:txBody>
                  <a:tcPr marL="9525" marR="9525" marT="9525" marB="0" anchor="ctr"/>
                </a:tc>
              </a:tr>
              <a:tr h="170045">
                <a:tc>
                  <a:txBody>
                    <a:bodyPr wrap="square"/>
                    <a:lstStyle/>
                    <a:p>
                      <a:pPr algn="l"/>
                      <a:r>
                        <a:rPr sz="1050" b="0" i="0">
                          <a:solidFill>
                            <a:srgbClr val="000000"/>
                          </a:solidFill>
                          <a:latin typeface="Calibri"/>
                        </a:rPr>
                        <a:t>Figure 47: Global Market Volume by Product Type, Mn Units, 2021–2036</a:t>
                      </a:r>
                      <a:endParaRPr sz="1050"/>
                    </a:p>
                  </a:txBody>
                  <a:tcPr marL="9525" marR="9525" marT="9525" marB="0" anchor="ctr"/>
                </a:tc>
              </a:tr>
              <a:tr h="170045">
                <a:tc>
                  <a:txBody>
                    <a:bodyPr wrap="square"/>
                    <a:lstStyle/>
                    <a:p>
                      <a:pPr algn="l"/>
                      <a:r>
                        <a:rPr sz="1050" b="0" i="0">
                          <a:solidFill>
                            <a:srgbClr val="000000"/>
                          </a:solidFill>
                          <a:latin typeface="Calibri"/>
                        </a:rPr>
                        <a:t>Figure 48: Global Market Volume by End User, Mn Units, 2021–2036</a:t>
                      </a:r>
                      <a:endParaRPr sz="1050"/>
                    </a:p>
                  </a:txBody>
                  <a:tcPr marL="9525" marR="9525" marT="9525" marB="0" anchor="ctr"/>
                </a:tc>
              </a:tr>
              <a:tr h="170045">
                <a:tc>
                  <a:txBody>
                    <a:bodyPr wrap="square"/>
                    <a:lstStyle/>
                    <a:p>
                      <a:pPr algn="l"/>
                      <a:r>
                        <a:rPr sz="1050" b="0" i="0">
                          <a:solidFill>
                            <a:srgbClr val="000000"/>
                          </a:solidFill>
                          <a:latin typeface="Calibri"/>
                        </a:rPr>
                        <a:t>Figure 49: Global Market Volume by Sales Channel, Mn Units, 2021–2036</a:t>
                      </a:r>
                      <a:endParaRPr sz="1050"/>
                    </a:p>
                  </a:txBody>
                  <a:tcPr marL="9525" marR="9525" marT="9525" marB="0" anchor="ctr"/>
                </a:tc>
              </a:tr>
              <a:tr h="170045">
                <a:tc>
                  <a:txBody>
                    <a:bodyPr wrap="square"/>
                    <a:lstStyle/>
                    <a:p>
                      <a:pPr algn="l"/>
                      <a:r>
                        <a:rPr sz="1050" b="0" i="0">
                          <a:solidFill>
                            <a:srgbClr val="000000"/>
                          </a:solidFill>
                          <a:latin typeface="Calibri"/>
                        </a:rPr>
                        <a:t>Figure 50: Global Market Volume by Age Group, Mn Units, 2021–2036</a:t>
                      </a:r>
                      <a:endParaRPr sz="1050"/>
                    </a:p>
                  </a:txBody>
                  <a:tcPr marL="9525" marR="9525" marT="9525" marB="0" anchor="ctr"/>
                </a:tc>
              </a:tr>
              <a:tr h="170045">
                <a:tc>
                  <a:txBody>
                    <a:bodyPr wrap="square"/>
                    <a:lstStyle/>
                    <a:p>
                      <a:pPr algn="l"/>
                      <a:r>
                        <a:rPr sz="1050" b="0" i="0">
                          <a:solidFill>
                            <a:srgbClr val="000000"/>
                          </a:solidFill>
                          <a:latin typeface="Calibri"/>
                        </a:rPr>
                        <a:t>Figure 51: Global Market Average Selling Price by Product Type, US$/Units, 2021–2036</a:t>
                      </a:r>
                      <a:endParaRPr sz="1050"/>
                    </a:p>
                  </a:txBody>
                  <a:tcPr marL="9525" marR="9525" marT="9525" marB="0" anchor="ctr"/>
                </a:tc>
              </a:tr>
              <a:tr h="170045">
                <a:tc>
                  <a:txBody>
                    <a:bodyPr wrap="square"/>
                    <a:lstStyle/>
                    <a:p>
                      <a:pPr algn="l"/>
                      <a:r>
                        <a:rPr sz="1050" b="0" i="0">
                          <a:solidFill>
                            <a:srgbClr val="000000"/>
                          </a:solidFill>
                          <a:latin typeface="Calibri"/>
                        </a:rPr>
                        <a:t>Figure 52: Global Market Average Selling Price by End User, US$/Units, 2021–2036</a:t>
                      </a:r>
                      <a:endParaRPr sz="1050"/>
                    </a:p>
                  </a:txBody>
                  <a:tcPr marL="9525" marR="9525" marT="9525" marB="0" anchor="ctr"/>
                </a:tc>
              </a:tr>
              <a:tr h="170045">
                <a:tc>
                  <a:txBody>
                    <a:bodyPr wrap="square"/>
                    <a:lstStyle/>
                    <a:p>
                      <a:pPr algn="l"/>
                      <a:r>
                        <a:rPr sz="1050" b="0" i="0">
                          <a:solidFill>
                            <a:srgbClr val="000000"/>
                          </a:solidFill>
                          <a:latin typeface="Calibri"/>
                        </a:rPr>
                        <a:t>Figure 53: Global Market Average Selling Price by Sales Channel, US$/Units, 2021–2036</a:t>
                      </a:r>
                      <a:endParaRPr sz="1050"/>
                    </a:p>
                  </a:txBody>
                  <a:tcPr marL="9525" marR="9525" marT="9525" marB="0" anchor="ctr"/>
                </a:tc>
              </a:tr>
              <a:tr h="170045">
                <a:tc>
                  <a:txBody>
                    <a:bodyPr wrap="square"/>
                    <a:lstStyle/>
                    <a:p>
                      <a:pPr algn="l"/>
                      <a:r>
                        <a:rPr sz="1050" b="0" i="0">
                          <a:solidFill>
                            <a:srgbClr val="000000"/>
                          </a:solidFill>
                          <a:latin typeface="Calibri"/>
                        </a:rPr>
                        <a:t>Figure 54: Global Market Average Selling Price by Age Group, US$/Units, 2021–2036</a:t>
                      </a:r>
                      <a:endParaRPr sz="1050"/>
                    </a:p>
                  </a:txBody>
                  <a:tcPr marL="9525" marR="9525" marT="9525" marB="0" anchor="ctr"/>
                </a:tc>
              </a:tr>
              <a:tr h="170045">
                <a:tc>
                  <a:txBody>
                    <a:bodyPr wrap="square"/>
                    <a:lstStyle/>
                    <a:p>
                      <a:pPr algn="l"/>
                      <a:r>
                        <a:rPr sz="1050" b="0" i="0">
                          <a:solidFill>
                            <a:srgbClr val="000000"/>
                          </a:solidFill>
                          <a:latin typeface="Calibri"/>
                        </a:rPr>
                        <a:t>Figure 55: Global Market Value and YoY Growth, Ear Drops (Product Type), US$ Mn and %, 2021–2036</a:t>
                      </a:r>
                      <a:endParaRPr sz="1050"/>
                    </a:p>
                  </a:txBody>
                  <a:tcPr marL="9525" marR="9525" marT="9525" marB="0" anchor="ctr"/>
                </a:tc>
              </a:tr>
              <a:tr h="333289">
                <a:tc>
                  <a:txBody>
                    <a:bodyPr wrap="square"/>
                    <a:lstStyle/>
                    <a:p>
                      <a:pPr algn="l"/>
                      <a:r>
                        <a:rPr sz="1050" b="0" i="0">
                          <a:solidFill>
                            <a:srgbClr val="000000"/>
                          </a:solidFill>
                          <a:latin typeface="Calibri"/>
                        </a:rPr>
                        <a:t>Figure 56: Global Market Value and YoY Growth, Individual consumers (End User), US$ Mn and %, 2021–2036</a:t>
                      </a:r>
                      <a:endParaRPr sz="1050"/>
                    </a:p>
                  </a:txBody>
                  <a:tcPr marL="9525" marR="9525" marT="9525" marB="0" anchor="ctr"/>
                </a:tc>
              </a:tr>
              <a:tr h="333289">
                <a:tc>
                  <a:txBody>
                    <a:bodyPr wrap="square"/>
                    <a:lstStyle/>
                    <a:p>
                      <a:pPr algn="l"/>
                      <a:r>
                        <a:rPr sz="1050" b="0" i="0">
                          <a:solidFill>
                            <a:srgbClr val="000000"/>
                          </a:solidFill>
                          <a:latin typeface="Calibri"/>
                        </a:rPr>
                        <a:t>Figure 57: Global Market Value and YoY Growth, Retail Pharmacies and Drug Stores (Sales Channel), US$ Mn and %, 2021–2036</a:t>
                      </a:r>
                      <a:endParaRPr sz="1050"/>
                    </a:p>
                  </a:txBody>
                  <a:tcPr marL="9525" marR="9525" marT="9525" marB="0" anchor="ctr"/>
                </a:tc>
              </a:tr>
              <a:tr h="170045">
                <a:tc>
                  <a:txBody>
                    <a:bodyPr wrap="square"/>
                    <a:lstStyle/>
                    <a:p>
                      <a:pPr algn="l"/>
                      <a:r>
                        <a:rPr sz="1050" b="0" i="0">
                          <a:solidFill>
                            <a:srgbClr val="000000"/>
                          </a:solidFill>
                          <a:latin typeface="Calibri"/>
                        </a:rPr>
                        <a:t>Figure 58: Global Market Value and YoY Growth, Paediatric (Age Group), US$ Mn and %, 2021–2036</a:t>
                      </a:r>
                      <a:endParaRPr sz="1050"/>
                    </a:p>
                  </a:txBody>
                  <a:tcPr marL="9525" marR="9525" marT="9525" marB="0" anchor="ctr"/>
                </a:tc>
              </a:tr>
              <a:tr h="170045">
                <a:tc>
                  <a:txBody>
                    <a:bodyPr wrap="square"/>
                    <a:lstStyle/>
                    <a:p>
                      <a:pPr algn="l"/>
                      <a:r>
                        <a:rPr sz="1050" b="0" i="0">
                          <a:solidFill>
                            <a:srgbClr val="000000"/>
                          </a:solidFill>
                          <a:latin typeface="Calibri"/>
                        </a:rPr>
                        <a:t>Figure 59: Product Type × End User Opportunity Matrix, 2026–2036</a:t>
                      </a:r>
                      <a:endParaRPr sz="1050"/>
                    </a:p>
                  </a:txBody>
                  <a:tcPr marL="9525" marR="9525" marT="9525" marB="0" anchor="ctr"/>
                </a:tc>
              </a:tr>
              <a:tr h="170045">
                <a:tc>
                  <a:txBody>
                    <a:bodyPr wrap="square"/>
                    <a:lstStyle/>
                    <a:p>
                      <a:pPr algn="l"/>
                      <a:r>
                        <a:rPr sz="1050" b="0" i="0">
                          <a:solidFill>
                            <a:srgbClr val="000000"/>
                          </a:solidFill>
                          <a:latin typeface="Calibri"/>
                        </a:rPr>
                        <a:t>Figure 60: Product Type × Sales Channel Opportunity Matrix, 2026–2036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(2/4)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61: Product Type × Age Group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62: End User × Sales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63: End User × Age Group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64: Sales Channel × Age Group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65: Region × Product Type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66: Region × End User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67: Region × Sales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68: Region × Age Group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69: Global Market Value by Product Type and End User, US$ Mn, 2036</a:t>
                      </a:r>
                      <a:endParaRPr sz="1050"/>
                    </a:p>
                  </a:txBody>
                  <a:tcPr marL="9525" marR="9525" marT="9525" marB="0" anchor="ctr"/>
                </a:tc>
              </a:tr>
              <a:tr h="169606">
                <a:tc>
                  <a:txBody>
                    <a:bodyPr wrap="square"/>
                    <a:lstStyle/>
                    <a:p>
                      <a:pPr algn="l"/>
                      <a:r>
                        <a:rPr sz="1050" b="0" i="0">
                          <a:solidFill>
                            <a:srgbClr val="000000"/>
                          </a:solidFill>
                          <a:latin typeface="Calibri"/>
                        </a:rPr>
                        <a:t>Figure 70: Global Market Value by Product Type and Sales Channel, US$ Mn, 2036</a:t>
                      </a:r>
                      <a:endParaRPr sz="1050"/>
                    </a:p>
                  </a:txBody>
                  <a:tcPr marL="9525" marR="9525" marT="9525" marB="0" anchor="ctr"/>
                </a:tc>
              </a:tr>
              <a:tr h="169606">
                <a:tc>
                  <a:txBody>
                    <a:bodyPr wrap="square"/>
                    <a:lstStyle/>
                    <a:p>
                      <a:pPr algn="l"/>
                      <a:r>
                        <a:rPr sz="1050" b="0" i="0">
                          <a:solidFill>
                            <a:srgbClr val="000000"/>
                          </a:solidFill>
                          <a:latin typeface="Calibri"/>
                        </a:rPr>
                        <a:t>Figure 71: Global Market Value by Product Type and Age Group, US$ Mn, 2036</a:t>
                      </a:r>
                      <a:endParaRPr sz="1050"/>
                    </a:p>
                  </a:txBody>
                  <a:tcPr marL="9525" marR="9525" marT="9525" marB="0" anchor="ctr"/>
                </a:tc>
              </a:tr>
              <a:tr h="169606">
                <a:tc>
                  <a:txBody>
                    <a:bodyPr wrap="square"/>
                    <a:lstStyle/>
                    <a:p>
                      <a:pPr algn="l"/>
                      <a:r>
                        <a:rPr sz="1050" b="0" i="0">
                          <a:solidFill>
                            <a:srgbClr val="000000"/>
                          </a:solidFill>
                          <a:latin typeface="Calibri"/>
                        </a:rPr>
                        <a:t>Figure 72: Global Market Value by End User and Sales Channel, US$ Mn, 2036</a:t>
                      </a:r>
                      <a:endParaRPr sz="1050"/>
                    </a:p>
                  </a:txBody>
                  <a:tcPr marL="9525" marR="9525" marT="9525" marB="0" anchor="ctr"/>
                </a:tc>
              </a:tr>
              <a:tr h="169606">
                <a:tc>
                  <a:txBody>
                    <a:bodyPr wrap="square"/>
                    <a:lstStyle/>
                    <a:p>
                      <a:pPr algn="l"/>
                      <a:r>
                        <a:rPr sz="1050" b="0" i="0">
                          <a:solidFill>
                            <a:srgbClr val="000000"/>
                          </a:solidFill>
                          <a:latin typeface="Calibri"/>
                        </a:rPr>
                        <a:t>Figure 73: Global Market Value by End User and Age Group, US$ Mn, 2036</a:t>
                      </a:r>
                      <a:endParaRPr sz="1050"/>
                    </a:p>
                  </a:txBody>
                  <a:tcPr marL="9525" marR="9525" marT="9525" marB="0" anchor="ctr"/>
                </a:tc>
              </a:tr>
              <a:tr h="169606">
                <a:tc>
                  <a:txBody>
                    <a:bodyPr wrap="square"/>
                    <a:lstStyle/>
                    <a:p>
                      <a:pPr algn="l"/>
                      <a:r>
                        <a:rPr sz="1050" b="0" i="0">
                          <a:solidFill>
                            <a:srgbClr val="000000"/>
                          </a:solidFill>
                          <a:latin typeface="Calibri"/>
                        </a:rPr>
                        <a:t>Figure 74: Global Market Value by Region, US$ Mn, 2021–2036</a:t>
                      </a:r>
                      <a:endParaRPr sz="1050"/>
                    </a:p>
                  </a:txBody>
                  <a:tcPr marL="9525" marR="9525" marT="9525" marB="0" anchor="ctr"/>
                </a:tc>
              </a:tr>
              <a:tr h="169606">
                <a:tc>
                  <a:txBody>
                    <a:bodyPr wrap="square"/>
                    <a:lstStyle/>
                    <a:p>
                      <a:pPr algn="l"/>
                      <a:r>
                        <a:rPr sz="1050" b="0" i="0">
                          <a:solidFill>
                            <a:srgbClr val="000000"/>
                          </a:solidFill>
                          <a:latin typeface="Calibri"/>
                        </a:rPr>
                        <a:t>Figure 75: Global Market Share by Region, %, 2026 and 2036</a:t>
                      </a:r>
                      <a:endParaRPr sz="1050"/>
                    </a:p>
                  </a:txBody>
                  <a:tcPr marL="9525" marR="9525" marT="9525" marB="0" anchor="ctr"/>
                </a:tc>
              </a:tr>
              <a:tr h="169606">
                <a:tc>
                  <a:txBody>
                    <a:bodyPr wrap="square"/>
                    <a:lstStyle/>
                    <a:p>
                      <a:pPr algn="l"/>
                      <a:r>
                        <a:rPr sz="1050" b="0" i="0">
                          <a:solidFill>
                            <a:srgbClr val="000000"/>
                          </a:solidFill>
                          <a:latin typeface="Calibri"/>
                        </a:rPr>
                        <a:t>Figure 76: Global Market CAGR by Region, %, 2026–2036</a:t>
                      </a:r>
                      <a:endParaRPr sz="1050"/>
                    </a:p>
                  </a:txBody>
                  <a:tcPr marL="9525" marR="9525" marT="9525" marB="0" anchor="ctr"/>
                </a:tc>
              </a:tr>
              <a:tr h="169606">
                <a:tc>
                  <a:txBody>
                    <a:bodyPr wrap="square"/>
                    <a:lstStyle/>
                    <a:p>
                      <a:pPr algn="l"/>
                      <a:r>
                        <a:rPr sz="1050" b="0" i="0">
                          <a:solidFill>
                            <a:srgbClr val="000000"/>
                          </a:solidFill>
                          <a:latin typeface="Calibri"/>
                        </a:rPr>
                        <a:t>Figure 77: Global Market Absolute $ Opportunity by Region, US$ Mn, 2026–2036</a:t>
                      </a:r>
                      <a:endParaRPr sz="1050"/>
                    </a:p>
                  </a:txBody>
                  <a:tcPr marL="9525" marR="9525" marT="9525" marB="0" anchor="ctr"/>
                </a:tc>
              </a:tr>
              <a:tr h="169606">
                <a:tc>
                  <a:txBody>
                    <a:bodyPr wrap="square"/>
                    <a:lstStyle/>
                    <a:p>
                      <a:pPr algn="l"/>
                      <a:r>
                        <a:rPr sz="1050" b="0" i="0">
                          <a:solidFill>
                            <a:srgbClr val="000000"/>
                          </a:solidFill>
                          <a:latin typeface="Calibri"/>
                        </a:rPr>
                        <a:t>Figure 78: Global Market Attractiveness by Region, 2026–2036</a:t>
                      </a:r>
                      <a:endParaRPr sz="1050"/>
                    </a:p>
                  </a:txBody>
                  <a:tcPr marL="9525" marR="9525" marT="9525" marB="0" anchor="ctr"/>
                </a:tc>
              </a:tr>
              <a:tr h="169606">
                <a:tc>
                  <a:txBody>
                    <a:bodyPr wrap="square"/>
                    <a:lstStyle/>
                    <a:p>
                      <a:pPr algn="l"/>
                      <a:r>
                        <a:rPr sz="1050" b="0" i="0">
                          <a:solidFill>
                            <a:srgbClr val="000000"/>
                          </a:solidFill>
                          <a:latin typeface="Calibri"/>
                        </a:rPr>
                        <a:t>Figure 79: Global Market BPS Share Change by Region, 2026–2036</a:t>
                      </a:r>
                      <a:endParaRPr sz="1050"/>
                    </a:p>
                  </a:txBody>
                  <a:tcPr marL="9525" marR="9525" marT="9525" marB="0" anchor="ctr"/>
                </a:tc>
              </a:tr>
              <a:tr h="169606">
                <a:tc>
                  <a:txBody>
                    <a:bodyPr wrap="square"/>
                    <a:lstStyle/>
                    <a:p>
                      <a:pPr algn="l"/>
                      <a:r>
                        <a:rPr sz="1050" b="0" i="0">
                          <a:solidFill>
                            <a:srgbClr val="000000"/>
                          </a:solidFill>
                          <a:latin typeface="Calibri"/>
                        </a:rPr>
                        <a:t>Figure 80: North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81: Latin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82: Europe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83: East Asia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84: South Asia &amp; Pacific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85: Middle East &amp; Africa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86: North America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87: Latin America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88: Europe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89: East Asia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90: South Asia &amp; Pacific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91: Middle East &amp; Africa Market Share of Global Market, %,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92: North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93: Latin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94: Europe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95: East Asia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96: South Asia &amp; Pacific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97: Middle East &amp; Africa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98: North America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99: Latin America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100: Europe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101: East Asia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102: South Asia &amp; Pacific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103: Middle East &amp; Africa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104: North America Market Attractiveness by Country, 2026–2036</a:t>
                      </a:r>
                      <a:endParaRPr sz="1050"/>
                    </a:p>
                  </a:txBody>
                  <a:tcPr marL="9525" marR="9525" marT="9525" marB="0" anchor="ctr"/>
                </a:tc>
              </a:tr>
              <a:tr h="169606">
                <a:tc>
                  <a:txBody>
                    <a:bodyPr wrap="square"/>
                    <a:lstStyle/>
                    <a:p>
                      <a:pPr algn="l"/>
                      <a:r>
                        <a:rPr sz="1050" b="0" i="0">
                          <a:solidFill>
                            <a:srgbClr val="000000"/>
                          </a:solidFill>
                          <a:latin typeface="Calibri"/>
                        </a:rPr>
                        <a:t>Figure 105: U.S.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106: U.S.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107: U.S. Market Value by End User,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108: U.S.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109: U.S. Market Value by Sales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110: U.S. Market Value by Age Group,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111: U.S. Market Volume and YoY Growth, Mn Units and %, 2021–2036</a:t>
                      </a:r>
                      <a:endParaRPr sz="1050"/>
                    </a:p>
                  </a:txBody>
                  <a:tcPr marL="9525" marR="9525" marT="9525" marB="0" anchor="ctr"/>
                </a:tc>
              </a:tr>
              <a:tr h="169606">
                <a:tc>
                  <a:txBody>
                    <a:bodyPr wrap="square"/>
                    <a:lstStyle/>
                    <a:p>
                      <a:pPr algn="l"/>
                      <a:r>
                        <a:rPr sz="1050" b="0" i="0">
                          <a:solidFill>
                            <a:srgbClr val="000000"/>
                          </a:solidFill>
                          <a:latin typeface="Calibri"/>
                        </a:rPr>
                        <a:t>Figure 112: U.S. Market Average Selling Price, US$/Units, 2021–2036</a:t>
                      </a:r>
                      <a:endParaRPr sz="1050"/>
                    </a:p>
                  </a:txBody>
                  <a:tcPr marL="9525" marR="9525" marT="9525" marB="0" anchor="ctr"/>
                </a:tc>
              </a:tr>
              <a:tr h="169606">
                <a:tc>
                  <a:txBody>
                    <a:bodyPr wrap="square"/>
                    <a:lstStyle/>
                    <a:p>
                      <a:pPr algn="l"/>
                      <a:r>
                        <a:rPr sz="1050" b="0" i="0">
                          <a:solidFill>
                            <a:srgbClr val="000000"/>
                          </a:solidFill>
                          <a:latin typeface="Calibri"/>
                        </a:rPr>
                        <a:t>Figure 113: Germany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114: Germany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115: Germany Market Value by End User,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116: Germany Market Share within Europe, %, 2026 and 2036</a:t>
                      </a:r>
                      <a:endParaRPr sz="1050"/>
                    </a:p>
                  </a:txBody>
                  <a:tcPr marL="9525" marR="9525" marT="9525" marB="0" anchor="ctr"/>
                </a:tc>
              </a:tr>
              <a:tr h="169606">
                <a:tc>
                  <a:txBody>
                    <a:bodyPr wrap="square"/>
                    <a:lstStyle/>
                    <a:p>
                      <a:pPr algn="l"/>
                      <a:r>
                        <a:rPr sz="1050" b="0" i="0">
                          <a:solidFill>
                            <a:srgbClr val="000000"/>
                          </a:solidFill>
                          <a:latin typeface="Calibri"/>
                        </a:rPr>
                        <a:t>Figure 117: Germany Market Value by Sales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118: Germany Market Value by Age Group,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119: Germany Market Volume and YoY Growth, Mn Units and %, 2021–2036</a:t>
                      </a:r>
                      <a:endParaRPr sz="1050"/>
                    </a:p>
                  </a:txBody>
                  <a:tcPr marL="9525" marR="9525" marT="9525" marB="0" anchor="ctr"/>
                </a:tc>
              </a:tr>
              <a:tr h="169606">
                <a:tc>
                  <a:txBody>
                    <a:bodyPr wrap="square"/>
                    <a:lstStyle/>
                    <a:p>
                      <a:pPr algn="l"/>
                      <a:r>
                        <a:rPr sz="1050" b="0" i="0">
                          <a:solidFill>
                            <a:srgbClr val="000000"/>
                          </a:solidFill>
                          <a:latin typeface="Calibri"/>
                        </a:rPr>
                        <a:t>Figure 120: Germany Market Average Selling Price, US$/Units, 2021–2036</a:t>
                      </a:r>
                      <a:endParaRPr sz="1050"/>
                    </a:p>
                  </a:txBody>
                  <a:tcPr marL="9525" marR="9525" marT="9525" marB="0" anchor="ctr"/>
                </a:tc>
              </a:tr>
              <a:tr h="169606">
                <a:tc>
                  <a:txBody>
                    <a:bodyPr wrap="square"/>
                    <a:lstStyle/>
                    <a:p>
                      <a:pPr algn="l"/>
                      <a:r>
                        <a:rPr sz="1050" b="0" i="0">
                          <a:solidFill>
                            <a:srgbClr val="000000"/>
                          </a:solidFill>
                          <a:latin typeface="Calibri"/>
                        </a:rPr>
                        <a:t>Figure 121: Canada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122: Canada Market Value by Product Type, US$ Mn, 2026 and 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(3/4)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123: Canada Market Value by End User,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124: Canada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125: Canada Market Value by Sales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126: Canada Market Value by Age Group,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127: Canada Market Volume and YoY Growth, Mn Units and %, 2021–2036</a:t>
                      </a:r>
                      <a:endParaRPr sz="1050"/>
                    </a:p>
                  </a:txBody>
                  <a:tcPr marL="9525" marR="9525" marT="9525" marB="0" anchor="ctr"/>
                </a:tc>
              </a:tr>
              <a:tr h="169606">
                <a:tc>
                  <a:txBody>
                    <a:bodyPr wrap="square"/>
                    <a:lstStyle/>
                    <a:p>
                      <a:pPr algn="l"/>
                      <a:r>
                        <a:rPr sz="1050" b="0" i="0">
                          <a:solidFill>
                            <a:srgbClr val="000000"/>
                          </a:solidFill>
                          <a:latin typeface="Calibri"/>
                        </a:rPr>
                        <a:t>Figure 128: Canada Market Average Selling Price, US$/Units, 2021–2036</a:t>
                      </a:r>
                      <a:endParaRPr sz="1050"/>
                    </a:p>
                  </a:txBody>
                  <a:tcPr marL="9525" marR="9525" marT="9525" marB="0" anchor="ctr"/>
                </a:tc>
              </a:tr>
              <a:tr h="169606">
                <a:tc>
                  <a:txBody>
                    <a:bodyPr wrap="square"/>
                    <a:lstStyle/>
                    <a:p>
                      <a:pPr algn="l"/>
                      <a:r>
                        <a:rPr sz="1050" b="0" i="0">
                          <a:solidFill>
                            <a:srgbClr val="000000"/>
                          </a:solidFill>
                          <a:latin typeface="Calibri"/>
                        </a:rPr>
                        <a:t>Figure 129: China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130: China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131: China Market Value by End User,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132: China Market Share within East Asia, %, 2026 and 2036</a:t>
                      </a:r>
                      <a:endParaRPr sz="1050"/>
                    </a:p>
                  </a:txBody>
                  <a:tcPr marL="9525" marR="9525" marT="9525" marB="0" anchor="ctr"/>
                </a:tc>
              </a:tr>
              <a:tr h="169606">
                <a:tc>
                  <a:txBody>
                    <a:bodyPr wrap="square"/>
                    <a:lstStyle/>
                    <a:p>
                      <a:pPr algn="l"/>
                      <a:r>
                        <a:rPr sz="1050" b="0" i="0">
                          <a:solidFill>
                            <a:srgbClr val="000000"/>
                          </a:solidFill>
                          <a:latin typeface="Calibri"/>
                        </a:rPr>
                        <a:t>Figure 133: China Market Value by Sales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134: China Market Value by Age Group,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135: China Market Volume and YoY Growth, Mn Units and %, 2021–2036</a:t>
                      </a:r>
                      <a:endParaRPr sz="1050"/>
                    </a:p>
                  </a:txBody>
                  <a:tcPr marL="9525" marR="9525" marT="9525" marB="0" anchor="ctr"/>
                </a:tc>
              </a:tr>
              <a:tr h="169606">
                <a:tc>
                  <a:txBody>
                    <a:bodyPr wrap="square"/>
                    <a:lstStyle/>
                    <a:p>
                      <a:pPr algn="l"/>
                      <a:r>
                        <a:rPr sz="1050" b="0" i="0">
                          <a:solidFill>
                            <a:srgbClr val="000000"/>
                          </a:solidFill>
                          <a:latin typeface="Calibri"/>
                        </a:rPr>
                        <a:t>Figure 136: China Market Average Selling Price, US$/Units, 2021–2036</a:t>
                      </a:r>
                      <a:endParaRPr sz="1050"/>
                    </a:p>
                  </a:txBody>
                  <a:tcPr marL="9525" marR="9525" marT="9525" marB="0" anchor="ctr"/>
                </a:tc>
              </a:tr>
              <a:tr h="169606">
                <a:tc>
                  <a:txBody>
                    <a:bodyPr wrap="square"/>
                    <a:lstStyle/>
                    <a:p>
                      <a:pPr algn="l"/>
                      <a:r>
                        <a:rPr sz="1050" b="0" i="0">
                          <a:solidFill>
                            <a:srgbClr val="000000"/>
                          </a:solidFill>
                          <a:latin typeface="Calibri"/>
                        </a:rPr>
                        <a:t>Figure 137: India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138: India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139: Brazil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140: Brazil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141: U.K.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142: U.K.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143: Japan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144: Japan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145: Global Market Average Selling Price Trend, US$/Units, 2021–2036</a:t>
                      </a:r>
                      <a:endParaRPr sz="1050"/>
                    </a:p>
                  </a:txBody>
                  <a:tcPr marL="9525" marR="9525" marT="9525" marB="0" anchor="ctr"/>
                </a:tc>
              </a:tr>
              <a:tr h="169606">
                <a:tc>
                  <a:txBody>
                    <a:bodyPr wrap="square"/>
                    <a:lstStyle/>
                    <a:p>
                      <a:pPr algn="l"/>
                      <a:r>
                        <a:rPr sz="1050" b="0" i="0">
                          <a:solidFill>
                            <a:srgbClr val="000000"/>
                          </a:solidFill>
                          <a:latin typeface="Calibri"/>
                        </a:rPr>
                        <a:t>Figure 146: Global Market Average Selling Price by Region,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147: Global Market Average Selling Price by Product Type,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148: Global Market Average Selling Price by End User,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149: Global Market Average Selling Price by Sales Channel,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150: Global Market Average Selling Price by Age Group,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151: Global Market Value Chain Structure, 2026</a:t>
                      </a:r>
                      <a:endParaRPr sz="1050"/>
                    </a:p>
                  </a:txBody>
                  <a:tcPr marL="9525" marR="9525" marT="9525" marB="0" anchor="ctr"/>
                </a:tc>
              </a:tr>
              <a:tr h="169606">
                <a:tc>
                  <a:txBody>
                    <a:bodyPr wrap="square"/>
                    <a:lstStyle/>
                    <a:p>
                      <a:pPr algn="l"/>
                      <a:r>
                        <a:rPr sz="1050" b="0" i="0">
                          <a:solidFill>
                            <a:srgbClr val="000000"/>
                          </a:solidFill>
                          <a:latin typeface="Calibri"/>
                        </a:rPr>
                        <a:t>Figure 152: Global Market Margin Distribution across the Value Chain, %, 2026</a:t>
                      </a:r>
                      <a:endParaRPr sz="1050"/>
                    </a:p>
                  </a:txBody>
                  <a:tcPr marL="9525" marR="9525" marT="9525" marB="0" anchor="ctr"/>
                </a:tc>
              </a:tr>
              <a:tr h="169606">
                <a:tc>
                  <a:txBody>
                    <a:bodyPr wrap="square"/>
                    <a:lstStyle/>
                    <a:p>
                      <a:pPr algn="l"/>
                      <a:r>
                        <a:rPr sz="1050" b="0" i="0">
                          <a:solidFill>
                            <a:srgbClr val="000000"/>
                          </a:solidFill>
                          <a:latin typeface="Calibri"/>
                        </a:rPr>
                        <a:t>Figure 153: Global Market Cost Structure Breakdown, %, 2026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0"/>
        </p:xfrm>
        <a:graphic>
          <a:graphicData uri="http://schemas.openxmlformats.org/drawingml/2006/table">
            <a:tbl>
              <a:tblPr>
                <a:tableStyleId>{3B4B98B0-60AC-42C2-AFA5-B58CD77FA1E5}</a:tableStyleId>
              </a:tblPr>
              <a:tblGrid>
                <a:gridCol w="5876925"/>
              </a:tblGrid>
              <a:tr h="170266">
                <a:tc>
                  <a:txBody>
                    <a:bodyPr wrap="square"/>
                    <a:lstStyle/>
                    <a:p>
                      <a:pPr algn="l"/>
                      <a:r>
                        <a:rPr sz="1050" b="0" i="0">
                          <a:solidFill>
                            <a:srgbClr val="000000"/>
                          </a:solidFill>
                          <a:latin typeface="Calibri"/>
                        </a:rPr>
                        <a:t>Figure 154: Global Market Pricing Pressure Assessment by Product Type, 2026–2036</a:t>
                      </a:r>
                      <a:endParaRPr sz="1050"/>
                    </a:p>
                  </a:txBody>
                  <a:tcPr marL="9525" marR="9525" marT="9525" marB="0" anchor="ctr"/>
                </a:tc>
              </a:tr>
              <a:tr h="170266">
                <a:tc>
                  <a:txBody>
                    <a:bodyPr wrap="square"/>
                    <a:lstStyle/>
                    <a:p>
                      <a:pPr algn="l"/>
                      <a:r>
                        <a:rPr sz="1050" b="0" i="0">
                          <a:solidFill>
                            <a:srgbClr val="000000"/>
                          </a:solidFill>
                          <a:latin typeface="Calibri"/>
                        </a:rPr>
                        <a:t>Figure 155: Global Market Import and Export Share by Region, %, 2025</a:t>
                      </a:r>
                      <a:endParaRPr sz="1050"/>
                    </a:p>
                  </a:txBody>
                  <a:tcPr marL="9525" marR="9525" marT="9525" marB="0" anchor="ctr"/>
                </a:tc>
              </a:tr>
              <a:tr h="170266">
                <a:tc>
                  <a:txBody>
                    <a:bodyPr wrap="square"/>
                    <a:lstStyle/>
                    <a:p>
                      <a:pPr algn="l"/>
                      <a:r>
                        <a:rPr sz="1050" b="0" i="0">
                          <a:solidFill>
                            <a:srgbClr val="000000"/>
                          </a:solidFill>
                          <a:latin typeface="Calibri"/>
                        </a:rPr>
                        <a:t>Figure 156: Global Market Trade Balance by Leading Country, US$ Mn, 2025</a:t>
                      </a:r>
                      <a:endParaRPr sz="1050"/>
                    </a:p>
                  </a:txBody>
                  <a:tcPr marL="9525" marR="9525" marT="9525" marB="0" anchor="ctr"/>
                </a:tc>
              </a:tr>
              <a:tr h="170266">
                <a:tc>
                  <a:txBody>
                    <a:bodyPr wrap="square"/>
                    <a:lstStyle/>
                    <a:p>
                      <a:pPr algn="l"/>
                      <a:r>
                        <a:rPr sz="1050" b="0" i="0">
                          <a:solidFill>
                            <a:srgbClr val="000000"/>
                          </a:solidFill>
                          <a:latin typeface="Calibri"/>
                        </a:rPr>
                        <a:t>Figure 157: Global Market Raw Material Price Index, 2025=100, 2021–2036</a:t>
                      </a:r>
                      <a:endParaRPr sz="1050"/>
                    </a:p>
                  </a:txBody>
                  <a:tcPr marL="9525" marR="9525" marT="9525" marB="0" anchor="ctr"/>
                </a:tc>
              </a:tr>
              <a:tr h="170266">
                <a:tc>
                  <a:txBody>
                    <a:bodyPr wrap="square"/>
                    <a:lstStyle/>
                    <a:p>
                      <a:pPr algn="l"/>
                      <a:r>
                        <a:rPr sz="1050" b="0" i="0">
                          <a:solidFill>
                            <a:srgbClr val="000000"/>
                          </a:solidFill>
                          <a:latin typeface="Calibri"/>
                        </a:rPr>
                        <a:t>Figure 158: Global Market Distribution Channel Margin Comparison, %, 2026</a:t>
                      </a:r>
                      <a:endParaRPr sz="1050"/>
                    </a:p>
                  </a:txBody>
                  <a:tcPr marL="9525" marR="9525" marT="9525" marB="0" anchor="ctr"/>
                </a:tc>
              </a:tr>
              <a:tr h="170266">
                <a:tc>
                  <a:txBody>
                    <a:bodyPr wrap="square"/>
                    <a:lstStyle/>
                    <a:p>
                      <a:pPr algn="l"/>
                      <a:r>
                        <a:rPr sz="1050" b="0" i="0">
                          <a:solidFill>
                            <a:srgbClr val="000000"/>
                          </a:solidFill>
                          <a:latin typeface="Calibri"/>
                        </a:rPr>
                        <a:t>Figure 159: Global Market Price Band Distribution by Product Type, %, 2026</a:t>
                      </a:r>
                      <a:endParaRPr sz="1050"/>
                    </a:p>
                  </a:txBody>
                  <a:tcPr marL="9525" marR="9525" marT="9525" marB="0" anchor="ctr"/>
                </a:tc>
              </a:tr>
              <a:tr h="170266">
                <a:tc>
                  <a:txBody>
                    <a:bodyPr wrap="square"/>
                    <a:lstStyle/>
                    <a:p>
                      <a:pPr algn="l"/>
                      <a:r>
                        <a:rPr sz="1050" b="0" i="0">
                          <a:solidFill>
                            <a:srgbClr val="000000"/>
                          </a:solidFill>
                          <a:latin typeface="Calibri"/>
                        </a:rPr>
                        <a:t>Figure 160: Company Market Share in the Global Market, %, 2026</a:t>
                      </a:r>
                      <a:endParaRPr sz="1050"/>
                    </a:p>
                  </a:txBody>
                  <a:tcPr marL="9525" marR="9525" marT="9525" marB="0" anchor="ctr"/>
                </a:tc>
              </a:tr>
              <a:tr h="170266">
                <a:tc>
                  <a:txBody>
                    <a:bodyPr wrap="square"/>
                    <a:lstStyle/>
                    <a:p>
                      <a:pPr algn="l"/>
                      <a:r>
                        <a:rPr sz="1050" b="0" i="0">
                          <a:solidFill>
                            <a:srgbClr val="000000"/>
                          </a:solidFill>
                          <a:latin typeface="Calibri"/>
                        </a:rPr>
                        <a:t>Figure 161: Competitive Positioning of Leading Ear Wax Removal Products Manufacturers, 2026</a:t>
                      </a:r>
                      <a:endParaRPr sz="1050"/>
                    </a:p>
                  </a:txBody>
                  <a:tcPr marL="9525" marR="9525" marT="9525" marB="0" anchor="ctr"/>
                </a:tc>
              </a:tr>
              <a:tr h="170266">
                <a:tc>
                  <a:txBody>
                    <a:bodyPr wrap="square"/>
                    <a:lstStyle/>
                    <a:p>
                      <a:pPr algn="l"/>
                      <a:r>
                        <a:rPr sz="1050" b="0" i="0">
                          <a:solidFill>
                            <a:srgbClr val="000000"/>
                          </a:solidFill>
                          <a:latin typeface="Calibri"/>
                        </a:rPr>
                        <a:t>Figure 162: Company Revenue from the Global Market, US$ Mn, 2026</a:t>
                      </a:r>
                      <a:endParaRPr sz="1050"/>
                    </a:p>
                  </a:txBody>
                  <a:tcPr marL="9525" marR="9525" marT="9525" marB="0" anchor="ctr"/>
                </a:tc>
              </a:tr>
              <a:tr h="170266">
                <a:tc>
                  <a:txBody>
                    <a:bodyPr wrap="square"/>
                    <a:lstStyle/>
                    <a:p>
                      <a:pPr algn="l"/>
                      <a:r>
                        <a:rPr sz="1050" b="0" i="0">
                          <a:solidFill>
                            <a:srgbClr val="000000"/>
                          </a:solidFill>
                          <a:latin typeface="Calibri"/>
                        </a:rPr>
                        <a:t>Figure 163: Global Market Concentration by Company Tier, %, 2026</a:t>
                      </a:r>
                      <a:endParaRPr sz="1050"/>
                    </a:p>
                  </a:txBody>
                  <a:tcPr marL="9525" marR="9525" marT="9525" marB="0" anchor="ctr"/>
                </a:tc>
              </a:tr>
              <a:tr h="170266">
                <a:tc>
                  <a:txBody>
                    <a:bodyPr wrap="square"/>
                    <a:lstStyle/>
                    <a:p>
                      <a:pPr algn="l"/>
                      <a:r>
                        <a:rPr sz="1050" b="0" i="0">
                          <a:solidFill>
                            <a:srgbClr val="000000"/>
                          </a:solidFill>
                          <a:latin typeface="Calibri"/>
                        </a:rPr>
                        <a:t>Figure 164: Global Market Competitive Intensity Assessment, 2026</a:t>
                      </a:r>
                      <a:endParaRPr sz="1050"/>
                    </a:p>
                  </a:txBody>
                  <a:tcPr marL="9525" marR="9525" marT="9525" marB="0" anchor="ctr"/>
                </a:tc>
              </a:tr>
              <a:tr h="170266">
                <a:tc>
                  <a:txBody>
                    <a:bodyPr wrap="square"/>
                    <a:lstStyle/>
                    <a:p>
                      <a:pPr algn="l"/>
                      <a:r>
                        <a:rPr sz="1050" b="0" i="0">
                          <a:solidFill>
                            <a:srgbClr val="000000"/>
                          </a:solidFill>
                          <a:latin typeface="Calibri"/>
                        </a:rPr>
                        <a:t>Figure 165: Company Market Share in the North America Market, %, 2026</a:t>
                      </a:r>
                      <a:endParaRPr sz="1050"/>
                    </a:p>
                  </a:txBody>
                  <a:tcPr marL="9525" marR="9525" marT="9525" marB="0" anchor="ctr"/>
                </a:tc>
              </a:tr>
              <a:tr h="170266">
                <a:tc>
                  <a:txBody>
                    <a:bodyPr wrap="square"/>
                    <a:lstStyle/>
                    <a:p>
                      <a:pPr algn="l"/>
                      <a:r>
                        <a:rPr sz="1050" b="0" i="0">
                          <a:solidFill>
                            <a:srgbClr val="000000"/>
                          </a:solidFill>
                          <a:latin typeface="Calibri"/>
                        </a:rPr>
                        <a:t>Figure 166: Company Market Share in the Latin America Market, %, 2026</a:t>
                      </a:r>
                      <a:endParaRPr sz="1050"/>
                    </a:p>
                  </a:txBody>
                  <a:tcPr marL="9525" marR="9525" marT="9525" marB="0" anchor="ctr"/>
                </a:tc>
              </a:tr>
              <a:tr h="170266">
                <a:tc>
                  <a:txBody>
                    <a:bodyPr wrap="square"/>
                    <a:lstStyle/>
                    <a:p>
                      <a:pPr algn="l"/>
                      <a:r>
                        <a:rPr sz="1050" b="0" i="0">
                          <a:solidFill>
                            <a:srgbClr val="000000"/>
                          </a:solidFill>
                          <a:latin typeface="Calibri"/>
                        </a:rPr>
                        <a:t>Figure 167: Company Market Share in the Europe Market, %, 2026</a:t>
                      </a:r>
                      <a:endParaRPr sz="1050"/>
                    </a:p>
                  </a:txBody>
                  <a:tcPr marL="9525" marR="9525" marT="9525" marB="0" anchor="ctr"/>
                </a:tc>
              </a:tr>
              <a:tr h="170266">
                <a:tc>
                  <a:txBody>
                    <a:bodyPr wrap="square"/>
                    <a:lstStyle/>
                    <a:p>
                      <a:pPr algn="l"/>
                      <a:r>
                        <a:rPr sz="1050" b="0" i="0">
                          <a:solidFill>
                            <a:srgbClr val="000000"/>
                          </a:solidFill>
                          <a:latin typeface="Calibri"/>
                        </a:rPr>
                        <a:t>Figure 168: Company Market Share in the East Asia Market, %, 2026</a:t>
                      </a:r>
                      <a:endParaRPr sz="1050"/>
                    </a:p>
                  </a:txBody>
                  <a:tcPr marL="9525" marR="9525" marT="9525" marB="0" anchor="ctr"/>
                </a:tc>
              </a:tr>
              <a:tr h="170266">
                <a:tc>
                  <a:txBody>
                    <a:bodyPr wrap="square"/>
                    <a:lstStyle/>
                    <a:p>
                      <a:pPr algn="l"/>
                      <a:r>
                        <a:rPr sz="1050" b="0" i="0">
                          <a:solidFill>
                            <a:srgbClr val="000000"/>
                          </a:solidFill>
                          <a:latin typeface="Calibri"/>
                        </a:rPr>
                        <a:t>Figure 169: Company Market Share in the South Asia &amp; Pacific Market, %, 2026</a:t>
                      </a:r>
                      <a:endParaRPr sz="1050"/>
                    </a:p>
                  </a:txBody>
                  <a:tcPr marL="9525" marR="9525" marT="9525" marB="0" anchor="ctr"/>
                </a:tc>
              </a:tr>
              <a:tr h="170266">
                <a:tc>
                  <a:txBody>
                    <a:bodyPr wrap="square"/>
                    <a:lstStyle/>
                    <a:p>
                      <a:pPr algn="l"/>
                      <a:r>
                        <a:rPr sz="1050" b="0" i="0">
                          <a:solidFill>
                            <a:srgbClr val="000000"/>
                          </a:solidFill>
                          <a:latin typeface="Calibri"/>
                        </a:rPr>
                        <a:t>Figure 170: Company Market Share in the Middle East &amp; Africa Market, %, 2026</a:t>
                      </a:r>
                      <a:endParaRPr sz="1050"/>
                    </a:p>
                  </a:txBody>
                  <a:tcPr marL="9525" marR="9525" marT="9525" marB="0" anchor="ctr"/>
                </a:tc>
              </a:tr>
              <a:tr h="333720">
                <a:tc>
                  <a:txBody>
                    <a:bodyPr wrap="square"/>
                    <a:lstStyle/>
                    <a:p>
                      <a:pPr algn="l"/>
                      <a:r>
                        <a:rPr sz="1050" b="0" i="0">
                          <a:solidFill>
                            <a:srgbClr val="000000"/>
                          </a:solidFill>
                          <a:latin typeface="Calibri"/>
                        </a:rPr>
                        <a:t>Figure 171: Prestige Consumer Healthcare: Revenue from the Global Market and Share, US$ Mn and %, 2026</a:t>
                      </a:r>
                      <a:endParaRPr sz="1050"/>
                    </a:p>
                  </a:txBody>
                  <a:tcPr marL="9525" marR="9525" marT="9525" marB="0" anchor="ctr"/>
                </a:tc>
              </a:tr>
              <a:tr h="170266">
                <a:tc>
                  <a:txBody>
                    <a:bodyPr wrap="square"/>
                    <a:lstStyle/>
                    <a:p>
                      <a:pPr algn="l"/>
                      <a:r>
                        <a:rPr sz="1050" b="0" i="0">
                          <a:solidFill>
                            <a:srgbClr val="000000"/>
                          </a:solidFill>
                          <a:latin typeface="Calibri"/>
                        </a:rPr>
                        <a:t>Figure 172: Diomed Group: Revenue from the Global Market and Share, US$ Mn and %, 2026</a:t>
                      </a:r>
                      <a:endParaRPr sz="1050"/>
                    </a:p>
                  </a:txBody>
                  <a:tcPr marL="9525" marR="9525" marT="9525" marB="0" anchor="ctr"/>
                </a:tc>
              </a:tr>
              <a:tr h="333720">
                <a:tc>
                  <a:txBody>
                    <a:bodyPr wrap="square"/>
                    <a:lstStyle/>
                    <a:p>
                      <a:pPr algn="l"/>
                      <a:r>
                        <a:rPr sz="1050" b="0" i="0">
                          <a:solidFill>
                            <a:srgbClr val="000000"/>
                          </a:solidFill>
                          <a:latin typeface="Calibri"/>
                        </a:rPr>
                        <a:t>Figure 173: NeilMed Pharmaceuticals: Revenue from the Global Market and Share, US$ Mn and %, 2026</a:t>
                      </a:r>
                      <a:endParaRPr sz="1050"/>
                    </a:p>
                  </a:txBody>
                  <a:tcPr marL="9525" marR="9525" marT="9525" marB="0" anchor="ctr"/>
                </a:tc>
              </a:tr>
              <a:tr h="170266">
                <a:tc>
                  <a:txBody>
                    <a:bodyPr wrap="square"/>
                    <a:lstStyle/>
                    <a:p>
                      <a:pPr algn="l"/>
                      <a:r>
                        <a:rPr sz="1050" b="0" i="0">
                          <a:solidFill>
                            <a:srgbClr val="000000"/>
                          </a:solidFill>
                          <a:latin typeface="Calibri"/>
                        </a:rPr>
                        <a:t>Figure 174: Quest Products: Revenue from the Global Market and Share, US$ Mn and %, 2026</a:t>
                      </a:r>
                      <a:endParaRPr sz="1050"/>
                    </a:p>
                  </a:txBody>
                  <a:tcPr marL="9525" marR="9525" marT="9525" marB="0" anchor="ctr"/>
                </a:tc>
              </a:tr>
              <a:tr h="170266">
                <a:tc>
                  <a:txBody>
                    <a:bodyPr wrap="square"/>
                    <a:lstStyle/>
                    <a:p>
                      <a:pPr algn="l"/>
                      <a:r>
                        <a:rPr sz="1050" b="0" i="0">
                          <a:solidFill>
                            <a:srgbClr val="000000"/>
                          </a:solidFill>
                          <a:latin typeface="Calibri"/>
                        </a:rPr>
                        <a:t>Figure 175: Eosera: Revenue from the Global Market and Share, US$ Mn and %, 2026</a:t>
                      </a:r>
                      <a:endParaRPr sz="1050"/>
                    </a:p>
                  </a:txBody>
                  <a:tcPr marL="9525" marR="9525" marT="9525" marB="0" anchor="ctr"/>
                </a:tc>
              </a:tr>
              <a:tr h="333720">
                <a:tc>
                  <a:txBody>
                    <a:bodyPr wrap="square"/>
                    <a:lstStyle/>
                    <a:p>
                      <a:pPr algn="l"/>
                      <a:r>
                        <a:rPr sz="1050" b="0" i="0">
                          <a:solidFill>
                            <a:srgbClr val="000000"/>
                          </a:solidFill>
                          <a:latin typeface="Calibri"/>
                        </a:rPr>
                        <a:t>Figure 176: Coopération Pharmaceutique Française: Revenue from the Global Market and Share, US$ Mn and %, 2026</a:t>
                      </a:r>
                      <a:endParaRPr sz="1050"/>
                    </a:p>
                  </a:txBody>
                  <a:tcPr marL="9525" marR="9525" marT="9525" marB="0" anchor="ctr"/>
                </a:tc>
              </a:tr>
              <a:tr h="170266">
                <a:tc>
                  <a:txBody>
                    <a:bodyPr wrap="square"/>
                    <a:lstStyle/>
                    <a:p>
                      <a:pPr algn="l"/>
                      <a:r>
                        <a:rPr sz="1050" b="0" i="0">
                          <a:solidFill>
                            <a:srgbClr val="000000"/>
                          </a:solidFill>
                          <a:latin typeface="Calibri"/>
                        </a:rPr>
                        <a:t>Figure 177: Orion Pharma: Revenue from the Global Market and Share, US$ Mn and %, 2026</a:t>
                      </a:r>
                      <a:endParaRPr sz="1050"/>
                    </a:p>
                  </a:txBody>
                  <a:tcPr marL="9525" marR="9525" marT="9525" marB="0" anchor="ctr"/>
                </a:tc>
              </a:tr>
              <a:tr h="170266">
                <a:tc>
                  <a:txBody>
                    <a:bodyPr wrap="square"/>
                    <a:lstStyle/>
                    <a:p>
                      <a:pPr algn="l"/>
                      <a:r>
                        <a:rPr sz="1050" b="0" i="0">
                          <a:solidFill>
                            <a:srgbClr val="000000"/>
                          </a:solidFill>
                          <a:latin typeface="Calibri"/>
                        </a:rPr>
                        <a:t>Figure 178: Farmacia Nordic: Revenue from the Global Market and Share, US$ Mn and %, 2026</a:t>
                      </a:r>
                      <a:endParaRPr sz="1050"/>
                    </a:p>
                  </a:txBody>
                  <a:tcPr marL="9525" marR="9525" marT="9525" marB="0" anchor="ctr"/>
                </a:tc>
              </a:tr>
              <a:tr h="170266">
                <a:tc>
                  <a:txBody>
                    <a:bodyPr wrap="square"/>
                    <a:lstStyle/>
                    <a:p>
                      <a:pPr algn="l"/>
                      <a:r>
                        <a:rPr sz="1050" b="0" i="0">
                          <a:solidFill>
                            <a:srgbClr val="000000"/>
                          </a:solidFill>
                          <a:latin typeface="Calibri"/>
                        </a:rPr>
                        <a:t>Figure 179: Key Pharmaceuticals: Revenue from the Global Market and Share, US$ Mn and %, 2026</a:t>
                      </a:r>
                      <a:endParaRPr sz="1050"/>
                    </a:p>
                  </a:txBody>
                  <a:tcPr marL="9525" marR="9525" marT="9525" marB="0" anchor="ctr"/>
                </a:tc>
              </a:tr>
              <a:tr h="170266">
                <a:tc>
                  <a:txBody>
                    <a:bodyPr wrap="square"/>
                    <a:lstStyle/>
                    <a:p>
                      <a:pPr algn="l"/>
                      <a:r>
                        <a:rPr sz="1050" b="0" i="0">
                          <a:solidFill>
                            <a:srgbClr val="000000"/>
                          </a:solidFill>
                          <a:latin typeface="Calibri"/>
                        </a:rPr>
                        <a:t>Figure 180: Lanes Health: Revenue from the Global Market and Share, US$ Mn and %, 2026</a:t>
                      </a:r>
                      <a:endParaRPr sz="1050"/>
                    </a:p>
                  </a:txBody>
                  <a:tcPr marL="9525" marR="9525" marT="9525" marB="0" anchor="ctr"/>
                </a:tc>
              </a:tr>
              <a:tr h="170266">
                <a:tc>
                  <a:txBody>
                    <a:bodyPr wrap="square"/>
                    <a:lstStyle/>
                    <a:p>
                      <a:pPr algn="l"/>
                      <a:r>
                        <a:rPr sz="1050" b="0" i="0">
                          <a:solidFill>
                            <a:srgbClr val="000000"/>
                          </a:solidFill>
                          <a:latin typeface="Calibri"/>
                        </a:rPr>
                        <a:t>Figure 181: Global Market Strategic Developments by Type, %, 2025–2026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(4/4)</a:t>
            </a:r>
          </a:p>
        </p:txBody>
      </p:sp>
      <p:graphicFrame>
        <p:nvGraphicFramePr>
          <p:cNvPr id="9" name="FMI Contents Table"/>
          <p:cNvGraphicFramePr>
            <a:graphicFrameLocks noGrp="1"/>
          </p:cNvGraphicFramePr>
          <p:nvPr/>
        </p:nvGraphicFramePr>
        <p:xfrm>
          <a:off x="142875" y="981075"/>
          <a:ext cx="5876925" cy="3167072"/>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Figure 182: Global Market Company Footprint by Region, 2026</a:t>
                      </a:r>
                      <a:endParaRPr sz="1050"/>
                    </a:p>
                  </a:txBody>
                  <a:tcPr marL="9525" marR="9525" marT="9525" marB="0" anchor="ctr"/>
                </a:tc>
              </a:tr>
              <a:tr h="166688">
                <a:tc>
                  <a:txBody>
                    <a:bodyPr wrap="square"/>
                    <a:lstStyle/>
                    <a:p>
                      <a:pPr algn="l"/>
                      <a:r>
                        <a:rPr sz="1050" b="0" i="0">
                          <a:solidFill>
                            <a:srgbClr val="000000"/>
                          </a:solidFill>
                          <a:latin typeface="Calibri"/>
                        </a:rPr>
                        <a:t>Figure 183: Global Market Value Forecast by Scenario, US$ Mn, 2026–2036</a:t>
                      </a:r>
                      <a:endParaRPr sz="1050"/>
                    </a:p>
                  </a:txBody>
                  <a:tcPr marL="9525" marR="9525" marT="9525" marB="0" anchor="ctr"/>
                </a:tc>
              </a:tr>
              <a:tr h="166688">
                <a:tc>
                  <a:txBody>
                    <a:bodyPr wrap="square"/>
                    <a:lstStyle/>
                    <a:p>
                      <a:pPr algn="l"/>
                      <a:r>
                        <a:rPr sz="1050" b="0" i="0">
                          <a:solidFill>
                            <a:srgbClr val="000000"/>
                          </a:solidFill>
                          <a:latin typeface="Calibri"/>
                        </a:rPr>
                        <a:t>Figure 184: Global Market YoY Growth by Scenario, %, 2026–2036</a:t>
                      </a:r>
                      <a:endParaRPr sz="1050"/>
                    </a:p>
                  </a:txBody>
                  <a:tcPr marL="9525" marR="9525" marT="9525" marB="0" anchor="ctr"/>
                </a:tc>
              </a:tr>
              <a:tr h="166688">
                <a:tc>
                  <a:txBody>
                    <a:bodyPr wrap="square"/>
                    <a:lstStyle/>
                    <a:p>
                      <a:pPr algn="l"/>
                      <a:r>
                        <a:rPr sz="1050" b="0" i="0">
                          <a:solidFill>
                            <a:srgbClr val="000000"/>
                          </a:solidFill>
                          <a:latin typeface="Calibri"/>
                        </a:rPr>
                        <a:t>Figure 185: Global Market Key Trends Impact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186: Global Market Drivers, Restraints and Opportunities Impact, 2026–2036</a:t>
                      </a:r>
                      <a:endParaRPr sz="1050"/>
                    </a:p>
                  </a:txBody>
                  <a:tcPr marL="9525" marR="9525" marT="9525" marB="0" anchor="ctr"/>
                </a:tc>
              </a:tr>
              <a:tr h="166688">
                <a:tc>
                  <a:txBody>
                    <a:bodyPr wrap="square"/>
                    <a:lstStyle/>
                    <a:p>
                      <a:pPr algn="l"/>
                      <a:r>
                        <a:rPr sz="1050" b="0" i="0">
                          <a:solidFill>
                            <a:srgbClr val="000000"/>
                          </a:solidFill>
                          <a:latin typeface="Calibri"/>
                        </a:rPr>
                        <a:t>Figure 187: Global Market Opportunity Map by Region and Product Type, 2026–2036</a:t>
                      </a:r>
                      <a:endParaRPr sz="1050"/>
                    </a:p>
                  </a:txBody>
                  <a:tcPr marL="9525" marR="9525" marT="9525" marB="0" anchor="ctr"/>
                </a:tc>
              </a:tr>
              <a:tr h="166688">
                <a:tc>
                  <a:txBody>
                    <a:bodyPr wrap="square"/>
                    <a:lstStyle/>
                    <a:p>
                      <a:pPr algn="l"/>
                      <a:r>
                        <a:rPr sz="1050" b="0" i="0">
                          <a:solidFill>
                            <a:srgbClr val="000000"/>
                          </a:solidFill>
                          <a:latin typeface="Calibri"/>
                        </a:rPr>
                        <a:t>Figure 188: Global Market Technology Adoption Roadmap, 2021–2036</a:t>
                      </a:r>
                      <a:endParaRPr sz="1050"/>
                    </a:p>
                  </a:txBody>
                  <a:tcPr marL="9525" marR="9525" marT="9525" marB="0" anchor="ctr"/>
                </a:tc>
              </a:tr>
              <a:tr h="166688">
                <a:tc>
                  <a:txBody>
                    <a:bodyPr wrap="square"/>
                    <a:lstStyle/>
                    <a:p>
                      <a:pPr algn="l"/>
                      <a:r>
                        <a:rPr sz="1050" b="0" i="0">
                          <a:solidFill>
                            <a:srgbClr val="000000"/>
                          </a:solidFill>
                          <a:latin typeface="Calibri"/>
                        </a:rPr>
                        <a:t>Figure 189: Global Market Emerging Opportunity Pockets by Product Type, US$ Mn, 2026–2036</a:t>
                      </a:r>
                      <a:endParaRPr sz="1050"/>
                    </a:p>
                  </a:txBody>
                  <a:tcPr marL="9525" marR="9525" marT="9525" marB="0" anchor="ctr"/>
                </a:tc>
              </a:tr>
              <a:tr h="166688">
                <a:tc>
                  <a:txBody>
                    <a:bodyPr wrap="square"/>
                    <a:lstStyle/>
                    <a:p>
                      <a:pPr algn="l"/>
                      <a:r>
                        <a:rPr sz="1050" b="0" i="0">
                          <a:solidFill>
                            <a:srgbClr val="000000"/>
                          </a:solidFill>
                          <a:latin typeface="Calibri"/>
                        </a:rPr>
                        <a:t>Figure 190: Global Market Risk and Sensitivity Analysis, %, 2026–2036</a:t>
                      </a:r>
                      <a:endParaRPr sz="1050"/>
                    </a:p>
                  </a:txBody>
                  <a:tcPr marL="9525" marR="9525" marT="9525" marB="0" anchor="ctr"/>
                </a:tc>
              </a:tr>
              <a:tr h="166688">
                <a:tc>
                  <a:txBody>
                    <a:bodyPr wrap="square"/>
                    <a:lstStyle/>
                    <a:p>
                      <a:pPr algn="l"/>
                      <a:r>
                        <a:rPr sz="1050" b="0" i="0">
                          <a:solidFill>
                            <a:srgbClr val="000000"/>
                          </a:solidFill>
                          <a:latin typeface="Calibri"/>
                        </a:rPr>
                        <a:t>Figure 191: Global Market Regulatory Landscape Timeline, 2021–2036</a:t>
                      </a:r>
                      <a:endParaRPr sz="1050"/>
                    </a:p>
                  </a:txBody>
                  <a:tcPr marL="9525" marR="9525" marT="9525" marB="0" anchor="ctr"/>
                </a:tc>
              </a:tr>
              <a:tr h="166688">
                <a:tc>
                  <a:txBody>
                    <a:bodyPr wrap="square"/>
                    <a:lstStyle/>
                    <a:p>
                      <a:pPr algn="l"/>
                      <a:r>
                        <a:rPr sz="1050" b="0" i="0">
                          <a:solidFill>
                            <a:srgbClr val="000000"/>
                          </a:solidFill>
                          <a:latin typeface="Calibri"/>
                        </a:rPr>
                        <a:t>Figure 192: Global Market Investment Hotspots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193: Global Market Innovation Pipeline Assessment, 2026</a:t>
                      </a:r>
                      <a:endParaRPr sz="1050"/>
                    </a:p>
                  </a:txBody>
                  <a:tcPr marL="9525" marR="9525" marT="9525" marB="0" anchor="ctr"/>
                </a:tc>
              </a:tr>
              <a:tr h="166688">
                <a:tc>
                  <a:txBody>
                    <a:bodyPr wrap="square"/>
                    <a:lstStyle/>
                    <a:p>
                      <a:pPr algn="l"/>
                      <a:r>
                        <a:rPr sz="1050" b="0" i="0">
                          <a:solidFill>
                            <a:srgbClr val="000000"/>
                          </a:solidFill>
                          <a:latin typeface="Calibri"/>
                        </a:rPr>
                        <a:t>Figure 194: Global Market Demand Shift Analysis by Product Type, %, 2026–2036</a:t>
                      </a:r>
                      <a:endParaRPr sz="1050"/>
                    </a:p>
                  </a:txBody>
                  <a:tcPr marL="9525" marR="9525" marT="9525" marB="0" anchor="ctr"/>
                </a:tc>
              </a:tr>
              <a:tr h="166688">
                <a:tc>
                  <a:txBody>
                    <a:bodyPr wrap="square"/>
                    <a:lstStyle/>
                    <a:p>
                      <a:pPr algn="l"/>
                      <a:r>
                        <a:rPr sz="1050" b="0" i="0">
                          <a:solidFill>
                            <a:srgbClr val="000000"/>
                          </a:solidFill>
                          <a:latin typeface="Calibri"/>
                        </a:rPr>
                        <a:t>Figure 195: Global Market White-Space Opportunity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196: Global Market Customer Purchase Criteria Assessment, 2026</a:t>
                      </a:r>
                      <a:endParaRPr sz="1050"/>
                    </a:p>
                  </a:txBody>
                  <a:tcPr marL="9525" marR="9525" marT="9525" marB="0" anchor="ctr"/>
                </a:tc>
              </a:tr>
              <a:tr h="166688">
                <a:tc>
                  <a:txBody>
                    <a:bodyPr wrap="square"/>
                    <a:lstStyle/>
                    <a:p>
                      <a:pPr algn="l"/>
                      <a:r>
                        <a:rPr sz="1050" b="0" i="0">
                          <a:solidFill>
                            <a:srgbClr val="000000"/>
                          </a:solidFill>
                          <a:latin typeface="Calibri"/>
                        </a:rPr>
                        <a:t>Figure 197: Global Market Go-to-Market Priority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198: Global Market Unmet Needs Analysis by Product Type, 2026</a:t>
                      </a:r>
                      <a:endParaRPr sz="1050"/>
                    </a:p>
                  </a:txBody>
                  <a:tcPr marL="9525" marR="9525" marT="9525" marB="0" anchor="ctr"/>
                </a:tc>
              </a:tr>
              <a:tr h="166688">
                <a:tc>
                  <a:txBody>
                    <a:bodyPr wrap="square"/>
                    <a:lstStyle/>
                    <a:p>
                      <a:pPr algn="l"/>
                      <a:r>
                        <a:rPr sz="1050" b="0" i="0">
                          <a:solidFill>
                            <a:srgbClr val="000000"/>
                          </a:solidFill>
                          <a:latin typeface="Calibri"/>
                        </a:rPr>
                        <a:t>Figure 199: Global Market Right-to-Win Assessment, 2026</a:t>
                      </a:r>
                      <a:endParaRPr sz="1050"/>
                    </a:p>
                  </a:txBody>
                  <a:tcPr marL="9525" marR="9525" marT="9525" marB="0" anchor="ctr"/>
                </a:tc>
              </a:tr>
              <a:tr h="166688">
                <a:tc>
                  <a:txBody>
                    <a:bodyPr wrap="square"/>
                    <a:lstStyle/>
                    <a:p>
                      <a:pPr algn="l"/>
                      <a:r>
                        <a:rPr sz="1050" b="0" i="0">
                          <a:solidFill>
                            <a:srgbClr val="000000"/>
                          </a:solidFill>
                          <a:latin typeface="Calibri"/>
                        </a:rPr>
                        <a:t>Figure 200: Global Market Entry Strategy Scorecard, 2026–2036</a:t>
                      </a:r>
                      <a:endParaRPr sz="1050"/>
                    </a:p>
                  </a:txBody>
                  <a:tcPr marL="9525" marR="9525" marT="9525" marB="0" anchor="ctr"/>
                </a:tc>
              </a:tr>
            </a:tbl>
          </a:graphicData>
        </a:graphic>
      </p:graphicFrame>
      <p:sp>
        <p:nvSpPr>
          <p:cNvPr id="10" name="TextBox 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(1/4)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 Global Market Snapshot: Value, Volume and CAGR, US$ Mn, 2025–2036</a:t>
                      </a:r>
                      <a:endParaRPr sz="1050"/>
                    </a:p>
                  </a:txBody>
                  <a:tcPr marL="9525" marR="9525" marT="9525" marB="0" anchor="ctr"/>
                </a:tc>
              </a:tr>
              <a:tr h="169606">
                <a:tc>
                  <a:txBody>
                    <a:bodyPr wrap="square"/>
                    <a:lstStyle/>
                    <a:p>
                      <a:pPr algn="l"/>
                      <a:r>
                        <a:rPr sz="1050" b="0" i="0">
                          <a:solidFill>
                            <a:srgbClr val="000000"/>
                          </a:solidFill>
                          <a:latin typeface="Calibri"/>
                        </a:rPr>
                        <a:t>Table 2: Global Market Taxonomy by Segment, 2026</a:t>
                      </a:r>
                      <a:endParaRPr sz="1050"/>
                    </a:p>
                  </a:txBody>
                  <a:tcPr marL="9525" marR="9525" marT="9525" marB="0" anchor="ctr"/>
                </a:tc>
              </a:tr>
              <a:tr h="169606">
                <a:tc>
                  <a:txBody>
                    <a:bodyPr wrap="square"/>
                    <a:lstStyle/>
                    <a:p>
                      <a:pPr algn="l"/>
                      <a:r>
                        <a:rPr sz="1050" b="0" i="0">
                          <a:solidFill>
                            <a:srgbClr val="000000"/>
                          </a:solidFill>
                          <a:latin typeface="Calibri"/>
                        </a:rPr>
                        <a:t>Table 3: Global Market Scope: Inclusions and Exclusions by Segment, 2026</a:t>
                      </a:r>
                      <a:endParaRPr sz="1050"/>
                    </a:p>
                  </a:txBody>
                  <a:tcPr marL="9525" marR="9525" marT="9525" marB="0" anchor="ctr"/>
                </a:tc>
              </a:tr>
              <a:tr h="169606">
                <a:tc>
                  <a:txBody>
                    <a:bodyPr wrap="square"/>
                    <a:lstStyle/>
                    <a:p>
                      <a:pPr algn="l"/>
                      <a:r>
                        <a:rPr sz="1050" b="0" i="0">
                          <a:solidFill>
                            <a:srgbClr val="000000"/>
                          </a:solidFill>
                          <a:latin typeface="Calibri"/>
                        </a:rPr>
                        <a:t>Table 4: Global Market Key Demand Drivers and Impact Rating, 2026–2036</a:t>
                      </a:r>
                      <a:endParaRPr sz="1050"/>
                    </a:p>
                  </a:txBody>
                  <a:tcPr marL="9525" marR="9525" marT="9525" marB="0" anchor="ctr"/>
                </a:tc>
              </a:tr>
              <a:tr h="169606">
                <a:tc>
                  <a:txBody>
                    <a:bodyPr wrap="square"/>
                    <a:lstStyle/>
                    <a:p>
                      <a:pPr algn="l"/>
                      <a:r>
                        <a:rPr sz="1050" b="0" i="0">
                          <a:solidFill>
                            <a:srgbClr val="000000"/>
                          </a:solidFill>
                          <a:latin typeface="Calibri"/>
                        </a:rPr>
                        <a:t>Table 5: Global Market Key Restraints and Impact Rating, 2026–2036</a:t>
                      </a:r>
                      <a:endParaRPr sz="1050"/>
                    </a:p>
                  </a:txBody>
                  <a:tcPr marL="9525" marR="9525" marT="9525" marB="0" anchor="ctr"/>
                </a:tc>
              </a:tr>
              <a:tr h="169606">
                <a:tc>
                  <a:txBody>
                    <a:bodyPr wrap="square"/>
                    <a:lstStyle/>
                    <a:p>
                      <a:pPr algn="l"/>
                      <a:r>
                        <a:rPr sz="1050" b="0" i="0">
                          <a:solidFill>
                            <a:srgbClr val="000000"/>
                          </a:solidFill>
                          <a:latin typeface="Calibri"/>
                        </a:rPr>
                        <a:t>Table 6: Global Market Analyst Recommendations by Segment, 2026–2036</a:t>
                      </a:r>
                      <a:endParaRPr sz="1050"/>
                    </a:p>
                  </a:txBody>
                  <a:tcPr marL="9525" marR="9525" marT="9525" marB="0" anchor="ctr"/>
                </a:tc>
              </a:tr>
              <a:tr h="169606">
                <a:tc>
                  <a:txBody>
                    <a:bodyPr wrap="square"/>
                    <a:lstStyle/>
                    <a:p>
                      <a:pPr algn="l"/>
                      <a:r>
                        <a:rPr sz="1050" b="0" i="0">
                          <a:solidFill>
                            <a:srgbClr val="000000"/>
                          </a:solidFill>
                          <a:latin typeface="Calibri"/>
                        </a:rPr>
                        <a:t>Table 7: Global Market Key Market Signals and Data Points, 2026</a:t>
                      </a:r>
                      <a:endParaRPr sz="1050"/>
                    </a:p>
                  </a:txBody>
                  <a:tcPr marL="9525" marR="9525" marT="9525" marB="0" anchor="ctr"/>
                </a:tc>
              </a:tr>
              <a:tr h="169606">
                <a:tc>
                  <a:txBody>
                    <a:bodyPr wrap="square"/>
                    <a:lstStyle/>
                    <a:p>
                      <a:pPr algn="l"/>
                      <a:r>
                        <a:rPr sz="1050" b="0" i="0">
                          <a:solidFill>
                            <a:srgbClr val="000000"/>
                          </a:solidFill>
                          <a:latin typeface="Calibri"/>
                        </a:rPr>
                        <a:t>Table 8: Global Market Research Methodology and Data Sources, 2026</a:t>
                      </a:r>
                      <a:endParaRPr sz="1050"/>
                    </a:p>
                  </a:txBody>
                  <a:tcPr marL="9525" marR="9525" marT="9525" marB="0" anchor="ctr"/>
                </a:tc>
              </a:tr>
              <a:tr h="169606">
                <a:tc>
                  <a:txBody>
                    <a:bodyPr wrap="square"/>
                    <a:lstStyle/>
                    <a:p>
                      <a:pPr algn="l"/>
                      <a:r>
                        <a:rPr sz="1050" b="0" i="0">
                          <a:solidFill>
                            <a:srgbClr val="000000"/>
                          </a:solidFill>
                          <a:latin typeface="Calibri"/>
                        </a:rPr>
                        <a:t>Table 9: Global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Table 10: Global Market Historical Value Analysis, US$ Mn, 2021–2025</a:t>
                      </a:r>
                      <a:endParaRPr sz="1050"/>
                    </a:p>
                  </a:txBody>
                  <a:tcPr marL="9525" marR="9525" marT="9525" marB="0" anchor="ctr"/>
                </a:tc>
              </a:tr>
              <a:tr h="169606">
                <a:tc>
                  <a:txBody>
                    <a:bodyPr wrap="square"/>
                    <a:lstStyle/>
                    <a:p>
                      <a:pPr algn="l"/>
                      <a:r>
                        <a:rPr sz="1050" b="0" i="0">
                          <a:solidFill>
                            <a:srgbClr val="000000"/>
                          </a:solidFill>
                          <a:latin typeface="Calibri"/>
                        </a:rPr>
                        <a:t>Table 11: Global Market Forecast Value Analysis, US$ Mn, 2026–2036</a:t>
                      </a:r>
                      <a:endParaRPr sz="1050"/>
                    </a:p>
                  </a:txBody>
                  <a:tcPr marL="9525" marR="9525" marT="9525" marB="0" anchor="ctr"/>
                </a:tc>
              </a:tr>
              <a:tr h="169606">
                <a:tc>
                  <a:txBody>
                    <a:bodyPr wrap="square"/>
                    <a:lstStyle/>
                    <a:p>
                      <a:pPr algn="l"/>
                      <a:r>
                        <a:rPr sz="1050" b="0" i="0">
                          <a:solidFill>
                            <a:srgbClr val="000000"/>
                          </a:solidFill>
                          <a:latin typeface="Calibri"/>
                        </a:rPr>
                        <a:t>Table 12: Global Market Volume and YoY Growth, Mn Units and %, 2021–2036</a:t>
                      </a:r>
                      <a:endParaRPr sz="1050"/>
                    </a:p>
                  </a:txBody>
                  <a:tcPr marL="9525" marR="9525" marT="9525" marB="0" anchor="ctr"/>
                </a:tc>
              </a:tr>
              <a:tr h="169606">
                <a:tc>
                  <a:txBody>
                    <a:bodyPr wrap="square"/>
                    <a:lstStyle/>
                    <a:p>
                      <a:pPr algn="l"/>
                      <a:r>
                        <a:rPr sz="1050" b="0" i="0">
                          <a:solidFill>
                            <a:srgbClr val="000000"/>
                          </a:solidFill>
                          <a:latin typeface="Calibri"/>
                        </a:rPr>
                        <a:t>Table 13: Global Market Volume Forecast, Mn Units, 2026–2036</a:t>
                      </a:r>
                      <a:endParaRPr sz="1050"/>
                    </a:p>
                  </a:txBody>
                  <a:tcPr marL="9525" marR="9525" marT="9525" marB="0" anchor="ctr"/>
                </a:tc>
              </a:tr>
              <a:tr h="169606">
                <a:tc>
                  <a:txBody>
                    <a:bodyPr wrap="square"/>
                    <a:lstStyle/>
                    <a:p>
                      <a:pPr algn="l"/>
                      <a:r>
                        <a:rPr sz="1050" b="0" i="0">
                          <a:solidFill>
                            <a:srgbClr val="000000"/>
                          </a:solidFill>
                          <a:latin typeface="Calibri"/>
                        </a:rPr>
                        <a:t>Table 14: Global Market Average Selling Price, US$/Units, 2021–2036</a:t>
                      </a:r>
                      <a:endParaRPr sz="1050"/>
                    </a:p>
                  </a:txBody>
                  <a:tcPr marL="9525" marR="9525" marT="9525" marB="0" anchor="ctr"/>
                </a:tc>
              </a:tr>
              <a:tr h="169606">
                <a:tc>
                  <a:txBody>
                    <a:bodyPr wrap="square"/>
                    <a:lstStyle/>
                    <a:p>
                      <a:pPr algn="l"/>
                      <a:r>
                        <a:rPr sz="1050" b="0" i="0">
                          <a:solidFill>
                            <a:srgbClr val="000000"/>
                          </a:solidFill>
                          <a:latin typeface="Calibri"/>
                        </a:rPr>
                        <a:t>Table 15: Global Market Average Selling Price YoY Change, %, 2026–2036</a:t>
                      </a:r>
                      <a:endParaRPr sz="1050"/>
                    </a:p>
                  </a:txBody>
                  <a:tcPr marL="9525" marR="9525" marT="9525" marB="0" anchor="ctr"/>
                </a:tc>
              </a:tr>
              <a:tr h="169606">
                <a:tc>
                  <a:txBody>
                    <a:bodyPr wrap="square"/>
                    <a:lstStyle/>
                    <a:p>
                      <a:pPr algn="l"/>
                      <a:r>
                        <a:rPr sz="1050" b="0" i="0">
                          <a:solidFill>
                            <a:srgbClr val="000000"/>
                          </a:solidFill>
                          <a:latin typeface="Calibri"/>
                        </a:rPr>
                        <a:t>Table 16: Global Market CAGR and Absolute $ Opportunity, %, US$ Mn, 2026–2036</a:t>
                      </a:r>
                      <a:endParaRPr sz="1050"/>
                    </a:p>
                  </a:txBody>
                  <a:tcPr marL="9525" marR="9525" marT="9525" marB="0" anchor="ctr"/>
                </a:tc>
              </a:tr>
              <a:tr h="169606">
                <a:tc>
                  <a:txBody>
                    <a:bodyPr wrap="square"/>
                    <a:lstStyle/>
                    <a:p>
                      <a:pPr algn="l"/>
                      <a:r>
                        <a:rPr sz="1050" b="0" i="0">
                          <a:solidFill>
                            <a:srgbClr val="000000"/>
                          </a:solidFill>
                          <a:latin typeface="Calibri"/>
                        </a:rPr>
                        <a:t>Table 17: Global Market Absolute $ Opportunity by Year, US$ Mn, 2026–2036</a:t>
                      </a:r>
                      <a:endParaRPr sz="1050"/>
                    </a:p>
                  </a:txBody>
                  <a:tcPr marL="9525" marR="9525" marT="9525" marB="0" anchor="ctr"/>
                </a:tc>
              </a:tr>
              <a:tr h="169606">
                <a:tc>
                  <a:txBody>
                    <a:bodyPr wrap="square"/>
                    <a:lstStyle/>
                    <a:p>
                      <a:pPr algn="l"/>
                      <a:r>
                        <a:rPr sz="1050" b="0" i="0">
                          <a:solidFill>
                            <a:srgbClr val="000000"/>
                          </a:solidFill>
                          <a:latin typeface="Calibri"/>
                        </a:rPr>
                        <a:t>Table 18: Global Market Value by Scenario (Optimistic, Likely, Pessimistic), US$ Mn, 2026–2036</a:t>
                      </a:r>
                      <a:endParaRPr sz="1050"/>
                    </a:p>
                  </a:txBody>
                  <a:tcPr marL="9525" marR="9525" marT="9525" marB="0" anchor="ctr"/>
                </a:tc>
              </a:tr>
              <a:tr h="169606">
                <a:tc>
                  <a:txBody>
                    <a:bodyPr wrap="square"/>
                    <a:lstStyle/>
                    <a:p>
                      <a:pPr algn="l"/>
                      <a:r>
                        <a:rPr sz="1050" b="0" i="0">
                          <a:solidFill>
                            <a:srgbClr val="000000"/>
                          </a:solidFill>
                          <a:latin typeface="Calibri"/>
                        </a:rPr>
                        <a:t>Table 19: Global Market Scenario CAGR Comparison, %, 2026–2036</a:t>
                      </a:r>
                      <a:endParaRPr sz="1050"/>
                    </a:p>
                  </a:txBody>
                  <a:tcPr marL="9525" marR="9525" marT="9525" marB="0" anchor="ctr"/>
                </a:tc>
              </a:tr>
              <a:tr h="169606">
                <a:tc>
                  <a:txBody>
                    <a:bodyPr wrap="square"/>
                    <a:lstStyle/>
                    <a:p>
                      <a:pPr algn="l"/>
                      <a:r>
                        <a:rPr sz="1050" b="0" i="0">
                          <a:solidFill>
                            <a:srgbClr val="000000"/>
                          </a:solidFill>
                          <a:latin typeface="Calibri"/>
                        </a:rPr>
                        <a:t>Table 20: Global Market Historical vs Forecast Growth Comparison, %, 2021–2036</a:t>
                      </a:r>
                      <a:endParaRPr sz="1050"/>
                    </a:p>
                  </a:txBody>
                  <a:tcPr marL="9525" marR="9525" marT="9525" marB="0" anchor="ctr"/>
                </a:tc>
              </a:tr>
              <a:tr h="169606">
                <a:tc>
                  <a:txBody>
                    <a:bodyPr wrap="square"/>
                    <a:lstStyle/>
                    <a:p>
                      <a:pPr algn="l"/>
                      <a:r>
                        <a:rPr sz="1050" b="0" i="0">
                          <a:solidFill>
                            <a:srgbClr val="000000"/>
                          </a:solidFill>
                          <a:latin typeface="Calibri"/>
                        </a:rPr>
                        <a:t>Table 21: Global Market Five-Year Block Value Summary, US$ Mn, 2021–2036</a:t>
                      </a:r>
                      <a:endParaRPr sz="1050"/>
                    </a:p>
                  </a:txBody>
                  <a:tcPr marL="9525" marR="9525" marT="9525" marB="0" anchor="ctr"/>
                </a:tc>
              </a:tr>
              <a:tr h="169606">
                <a:tc>
                  <a:txBody>
                    <a:bodyPr wrap="square"/>
                    <a:lstStyle/>
                    <a:p>
                      <a:pPr algn="l"/>
                      <a:r>
                        <a:rPr sz="1050" b="0" i="0">
                          <a:solidFill>
                            <a:srgbClr val="000000"/>
                          </a:solidFill>
                          <a:latin typeface="Calibri"/>
                        </a:rPr>
                        <a:t>Table 22: Global Market Size Evolution Index, 2025=100, 2021–2036</a:t>
                      </a:r>
                      <a:endParaRPr sz="1050"/>
                    </a:p>
                  </a:txBody>
                  <a:tcPr marL="9525" marR="9525" marT="9525" marB="0" anchor="ctr"/>
                </a:tc>
              </a:tr>
              <a:tr h="169606">
                <a:tc>
                  <a:txBody>
                    <a:bodyPr wrap="square"/>
                    <a:lstStyle/>
                    <a:p>
                      <a:pPr algn="l"/>
                      <a:r>
                        <a:rPr sz="1050" b="0" i="0">
                          <a:solidFill>
                            <a:srgbClr val="000000"/>
                          </a:solidFill>
                          <a:latin typeface="Calibri"/>
                        </a:rPr>
                        <a:t>Table 23: Global Market Key Forecast Assumptions, 2026–2036</a:t>
                      </a:r>
                      <a:endParaRPr sz="1050"/>
                    </a:p>
                  </a:txBody>
                  <a:tcPr marL="9525" marR="9525" marT="9525" marB="0" anchor="ctr"/>
                </a:tc>
              </a:tr>
              <a:tr h="169606">
                <a:tc>
                  <a:txBody>
                    <a:bodyPr wrap="square"/>
                    <a:lstStyle/>
                    <a:p>
                      <a:pPr algn="l"/>
                      <a:r>
                        <a:rPr sz="1050" b="0" i="0">
                          <a:solidFill>
                            <a:srgbClr val="000000"/>
                          </a:solidFill>
                          <a:latin typeface="Calibri"/>
                        </a:rPr>
                        <a:t>Table 24: Global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25: Global Market Value by End User, US$ Mn, 2021–2036</a:t>
                      </a:r>
                      <a:endParaRPr sz="1050"/>
                    </a:p>
                  </a:txBody>
                  <a:tcPr marL="9525" marR="9525" marT="9525" marB="0" anchor="ctr"/>
                </a:tc>
              </a:tr>
              <a:tr h="169606">
                <a:tc>
                  <a:txBody>
                    <a:bodyPr wrap="square"/>
                    <a:lstStyle/>
                    <a:p>
                      <a:pPr algn="l"/>
                      <a:r>
                        <a:rPr sz="1050" b="0" i="0">
                          <a:solidFill>
                            <a:srgbClr val="000000"/>
                          </a:solidFill>
                          <a:latin typeface="Calibri"/>
                        </a:rPr>
                        <a:t>Table 26: Global Market Value by Sales Channel, US$ Mn, 2021–2036</a:t>
                      </a:r>
                      <a:endParaRPr sz="1050"/>
                    </a:p>
                  </a:txBody>
                  <a:tcPr marL="9525" marR="9525" marT="9525" marB="0" anchor="ctr"/>
                </a:tc>
              </a:tr>
              <a:tr h="169606">
                <a:tc>
                  <a:txBody>
                    <a:bodyPr wrap="square"/>
                    <a:lstStyle/>
                    <a:p>
                      <a:pPr algn="l"/>
                      <a:r>
                        <a:rPr sz="1050" b="0" i="0">
                          <a:solidFill>
                            <a:srgbClr val="000000"/>
                          </a:solidFill>
                          <a:latin typeface="Calibri"/>
                        </a:rPr>
                        <a:t>Table 27: Global Market Value by Age Group, US$ Mn, 2021–2036</a:t>
                      </a:r>
                      <a:endParaRPr sz="1050"/>
                    </a:p>
                  </a:txBody>
                  <a:tcPr marL="9525" marR="9525" marT="9525" marB="0" anchor="ctr"/>
                </a:tc>
              </a:tr>
              <a:tr h="169606">
                <a:tc>
                  <a:txBody>
                    <a:bodyPr wrap="square"/>
                    <a:lstStyle/>
                    <a:p>
                      <a:pPr algn="l"/>
                      <a:r>
                        <a:rPr sz="1050" b="0" i="0">
                          <a:solidFill>
                            <a:srgbClr val="000000"/>
                          </a:solidFill>
                          <a:latin typeface="Calibri"/>
                        </a:rPr>
                        <a:t>Table 28: Global Market CAGR and Absolute $ Opportunity by Product Type, %, US$ Mn, 2026–2036</a:t>
                      </a:r>
                      <a:endParaRPr sz="1050"/>
                    </a:p>
                  </a:txBody>
                  <a:tcPr marL="9525" marR="9525" marT="9525" marB="0" anchor="ctr"/>
                </a:tc>
              </a:tr>
              <a:tr h="169606">
                <a:tc>
                  <a:txBody>
                    <a:bodyPr wrap="square"/>
                    <a:lstStyle/>
                    <a:p>
                      <a:pPr algn="l"/>
                      <a:r>
                        <a:rPr sz="1050" b="0" i="0">
                          <a:solidFill>
                            <a:srgbClr val="000000"/>
                          </a:solidFill>
                          <a:latin typeface="Calibri"/>
                        </a:rPr>
                        <a:t>Table 29: Global Market CAGR and Absolute $ Opportunity by End User, %, US$ Mn, 2026–2036</a:t>
                      </a:r>
                      <a:endParaRPr sz="1050"/>
                    </a:p>
                  </a:txBody>
                  <a:tcPr marL="9525" marR="9525" marT="9525" marB="0" anchor="ctr"/>
                </a:tc>
              </a:tr>
              <a:tr h="169606">
                <a:tc>
                  <a:txBody>
                    <a:bodyPr wrap="square"/>
                    <a:lstStyle/>
                    <a:p>
                      <a:pPr algn="l"/>
                      <a:r>
                        <a:rPr sz="1050" b="0" i="0">
                          <a:solidFill>
                            <a:srgbClr val="000000"/>
                          </a:solidFill>
                          <a:latin typeface="Calibri"/>
                        </a:rPr>
                        <a:t>Table 30: Global Market CAGR and Absolute $ Opportunity by Sales Channel, %, US$ Mn, 2026–2036</a:t>
                      </a:r>
                      <a:endParaRPr sz="1050"/>
                    </a:p>
                  </a:txBody>
                  <a:tcPr marL="9525" marR="9525" marT="9525" marB="0" anchor="ctr"/>
                </a:tc>
              </a:tr>
              <a:tr h="169606">
                <a:tc>
                  <a:txBody>
                    <a:bodyPr wrap="square"/>
                    <a:lstStyle/>
                    <a:p>
                      <a:pPr algn="l"/>
                      <a:r>
                        <a:rPr sz="1050" b="0" i="0">
                          <a:solidFill>
                            <a:srgbClr val="000000"/>
                          </a:solidFill>
                          <a:latin typeface="Calibri"/>
                        </a:rPr>
                        <a:t>Table 31: Global Market CAGR and Absolute $ Opportunity by Age Group, %, US$ Mn,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32: Global Market Share and BPS Change by Product Type, %, 2025, 2026 and 2036</a:t>
                      </a:r>
                      <a:endParaRPr sz="1050"/>
                    </a:p>
                  </a:txBody>
                  <a:tcPr marL="9525" marR="9525" marT="9525" marB="0" anchor="ctr"/>
                </a:tc>
              </a:tr>
              <a:tr h="169606">
                <a:tc>
                  <a:txBody>
                    <a:bodyPr wrap="square"/>
                    <a:lstStyle/>
                    <a:p>
                      <a:pPr algn="l"/>
                      <a:r>
                        <a:rPr sz="1050" b="0" i="0">
                          <a:solidFill>
                            <a:srgbClr val="000000"/>
                          </a:solidFill>
                          <a:latin typeface="Calibri"/>
                        </a:rPr>
                        <a:t>Table 33: Global Market Share and BPS Change by End User, %, 2025, 2026 and 2036</a:t>
                      </a:r>
                      <a:endParaRPr sz="1050"/>
                    </a:p>
                  </a:txBody>
                  <a:tcPr marL="9525" marR="9525" marT="9525" marB="0" anchor="ctr"/>
                </a:tc>
              </a:tr>
              <a:tr h="169606">
                <a:tc>
                  <a:txBody>
                    <a:bodyPr wrap="square"/>
                    <a:lstStyle/>
                    <a:p>
                      <a:pPr algn="l"/>
                      <a:r>
                        <a:rPr sz="1050" b="0" i="0">
                          <a:solidFill>
                            <a:srgbClr val="000000"/>
                          </a:solidFill>
                          <a:latin typeface="Calibri"/>
                        </a:rPr>
                        <a:t>Table 34: Global Market Share and BPS Change by Sales Channel, %, 2025, 2026 and 2036</a:t>
                      </a:r>
                      <a:endParaRPr sz="1050"/>
                    </a:p>
                  </a:txBody>
                  <a:tcPr marL="9525" marR="9525" marT="9525" marB="0" anchor="ctr"/>
                </a:tc>
              </a:tr>
              <a:tr h="169606">
                <a:tc>
                  <a:txBody>
                    <a:bodyPr wrap="square"/>
                    <a:lstStyle/>
                    <a:p>
                      <a:pPr algn="l"/>
                      <a:r>
                        <a:rPr sz="1050" b="0" i="0">
                          <a:solidFill>
                            <a:srgbClr val="000000"/>
                          </a:solidFill>
                          <a:latin typeface="Calibri"/>
                        </a:rPr>
                        <a:t>Table 35: Global Market Share and BPS Change by Age Group, %, 2025, 2026 and 2036</a:t>
                      </a:r>
                      <a:endParaRPr sz="1050"/>
                    </a:p>
                  </a:txBody>
                  <a:tcPr marL="9525" marR="9525" marT="9525" marB="0" anchor="ctr"/>
                </a:tc>
              </a:tr>
              <a:tr h="169606">
                <a:tc>
                  <a:txBody>
                    <a:bodyPr wrap="square"/>
                    <a:lstStyle/>
                    <a:p>
                      <a:pPr algn="l"/>
                      <a:r>
                        <a:rPr sz="1050" b="0" i="0">
                          <a:solidFill>
                            <a:srgbClr val="000000"/>
                          </a:solidFill>
                          <a:latin typeface="Calibri"/>
                        </a:rPr>
                        <a:t>Table 36: Global Market YoY Growth by Product Type, %, 2026–2036</a:t>
                      </a:r>
                      <a:endParaRPr sz="1050"/>
                    </a:p>
                  </a:txBody>
                  <a:tcPr marL="9525" marR="9525" marT="9525" marB="0" anchor="ctr"/>
                </a:tc>
              </a:tr>
              <a:tr h="169606">
                <a:tc>
                  <a:txBody>
                    <a:bodyPr wrap="square"/>
                    <a:lstStyle/>
                    <a:p>
                      <a:pPr algn="l"/>
                      <a:r>
                        <a:rPr sz="1050" b="0" i="0">
                          <a:solidFill>
                            <a:srgbClr val="000000"/>
                          </a:solidFill>
                          <a:latin typeface="Calibri"/>
                        </a:rPr>
                        <a:t>Table 37: Global Market YoY Growth by End User, %, 2026–2036</a:t>
                      </a:r>
                      <a:endParaRPr sz="1050"/>
                    </a:p>
                  </a:txBody>
                  <a:tcPr marL="9525" marR="9525" marT="9525" marB="0" anchor="ctr"/>
                </a:tc>
              </a:tr>
              <a:tr h="169606">
                <a:tc>
                  <a:txBody>
                    <a:bodyPr wrap="square"/>
                    <a:lstStyle/>
                    <a:p>
                      <a:pPr algn="l"/>
                      <a:r>
                        <a:rPr sz="1050" b="0" i="0">
                          <a:solidFill>
                            <a:srgbClr val="000000"/>
                          </a:solidFill>
                          <a:latin typeface="Calibri"/>
                        </a:rPr>
                        <a:t>Table 38: Global Market YoY Growth by Sales Channel, %, 2026–2036</a:t>
                      </a:r>
                      <a:endParaRPr sz="1050"/>
                    </a:p>
                  </a:txBody>
                  <a:tcPr marL="9525" marR="9525" marT="9525" marB="0" anchor="ctr"/>
                </a:tc>
              </a:tr>
              <a:tr h="169606">
                <a:tc>
                  <a:txBody>
                    <a:bodyPr wrap="square"/>
                    <a:lstStyle/>
                    <a:p>
                      <a:pPr algn="l"/>
                      <a:r>
                        <a:rPr sz="1050" b="0" i="0">
                          <a:solidFill>
                            <a:srgbClr val="000000"/>
                          </a:solidFill>
                          <a:latin typeface="Calibri"/>
                        </a:rPr>
                        <a:t>Table 39: Global Market YoY Growth by Age Group, %, 2026–2036</a:t>
                      </a:r>
                      <a:endParaRPr sz="1050"/>
                    </a:p>
                  </a:txBody>
                  <a:tcPr marL="9525" marR="9525" marT="9525" marB="0" anchor="ctr"/>
                </a:tc>
              </a:tr>
              <a:tr h="169606">
                <a:tc>
                  <a:txBody>
                    <a:bodyPr wrap="square"/>
                    <a:lstStyle/>
                    <a:p>
                      <a:pPr algn="l"/>
                      <a:r>
                        <a:rPr sz="1050" b="0" i="0">
                          <a:solidFill>
                            <a:srgbClr val="000000"/>
                          </a:solidFill>
                          <a:latin typeface="Calibri"/>
                        </a:rPr>
                        <a:t>Table 40: Global Market Volume by Product Type, Mn Units, 2021–2036</a:t>
                      </a:r>
                      <a:endParaRPr sz="1050"/>
                    </a:p>
                  </a:txBody>
                  <a:tcPr marL="9525" marR="9525" marT="9525" marB="0" anchor="ctr"/>
                </a:tc>
              </a:tr>
              <a:tr h="169606">
                <a:tc>
                  <a:txBody>
                    <a:bodyPr wrap="square"/>
                    <a:lstStyle/>
                    <a:p>
                      <a:pPr algn="l"/>
                      <a:r>
                        <a:rPr sz="1050" b="0" i="0">
                          <a:solidFill>
                            <a:srgbClr val="000000"/>
                          </a:solidFill>
                          <a:latin typeface="Calibri"/>
                        </a:rPr>
                        <a:t>Table 41: Global Market Volume by End User, Mn Units, 2021–2036</a:t>
                      </a:r>
                      <a:endParaRPr sz="1050"/>
                    </a:p>
                  </a:txBody>
                  <a:tcPr marL="9525" marR="9525" marT="9525" marB="0" anchor="ctr"/>
                </a:tc>
              </a:tr>
              <a:tr h="169606">
                <a:tc>
                  <a:txBody>
                    <a:bodyPr wrap="square"/>
                    <a:lstStyle/>
                    <a:p>
                      <a:pPr algn="l"/>
                      <a:r>
                        <a:rPr sz="1050" b="0" i="0">
                          <a:solidFill>
                            <a:srgbClr val="000000"/>
                          </a:solidFill>
                          <a:latin typeface="Calibri"/>
                        </a:rPr>
                        <a:t>Table 42: Global Market Volume by Sales Channel, Mn Units, 2021–2036</a:t>
                      </a:r>
                      <a:endParaRPr sz="1050"/>
                    </a:p>
                  </a:txBody>
                  <a:tcPr marL="9525" marR="9525" marT="9525" marB="0" anchor="ctr"/>
                </a:tc>
              </a:tr>
              <a:tr h="169606">
                <a:tc>
                  <a:txBody>
                    <a:bodyPr wrap="square"/>
                    <a:lstStyle/>
                    <a:p>
                      <a:pPr algn="l"/>
                      <a:r>
                        <a:rPr sz="1050" b="0" i="0">
                          <a:solidFill>
                            <a:srgbClr val="000000"/>
                          </a:solidFill>
                          <a:latin typeface="Calibri"/>
                        </a:rPr>
                        <a:t>Table 43: Global Market Volume by Age Group, Mn Units, 2021–2036</a:t>
                      </a:r>
                      <a:endParaRPr sz="1050"/>
                    </a:p>
                  </a:txBody>
                  <a:tcPr marL="9525" marR="9525" marT="9525" marB="0" anchor="ctr"/>
                </a:tc>
              </a:tr>
              <a:tr h="169606">
                <a:tc>
                  <a:txBody>
                    <a:bodyPr wrap="square"/>
                    <a:lstStyle/>
                    <a:p>
                      <a:pPr algn="l"/>
                      <a:r>
                        <a:rPr sz="1050" b="0" i="0">
                          <a:solidFill>
                            <a:srgbClr val="000000"/>
                          </a:solidFill>
                          <a:latin typeface="Calibri"/>
                        </a:rPr>
                        <a:t>Table 44: Global Market Average Selling Price by Product Type, US$/Units, 2021–2036</a:t>
                      </a:r>
                      <a:endParaRPr sz="1050"/>
                    </a:p>
                  </a:txBody>
                  <a:tcPr marL="9525" marR="9525" marT="9525" marB="0" anchor="ctr"/>
                </a:tc>
              </a:tr>
              <a:tr h="169606">
                <a:tc>
                  <a:txBody>
                    <a:bodyPr wrap="square"/>
                    <a:lstStyle/>
                    <a:p>
                      <a:pPr algn="l"/>
                      <a:r>
                        <a:rPr sz="1050" b="0" i="0">
                          <a:solidFill>
                            <a:srgbClr val="000000"/>
                          </a:solidFill>
                          <a:latin typeface="Calibri"/>
                        </a:rPr>
                        <a:t>Table 45: Global Market Average Selling Price by End User, US$/Units, 2021–2036</a:t>
                      </a:r>
                      <a:endParaRPr sz="1050"/>
                    </a:p>
                  </a:txBody>
                  <a:tcPr marL="9525" marR="9525" marT="9525" marB="0" anchor="ctr"/>
                </a:tc>
              </a:tr>
              <a:tr h="169606">
                <a:tc>
                  <a:txBody>
                    <a:bodyPr wrap="square"/>
                    <a:lstStyle/>
                    <a:p>
                      <a:pPr algn="l"/>
                      <a:r>
                        <a:rPr sz="1050" b="0" i="0">
                          <a:solidFill>
                            <a:srgbClr val="000000"/>
                          </a:solidFill>
                          <a:latin typeface="Calibri"/>
                        </a:rPr>
                        <a:t>Table 46: Global Market Average Selling Price by Sales Channel, US$/Units, 2021–2036</a:t>
                      </a:r>
                      <a:endParaRPr sz="1050"/>
                    </a:p>
                  </a:txBody>
                  <a:tcPr marL="9525" marR="9525" marT="9525" marB="0" anchor="ctr"/>
                </a:tc>
              </a:tr>
              <a:tr h="169606">
                <a:tc>
                  <a:txBody>
                    <a:bodyPr wrap="square"/>
                    <a:lstStyle/>
                    <a:p>
                      <a:pPr algn="l"/>
                      <a:r>
                        <a:rPr sz="1050" b="0" i="0">
                          <a:solidFill>
                            <a:srgbClr val="000000"/>
                          </a:solidFill>
                          <a:latin typeface="Calibri"/>
                        </a:rPr>
                        <a:t>Table 47: Global Market Average Selling Price by Age Group, US$/Units, 2021–2036</a:t>
                      </a:r>
                      <a:endParaRPr sz="1050"/>
                    </a:p>
                  </a:txBody>
                  <a:tcPr marL="9525" marR="9525" marT="9525" marB="0" anchor="ctr"/>
                </a:tc>
              </a:tr>
              <a:tr h="169606">
                <a:tc>
                  <a:txBody>
                    <a:bodyPr wrap="square"/>
                    <a:lstStyle/>
                    <a:p>
                      <a:pPr algn="l"/>
                      <a:r>
                        <a:rPr sz="1050" b="0" i="0">
                          <a:solidFill>
                            <a:srgbClr val="000000"/>
                          </a:solidFill>
                          <a:latin typeface="Calibri"/>
                        </a:rPr>
                        <a:t>Table 48: Global Market Attractiveness Index by Product Type, 2026–2036</a:t>
                      </a:r>
                      <a:endParaRPr sz="1050"/>
                    </a:p>
                  </a:txBody>
                  <a:tcPr marL="9525" marR="9525" marT="9525" marB="0" anchor="ctr"/>
                </a:tc>
              </a:tr>
              <a:tr h="169606">
                <a:tc>
                  <a:txBody>
                    <a:bodyPr wrap="square"/>
                    <a:lstStyle/>
                    <a:p>
                      <a:pPr algn="l"/>
                      <a:r>
                        <a:rPr sz="1050" b="0" i="0">
                          <a:solidFill>
                            <a:srgbClr val="000000"/>
                          </a:solidFill>
                          <a:latin typeface="Calibri"/>
                        </a:rPr>
                        <a:t>Table 49: Global Market Attractiveness Index by End User, 2026–2036</a:t>
                      </a:r>
                      <a:endParaRPr sz="1050"/>
                    </a:p>
                  </a:txBody>
                  <a:tcPr marL="9525" marR="9525" marT="9525" marB="0" anchor="ctr"/>
                </a:tc>
              </a:tr>
              <a:tr h="169606">
                <a:tc>
                  <a:txBody>
                    <a:bodyPr wrap="square"/>
                    <a:lstStyle/>
                    <a:p>
                      <a:pPr algn="l"/>
                      <a:r>
                        <a:rPr sz="1050" b="0" i="0">
                          <a:solidFill>
                            <a:srgbClr val="000000"/>
                          </a:solidFill>
                          <a:latin typeface="Calibri"/>
                        </a:rPr>
                        <a:t>Table 50: Global Market Attractiveness Index by Sales Channel, 2026–2036</a:t>
                      </a:r>
                      <a:endParaRPr sz="1050"/>
                    </a:p>
                  </a:txBody>
                  <a:tcPr marL="9525" marR="9525" marT="9525" marB="0" anchor="ctr"/>
                </a:tc>
              </a:tr>
              <a:tr h="169606">
                <a:tc>
                  <a:txBody>
                    <a:bodyPr wrap="square"/>
                    <a:lstStyle/>
                    <a:p>
                      <a:pPr algn="l"/>
                      <a:r>
                        <a:rPr sz="1050" b="0" i="0">
                          <a:solidFill>
                            <a:srgbClr val="000000"/>
                          </a:solidFill>
                          <a:latin typeface="Calibri"/>
                        </a:rPr>
                        <a:t>Table 51: Global Market Attractiveness Index by Age Group, 2026–2036</a:t>
                      </a:r>
                      <a:endParaRPr sz="1050"/>
                    </a:p>
                  </a:txBody>
                  <a:tcPr marL="9525" marR="9525" marT="9525" marB="0" anchor="ctr"/>
                </a:tc>
              </a:tr>
              <a:tr h="169606">
                <a:tc>
                  <a:txBody>
                    <a:bodyPr wrap="square"/>
                    <a:lstStyle/>
                    <a:p>
                      <a:pPr algn="l"/>
                      <a:r>
                        <a:rPr sz="1050" b="0" i="0">
                          <a:solidFill>
                            <a:srgbClr val="000000"/>
                          </a:solidFill>
                          <a:latin typeface="Calibri"/>
                        </a:rPr>
                        <a:t>Table 52: Global Market Value of Ear Drops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53: Global Market Value of Individual consumers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54: Global Market Value of Retail Pharmacies and Drug Stores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55: Global Market Value of Paediatric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56: Global Market Value of Ear Sprays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57: Global Market Value of Healthcare professionals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58: Global Market Value of Supermarkets and Mass Retailers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59: Global Market Value of Adult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60: Global Market Value of Irrigation Devices and Accessories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61: Global Market Value of ENT specialists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62: Global Market Value of Online Channels by Region, US$ Mn, 2021–2036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(2/4)</a:t>
            </a:r>
          </a:p>
        </p:txBody>
      </p:sp>
      <p:graphicFrame>
        <p:nvGraphicFramePr>
          <p:cNvPr id="9" name="FMI Contents Table"/>
          <p:cNvGraphicFramePr>
            <a:graphicFrameLocks noGrp="1"/>
          </p:cNvGraphicFramePr>
          <p:nvPr/>
        </p:nvGraphicFramePr>
        <p:xfrm>
          <a:off x="142875"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Table 63: Global Market Value of Geriatric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64: Global Market Value of Manual Removal Tools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65: Global Market Value of General practitioners by Region, US$ Mn, 2021–2036</a:t>
                      </a:r>
                      <a:endParaRPr sz="1050"/>
                    </a:p>
                  </a:txBody>
                  <a:tcPr marL="9525" marR="9525" marT="9525" marB="0" anchor="ctr"/>
                </a:tc>
              </a:tr>
              <a:tr h="332858">
                <a:tc>
                  <a:txBody>
                    <a:bodyPr wrap="square"/>
                    <a:lstStyle/>
                    <a:p>
                      <a:pPr algn="l"/>
                      <a:r>
                        <a:rPr sz="1050" b="0" i="0">
                          <a:solidFill>
                            <a:srgbClr val="000000"/>
                          </a:solidFill>
                          <a:latin typeface="Calibri"/>
                        </a:rPr>
                        <a:t>Table 66: Global Market Value of Medical Distributors and Institutional Procurement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67: Global Market Value by Age Group by Scenario, US$ Mn, 2036</a:t>
                      </a:r>
                      <a:endParaRPr sz="1050"/>
                    </a:p>
                  </a:txBody>
                  <a:tcPr marL="9525" marR="9525" marT="9525" marB="0" anchor="ctr"/>
                </a:tc>
              </a:tr>
              <a:tr h="169826">
                <a:tc>
                  <a:txBody>
                    <a:bodyPr wrap="square"/>
                    <a:lstStyle/>
                    <a:p>
                      <a:pPr algn="l"/>
                      <a:r>
                        <a:rPr sz="1050" b="0" i="0">
                          <a:solidFill>
                            <a:srgbClr val="000000"/>
                          </a:solidFill>
                          <a:latin typeface="Calibri"/>
                        </a:rPr>
                        <a:t>Table 68: Global Market Value of Camera-Assisted Removal Devices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69: Global Market Value of Audiologists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70: Global Market Value of Other Offline Channels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71: Global Market Value by Product Type and End User, US$ Mn, 2026–2036</a:t>
                      </a:r>
                      <a:endParaRPr sz="1050"/>
                    </a:p>
                  </a:txBody>
                  <a:tcPr marL="9525" marR="9525" marT="9525" marB="0" anchor="ctr"/>
                </a:tc>
              </a:tr>
              <a:tr h="169826">
                <a:tc>
                  <a:txBody>
                    <a:bodyPr wrap="square"/>
                    <a:lstStyle/>
                    <a:p>
                      <a:pPr algn="l"/>
                      <a:r>
                        <a:rPr sz="1050" b="0" i="0">
                          <a:solidFill>
                            <a:srgbClr val="000000"/>
                          </a:solidFill>
                          <a:latin typeface="Calibri"/>
                        </a:rPr>
                        <a:t>Table 72: Global Market Value by Product Type and Sales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73: Global Market Value by Product Type and Age Group, US$ Mn, 2026–2036</a:t>
                      </a:r>
                      <a:endParaRPr sz="1050"/>
                    </a:p>
                  </a:txBody>
                  <a:tcPr marL="9525" marR="9525" marT="9525" marB="0" anchor="ctr"/>
                </a:tc>
              </a:tr>
              <a:tr h="169826">
                <a:tc>
                  <a:txBody>
                    <a:bodyPr wrap="square"/>
                    <a:lstStyle/>
                    <a:p>
                      <a:pPr algn="l"/>
                      <a:r>
                        <a:rPr sz="1050" b="0" i="0">
                          <a:solidFill>
                            <a:srgbClr val="000000"/>
                          </a:solidFill>
                          <a:latin typeface="Calibri"/>
                        </a:rPr>
                        <a:t>Table 74: Global Market Value by End User and Sales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75: Global Market Value by End User and Age Group, US$ Mn, 2026–2036</a:t>
                      </a:r>
                      <a:endParaRPr sz="1050"/>
                    </a:p>
                  </a:txBody>
                  <a:tcPr marL="9525" marR="9525" marT="9525" marB="0" anchor="ctr"/>
                </a:tc>
              </a:tr>
              <a:tr h="169826">
                <a:tc>
                  <a:txBody>
                    <a:bodyPr wrap="square"/>
                    <a:lstStyle/>
                    <a:p>
                      <a:pPr algn="l"/>
                      <a:r>
                        <a:rPr sz="1050" b="0" i="0">
                          <a:solidFill>
                            <a:srgbClr val="000000"/>
                          </a:solidFill>
                          <a:latin typeface="Calibri"/>
                        </a:rPr>
                        <a:t>Table 76: Global Market Value by Sales Channel and Age Group, US$ Mn, 2026–2036</a:t>
                      </a:r>
                      <a:endParaRPr sz="1050"/>
                    </a:p>
                  </a:txBody>
                  <a:tcPr marL="9525" marR="9525" marT="9525" marB="0" anchor="ctr"/>
                </a:tc>
              </a:tr>
              <a:tr h="169826">
                <a:tc>
                  <a:txBody>
                    <a:bodyPr wrap="square"/>
                    <a:lstStyle/>
                    <a:p>
                      <a:pPr algn="l"/>
                      <a:r>
                        <a:rPr sz="1050" b="0" i="0">
                          <a:solidFill>
                            <a:srgbClr val="000000"/>
                          </a:solidFill>
                          <a:latin typeface="Calibri"/>
                        </a:rPr>
                        <a:t>Table 77: Global Market Value by Region and Product Type, US$ Mn, 2026–2036</a:t>
                      </a:r>
                      <a:endParaRPr sz="1050"/>
                    </a:p>
                  </a:txBody>
                  <a:tcPr marL="9525" marR="9525" marT="9525" marB="0" anchor="ctr"/>
                </a:tc>
              </a:tr>
              <a:tr h="169826">
                <a:tc>
                  <a:txBody>
                    <a:bodyPr wrap="square"/>
                    <a:lstStyle/>
                    <a:p>
                      <a:pPr algn="l"/>
                      <a:r>
                        <a:rPr sz="1050" b="0" i="0">
                          <a:solidFill>
                            <a:srgbClr val="000000"/>
                          </a:solidFill>
                          <a:latin typeface="Calibri"/>
                        </a:rPr>
                        <a:t>Table 78: Global Market Value by Region and End User, US$ Mn, 2026–2036</a:t>
                      </a:r>
                      <a:endParaRPr sz="1050"/>
                    </a:p>
                  </a:txBody>
                  <a:tcPr marL="9525" marR="9525" marT="9525" marB="0" anchor="ctr"/>
                </a:tc>
              </a:tr>
              <a:tr h="169826">
                <a:tc>
                  <a:txBody>
                    <a:bodyPr wrap="square"/>
                    <a:lstStyle/>
                    <a:p>
                      <a:pPr algn="l"/>
                      <a:r>
                        <a:rPr sz="1050" b="0" i="0">
                          <a:solidFill>
                            <a:srgbClr val="000000"/>
                          </a:solidFill>
                          <a:latin typeface="Calibri"/>
                        </a:rPr>
                        <a:t>Table 79: Global Market Value by Region and Sales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80: Global Market Value by Region and Age Group, US$ Mn, 2026–2036</a:t>
                      </a:r>
                      <a:endParaRPr sz="1050"/>
                    </a:p>
                  </a:txBody>
                  <a:tcPr marL="9525" marR="9525" marT="9525" marB="0" anchor="ctr"/>
                </a:tc>
              </a:tr>
              <a:tr h="169826">
                <a:tc>
                  <a:txBody>
                    <a:bodyPr wrap="square"/>
                    <a:lstStyle/>
                    <a:p>
                      <a:pPr algn="l"/>
                      <a:r>
                        <a:rPr sz="1050" b="0" i="0">
                          <a:solidFill>
                            <a:srgbClr val="000000"/>
                          </a:solidFill>
                          <a:latin typeface="Calibri"/>
                        </a:rPr>
                        <a:t>Table 81: Global Market CAGR by Product Type and End User, %, 2026–2036</a:t>
                      </a:r>
                      <a:endParaRPr sz="1050"/>
                    </a:p>
                  </a:txBody>
                  <a:tcPr marL="9525" marR="9525" marT="9525" marB="0" anchor="ctr"/>
                </a:tc>
              </a:tr>
              <a:tr h="169826">
                <a:tc>
                  <a:txBody>
                    <a:bodyPr wrap="square"/>
                    <a:lstStyle/>
                    <a:p>
                      <a:pPr algn="l"/>
                      <a:r>
                        <a:rPr sz="1050" b="0" i="0">
                          <a:solidFill>
                            <a:srgbClr val="000000"/>
                          </a:solidFill>
                          <a:latin typeface="Calibri"/>
                        </a:rPr>
                        <a:t>Table 82: Global Market CAGR by Product Type and Sales Channel, %, 2026–2036</a:t>
                      </a:r>
                      <a:endParaRPr sz="1050"/>
                    </a:p>
                  </a:txBody>
                  <a:tcPr marL="9525" marR="9525" marT="9525" marB="0" anchor="ctr"/>
                </a:tc>
              </a:tr>
              <a:tr h="169826">
                <a:tc>
                  <a:txBody>
                    <a:bodyPr wrap="square"/>
                    <a:lstStyle/>
                    <a:p>
                      <a:pPr algn="l"/>
                      <a:r>
                        <a:rPr sz="1050" b="0" i="0">
                          <a:solidFill>
                            <a:srgbClr val="000000"/>
                          </a:solidFill>
                          <a:latin typeface="Calibri"/>
                        </a:rPr>
                        <a:t>Table 83: Global Market CAGR by Product Type and Age Group, %, 2026–2036</a:t>
                      </a:r>
                      <a:endParaRPr sz="1050"/>
                    </a:p>
                  </a:txBody>
                  <a:tcPr marL="9525" marR="9525" marT="9525" marB="0" anchor="ctr"/>
                </a:tc>
              </a:tr>
              <a:tr h="169826">
                <a:tc>
                  <a:txBody>
                    <a:bodyPr wrap="square"/>
                    <a:lstStyle/>
                    <a:p>
                      <a:pPr algn="l"/>
                      <a:r>
                        <a:rPr sz="1050" b="0" i="0">
                          <a:solidFill>
                            <a:srgbClr val="000000"/>
                          </a:solidFill>
                          <a:latin typeface="Calibri"/>
                        </a:rPr>
                        <a:t>Table 84: Global Market CAGR by End User and Sales Channel, %, 2026–2036</a:t>
                      </a:r>
                      <a:endParaRPr sz="1050"/>
                    </a:p>
                  </a:txBody>
                  <a:tcPr marL="9525" marR="9525" marT="9525" marB="0" anchor="ctr"/>
                </a:tc>
              </a:tr>
              <a:tr h="169826">
                <a:tc>
                  <a:txBody>
                    <a:bodyPr wrap="square"/>
                    <a:lstStyle/>
                    <a:p>
                      <a:pPr algn="l"/>
                      <a:r>
                        <a:rPr sz="1050" b="0" i="0">
                          <a:solidFill>
                            <a:srgbClr val="000000"/>
                          </a:solidFill>
                          <a:latin typeface="Calibri"/>
                        </a:rPr>
                        <a:t>Table 85: Global Market CAGR by End User and Age Group, %, 2026–2036</a:t>
                      </a:r>
                      <a:endParaRPr sz="1050"/>
                    </a:p>
                  </a:txBody>
                  <a:tcPr marL="9525" marR="9525" marT="9525" marB="0" anchor="ctr"/>
                </a:tc>
              </a:tr>
              <a:tr h="169826">
                <a:tc>
                  <a:txBody>
                    <a:bodyPr wrap="square"/>
                    <a:lstStyle/>
                    <a:p>
                      <a:pPr algn="l"/>
                      <a:r>
                        <a:rPr sz="1050" b="0" i="0">
                          <a:solidFill>
                            <a:srgbClr val="000000"/>
                          </a:solidFill>
                          <a:latin typeface="Calibri"/>
                        </a:rPr>
                        <a:t>Table 86: Global Market CAGR by Sales Channel and Age Group, %, 2026–2036</a:t>
                      </a:r>
                      <a:endParaRPr sz="1050"/>
                    </a:p>
                  </a:txBody>
                  <a:tcPr marL="9525" marR="9525" marT="9525" marB="0" anchor="ctr"/>
                </a:tc>
              </a:tr>
              <a:tr h="169826">
                <a:tc>
                  <a:txBody>
                    <a:bodyPr wrap="square"/>
                    <a:lstStyle/>
                    <a:p>
                      <a:pPr algn="l"/>
                      <a:r>
                        <a:rPr sz="1050" b="0" i="0">
                          <a:solidFill>
                            <a:srgbClr val="000000"/>
                          </a:solidFill>
                          <a:latin typeface="Calibri"/>
                        </a:rPr>
                        <a:t>Table 87: Global Market CAGR by Region and Product Type, %, 2026–2036</a:t>
                      </a:r>
                      <a:endParaRPr sz="1050"/>
                    </a:p>
                  </a:txBody>
                  <a:tcPr marL="9525" marR="9525" marT="9525" marB="0" anchor="ctr"/>
                </a:tc>
              </a:tr>
              <a:tr h="169826">
                <a:tc>
                  <a:txBody>
                    <a:bodyPr wrap="square"/>
                    <a:lstStyle/>
                    <a:p>
                      <a:pPr algn="l"/>
                      <a:r>
                        <a:rPr sz="1050" b="0" i="0">
                          <a:solidFill>
                            <a:srgbClr val="000000"/>
                          </a:solidFill>
                          <a:latin typeface="Calibri"/>
                        </a:rPr>
                        <a:t>Table 88: Global Market CAGR by Region and End User, %, 2026–2036</a:t>
                      </a:r>
                      <a:endParaRPr sz="1050"/>
                    </a:p>
                  </a:txBody>
                  <a:tcPr marL="9525" marR="9525" marT="9525" marB="0" anchor="ctr"/>
                </a:tc>
              </a:tr>
              <a:tr h="169826">
                <a:tc>
                  <a:txBody>
                    <a:bodyPr wrap="square"/>
                    <a:lstStyle/>
                    <a:p>
                      <a:pPr algn="l"/>
                      <a:r>
                        <a:rPr sz="1050" b="0" i="0">
                          <a:solidFill>
                            <a:srgbClr val="000000"/>
                          </a:solidFill>
                          <a:latin typeface="Calibri"/>
                        </a:rPr>
                        <a:t>Table 89: Global Market CAGR by Region and Sales Channel, %, 2026–2036</a:t>
                      </a:r>
                      <a:endParaRPr sz="1050"/>
                    </a:p>
                  </a:txBody>
                  <a:tcPr marL="9525" marR="9525" marT="9525" marB="0" anchor="ctr"/>
                </a:tc>
              </a:tr>
              <a:tr h="169826">
                <a:tc>
                  <a:txBody>
                    <a:bodyPr wrap="square"/>
                    <a:lstStyle/>
                    <a:p>
                      <a:pPr algn="l"/>
                      <a:r>
                        <a:rPr sz="1050" b="0" i="0">
                          <a:solidFill>
                            <a:srgbClr val="000000"/>
                          </a:solidFill>
                          <a:latin typeface="Calibri"/>
                        </a:rPr>
                        <a:t>Table 90: Global Market CAGR by Region and Age Group, %, 2026–2036</a:t>
                      </a:r>
                      <a:endParaRPr sz="1050"/>
                    </a:p>
                  </a:txBody>
                  <a:tcPr marL="9525" marR="9525" marT="9525" marB="0" anchor="ctr"/>
                </a:tc>
              </a:tr>
              <a:tr h="169826">
                <a:tc>
                  <a:txBody>
                    <a:bodyPr wrap="square"/>
                    <a:lstStyle/>
                    <a:p>
                      <a:pPr algn="l"/>
                      <a:r>
                        <a:rPr sz="1050" b="0" i="0">
                          <a:solidFill>
                            <a:srgbClr val="000000"/>
                          </a:solidFill>
                          <a:latin typeface="Calibri"/>
                        </a:rPr>
                        <a:t>Table 91: Global Market Share of End User within Product Type, %, 2026 and 2036</a:t>
                      </a:r>
                      <a:endParaRPr sz="1050"/>
                    </a:p>
                  </a:txBody>
                  <a:tcPr marL="9525" marR="9525" marT="9525" marB="0" anchor="ctr"/>
                </a:tc>
              </a:tr>
              <a:tr h="169826">
                <a:tc>
                  <a:txBody>
                    <a:bodyPr wrap="square"/>
                    <a:lstStyle/>
                    <a:p>
                      <a:pPr algn="l"/>
                      <a:r>
                        <a:rPr sz="1050" b="0" i="0">
                          <a:solidFill>
                            <a:srgbClr val="000000"/>
                          </a:solidFill>
                          <a:latin typeface="Calibri"/>
                        </a:rPr>
                        <a:t>Table 92: Global Market Value by Region, US$ Mn, 2021–2036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0"/>
        </p:xfrm>
        <a:graphic>
          <a:graphicData uri="http://schemas.openxmlformats.org/drawingml/2006/table">
            <a:tbl>
              <a:tblPr>
                <a:tableStyleId>{3B4B98B0-60AC-42C2-AFA5-B58CD77FA1E5}</a:tableStyleId>
              </a:tblPr>
              <a:tblGrid>
                <a:gridCol w="5876925"/>
              </a:tblGrid>
              <a:tr h="170266">
                <a:tc>
                  <a:txBody>
                    <a:bodyPr wrap="square"/>
                    <a:lstStyle/>
                    <a:p>
                      <a:pPr algn="l"/>
                      <a:r>
                        <a:rPr sz="1050" b="0" i="0">
                          <a:solidFill>
                            <a:srgbClr val="000000"/>
                          </a:solidFill>
                          <a:latin typeface="Calibri"/>
                        </a:rPr>
                        <a:t>Table 93: Global Market CAGR and Absolute $ Opportunity by Region, %, US$ Mn, 2026–2036</a:t>
                      </a:r>
                      <a:endParaRPr sz="1050"/>
                    </a:p>
                  </a:txBody>
                  <a:tcPr marL="9525" marR="9525" marT="9525" marB="0" anchor="ctr"/>
                </a:tc>
              </a:tr>
              <a:tr h="170266">
                <a:tc>
                  <a:txBody>
                    <a:bodyPr wrap="square"/>
                    <a:lstStyle/>
                    <a:p>
                      <a:pPr algn="l"/>
                      <a:r>
                        <a:rPr sz="1050" b="0" i="0">
                          <a:solidFill>
                            <a:srgbClr val="000000"/>
                          </a:solidFill>
                          <a:latin typeface="Calibri"/>
                        </a:rPr>
                        <a:t>Table 94: Global Market Share and BPS Change by Region, %, 2026 and 2036</a:t>
                      </a:r>
                      <a:endParaRPr sz="1050"/>
                    </a:p>
                  </a:txBody>
                  <a:tcPr marL="9525" marR="9525" marT="9525" marB="0" anchor="ctr"/>
                </a:tc>
              </a:tr>
              <a:tr h="170266">
                <a:tc>
                  <a:txBody>
                    <a:bodyPr wrap="square"/>
                    <a:lstStyle/>
                    <a:p>
                      <a:pPr algn="l"/>
                      <a:r>
                        <a:rPr sz="1050" b="0" i="0">
                          <a:solidFill>
                            <a:srgbClr val="000000"/>
                          </a:solidFill>
                          <a:latin typeface="Calibri"/>
                        </a:rPr>
                        <a:t>Table 95: Global Market Volume by Region, Mn Units, 2021–2036</a:t>
                      </a:r>
                      <a:endParaRPr sz="1050"/>
                    </a:p>
                  </a:txBody>
                  <a:tcPr marL="9525" marR="9525" marT="9525" marB="0" anchor="ctr"/>
                </a:tc>
              </a:tr>
              <a:tr h="170266">
                <a:tc>
                  <a:txBody>
                    <a:bodyPr wrap="square"/>
                    <a:lstStyle/>
                    <a:p>
                      <a:pPr algn="l"/>
                      <a:r>
                        <a:rPr sz="1050" b="0" i="0">
                          <a:solidFill>
                            <a:srgbClr val="000000"/>
                          </a:solidFill>
                          <a:latin typeface="Calibri"/>
                        </a:rPr>
                        <a:t>Table 96: North America Market Value by Country, US$ Mn, 2021–2036</a:t>
                      </a:r>
                      <a:endParaRPr sz="1050"/>
                    </a:p>
                  </a:txBody>
                  <a:tcPr marL="9525" marR="9525" marT="9525" marB="0" anchor="ctr"/>
                </a:tc>
              </a:tr>
              <a:tr h="170266">
                <a:tc>
                  <a:txBody>
                    <a:bodyPr wrap="square"/>
                    <a:lstStyle/>
                    <a:p>
                      <a:pPr algn="l"/>
                      <a:r>
                        <a:rPr sz="1050" b="0" i="0">
                          <a:solidFill>
                            <a:srgbClr val="000000"/>
                          </a:solidFill>
                          <a:latin typeface="Calibri"/>
                        </a:rPr>
                        <a:t>Table 97: Latin America Market Value by Country, US$ Mn, 2021–2036</a:t>
                      </a:r>
                      <a:endParaRPr sz="1050"/>
                    </a:p>
                  </a:txBody>
                  <a:tcPr marL="9525" marR="9525" marT="9525" marB="0" anchor="ctr"/>
                </a:tc>
              </a:tr>
              <a:tr h="170266">
                <a:tc>
                  <a:txBody>
                    <a:bodyPr wrap="square"/>
                    <a:lstStyle/>
                    <a:p>
                      <a:pPr algn="l"/>
                      <a:r>
                        <a:rPr sz="1050" b="0" i="0">
                          <a:solidFill>
                            <a:srgbClr val="000000"/>
                          </a:solidFill>
                          <a:latin typeface="Calibri"/>
                        </a:rPr>
                        <a:t>Table 98: Europe Market Value by Country, US$ Mn, 2021–2036</a:t>
                      </a:r>
                      <a:endParaRPr sz="1050"/>
                    </a:p>
                  </a:txBody>
                  <a:tcPr marL="9525" marR="9525" marT="9525" marB="0" anchor="ctr"/>
                </a:tc>
              </a:tr>
              <a:tr h="170266">
                <a:tc>
                  <a:txBody>
                    <a:bodyPr wrap="square"/>
                    <a:lstStyle/>
                    <a:p>
                      <a:pPr algn="l"/>
                      <a:r>
                        <a:rPr sz="1050" b="0" i="0">
                          <a:solidFill>
                            <a:srgbClr val="000000"/>
                          </a:solidFill>
                          <a:latin typeface="Calibri"/>
                        </a:rPr>
                        <a:t>Table 99: East Asia Market Value by Country, US$ Mn, 2021–2036</a:t>
                      </a:r>
                      <a:endParaRPr sz="1050"/>
                    </a:p>
                  </a:txBody>
                  <a:tcPr marL="9525" marR="9525" marT="9525" marB="0" anchor="ctr"/>
                </a:tc>
              </a:tr>
              <a:tr h="170266">
                <a:tc>
                  <a:txBody>
                    <a:bodyPr wrap="square"/>
                    <a:lstStyle/>
                    <a:p>
                      <a:pPr algn="l"/>
                      <a:r>
                        <a:rPr sz="1050" b="0" i="0">
                          <a:solidFill>
                            <a:srgbClr val="000000"/>
                          </a:solidFill>
                          <a:latin typeface="Calibri"/>
                        </a:rPr>
                        <a:t>Table 100: South Asia &amp; Pacific Market Value by Country, US$ Mn, 2021–2036</a:t>
                      </a:r>
                      <a:endParaRPr sz="1050"/>
                    </a:p>
                  </a:txBody>
                  <a:tcPr marL="9525" marR="9525" marT="9525" marB="0" anchor="ctr"/>
                </a:tc>
              </a:tr>
              <a:tr h="170266">
                <a:tc>
                  <a:txBody>
                    <a:bodyPr wrap="square"/>
                    <a:lstStyle/>
                    <a:p>
                      <a:pPr algn="l"/>
                      <a:r>
                        <a:rPr sz="1050" b="0" i="0">
                          <a:solidFill>
                            <a:srgbClr val="000000"/>
                          </a:solidFill>
                          <a:latin typeface="Calibri"/>
                        </a:rPr>
                        <a:t>Table 101: Middle East &amp; Africa Market Value by Country, US$ Mn, 2021–2036</a:t>
                      </a:r>
                      <a:endParaRPr sz="1050"/>
                    </a:p>
                  </a:txBody>
                  <a:tcPr marL="9525" marR="9525" marT="9525" marB="0" anchor="ctr"/>
                </a:tc>
              </a:tr>
              <a:tr h="333720">
                <a:tc>
                  <a:txBody>
                    <a:bodyPr wrap="square"/>
                    <a:lstStyle/>
                    <a:p>
                      <a:pPr algn="l"/>
                      <a:r>
                        <a:rPr sz="1050" b="0" i="0">
                          <a:solidFill>
                            <a:srgbClr val="000000"/>
                          </a:solidFill>
                          <a:latin typeface="Calibri"/>
                        </a:rPr>
                        <a:t>Table 102: North America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103: Latin America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104: Europe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105: East Asia Market CAGR and Absolute $ Opportunity by Country, %, US$ Mn, 2026–2036</a:t>
                      </a:r>
                      <a:endParaRPr sz="1050"/>
                    </a:p>
                  </a:txBody>
                  <a:tcPr marL="9525" marR="9525" marT="9525" marB="0" anchor="ctr"/>
                </a:tc>
              </a:tr>
              <a:tr h="333720">
                <a:tc>
                  <a:txBody>
                    <a:bodyPr wrap="square"/>
                    <a:lstStyle/>
                    <a:p>
                      <a:pPr algn="l"/>
                      <a:r>
                        <a:rPr sz="1050" b="0" i="0">
                          <a:solidFill>
                            <a:srgbClr val="000000"/>
                          </a:solidFill>
                          <a:latin typeface="Calibri"/>
                        </a:rPr>
                        <a:t>Table 106: South Asia &amp; Pacific Market CAGR and Absolute $ Opportunity by Country, %, US$ Mn, 2026–2036</a:t>
                      </a:r>
                      <a:endParaRPr sz="1050"/>
                    </a:p>
                  </a:txBody>
                  <a:tcPr marL="9525" marR="9525" marT="9525" marB="0" anchor="ctr"/>
                </a:tc>
              </a:tr>
              <a:tr h="333720">
                <a:tc>
                  <a:txBody>
                    <a:bodyPr wrap="square"/>
                    <a:lstStyle/>
                    <a:p>
                      <a:pPr algn="l"/>
                      <a:r>
                        <a:rPr sz="1050" b="0" i="0">
                          <a:solidFill>
                            <a:srgbClr val="000000"/>
                          </a:solidFill>
                          <a:latin typeface="Calibri"/>
                        </a:rPr>
                        <a:t>Table 107: Middle East &amp; Africa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108: North America Market Value by Product Type, US$ Mn, 2021–2036</a:t>
                      </a:r>
                      <a:endParaRPr sz="1050"/>
                    </a:p>
                  </a:txBody>
                  <a:tcPr marL="9525" marR="9525" marT="9525" marB="0" anchor="ctr"/>
                </a:tc>
              </a:tr>
              <a:tr h="170266">
                <a:tc>
                  <a:txBody>
                    <a:bodyPr wrap="square"/>
                    <a:lstStyle/>
                    <a:p>
                      <a:pPr algn="l"/>
                      <a:r>
                        <a:rPr sz="1050" b="0" i="0">
                          <a:solidFill>
                            <a:srgbClr val="000000"/>
                          </a:solidFill>
                          <a:latin typeface="Calibri"/>
                        </a:rPr>
                        <a:t>Table 109: Latin America Market Value by Product Type, US$ Mn, 2021–2036</a:t>
                      </a:r>
                      <a:endParaRPr sz="1050"/>
                    </a:p>
                  </a:txBody>
                  <a:tcPr marL="9525" marR="9525" marT="9525" marB="0" anchor="ctr"/>
                </a:tc>
              </a:tr>
              <a:tr h="170266">
                <a:tc>
                  <a:txBody>
                    <a:bodyPr wrap="square"/>
                    <a:lstStyle/>
                    <a:p>
                      <a:pPr algn="l"/>
                      <a:r>
                        <a:rPr sz="1050" b="0" i="0">
                          <a:solidFill>
                            <a:srgbClr val="000000"/>
                          </a:solidFill>
                          <a:latin typeface="Calibri"/>
                        </a:rPr>
                        <a:t>Table 110: Europe Market Value by Product Type, US$ Mn, 2021–2036</a:t>
                      </a:r>
                      <a:endParaRPr sz="1050"/>
                    </a:p>
                  </a:txBody>
                  <a:tcPr marL="9525" marR="9525" marT="9525" marB="0" anchor="ctr"/>
                </a:tc>
              </a:tr>
              <a:tr h="170266">
                <a:tc>
                  <a:txBody>
                    <a:bodyPr wrap="square"/>
                    <a:lstStyle/>
                    <a:p>
                      <a:pPr algn="l"/>
                      <a:r>
                        <a:rPr sz="1050" b="0" i="0">
                          <a:solidFill>
                            <a:srgbClr val="000000"/>
                          </a:solidFill>
                          <a:latin typeface="Calibri"/>
                        </a:rPr>
                        <a:t>Table 111: East Asia Market Value by Product Type, US$ Mn, 2021–2036</a:t>
                      </a:r>
                      <a:endParaRPr sz="1050"/>
                    </a:p>
                  </a:txBody>
                  <a:tcPr marL="9525" marR="9525" marT="9525" marB="0" anchor="ctr"/>
                </a:tc>
              </a:tr>
              <a:tr h="170266">
                <a:tc>
                  <a:txBody>
                    <a:bodyPr wrap="square"/>
                    <a:lstStyle/>
                    <a:p>
                      <a:pPr algn="l"/>
                      <a:r>
                        <a:rPr sz="1050" b="0" i="0">
                          <a:solidFill>
                            <a:srgbClr val="000000"/>
                          </a:solidFill>
                          <a:latin typeface="Calibri"/>
                        </a:rPr>
                        <a:t>Table 112: South Asia &amp; Pacific Market Value by Product Type, US$ Mn, 2021–2036</a:t>
                      </a:r>
                      <a:endParaRPr sz="1050"/>
                    </a:p>
                  </a:txBody>
                  <a:tcPr marL="9525" marR="9525" marT="9525" marB="0" anchor="ctr"/>
                </a:tc>
              </a:tr>
              <a:tr h="170266">
                <a:tc>
                  <a:txBody>
                    <a:bodyPr wrap="square"/>
                    <a:lstStyle/>
                    <a:p>
                      <a:pPr algn="l"/>
                      <a:r>
                        <a:rPr sz="1050" b="0" i="0">
                          <a:solidFill>
                            <a:srgbClr val="000000"/>
                          </a:solidFill>
                          <a:latin typeface="Calibri"/>
                        </a:rPr>
                        <a:t>Table 113: Middle East &amp; Africa Market Value by Product Type, US$ Mn, 2021–2036</a:t>
                      </a:r>
                      <a:endParaRPr sz="1050"/>
                    </a:p>
                  </a:txBody>
                  <a:tcPr marL="9525" marR="9525" marT="9525" marB="0" anchor="ctr"/>
                </a:tc>
              </a:tr>
              <a:tr h="170266">
                <a:tc>
                  <a:txBody>
                    <a:bodyPr wrap="square"/>
                    <a:lstStyle/>
                    <a:p>
                      <a:pPr algn="l"/>
                      <a:r>
                        <a:rPr sz="1050" b="0" i="0">
                          <a:solidFill>
                            <a:srgbClr val="000000"/>
                          </a:solidFill>
                          <a:latin typeface="Calibri"/>
                        </a:rPr>
                        <a:t>Table 114: North America Market Value by End User, US$ Mn, 2021–2036</a:t>
                      </a:r>
                      <a:endParaRPr sz="1050"/>
                    </a:p>
                  </a:txBody>
                  <a:tcPr marL="9525" marR="9525" marT="9525" marB="0" anchor="ctr"/>
                </a:tc>
              </a:tr>
              <a:tr h="170266">
                <a:tc>
                  <a:txBody>
                    <a:bodyPr wrap="square"/>
                    <a:lstStyle/>
                    <a:p>
                      <a:pPr algn="l"/>
                      <a:r>
                        <a:rPr sz="1050" b="0" i="0">
                          <a:solidFill>
                            <a:srgbClr val="000000"/>
                          </a:solidFill>
                          <a:latin typeface="Calibri"/>
                        </a:rPr>
                        <a:t>Table 115: Latin America Market Value by End User, US$ Mn, 2021–2036</a:t>
                      </a:r>
                      <a:endParaRPr sz="1050"/>
                    </a:p>
                  </a:txBody>
                  <a:tcPr marL="9525" marR="9525" marT="9525" marB="0" anchor="ctr"/>
                </a:tc>
              </a:tr>
              <a:tr h="170266">
                <a:tc>
                  <a:txBody>
                    <a:bodyPr wrap="square"/>
                    <a:lstStyle/>
                    <a:p>
                      <a:pPr algn="l"/>
                      <a:r>
                        <a:rPr sz="1050" b="0" i="0">
                          <a:solidFill>
                            <a:srgbClr val="000000"/>
                          </a:solidFill>
                          <a:latin typeface="Calibri"/>
                        </a:rPr>
                        <a:t>Table 116: Europe Market Value by End User, US$ Mn, 2021–2036</a:t>
                      </a:r>
                      <a:endParaRPr sz="1050"/>
                    </a:p>
                  </a:txBody>
                  <a:tcPr marL="9525" marR="9525" marT="9525" marB="0" anchor="ctr"/>
                </a:tc>
              </a:tr>
              <a:tr h="170266">
                <a:tc>
                  <a:txBody>
                    <a:bodyPr wrap="square"/>
                    <a:lstStyle/>
                    <a:p>
                      <a:pPr algn="l"/>
                      <a:r>
                        <a:rPr sz="1050" b="0" i="0">
                          <a:solidFill>
                            <a:srgbClr val="000000"/>
                          </a:solidFill>
                          <a:latin typeface="Calibri"/>
                        </a:rPr>
                        <a:t>Table 117: East Asia Market Value by End User, US$ Mn, 2021–2036</a:t>
                      </a:r>
                      <a:endParaRPr sz="1050"/>
                    </a:p>
                  </a:txBody>
                  <a:tcPr marL="9525" marR="9525" marT="9525" marB="0" anchor="ctr"/>
                </a:tc>
              </a:tr>
              <a:tr h="170266">
                <a:tc>
                  <a:txBody>
                    <a:bodyPr wrap="square"/>
                    <a:lstStyle/>
                    <a:p>
                      <a:pPr algn="l"/>
                      <a:r>
                        <a:rPr sz="1050" b="0" i="0">
                          <a:solidFill>
                            <a:srgbClr val="000000"/>
                          </a:solidFill>
                          <a:latin typeface="Calibri"/>
                        </a:rPr>
                        <a:t>Table 118: South Asia &amp; Pacific Market Value by End User, US$ Mn, 2021–2036</a:t>
                      </a:r>
                      <a:endParaRPr sz="1050"/>
                    </a:p>
                  </a:txBody>
                  <a:tcPr marL="9525" marR="9525" marT="9525" marB="0" anchor="ctr"/>
                </a:tc>
              </a:tr>
              <a:tr h="170266">
                <a:tc>
                  <a:txBody>
                    <a:bodyPr wrap="square"/>
                    <a:lstStyle/>
                    <a:p>
                      <a:pPr algn="l"/>
                      <a:r>
                        <a:rPr sz="1050" b="0" i="0">
                          <a:solidFill>
                            <a:srgbClr val="000000"/>
                          </a:solidFill>
                          <a:latin typeface="Calibri"/>
                        </a:rPr>
                        <a:t>Table 119: Middle East &amp; Africa Market Value by End User, US$ Mn, 2021–2036</a:t>
                      </a:r>
                      <a:endParaRPr sz="1050"/>
                    </a:p>
                  </a:txBody>
                  <a:tcPr marL="9525" marR="9525" marT="9525" marB="0" anchor="ctr"/>
                </a:tc>
              </a:tr>
              <a:tr h="170266">
                <a:tc>
                  <a:txBody>
                    <a:bodyPr wrap="square"/>
                    <a:lstStyle/>
                    <a:p>
                      <a:pPr algn="l"/>
                      <a:r>
                        <a:rPr sz="1050" b="0" i="0">
                          <a:solidFill>
                            <a:srgbClr val="000000"/>
                          </a:solidFill>
                          <a:latin typeface="Calibri"/>
                        </a:rPr>
                        <a:t>Table 120: North America Market Value by Sales Channel, US$ Mn, 2021–2036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(3/4)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121: U.S.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122: U.S.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123: U.S. Market Value by End User, US$ Mn, 2021–2036</a:t>
                      </a:r>
                      <a:endParaRPr sz="1050"/>
                    </a:p>
                  </a:txBody>
                  <a:tcPr marL="9525" marR="9525" marT="9525" marB="0" anchor="ctr"/>
                </a:tc>
              </a:tr>
              <a:tr h="169606">
                <a:tc>
                  <a:txBody>
                    <a:bodyPr wrap="square"/>
                    <a:lstStyle/>
                    <a:p>
                      <a:pPr algn="l"/>
                      <a:r>
                        <a:rPr sz="1050" b="0" i="0">
                          <a:solidFill>
                            <a:srgbClr val="000000"/>
                          </a:solidFill>
                          <a:latin typeface="Calibri"/>
                        </a:rPr>
                        <a:t>Table 124: U.S. Market Share within North America, %, 2025, 2026 and 2036</a:t>
                      </a:r>
                      <a:endParaRPr sz="1050"/>
                    </a:p>
                  </a:txBody>
                  <a:tcPr marL="9525" marR="9525" marT="9525" marB="0" anchor="ctr"/>
                </a:tc>
              </a:tr>
              <a:tr h="169606">
                <a:tc>
                  <a:txBody>
                    <a:bodyPr wrap="square"/>
                    <a:lstStyle/>
                    <a:p>
                      <a:pPr algn="l"/>
                      <a:r>
                        <a:rPr sz="1050" b="0" i="0">
                          <a:solidFill>
                            <a:srgbClr val="000000"/>
                          </a:solidFill>
                          <a:latin typeface="Calibri"/>
                        </a:rPr>
                        <a:t>Table 125: U.S. Market Value by Sales Channel, US$ Mn, 2021–2036</a:t>
                      </a:r>
                      <a:endParaRPr sz="1050"/>
                    </a:p>
                  </a:txBody>
                  <a:tcPr marL="9525" marR="9525" marT="9525" marB="0" anchor="ctr"/>
                </a:tc>
              </a:tr>
              <a:tr h="169606">
                <a:tc>
                  <a:txBody>
                    <a:bodyPr wrap="square"/>
                    <a:lstStyle/>
                    <a:p>
                      <a:pPr algn="l"/>
                      <a:r>
                        <a:rPr sz="1050" b="0" i="0">
                          <a:solidFill>
                            <a:srgbClr val="000000"/>
                          </a:solidFill>
                          <a:latin typeface="Calibri"/>
                        </a:rPr>
                        <a:t>Table 126: U.S. Market Value by Age Group, US$ Mn, 2021–2036</a:t>
                      </a:r>
                      <a:endParaRPr sz="1050"/>
                    </a:p>
                  </a:txBody>
                  <a:tcPr marL="9525" marR="9525" marT="9525" marB="0" anchor="ctr"/>
                </a:tc>
              </a:tr>
              <a:tr h="169606">
                <a:tc>
                  <a:txBody>
                    <a:bodyPr wrap="square"/>
                    <a:lstStyle/>
                    <a:p>
                      <a:pPr algn="l"/>
                      <a:r>
                        <a:rPr sz="1050" b="0" i="0">
                          <a:solidFill>
                            <a:srgbClr val="000000"/>
                          </a:solidFill>
                          <a:latin typeface="Calibri"/>
                        </a:rPr>
                        <a:t>Table 127: U.S. Market Volume by Product Type, Mn Units, 2021–2036</a:t>
                      </a:r>
                      <a:endParaRPr sz="1050"/>
                    </a:p>
                  </a:txBody>
                  <a:tcPr marL="9525" marR="9525" marT="9525" marB="0" anchor="ctr"/>
                </a:tc>
              </a:tr>
              <a:tr h="169606">
                <a:tc>
                  <a:txBody>
                    <a:bodyPr wrap="square"/>
                    <a:lstStyle/>
                    <a:p>
                      <a:pPr algn="l"/>
                      <a:r>
                        <a:rPr sz="1050" b="0" i="0">
                          <a:solidFill>
                            <a:srgbClr val="000000"/>
                          </a:solidFill>
                          <a:latin typeface="Calibri"/>
                        </a:rPr>
                        <a:t>Table 128: U.S. Market Average Selling Price, US$/Units, 2021–2036</a:t>
                      </a:r>
                      <a:endParaRPr sz="1050"/>
                    </a:p>
                  </a:txBody>
                  <a:tcPr marL="9525" marR="9525" marT="9525" marB="0" anchor="ctr"/>
                </a:tc>
              </a:tr>
              <a:tr h="169606">
                <a:tc>
                  <a:txBody>
                    <a:bodyPr wrap="square"/>
                    <a:lstStyle/>
                    <a:p>
                      <a:pPr algn="l"/>
                      <a:r>
                        <a:rPr sz="1050" b="0" i="0">
                          <a:solidFill>
                            <a:srgbClr val="000000"/>
                          </a:solidFill>
                          <a:latin typeface="Calibri"/>
                        </a:rPr>
                        <a:t>Table 129: Germany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130: Germany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131: Germany Market Value by End User, US$ Mn, 2021–2036</a:t>
                      </a:r>
                      <a:endParaRPr sz="1050"/>
                    </a:p>
                  </a:txBody>
                  <a:tcPr marL="9525" marR="9525" marT="9525" marB="0" anchor="ctr"/>
                </a:tc>
              </a:tr>
              <a:tr h="169606">
                <a:tc>
                  <a:txBody>
                    <a:bodyPr wrap="square"/>
                    <a:lstStyle/>
                    <a:p>
                      <a:pPr algn="l"/>
                      <a:r>
                        <a:rPr sz="1050" b="0" i="0">
                          <a:solidFill>
                            <a:srgbClr val="000000"/>
                          </a:solidFill>
                          <a:latin typeface="Calibri"/>
                        </a:rPr>
                        <a:t>Table 132: Germany Market Share within Europe, %, 2025, 2026 and 2036</a:t>
                      </a:r>
                      <a:endParaRPr sz="1050"/>
                    </a:p>
                  </a:txBody>
                  <a:tcPr marL="9525" marR="9525" marT="9525" marB="0" anchor="ctr"/>
                </a:tc>
              </a:tr>
              <a:tr h="169606">
                <a:tc>
                  <a:txBody>
                    <a:bodyPr wrap="square"/>
                    <a:lstStyle/>
                    <a:p>
                      <a:pPr algn="l"/>
                      <a:r>
                        <a:rPr sz="1050" b="0" i="0">
                          <a:solidFill>
                            <a:srgbClr val="000000"/>
                          </a:solidFill>
                          <a:latin typeface="Calibri"/>
                        </a:rPr>
                        <a:t>Table 133: Germany Market Value by Sales Channel, US$ Mn, 2021–2036</a:t>
                      </a:r>
                      <a:endParaRPr sz="1050"/>
                    </a:p>
                  </a:txBody>
                  <a:tcPr marL="9525" marR="9525" marT="9525" marB="0" anchor="ctr"/>
                </a:tc>
              </a:tr>
              <a:tr h="169606">
                <a:tc>
                  <a:txBody>
                    <a:bodyPr wrap="square"/>
                    <a:lstStyle/>
                    <a:p>
                      <a:pPr algn="l"/>
                      <a:r>
                        <a:rPr sz="1050" b="0" i="0">
                          <a:solidFill>
                            <a:srgbClr val="000000"/>
                          </a:solidFill>
                          <a:latin typeface="Calibri"/>
                        </a:rPr>
                        <a:t>Table 134: Germany Market Value by Age Group, US$ Mn, 2021–2036</a:t>
                      </a:r>
                      <a:endParaRPr sz="1050"/>
                    </a:p>
                  </a:txBody>
                  <a:tcPr marL="9525" marR="9525" marT="9525" marB="0" anchor="ctr"/>
                </a:tc>
              </a:tr>
              <a:tr h="169606">
                <a:tc>
                  <a:txBody>
                    <a:bodyPr wrap="square"/>
                    <a:lstStyle/>
                    <a:p>
                      <a:pPr algn="l"/>
                      <a:r>
                        <a:rPr sz="1050" b="0" i="0">
                          <a:solidFill>
                            <a:srgbClr val="000000"/>
                          </a:solidFill>
                          <a:latin typeface="Calibri"/>
                        </a:rPr>
                        <a:t>Table 135: Germany Market Volume by Product Type, Mn Units, 2021–2036</a:t>
                      </a:r>
                      <a:endParaRPr sz="1050"/>
                    </a:p>
                  </a:txBody>
                  <a:tcPr marL="9525" marR="9525" marT="9525" marB="0" anchor="ctr"/>
                </a:tc>
              </a:tr>
              <a:tr h="169606">
                <a:tc>
                  <a:txBody>
                    <a:bodyPr wrap="square"/>
                    <a:lstStyle/>
                    <a:p>
                      <a:pPr algn="l"/>
                      <a:r>
                        <a:rPr sz="1050" b="0" i="0">
                          <a:solidFill>
                            <a:srgbClr val="000000"/>
                          </a:solidFill>
                          <a:latin typeface="Calibri"/>
                        </a:rPr>
                        <a:t>Table 136: Germany Market Average Selling Price, US$/Units, 2021–2036</a:t>
                      </a:r>
                      <a:endParaRPr sz="1050"/>
                    </a:p>
                  </a:txBody>
                  <a:tcPr marL="9525" marR="9525" marT="9525" marB="0" anchor="ctr"/>
                </a:tc>
              </a:tr>
              <a:tr h="169606">
                <a:tc>
                  <a:txBody>
                    <a:bodyPr wrap="square"/>
                    <a:lstStyle/>
                    <a:p>
                      <a:pPr algn="l"/>
                      <a:r>
                        <a:rPr sz="1050" b="0" i="0">
                          <a:solidFill>
                            <a:srgbClr val="000000"/>
                          </a:solidFill>
                          <a:latin typeface="Calibri"/>
                        </a:rPr>
                        <a:t>Table 137: Canada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138: Canada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139: Canada Market Value by End User, US$ Mn, 2021–2036</a:t>
                      </a:r>
                      <a:endParaRPr sz="1050"/>
                    </a:p>
                  </a:txBody>
                  <a:tcPr marL="9525" marR="9525" marT="9525" marB="0" anchor="ctr"/>
                </a:tc>
              </a:tr>
              <a:tr h="169606">
                <a:tc>
                  <a:txBody>
                    <a:bodyPr wrap="square"/>
                    <a:lstStyle/>
                    <a:p>
                      <a:pPr algn="l"/>
                      <a:r>
                        <a:rPr sz="1050" b="0" i="0">
                          <a:solidFill>
                            <a:srgbClr val="000000"/>
                          </a:solidFill>
                          <a:latin typeface="Calibri"/>
                        </a:rPr>
                        <a:t>Table 140: Canada Market Share within North America, %, 2025, 2026 and 2036</a:t>
                      </a:r>
                      <a:endParaRPr sz="1050"/>
                    </a:p>
                  </a:txBody>
                  <a:tcPr marL="9525" marR="9525" marT="9525" marB="0" anchor="ctr"/>
                </a:tc>
              </a:tr>
              <a:tr h="169606">
                <a:tc>
                  <a:txBody>
                    <a:bodyPr wrap="square"/>
                    <a:lstStyle/>
                    <a:p>
                      <a:pPr algn="l"/>
                      <a:r>
                        <a:rPr sz="1050" b="0" i="0">
                          <a:solidFill>
                            <a:srgbClr val="000000"/>
                          </a:solidFill>
                          <a:latin typeface="Calibri"/>
                        </a:rPr>
                        <a:t>Table 141: Canada Market Value by Sales Channel, US$ Mn, 2021–2036</a:t>
                      </a:r>
                      <a:endParaRPr sz="1050"/>
                    </a:p>
                  </a:txBody>
                  <a:tcPr marL="9525" marR="9525" marT="9525" marB="0" anchor="ctr"/>
                </a:tc>
              </a:tr>
              <a:tr h="169606">
                <a:tc>
                  <a:txBody>
                    <a:bodyPr wrap="square"/>
                    <a:lstStyle/>
                    <a:p>
                      <a:pPr algn="l"/>
                      <a:r>
                        <a:rPr sz="1050" b="0" i="0">
                          <a:solidFill>
                            <a:srgbClr val="000000"/>
                          </a:solidFill>
                          <a:latin typeface="Calibri"/>
                        </a:rPr>
                        <a:t>Table 142: Canada Market Value by Age Group, US$ Mn, 2021–2036</a:t>
                      </a:r>
                      <a:endParaRPr sz="1050"/>
                    </a:p>
                  </a:txBody>
                  <a:tcPr marL="9525" marR="9525" marT="9525" marB="0" anchor="ctr"/>
                </a:tc>
              </a:tr>
              <a:tr h="169606">
                <a:tc>
                  <a:txBody>
                    <a:bodyPr wrap="square"/>
                    <a:lstStyle/>
                    <a:p>
                      <a:pPr algn="l"/>
                      <a:r>
                        <a:rPr sz="1050" b="0" i="0">
                          <a:solidFill>
                            <a:srgbClr val="000000"/>
                          </a:solidFill>
                          <a:latin typeface="Calibri"/>
                        </a:rPr>
                        <a:t>Table 143: Canada Market Volume by Product Type, Mn Units, 2021–2036</a:t>
                      </a:r>
                      <a:endParaRPr sz="1050"/>
                    </a:p>
                  </a:txBody>
                  <a:tcPr marL="9525" marR="9525" marT="9525" marB="0" anchor="ctr"/>
                </a:tc>
              </a:tr>
              <a:tr h="169606">
                <a:tc>
                  <a:txBody>
                    <a:bodyPr wrap="square"/>
                    <a:lstStyle/>
                    <a:p>
                      <a:pPr algn="l"/>
                      <a:r>
                        <a:rPr sz="1050" b="0" i="0">
                          <a:solidFill>
                            <a:srgbClr val="000000"/>
                          </a:solidFill>
                          <a:latin typeface="Calibri"/>
                        </a:rPr>
                        <a:t>Table 144: Canada Market Average Selling Price, US$/Units, 2021–2036</a:t>
                      </a:r>
                      <a:endParaRPr sz="1050"/>
                    </a:p>
                  </a:txBody>
                  <a:tcPr marL="9525" marR="9525" marT="9525" marB="0" anchor="ctr"/>
                </a:tc>
              </a:tr>
              <a:tr h="169606">
                <a:tc>
                  <a:txBody>
                    <a:bodyPr wrap="square"/>
                    <a:lstStyle/>
                    <a:p>
                      <a:pPr algn="l"/>
                      <a:r>
                        <a:rPr sz="1050" b="0" i="0">
                          <a:solidFill>
                            <a:srgbClr val="000000"/>
                          </a:solidFill>
                          <a:latin typeface="Calibri"/>
                        </a:rPr>
                        <a:t>Table 145: China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146: China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147: India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148: India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149: Brazil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150: Brazil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151: U.K. Market Value by Product Type, US$ Mn, 2021–2036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Table 152: U.K.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153: Japan Market Value by Product Type, US$ Mn, 2021–2036</a:t>
                      </a:r>
                      <a:endParaRPr sz="1050"/>
                    </a:p>
                  </a:txBody>
                  <a:tcPr marL="9525" marR="9525" marT="9525" marB="0" anchor="ctr"/>
                </a:tc>
              </a:tr>
              <a:tr h="169826">
                <a:tc>
                  <a:txBody>
                    <a:bodyPr wrap="square"/>
                    <a:lstStyle/>
                    <a:p>
                      <a:pPr algn="l"/>
                      <a:r>
                        <a:rPr sz="1050" b="0" i="0">
                          <a:solidFill>
                            <a:srgbClr val="000000"/>
                          </a:solidFill>
                          <a:latin typeface="Calibri"/>
                        </a:rPr>
                        <a:t>Table 154: Japan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155: France Market Value by Product Type, US$ Mn, 2021–2036</a:t>
                      </a:r>
                      <a:endParaRPr sz="1050"/>
                    </a:p>
                  </a:txBody>
                  <a:tcPr marL="9525" marR="9525" marT="9525" marB="0" anchor="ctr"/>
                </a:tc>
              </a:tr>
              <a:tr h="169826">
                <a:tc>
                  <a:txBody>
                    <a:bodyPr wrap="square"/>
                    <a:lstStyle/>
                    <a:p>
                      <a:pPr algn="l"/>
                      <a:r>
                        <a:rPr sz="1050" b="0" i="0">
                          <a:solidFill>
                            <a:srgbClr val="000000"/>
                          </a:solidFill>
                          <a:latin typeface="Calibri"/>
                        </a:rPr>
                        <a:t>Table 156: France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157: Turkey Market Value by Product Type, US$ Mn, 2021–2036</a:t>
                      </a:r>
                      <a:endParaRPr sz="1050"/>
                    </a:p>
                  </a:txBody>
                  <a:tcPr marL="9525" marR="9525" marT="9525" marB="0" anchor="ctr"/>
                </a:tc>
              </a:tr>
              <a:tr h="169826">
                <a:tc>
                  <a:txBody>
                    <a:bodyPr wrap="square"/>
                    <a:lstStyle/>
                    <a:p>
                      <a:pPr algn="l"/>
                      <a:r>
                        <a:rPr sz="1050" b="0" i="0">
                          <a:solidFill>
                            <a:srgbClr val="000000"/>
                          </a:solidFill>
                          <a:latin typeface="Calibri"/>
                        </a:rPr>
                        <a:t>Table 158: Turkey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159: Market Product Price Comparison by Company and Product Type, US$/Units, 2026</a:t>
                      </a:r>
                      <a:endParaRPr sz="1050"/>
                    </a:p>
                  </a:txBody>
                  <a:tcPr marL="9525" marR="9525" marT="9525" marB="0" anchor="ctr"/>
                </a:tc>
              </a:tr>
              <a:tr h="169826">
                <a:tc>
                  <a:txBody>
                    <a:bodyPr wrap="square"/>
                    <a:lstStyle/>
                    <a:p>
                      <a:pPr algn="l"/>
                      <a:r>
                        <a:rPr sz="1050" b="0" i="0">
                          <a:solidFill>
                            <a:srgbClr val="000000"/>
                          </a:solidFill>
                          <a:latin typeface="Calibri"/>
                        </a:rPr>
                        <a:t>Table 160: Global Market Average Selling Price by Region, US$/Units, 2021–2036</a:t>
                      </a:r>
                      <a:endParaRPr sz="1050"/>
                    </a:p>
                  </a:txBody>
                  <a:tcPr marL="9525" marR="9525" marT="9525" marB="0" anchor="ctr"/>
                </a:tc>
              </a:tr>
              <a:tr h="169826">
                <a:tc>
                  <a:txBody>
                    <a:bodyPr wrap="square"/>
                    <a:lstStyle/>
                    <a:p>
                      <a:pPr algn="l"/>
                      <a:r>
                        <a:rPr sz="1050" b="0" i="0">
                          <a:solidFill>
                            <a:srgbClr val="000000"/>
                          </a:solidFill>
                          <a:latin typeface="Calibri"/>
                        </a:rPr>
                        <a:t>Table 161: Global Market Average Selling Price by Product Type, US$/Units, 2021–2036</a:t>
                      </a:r>
                      <a:endParaRPr sz="1050"/>
                    </a:p>
                  </a:txBody>
                  <a:tcPr marL="9525" marR="9525" marT="9525" marB="0" anchor="ctr"/>
                </a:tc>
              </a:tr>
              <a:tr h="169826">
                <a:tc>
                  <a:txBody>
                    <a:bodyPr wrap="square"/>
                    <a:lstStyle/>
                    <a:p>
                      <a:pPr algn="l"/>
                      <a:r>
                        <a:rPr sz="1050" b="0" i="0">
                          <a:solidFill>
                            <a:srgbClr val="000000"/>
                          </a:solidFill>
                          <a:latin typeface="Calibri"/>
                        </a:rPr>
                        <a:t>Table 162: Global Market Average Selling Price by End User, US$/Units, 2021–2036</a:t>
                      </a:r>
                      <a:endParaRPr sz="1050"/>
                    </a:p>
                  </a:txBody>
                  <a:tcPr marL="9525" marR="9525" marT="9525" marB="0" anchor="ctr"/>
                </a:tc>
              </a:tr>
              <a:tr h="169826">
                <a:tc>
                  <a:txBody>
                    <a:bodyPr wrap="square"/>
                    <a:lstStyle/>
                    <a:p>
                      <a:pPr algn="l"/>
                      <a:r>
                        <a:rPr sz="1050" b="0" i="0">
                          <a:solidFill>
                            <a:srgbClr val="000000"/>
                          </a:solidFill>
                          <a:latin typeface="Calibri"/>
                        </a:rPr>
                        <a:t>Table 163: Global Market Average Selling Price by Sales Channel, US$/Units, 2021–2036</a:t>
                      </a:r>
                      <a:endParaRPr sz="1050"/>
                    </a:p>
                  </a:txBody>
                  <a:tcPr marL="9525" marR="9525" marT="9525" marB="0" anchor="ctr"/>
                </a:tc>
              </a:tr>
              <a:tr h="169826">
                <a:tc>
                  <a:txBody>
                    <a:bodyPr wrap="square"/>
                    <a:lstStyle/>
                    <a:p>
                      <a:pPr algn="l"/>
                      <a:r>
                        <a:rPr sz="1050" b="0" i="0">
                          <a:solidFill>
                            <a:srgbClr val="000000"/>
                          </a:solidFill>
                          <a:latin typeface="Calibri"/>
                        </a:rPr>
                        <a:t>Table 164: Global Market Average Selling Price by Age Group, US$/Units, 2021–2036</a:t>
                      </a:r>
                      <a:endParaRPr sz="1050"/>
                    </a:p>
                  </a:txBody>
                  <a:tcPr marL="9525" marR="9525" marT="9525" marB="0" anchor="ctr"/>
                </a:tc>
              </a:tr>
              <a:tr h="169826">
                <a:tc>
                  <a:txBody>
                    <a:bodyPr wrap="square"/>
                    <a:lstStyle/>
                    <a:p>
                      <a:pPr algn="l"/>
                      <a:r>
                        <a:rPr sz="1050" b="0" i="0">
                          <a:solidFill>
                            <a:srgbClr val="000000"/>
                          </a:solidFill>
                          <a:latin typeface="Calibri"/>
                        </a:rPr>
                        <a:t>Table 165: Supplier-to-Customer Relationship Mapping in U.S., 2026</a:t>
                      </a:r>
                      <a:endParaRPr sz="1050"/>
                    </a:p>
                  </a:txBody>
                  <a:tcPr marL="9525" marR="9525" marT="9525" marB="0" anchor="ctr"/>
                </a:tc>
              </a:tr>
              <a:tr h="169826">
                <a:tc>
                  <a:txBody>
                    <a:bodyPr wrap="square"/>
                    <a:lstStyle/>
                    <a:p>
                      <a:pPr algn="l"/>
                      <a:r>
                        <a:rPr sz="1050" b="0" i="0">
                          <a:solidFill>
                            <a:srgbClr val="000000"/>
                          </a:solidFill>
                          <a:latin typeface="Calibri"/>
                        </a:rPr>
                        <a:t>Table 166: Global Market Value Chain Participants by Stage, 2026</a:t>
                      </a:r>
                      <a:endParaRPr sz="1050"/>
                    </a:p>
                  </a:txBody>
                  <a:tcPr marL="9525" marR="9525" marT="9525" marB="0" anchor="ctr"/>
                </a:tc>
              </a:tr>
              <a:tr h="169826">
                <a:tc>
                  <a:txBody>
                    <a:bodyPr wrap="square"/>
                    <a:lstStyle/>
                    <a:p>
                      <a:pPr algn="l"/>
                      <a:r>
                        <a:rPr sz="1050" b="0" i="0">
                          <a:solidFill>
                            <a:srgbClr val="000000"/>
                          </a:solidFill>
                          <a:latin typeface="Calibri"/>
                        </a:rPr>
                        <a:t>Table 167: Global Market Margin Analysis by Value Chain Stage, %, 2026</a:t>
                      </a:r>
                      <a:endParaRPr sz="1050"/>
                    </a:p>
                  </a:txBody>
                  <a:tcPr marL="9525" marR="9525" marT="9525" marB="0" anchor="ctr"/>
                </a:tc>
              </a:tr>
              <a:tr h="169826">
                <a:tc>
                  <a:txBody>
                    <a:bodyPr wrap="square"/>
                    <a:lstStyle/>
                    <a:p>
                      <a:pPr algn="l"/>
                      <a:r>
                        <a:rPr sz="1050" b="0" i="0">
                          <a:solidFill>
                            <a:srgbClr val="000000"/>
                          </a:solidFill>
                          <a:latin typeface="Calibri"/>
                        </a:rPr>
                        <a:t>Table 168: Global Market Cost Structure by Component, %, 2026</a:t>
                      </a:r>
                      <a:endParaRPr sz="1050"/>
                    </a:p>
                  </a:txBody>
                  <a:tcPr marL="9525" marR="9525" marT="9525" marB="0" anchor="ctr"/>
                </a:tc>
              </a:tr>
              <a:tr h="169826">
                <a:tc>
                  <a:txBody>
                    <a:bodyPr wrap="square"/>
                    <a:lstStyle/>
                    <a:p>
                      <a:pPr algn="l"/>
                      <a:r>
                        <a:rPr sz="1050" b="0" i="0">
                          <a:solidFill>
                            <a:srgbClr val="000000"/>
                          </a:solidFill>
                          <a:latin typeface="Calibri"/>
                        </a:rPr>
                        <a:t>Table 169: Global Market Import Value by Leading Country, US$ Mn, 2021–2025</a:t>
                      </a:r>
                      <a:endParaRPr sz="1050"/>
                    </a:p>
                  </a:txBody>
                  <a:tcPr marL="9525" marR="9525" marT="9525" marB="0" anchor="ctr"/>
                </a:tc>
              </a:tr>
              <a:tr h="169826">
                <a:tc>
                  <a:txBody>
                    <a:bodyPr wrap="square"/>
                    <a:lstStyle/>
                    <a:p>
                      <a:pPr algn="l"/>
                      <a:r>
                        <a:rPr sz="1050" b="0" i="0">
                          <a:solidFill>
                            <a:srgbClr val="000000"/>
                          </a:solidFill>
                          <a:latin typeface="Calibri"/>
                        </a:rPr>
                        <a:t>Table 170: Global Market Export Value by Leading Country, US$ Mn, 2021–2025</a:t>
                      </a:r>
                      <a:endParaRPr sz="1050"/>
                    </a:p>
                  </a:txBody>
                  <a:tcPr marL="9525" marR="9525" marT="9525" marB="0" anchor="ctr"/>
                </a:tc>
              </a:tr>
              <a:tr h="169826">
                <a:tc>
                  <a:txBody>
                    <a:bodyPr wrap="square"/>
                    <a:lstStyle/>
                    <a:p>
                      <a:pPr algn="l"/>
                      <a:r>
                        <a:rPr sz="1050" b="0" i="0">
                          <a:solidFill>
                            <a:srgbClr val="000000"/>
                          </a:solidFill>
                          <a:latin typeface="Calibri"/>
                        </a:rPr>
                        <a:t>Table 171: Global Market Trade Flow Matrix by Region, US$ Mn, 2025</a:t>
                      </a:r>
                      <a:endParaRPr sz="1050"/>
                    </a:p>
                  </a:txBody>
                  <a:tcPr marL="9525" marR="9525" marT="9525" marB="0" anchor="ctr"/>
                </a:tc>
              </a:tr>
              <a:tr h="169826">
                <a:tc>
                  <a:txBody>
                    <a:bodyPr wrap="square"/>
                    <a:lstStyle/>
                    <a:p>
                      <a:pPr algn="l"/>
                      <a:r>
                        <a:rPr sz="1050" b="0" i="0">
                          <a:solidFill>
                            <a:srgbClr val="000000"/>
                          </a:solidFill>
                          <a:latin typeface="Calibri"/>
                        </a:rPr>
                        <a:t>Table 172: Global Market Pricing Factors and Impact Rating, 2026–2036</a:t>
                      </a:r>
                      <a:endParaRPr sz="1050"/>
                    </a:p>
                  </a:txBody>
                  <a:tcPr marL="9525" marR="9525" marT="9525" marB="0" anchor="ctr"/>
                </a:tc>
              </a:tr>
              <a:tr h="169826">
                <a:tc>
                  <a:txBody>
                    <a:bodyPr wrap="square"/>
                    <a:lstStyle/>
                    <a:p>
                      <a:pPr algn="l"/>
                      <a:r>
                        <a:rPr sz="1050" b="0" i="0">
                          <a:solidFill>
                            <a:srgbClr val="000000"/>
                          </a:solidFill>
                          <a:latin typeface="Calibri"/>
                        </a:rPr>
                        <a:t>Table 173: Global Market Raw Material Price Trend, US$, 2021–2036</a:t>
                      </a:r>
                      <a:endParaRPr sz="1050"/>
                    </a:p>
                  </a:txBody>
                  <a:tcPr marL="9525" marR="9525" marT="9525" marB="0" anchor="ctr"/>
                </a:tc>
              </a:tr>
              <a:tr h="169826">
                <a:tc>
                  <a:txBody>
                    <a:bodyPr wrap="square"/>
                    <a:lstStyle/>
                    <a:p>
                      <a:pPr algn="l"/>
                      <a:r>
                        <a:rPr sz="1050" b="0" i="0">
                          <a:solidFill>
                            <a:srgbClr val="000000"/>
                          </a:solidFill>
                          <a:latin typeface="Calibri"/>
                        </a:rPr>
                        <a:t>Table 174: Global Market Distribution Channel Margin Structure, %, 2026</a:t>
                      </a:r>
                      <a:endParaRPr sz="1050"/>
                    </a:p>
                  </a:txBody>
                  <a:tcPr marL="9525" marR="9525" marT="9525" marB="0" anchor="ctr"/>
                </a:tc>
              </a:tr>
              <a:tr h="169826">
                <a:tc>
                  <a:txBody>
                    <a:bodyPr wrap="square"/>
                    <a:lstStyle/>
                    <a:p>
                      <a:pPr algn="l"/>
                      <a:r>
                        <a:rPr sz="1050" b="0" i="0">
                          <a:solidFill>
                            <a:srgbClr val="000000"/>
                          </a:solidFill>
                          <a:latin typeface="Calibri"/>
                        </a:rPr>
                        <a:t>Table 175: Global Market Regulatory and Tariff Overview by Country, 2026</a:t>
                      </a:r>
                      <a:endParaRPr sz="1050"/>
                    </a:p>
                  </a:txBody>
                  <a:tcPr marL="9525" marR="9525" marT="9525" marB="0" anchor="ctr"/>
                </a:tc>
              </a:tr>
              <a:tr h="169826">
                <a:tc>
                  <a:txBody>
                    <a:bodyPr wrap="square"/>
                    <a:lstStyle/>
                    <a:p>
                      <a:pPr algn="l"/>
                      <a:r>
                        <a:rPr sz="1050" b="0" i="0">
                          <a:solidFill>
                            <a:srgbClr val="000000"/>
                          </a:solidFill>
                          <a:latin typeface="Calibri"/>
                        </a:rPr>
                        <a:t>Table 176: Global Market Price Forecast by Product Type, US$/Units, 2026–2036</a:t>
                      </a:r>
                      <a:endParaRPr sz="1050"/>
                    </a:p>
                  </a:txBody>
                  <a:tcPr marL="9525" marR="9525" marT="9525" marB="0" anchor="ctr"/>
                </a:tc>
              </a:tr>
              <a:tr h="169826">
                <a:tc>
                  <a:txBody>
                    <a:bodyPr wrap="square"/>
                    <a:lstStyle/>
                    <a:p>
                      <a:pPr algn="l"/>
                      <a:r>
                        <a:rPr sz="1050" b="0" i="0">
                          <a:solidFill>
                            <a:srgbClr val="000000"/>
                          </a:solidFill>
                          <a:latin typeface="Calibri"/>
                        </a:rPr>
                        <a:t>Table 177: Global Market Supply Chain Risk Matrix, 2026</a:t>
                      </a:r>
                      <a:endParaRPr sz="1050"/>
                    </a:p>
                  </a:txBody>
                  <a:tcPr marL="9525" marR="9525" marT="9525" marB="0" anchor="ctr"/>
                </a:tc>
              </a:tr>
              <a:tr h="332858">
                <a:tc>
                  <a:txBody>
                    <a:bodyPr wrap="square"/>
                    <a:lstStyle/>
                    <a:p>
                      <a:pPr algn="l"/>
                      <a:r>
                        <a:rPr sz="1050" b="0" i="0">
                          <a:solidFill>
                            <a:srgbClr val="000000"/>
                          </a:solidFill>
                          <a:latin typeface="Calibri"/>
                        </a:rPr>
                        <a:t>Table 178: Leading Ear Wax Removal Products Manufacturers: Product Portfolio and Geographic Presence, 2026</a:t>
                      </a:r>
                      <a:endParaRPr sz="1050"/>
                    </a:p>
                  </a:txBody>
                  <a:tcPr marL="9525" marR="9525" marT="9525" marB="0" anchor="ctr"/>
                </a:tc>
              </a:tr>
              <a:tr h="169826">
                <a:tc>
                  <a:txBody>
                    <a:bodyPr wrap="square"/>
                    <a:lstStyle/>
                    <a:p>
                      <a:pPr algn="l"/>
                      <a:r>
                        <a:rPr sz="1050" b="0" i="0">
                          <a:solidFill>
                            <a:srgbClr val="000000"/>
                          </a:solidFill>
                          <a:latin typeface="Calibri"/>
                        </a:rPr>
                        <a:t>Table 179: Company Revenue from the Global Market, US$ Mn, 2025–2026</a:t>
                      </a:r>
                      <a:endParaRPr sz="1050"/>
                    </a:p>
                  </a:txBody>
                  <a:tcPr marL="9525" marR="9525" marT="9525" marB="0" anchor="ctr"/>
                </a:tc>
              </a:tr>
              <a:tr h="169826">
                <a:tc>
                  <a:txBody>
                    <a:bodyPr wrap="square"/>
                    <a:lstStyle/>
                    <a:p>
                      <a:pPr algn="l"/>
                      <a:r>
                        <a:rPr sz="1050" b="0" i="0">
                          <a:solidFill>
                            <a:srgbClr val="000000"/>
                          </a:solidFill>
                          <a:latin typeface="Calibri"/>
                        </a:rPr>
                        <a:t>Table 180: Company Market Share in the Global Market by Region, %, 2026</a:t>
                      </a:r>
                      <a:endParaRPr sz="1050"/>
                    </a:p>
                  </a:txBody>
                  <a:tcPr marL="9525" marR="9525" marT="9525" marB="0" anchor="ctr"/>
                </a:tc>
              </a:tr>
              <a:tr h="169826">
                <a:tc>
                  <a:txBody>
                    <a:bodyPr wrap="square"/>
                    <a:lstStyle/>
                    <a:p>
                      <a:pPr algn="l"/>
                      <a:r>
                        <a:rPr sz="1050" b="0" i="0">
                          <a:solidFill>
                            <a:srgbClr val="000000"/>
                          </a:solidFill>
                          <a:latin typeface="Calibri"/>
                        </a:rPr>
                        <a:t>Table 181: Global Market Competitive Benchmarking Matrix, 2026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(4/4)</a:t>
            </a:r>
          </a:p>
        </p:txBody>
      </p:sp>
      <p:graphicFrame>
        <p:nvGraphicFramePr>
          <p:cNvPr id="9" name="FMI Contents Table"/>
          <p:cNvGraphicFramePr>
            <a:graphicFrameLocks noGrp="1"/>
          </p:cNvGraphicFramePr>
          <p:nvPr/>
        </p:nvGraphicFramePr>
        <p:xfrm>
          <a:off x="142875" y="981075"/>
          <a:ext cx="5876925" cy="3167072"/>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Table 182: Global Market Mergers, Acquisitions and Partnerships, 2021–2026</a:t>
                      </a:r>
                      <a:endParaRPr sz="1050"/>
                    </a:p>
                  </a:txBody>
                  <a:tcPr marL="9525" marR="9525" marT="9525" marB="0" anchor="ctr"/>
                </a:tc>
              </a:tr>
              <a:tr h="166688">
                <a:tc>
                  <a:txBody>
                    <a:bodyPr wrap="square"/>
                    <a:lstStyle/>
                    <a:p>
                      <a:pPr algn="l"/>
                      <a:r>
                        <a:rPr sz="1050" b="0" i="0">
                          <a:solidFill>
                            <a:srgbClr val="000000"/>
                          </a:solidFill>
                          <a:latin typeface="Calibri"/>
                        </a:rPr>
                        <a:t>Table 183: Prestige Consumer Healthcare: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184: Diomed Group: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185: NeilMed Pharmaceuticals: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186: Quest Products: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187: Eosera: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188: Coopération Pharmaceutique Française: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189: Orion Pharma: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190: Farmacia Nordic: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191: Key Pharmaceuticals: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192: Lanes Health: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193: Global Market Value by Scenario and Region, US$ Mn, 2026–2036</a:t>
                      </a:r>
                      <a:endParaRPr sz="1050"/>
                    </a:p>
                  </a:txBody>
                  <a:tcPr marL="9525" marR="9525" marT="9525" marB="0" anchor="ctr"/>
                </a:tc>
              </a:tr>
              <a:tr h="166688">
                <a:tc>
                  <a:txBody>
                    <a:bodyPr wrap="square"/>
                    <a:lstStyle/>
                    <a:p>
                      <a:pPr algn="l"/>
                      <a:r>
                        <a:rPr sz="1050" b="0" i="0">
                          <a:solidFill>
                            <a:srgbClr val="000000"/>
                          </a:solidFill>
                          <a:latin typeface="Calibri"/>
                        </a:rPr>
                        <a:t>Table 194: Global Market Key Trends and Impact Rating, 2026–2036</a:t>
                      </a:r>
                      <a:endParaRPr sz="1050"/>
                    </a:p>
                  </a:txBody>
                  <a:tcPr marL="9525" marR="9525" marT="9525" marB="0" anchor="ctr"/>
                </a:tc>
              </a:tr>
              <a:tr h="166688">
                <a:tc>
                  <a:txBody>
                    <a:bodyPr wrap="square"/>
                    <a:lstStyle/>
                    <a:p>
                      <a:pPr algn="l"/>
                      <a:r>
                        <a:rPr sz="1050" b="0" i="0">
                          <a:solidFill>
                            <a:srgbClr val="000000"/>
                          </a:solidFill>
                          <a:latin typeface="Calibri"/>
                        </a:rPr>
                        <a:t>Table 195: Global Market Opportunity Assessment by Product Type, US$ Mn, 2026–2036</a:t>
                      </a:r>
                      <a:endParaRPr sz="1050"/>
                    </a:p>
                  </a:txBody>
                  <a:tcPr marL="9525" marR="9525" marT="9525" marB="0" anchor="ctr"/>
                </a:tc>
              </a:tr>
              <a:tr h="166688">
                <a:tc>
                  <a:txBody>
                    <a:bodyPr wrap="square"/>
                    <a:lstStyle/>
                    <a:p>
                      <a:pPr algn="l"/>
                      <a:r>
                        <a:rPr sz="1050" b="0" i="0">
                          <a:solidFill>
                            <a:srgbClr val="000000"/>
                          </a:solidFill>
                          <a:latin typeface="Calibri"/>
                        </a:rPr>
                        <a:t>Table 196: Global Market Scenario Assumptions, 2026–2036</a:t>
                      </a:r>
                      <a:endParaRPr sz="1050"/>
                    </a:p>
                  </a:txBody>
                  <a:tcPr marL="9525" marR="9525" marT="9525" marB="0" anchor="ctr"/>
                </a:tc>
              </a:tr>
              <a:tr h="166688">
                <a:tc>
                  <a:txBody>
                    <a:bodyPr wrap="square"/>
                    <a:lstStyle/>
                    <a:p>
                      <a:pPr algn="l"/>
                      <a:r>
                        <a:rPr sz="1050" b="0" i="0">
                          <a:solidFill>
                            <a:srgbClr val="000000"/>
                          </a:solidFill>
                          <a:latin typeface="Calibri"/>
                        </a:rPr>
                        <a:t>Table 197: Global Market Risk Register and Mitigation, 2026–2036</a:t>
                      </a:r>
                      <a:endParaRPr sz="1050"/>
                    </a:p>
                  </a:txBody>
                  <a:tcPr marL="9525" marR="9525" marT="9525" marB="0" anchor="ctr"/>
                </a:tc>
              </a:tr>
              <a:tr h="166688">
                <a:tc>
                  <a:txBody>
                    <a:bodyPr wrap="square"/>
                    <a:lstStyle/>
                    <a:p>
                      <a:pPr algn="l"/>
                      <a:r>
                        <a:rPr sz="1050" b="0" i="0">
                          <a:solidFill>
                            <a:srgbClr val="000000"/>
                          </a:solidFill>
                          <a:latin typeface="Calibri"/>
                        </a:rPr>
                        <a:t>Table 198: Global Market Client Opportunity Prioritisation by Product Type, 2026–2036</a:t>
                      </a:r>
                      <a:endParaRPr sz="1050"/>
                    </a:p>
                  </a:txBody>
                  <a:tcPr marL="9525" marR="9525" marT="9525" marB="0" anchor="ctr"/>
                </a:tc>
              </a:tr>
              <a:tr h="166688">
                <a:tc>
                  <a:txBody>
                    <a:bodyPr wrap="square"/>
                    <a:lstStyle/>
                    <a:p>
                      <a:pPr algn="l"/>
                      <a:r>
                        <a:rPr sz="1050" b="0" i="0">
                          <a:solidFill>
                            <a:srgbClr val="000000"/>
                          </a:solidFill>
                          <a:latin typeface="Calibri"/>
                        </a:rPr>
                        <a:t>Table 199: Global Market Customer Purchase Criteria by Product Type, 2026</a:t>
                      </a:r>
                      <a:endParaRPr sz="1050"/>
                    </a:p>
                  </a:txBody>
                  <a:tcPr marL="9525" marR="9525" marT="9525" marB="0" anchor="ctr"/>
                </a:tc>
              </a:tr>
              <a:tr h="166688">
                <a:tc>
                  <a:txBody>
                    <a:bodyPr wrap="square"/>
                    <a:lstStyle/>
                    <a:p>
                      <a:pPr algn="l"/>
                      <a:r>
                        <a:rPr sz="1050" b="0" i="0">
                          <a:solidFill>
                            <a:srgbClr val="000000"/>
                          </a:solidFill>
                          <a:latin typeface="Calibri"/>
                        </a:rPr>
                        <a:t>Table 200: Global Market Strategic Recommendations and Action Plan, 2026–2036</a:t>
                      </a:r>
                      <a:endParaRPr sz="1050"/>
                    </a:p>
                  </a:txBody>
                  <a:tcPr marL="9525" marR="9525" marT="9525" marB="0" anchor="ctr"/>
                </a:tc>
              </a:tr>
            </a:tbl>
          </a:graphicData>
        </a:graphic>
      </p:graphicFrame>
      <p:sp>
        <p:nvSpPr>
          <p:cNvPr id="10" name="TextBox 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449195"/>
            <a:ext cx="7239000" cy="247650"/>
          </a:xfrm>
          <a:prstGeom prst="rect">
            <a:avLst/>
          </a:prstGeom>
          <a:noFill/>
        </p:spPr>
        <p:txBody>
          <a:bodyPr wrap="none" lIns="0" tIns="0">
            <a:spAutoFit/>
          </a:bodyPr>
          <a:lstStyle/>
          <a:p>
            <a:r>
              <a:rPr sz="1400" b="0">
                <a:solidFill>
                  <a:srgbClr val="8FC8F2"/>
                </a:solidFill>
                <a:latin typeface="Calibri"/>
              </a:rPr>
              <a:t>Ear Wax Removal Products Market</a:t>
            </a:r>
          </a:p>
        </p:txBody>
      </p:sp>
      <p:sp>
        <p:nvSpPr>
          <p:cNvPr id="6" name="FMI Breaker Title"/>
          <p:cNvSpPr txBox="1"/>
          <p:nvPr/>
        </p:nvSpPr>
        <p:spPr>
          <a:xfrm>
            <a:off x="914400" y="2753995"/>
            <a:ext cx="7239000" cy="514350"/>
          </a:xfrm>
          <a:prstGeom prst="rect">
            <a:avLst/>
          </a:prstGeom>
          <a:noFill/>
        </p:spPr>
        <p:txBody>
          <a:bodyPr wrap="square" lIns="0" rIns="0" tIns="0">
            <a:spAutoFit/>
          </a:bodyPr>
          <a:lstStyle/>
          <a:p>
            <a:r>
              <a:rPr sz="3000" b="1" cap="all" spc="400">
                <a:solidFill>
                  <a:srgbClr val="FFFFFF"/>
                </a:solidFill>
                <a:latin typeface="Calibri"/>
              </a:rPr>
              <a:t>Global Market Outlook</a:t>
            </a:r>
          </a:p>
        </p:txBody>
      </p:sp>
      <p:sp>
        <p:nvSpPr>
          <p:cNvPr id="7" name="TextBox 6"/>
          <p:cNvSpPr txBox="1"/>
          <p:nvPr/>
        </p:nvSpPr>
        <p:spPr>
          <a:xfrm>
            <a:off x="914400" y="3458845"/>
            <a:ext cx="7124700" cy="237871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Region</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Product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End User</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Sales Channel</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Age Group</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Global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Ear Wax Removal Products Market Summary, By Volume (Mn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volume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(MN UNITS)</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(MN UNITS)</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(Mn Units)</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708400" cy="186689"/>
          </a:xfrm>
          <a:prstGeom prst="rect">
            <a:avLst/>
          </a:prstGeom>
          <a:noFill/>
        </p:spPr>
        <p:txBody>
          <a:bodyPr wrap="none" lIns="0" rIns="0" tIns="0" bIns="0">
            <a:spAutoFit/>
          </a:bodyPr>
          <a:lstStyle/>
          <a:p>
            <a:r>
              <a:rPr sz="1100" b="0">
                <a:solidFill>
                  <a:srgbClr val="2E2E2E"/>
                </a:solidFill>
                <a:latin typeface="Calibri"/>
              </a:rPr>
              <a:t>Global ear wax removal products market is projected to register</a:t>
            </a:r>
          </a:p>
        </p:txBody>
      </p:sp>
      <p:pic>
        <p:nvPicPr>
          <p:cNvPr id="35" name="Picture 34" descr="lock.png"/>
          <p:cNvPicPr>
            <a:picLocks noChangeAspect="1"/>
          </p:cNvPicPr>
          <p:nvPr/>
        </p:nvPicPr>
        <p:blipFill>
          <a:blip r:embed="rId6"/>
          <a:stretch>
            <a:fillRect/>
          </a:stretch>
        </p:blipFill>
        <p:spPr>
          <a:xfrm>
            <a:off x="8035157" y="2204848"/>
            <a:ext cx="128699" cy="187198"/>
          </a:xfrm>
          <a:prstGeom prst="rect">
            <a:avLst/>
          </a:prstGeom>
        </p:spPr>
      </p:pic>
      <p:sp>
        <p:nvSpPr>
          <p:cNvPr id="36" name="TextBox 35"/>
          <p:cNvSpPr txBox="1"/>
          <p:nvPr/>
        </p:nvSpPr>
        <p:spPr>
          <a:xfrm>
            <a:off x="8202653" y="2214627"/>
            <a:ext cx="3314948" cy="186689"/>
          </a:xfrm>
          <a:prstGeom prst="rect">
            <a:avLst/>
          </a:prstGeom>
          <a:noFill/>
        </p:spPr>
        <p:txBody>
          <a:bodyPr wrap="none" lIns="0" rIns="0" tIns="0" bIns="0">
            <a:spAutoFit/>
          </a:bodyPr>
          <a:lstStyle/>
          <a:p>
            <a:r>
              <a:rPr sz="1100" b="0">
                <a:solidFill>
                  <a:srgbClr val="2E2E2E"/>
                </a:solidFill>
                <a:latin typeface="Calibri"/>
              </a:rPr>
              <a:t>X increase in volume by the end of forecast period, 2036.</a:t>
            </a:r>
          </a:p>
        </p:txBody>
      </p:sp>
      <p:sp>
        <p:nvSpPr>
          <p:cNvPr id="37" name="TextBox 36"/>
          <p:cNvSpPr txBox="1"/>
          <p:nvPr/>
        </p:nvSpPr>
        <p:spPr>
          <a:xfrm>
            <a:off x="8048625" y="2382267"/>
            <a:ext cx="3344416" cy="186689"/>
          </a:xfrm>
          <a:prstGeom prst="rect">
            <a:avLst/>
          </a:prstGeom>
          <a:noFill/>
        </p:spPr>
        <p:txBody>
          <a:bodyPr wrap="none" lIns="0" rIns="0" tIns="0" bIns="0">
            <a:spAutoFit/>
          </a:bodyPr>
          <a:lstStyle/>
          <a:p>
            <a:r>
              <a:rPr sz="1100" b="0">
                <a:solidFill>
                  <a:srgbClr val="2E2E2E"/>
                </a:solidFill>
                <a:latin typeface="Calibri"/>
              </a:rPr>
              <a:t>Global ear wax removal products market volume stood at</a:t>
            </a:r>
          </a:p>
        </p:txBody>
      </p:sp>
      <p:pic>
        <p:nvPicPr>
          <p:cNvPr id="38" name="Picture 37" descr="lock.png"/>
          <p:cNvPicPr>
            <a:picLocks noChangeAspect="1"/>
          </p:cNvPicPr>
          <p:nvPr/>
        </p:nvPicPr>
        <p:blipFill>
          <a:blip r:embed="rId6"/>
          <a:stretch>
            <a:fillRect/>
          </a:stretch>
        </p:blipFill>
        <p:spPr>
          <a:xfrm>
            <a:off x="11341092" y="2372488"/>
            <a:ext cx="128699" cy="187198"/>
          </a:xfrm>
          <a:prstGeom prst="rect">
            <a:avLst/>
          </a:prstGeom>
        </p:spPr>
      </p:pic>
      <p:sp>
        <p:nvSpPr>
          <p:cNvPr id="39" name="TextBox 38"/>
          <p:cNvSpPr txBox="1"/>
          <p:nvPr/>
        </p:nvSpPr>
        <p:spPr>
          <a:xfrm>
            <a:off x="11508588" y="2382267"/>
            <a:ext cx="269106" cy="186689"/>
          </a:xfrm>
          <a:prstGeom prst="rect">
            <a:avLst/>
          </a:prstGeom>
          <a:noFill/>
        </p:spPr>
        <p:txBody>
          <a:bodyPr wrap="none" lIns="0" rIns="0" tIns="0" bIns="0">
            <a:spAutoFit/>
          </a:bodyPr>
          <a:lstStyle/>
          <a:p>
            <a:r>
              <a:rPr sz="1100" b="0">
                <a:solidFill>
                  <a:srgbClr val="2E2E2E"/>
                </a:solidFill>
                <a:latin typeface="Calibri"/>
              </a:rPr>
              <a:t>Mn</a:t>
            </a:r>
          </a:p>
        </p:txBody>
      </p:sp>
      <p:sp>
        <p:nvSpPr>
          <p:cNvPr id="40" name="TextBox 39"/>
          <p:cNvSpPr txBox="1"/>
          <p:nvPr/>
        </p:nvSpPr>
        <p:spPr>
          <a:xfrm>
            <a:off x="8048625" y="2549907"/>
            <a:ext cx="2245097" cy="186689"/>
          </a:xfrm>
          <a:prstGeom prst="rect">
            <a:avLst/>
          </a:prstGeom>
          <a:noFill/>
        </p:spPr>
        <p:txBody>
          <a:bodyPr wrap="none" lIns="0" rIns="0" tIns="0" bIns="0">
            <a:spAutoFit/>
          </a:bodyPr>
          <a:lstStyle/>
          <a:p>
            <a:r>
              <a:rPr sz="1100" b="0">
                <a:solidFill>
                  <a:srgbClr val="2E2E2E"/>
                </a:solidFill>
                <a:latin typeface="Calibri"/>
              </a:rPr>
              <a:t>Units in 2025 and is expected to reach</a:t>
            </a:r>
          </a:p>
        </p:txBody>
      </p:sp>
      <p:pic>
        <p:nvPicPr>
          <p:cNvPr id="41" name="Picture 40" descr="lock.png"/>
          <p:cNvPicPr>
            <a:picLocks noChangeAspect="1"/>
          </p:cNvPicPr>
          <p:nvPr/>
        </p:nvPicPr>
        <p:blipFill>
          <a:blip r:embed="rId6"/>
          <a:stretch>
            <a:fillRect/>
          </a:stretch>
        </p:blipFill>
        <p:spPr>
          <a:xfrm>
            <a:off x="10241773" y="2540128"/>
            <a:ext cx="128699" cy="187198"/>
          </a:xfrm>
          <a:prstGeom prst="rect">
            <a:avLst/>
          </a:prstGeom>
        </p:spPr>
      </p:pic>
      <p:sp>
        <p:nvSpPr>
          <p:cNvPr id="42" name="TextBox 41"/>
          <p:cNvSpPr txBox="1"/>
          <p:nvPr/>
        </p:nvSpPr>
        <p:spPr>
          <a:xfrm>
            <a:off x="10409269" y="2549907"/>
            <a:ext cx="1364332" cy="186689"/>
          </a:xfrm>
          <a:prstGeom prst="rect">
            <a:avLst/>
          </a:prstGeom>
          <a:noFill/>
        </p:spPr>
        <p:txBody>
          <a:bodyPr wrap="none" lIns="0" rIns="0" tIns="0" bIns="0">
            <a:spAutoFit/>
          </a:bodyPr>
          <a:lstStyle/>
          <a:p>
            <a:r>
              <a:rPr sz="1100" b="0">
                <a:solidFill>
                  <a:srgbClr val="2E2E2E"/>
                </a:solidFill>
                <a:latin typeface="Calibri"/>
              </a:rPr>
              <a:t>Mn Units by 2036 end,</a:t>
            </a:r>
          </a:p>
        </p:txBody>
      </p:sp>
      <p:sp>
        <p:nvSpPr>
          <p:cNvPr id="43" name="TextBox 42"/>
          <p:cNvSpPr txBox="1"/>
          <p:nvPr/>
        </p:nvSpPr>
        <p:spPr>
          <a:xfrm>
            <a:off x="8048625" y="2717547"/>
            <a:ext cx="787234" cy="186689"/>
          </a:xfrm>
          <a:prstGeom prst="rect">
            <a:avLst/>
          </a:prstGeom>
          <a:noFill/>
        </p:spPr>
        <p:txBody>
          <a:bodyPr wrap="none" lIns="0" rIns="0" tIns="0" bIns="0">
            <a:spAutoFit/>
          </a:bodyPr>
          <a:lstStyle/>
          <a:p>
            <a:r>
              <a:rPr sz="1100" b="0">
                <a:solidFill>
                  <a:srgbClr val="2E2E2E"/>
                </a:solidFill>
                <a:latin typeface="Calibri"/>
              </a:rPr>
              <a:t>at a CAGR of</a:t>
            </a:r>
          </a:p>
        </p:txBody>
      </p:sp>
      <p:pic>
        <p:nvPicPr>
          <p:cNvPr id="44" name="Picture 43" descr="lock.png"/>
          <p:cNvPicPr>
            <a:picLocks noChangeAspect="1"/>
          </p:cNvPicPr>
          <p:nvPr/>
        </p:nvPicPr>
        <p:blipFill>
          <a:blip r:embed="rId6"/>
          <a:stretch>
            <a:fillRect/>
          </a:stretch>
        </p:blipFill>
        <p:spPr>
          <a:xfrm>
            <a:off x="8783910" y="2707768"/>
            <a:ext cx="128699" cy="187198"/>
          </a:xfrm>
          <a:prstGeom prst="rect">
            <a:avLst/>
          </a:prstGeom>
        </p:spPr>
      </p:pic>
      <p:sp>
        <p:nvSpPr>
          <p:cNvPr id="45" name="TextBox 44"/>
          <p:cNvSpPr txBox="1"/>
          <p:nvPr/>
        </p:nvSpPr>
        <p:spPr>
          <a:xfrm>
            <a:off x="8951406"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8048625" y="2935479"/>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7" name="TextBox 46"/>
          <p:cNvSpPr txBox="1"/>
          <p:nvPr/>
        </p:nvSpPr>
        <p:spPr>
          <a:xfrm>
            <a:off x="8048625" y="310311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48" name="TextBox 47"/>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9" name="Picture 48" descr="lock.png"/>
          <p:cNvPicPr>
            <a:picLocks noChangeAspect="1"/>
          </p:cNvPicPr>
          <p:nvPr/>
        </p:nvPicPr>
        <p:blipFill>
          <a:blip r:embed="rId6"/>
          <a:stretch>
            <a:fillRect/>
          </a:stretch>
        </p:blipFill>
        <p:spPr>
          <a:xfrm>
            <a:off x="10866614" y="4446251"/>
            <a:ext cx="134549" cy="195707"/>
          </a:xfrm>
          <a:prstGeom prst="rect">
            <a:avLst/>
          </a:prstGeom>
        </p:spPr>
      </p:pic>
      <p:sp>
        <p:nvSpPr>
          <p:cNvPr id="50" name="TextBox 49"/>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1" name="TextBox 50"/>
          <p:cNvSpPr txBox="1"/>
          <p:nvPr/>
        </p:nvSpPr>
        <p:spPr>
          <a:xfrm>
            <a:off x="8048625" y="4684312"/>
            <a:ext cx="3724312" cy="194310"/>
          </a:xfrm>
          <a:prstGeom prst="rect">
            <a:avLst/>
          </a:prstGeom>
          <a:noFill/>
        </p:spPr>
        <p:txBody>
          <a:bodyPr wrap="none" lIns="0" rIns="0" tIns="0" bIns="0">
            <a:spAutoFit/>
          </a:bodyPr>
          <a:lstStyle/>
          <a:p>
            <a:r>
              <a:rPr sz="1150" b="0">
                <a:solidFill>
                  <a:srgbClr val="2E2E2E"/>
                </a:solidFill>
                <a:latin typeface="Calibri"/>
              </a:rPr>
              <a:t>▪ Demand concentrates in 'Irrigation Devices and Accessories'</a:t>
            </a:r>
          </a:p>
        </p:txBody>
      </p:sp>
      <p:sp>
        <p:nvSpPr>
          <p:cNvPr id="52" name="TextBox 51"/>
          <p:cNvSpPr txBox="1"/>
          <p:nvPr/>
        </p:nvSpPr>
        <p:spPr>
          <a:xfrm>
            <a:off x="8048625" y="4859572"/>
            <a:ext cx="1308496" cy="194310"/>
          </a:xfrm>
          <a:prstGeom prst="rect">
            <a:avLst/>
          </a:prstGeom>
          <a:noFill/>
        </p:spPr>
        <p:txBody>
          <a:bodyPr wrap="none" lIns="0" rIns="0" tIns="0" bIns="0">
            <a:spAutoFit/>
          </a:bodyPr>
          <a:lstStyle/>
          <a:p>
            <a:r>
              <a:rPr sz="1150" b="0">
                <a:solidFill>
                  <a:srgbClr val="2E2E2E"/>
                </a:solidFill>
                <a:latin typeface="Calibri"/>
              </a:rPr>
              <a:t>within Product Type.</a:t>
            </a:r>
          </a:p>
        </p:txBody>
      </p:sp>
      <p:sp>
        <p:nvSpPr>
          <p:cNvPr id="53" name="TextBox 52"/>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4" name="TextBox 53"/>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5"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Ear Wax Removal Products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region, highlighting where pricing power sits</a:t>
            </a:r>
          </a:p>
        </p:txBody>
      </p:sp>
      <p:sp>
        <p:nvSpPr>
          <p:cNvPr id="10" name="Rounded Rectangle 9"/>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Product Type  ·  range across 2021–2036 (US$/Units)</a:t>
            </a:r>
          </a:p>
        </p:txBody>
      </p:sp>
      <p:cxnSp>
        <p:nvCxnSpPr>
          <p:cNvPr id="12" name="Connector 11"/>
          <p:cNvCxnSpPr/>
          <p:nvPr/>
        </p:nvCxnSpPr>
        <p:spPr>
          <a:xfrm>
            <a:off x="657225" y="310071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68877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27683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86488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0" cy="164777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310071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68877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27683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86488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3" name="FMI Scale tick"/>
          <p:cNvSpPr txBox="1"/>
          <p:nvPr/>
        </p:nvSpPr>
        <p:spPr>
          <a:xfrm>
            <a:off x="219075" y="3034040"/>
            <a:ext cx="381000" cy="133350"/>
          </a:xfrm>
          <a:prstGeom prst="rect">
            <a:avLst/>
          </a:prstGeom>
          <a:noFill/>
        </p:spPr>
        <p:txBody>
          <a:bodyPr wrap="none" lIns="0" rIns="0" tIns="0" bIns="0" anchor="ctr">
            <a:spAutoFit/>
          </a:bodyPr>
          <a:lstStyle/>
          <a:p>
            <a:pPr algn="r"/>
            <a:r>
              <a:rPr sz="1100" b="0">
                <a:solidFill>
                  <a:srgbClr val="6C7A89"/>
                </a:solidFill>
                <a:latin typeface="Calibri"/>
              </a:rPr>
              <a:t/>
            </a:r>
          </a:p>
        </p:txBody>
      </p:sp>
      <p:sp>
        <p:nvSpPr>
          <p:cNvPr id="24" name="FMI Scale tick"/>
          <p:cNvSpPr txBox="1"/>
          <p:nvPr/>
        </p:nvSpPr>
        <p:spPr>
          <a:xfrm>
            <a:off x="219075" y="2210155"/>
            <a:ext cx="381000" cy="133350"/>
          </a:xfrm>
          <a:prstGeom prst="rect">
            <a:avLst/>
          </a:prstGeom>
          <a:noFill/>
        </p:spPr>
        <p:txBody>
          <a:bodyPr wrap="none" lIns="0" rIns="0" tIns="0" bIns="0" anchor="ctr">
            <a:spAutoFit/>
          </a:bodyPr>
          <a:lstStyle/>
          <a:p>
            <a:pPr algn="r"/>
            <a:r>
              <a:rPr sz="1100" b="0">
                <a:solidFill>
                  <a:srgbClr val="6C7A89"/>
                </a:solidFill>
                <a:latin typeface="Calibri"/>
              </a:rPr>
              <a:t/>
            </a:r>
          </a:p>
        </p:txBody>
      </p:sp>
      <p:sp>
        <p:nvSpPr>
          <p:cNvPr id="25" name="FMI Scale tick"/>
          <p:cNvSpPr txBox="1"/>
          <p:nvPr/>
        </p:nvSpPr>
        <p:spPr>
          <a:xfrm>
            <a:off x="219075" y="1386270"/>
            <a:ext cx="381000" cy="133350"/>
          </a:xfrm>
          <a:prstGeom prst="rect">
            <a:avLst/>
          </a:prstGeom>
          <a:noFill/>
        </p:spPr>
        <p:txBody>
          <a:bodyPr wrap="none" lIns="0" rIns="0" tIns="0" bIns="0" anchor="ctr">
            <a:spAutoFit/>
          </a:bodyPr>
          <a:lstStyle/>
          <a:p>
            <a:pPr algn="r"/>
            <a:r>
              <a:rPr sz="1100" b="0">
                <a:solidFill>
                  <a:srgbClr val="6C7A89"/>
                </a:solidFill>
                <a:latin typeface="Calibri"/>
              </a:rPr>
              <a:t/>
            </a:r>
          </a:p>
        </p:txBody>
      </p:sp>
      <p:cxnSp>
        <p:nvCxnSpPr>
          <p:cNvPr id="26" name="Connector 25"/>
          <p:cNvCxnSpPr/>
          <p:nvPr/>
        </p:nvCxnSpPr>
        <p:spPr>
          <a:xfrm flipV="1">
            <a:off x="1157968" y="2742910"/>
            <a:ext cx="0" cy="167678"/>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26523" y="291058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26523" y="274291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938893" y="2785475"/>
            <a:ext cx="438150" cy="83436"/>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938893" y="2827382"/>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7225" y="2590510"/>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2" name="Connector 31"/>
          <p:cNvCxnSpPr/>
          <p:nvPr/>
        </p:nvCxnSpPr>
        <p:spPr>
          <a:xfrm flipV="1">
            <a:off x="2159454" y="2564681"/>
            <a:ext cx="0" cy="314078"/>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028009" y="287875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028009" y="256468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40379" y="2647443"/>
            <a:ext cx="438150" cy="155378"/>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1940379" y="2726134"/>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658711" y="2412281"/>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8" name="Connector 37"/>
          <p:cNvCxnSpPr/>
          <p:nvPr/>
        </p:nvCxnSpPr>
        <p:spPr>
          <a:xfrm flipV="1">
            <a:off x="3160939" y="2443277"/>
            <a:ext cx="0" cy="236352"/>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029494" y="26796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029494" y="244327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2941864" y="2500539"/>
            <a:ext cx="438150" cy="119084"/>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2941864" y="2559731"/>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660196" y="2290877"/>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44" name="Connector 43"/>
          <p:cNvCxnSpPr/>
          <p:nvPr/>
        </p:nvCxnSpPr>
        <p:spPr>
          <a:xfrm flipV="1">
            <a:off x="4162425" y="2373801"/>
            <a:ext cx="0" cy="286557"/>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030980" y="266035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030980" y="237380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3943350" y="2443307"/>
            <a:ext cx="438150" cy="143557"/>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3943350" y="2513943"/>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3661682" y="2221401"/>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0" name="Connector 49"/>
          <p:cNvCxnSpPr/>
          <p:nvPr/>
        </p:nvCxnSpPr>
        <p:spPr>
          <a:xfrm flipV="1">
            <a:off x="5163911" y="1643073"/>
            <a:ext cx="0" cy="359047"/>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032466" y="200212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032466" y="164307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4944836" y="1730467"/>
            <a:ext cx="438150" cy="180709"/>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4944836" y="1819433"/>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663168" y="1490673"/>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6" name="Connector 55"/>
          <p:cNvCxnSpPr/>
          <p:nvPr/>
        </p:nvCxnSpPr>
        <p:spPr>
          <a:xfrm flipV="1">
            <a:off x="6165396" y="2303068"/>
            <a:ext cx="0" cy="23695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033951" y="254001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033951" y="230306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946321" y="2357477"/>
            <a:ext cx="438150" cy="118722"/>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5946321" y="2415826"/>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664654" y="2150668"/>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62" name="Connector 61"/>
          <p:cNvCxnSpPr/>
          <p:nvPr/>
        </p:nvCxnSpPr>
        <p:spPr>
          <a:xfrm flipV="1">
            <a:off x="7166882" y="1899111"/>
            <a:ext cx="0" cy="399528"/>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7035437" y="229863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035437" y="189911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6947807" y="1996573"/>
            <a:ext cx="438150" cy="200921"/>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Connector 65"/>
          <p:cNvCxnSpPr/>
          <p:nvPr/>
        </p:nvCxnSpPr>
        <p:spPr>
          <a:xfrm>
            <a:off x="6947807" y="2096045"/>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6666139" y="1746711"/>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68" name="TextBox 67"/>
          <p:cNvSpPr txBox="1"/>
          <p:nvPr/>
        </p:nvSpPr>
        <p:spPr>
          <a:xfrm>
            <a:off x="657225"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Drops</a:t>
            </a:r>
          </a:p>
        </p:txBody>
      </p:sp>
      <p:sp>
        <p:nvSpPr>
          <p:cNvPr id="69" name="TextBox 68"/>
          <p:cNvSpPr txBox="1"/>
          <p:nvPr/>
        </p:nvSpPr>
        <p:spPr>
          <a:xfrm>
            <a:off x="1658711"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Sprays</a:t>
            </a:r>
          </a:p>
        </p:txBody>
      </p:sp>
      <p:sp>
        <p:nvSpPr>
          <p:cNvPr id="70" name="TextBox 69"/>
          <p:cNvSpPr txBox="1"/>
          <p:nvPr/>
        </p:nvSpPr>
        <p:spPr>
          <a:xfrm>
            <a:off x="2660196"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Irrigation Devices an…</a:t>
            </a:r>
          </a:p>
        </p:txBody>
      </p:sp>
      <p:sp>
        <p:nvSpPr>
          <p:cNvPr id="71" name="TextBox 70"/>
          <p:cNvSpPr txBox="1"/>
          <p:nvPr/>
        </p:nvSpPr>
        <p:spPr>
          <a:xfrm>
            <a:off x="3661682"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Manual Removal Tools</a:t>
            </a:r>
          </a:p>
        </p:txBody>
      </p:sp>
      <p:sp>
        <p:nvSpPr>
          <p:cNvPr id="72" name="TextBox 71"/>
          <p:cNvSpPr txBox="1"/>
          <p:nvPr/>
        </p:nvSpPr>
        <p:spPr>
          <a:xfrm>
            <a:off x="4663168"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Camera-Assisted Remov…</a:t>
            </a:r>
          </a:p>
        </p:txBody>
      </p:sp>
      <p:sp>
        <p:nvSpPr>
          <p:cNvPr id="73" name="TextBox 72"/>
          <p:cNvSpPr txBox="1"/>
          <p:nvPr/>
        </p:nvSpPr>
        <p:spPr>
          <a:xfrm>
            <a:off x="5664654"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Suction Devices and A…</a:t>
            </a:r>
          </a:p>
        </p:txBody>
      </p:sp>
      <p:sp>
        <p:nvSpPr>
          <p:cNvPr id="74" name="TextBox 73"/>
          <p:cNvSpPr txBox="1"/>
          <p:nvPr/>
        </p:nvSpPr>
        <p:spPr>
          <a:xfrm>
            <a:off x="6666139"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Combination Removal K…</a:t>
            </a:r>
          </a:p>
        </p:txBody>
      </p:sp>
      <p:sp>
        <p:nvSpPr>
          <p:cNvPr id="75" name="Rounded Rectangle 74"/>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  2026–2036</a:t>
            </a:r>
          </a:p>
        </p:txBody>
      </p:sp>
      <p:cxnSp>
        <p:nvCxnSpPr>
          <p:cNvPr id="77" name="Connector 76"/>
          <p:cNvCxnSpPr/>
          <p:nvPr/>
        </p:nvCxnSpPr>
        <p:spPr>
          <a:xfrm>
            <a:off x="619125" y="431856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19125" y="472917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619125" y="51397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619125" y="555038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619125" y="596098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619125" y="4318566"/>
            <a:ext cx="0" cy="1642419"/>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590550" y="431856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590550" y="472917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590550" y="51397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590550" y="555038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590550" y="596098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88" name="FMI Scale tick"/>
          <p:cNvSpPr txBox="1"/>
          <p:nvPr/>
        </p:nvSpPr>
        <p:spPr>
          <a:xfrm>
            <a:off x="219075" y="4251891"/>
            <a:ext cx="361950" cy="133350"/>
          </a:xfrm>
          <a:prstGeom prst="rect">
            <a:avLst/>
          </a:prstGeom>
          <a:noFill/>
        </p:spPr>
        <p:txBody>
          <a:bodyPr wrap="none" lIns="0" rIns="0" tIns="0" bIns="0" anchor="ctr">
            <a:spAutoFit/>
          </a:bodyPr>
          <a:lstStyle/>
          <a:p>
            <a:pPr algn="r"/>
            <a:r>
              <a:rPr sz="1100" b="0">
                <a:solidFill>
                  <a:srgbClr val="6C7A89"/>
                </a:solidFill>
                <a:latin typeface="Calibri"/>
              </a:rPr>
              <a:t>+49%</a:t>
            </a:r>
          </a:p>
        </p:txBody>
      </p:sp>
      <p:sp>
        <p:nvSpPr>
          <p:cNvPr id="89" name="FMI Scale tick"/>
          <p:cNvSpPr txBox="1"/>
          <p:nvPr/>
        </p:nvSpPr>
        <p:spPr>
          <a:xfrm>
            <a:off x="219075" y="4662496"/>
            <a:ext cx="361950" cy="133350"/>
          </a:xfrm>
          <a:prstGeom prst="rect">
            <a:avLst/>
          </a:prstGeom>
          <a:noFill/>
        </p:spPr>
        <p:txBody>
          <a:bodyPr wrap="none" lIns="0" rIns="0" tIns="0" bIns="0" anchor="ctr">
            <a:spAutoFit/>
          </a:bodyPr>
          <a:lstStyle/>
          <a:p>
            <a:pPr algn="r"/>
            <a:r>
              <a:rPr sz="1100" b="0">
                <a:solidFill>
                  <a:srgbClr val="6C7A89"/>
                </a:solidFill>
                <a:latin typeface="Calibri"/>
              </a:rPr>
              <a:t>+25%</a:t>
            </a:r>
          </a:p>
        </p:txBody>
      </p:sp>
      <p:sp>
        <p:nvSpPr>
          <p:cNvPr id="90" name="FMI Scale tick"/>
          <p:cNvSpPr txBox="1"/>
          <p:nvPr/>
        </p:nvSpPr>
        <p:spPr>
          <a:xfrm>
            <a:off x="107156" y="5073101"/>
            <a:ext cx="473869" cy="133350"/>
          </a:xfrm>
          <a:prstGeom prst="rect">
            <a:avLst/>
          </a:prstGeom>
          <a:noFill/>
        </p:spPr>
        <p:txBody>
          <a:bodyPr wrap="square" lIns="28575" rIns="28575" tIns="9525" bIns="9525" anchor="ctr">
            <a:spAutoFit/>
          </a:bodyPr>
          <a:lstStyle/>
          <a:p>
            <a:pPr algn="r"/>
            <a:r>
              <a:rPr sz="1100" b="1">
                <a:solidFill>
                  <a:srgbClr val="6C7A89"/>
                </a:solidFill>
                <a:latin typeface="Calibri"/>
              </a:rPr>
              <a:t>Global</a:t>
            </a:r>
          </a:p>
        </p:txBody>
      </p:sp>
      <p:sp>
        <p:nvSpPr>
          <p:cNvPr id="91" name="FMI Scale tick"/>
          <p:cNvSpPr txBox="1"/>
          <p:nvPr/>
        </p:nvSpPr>
        <p:spPr>
          <a:xfrm>
            <a:off x="219075" y="5483705"/>
            <a:ext cx="361950" cy="133350"/>
          </a:xfrm>
          <a:prstGeom prst="rect">
            <a:avLst/>
          </a:prstGeom>
          <a:noFill/>
        </p:spPr>
        <p:txBody>
          <a:bodyPr wrap="none" lIns="0" rIns="0" tIns="0" bIns="0" anchor="ctr">
            <a:spAutoFit/>
          </a:bodyPr>
          <a:lstStyle/>
          <a:p>
            <a:pPr algn="r"/>
            <a:r>
              <a:rPr sz="1100" b="0">
                <a:solidFill>
                  <a:srgbClr val="6C7A89"/>
                </a:solidFill>
                <a:latin typeface="Calibri"/>
              </a:rPr>
              <a:t>-25%</a:t>
            </a:r>
          </a:p>
        </p:txBody>
      </p:sp>
      <p:sp>
        <p:nvSpPr>
          <p:cNvPr id="92" name="FMI Scale tick"/>
          <p:cNvSpPr txBox="1"/>
          <p:nvPr/>
        </p:nvSpPr>
        <p:spPr>
          <a:xfrm>
            <a:off x="219075" y="5894310"/>
            <a:ext cx="361950" cy="133350"/>
          </a:xfrm>
          <a:prstGeom prst="rect">
            <a:avLst/>
          </a:prstGeom>
          <a:noFill/>
        </p:spPr>
        <p:txBody>
          <a:bodyPr wrap="none" lIns="0" rIns="0" tIns="0" bIns="0" anchor="ctr">
            <a:spAutoFit/>
          </a:bodyPr>
          <a:lstStyle/>
          <a:p>
            <a:pPr algn="r"/>
            <a:r>
              <a:rPr sz="1100" b="0">
                <a:solidFill>
                  <a:srgbClr val="6C7A89"/>
                </a:solidFill>
                <a:latin typeface="Calibri"/>
              </a:rPr>
              <a:t>-49%</a:t>
            </a:r>
          </a:p>
        </p:txBody>
      </p:sp>
      <p:cxnSp>
        <p:nvCxnSpPr>
          <p:cNvPr id="93" name="Connector 92"/>
          <p:cNvCxnSpPr/>
          <p:nvPr/>
        </p:nvCxnSpPr>
        <p:spPr>
          <a:xfrm>
            <a:off x="619125" y="513977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94" name="Rectangle 93"/>
          <p:cNvSpPr/>
          <p:nvPr/>
        </p:nvSpPr>
        <p:spPr>
          <a:xfrm>
            <a:off x="977900" y="4423458"/>
            <a:ext cx="457200" cy="716318"/>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FMI Data Label"/>
          <p:cNvSpPr txBox="1"/>
          <p:nvPr/>
        </p:nvSpPr>
        <p:spPr>
          <a:xfrm>
            <a:off x="619125" y="428058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6" name="Rectangle 95"/>
          <p:cNvSpPr/>
          <p:nvPr/>
        </p:nvSpPr>
        <p:spPr>
          <a:xfrm>
            <a:off x="2152650" y="5139776"/>
            <a:ext cx="457200" cy="70870"/>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FMI Data Label"/>
          <p:cNvSpPr txBox="1"/>
          <p:nvPr/>
        </p:nvSpPr>
        <p:spPr>
          <a:xfrm>
            <a:off x="1793875" y="5220171"/>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8" name="Rectangle 97"/>
          <p:cNvSpPr/>
          <p:nvPr/>
        </p:nvSpPr>
        <p:spPr>
          <a:xfrm>
            <a:off x="3327400" y="4706112"/>
            <a:ext cx="457200" cy="433663"/>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FMI Data Label"/>
          <p:cNvSpPr txBox="1"/>
          <p:nvPr/>
        </p:nvSpPr>
        <p:spPr>
          <a:xfrm>
            <a:off x="2968625" y="4563237"/>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0" name="Rectangle 99"/>
          <p:cNvSpPr/>
          <p:nvPr/>
        </p:nvSpPr>
        <p:spPr>
          <a:xfrm>
            <a:off x="4502150" y="5139776"/>
            <a:ext cx="457200" cy="517191"/>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FMI Data Label"/>
          <p:cNvSpPr txBox="1"/>
          <p:nvPr/>
        </p:nvSpPr>
        <p:spPr>
          <a:xfrm>
            <a:off x="4143375" y="5666491"/>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2" name="Rectangle 101"/>
          <p:cNvSpPr/>
          <p:nvPr/>
        </p:nvSpPr>
        <p:spPr>
          <a:xfrm>
            <a:off x="5676900" y="5139776"/>
            <a:ext cx="457200" cy="667079"/>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MI Data Label"/>
          <p:cNvSpPr txBox="1"/>
          <p:nvPr/>
        </p:nvSpPr>
        <p:spPr>
          <a:xfrm>
            <a:off x="5318125" y="5816380"/>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4" name="Rectangle 103"/>
          <p:cNvSpPr/>
          <p:nvPr/>
        </p:nvSpPr>
        <p:spPr>
          <a:xfrm>
            <a:off x="6851650" y="5139776"/>
            <a:ext cx="457200" cy="138703"/>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MI Data Label"/>
          <p:cNvSpPr txBox="1"/>
          <p:nvPr/>
        </p:nvSpPr>
        <p:spPr>
          <a:xfrm>
            <a:off x="6492875" y="5288004"/>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6" name="TextBox 105"/>
          <p:cNvSpPr txBox="1"/>
          <p:nvPr/>
        </p:nvSpPr>
        <p:spPr>
          <a:xfrm>
            <a:off x="619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107" name="TextBox 106"/>
          <p:cNvSpPr txBox="1"/>
          <p:nvPr/>
        </p:nvSpPr>
        <p:spPr>
          <a:xfrm>
            <a:off x="1793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108" name="TextBox 107"/>
          <p:cNvSpPr txBox="1"/>
          <p:nvPr/>
        </p:nvSpPr>
        <p:spPr>
          <a:xfrm>
            <a:off x="29686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Europe</a:t>
            </a:r>
          </a:p>
        </p:txBody>
      </p:sp>
      <p:sp>
        <p:nvSpPr>
          <p:cNvPr id="109" name="TextBox 108"/>
          <p:cNvSpPr txBox="1"/>
          <p:nvPr/>
        </p:nvSpPr>
        <p:spPr>
          <a:xfrm>
            <a:off x="41433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110" name="TextBox 109"/>
          <p:cNvSpPr txBox="1"/>
          <p:nvPr/>
        </p:nvSpPr>
        <p:spPr>
          <a:xfrm>
            <a:off x="5318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111" name="TextBox 110"/>
          <p:cNvSpPr txBox="1"/>
          <p:nvPr/>
        </p:nvSpPr>
        <p:spPr>
          <a:xfrm>
            <a:off x="6492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112" name="Rounded Rectangle 111"/>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14" name="Rectangle 113"/>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16" name="TextBox 1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17" name="Picture 116" descr="lock.png"/>
          <p:cNvPicPr>
            <a:picLocks noChangeAspect="1"/>
          </p:cNvPicPr>
          <p:nvPr/>
        </p:nvPicPr>
        <p:blipFill>
          <a:blip r:embed="rId4"/>
          <a:stretch>
            <a:fillRect/>
          </a:stretch>
        </p:blipFill>
        <p:spPr>
          <a:xfrm>
            <a:off x="1093618" y="2563586"/>
            <a:ext cx="128699" cy="187198"/>
          </a:xfrm>
          <a:prstGeom prst="rect">
            <a:avLst/>
          </a:prstGeom>
        </p:spPr>
      </p:pic>
      <p:pic>
        <p:nvPicPr>
          <p:cNvPr id="118" name="Picture 117" descr="lock.png"/>
          <p:cNvPicPr>
            <a:picLocks noChangeAspect="1"/>
          </p:cNvPicPr>
          <p:nvPr/>
        </p:nvPicPr>
        <p:blipFill>
          <a:blip r:embed="rId4"/>
          <a:stretch>
            <a:fillRect/>
          </a:stretch>
        </p:blipFill>
        <p:spPr>
          <a:xfrm>
            <a:off x="2095104" y="2385357"/>
            <a:ext cx="128699" cy="187198"/>
          </a:xfrm>
          <a:prstGeom prst="rect">
            <a:avLst/>
          </a:prstGeom>
        </p:spPr>
      </p:pic>
      <p:pic>
        <p:nvPicPr>
          <p:cNvPr id="119" name="Picture 118" descr="lock.png"/>
          <p:cNvPicPr>
            <a:picLocks noChangeAspect="1"/>
          </p:cNvPicPr>
          <p:nvPr/>
        </p:nvPicPr>
        <p:blipFill>
          <a:blip r:embed="rId4"/>
          <a:stretch>
            <a:fillRect/>
          </a:stretch>
        </p:blipFill>
        <p:spPr>
          <a:xfrm>
            <a:off x="3096589" y="2263953"/>
            <a:ext cx="128699" cy="187198"/>
          </a:xfrm>
          <a:prstGeom prst="rect">
            <a:avLst/>
          </a:prstGeom>
        </p:spPr>
      </p:pic>
      <p:pic>
        <p:nvPicPr>
          <p:cNvPr id="120" name="Picture 119" descr="lock.png"/>
          <p:cNvPicPr>
            <a:picLocks noChangeAspect="1"/>
          </p:cNvPicPr>
          <p:nvPr/>
        </p:nvPicPr>
        <p:blipFill>
          <a:blip r:embed="rId4"/>
          <a:stretch>
            <a:fillRect/>
          </a:stretch>
        </p:blipFill>
        <p:spPr>
          <a:xfrm>
            <a:off x="4098075" y="2194477"/>
            <a:ext cx="128699" cy="187198"/>
          </a:xfrm>
          <a:prstGeom prst="rect">
            <a:avLst/>
          </a:prstGeom>
        </p:spPr>
      </p:pic>
      <p:pic>
        <p:nvPicPr>
          <p:cNvPr id="121" name="Picture 120" descr="lock.png"/>
          <p:cNvPicPr>
            <a:picLocks noChangeAspect="1"/>
          </p:cNvPicPr>
          <p:nvPr/>
        </p:nvPicPr>
        <p:blipFill>
          <a:blip r:embed="rId4"/>
          <a:stretch>
            <a:fillRect/>
          </a:stretch>
        </p:blipFill>
        <p:spPr>
          <a:xfrm>
            <a:off x="5099561" y="1463749"/>
            <a:ext cx="128699" cy="187198"/>
          </a:xfrm>
          <a:prstGeom prst="rect">
            <a:avLst/>
          </a:prstGeom>
        </p:spPr>
      </p:pic>
      <p:pic>
        <p:nvPicPr>
          <p:cNvPr id="122" name="Picture 121" descr="lock.png"/>
          <p:cNvPicPr>
            <a:picLocks noChangeAspect="1"/>
          </p:cNvPicPr>
          <p:nvPr/>
        </p:nvPicPr>
        <p:blipFill>
          <a:blip r:embed="rId4"/>
          <a:stretch>
            <a:fillRect/>
          </a:stretch>
        </p:blipFill>
        <p:spPr>
          <a:xfrm>
            <a:off x="6101047" y="2123744"/>
            <a:ext cx="128699" cy="187198"/>
          </a:xfrm>
          <a:prstGeom prst="rect">
            <a:avLst/>
          </a:prstGeom>
        </p:spPr>
      </p:pic>
      <p:pic>
        <p:nvPicPr>
          <p:cNvPr id="123" name="Picture 122" descr="lock.png"/>
          <p:cNvPicPr>
            <a:picLocks noChangeAspect="1"/>
          </p:cNvPicPr>
          <p:nvPr/>
        </p:nvPicPr>
        <p:blipFill>
          <a:blip r:embed="rId4"/>
          <a:stretch>
            <a:fillRect/>
          </a:stretch>
        </p:blipFill>
        <p:spPr>
          <a:xfrm>
            <a:off x="7102532" y="1719787"/>
            <a:ext cx="128699" cy="187198"/>
          </a:xfrm>
          <a:prstGeom prst="rect">
            <a:avLst/>
          </a:prstGeom>
        </p:spPr>
      </p:pic>
      <p:pic>
        <p:nvPicPr>
          <p:cNvPr id="124" name="Picture 123" descr="lock.png"/>
          <p:cNvPicPr>
            <a:picLocks noChangeAspect="1"/>
          </p:cNvPicPr>
          <p:nvPr/>
        </p:nvPicPr>
        <p:blipFill>
          <a:blip r:embed="rId4"/>
          <a:stretch>
            <a:fillRect/>
          </a:stretch>
        </p:blipFill>
        <p:spPr>
          <a:xfrm>
            <a:off x="1142150" y="4253659"/>
            <a:ext cx="128699" cy="187198"/>
          </a:xfrm>
          <a:prstGeom prst="rect">
            <a:avLst/>
          </a:prstGeom>
        </p:spPr>
      </p:pic>
      <p:pic>
        <p:nvPicPr>
          <p:cNvPr id="125" name="Picture 124" descr="lock.png"/>
          <p:cNvPicPr>
            <a:picLocks noChangeAspect="1"/>
          </p:cNvPicPr>
          <p:nvPr/>
        </p:nvPicPr>
        <p:blipFill>
          <a:blip r:embed="rId4"/>
          <a:stretch>
            <a:fillRect/>
          </a:stretch>
        </p:blipFill>
        <p:spPr>
          <a:xfrm>
            <a:off x="2316900" y="5193247"/>
            <a:ext cx="128699" cy="187198"/>
          </a:xfrm>
          <a:prstGeom prst="rect">
            <a:avLst/>
          </a:prstGeom>
        </p:spPr>
      </p:pic>
      <p:pic>
        <p:nvPicPr>
          <p:cNvPr id="126" name="Picture 125" descr="lock.png"/>
          <p:cNvPicPr>
            <a:picLocks noChangeAspect="1"/>
          </p:cNvPicPr>
          <p:nvPr/>
        </p:nvPicPr>
        <p:blipFill>
          <a:blip r:embed="rId4"/>
          <a:stretch>
            <a:fillRect/>
          </a:stretch>
        </p:blipFill>
        <p:spPr>
          <a:xfrm>
            <a:off x="3491650" y="4536313"/>
            <a:ext cx="128699" cy="187198"/>
          </a:xfrm>
          <a:prstGeom prst="rect">
            <a:avLst/>
          </a:prstGeom>
        </p:spPr>
      </p:pic>
      <p:pic>
        <p:nvPicPr>
          <p:cNvPr id="127" name="Picture 126" descr="lock.png"/>
          <p:cNvPicPr>
            <a:picLocks noChangeAspect="1"/>
          </p:cNvPicPr>
          <p:nvPr/>
        </p:nvPicPr>
        <p:blipFill>
          <a:blip r:embed="rId4"/>
          <a:stretch>
            <a:fillRect/>
          </a:stretch>
        </p:blipFill>
        <p:spPr>
          <a:xfrm>
            <a:off x="4666400" y="5639566"/>
            <a:ext cx="128699" cy="187198"/>
          </a:xfrm>
          <a:prstGeom prst="rect">
            <a:avLst/>
          </a:prstGeom>
        </p:spPr>
      </p:pic>
      <p:pic>
        <p:nvPicPr>
          <p:cNvPr id="128" name="Picture 127" descr="lock.png"/>
          <p:cNvPicPr>
            <a:picLocks noChangeAspect="1"/>
          </p:cNvPicPr>
          <p:nvPr/>
        </p:nvPicPr>
        <p:blipFill>
          <a:blip r:embed="rId4"/>
          <a:stretch>
            <a:fillRect/>
          </a:stretch>
        </p:blipFill>
        <p:spPr>
          <a:xfrm>
            <a:off x="5841150" y="5789455"/>
            <a:ext cx="128699" cy="187198"/>
          </a:xfrm>
          <a:prstGeom prst="rect">
            <a:avLst/>
          </a:prstGeom>
        </p:spPr>
      </p:pic>
      <p:pic>
        <p:nvPicPr>
          <p:cNvPr id="129" name="Picture 128" descr="lock.png"/>
          <p:cNvPicPr>
            <a:picLocks noChangeAspect="1"/>
          </p:cNvPicPr>
          <p:nvPr/>
        </p:nvPicPr>
        <p:blipFill>
          <a:blip r:embed="rId4"/>
          <a:stretch>
            <a:fillRect/>
          </a:stretch>
        </p:blipFill>
        <p:spPr>
          <a:xfrm>
            <a:off x="7015900" y="5261080"/>
            <a:ext cx="128699" cy="187198"/>
          </a:xfrm>
          <a:prstGeom prst="rect">
            <a:avLst/>
          </a:prstGeom>
        </p:spPr>
      </p:pic>
      <p:sp>
        <p:nvSpPr>
          <p:cNvPr id="130" name="TextBox 129"/>
          <p:cNvSpPr txBox="1"/>
          <p:nvPr/>
        </p:nvSpPr>
        <p:spPr>
          <a:xfrm>
            <a:off x="8048625" y="1471995"/>
            <a:ext cx="3455032" cy="194310"/>
          </a:xfrm>
          <a:prstGeom prst="rect">
            <a:avLst/>
          </a:prstGeom>
          <a:noFill/>
        </p:spPr>
        <p:txBody>
          <a:bodyPr wrap="none" lIns="0" rIns="0" tIns="0" bIns="0">
            <a:spAutoFit/>
          </a:bodyPr>
          <a:lstStyle/>
          <a:p>
            <a:r>
              <a:rPr sz="1150" b="0">
                <a:solidFill>
                  <a:srgbClr val="2E2E2E"/>
                </a:solidFill>
                <a:latin typeface="Calibri"/>
              </a:rPr>
              <a:t>Camera-assisted removal devices segment is expected to</a:t>
            </a:r>
          </a:p>
        </p:txBody>
      </p:sp>
      <p:sp>
        <p:nvSpPr>
          <p:cNvPr id="131" name="TextBox 130"/>
          <p:cNvSpPr txBox="1"/>
          <p:nvPr/>
        </p:nvSpPr>
        <p:spPr>
          <a:xfrm>
            <a:off x="8048625" y="1647255"/>
            <a:ext cx="2627225" cy="194310"/>
          </a:xfrm>
          <a:prstGeom prst="rect">
            <a:avLst/>
          </a:prstGeom>
          <a:noFill/>
        </p:spPr>
        <p:txBody>
          <a:bodyPr wrap="none" lIns="0" rIns="0" tIns="0" bIns="0">
            <a:spAutoFit/>
          </a:bodyPr>
          <a:lstStyle/>
          <a:p>
            <a:r>
              <a:rPr sz="1150" b="0">
                <a:solidFill>
                  <a:srgbClr val="2E2E2E"/>
                </a:solidFill>
                <a:latin typeface="Calibri"/>
              </a:rPr>
              <a:t>command the highest average price of US$</a:t>
            </a:r>
          </a:p>
        </p:txBody>
      </p:sp>
      <p:pic>
        <p:nvPicPr>
          <p:cNvPr id="132" name="Picture 131" descr="lock.png"/>
          <p:cNvPicPr>
            <a:picLocks noChangeAspect="1"/>
          </p:cNvPicPr>
          <p:nvPr/>
        </p:nvPicPr>
        <p:blipFill>
          <a:blip r:embed="rId4"/>
          <a:stretch>
            <a:fillRect/>
          </a:stretch>
        </p:blipFill>
        <p:spPr>
          <a:xfrm>
            <a:off x="10625004" y="1637031"/>
            <a:ext cx="134549" cy="195707"/>
          </a:xfrm>
          <a:prstGeom prst="rect">
            <a:avLst/>
          </a:prstGeom>
        </p:spPr>
      </p:pic>
      <p:sp>
        <p:nvSpPr>
          <p:cNvPr id="133" name="TextBox 132"/>
          <p:cNvSpPr txBox="1"/>
          <p:nvPr/>
        </p:nvSpPr>
        <p:spPr>
          <a:xfrm>
            <a:off x="10800113" y="1647255"/>
            <a:ext cx="706611" cy="194310"/>
          </a:xfrm>
          <a:prstGeom prst="rect">
            <a:avLst/>
          </a:prstGeom>
          <a:noFill/>
        </p:spPr>
        <p:txBody>
          <a:bodyPr wrap="none" lIns="0" rIns="0" tIns="0" bIns="0">
            <a:spAutoFit/>
          </a:bodyPr>
          <a:lstStyle/>
          <a:p>
            <a:r>
              <a:rPr sz="1150" b="0">
                <a:solidFill>
                  <a:srgbClr val="2E2E2E"/>
                </a:solidFill>
                <a:latin typeface="Calibri"/>
              </a:rPr>
              <a:t>per Unit in</a:t>
            </a:r>
          </a:p>
        </p:txBody>
      </p:sp>
      <p:sp>
        <p:nvSpPr>
          <p:cNvPr id="134" name="TextBox 133"/>
          <p:cNvSpPr txBox="1"/>
          <p:nvPr/>
        </p:nvSpPr>
        <p:spPr>
          <a:xfrm>
            <a:off x="8048625" y="1822515"/>
            <a:ext cx="3522027" cy="194310"/>
          </a:xfrm>
          <a:prstGeom prst="rect">
            <a:avLst/>
          </a:prstGeom>
          <a:noFill/>
        </p:spPr>
        <p:txBody>
          <a:bodyPr wrap="none" lIns="0" rIns="0" tIns="0" bIns="0">
            <a:spAutoFit/>
          </a:bodyPr>
          <a:lstStyle/>
          <a:p>
            <a:r>
              <a:rPr sz="1150" b="0">
                <a:solidFill>
                  <a:srgbClr val="2E2E2E"/>
                </a:solidFill>
                <a:latin typeface="Calibri"/>
              </a:rPr>
              <a:t>2036. Average selling price of ear wax removal products is</a:t>
            </a:r>
          </a:p>
        </p:txBody>
      </p:sp>
      <p:sp>
        <p:nvSpPr>
          <p:cNvPr id="135" name="TextBox 134"/>
          <p:cNvSpPr txBox="1"/>
          <p:nvPr/>
        </p:nvSpPr>
        <p:spPr>
          <a:xfrm>
            <a:off x="8048625" y="1997775"/>
            <a:ext cx="1093985" cy="194310"/>
          </a:xfrm>
          <a:prstGeom prst="rect">
            <a:avLst/>
          </a:prstGeom>
          <a:noFill/>
        </p:spPr>
        <p:txBody>
          <a:bodyPr wrap="none" lIns="0" rIns="0" tIns="0" bIns="0">
            <a:spAutoFit/>
          </a:bodyPr>
          <a:lstStyle/>
          <a:p>
            <a:r>
              <a:rPr sz="1150" b="0">
                <a:solidFill>
                  <a:srgbClr val="2E2E2E"/>
                </a:solidFill>
                <a:latin typeface="Calibri"/>
              </a:rPr>
              <a:t>estimated at US$</a:t>
            </a:r>
          </a:p>
        </p:txBody>
      </p:sp>
      <p:pic>
        <p:nvPicPr>
          <p:cNvPr id="136" name="Picture 135" descr="lock.png"/>
          <p:cNvPicPr>
            <a:picLocks noChangeAspect="1"/>
          </p:cNvPicPr>
          <p:nvPr/>
        </p:nvPicPr>
        <p:blipFill>
          <a:blip r:embed="rId4"/>
          <a:stretch>
            <a:fillRect/>
          </a:stretch>
        </p:blipFill>
        <p:spPr>
          <a:xfrm>
            <a:off x="9091764" y="1987551"/>
            <a:ext cx="134549" cy="195707"/>
          </a:xfrm>
          <a:prstGeom prst="rect">
            <a:avLst/>
          </a:prstGeom>
        </p:spPr>
      </p:pic>
      <p:sp>
        <p:nvSpPr>
          <p:cNvPr id="137" name="TextBox 136"/>
          <p:cNvSpPr txBox="1"/>
          <p:nvPr/>
        </p:nvSpPr>
        <p:spPr>
          <a:xfrm>
            <a:off x="9266874" y="1997775"/>
            <a:ext cx="2181944" cy="194310"/>
          </a:xfrm>
          <a:prstGeom prst="rect">
            <a:avLst/>
          </a:prstGeom>
          <a:noFill/>
        </p:spPr>
        <p:txBody>
          <a:bodyPr wrap="none" lIns="0" rIns="0" tIns="0" bIns="0">
            <a:spAutoFit/>
          </a:bodyPr>
          <a:lstStyle/>
          <a:p>
            <a:r>
              <a:rPr sz="1150" b="0">
                <a:solidFill>
                  <a:srgbClr val="2E2E2E"/>
                </a:solidFill>
                <a:latin typeface="Calibri"/>
              </a:rPr>
              <a:t>per Unit in 2025 and is projected to</a:t>
            </a:r>
          </a:p>
        </p:txBody>
      </p:sp>
      <p:sp>
        <p:nvSpPr>
          <p:cNvPr id="138" name="TextBox 137"/>
          <p:cNvSpPr txBox="1"/>
          <p:nvPr/>
        </p:nvSpPr>
        <p:spPr>
          <a:xfrm>
            <a:off x="8048625" y="2173035"/>
            <a:ext cx="999281" cy="194310"/>
          </a:xfrm>
          <a:prstGeom prst="rect">
            <a:avLst/>
          </a:prstGeom>
          <a:noFill/>
        </p:spPr>
        <p:txBody>
          <a:bodyPr wrap="none" lIns="0" rIns="0" tIns="0" bIns="0">
            <a:spAutoFit/>
          </a:bodyPr>
          <a:lstStyle/>
          <a:p>
            <a:r>
              <a:rPr sz="1150" b="0">
                <a:solidFill>
                  <a:srgbClr val="2E2E2E"/>
                </a:solidFill>
                <a:latin typeface="Calibri"/>
              </a:rPr>
              <a:t>increase to US$</a:t>
            </a:r>
          </a:p>
        </p:txBody>
      </p:sp>
      <p:pic>
        <p:nvPicPr>
          <p:cNvPr id="139" name="Picture 138" descr="lock.png"/>
          <p:cNvPicPr>
            <a:picLocks noChangeAspect="1"/>
          </p:cNvPicPr>
          <p:nvPr/>
        </p:nvPicPr>
        <p:blipFill>
          <a:blip r:embed="rId4"/>
          <a:stretch>
            <a:fillRect/>
          </a:stretch>
        </p:blipFill>
        <p:spPr>
          <a:xfrm>
            <a:off x="8997060" y="2162811"/>
            <a:ext cx="134549" cy="195707"/>
          </a:xfrm>
          <a:prstGeom prst="rect">
            <a:avLst/>
          </a:prstGeom>
        </p:spPr>
      </p:pic>
      <p:sp>
        <p:nvSpPr>
          <p:cNvPr id="140" name="TextBox 139"/>
          <p:cNvSpPr txBox="1"/>
          <p:nvPr/>
        </p:nvSpPr>
        <p:spPr>
          <a:xfrm>
            <a:off x="9172169" y="2173035"/>
            <a:ext cx="1105681" cy="194310"/>
          </a:xfrm>
          <a:prstGeom prst="rect">
            <a:avLst/>
          </a:prstGeom>
          <a:noFill/>
        </p:spPr>
        <p:txBody>
          <a:bodyPr wrap="none" lIns="0" rIns="0" tIns="0" bIns="0">
            <a:spAutoFit/>
          </a:bodyPr>
          <a:lstStyle/>
          <a:p>
            <a:r>
              <a:rPr sz="1150" b="0">
                <a:solidFill>
                  <a:srgbClr val="2E2E2E"/>
                </a:solidFill>
                <a:latin typeface="Calibri"/>
              </a:rPr>
              <a:t>per Unit by 2036.</a:t>
            </a:r>
          </a:p>
        </p:txBody>
      </p:sp>
      <p:sp>
        <p:nvSpPr>
          <p:cNvPr id="141" name="TextBox 140"/>
          <p:cNvSpPr txBox="1"/>
          <p:nvPr/>
        </p:nvSpPr>
        <p:spPr>
          <a:xfrm>
            <a:off x="8048625" y="2400873"/>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142" name="TextBox 141"/>
          <p:cNvSpPr txBox="1"/>
          <p:nvPr/>
        </p:nvSpPr>
        <p:spPr>
          <a:xfrm>
            <a:off x="8048625" y="2576133"/>
            <a:ext cx="382158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Against the global</a:t>
            </a:r>
          </a:p>
        </p:txBody>
      </p:sp>
      <p:sp>
        <p:nvSpPr>
          <p:cNvPr id="143" name="TextBox 142"/>
          <p:cNvSpPr txBox="1"/>
          <p:nvPr/>
        </p:nvSpPr>
        <p:spPr>
          <a:xfrm>
            <a:off x="8048625" y="2751393"/>
            <a:ext cx="526901" cy="194310"/>
          </a:xfrm>
          <a:prstGeom prst="rect">
            <a:avLst/>
          </a:prstGeom>
          <a:noFill/>
        </p:spPr>
        <p:txBody>
          <a:bodyPr wrap="none" lIns="0" rIns="0" tIns="0" bIns="0">
            <a:spAutoFit/>
          </a:bodyPr>
          <a:lstStyle/>
          <a:p>
            <a:r>
              <a:rPr sz="1150" b="0">
                <a:solidFill>
                  <a:srgbClr val="2E2E2E"/>
                </a:solidFill>
                <a:latin typeface="Calibri"/>
              </a:rPr>
              <a:t>price of</a:t>
            </a:r>
          </a:p>
        </p:txBody>
      </p:sp>
      <p:pic>
        <p:nvPicPr>
          <p:cNvPr id="144" name="Picture 143" descr="lock.png"/>
          <p:cNvPicPr>
            <a:picLocks noChangeAspect="1"/>
          </p:cNvPicPr>
          <p:nvPr/>
        </p:nvPicPr>
        <p:blipFill>
          <a:blip r:embed="rId4"/>
          <a:stretch>
            <a:fillRect/>
          </a:stretch>
        </p:blipFill>
        <p:spPr>
          <a:xfrm>
            <a:off x="8524680" y="2741169"/>
            <a:ext cx="134549" cy="195707"/>
          </a:xfrm>
          <a:prstGeom prst="rect">
            <a:avLst/>
          </a:prstGeom>
        </p:spPr>
      </p:pic>
      <p:sp>
        <p:nvSpPr>
          <p:cNvPr id="145" name="TextBox 144"/>
          <p:cNvSpPr txBox="1"/>
          <p:nvPr/>
        </p:nvSpPr>
        <p:spPr>
          <a:xfrm>
            <a:off x="8699789" y="2751393"/>
            <a:ext cx="3076500" cy="194310"/>
          </a:xfrm>
          <a:prstGeom prst="rect">
            <a:avLst/>
          </a:prstGeom>
          <a:noFill/>
        </p:spPr>
        <p:txBody>
          <a:bodyPr wrap="none" lIns="0" rIns="0" tIns="0" bIns="0">
            <a:spAutoFit/>
          </a:bodyPr>
          <a:lstStyle/>
          <a:p>
            <a:r>
              <a:rPr sz="1150" b="0">
                <a:solidFill>
                  <a:srgbClr val="2E2E2E"/>
                </a:solidFill>
                <a:latin typeface="Calibri"/>
              </a:rPr>
              <a:t>US$/Units, 2 of 6 regions price above and 4 below.</a:t>
            </a:r>
          </a:p>
        </p:txBody>
      </p:sp>
      <p:sp>
        <p:nvSpPr>
          <p:cNvPr id="146" name="TextBox 145"/>
          <p:cNvSpPr txBox="1"/>
          <p:nvPr/>
        </p:nvSpPr>
        <p:spPr>
          <a:xfrm>
            <a:off x="8048625" y="2979230"/>
            <a:ext cx="2108063" cy="194310"/>
          </a:xfrm>
          <a:prstGeom prst="rect">
            <a:avLst/>
          </a:prstGeom>
          <a:noFill/>
        </p:spPr>
        <p:txBody>
          <a:bodyPr wrap="none" lIns="0" rIns="0" tIns="0" bIns="0">
            <a:spAutoFit/>
          </a:bodyPr>
          <a:lstStyle/>
          <a:p>
            <a:r>
              <a:rPr sz="1150" b="0">
                <a:solidFill>
                  <a:srgbClr val="2E2E2E"/>
                </a:solidFill>
                <a:latin typeface="Calibri"/>
              </a:rPr>
              <a:t>'North America' is the dearest at +</a:t>
            </a:r>
          </a:p>
        </p:txBody>
      </p:sp>
      <p:pic>
        <p:nvPicPr>
          <p:cNvPr id="147" name="Picture 146" descr="lock.png"/>
          <p:cNvPicPr>
            <a:picLocks noChangeAspect="1"/>
          </p:cNvPicPr>
          <p:nvPr/>
        </p:nvPicPr>
        <p:blipFill>
          <a:blip r:embed="rId4"/>
          <a:stretch>
            <a:fillRect/>
          </a:stretch>
        </p:blipFill>
        <p:spPr>
          <a:xfrm>
            <a:off x="10105842" y="2969007"/>
            <a:ext cx="134549" cy="195707"/>
          </a:xfrm>
          <a:prstGeom prst="rect">
            <a:avLst/>
          </a:prstGeom>
        </p:spPr>
      </p:pic>
      <p:sp>
        <p:nvSpPr>
          <p:cNvPr id="148" name="TextBox 147"/>
          <p:cNvSpPr txBox="1"/>
          <p:nvPr/>
        </p:nvSpPr>
        <p:spPr>
          <a:xfrm>
            <a:off x="10280951" y="2979230"/>
            <a:ext cx="1599455" cy="194310"/>
          </a:xfrm>
          <a:prstGeom prst="rect">
            <a:avLst/>
          </a:prstGeom>
          <a:noFill/>
        </p:spPr>
        <p:txBody>
          <a:bodyPr wrap="none" lIns="0" rIns="0" tIns="0" bIns="0">
            <a:spAutoFit/>
          </a:bodyPr>
          <a:lstStyle/>
          <a:p>
            <a:r>
              <a:rPr sz="1150" b="0">
                <a:solidFill>
                  <a:srgbClr val="2E2E2E"/>
                </a:solidFill>
                <a:latin typeface="Calibri"/>
              </a:rPr>
              <a:t>versus Global, 'South Asia</a:t>
            </a:r>
          </a:p>
        </p:txBody>
      </p:sp>
      <p:sp>
        <p:nvSpPr>
          <p:cNvPr id="149" name="TextBox 148"/>
          <p:cNvSpPr txBox="1"/>
          <p:nvPr/>
        </p:nvSpPr>
        <p:spPr>
          <a:xfrm>
            <a:off x="8048625" y="3154490"/>
            <a:ext cx="1653654" cy="194310"/>
          </a:xfrm>
          <a:prstGeom prst="rect">
            <a:avLst/>
          </a:prstGeom>
          <a:noFill/>
        </p:spPr>
        <p:txBody>
          <a:bodyPr wrap="none" lIns="0" rIns="0" tIns="0" bIns="0">
            <a:spAutoFit/>
          </a:bodyPr>
          <a:lstStyle/>
          <a:p>
            <a:r>
              <a:rPr sz="1150" b="0">
                <a:solidFill>
                  <a:srgbClr val="2E2E2E"/>
                </a:solidFill>
                <a:latin typeface="Calibri"/>
              </a:rPr>
              <a:t>&amp; Pacific' the cheapest at -</a:t>
            </a:r>
          </a:p>
        </p:txBody>
      </p:sp>
      <p:pic>
        <p:nvPicPr>
          <p:cNvPr id="150" name="Picture 149" descr="lock.png"/>
          <p:cNvPicPr>
            <a:picLocks noChangeAspect="1"/>
          </p:cNvPicPr>
          <p:nvPr/>
        </p:nvPicPr>
        <p:blipFill>
          <a:blip r:embed="rId4"/>
          <a:stretch>
            <a:fillRect/>
          </a:stretch>
        </p:blipFill>
        <p:spPr>
          <a:xfrm>
            <a:off x="9651433" y="3144267"/>
            <a:ext cx="134549" cy="195707"/>
          </a:xfrm>
          <a:prstGeom prst="rect">
            <a:avLst/>
          </a:prstGeom>
        </p:spPr>
      </p:pic>
      <p:sp>
        <p:nvSpPr>
          <p:cNvPr id="151" name="TextBox 150"/>
          <p:cNvSpPr txBox="1"/>
          <p:nvPr/>
        </p:nvSpPr>
        <p:spPr>
          <a:xfrm>
            <a:off x="9826542" y="3154490"/>
            <a:ext cx="1702147" cy="194310"/>
          </a:xfrm>
          <a:prstGeom prst="rect">
            <a:avLst/>
          </a:prstGeom>
          <a:noFill/>
        </p:spPr>
        <p:txBody>
          <a:bodyPr wrap="none" lIns="0" rIns="0" tIns="0" bIns="0">
            <a:spAutoFit/>
          </a:bodyPr>
          <a:lstStyle/>
          <a:p>
            <a:r>
              <a:rPr sz="1150" b="0">
                <a:solidFill>
                  <a:srgbClr val="2E2E2E"/>
                </a:solidFill>
                <a:latin typeface="Calibri"/>
              </a:rPr>
              <a:t>pointing to premiumisation</a:t>
            </a:r>
          </a:p>
        </p:txBody>
      </p:sp>
      <p:sp>
        <p:nvSpPr>
          <p:cNvPr id="152" name="TextBox 151"/>
          <p:cNvSpPr txBox="1"/>
          <p:nvPr/>
        </p:nvSpPr>
        <p:spPr>
          <a:xfrm>
            <a:off x="8048625" y="3329750"/>
            <a:ext cx="2365647" cy="194310"/>
          </a:xfrm>
          <a:prstGeom prst="rect">
            <a:avLst/>
          </a:prstGeom>
          <a:noFill/>
        </p:spPr>
        <p:txBody>
          <a:bodyPr wrap="none" lIns="0" rIns="0" tIns="0" bIns="0">
            <a:spAutoFit/>
          </a:bodyPr>
          <a:lstStyle/>
          <a:p>
            <a:r>
              <a:rPr sz="1150" b="0">
                <a:solidFill>
                  <a:srgbClr val="2E2E2E"/>
                </a:solidFill>
                <a:latin typeface="Calibri"/>
              </a:rPr>
              <a:t>headroom in the lower-priced regions.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Ear Wax Removal Products Market Summary, By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value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455852" cy="194310"/>
          </a:xfrm>
          <a:prstGeom prst="rect">
            <a:avLst/>
          </a:prstGeom>
          <a:noFill/>
        </p:spPr>
        <p:txBody>
          <a:bodyPr wrap="none" lIns="0" rIns="0" tIns="0" bIns="0">
            <a:spAutoFit/>
          </a:bodyPr>
          <a:lstStyle/>
          <a:p>
            <a:r>
              <a:rPr sz="1150" b="0">
                <a:solidFill>
                  <a:srgbClr val="2E2E2E"/>
                </a:solidFill>
                <a:latin typeface="Calibri"/>
              </a:rPr>
              <a:t>Ear wax removal products market is projected to register</a:t>
            </a:r>
          </a:p>
        </p:txBody>
      </p:sp>
      <p:pic>
        <p:nvPicPr>
          <p:cNvPr id="35" name="Picture 34" descr="lock.png"/>
          <p:cNvPicPr>
            <a:picLocks noChangeAspect="1"/>
          </p:cNvPicPr>
          <p:nvPr/>
        </p:nvPicPr>
        <p:blipFill>
          <a:blip r:embed="rId6"/>
          <a:stretch>
            <a:fillRect/>
          </a:stretch>
        </p:blipFill>
        <p:spPr>
          <a:xfrm>
            <a:off x="11453631" y="2036763"/>
            <a:ext cx="134549" cy="195707"/>
          </a:xfrm>
          <a:prstGeom prst="rect">
            <a:avLst/>
          </a:prstGeom>
        </p:spPr>
      </p:pic>
      <p:sp>
        <p:nvSpPr>
          <p:cNvPr id="36" name="TextBox 35"/>
          <p:cNvSpPr txBox="1"/>
          <p:nvPr/>
        </p:nvSpPr>
        <p:spPr>
          <a:xfrm>
            <a:off x="11628740" y="2046987"/>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37" name="TextBox 36"/>
          <p:cNvSpPr txBox="1"/>
          <p:nvPr/>
        </p:nvSpPr>
        <p:spPr>
          <a:xfrm>
            <a:off x="8048625" y="2222247"/>
            <a:ext cx="3571986" cy="194310"/>
          </a:xfrm>
          <a:prstGeom prst="rect">
            <a:avLst/>
          </a:prstGeom>
          <a:noFill/>
        </p:spPr>
        <p:txBody>
          <a:bodyPr wrap="none" lIns="0" rIns="0" tIns="0" bIns="0">
            <a:spAutoFit/>
          </a:bodyPr>
          <a:lstStyle/>
          <a:p>
            <a:r>
              <a:rPr sz="1150" b="0">
                <a:solidFill>
                  <a:srgbClr val="2E2E2E"/>
                </a:solidFill>
                <a:latin typeface="Calibri"/>
              </a:rPr>
              <a:t>increase in its revenue by the end of forecast period, 2036.</a:t>
            </a:r>
          </a:p>
        </p:txBody>
      </p:sp>
      <p:sp>
        <p:nvSpPr>
          <p:cNvPr id="38" name="TextBox 37"/>
          <p:cNvSpPr txBox="1"/>
          <p:nvPr/>
        </p:nvSpPr>
        <p:spPr>
          <a:xfrm>
            <a:off x="8048625" y="2397507"/>
            <a:ext cx="3539752" cy="194310"/>
          </a:xfrm>
          <a:prstGeom prst="rect">
            <a:avLst/>
          </a:prstGeom>
          <a:noFill/>
        </p:spPr>
        <p:txBody>
          <a:bodyPr wrap="none" lIns="0" rIns="0" tIns="0" bIns="0">
            <a:spAutoFit/>
          </a:bodyPr>
          <a:lstStyle/>
          <a:p>
            <a:r>
              <a:rPr sz="1150" b="0">
                <a:solidFill>
                  <a:srgbClr val="2E2E2E"/>
                </a:solidFill>
                <a:latin typeface="Calibri"/>
              </a:rPr>
              <a:t>Global ear wax removal products market is expected to be</a:t>
            </a:r>
          </a:p>
        </p:txBody>
      </p:sp>
      <p:sp>
        <p:nvSpPr>
          <p:cNvPr id="39" name="TextBox 38"/>
          <p:cNvSpPr txBox="1"/>
          <p:nvPr/>
        </p:nvSpPr>
        <p:spPr>
          <a:xfrm>
            <a:off x="8048625" y="2572767"/>
            <a:ext cx="892026" cy="194310"/>
          </a:xfrm>
          <a:prstGeom prst="rect">
            <a:avLst/>
          </a:prstGeom>
          <a:noFill/>
        </p:spPr>
        <p:txBody>
          <a:bodyPr wrap="none" lIns="0" rIns="0" tIns="0" bIns="0">
            <a:spAutoFit/>
          </a:bodyPr>
          <a:lstStyle/>
          <a:p>
            <a:r>
              <a:rPr sz="1150" b="0">
                <a:solidFill>
                  <a:srgbClr val="2E2E2E"/>
                </a:solidFill>
                <a:latin typeface="Calibri"/>
              </a:rPr>
              <a:t>valued at US$</a:t>
            </a:r>
          </a:p>
        </p:txBody>
      </p:sp>
      <p:pic>
        <p:nvPicPr>
          <p:cNvPr id="40" name="Picture 39" descr="lock.png"/>
          <p:cNvPicPr>
            <a:picLocks noChangeAspect="1"/>
          </p:cNvPicPr>
          <p:nvPr/>
        </p:nvPicPr>
        <p:blipFill>
          <a:blip r:embed="rId6"/>
          <a:stretch>
            <a:fillRect/>
          </a:stretch>
        </p:blipFill>
        <p:spPr>
          <a:xfrm>
            <a:off x="8889805" y="2562543"/>
            <a:ext cx="134549" cy="195707"/>
          </a:xfrm>
          <a:prstGeom prst="rect">
            <a:avLst/>
          </a:prstGeom>
        </p:spPr>
      </p:pic>
      <p:sp>
        <p:nvSpPr>
          <p:cNvPr id="41" name="TextBox 40"/>
          <p:cNvSpPr txBox="1"/>
          <p:nvPr/>
        </p:nvSpPr>
        <p:spPr>
          <a:xfrm>
            <a:off x="9064914" y="2572767"/>
            <a:ext cx="1079723" cy="194310"/>
          </a:xfrm>
          <a:prstGeom prst="rect">
            <a:avLst/>
          </a:prstGeom>
          <a:noFill/>
        </p:spPr>
        <p:txBody>
          <a:bodyPr wrap="none" lIns="0" rIns="0" tIns="0" bIns="0">
            <a:spAutoFit/>
          </a:bodyPr>
          <a:lstStyle/>
          <a:p>
            <a:r>
              <a:rPr sz="1150" b="0">
                <a:solidFill>
                  <a:srgbClr val="2E2E2E"/>
                </a:solidFill>
                <a:latin typeface="Calibri"/>
              </a:rPr>
              <a:t>Mn by 2036 end.</a:t>
            </a:r>
          </a:p>
        </p:txBody>
      </p:sp>
      <p:sp>
        <p:nvSpPr>
          <p:cNvPr id="42" name="TextBox 41"/>
          <p:cNvSpPr txBox="1"/>
          <p:nvPr/>
        </p:nvSpPr>
        <p:spPr>
          <a:xfrm>
            <a:off x="8048625" y="2800604"/>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43" name="Picture 42" descr="lock.png"/>
          <p:cNvPicPr>
            <a:picLocks noChangeAspect="1"/>
          </p:cNvPicPr>
          <p:nvPr/>
        </p:nvPicPr>
        <p:blipFill>
          <a:blip r:embed="rId6"/>
          <a:stretch>
            <a:fillRect/>
          </a:stretch>
        </p:blipFill>
        <p:spPr>
          <a:xfrm>
            <a:off x="8034545" y="2965641"/>
            <a:ext cx="134549" cy="195707"/>
          </a:xfrm>
          <a:prstGeom prst="rect">
            <a:avLst/>
          </a:prstGeom>
        </p:spPr>
      </p:pic>
      <p:sp>
        <p:nvSpPr>
          <p:cNvPr id="44" name="TextBox 43"/>
          <p:cNvSpPr txBox="1"/>
          <p:nvPr/>
        </p:nvSpPr>
        <p:spPr>
          <a:xfrm>
            <a:off x="8209654" y="2975864"/>
            <a:ext cx="1455687" cy="194310"/>
          </a:xfrm>
          <a:prstGeom prst="rect">
            <a:avLst/>
          </a:prstGeom>
          <a:noFill/>
        </p:spPr>
        <p:txBody>
          <a:bodyPr wrap="none" lIns="0" rIns="0" tIns="0" bIns="0">
            <a:spAutoFit/>
          </a:bodyPr>
          <a:lstStyle/>
          <a:p>
            <a:r>
              <a:rPr sz="1150" b="0">
                <a:solidFill>
                  <a:srgbClr val="2E2E2E"/>
                </a:solidFill>
                <a:latin typeface="Calibri"/>
              </a:rPr>
              <a:t>Mn from 2025 to 2036.</a:t>
            </a:r>
          </a:p>
        </p:txBody>
      </p:sp>
      <p:sp>
        <p:nvSpPr>
          <p:cNvPr id="45" name="TextBox 44"/>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6" name="Picture 45" descr="lock.png"/>
          <p:cNvPicPr>
            <a:picLocks noChangeAspect="1"/>
          </p:cNvPicPr>
          <p:nvPr/>
        </p:nvPicPr>
        <p:blipFill>
          <a:blip r:embed="rId6"/>
          <a:stretch>
            <a:fillRect/>
          </a:stretch>
        </p:blipFill>
        <p:spPr>
          <a:xfrm>
            <a:off x="10866614" y="4446251"/>
            <a:ext cx="134549" cy="195707"/>
          </a:xfrm>
          <a:prstGeom prst="rect">
            <a:avLst/>
          </a:prstGeom>
        </p:spPr>
      </p:pic>
      <p:sp>
        <p:nvSpPr>
          <p:cNvPr id="47" name="TextBox 46"/>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48" name="TextBox 47"/>
          <p:cNvSpPr txBox="1"/>
          <p:nvPr/>
        </p:nvSpPr>
        <p:spPr>
          <a:xfrm>
            <a:off x="8048625" y="4684312"/>
            <a:ext cx="3724312" cy="194310"/>
          </a:xfrm>
          <a:prstGeom prst="rect">
            <a:avLst/>
          </a:prstGeom>
          <a:noFill/>
        </p:spPr>
        <p:txBody>
          <a:bodyPr wrap="none" lIns="0" rIns="0" tIns="0" bIns="0">
            <a:spAutoFit/>
          </a:bodyPr>
          <a:lstStyle/>
          <a:p>
            <a:r>
              <a:rPr sz="1150" b="0">
                <a:solidFill>
                  <a:srgbClr val="2E2E2E"/>
                </a:solidFill>
                <a:latin typeface="Calibri"/>
              </a:rPr>
              <a:t>▪ Demand concentrates in 'Irrigation Devices and Accessories'</a:t>
            </a:r>
          </a:p>
        </p:txBody>
      </p:sp>
      <p:sp>
        <p:nvSpPr>
          <p:cNvPr id="49" name="TextBox 48"/>
          <p:cNvSpPr txBox="1"/>
          <p:nvPr/>
        </p:nvSpPr>
        <p:spPr>
          <a:xfrm>
            <a:off x="8048625" y="4859572"/>
            <a:ext cx="1308496" cy="194310"/>
          </a:xfrm>
          <a:prstGeom prst="rect">
            <a:avLst/>
          </a:prstGeom>
          <a:noFill/>
        </p:spPr>
        <p:txBody>
          <a:bodyPr wrap="none" lIns="0" rIns="0" tIns="0" bIns="0">
            <a:spAutoFit/>
          </a:bodyPr>
          <a:lstStyle/>
          <a:p>
            <a:r>
              <a:rPr sz="1150" b="0">
                <a:solidFill>
                  <a:srgbClr val="2E2E2E"/>
                </a:solidFill>
                <a:latin typeface="Calibri"/>
              </a:rPr>
              <a:t>within Product Type.</a:t>
            </a:r>
          </a:p>
        </p:txBody>
      </p:sp>
      <p:sp>
        <p:nvSpPr>
          <p:cNvPr id="50" name="TextBox 49"/>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1" name="TextBox 50"/>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2"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Ear Wax Removal Products Market Volume &amp; Value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global market and the incremental $ opportunity it creates, 2021–2036</a:t>
            </a:r>
          </a:p>
        </p:txBody>
      </p:sp>
      <p:sp>
        <p:nvSpPr>
          <p:cNvPr id="10" name="Rounded Rectangle 9"/>
          <p:cNvSpPr/>
          <p:nvPr/>
        </p:nvSpPr>
        <p:spPr>
          <a:xfrm>
            <a:off x="142875" y="981075"/>
            <a:ext cx="4695825"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2021–2025 (Historical)</a:t>
            </a:r>
          </a:p>
        </p:txBody>
      </p:sp>
      <p:graphicFrame>
        <p:nvGraphicFramePr>
          <p:cNvPr id="12" name="Chart 11"/>
          <p:cNvGraphicFramePr>
            <a:graphicFrameLocks noGrp="1"/>
          </p:cNvGraphicFramePr>
          <p:nvPr/>
        </p:nvGraphicFramePr>
        <p:xfrm>
          <a:off x="238125" y="1266825"/>
          <a:ext cx="4505325" cy="2228850"/>
        </p:xfrm>
        <a:graphic>
          <a:graphicData uri="http://schemas.openxmlformats.org/drawingml/2006/chart">
            <c:chart xmlns:c="http://schemas.openxmlformats.org/drawingml/2006/chart" r:id="rId3"/>
          </a:graphicData>
        </a:graphic>
      </p:graphicFrame>
      <p:sp>
        <p:nvSpPr>
          <p:cNvPr id="13" name="Rounded Rectangle 12"/>
          <p:cNvSpPr/>
          <p:nvPr/>
        </p:nvSpPr>
        <p:spPr>
          <a:xfrm>
            <a:off x="4991100" y="981075"/>
            <a:ext cx="7048500"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2026–2036 (Forecast)</a:t>
            </a:r>
          </a:p>
        </p:txBody>
      </p:sp>
      <p:graphicFrame>
        <p:nvGraphicFramePr>
          <p:cNvPr id="15" name="Chart 14"/>
          <p:cNvGraphicFramePr>
            <a:graphicFrameLocks noGrp="1"/>
          </p:cNvGraphicFramePr>
          <p:nvPr/>
        </p:nvGraphicFramePr>
        <p:xfrm>
          <a:off x="5086350" y="1266825"/>
          <a:ext cx="6858000" cy="22288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 </a:t>
            </a:r>
          </a:p>
        </p:txBody>
      </p:sp>
      <p:sp>
        <p:nvSpPr>
          <p:cNvPr id="17" name="Rounded Rectangle 16"/>
          <p:cNvSpPr/>
          <p:nvPr/>
        </p:nvSpPr>
        <p:spPr>
          <a:xfrm>
            <a:off x="2809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 </a:t>
            </a:r>
          </a:p>
        </p:txBody>
      </p:sp>
      <p:sp>
        <p:nvSpPr>
          <p:cNvPr id="18" name="Rounded Rectangle 17"/>
          <p:cNvSpPr/>
          <p:nvPr/>
        </p:nvSpPr>
        <p:spPr>
          <a:xfrm>
            <a:off x="54768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 </a:t>
            </a:r>
          </a:p>
        </p:txBody>
      </p:sp>
      <p:sp>
        <p:nvSpPr>
          <p:cNvPr id="19" name="Rounded Rectangle 18"/>
          <p:cNvSpPr/>
          <p:nvPr/>
        </p:nvSpPr>
        <p:spPr>
          <a:xfrm>
            <a:off x="88296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 </a:t>
            </a:r>
          </a:p>
        </p:txBody>
      </p:sp>
      <p:sp>
        <p:nvSpPr>
          <p:cNvPr id="20" name="Rounded Rectangle 19"/>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&amp; Value Analysis</a:t>
            </a:r>
          </a:p>
        </p:txBody>
      </p:sp>
      <p:sp>
        <p:nvSpPr>
          <p:cNvPr id="22" name="Rectangle 21"/>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2533894" y="2050946"/>
            <a:ext cx="205327" cy="298657"/>
          </a:xfrm>
          <a:prstGeom prst="rect">
            <a:avLst/>
          </a:prstGeom>
        </p:spPr>
      </p:pic>
      <p:pic>
        <p:nvPicPr>
          <p:cNvPr id="26" name="Picture 25" descr="lock.png"/>
          <p:cNvPicPr>
            <a:picLocks noChangeAspect="1"/>
          </p:cNvPicPr>
          <p:nvPr/>
        </p:nvPicPr>
        <p:blipFill>
          <a:blip r:embed="rId6"/>
          <a:stretch>
            <a:fillRect/>
          </a:stretch>
        </p:blipFill>
        <p:spPr>
          <a:xfrm>
            <a:off x="8530846" y="2011501"/>
            <a:ext cx="259564" cy="377547"/>
          </a:xfrm>
          <a:prstGeom prst="rect">
            <a:avLst/>
          </a:prstGeom>
        </p:spPr>
      </p:pic>
      <p:pic>
        <p:nvPicPr>
          <p:cNvPr id="27" name="Picture 26" descr="lock.png"/>
          <p:cNvPicPr>
            <a:picLocks noChangeAspect="1"/>
          </p:cNvPicPr>
          <p:nvPr/>
        </p:nvPicPr>
        <p:blipFill>
          <a:blip r:embed="rId6"/>
          <a:stretch>
            <a:fillRect/>
          </a:stretch>
        </p:blipFill>
        <p:spPr>
          <a:xfrm>
            <a:off x="1321594" y="4022407"/>
            <a:ext cx="157162" cy="228600"/>
          </a:xfrm>
          <a:prstGeom prst="rect">
            <a:avLst/>
          </a:prstGeom>
        </p:spPr>
      </p:pic>
      <p:pic>
        <p:nvPicPr>
          <p:cNvPr id="28" name="Picture 27" descr="lock.png"/>
          <p:cNvPicPr>
            <a:picLocks noChangeAspect="1"/>
          </p:cNvPicPr>
          <p:nvPr/>
        </p:nvPicPr>
        <p:blipFill>
          <a:blip r:embed="rId6"/>
          <a:stretch>
            <a:fillRect/>
          </a:stretch>
        </p:blipFill>
        <p:spPr>
          <a:xfrm>
            <a:off x="3988594" y="4022407"/>
            <a:ext cx="157162" cy="228600"/>
          </a:xfrm>
          <a:prstGeom prst="rect">
            <a:avLst/>
          </a:prstGeom>
        </p:spPr>
      </p:pic>
      <p:pic>
        <p:nvPicPr>
          <p:cNvPr id="29" name="Picture 28" descr="lock.png"/>
          <p:cNvPicPr>
            <a:picLocks noChangeAspect="1"/>
          </p:cNvPicPr>
          <p:nvPr/>
        </p:nvPicPr>
        <p:blipFill>
          <a:blip r:embed="rId6"/>
          <a:stretch>
            <a:fillRect/>
          </a:stretch>
        </p:blipFill>
        <p:spPr>
          <a:xfrm>
            <a:off x="6998494" y="4022407"/>
            <a:ext cx="157162" cy="228600"/>
          </a:xfrm>
          <a:prstGeom prst="rect">
            <a:avLst/>
          </a:prstGeom>
        </p:spPr>
      </p:pic>
      <p:pic>
        <p:nvPicPr>
          <p:cNvPr id="30" name="Picture 29" descr="lock.png"/>
          <p:cNvPicPr>
            <a:picLocks noChangeAspect="1"/>
          </p:cNvPicPr>
          <p:nvPr/>
        </p:nvPicPr>
        <p:blipFill>
          <a:blip r:embed="rId6"/>
          <a:stretch>
            <a:fillRect/>
          </a:stretch>
        </p:blipFill>
        <p:spPr>
          <a:xfrm>
            <a:off x="10351294" y="4022407"/>
            <a:ext cx="157162" cy="228600"/>
          </a:xfrm>
          <a:prstGeom prst="rect">
            <a:avLst/>
          </a:prstGeom>
        </p:spPr>
      </p:pic>
      <p:sp>
        <p:nvSpPr>
          <p:cNvPr id="31" name="TextBox 30"/>
          <p:cNvSpPr txBox="1"/>
          <p:nvPr/>
        </p:nvSpPr>
        <p:spPr>
          <a:xfrm>
            <a:off x="276225" y="4972050"/>
            <a:ext cx="3455852" cy="194310"/>
          </a:xfrm>
          <a:prstGeom prst="rect">
            <a:avLst/>
          </a:prstGeom>
          <a:noFill/>
        </p:spPr>
        <p:txBody>
          <a:bodyPr wrap="none" lIns="0" rIns="0" tIns="0" bIns="0">
            <a:spAutoFit/>
          </a:bodyPr>
          <a:lstStyle/>
          <a:p>
            <a:r>
              <a:rPr sz="1150" b="0">
                <a:solidFill>
                  <a:srgbClr val="2E2E2E"/>
                </a:solidFill>
                <a:latin typeface="Calibri"/>
              </a:rPr>
              <a:t>Ear wax removal products market is projected to register</a:t>
            </a:r>
          </a:p>
        </p:txBody>
      </p:sp>
      <p:pic>
        <p:nvPicPr>
          <p:cNvPr id="32" name="Picture 31" descr="lock.png"/>
          <p:cNvPicPr>
            <a:picLocks noChangeAspect="1"/>
          </p:cNvPicPr>
          <p:nvPr/>
        </p:nvPicPr>
        <p:blipFill>
          <a:blip r:embed="rId6"/>
          <a:stretch>
            <a:fillRect/>
          </a:stretch>
        </p:blipFill>
        <p:spPr>
          <a:xfrm>
            <a:off x="3681231" y="4961826"/>
            <a:ext cx="134549" cy="195707"/>
          </a:xfrm>
          <a:prstGeom prst="rect">
            <a:avLst/>
          </a:prstGeom>
        </p:spPr>
      </p:pic>
      <p:sp>
        <p:nvSpPr>
          <p:cNvPr id="33" name="TextBox 32"/>
          <p:cNvSpPr txBox="1"/>
          <p:nvPr/>
        </p:nvSpPr>
        <p:spPr>
          <a:xfrm>
            <a:off x="3856340" y="4972050"/>
            <a:ext cx="8026511" cy="194310"/>
          </a:xfrm>
          <a:prstGeom prst="rect">
            <a:avLst/>
          </a:prstGeom>
          <a:noFill/>
        </p:spPr>
        <p:txBody>
          <a:bodyPr wrap="none" lIns="0" rIns="0" tIns="0" bIns="0">
            <a:spAutoFit/>
          </a:bodyPr>
          <a:lstStyle/>
          <a:p>
            <a:r>
              <a:rPr sz="1150" b="0">
                <a:solidFill>
                  <a:srgbClr val="2E2E2E"/>
                </a:solidFill>
                <a:latin typeface="Calibri"/>
              </a:rPr>
              <a:t>X increase in its revenue by the end of forecast period, 2036. Global ear wax removal products market is expected to be valued at US$</a:t>
            </a:r>
          </a:p>
        </p:txBody>
      </p:sp>
      <p:pic>
        <p:nvPicPr>
          <p:cNvPr id="34" name="Picture 33" descr="lock.png"/>
          <p:cNvPicPr>
            <a:picLocks noChangeAspect="1"/>
          </p:cNvPicPr>
          <p:nvPr/>
        </p:nvPicPr>
        <p:blipFill>
          <a:blip r:embed="rId6"/>
          <a:stretch>
            <a:fillRect/>
          </a:stretch>
        </p:blipFill>
        <p:spPr>
          <a:xfrm>
            <a:off x="262145" y="5137086"/>
            <a:ext cx="134549" cy="195707"/>
          </a:xfrm>
          <a:prstGeom prst="rect">
            <a:avLst/>
          </a:prstGeom>
        </p:spPr>
      </p:pic>
      <p:sp>
        <p:nvSpPr>
          <p:cNvPr id="35" name="TextBox 34"/>
          <p:cNvSpPr txBox="1"/>
          <p:nvPr/>
        </p:nvSpPr>
        <p:spPr>
          <a:xfrm>
            <a:off x="437254" y="5147310"/>
            <a:ext cx="1079723" cy="194310"/>
          </a:xfrm>
          <a:prstGeom prst="rect">
            <a:avLst/>
          </a:prstGeom>
          <a:noFill/>
        </p:spPr>
        <p:txBody>
          <a:bodyPr wrap="none" lIns="0" rIns="0" tIns="0" bIns="0">
            <a:spAutoFit/>
          </a:bodyPr>
          <a:lstStyle/>
          <a:p>
            <a:r>
              <a:rPr sz="1150" b="0">
                <a:solidFill>
                  <a:srgbClr val="2E2E2E"/>
                </a:solidFill>
                <a:latin typeface="Calibri"/>
              </a:rPr>
              <a:t>Mn by 2036 end.</a:t>
            </a:r>
          </a:p>
        </p:txBody>
      </p:sp>
      <p:sp>
        <p:nvSpPr>
          <p:cNvPr id="36" name="TextBox 35"/>
          <p:cNvSpPr txBox="1"/>
          <p:nvPr/>
        </p:nvSpPr>
        <p:spPr>
          <a:xfrm>
            <a:off x="276225" y="5375147"/>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37" name="Picture 36" descr="lock.png"/>
          <p:cNvPicPr>
            <a:picLocks noChangeAspect="1"/>
          </p:cNvPicPr>
          <p:nvPr/>
        </p:nvPicPr>
        <p:blipFill>
          <a:blip r:embed="rId6"/>
          <a:stretch>
            <a:fillRect/>
          </a:stretch>
        </p:blipFill>
        <p:spPr>
          <a:xfrm>
            <a:off x="4037834" y="5364924"/>
            <a:ext cx="134549" cy="195707"/>
          </a:xfrm>
          <a:prstGeom prst="rect">
            <a:avLst/>
          </a:prstGeom>
        </p:spPr>
      </p:pic>
      <p:sp>
        <p:nvSpPr>
          <p:cNvPr id="38" name="TextBox 37"/>
          <p:cNvSpPr txBox="1"/>
          <p:nvPr/>
        </p:nvSpPr>
        <p:spPr>
          <a:xfrm>
            <a:off x="4212943" y="5375147"/>
            <a:ext cx="5286077" cy="194310"/>
          </a:xfrm>
          <a:prstGeom prst="rect">
            <a:avLst/>
          </a:prstGeom>
          <a:noFill/>
        </p:spPr>
        <p:txBody>
          <a:bodyPr wrap="none" lIns="0" rIns="0" tIns="0" bIns="0">
            <a:spAutoFit/>
          </a:bodyPr>
          <a:lstStyle/>
          <a:p>
            <a:r>
              <a:rPr sz="1150" b="0">
                <a:solidFill>
                  <a:srgbClr val="2E2E2E"/>
                </a:solidFill>
                <a:latin typeface="Calibri"/>
              </a:rPr>
              <a:t>Mn from 2025 to 2036. Global ear wax removal products market is projected to register</a:t>
            </a:r>
          </a:p>
        </p:txBody>
      </p:sp>
      <p:pic>
        <p:nvPicPr>
          <p:cNvPr id="39" name="Picture 38" descr="lock.png"/>
          <p:cNvPicPr>
            <a:picLocks noChangeAspect="1"/>
          </p:cNvPicPr>
          <p:nvPr/>
        </p:nvPicPr>
        <p:blipFill>
          <a:blip r:embed="rId6"/>
          <a:stretch>
            <a:fillRect/>
          </a:stretch>
        </p:blipFill>
        <p:spPr>
          <a:xfrm>
            <a:off x="9448175" y="5364924"/>
            <a:ext cx="134549" cy="195707"/>
          </a:xfrm>
          <a:prstGeom prst="rect">
            <a:avLst/>
          </a:prstGeom>
        </p:spPr>
      </p:pic>
      <p:sp>
        <p:nvSpPr>
          <p:cNvPr id="40" name="TextBox 39"/>
          <p:cNvSpPr txBox="1"/>
          <p:nvPr/>
        </p:nvSpPr>
        <p:spPr>
          <a:xfrm>
            <a:off x="9623284" y="5375147"/>
            <a:ext cx="2121755" cy="194310"/>
          </a:xfrm>
          <a:prstGeom prst="rect">
            <a:avLst/>
          </a:prstGeom>
          <a:noFill/>
        </p:spPr>
        <p:txBody>
          <a:bodyPr wrap="none" lIns="0" rIns="0" tIns="0" bIns="0">
            <a:spAutoFit/>
          </a:bodyPr>
          <a:lstStyle/>
          <a:p>
            <a:r>
              <a:rPr sz="1150" b="0">
                <a:solidFill>
                  <a:srgbClr val="2E2E2E"/>
                </a:solidFill>
                <a:latin typeface="Calibri"/>
              </a:rPr>
              <a:t>X increase in volume by the end of</a:t>
            </a:r>
          </a:p>
        </p:txBody>
      </p:sp>
      <p:sp>
        <p:nvSpPr>
          <p:cNvPr id="41" name="TextBox 40"/>
          <p:cNvSpPr txBox="1"/>
          <p:nvPr/>
        </p:nvSpPr>
        <p:spPr>
          <a:xfrm>
            <a:off x="276225" y="5550407"/>
            <a:ext cx="1383518" cy="194310"/>
          </a:xfrm>
          <a:prstGeom prst="rect">
            <a:avLst/>
          </a:prstGeom>
          <a:noFill/>
        </p:spPr>
        <p:txBody>
          <a:bodyPr wrap="none" lIns="0" rIns="0" tIns="0" bIns="0">
            <a:spAutoFit/>
          </a:bodyPr>
          <a:lstStyle/>
          <a:p>
            <a:r>
              <a:rPr sz="1150" b="0">
                <a:solidFill>
                  <a:srgbClr val="2E2E2E"/>
                </a:solidFill>
                <a:latin typeface="Calibri"/>
              </a:rPr>
              <a:t>forecast period, 2036.</a:t>
            </a:r>
          </a:p>
        </p:txBody>
      </p:sp>
      <p:sp>
        <p:nvSpPr>
          <p:cNvPr id="42" name="TextBox 41"/>
          <p:cNvSpPr txBox="1"/>
          <p:nvPr/>
        </p:nvSpPr>
        <p:spPr>
          <a:xfrm>
            <a:off x="276225" y="5778245"/>
            <a:ext cx="3492971" cy="194310"/>
          </a:xfrm>
          <a:prstGeom prst="rect">
            <a:avLst/>
          </a:prstGeom>
          <a:noFill/>
        </p:spPr>
        <p:txBody>
          <a:bodyPr wrap="none" lIns="0" rIns="0" tIns="0" bIns="0">
            <a:spAutoFit/>
          </a:bodyPr>
          <a:lstStyle/>
          <a:p>
            <a:r>
              <a:rPr sz="1150" b="0">
                <a:solidFill>
                  <a:srgbClr val="2E2E2E"/>
                </a:solidFill>
                <a:latin typeface="Calibri"/>
              </a:rPr>
              <a:t>Global ear wax removal products market volume stood at</a:t>
            </a:r>
          </a:p>
        </p:txBody>
      </p:sp>
      <p:pic>
        <p:nvPicPr>
          <p:cNvPr id="43" name="Picture 42" descr="lock.png"/>
          <p:cNvPicPr>
            <a:picLocks noChangeAspect="1"/>
          </p:cNvPicPr>
          <p:nvPr/>
        </p:nvPicPr>
        <p:blipFill>
          <a:blip r:embed="rId6"/>
          <a:stretch>
            <a:fillRect/>
          </a:stretch>
        </p:blipFill>
        <p:spPr>
          <a:xfrm>
            <a:off x="3718350" y="5768022"/>
            <a:ext cx="134549" cy="195707"/>
          </a:xfrm>
          <a:prstGeom prst="rect">
            <a:avLst/>
          </a:prstGeom>
        </p:spPr>
      </p:pic>
      <p:sp>
        <p:nvSpPr>
          <p:cNvPr id="44" name="TextBox 43"/>
          <p:cNvSpPr txBox="1"/>
          <p:nvPr/>
        </p:nvSpPr>
        <p:spPr>
          <a:xfrm>
            <a:off x="3893459" y="5778245"/>
            <a:ext cx="2578447" cy="194310"/>
          </a:xfrm>
          <a:prstGeom prst="rect">
            <a:avLst/>
          </a:prstGeom>
          <a:noFill/>
        </p:spPr>
        <p:txBody>
          <a:bodyPr wrap="none" lIns="0" rIns="0" tIns="0" bIns="0">
            <a:spAutoFit/>
          </a:bodyPr>
          <a:lstStyle/>
          <a:p>
            <a:r>
              <a:rPr sz="1150" b="0">
                <a:solidFill>
                  <a:srgbClr val="2E2E2E"/>
                </a:solidFill>
                <a:latin typeface="Calibri"/>
              </a:rPr>
              <a:t>Mn Units in 2025 and is expected to reach</a:t>
            </a:r>
          </a:p>
        </p:txBody>
      </p:sp>
      <p:pic>
        <p:nvPicPr>
          <p:cNvPr id="45" name="Picture 44" descr="lock.png"/>
          <p:cNvPicPr>
            <a:picLocks noChangeAspect="1"/>
          </p:cNvPicPr>
          <p:nvPr/>
        </p:nvPicPr>
        <p:blipFill>
          <a:blip r:embed="rId6"/>
          <a:stretch>
            <a:fillRect/>
          </a:stretch>
        </p:blipFill>
        <p:spPr>
          <a:xfrm>
            <a:off x="6421060" y="5768022"/>
            <a:ext cx="134549" cy="195707"/>
          </a:xfrm>
          <a:prstGeom prst="rect">
            <a:avLst/>
          </a:prstGeom>
        </p:spPr>
      </p:pic>
      <p:sp>
        <p:nvSpPr>
          <p:cNvPr id="46" name="TextBox 45"/>
          <p:cNvSpPr txBox="1"/>
          <p:nvPr/>
        </p:nvSpPr>
        <p:spPr>
          <a:xfrm>
            <a:off x="6596169" y="5778245"/>
            <a:ext cx="2199326" cy="194310"/>
          </a:xfrm>
          <a:prstGeom prst="rect">
            <a:avLst/>
          </a:prstGeom>
          <a:noFill/>
        </p:spPr>
        <p:txBody>
          <a:bodyPr wrap="none" lIns="0" rIns="0" tIns="0" bIns="0">
            <a:spAutoFit/>
          </a:bodyPr>
          <a:lstStyle/>
          <a:p>
            <a:r>
              <a:rPr sz="1150" b="0">
                <a:solidFill>
                  <a:srgbClr val="2E2E2E"/>
                </a:solidFill>
                <a:latin typeface="Calibri"/>
              </a:rPr>
              <a:t>Mn Units by 2036 end, at a CAGR of</a:t>
            </a:r>
          </a:p>
        </p:txBody>
      </p:sp>
      <p:pic>
        <p:nvPicPr>
          <p:cNvPr id="47" name="Picture 46" descr="lock.png"/>
          <p:cNvPicPr>
            <a:picLocks noChangeAspect="1"/>
          </p:cNvPicPr>
          <p:nvPr/>
        </p:nvPicPr>
        <p:blipFill>
          <a:blip r:embed="rId6"/>
          <a:stretch>
            <a:fillRect/>
          </a:stretch>
        </p:blipFill>
        <p:spPr>
          <a:xfrm>
            <a:off x="8744650" y="5768022"/>
            <a:ext cx="134549" cy="195707"/>
          </a:xfrm>
          <a:prstGeom prst="rect">
            <a:avLst/>
          </a:prstGeom>
        </p:spPr>
      </p:pic>
      <p:sp>
        <p:nvSpPr>
          <p:cNvPr id="48" name="TextBox 47"/>
          <p:cNvSpPr txBox="1"/>
          <p:nvPr/>
        </p:nvSpPr>
        <p:spPr>
          <a:xfrm>
            <a:off x="8919760" y="5778245"/>
            <a:ext cx="2388468" cy="194310"/>
          </a:xfrm>
          <a:prstGeom prst="rect">
            <a:avLst/>
          </a:prstGeom>
          <a:noFill/>
        </p:spPr>
        <p:txBody>
          <a:bodyPr wrap="none" lIns="0" rIns="0" tIns="0" bIns="0">
            <a:spAutoFit/>
          </a:bodyPr>
          <a:lstStyle/>
          <a:p>
            <a:r>
              <a:rPr sz="1150" b="0">
                <a:solidFill>
                  <a:srgbClr val="2E2E2E"/>
                </a:solidFill>
                <a:latin typeface="Calibri"/>
              </a:rPr>
              <a:t>. Value is projected to grow faster than</a:t>
            </a:r>
          </a:p>
        </p:txBody>
      </p:sp>
      <p:sp>
        <p:nvSpPr>
          <p:cNvPr id="49" name="TextBox 48"/>
          <p:cNvSpPr txBox="1"/>
          <p:nvPr/>
        </p:nvSpPr>
        <p:spPr>
          <a:xfrm>
            <a:off x="276225" y="5953505"/>
            <a:ext cx="4708438" cy="194310"/>
          </a:xfrm>
          <a:prstGeom prst="rect">
            <a:avLst/>
          </a:prstGeom>
          <a:noFill/>
        </p:spPr>
        <p:txBody>
          <a:bodyPr wrap="none" lIns="0" rIns="0" tIns="0" bIns="0">
            <a:spAutoFit/>
          </a:bodyPr>
          <a:lstStyle/>
          <a:p>
            <a:r>
              <a:rPr sz="1150" b="0">
                <a:solidFill>
                  <a:srgbClr val="2E2E2E"/>
                </a:solidFill>
                <a:latin typeface="Calibri"/>
              </a:rPr>
              <a:t>volume over the forecast period, owing to an increase in average selling price.</a:t>
            </a:r>
          </a:p>
        </p:txBody>
      </p:sp>
      <p:sp>
        <p:nvSpPr>
          <p:cNvPr id="50" name="lockshield_12"/>
          <p:cNvSpPr/>
          <p:nvPr/>
        </p:nvSpPr>
        <p:spPr>
          <a:xfrm>
            <a:off x="238125" y="1266825"/>
            <a:ext cx="4505325"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ockshield_15"/>
          <p:cNvSpPr/>
          <p:nvPr/>
        </p:nvSpPr>
        <p:spPr>
          <a:xfrm>
            <a:off x="5086350" y="1266825"/>
            <a:ext cx="6858000"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Ear Wax Removal Products Market Summary Country Indices (Value)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3565964"/>
          <a:ext cx="3914776" cy="2132071"/>
        </p:xfrm>
        <a:graphic>
          <a:graphicData uri="http://schemas.openxmlformats.org/drawingml/2006/table">
            <a:tbl>
              <a:tblPr>
                <a:tableStyleId>{5C22544A-7EE6-4342-B048-85BDC9FD1C3A}</a:tableStyleId>
              </a:tblPr>
              <a:tblGrid>
                <a:gridCol w="1013910"/>
                <a:gridCol w="969873"/>
                <a:gridCol w="661933"/>
                <a:gridCol w="1269060"/>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377189">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Germany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77189">
                <a:tc>
                  <a:txBody>
                    <a:bodyPr wrap="none"/>
                    <a:lstStyle/>
                    <a:p>
                      <a:pPr algn="l"/>
                      <a:r>
                        <a:rPr sz="1100" b="1">
                          <a:solidFill>
                            <a:srgbClr val="2E2E2E"/>
                          </a:solidFill>
                          <a:latin typeface="Calibri"/>
                        </a:rPr>
                        <a:t>Netherlands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France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77189">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2374032" cy="2003629"/>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9" name="Rectangle 18"/>
          <p:cNvSpPr/>
          <p:nvPr/>
        </p:nvSpPr>
        <p:spPr>
          <a:xfrm>
            <a:off x="6584082" y="1293011"/>
            <a:ext cx="1369293" cy="2003629"/>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20" name="Rectangle 19"/>
          <p:cNvSpPr/>
          <p:nvPr/>
        </p:nvSpPr>
        <p:spPr>
          <a:xfrm>
            <a:off x="4210050" y="3296640"/>
            <a:ext cx="1574532" cy="1459516"/>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21" name="Rectangle 20"/>
          <p:cNvSpPr/>
          <p:nvPr/>
        </p:nvSpPr>
        <p:spPr>
          <a:xfrm>
            <a:off x="4210050" y="4756156"/>
            <a:ext cx="1574532" cy="1122453"/>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22" name="Rectangle 21"/>
          <p:cNvSpPr/>
          <p:nvPr/>
        </p:nvSpPr>
        <p:spPr>
          <a:xfrm>
            <a:off x="5784582" y="3296640"/>
            <a:ext cx="1190177" cy="1131389"/>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23" name="Rectangle 22"/>
          <p:cNvSpPr/>
          <p:nvPr/>
        </p:nvSpPr>
        <p:spPr>
          <a:xfrm>
            <a:off x="6974758" y="3296640"/>
            <a:ext cx="978617" cy="1131389"/>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24" name="Rectangle 23"/>
          <p:cNvSpPr/>
          <p:nvPr/>
        </p:nvSpPr>
        <p:spPr>
          <a:xfrm>
            <a:off x="5784582" y="4428029"/>
            <a:ext cx="1185262" cy="809390"/>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25" name="Rectangle 24"/>
          <p:cNvSpPr/>
          <p:nvPr/>
        </p:nvSpPr>
        <p:spPr>
          <a:xfrm>
            <a:off x="5784582" y="5237419"/>
            <a:ext cx="1185262" cy="641190"/>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26" name="Rectangle 25"/>
          <p:cNvSpPr/>
          <p:nvPr/>
        </p:nvSpPr>
        <p:spPr>
          <a:xfrm>
            <a:off x="6969844" y="4428029"/>
            <a:ext cx="983531" cy="759239"/>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France</a:t>
            </a:r>
          </a:p>
          <a:p>
            <a:pPr algn="ctr"/>
            <a:r>
              <a:rPr sz="1100" b="0">
                <a:solidFill>
                  <a:srgbClr val="FFFFFF"/>
                </a:solidFill>
                <a:latin typeface="Calibri"/>
              </a:rPr>
              <a:t> </a:t>
            </a:r>
          </a:p>
        </p:txBody>
      </p:sp>
      <p:sp>
        <p:nvSpPr>
          <p:cNvPr id="27" name="Rectangle 26"/>
          <p:cNvSpPr/>
          <p:nvPr/>
        </p:nvSpPr>
        <p:spPr>
          <a:xfrm>
            <a:off x="6969844" y="5187268"/>
            <a:ext cx="983531" cy="691342"/>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Turkey</a:t>
            </a:r>
          </a:p>
          <a:p>
            <a:pPr algn="ctr"/>
            <a:r>
              <a:rPr sz="1100" b="0">
                <a:solidFill>
                  <a:srgbClr val="FFFFFF"/>
                </a:solidFill>
                <a:latin typeface="Calibri"/>
              </a:rPr>
              <a:t> </a:t>
            </a:r>
          </a:p>
        </p:txBody>
      </p:sp>
      <p:sp>
        <p:nvSpPr>
          <p:cNvPr id="28" name="Rounded Rectangle 27"/>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30" name="Chart 29"/>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31" name="Rounded Rectangle 30"/>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2" name="Table 31"/>
          <p:cNvGraphicFramePr>
            <a:graphicFrameLocks noGrp="1"/>
          </p:cNvGraphicFramePr>
          <p:nvPr/>
        </p:nvGraphicFramePr>
        <p:xfrm>
          <a:off x="8096250" y="3547710"/>
          <a:ext cx="3927746" cy="2159451"/>
        </p:xfrm>
        <a:graphic>
          <a:graphicData uri="http://schemas.openxmlformats.org/drawingml/2006/table">
            <a:tbl>
              <a:tblPr>
                <a:tableStyleId>{5C22544A-7EE6-4342-B048-85BDC9FD1C3A}</a:tableStyleId>
              </a:tblPr>
              <a:tblGrid>
                <a:gridCol w="710293"/>
                <a:gridCol w="1068161"/>
                <a:gridCol w="1068161"/>
                <a:gridCol w="108113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382665">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Germany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82665">
                <a:tc>
                  <a:txBody>
                    <a:bodyPr wrap="none"/>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China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82665">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33" name="TextBox 32"/>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34" name="Rounded Rectangle 33"/>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6"/>
          <a:stretch>
            <a:fillRect/>
          </a:stretch>
        </p:blipFill>
        <p:spPr>
          <a:xfrm>
            <a:off x="3188017" y="2125483"/>
            <a:ext cx="183356" cy="266700"/>
          </a:xfrm>
          <a:prstGeom prst="rect">
            <a:avLst/>
          </a:prstGeom>
        </p:spPr>
      </p:pic>
      <p:pic>
        <p:nvPicPr>
          <p:cNvPr id="37" name="Picture 36" descr="lock.png"/>
          <p:cNvPicPr>
            <a:picLocks noChangeAspect="1"/>
          </p:cNvPicPr>
          <p:nvPr/>
        </p:nvPicPr>
        <p:blipFill>
          <a:blip r:embed="rId6"/>
          <a:stretch>
            <a:fillRect/>
          </a:stretch>
        </p:blipFill>
        <p:spPr>
          <a:xfrm>
            <a:off x="2447283" y="4512977"/>
            <a:ext cx="332867" cy="484170"/>
          </a:xfrm>
          <a:prstGeom prst="rect">
            <a:avLst/>
          </a:prstGeom>
        </p:spPr>
      </p:pic>
      <p:pic>
        <p:nvPicPr>
          <p:cNvPr id="38" name="Picture 37" descr="lock.png"/>
          <p:cNvPicPr>
            <a:picLocks noChangeAspect="1"/>
          </p:cNvPicPr>
          <p:nvPr/>
        </p:nvPicPr>
        <p:blipFill>
          <a:blip r:embed="rId6"/>
          <a:stretch>
            <a:fillRect/>
          </a:stretch>
        </p:blipFill>
        <p:spPr>
          <a:xfrm>
            <a:off x="5339440" y="2294825"/>
            <a:ext cx="115252" cy="167639"/>
          </a:xfrm>
          <a:prstGeom prst="rect">
            <a:avLst/>
          </a:prstGeom>
        </p:spPr>
      </p:pic>
      <p:pic>
        <p:nvPicPr>
          <p:cNvPr id="39" name="Picture 38" descr="lock.png"/>
          <p:cNvPicPr>
            <a:picLocks noChangeAspect="1"/>
          </p:cNvPicPr>
          <p:nvPr/>
        </p:nvPicPr>
        <p:blipFill>
          <a:blip r:embed="rId6"/>
          <a:stretch>
            <a:fillRect/>
          </a:stretch>
        </p:blipFill>
        <p:spPr>
          <a:xfrm>
            <a:off x="7211102" y="2294825"/>
            <a:ext cx="115252" cy="167639"/>
          </a:xfrm>
          <a:prstGeom prst="rect">
            <a:avLst/>
          </a:prstGeom>
        </p:spPr>
      </p:pic>
      <p:pic>
        <p:nvPicPr>
          <p:cNvPr id="40" name="Picture 39" descr="lock.png"/>
          <p:cNvPicPr>
            <a:picLocks noChangeAspect="1"/>
          </p:cNvPicPr>
          <p:nvPr/>
        </p:nvPicPr>
        <p:blipFill>
          <a:blip r:embed="rId6"/>
          <a:stretch>
            <a:fillRect/>
          </a:stretch>
        </p:blipFill>
        <p:spPr>
          <a:xfrm>
            <a:off x="4939690" y="4026398"/>
            <a:ext cx="115252" cy="167639"/>
          </a:xfrm>
          <a:prstGeom prst="rect">
            <a:avLst/>
          </a:prstGeom>
        </p:spPr>
      </p:pic>
      <p:pic>
        <p:nvPicPr>
          <p:cNvPr id="41" name="Picture 40" descr="lock.png"/>
          <p:cNvPicPr>
            <a:picLocks noChangeAspect="1"/>
          </p:cNvPicPr>
          <p:nvPr/>
        </p:nvPicPr>
        <p:blipFill>
          <a:blip r:embed="rId6"/>
          <a:stretch>
            <a:fillRect/>
          </a:stretch>
        </p:blipFill>
        <p:spPr>
          <a:xfrm>
            <a:off x="4939690" y="5317382"/>
            <a:ext cx="115252" cy="167639"/>
          </a:xfrm>
          <a:prstGeom prst="rect">
            <a:avLst/>
          </a:prstGeom>
        </p:spPr>
      </p:pic>
      <p:pic>
        <p:nvPicPr>
          <p:cNvPr id="42" name="Picture 41" descr="lock.png"/>
          <p:cNvPicPr>
            <a:picLocks noChangeAspect="1"/>
          </p:cNvPicPr>
          <p:nvPr/>
        </p:nvPicPr>
        <p:blipFill>
          <a:blip r:embed="rId6"/>
          <a:stretch>
            <a:fillRect/>
          </a:stretch>
        </p:blipFill>
        <p:spPr>
          <a:xfrm>
            <a:off x="6322044" y="3862334"/>
            <a:ext cx="115252" cy="167639"/>
          </a:xfrm>
          <a:prstGeom prst="rect">
            <a:avLst/>
          </a:prstGeom>
        </p:spPr>
      </p:pic>
      <p:pic>
        <p:nvPicPr>
          <p:cNvPr id="43" name="Picture 42" descr="lock.png"/>
          <p:cNvPicPr>
            <a:picLocks noChangeAspect="1"/>
          </p:cNvPicPr>
          <p:nvPr/>
        </p:nvPicPr>
        <p:blipFill>
          <a:blip r:embed="rId6"/>
          <a:stretch>
            <a:fillRect/>
          </a:stretch>
        </p:blipFill>
        <p:spPr>
          <a:xfrm>
            <a:off x="7406440" y="3862334"/>
            <a:ext cx="115252" cy="167639"/>
          </a:xfrm>
          <a:prstGeom prst="rect">
            <a:avLst/>
          </a:prstGeom>
        </p:spPr>
      </p:pic>
      <p:pic>
        <p:nvPicPr>
          <p:cNvPr id="44" name="Picture 43" descr="lock.png"/>
          <p:cNvPicPr>
            <a:picLocks noChangeAspect="1"/>
          </p:cNvPicPr>
          <p:nvPr/>
        </p:nvPicPr>
        <p:blipFill>
          <a:blip r:embed="rId6"/>
          <a:stretch>
            <a:fillRect/>
          </a:stretch>
        </p:blipFill>
        <p:spPr>
          <a:xfrm>
            <a:off x="6319587" y="4832724"/>
            <a:ext cx="115252" cy="167639"/>
          </a:xfrm>
          <a:prstGeom prst="rect">
            <a:avLst/>
          </a:prstGeom>
        </p:spPr>
      </p:pic>
      <p:pic>
        <p:nvPicPr>
          <p:cNvPr id="45" name="Picture 44" descr="lock.png"/>
          <p:cNvPicPr>
            <a:picLocks noChangeAspect="1"/>
          </p:cNvPicPr>
          <p:nvPr/>
        </p:nvPicPr>
        <p:blipFill>
          <a:blip r:embed="rId6"/>
          <a:stretch>
            <a:fillRect/>
          </a:stretch>
        </p:blipFill>
        <p:spPr>
          <a:xfrm>
            <a:off x="6319587" y="5558013"/>
            <a:ext cx="115252" cy="167639"/>
          </a:xfrm>
          <a:prstGeom prst="rect">
            <a:avLst/>
          </a:prstGeom>
        </p:spPr>
      </p:pic>
      <p:pic>
        <p:nvPicPr>
          <p:cNvPr id="46" name="Picture 45" descr="lock.png"/>
          <p:cNvPicPr>
            <a:picLocks noChangeAspect="1"/>
          </p:cNvPicPr>
          <p:nvPr/>
        </p:nvPicPr>
        <p:blipFill>
          <a:blip r:embed="rId6"/>
          <a:stretch>
            <a:fillRect/>
          </a:stretch>
        </p:blipFill>
        <p:spPr>
          <a:xfrm>
            <a:off x="7403983" y="4807648"/>
            <a:ext cx="115252" cy="167639"/>
          </a:xfrm>
          <a:prstGeom prst="rect">
            <a:avLst/>
          </a:prstGeom>
        </p:spPr>
      </p:pic>
      <p:pic>
        <p:nvPicPr>
          <p:cNvPr id="47" name="Picture 46" descr="lock.png"/>
          <p:cNvPicPr>
            <a:picLocks noChangeAspect="1"/>
          </p:cNvPicPr>
          <p:nvPr/>
        </p:nvPicPr>
        <p:blipFill>
          <a:blip r:embed="rId6"/>
          <a:stretch>
            <a:fillRect/>
          </a:stretch>
        </p:blipFill>
        <p:spPr>
          <a:xfrm>
            <a:off x="7403983" y="5532939"/>
            <a:ext cx="115252" cy="167639"/>
          </a:xfrm>
          <a:prstGeom prst="rect">
            <a:avLst/>
          </a:prstGeom>
        </p:spPr>
      </p:pic>
      <p:pic>
        <p:nvPicPr>
          <p:cNvPr id="48" name="Picture 47" descr="lock.png"/>
          <p:cNvPicPr>
            <a:picLocks noChangeAspect="1"/>
          </p:cNvPicPr>
          <p:nvPr/>
        </p:nvPicPr>
        <p:blipFill>
          <a:blip r:embed="rId6"/>
          <a:stretch>
            <a:fillRect/>
          </a:stretch>
        </p:blipFill>
        <p:spPr>
          <a:xfrm>
            <a:off x="11131867" y="2120920"/>
            <a:ext cx="183356" cy="266700"/>
          </a:xfrm>
          <a:prstGeom prst="rect">
            <a:avLst/>
          </a:prstGeom>
        </p:spPr>
      </p:pic>
      <p:pic>
        <p:nvPicPr>
          <p:cNvPr id="49" name="Picture 48" descr="lock.png"/>
          <p:cNvPicPr>
            <a:picLocks noChangeAspect="1"/>
          </p:cNvPicPr>
          <p:nvPr/>
        </p:nvPicPr>
        <p:blipFill>
          <a:blip r:embed="rId6"/>
          <a:stretch>
            <a:fillRect/>
          </a:stretch>
        </p:blipFill>
        <p:spPr>
          <a:xfrm>
            <a:off x="10208848" y="4492667"/>
            <a:ext cx="354517" cy="515661"/>
          </a:xfrm>
          <a:prstGeom prst="rect">
            <a:avLst/>
          </a:prstGeom>
        </p:spPr>
      </p:pic>
      <p:sp>
        <p:nvSpPr>
          <p:cNvPr id="50" name="TextBox 49"/>
          <p:cNvSpPr txBox="1"/>
          <p:nvPr/>
        </p:nvSpPr>
        <p:spPr>
          <a:xfrm>
            <a:off x="257175" y="6160574"/>
            <a:ext cx="3809082" cy="186689"/>
          </a:xfrm>
          <a:prstGeom prst="rect">
            <a:avLst/>
          </a:prstGeom>
          <a:noFill/>
        </p:spPr>
        <p:txBody>
          <a:bodyPr wrap="none" lIns="0" rIns="0" tIns="0" bIns="0">
            <a:spAutoFit/>
          </a:bodyPr>
          <a:lstStyle/>
          <a:p>
            <a:r>
              <a:rPr sz="1100" b="0">
                <a:solidFill>
                  <a:srgbClr val="2E2E2E"/>
                </a:solidFill>
                <a:latin typeface="Calibri"/>
              </a:rPr>
              <a:t>The U.S. ear wax removal products market is projected to register</a:t>
            </a:r>
          </a:p>
        </p:txBody>
      </p:sp>
      <p:pic>
        <p:nvPicPr>
          <p:cNvPr id="51" name="Picture 50" descr="lock.png"/>
          <p:cNvPicPr>
            <a:picLocks noChangeAspect="1"/>
          </p:cNvPicPr>
          <p:nvPr/>
        </p:nvPicPr>
        <p:blipFill>
          <a:blip r:embed="rId6"/>
          <a:stretch>
            <a:fillRect/>
          </a:stretch>
        </p:blipFill>
        <p:spPr>
          <a:xfrm>
            <a:off x="4014308" y="6150795"/>
            <a:ext cx="128699" cy="187198"/>
          </a:xfrm>
          <a:prstGeom prst="rect">
            <a:avLst/>
          </a:prstGeom>
        </p:spPr>
      </p:pic>
      <p:sp>
        <p:nvSpPr>
          <p:cNvPr id="52" name="TextBox 51"/>
          <p:cNvSpPr txBox="1"/>
          <p:nvPr/>
        </p:nvSpPr>
        <p:spPr>
          <a:xfrm>
            <a:off x="4181804" y="6160574"/>
            <a:ext cx="4298833" cy="186689"/>
          </a:xfrm>
          <a:prstGeom prst="rect">
            <a:avLst/>
          </a:prstGeom>
          <a:noFill/>
        </p:spPr>
        <p:txBody>
          <a:bodyPr wrap="none" lIns="0" rIns="0" tIns="0" bIns="0">
            <a:spAutoFit/>
          </a:bodyPr>
          <a:lstStyle/>
          <a:p>
            <a:r>
              <a:rPr sz="1100" b="0">
                <a:solidFill>
                  <a:srgbClr val="2E2E2E"/>
                </a:solidFill>
                <a:latin typeface="Calibri"/>
              </a:rPr>
              <a:t>X higher value than Germany in 2036. India posts the highest CAGR Index (</a:t>
            </a:r>
          </a:p>
        </p:txBody>
      </p:sp>
      <p:pic>
        <p:nvPicPr>
          <p:cNvPr id="53" name="Picture 52" descr="lock.png"/>
          <p:cNvPicPr>
            <a:picLocks noChangeAspect="1"/>
          </p:cNvPicPr>
          <p:nvPr/>
        </p:nvPicPr>
        <p:blipFill>
          <a:blip r:embed="rId6"/>
          <a:stretch>
            <a:fillRect/>
          </a:stretch>
        </p:blipFill>
        <p:spPr>
          <a:xfrm>
            <a:off x="8428689" y="6150795"/>
            <a:ext cx="128699" cy="187198"/>
          </a:xfrm>
          <a:prstGeom prst="rect">
            <a:avLst/>
          </a:prstGeom>
        </p:spPr>
      </p:pic>
      <p:sp>
        <p:nvSpPr>
          <p:cNvPr id="54" name="TextBox 53"/>
          <p:cNvSpPr txBox="1"/>
          <p:nvPr/>
        </p:nvSpPr>
        <p:spPr>
          <a:xfrm>
            <a:off x="8596185"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55" name="Picture 54" descr="lock.png"/>
          <p:cNvPicPr>
            <a:picLocks noChangeAspect="1"/>
          </p:cNvPicPr>
          <p:nvPr/>
        </p:nvPicPr>
        <p:blipFill>
          <a:blip r:embed="rId6"/>
          <a:stretch>
            <a:fillRect/>
          </a:stretch>
        </p:blipFill>
        <p:spPr>
          <a:xfrm>
            <a:off x="9334217" y="6150795"/>
            <a:ext cx="128699" cy="187198"/>
          </a:xfrm>
          <a:prstGeom prst="rect">
            <a:avLst/>
          </a:prstGeom>
        </p:spPr>
      </p:pic>
      <p:sp>
        <p:nvSpPr>
          <p:cNvPr id="56" name="TextBox 55"/>
          <p:cNvSpPr txBox="1"/>
          <p:nvPr/>
        </p:nvSpPr>
        <p:spPr>
          <a:xfrm>
            <a:off x="9501712" y="6160574"/>
            <a:ext cx="1080020" cy="186689"/>
          </a:xfrm>
          <a:prstGeom prst="rect">
            <a:avLst/>
          </a:prstGeom>
          <a:noFill/>
        </p:spPr>
        <p:txBody>
          <a:bodyPr wrap="none" lIns="0" rIns="0" tIns="0" bIns="0">
            <a:spAutoFit/>
          </a:bodyPr>
          <a:lstStyle/>
          <a:p>
            <a:r>
              <a:rPr sz="1100" b="0">
                <a:solidFill>
                  <a:srgbClr val="2E2E2E"/>
                </a:solidFill>
                <a:latin typeface="Calibri"/>
              </a:rPr>
              <a:t>against the global</a:t>
            </a:r>
          </a:p>
        </p:txBody>
      </p:sp>
      <p:sp>
        <p:nvSpPr>
          <p:cNvPr id="57" name="TextBox 56"/>
          <p:cNvSpPr txBox="1"/>
          <p:nvPr/>
        </p:nvSpPr>
        <p:spPr>
          <a:xfrm>
            <a:off x="257175" y="6328214"/>
            <a:ext cx="3580159" cy="186689"/>
          </a:xfrm>
          <a:prstGeom prst="rect">
            <a:avLst/>
          </a:prstGeom>
          <a:noFill/>
        </p:spPr>
        <p:txBody>
          <a:bodyPr wrap="none" lIns="0" rIns="0" tIns="0" bIns="0">
            <a:spAutoFit/>
          </a:bodyPr>
          <a:lstStyle/>
          <a:p>
            <a:r>
              <a:rPr sz="1100" b="0">
                <a:solidFill>
                  <a:srgbClr val="2E2E2E"/>
                </a:solidFill>
                <a:latin typeface="Calibri"/>
              </a:rPr>
              <a:t>benchmark, while U.S. offers the largest absolute opportunity</a:t>
            </a:r>
          </a:p>
        </p:txBody>
      </p:sp>
      <p:pic>
        <p:nvPicPr>
          <p:cNvPr id="58" name="Picture 57" descr="lock.png"/>
          <p:cNvPicPr>
            <a:picLocks noChangeAspect="1"/>
          </p:cNvPicPr>
          <p:nvPr/>
        </p:nvPicPr>
        <p:blipFill>
          <a:blip r:embed="rId6"/>
          <a:stretch>
            <a:fillRect/>
          </a:stretch>
        </p:blipFill>
        <p:spPr>
          <a:xfrm>
            <a:off x="3785386" y="6318435"/>
            <a:ext cx="128699" cy="187198"/>
          </a:xfrm>
          <a:prstGeom prst="rect">
            <a:avLst/>
          </a:prstGeom>
        </p:spPr>
      </p:pic>
      <p:sp>
        <p:nvSpPr>
          <p:cNvPr id="59" name="TextBox 58"/>
          <p:cNvSpPr txBox="1"/>
          <p:nvPr/>
        </p:nvSpPr>
        <p:spPr>
          <a:xfrm>
            <a:off x="3952882"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60" name="Picture 59" descr="lock.png"/>
          <p:cNvPicPr>
            <a:picLocks noChangeAspect="1"/>
          </p:cNvPicPr>
          <p:nvPr/>
        </p:nvPicPr>
        <p:blipFill>
          <a:blip r:embed="rId6"/>
          <a:stretch>
            <a:fillRect/>
          </a:stretch>
        </p:blipFill>
        <p:spPr>
          <a:xfrm>
            <a:off x="7212880" y="6318435"/>
            <a:ext cx="128699" cy="187198"/>
          </a:xfrm>
          <a:prstGeom prst="rect">
            <a:avLst/>
          </a:prstGeom>
        </p:spPr>
      </p:pic>
      <p:sp>
        <p:nvSpPr>
          <p:cNvPr id="61" name="TextBox 60"/>
          <p:cNvSpPr txBox="1"/>
          <p:nvPr/>
        </p:nvSpPr>
        <p:spPr>
          <a:xfrm>
            <a:off x="7380376" y="6328214"/>
            <a:ext cx="1483568" cy="186689"/>
          </a:xfrm>
          <a:prstGeom prst="rect">
            <a:avLst/>
          </a:prstGeom>
          <a:noFill/>
        </p:spPr>
        <p:txBody>
          <a:bodyPr wrap="none" lIns="0" rIns="0" tIns="0" bIns="0">
            <a:spAutoFit/>
          </a:bodyPr>
          <a:lstStyle/>
          <a:p>
            <a:r>
              <a:rPr sz="1100" b="0">
                <a:solidFill>
                  <a:srgbClr val="2E2E2E"/>
                </a:solidFill>
                <a:latin typeface="Calibri"/>
              </a:rPr>
              <a:t>of the global increment).</a:t>
            </a:r>
          </a:p>
        </p:txBody>
      </p:sp>
      <p:sp>
        <p:nvSpPr>
          <p:cNvPr id="62" name="lockshield_12"/>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ockshield_30"/>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Ear Wax Removal Products Market Summary Country Indices (Value)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9810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1057275"/>
          <a:ext cx="11887199" cy="1485896"/>
        </p:xfrm>
        <a:graphic>
          <a:graphicData uri="http://schemas.openxmlformats.org/drawingml/2006/table">
            <a:tbl>
              <a:tblPr>
                <a:tableStyleId>{5C22544A-7EE6-4342-B048-85BDC9FD1C3A}</a:tableStyleId>
              </a:tblPr>
              <a:tblGrid>
                <a:gridCol w="1994456"/>
                <a:gridCol w="3297581"/>
                <a:gridCol w="3297581"/>
                <a:gridCol w="329758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Thailand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Spain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Malaysia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China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25527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3" name="Rounded Rectangle 12"/>
          <p:cNvSpPr/>
          <p:nvPr/>
        </p:nvSpPr>
        <p:spPr>
          <a:xfrm>
            <a:off x="142875" y="290512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2981325"/>
          <a:ext cx="11887200" cy="1485896"/>
        </p:xfrm>
        <a:graphic>
          <a:graphicData uri="http://schemas.openxmlformats.org/drawingml/2006/table">
            <a:tbl>
              <a:tblPr>
                <a:tableStyleId>{5C22544A-7EE6-4342-B048-85BDC9FD1C3A}</a:tableStyleId>
              </a:tblPr>
              <a:tblGrid>
                <a:gridCol w="1846407"/>
                <a:gridCol w="3346931"/>
                <a:gridCol w="3346931"/>
                <a:gridCol w="334693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France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U.K.</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Japan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Turkey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4476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4"/>
          <a:stretch>
            <a:fillRect/>
          </a:stretch>
        </p:blipFill>
        <p:spPr>
          <a:xfrm>
            <a:off x="6906537" y="1656588"/>
            <a:ext cx="366712" cy="533400"/>
          </a:xfrm>
          <a:prstGeom prst="rect">
            <a:avLst/>
          </a:prstGeom>
        </p:spPr>
      </p:pic>
      <p:pic>
        <p:nvPicPr>
          <p:cNvPr id="18" name="Picture 17" descr="lock.png"/>
          <p:cNvPicPr>
            <a:picLocks noChangeAspect="1"/>
          </p:cNvPicPr>
          <p:nvPr/>
        </p:nvPicPr>
        <p:blipFill>
          <a:blip r:embed="rId4"/>
          <a:stretch>
            <a:fillRect/>
          </a:stretch>
        </p:blipFill>
        <p:spPr>
          <a:xfrm>
            <a:off x="6832513" y="3580638"/>
            <a:ext cx="366712" cy="5334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ounded Rectangle 13"/>
          <p:cNvSpPr/>
          <p:nvPr/>
        </p:nvSpPr>
        <p:spPr>
          <a:xfrm>
            <a:off x="142875" y="2857500"/>
            <a:ext cx="11906250" cy="1628775"/>
          </a:xfrm>
          <a:prstGeom prst="roundRect">
            <a:avLst>
              <a:gd name="adj" fmla="val 46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4322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6" name="Rectangle 15"/>
          <p:cNvSpPr/>
          <p:nvPr/>
        </p:nvSpPr>
        <p:spPr>
          <a:xfrm>
            <a:off x="276225" y="31813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67075"/>
            <a:ext cx="11639550" cy="11430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142875" y="4619625"/>
            <a:ext cx="3943350"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705350"/>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0" name="Rectangle 19"/>
          <p:cNvSpPr/>
          <p:nvPr/>
        </p:nvSpPr>
        <p:spPr>
          <a:xfrm>
            <a:off x="276225" y="494347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5029200"/>
            <a:ext cx="3676650"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4238625" y="4619625"/>
            <a:ext cx="3819525"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705350"/>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4" name="Rectangle 23"/>
          <p:cNvSpPr/>
          <p:nvPr/>
        </p:nvSpPr>
        <p:spPr>
          <a:xfrm>
            <a:off x="4371975" y="49434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1975"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8210550" y="4619625"/>
            <a:ext cx="3819525"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705350"/>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8" name="Rectangle 27"/>
          <p:cNvSpPr/>
          <p:nvPr/>
        </p:nvSpPr>
        <p:spPr>
          <a:xfrm>
            <a:off x="8343900" y="49434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3900"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'Ear Drops'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South Asia &amp; Pacific outpacing the global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7 product type categories.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3840981" cy="194310"/>
          </a:xfrm>
          <a:prstGeom prst="rect">
            <a:avLst/>
          </a:prstGeom>
          <a:noFill/>
        </p:spPr>
        <p:txBody>
          <a:bodyPr wrap="none" lIns="0" rIns="0" tIns="0" bIns="0">
            <a:spAutoFit/>
          </a:bodyPr>
          <a:lstStyle/>
          <a:p>
            <a:r>
              <a:rPr sz="1150" b="0">
                <a:solidFill>
                  <a:srgbClr val="2E2E2E"/>
                </a:solidFill>
                <a:latin typeface="Calibri"/>
              </a:rPr>
              <a:t>Global ear wax removal products market is expected to witness</a:t>
            </a:r>
          </a:p>
        </p:txBody>
      </p:sp>
      <p:pic>
        <p:nvPicPr>
          <p:cNvPr id="32" name="Picture 31" descr="lock.png"/>
          <p:cNvPicPr>
            <a:picLocks noChangeAspect="1"/>
          </p:cNvPicPr>
          <p:nvPr/>
        </p:nvPicPr>
        <p:blipFill>
          <a:blip r:embed="rId4"/>
          <a:stretch>
            <a:fillRect/>
          </a:stretch>
        </p:blipFill>
        <p:spPr>
          <a:xfrm>
            <a:off x="4066359" y="1389951"/>
            <a:ext cx="134549" cy="195707"/>
          </a:xfrm>
          <a:prstGeom prst="rect">
            <a:avLst/>
          </a:prstGeom>
        </p:spPr>
      </p:pic>
      <p:sp>
        <p:nvSpPr>
          <p:cNvPr id="33" name="TextBox 32"/>
          <p:cNvSpPr txBox="1"/>
          <p:nvPr/>
        </p:nvSpPr>
        <p:spPr>
          <a:xfrm>
            <a:off x="4241469" y="1400175"/>
            <a:ext cx="5729647" cy="194310"/>
          </a:xfrm>
          <a:prstGeom prst="rect">
            <a:avLst/>
          </a:prstGeom>
          <a:noFill/>
        </p:spPr>
        <p:txBody>
          <a:bodyPr wrap="none" lIns="0" rIns="0" tIns="0" bIns="0">
            <a:spAutoFit/>
          </a:bodyPr>
          <a:lstStyle/>
          <a:p>
            <a:r>
              <a:rPr sz="1150" b="0">
                <a:solidFill>
                  <a:srgbClr val="2E2E2E"/>
                </a:solidFill>
                <a:latin typeface="Calibri"/>
              </a:rPr>
              <a:t>X increase in revenue by 2036 end. Global ear wax removal products market accounted for US$</a:t>
            </a:r>
          </a:p>
        </p:txBody>
      </p:sp>
      <p:pic>
        <p:nvPicPr>
          <p:cNvPr id="34" name="Picture 33" descr="lock.png"/>
          <p:cNvPicPr>
            <a:picLocks noChangeAspect="1"/>
          </p:cNvPicPr>
          <p:nvPr/>
        </p:nvPicPr>
        <p:blipFill>
          <a:blip r:embed="rId4"/>
          <a:stretch>
            <a:fillRect/>
          </a:stretch>
        </p:blipFill>
        <p:spPr>
          <a:xfrm>
            <a:off x="9920270" y="1389951"/>
            <a:ext cx="134549" cy="195707"/>
          </a:xfrm>
          <a:prstGeom prst="rect">
            <a:avLst/>
          </a:prstGeom>
        </p:spPr>
      </p:pic>
      <p:sp>
        <p:nvSpPr>
          <p:cNvPr id="35" name="TextBox 34"/>
          <p:cNvSpPr txBox="1"/>
          <p:nvPr/>
        </p:nvSpPr>
        <p:spPr>
          <a:xfrm>
            <a:off x="10095379" y="1400175"/>
            <a:ext cx="1297942" cy="194310"/>
          </a:xfrm>
          <a:prstGeom prst="rect">
            <a:avLst/>
          </a:prstGeom>
          <a:noFill/>
        </p:spPr>
        <p:txBody>
          <a:bodyPr wrap="none" lIns="0" rIns="0" tIns="0" bIns="0">
            <a:spAutoFit/>
          </a:bodyPr>
          <a:lstStyle/>
          <a:p>
            <a:r>
              <a:rPr sz="1150" b="0">
                <a:solidFill>
                  <a:srgbClr val="2E2E2E"/>
                </a:solidFill>
                <a:latin typeface="Calibri"/>
              </a:rPr>
              <a:t>Mn in 2025, which is</a:t>
            </a:r>
          </a:p>
        </p:txBody>
      </p:sp>
      <p:sp>
        <p:nvSpPr>
          <p:cNvPr id="36" name="TextBox 35"/>
          <p:cNvSpPr txBox="1"/>
          <p:nvPr/>
        </p:nvSpPr>
        <p:spPr>
          <a:xfrm>
            <a:off x="276225" y="1575435"/>
            <a:ext cx="1737518" cy="194310"/>
          </a:xfrm>
          <a:prstGeom prst="rect">
            <a:avLst/>
          </a:prstGeom>
          <a:noFill/>
        </p:spPr>
        <p:txBody>
          <a:bodyPr wrap="none" lIns="0" rIns="0" tIns="0" bIns="0">
            <a:spAutoFit/>
          </a:bodyPr>
          <a:lstStyle/>
          <a:p>
            <a:r>
              <a:rPr sz="1150" b="0">
                <a:solidFill>
                  <a:srgbClr val="2E2E2E"/>
                </a:solidFill>
                <a:latin typeface="Calibri"/>
              </a:rPr>
              <a:t>expected to increase to US$</a:t>
            </a:r>
          </a:p>
        </p:txBody>
      </p:sp>
      <p:pic>
        <p:nvPicPr>
          <p:cNvPr id="37" name="Picture 36" descr="lock.png"/>
          <p:cNvPicPr>
            <a:picLocks noChangeAspect="1"/>
          </p:cNvPicPr>
          <p:nvPr/>
        </p:nvPicPr>
        <p:blipFill>
          <a:blip r:embed="rId4"/>
          <a:stretch>
            <a:fillRect/>
          </a:stretch>
        </p:blipFill>
        <p:spPr>
          <a:xfrm>
            <a:off x="1962897" y="1565211"/>
            <a:ext cx="134549" cy="195707"/>
          </a:xfrm>
          <a:prstGeom prst="rect">
            <a:avLst/>
          </a:prstGeom>
        </p:spPr>
      </p:pic>
      <p:sp>
        <p:nvSpPr>
          <p:cNvPr id="38" name="TextBox 37"/>
          <p:cNvSpPr txBox="1"/>
          <p:nvPr/>
        </p:nvSpPr>
        <p:spPr>
          <a:xfrm>
            <a:off x="2138006"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9" name="Picture 38" descr="lock.png"/>
          <p:cNvPicPr>
            <a:picLocks noChangeAspect="1"/>
          </p:cNvPicPr>
          <p:nvPr/>
        </p:nvPicPr>
        <p:blipFill>
          <a:blip r:embed="rId4"/>
          <a:stretch>
            <a:fillRect/>
          </a:stretch>
        </p:blipFill>
        <p:spPr>
          <a:xfrm>
            <a:off x="3614714" y="1565211"/>
            <a:ext cx="134549" cy="195707"/>
          </a:xfrm>
          <a:prstGeom prst="rect">
            <a:avLst/>
          </a:prstGeom>
        </p:spPr>
      </p:pic>
      <p:sp>
        <p:nvSpPr>
          <p:cNvPr id="40" name="TextBox 39"/>
          <p:cNvSpPr txBox="1"/>
          <p:nvPr/>
        </p:nvSpPr>
        <p:spPr>
          <a:xfrm>
            <a:off x="3789824"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1" name="TextBox 40"/>
          <p:cNvSpPr txBox="1"/>
          <p:nvPr/>
        </p:nvSpPr>
        <p:spPr>
          <a:xfrm>
            <a:off x="276225" y="1803273"/>
            <a:ext cx="11373110" cy="194310"/>
          </a:xfrm>
          <a:prstGeom prst="rect">
            <a:avLst/>
          </a:prstGeom>
          <a:noFill/>
        </p:spPr>
        <p:txBody>
          <a:bodyPr wrap="none" lIns="0" rIns="0" tIns="0" bIns="0">
            <a:spAutoFit/>
          </a:bodyPr>
          <a:lstStyle/>
          <a:p>
            <a:r>
              <a:rPr sz="1150" b="0">
                <a:solidFill>
                  <a:srgbClr val="2E2E2E"/>
                </a:solidFill>
                <a:latin typeface="Calibri"/>
              </a:rPr>
              <a:t>The global ear wax removal products market has been analysed on the basis of product type, end user, sales channel and age group across the globe. North America is expected to remain the</a:t>
            </a:r>
          </a:p>
        </p:txBody>
      </p:sp>
      <p:sp>
        <p:nvSpPr>
          <p:cNvPr id="42" name="TextBox 41"/>
          <p:cNvSpPr txBox="1"/>
          <p:nvPr/>
        </p:nvSpPr>
        <p:spPr>
          <a:xfrm>
            <a:off x="276225" y="1978533"/>
            <a:ext cx="7772332" cy="194310"/>
          </a:xfrm>
          <a:prstGeom prst="rect">
            <a:avLst/>
          </a:prstGeom>
          <a:noFill/>
        </p:spPr>
        <p:txBody>
          <a:bodyPr wrap="none" lIns="0" rIns="0" tIns="0" bIns="0">
            <a:spAutoFit/>
          </a:bodyPr>
          <a:lstStyle/>
          <a:p>
            <a:r>
              <a:rPr sz="1150" b="0">
                <a:solidFill>
                  <a:srgbClr val="2E2E2E"/>
                </a:solidFill>
                <a:latin typeface="Calibri"/>
              </a:rPr>
              <a:t>largest market for ear wax removal products, while demand in South Asia &amp; Pacific is projected to increase at the highest CAGR of</a:t>
            </a:r>
          </a:p>
        </p:txBody>
      </p:sp>
      <p:pic>
        <p:nvPicPr>
          <p:cNvPr id="43" name="Picture 42" descr="lock.png"/>
          <p:cNvPicPr>
            <a:picLocks noChangeAspect="1"/>
          </p:cNvPicPr>
          <p:nvPr/>
        </p:nvPicPr>
        <p:blipFill>
          <a:blip r:embed="rId4"/>
          <a:stretch>
            <a:fillRect/>
          </a:stretch>
        </p:blipFill>
        <p:spPr>
          <a:xfrm>
            <a:off x="7997711" y="1968309"/>
            <a:ext cx="134549" cy="195707"/>
          </a:xfrm>
          <a:prstGeom prst="rect">
            <a:avLst/>
          </a:prstGeom>
        </p:spPr>
      </p:pic>
      <p:sp>
        <p:nvSpPr>
          <p:cNvPr id="44" name="TextBox 43"/>
          <p:cNvSpPr txBox="1"/>
          <p:nvPr/>
        </p:nvSpPr>
        <p:spPr>
          <a:xfrm>
            <a:off x="8172820"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5" name="TextBox 44"/>
          <p:cNvSpPr txBox="1"/>
          <p:nvPr/>
        </p:nvSpPr>
        <p:spPr>
          <a:xfrm>
            <a:off x="276225" y="3276600"/>
            <a:ext cx="6963655" cy="194310"/>
          </a:xfrm>
          <a:prstGeom prst="rect">
            <a:avLst/>
          </a:prstGeom>
          <a:noFill/>
        </p:spPr>
        <p:txBody>
          <a:bodyPr wrap="none" lIns="0" rIns="0" tIns="0" bIns="0">
            <a:spAutoFit/>
          </a:bodyPr>
          <a:lstStyle/>
          <a:p>
            <a:r>
              <a:rPr sz="1150" b="0">
                <a:solidFill>
                  <a:srgbClr val="2E2E2E"/>
                </a:solidFill>
                <a:latin typeface="Calibri"/>
              </a:rPr>
              <a:t>▪ The market is moderately fragmented: the leading product type category 'Irrigation Devices and Accessories' holds</a:t>
            </a:r>
          </a:p>
        </p:txBody>
      </p:sp>
      <p:pic>
        <p:nvPicPr>
          <p:cNvPr id="46" name="Picture 45" descr="lock.png"/>
          <p:cNvPicPr>
            <a:picLocks noChangeAspect="1"/>
          </p:cNvPicPr>
          <p:nvPr/>
        </p:nvPicPr>
        <p:blipFill>
          <a:blip r:embed="rId4"/>
          <a:stretch>
            <a:fillRect/>
          </a:stretch>
        </p:blipFill>
        <p:spPr>
          <a:xfrm>
            <a:off x="7189034" y="3266376"/>
            <a:ext cx="134549" cy="195707"/>
          </a:xfrm>
          <a:prstGeom prst="rect">
            <a:avLst/>
          </a:prstGeom>
        </p:spPr>
      </p:pic>
      <p:sp>
        <p:nvSpPr>
          <p:cNvPr id="47" name="TextBox 46"/>
          <p:cNvSpPr txBox="1"/>
          <p:nvPr/>
        </p:nvSpPr>
        <p:spPr>
          <a:xfrm>
            <a:off x="7364143" y="327660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8" name="TextBox 47"/>
          <p:cNvSpPr txBox="1"/>
          <p:nvPr/>
        </p:nvSpPr>
        <p:spPr>
          <a:xfrm>
            <a:off x="276225" y="3504437"/>
            <a:ext cx="4910968" cy="194310"/>
          </a:xfrm>
          <a:prstGeom prst="rect">
            <a:avLst/>
          </a:prstGeom>
          <a:noFill/>
        </p:spPr>
        <p:txBody>
          <a:bodyPr wrap="none" lIns="0" rIns="0" tIns="0" bIns="0">
            <a:spAutoFit/>
          </a:bodyPr>
          <a:lstStyle/>
          <a:p>
            <a:r>
              <a:rPr sz="1150" b="0">
                <a:solidFill>
                  <a:srgbClr val="2E2E2E"/>
                </a:solidFill>
                <a:latin typeface="Calibri"/>
              </a:rPr>
              <a:t>▪ Demand spans 6 regions and 4 segmentation lenses (7 product type categories).</a:t>
            </a:r>
          </a:p>
        </p:txBody>
      </p:sp>
      <p:sp>
        <p:nvSpPr>
          <p:cNvPr id="49" name="TextBox 48"/>
          <p:cNvSpPr txBox="1"/>
          <p:nvPr/>
        </p:nvSpPr>
        <p:spPr>
          <a:xfrm>
            <a:off x="276225" y="3732275"/>
            <a:ext cx="2950988" cy="194310"/>
          </a:xfrm>
          <a:prstGeom prst="rect">
            <a:avLst/>
          </a:prstGeom>
          <a:noFill/>
        </p:spPr>
        <p:txBody>
          <a:bodyPr wrap="none" lIns="0" rIns="0" tIns="0" bIns="0">
            <a:spAutoFit/>
          </a:bodyPr>
          <a:lstStyle/>
          <a:p>
            <a:r>
              <a:rPr sz="1150" b="0">
                <a:solidFill>
                  <a:srgbClr val="2E2E2E"/>
                </a:solidFill>
                <a:latin typeface="Calibri"/>
              </a:rPr>
              <a:t>▪ North America is the largest regional market at</a:t>
            </a:r>
          </a:p>
        </p:txBody>
      </p:sp>
      <p:pic>
        <p:nvPicPr>
          <p:cNvPr id="50" name="Picture 49" descr="lock.png"/>
          <p:cNvPicPr>
            <a:picLocks noChangeAspect="1"/>
          </p:cNvPicPr>
          <p:nvPr/>
        </p:nvPicPr>
        <p:blipFill>
          <a:blip r:embed="rId4"/>
          <a:stretch>
            <a:fillRect/>
          </a:stretch>
        </p:blipFill>
        <p:spPr>
          <a:xfrm>
            <a:off x="3176367" y="3722052"/>
            <a:ext cx="134549" cy="195707"/>
          </a:xfrm>
          <a:prstGeom prst="rect">
            <a:avLst/>
          </a:prstGeom>
        </p:spPr>
      </p:pic>
      <p:sp>
        <p:nvSpPr>
          <p:cNvPr id="51" name="TextBox 50"/>
          <p:cNvSpPr txBox="1"/>
          <p:nvPr/>
        </p:nvSpPr>
        <p:spPr>
          <a:xfrm>
            <a:off x="3351477" y="373227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2" name="TextBox 51"/>
          <p:cNvSpPr txBox="1"/>
          <p:nvPr/>
        </p:nvSpPr>
        <p:spPr>
          <a:xfrm>
            <a:off x="276225" y="5038725"/>
            <a:ext cx="2248658" cy="194310"/>
          </a:xfrm>
          <a:prstGeom prst="rect">
            <a:avLst/>
          </a:prstGeom>
          <a:noFill/>
        </p:spPr>
        <p:txBody>
          <a:bodyPr wrap="none" lIns="0" rIns="0" tIns="0" bIns="0">
            <a:spAutoFit/>
          </a:bodyPr>
          <a:lstStyle/>
          <a:p>
            <a:r>
              <a:rPr sz="1150" b="0">
                <a:solidFill>
                  <a:srgbClr val="2E2E2E"/>
                </a:solidFill>
                <a:latin typeface="Calibri"/>
              </a:rPr>
              <a:t>▪ Accelerating uptake of 'Ear Drops' (</a:t>
            </a:r>
          </a:p>
        </p:txBody>
      </p:sp>
      <p:pic>
        <p:nvPicPr>
          <p:cNvPr id="53" name="Picture 52" descr="lock.png"/>
          <p:cNvPicPr>
            <a:picLocks noChangeAspect="1"/>
          </p:cNvPicPr>
          <p:nvPr/>
        </p:nvPicPr>
        <p:blipFill>
          <a:blip r:embed="rId4"/>
          <a:stretch>
            <a:fillRect/>
          </a:stretch>
        </p:blipFill>
        <p:spPr>
          <a:xfrm>
            <a:off x="2474037" y="5028501"/>
            <a:ext cx="134549" cy="195707"/>
          </a:xfrm>
          <a:prstGeom prst="rect">
            <a:avLst/>
          </a:prstGeom>
        </p:spPr>
      </p:pic>
      <p:sp>
        <p:nvSpPr>
          <p:cNvPr id="54" name="TextBox 53"/>
          <p:cNvSpPr txBox="1"/>
          <p:nvPr/>
        </p:nvSpPr>
        <p:spPr>
          <a:xfrm>
            <a:off x="2649146" y="503872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5" name="TextBox 54"/>
          <p:cNvSpPr txBox="1"/>
          <p:nvPr/>
        </p:nvSpPr>
        <p:spPr>
          <a:xfrm>
            <a:off x="276225" y="5266563"/>
            <a:ext cx="2877045" cy="194310"/>
          </a:xfrm>
          <a:prstGeom prst="rect">
            <a:avLst/>
          </a:prstGeom>
          <a:noFill/>
        </p:spPr>
        <p:txBody>
          <a:bodyPr wrap="none" lIns="0" rIns="0" tIns="0" bIns="0">
            <a:spAutoFit/>
          </a:bodyPr>
          <a:lstStyle/>
          <a:p>
            <a:r>
              <a:rPr sz="1150" b="0">
                <a:solidFill>
                  <a:srgbClr val="2E2E2E"/>
                </a:solidFill>
                <a:latin typeface="Calibri"/>
              </a:rPr>
              <a:t>▪ Fast-growing demand in South Asia &amp; Pacific (</a:t>
            </a:r>
          </a:p>
        </p:txBody>
      </p:sp>
      <p:pic>
        <p:nvPicPr>
          <p:cNvPr id="56" name="Picture 55" descr="lock.png"/>
          <p:cNvPicPr>
            <a:picLocks noChangeAspect="1"/>
          </p:cNvPicPr>
          <p:nvPr/>
        </p:nvPicPr>
        <p:blipFill>
          <a:blip r:embed="rId4"/>
          <a:stretch>
            <a:fillRect/>
          </a:stretch>
        </p:blipFill>
        <p:spPr>
          <a:xfrm>
            <a:off x="3102424" y="5256339"/>
            <a:ext cx="134549" cy="195707"/>
          </a:xfrm>
          <a:prstGeom prst="rect">
            <a:avLst/>
          </a:prstGeom>
        </p:spPr>
      </p:pic>
      <p:sp>
        <p:nvSpPr>
          <p:cNvPr id="57" name="TextBox 56"/>
          <p:cNvSpPr txBox="1"/>
          <p:nvPr/>
        </p:nvSpPr>
        <p:spPr>
          <a:xfrm>
            <a:off x="3277533" y="5266563"/>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8" name="TextBox 57"/>
          <p:cNvSpPr txBox="1"/>
          <p:nvPr/>
        </p:nvSpPr>
        <p:spPr>
          <a:xfrm>
            <a:off x="276225" y="5494400"/>
            <a:ext cx="3291867" cy="194310"/>
          </a:xfrm>
          <a:prstGeom prst="rect">
            <a:avLst/>
          </a:prstGeom>
          <a:noFill/>
        </p:spPr>
        <p:txBody>
          <a:bodyPr wrap="none" lIns="0" rIns="0" tIns="0" bIns="0">
            <a:spAutoFit/>
          </a:bodyPr>
          <a:lstStyle/>
          <a:p>
            <a:r>
              <a:rPr sz="1150" b="0">
                <a:solidFill>
                  <a:srgbClr val="2E2E2E"/>
                </a:solidFill>
                <a:latin typeface="Calibri"/>
              </a:rPr>
              <a:t>▪ Momentum in Hospitals and Clinics within end user (</a:t>
            </a:r>
          </a:p>
        </p:txBody>
      </p:sp>
      <p:pic>
        <p:nvPicPr>
          <p:cNvPr id="59" name="Picture 58" descr="lock.png"/>
          <p:cNvPicPr>
            <a:picLocks noChangeAspect="1"/>
          </p:cNvPicPr>
          <p:nvPr/>
        </p:nvPicPr>
        <p:blipFill>
          <a:blip r:embed="rId4"/>
          <a:stretch>
            <a:fillRect/>
          </a:stretch>
        </p:blipFill>
        <p:spPr>
          <a:xfrm>
            <a:off x="3517246" y="5484177"/>
            <a:ext cx="134549" cy="195707"/>
          </a:xfrm>
          <a:prstGeom prst="rect">
            <a:avLst/>
          </a:prstGeom>
        </p:spPr>
      </p:pic>
      <p:sp>
        <p:nvSpPr>
          <p:cNvPr id="60" name="TextBox 59"/>
          <p:cNvSpPr txBox="1"/>
          <p:nvPr/>
        </p:nvSpPr>
        <p:spPr>
          <a:xfrm>
            <a:off x="3692355" y="549440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1" name="TextBox 60"/>
          <p:cNvSpPr txBox="1"/>
          <p:nvPr/>
        </p:nvSpPr>
        <p:spPr>
          <a:xfrm>
            <a:off x="4371975" y="5038725"/>
            <a:ext cx="2233824" cy="194310"/>
          </a:xfrm>
          <a:prstGeom prst="rect">
            <a:avLst/>
          </a:prstGeom>
          <a:noFill/>
        </p:spPr>
        <p:txBody>
          <a:bodyPr wrap="none" lIns="0" rIns="0" tIns="0" bIns="0">
            <a:spAutoFit/>
          </a:bodyPr>
          <a:lstStyle/>
          <a:p>
            <a:r>
              <a:rPr sz="1150" b="0">
                <a:solidFill>
                  <a:srgbClr val="2E2E2E"/>
                </a:solidFill>
                <a:latin typeface="Calibri"/>
              </a:rPr>
              <a:t>▪ Slower momentum in 'Ear Sprays' (</a:t>
            </a:r>
          </a:p>
        </p:txBody>
      </p:sp>
      <p:pic>
        <p:nvPicPr>
          <p:cNvPr id="62" name="Picture 61" descr="lock.png"/>
          <p:cNvPicPr>
            <a:picLocks noChangeAspect="1"/>
          </p:cNvPicPr>
          <p:nvPr/>
        </p:nvPicPr>
        <p:blipFill>
          <a:blip r:embed="rId4"/>
          <a:stretch>
            <a:fillRect/>
          </a:stretch>
        </p:blipFill>
        <p:spPr>
          <a:xfrm>
            <a:off x="6554953" y="5028501"/>
            <a:ext cx="134549" cy="195707"/>
          </a:xfrm>
          <a:prstGeom prst="rect">
            <a:avLst/>
          </a:prstGeom>
        </p:spPr>
      </p:pic>
      <p:sp>
        <p:nvSpPr>
          <p:cNvPr id="63" name="TextBox 62"/>
          <p:cNvSpPr txBox="1"/>
          <p:nvPr/>
        </p:nvSpPr>
        <p:spPr>
          <a:xfrm>
            <a:off x="6730063" y="503872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4" name="TextBox 63"/>
          <p:cNvSpPr txBox="1"/>
          <p:nvPr/>
        </p:nvSpPr>
        <p:spPr>
          <a:xfrm>
            <a:off x="4371975" y="5266563"/>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5" name="TextBox 64"/>
          <p:cNvSpPr txBox="1"/>
          <p:nvPr/>
        </p:nvSpPr>
        <p:spPr>
          <a:xfrm>
            <a:off x="4371975" y="544182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6" name="Picture 65" descr="lock.png"/>
          <p:cNvPicPr>
            <a:picLocks noChangeAspect="1"/>
          </p:cNvPicPr>
          <p:nvPr/>
        </p:nvPicPr>
        <p:blipFill>
          <a:blip r:embed="rId4"/>
          <a:stretch>
            <a:fillRect/>
          </a:stretch>
        </p:blipFill>
        <p:spPr>
          <a:xfrm>
            <a:off x="4883401" y="5431599"/>
            <a:ext cx="134549" cy="195707"/>
          </a:xfrm>
          <a:prstGeom prst="rect">
            <a:avLst/>
          </a:prstGeom>
        </p:spPr>
      </p:pic>
      <p:sp>
        <p:nvSpPr>
          <p:cNvPr id="67" name="TextBox 66"/>
          <p:cNvSpPr txBox="1"/>
          <p:nvPr/>
        </p:nvSpPr>
        <p:spPr>
          <a:xfrm>
            <a:off x="5058510" y="544182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8" name="TextBox 67"/>
          <p:cNvSpPr txBox="1"/>
          <p:nvPr/>
        </p:nvSpPr>
        <p:spPr>
          <a:xfrm>
            <a:off x="4371975" y="5669660"/>
            <a:ext cx="2863415" cy="194310"/>
          </a:xfrm>
          <a:prstGeom prst="rect">
            <a:avLst/>
          </a:prstGeom>
          <a:noFill/>
        </p:spPr>
        <p:txBody>
          <a:bodyPr wrap="none" lIns="0" rIns="0" tIns="0" bIns="0">
            <a:spAutoFit/>
          </a:bodyPr>
          <a:lstStyle/>
          <a:p>
            <a:r>
              <a:rPr sz="1150" b="0">
                <a:solidFill>
                  <a:srgbClr val="2E2E2E"/>
                </a:solidFill>
                <a:latin typeface="Calibri"/>
              </a:rPr>
              <a:t>▪ Value concentration in 'Irrigation Devices and</a:t>
            </a:r>
          </a:p>
        </p:txBody>
      </p:sp>
      <p:sp>
        <p:nvSpPr>
          <p:cNvPr id="69" name="TextBox 68"/>
          <p:cNvSpPr txBox="1"/>
          <p:nvPr/>
        </p:nvSpPr>
        <p:spPr>
          <a:xfrm>
            <a:off x="4371975" y="5844920"/>
            <a:ext cx="2730772" cy="194310"/>
          </a:xfrm>
          <a:prstGeom prst="rect">
            <a:avLst/>
          </a:prstGeom>
          <a:noFill/>
        </p:spPr>
        <p:txBody>
          <a:bodyPr wrap="none" lIns="0" rIns="0" tIns="0" bIns="0">
            <a:spAutoFit/>
          </a:bodyPr>
          <a:lstStyle/>
          <a:p>
            <a:r>
              <a:rPr sz="1150" b="0">
                <a:solidFill>
                  <a:srgbClr val="2E2E2E"/>
                </a:solidFill>
                <a:latin typeface="Calibri"/>
              </a:rPr>
              <a:t>Accessories' raises barriers for new entrants.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Capacity and product development are concentrating in 'Ear Drops' and South Asia &amp; Pacific.</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Portfolio expansion tracks the shift toward higher-growth product type categories.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Commercial focus is intensifying across North America and South Asia &amp; Pacific.</a:t>
            </a:r>
          </a:p>
        </p:txBody>
      </p:sp>
      <p:sp>
        <p:nvSpPr>
          <p:cNvPr id="14" name="Rounded Rectangle 13"/>
          <p:cNvSpPr/>
          <p:nvPr/>
        </p:nvSpPr>
        <p:spPr>
          <a:xfrm>
            <a:off x="6172200"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142875"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314825"/>
            <a:ext cx="11906250" cy="2295525"/>
          </a:xfrm>
          <a:prstGeom prst="roundRect">
            <a:avLst>
              <a:gd name="adj" fmla="val 33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product type share (2036)</a:t>
            </a:r>
          </a:p>
        </p:txBody>
      </p:sp>
      <p:graphicFrame>
        <p:nvGraphicFramePr>
          <p:cNvPr id="28" name="Chart 27"/>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9" name="TextBox 28"/>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4135025" y="5284520"/>
            <a:ext cx="382860" cy="556888"/>
          </a:xfrm>
          <a:prstGeom prst="rect">
            <a:avLst/>
          </a:prstGeom>
        </p:spPr>
      </p:pic>
      <p:sp>
        <p:nvSpPr>
          <p:cNvPr id="32" name="TextBox 31"/>
          <p:cNvSpPr txBox="1"/>
          <p:nvPr/>
        </p:nvSpPr>
        <p:spPr>
          <a:xfrm>
            <a:off x="6305550" y="1400175"/>
            <a:ext cx="684113" cy="186689"/>
          </a:xfrm>
          <a:prstGeom prst="rect">
            <a:avLst/>
          </a:prstGeom>
          <a:noFill/>
        </p:spPr>
        <p:txBody>
          <a:bodyPr wrap="none" lIns="0" rIns="0" tIns="0" bIns="0">
            <a:spAutoFit/>
          </a:bodyPr>
          <a:lstStyle/>
          <a:p>
            <a:r>
              <a:rPr sz="1100" b="0">
                <a:solidFill>
                  <a:srgbClr val="2E2E2E"/>
                </a:solidFill>
                <a:latin typeface="Calibri"/>
              </a:rPr>
              <a:t>▪ 2026 size</a:t>
            </a:r>
          </a:p>
        </p:txBody>
      </p:sp>
      <p:pic>
        <p:nvPicPr>
          <p:cNvPr id="33" name="Picture 32" descr="lock.png"/>
          <p:cNvPicPr>
            <a:picLocks noChangeAspect="1"/>
          </p:cNvPicPr>
          <p:nvPr/>
        </p:nvPicPr>
        <p:blipFill>
          <a:blip r:embed="rId5"/>
          <a:stretch>
            <a:fillRect/>
          </a:stretch>
        </p:blipFill>
        <p:spPr>
          <a:xfrm>
            <a:off x="6937714" y="1390396"/>
            <a:ext cx="128699" cy="187198"/>
          </a:xfrm>
          <a:prstGeom prst="rect">
            <a:avLst/>
          </a:prstGeom>
        </p:spPr>
      </p:pic>
      <p:sp>
        <p:nvSpPr>
          <p:cNvPr id="34" name="TextBox 33"/>
          <p:cNvSpPr txBox="1"/>
          <p:nvPr/>
        </p:nvSpPr>
        <p:spPr>
          <a:xfrm>
            <a:off x="7105210" y="1400175"/>
            <a:ext cx="878383" cy="186689"/>
          </a:xfrm>
          <a:prstGeom prst="rect">
            <a:avLst/>
          </a:prstGeom>
          <a:noFill/>
        </p:spPr>
        <p:txBody>
          <a:bodyPr wrap="none" lIns="0" rIns="0" tIns="0" bIns="0">
            <a:spAutoFit/>
          </a:bodyPr>
          <a:lstStyle/>
          <a:p>
            <a:r>
              <a:rPr sz="1100" b="0">
                <a:solidFill>
                  <a:srgbClr val="2E2E2E"/>
                </a:solidFill>
                <a:latin typeface="Calibri"/>
              </a:rPr>
              <a:t>US$ Mn; 2036</a:t>
            </a:r>
          </a:p>
        </p:txBody>
      </p:sp>
      <p:pic>
        <p:nvPicPr>
          <p:cNvPr id="35" name="Picture 34" descr="lock.png"/>
          <p:cNvPicPr>
            <a:picLocks noChangeAspect="1"/>
          </p:cNvPicPr>
          <p:nvPr/>
        </p:nvPicPr>
        <p:blipFill>
          <a:blip r:embed="rId5"/>
          <a:stretch>
            <a:fillRect/>
          </a:stretch>
        </p:blipFill>
        <p:spPr>
          <a:xfrm>
            <a:off x="7931645" y="1390396"/>
            <a:ext cx="128699" cy="187198"/>
          </a:xfrm>
          <a:prstGeom prst="rect">
            <a:avLst/>
          </a:prstGeom>
        </p:spPr>
      </p:pic>
      <p:sp>
        <p:nvSpPr>
          <p:cNvPr id="36" name="TextBox 35"/>
          <p:cNvSpPr txBox="1"/>
          <p:nvPr/>
        </p:nvSpPr>
        <p:spPr>
          <a:xfrm>
            <a:off x="8099141" y="1400175"/>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7" name="TextBox 36"/>
          <p:cNvSpPr txBox="1"/>
          <p:nvPr/>
        </p:nvSpPr>
        <p:spPr>
          <a:xfrm>
            <a:off x="6305550" y="1618107"/>
            <a:ext cx="991842" cy="186689"/>
          </a:xfrm>
          <a:prstGeom prst="rect">
            <a:avLst/>
          </a:prstGeom>
          <a:noFill/>
        </p:spPr>
        <p:txBody>
          <a:bodyPr wrap="none" lIns="0" rIns="0" tIns="0" bIns="0">
            <a:spAutoFit/>
          </a:bodyPr>
          <a:lstStyle/>
          <a:p>
            <a:r>
              <a:rPr sz="1100" b="0">
                <a:solidFill>
                  <a:srgbClr val="2E2E2E"/>
                </a:solidFill>
                <a:latin typeface="Calibri"/>
              </a:rPr>
              <a:t>▪ Forecast CAGR</a:t>
            </a:r>
          </a:p>
        </p:txBody>
      </p:sp>
      <p:pic>
        <p:nvPicPr>
          <p:cNvPr id="38" name="Picture 37" descr="lock.png"/>
          <p:cNvPicPr>
            <a:picLocks noChangeAspect="1"/>
          </p:cNvPicPr>
          <p:nvPr/>
        </p:nvPicPr>
        <p:blipFill>
          <a:blip r:embed="rId5"/>
          <a:stretch>
            <a:fillRect/>
          </a:stretch>
        </p:blipFill>
        <p:spPr>
          <a:xfrm>
            <a:off x="7245444" y="1608328"/>
            <a:ext cx="128699" cy="187198"/>
          </a:xfrm>
          <a:prstGeom prst="rect">
            <a:avLst/>
          </a:prstGeom>
        </p:spPr>
      </p:pic>
      <p:sp>
        <p:nvSpPr>
          <p:cNvPr id="39" name="TextBox 38"/>
          <p:cNvSpPr txBox="1"/>
          <p:nvPr/>
        </p:nvSpPr>
        <p:spPr>
          <a:xfrm>
            <a:off x="7412940" y="1618107"/>
            <a:ext cx="833090" cy="186689"/>
          </a:xfrm>
          <a:prstGeom prst="rect">
            <a:avLst/>
          </a:prstGeom>
          <a:noFill/>
        </p:spPr>
        <p:txBody>
          <a:bodyPr wrap="none" lIns="0" rIns="0" tIns="0" bIns="0">
            <a:spAutoFit/>
          </a:bodyPr>
          <a:lstStyle/>
          <a:p>
            <a:r>
              <a:rPr sz="1100" b="0">
                <a:solidFill>
                  <a:srgbClr val="2E2E2E"/>
                </a:solidFill>
                <a:latin typeface="Calibri"/>
              </a:rPr>
              <a:t>(2026–2036).</a:t>
            </a:r>
          </a:p>
        </p:txBody>
      </p:sp>
      <p:sp>
        <p:nvSpPr>
          <p:cNvPr id="40" name="TextBox 39"/>
          <p:cNvSpPr txBox="1"/>
          <p:nvPr/>
        </p:nvSpPr>
        <p:spPr>
          <a:xfrm>
            <a:off x="6305550" y="1836039"/>
            <a:ext cx="2968153" cy="186689"/>
          </a:xfrm>
          <a:prstGeom prst="rect">
            <a:avLst/>
          </a:prstGeom>
          <a:noFill/>
        </p:spPr>
        <p:txBody>
          <a:bodyPr wrap="none" lIns="0" rIns="0" tIns="0" bIns="0">
            <a:spAutoFit/>
          </a:bodyPr>
          <a:lstStyle/>
          <a:p>
            <a:r>
              <a:rPr sz="1100" b="0">
                <a:solidFill>
                  <a:srgbClr val="2E2E2E"/>
                </a:solidFill>
                <a:latin typeface="Calibri"/>
              </a:rPr>
              <a:t>▪ Lead category 'Irrigation Devices and Accessories'</a:t>
            </a:r>
          </a:p>
        </p:txBody>
      </p:sp>
      <p:pic>
        <p:nvPicPr>
          <p:cNvPr id="41" name="Picture 40" descr="lock.png"/>
          <p:cNvPicPr>
            <a:picLocks noChangeAspect="1"/>
          </p:cNvPicPr>
          <p:nvPr/>
        </p:nvPicPr>
        <p:blipFill>
          <a:blip r:embed="rId5"/>
          <a:stretch>
            <a:fillRect/>
          </a:stretch>
        </p:blipFill>
        <p:spPr>
          <a:xfrm>
            <a:off x="9221755" y="1826260"/>
            <a:ext cx="128699" cy="187198"/>
          </a:xfrm>
          <a:prstGeom prst="rect">
            <a:avLst/>
          </a:prstGeom>
        </p:spPr>
      </p:pic>
      <p:sp>
        <p:nvSpPr>
          <p:cNvPr id="42" name="TextBox 41"/>
          <p:cNvSpPr txBox="1"/>
          <p:nvPr/>
        </p:nvSpPr>
        <p:spPr>
          <a:xfrm>
            <a:off x="9389251" y="1836039"/>
            <a:ext cx="543049"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43" name="TextBox 42"/>
          <p:cNvSpPr txBox="1"/>
          <p:nvPr/>
        </p:nvSpPr>
        <p:spPr>
          <a:xfrm>
            <a:off x="6305550" y="2053970"/>
            <a:ext cx="1686297" cy="186689"/>
          </a:xfrm>
          <a:prstGeom prst="rect">
            <a:avLst/>
          </a:prstGeom>
          <a:noFill/>
        </p:spPr>
        <p:txBody>
          <a:bodyPr wrap="none" lIns="0" rIns="0" tIns="0" bIns="0">
            <a:spAutoFit/>
          </a:bodyPr>
          <a:lstStyle/>
          <a:p>
            <a:r>
              <a:rPr sz="1100" b="0">
                <a:solidFill>
                  <a:srgbClr val="2E2E2E"/>
                </a:solidFill>
                <a:latin typeface="Calibri"/>
              </a:rPr>
              <a:t>▪ Lead region North America</a:t>
            </a:r>
          </a:p>
        </p:txBody>
      </p:sp>
      <p:pic>
        <p:nvPicPr>
          <p:cNvPr id="44" name="Picture 43" descr="lock.png"/>
          <p:cNvPicPr>
            <a:picLocks noChangeAspect="1"/>
          </p:cNvPicPr>
          <p:nvPr/>
        </p:nvPicPr>
        <p:blipFill>
          <a:blip r:embed="rId5"/>
          <a:stretch>
            <a:fillRect/>
          </a:stretch>
        </p:blipFill>
        <p:spPr>
          <a:xfrm>
            <a:off x="7939898" y="2044192"/>
            <a:ext cx="128699" cy="187198"/>
          </a:xfrm>
          <a:prstGeom prst="rect">
            <a:avLst/>
          </a:prstGeom>
        </p:spPr>
      </p:pic>
      <p:sp>
        <p:nvSpPr>
          <p:cNvPr id="45" name="TextBox 44"/>
          <p:cNvSpPr txBox="1"/>
          <p:nvPr/>
        </p:nvSpPr>
        <p:spPr>
          <a:xfrm>
            <a:off x="8107394" y="205397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6305550" y="2271903"/>
            <a:ext cx="1554782" cy="186689"/>
          </a:xfrm>
          <a:prstGeom prst="rect">
            <a:avLst/>
          </a:prstGeom>
          <a:noFill/>
        </p:spPr>
        <p:txBody>
          <a:bodyPr wrap="none" lIns="0" rIns="0" tIns="0" bIns="0">
            <a:spAutoFit/>
          </a:bodyPr>
          <a:lstStyle/>
          <a:p>
            <a:r>
              <a:rPr sz="1100" b="0">
                <a:solidFill>
                  <a:srgbClr val="2E2E2E"/>
                </a:solidFill>
                <a:latin typeface="Calibri"/>
              </a:rPr>
              <a:t>▪ Incremental opportunity</a:t>
            </a:r>
          </a:p>
        </p:txBody>
      </p:sp>
      <p:pic>
        <p:nvPicPr>
          <p:cNvPr id="47" name="Picture 46" descr="lock.png"/>
          <p:cNvPicPr>
            <a:picLocks noChangeAspect="1"/>
          </p:cNvPicPr>
          <p:nvPr/>
        </p:nvPicPr>
        <p:blipFill>
          <a:blip r:embed="rId5"/>
          <a:stretch>
            <a:fillRect/>
          </a:stretch>
        </p:blipFill>
        <p:spPr>
          <a:xfrm>
            <a:off x="7808384" y="2262124"/>
            <a:ext cx="128699" cy="187198"/>
          </a:xfrm>
          <a:prstGeom prst="rect">
            <a:avLst/>
          </a:prstGeom>
        </p:spPr>
      </p:pic>
      <p:sp>
        <p:nvSpPr>
          <p:cNvPr id="48" name="TextBox 47"/>
          <p:cNvSpPr txBox="1"/>
          <p:nvPr/>
        </p:nvSpPr>
        <p:spPr>
          <a:xfrm>
            <a:off x="797588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9" name="TextBox 48"/>
          <p:cNvSpPr txBox="1"/>
          <p:nvPr/>
        </p:nvSpPr>
        <p:spPr>
          <a:xfrm>
            <a:off x="276225" y="3314700"/>
            <a:ext cx="4072001" cy="194310"/>
          </a:xfrm>
          <a:prstGeom prst="rect">
            <a:avLst/>
          </a:prstGeom>
          <a:noFill/>
        </p:spPr>
        <p:txBody>
          <a:bodyPr wrap="none" lIns="0" rIns="0" tIns="0" bIns="0">
            <a:spAutoFit/>
          </a:bodyPr>
          <a:lstStyle/>
          <a:p>
            <a:r>
              <a:rPr sz="1150" b="0">
                <a:solidFill>
                  <a:srgbClr val="2E2E2E"/>
                </a:solidFill>
                <a:latin typeface="Calibri"/>
              </a:rPr>
              <a:t>▪ Investment is flowing toward the fastest-growing tier 'Ear Drops' (</a:t>
            </a:r>
          </a:p>
        </p:txBody>
      </p:sp>
      <p:pic>
        <p:nvPicPr>
          <p:cNvPr id="50" name="Picture 49" descr="lock.png"/>
          <p:cNvPicPr>
            <a:picLocks noChangeAspect="1"/>
          </p:cNvPicPr>
          <p:nvPr/>
        </p:nvPicPr>
        <p:blipFill>
          <a:blip r:embed="rId5"/>
          <a:stretch>
            <a:fillRect/>
          </a:stretch>
        </p:blipFill>
        <p:spPr>
          <a:xfrm>
            <a:off x="4297380" y="3304476"/>
            <a:ext cx="134549" cy="195707"/>
          </a:xfrm>
          <a:prstGeom prst="rect">
            <a:avLst/>
          </a:prstGeom>
        </p:spPr>
      </p:pic>
      <p:sp>
        <p:nvSpPr>
          <p:cNvPr id="51" name="TextBox 50"/>
          <p:cNvSpPr txBox="1"/>
          <p:nvPr/>
        </p:nvSpPr>
        <p:spPr>
          <a:xfrm>
            <a:off x="4472489" y="331470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2" name="TextBox 51"/>
          <p:cNvSpPr txBox="1"/>
          <p:nvPr/>
        </p:nvSpPr>
        <p:spPr>
          <a:xfrm>
            <a:off x="276225" y="3542537"/>
            <a:ext cx="1409762" cy="194310"/>
          </a:xfrm>
          <a:prstGeom prst="rect">
            <a:avLst/>
          </a:prstGeom>
          <a:noFill/>
        </p:spPr>
        <p:txBody>
          <a:bodyPr wrap="none" lIns="0" rIns="0" tIns="0" bIns="0">
            <a:spAutoFit/>
          </a:bodyPr>
          <a:lstStyle/>
          <a:p>
            <a:r>
              <a:rPr sz="1150" b="0">
                <a:solidFill>
                  <a:srgbClr val="2E2E2E"/>
                </a:solidFill>
                <a:latin typeface="Calibri"/>
              </a:rPr>
              <a:t>▪ South Asia &amp; Pacific (</a:t>
            </a:r>
          </a:p>
        </p:txBody>
      </p:sp>
      <p:pic>
        <p:nvPicPr>
          <p:cNvPr id="53" name="Picture 52" descr="lock.png"/>
          <p:cNvPicPr>
            <a:picLocks noChangeAspect="1"/>
          </p:cNvPicPr>
          <p:nvPr/>
        </p:nvPicPr>
        <p:blipFill>
          <a:blip r:embed="rId5"/>
          <a:stretch>
            <a:fillRect/>
          </a:stretch>
        </p:blipFill>
        <p:spPr>
          <a:xfrm>
            <a:off x="1635140" y="3532314"/>
            <a:ext cx="134549" cy="195707"/>
          </a:xfrm>
          <a:prstGeom prst="rect">
            <a:avLst/>
          </a:prstGeom>
        </p:spPr>
      </p:pic>
      <p:sp>
        <p:nvSpPr>
          <p:cNvPr id="54" name="TextBox 53"/>
          <p:cNvSpPr txBox="1"/>
          <p:nvPr/>
        </p:nvSpPr>
        <p:spPr>
          <a:xfrm>
            <a:off x="1810250" y="3542537"/>
            <a:ext cx="2283494" cy="194310"/>
          </a:xfrm>
          <a:prstGeom prst="rect">
            <a:avLst/>
          </a:prstGeom>
          <a:noFill/>
        </p:spPr>
        <p:txBody>
          <a:bodyPr wrap="none" lIns="0" rIns="0" tIns="0" bIns="0">
            <a:spAutoFit/>
          </a:bodyPr>
          <a:lstStyle/>
          <a:p>
            <a:r>
              <a:rPr sz="1150" b="0">
                <a:solidFill>
                  <a:srgbClr val="2E2E2E"/>
                </a:solidFill>
                <a:latin typeface="Calibri"/>
              </a:rPr>
              <a:t>) is a priority region for new capacity.</a:t>
            </a:r>
          </a:p>
        </p:txBody>
      </p:sp>
      <p:sp>
        <p:nvSpPr>
          <p:cNvPr id="55" name="TextBox 54"/>
          <p:cNvSpPr txBox="1"/>
          <p:nvPr/>
        </p:nvSpPr>
        <p:spPr>
          <a:xfrm>
            <a:off x="276225" y="3770375"/>
            <a:ext cx="4019835" cy="194310"/>
          </a:xfrm>
          <a:prstGeom prst="rect">
            <a:avLst/>
          </a:prstGeom>
          <a:noFill/>
        </p:spPr>
        <p:txBody>
          <a:bodyPr wrap="none" lIns="0" rIns="0" tIns="0" bIns="0">
            <a:spAutoFit/>
          </a:bodyPr>
          <a:lstStyle/>
          <a:p>
            <a:r>
              <a:rPr sz="1150" b="0">
                <a:solidFill>
                  <a:srgbClr val="2E2E2E"/>
                </a:solidFill>
                <a:latin typeface="Calibri"/>
              </a:rPr>
              <a:t>▪ Scale players anchor around 'Irrigation Devices and Accessories' (</a:t>
            </a:r>
          </a:p>
        </p:txBody>
      </p:sp>
      <p:pic>
        <p:nvPicPr>
          <p:cNvPr id="56" name="Picture 55" descr="lock.png"/>
          <p:cNvPicPr>
            <a:picLocks noChangeAspect="1"/>
          </p:cNvPicPr>
          <p:nvPr/>
        </p:nvPicPr>
        <p:blipFill>
          <a:blip r:embed="rId5"/>
          <a:stretch>
            <a:fillRect/>
          </a:stretch>
        </p:blipFill>
        <p:spPr>
          <a:xfrm>
            <a:off x="4245214" y="3760152"/>
            <a:ext cx="134549" cy="195707"/>
          </a:xfrm>
          <a:prstGeom prst="rect">
            <a:avLst/>
          </a:prstGeom>
        </p:spPr>
      </p:pic>
      <p:sp>
        <p:nvSpPr>
          <p:cNvPr id="57" name="TextBox 56"/>
          <p:cNvSpPr txBox="1"/>
          <p:nvPr/>
        </p:nvSpPr>
        <p:spPr>
          <a:xfrm>
            <a:off x="4420323" y="3770375"/>
            <a:ext cx="484683"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58" name="TextBox 57"/>
          <p:cNvSpPr txBox="1"/>
          <p:nvPr/>
        </p:nvSpPr>
        <p:spPr>
          <a:xfrm>
            <a:off x="6305550" y="3314700"/>
            <a:ext cx="4486760" cy="194310"/>
          </a:xfrm>
          <a:prstGeom prst="rect">
            <a:avLst/>
          </a:prstGeom>
          <a:noFill/>
        </p:spPr>
        <p:txBody>
          <a:bodyPr wrap="none" lIns="0" rIns="0" tIns="0" bIns="0">
            <a:spAutoFit/>
          </a:bodyPr>
          <a:lstStyle/>
          <a:p>
            <a:r>
              <a:rPr sz="1150" b="0">
                <a:solidFill>
                  <a:srgbClr val="2E2E2E"/>
                </a:solidFill>
                <a:latin typeface="Calibri"/>
              </a:rPr>
              <a:t>▪ R&amp;D aligns with the migration to 'Ear Drops' and adjacent premium tiers.</a:t>
            </a:r>
          </a:p>
        </p:txBody>
      </p:sp>
      <p:sp>
        <p:nvSpPr>
          <p:cNvPr id="59" name="TextBox 58"/>
          <p:cNvSpPr txBox="1"/>
          <p:nvPr/>
        </p:nvSpPr>
        <p:spPr>
          <a:xfrm>
            <a:off x="6305550" y="3542537"/>
            <a:ext cx="4603179" cy="194310"/>
          </a:xfrm>
          <a:prstGeom prst="rect">
            <a:avLst/>
          </a:prstGeom>
          <a:noFill/>
        </p:spPr>
        <p:txBody>
          <a:bodyPr wrap="none" lIns="0" rIns="0" tIns="0" bIns="0">
            <a:spAutoFit/>
          </a:bodyPr>
          <a:lstStyle/>
          <a:p>
            <a:r>
              <a:rPr sz="1150" b="0">
                <a:solidFill>
                  <a:srgbClr val="2E2E2E"/>
                </a:solidFill>
                <a:latin typeface="Calibri"/>
              </a:rPr>
              <a:t>▪ Development spend targets product type categories gaining share to 2036.</a:t>
            </a:r>
          </a:p>
        </p:txBody>
      </p:sp>
      <p:sp>
        <p:nvSpPr>
          <p:cNvPr id="60" name="TextBox 59"/>
          <p:cNvSpPr txBox="1"/>
          <p:nvPr/>
        </p:nvSpPr>
        <p:spPr>
          <a:xfrm>
            <a:off x="6305550" y="3770375"/>
            <a:ext cx="1663352" cy="194310"/>
          </a:xfrm>
          <a:prstGeom prst="rect">
            <a:avLst/>
          </a:prstGeom>
          <a:noFill/>
        </p:spPr>
        <p:txBody>
          <a:bodyPr wrap="none" lIns="0" rIns="0" tIns="0" bIns="0">
            <a:spAutoFit/>
          </a:bodyPr>
          <a:lstStyle/>
          <a:p>
            <a:r>
              <a:rPr sz="1150" b="0">
                <a:solidFill>
                  <a:srgbClr val="2E2E2E"/>
                </a:solidFill>
                <a:latin typeface="Calibri"/>
              </a:rPr>
              <a:t>▪ Innovation underpins the</a:t>
            </a:r>
          </a:p>
        </p:txBody>
      </p:sp>
      <p:pic>
        <p:nvPicPr>
          <p:cNvPr id="61" name="Picture 60" descr="lock.png"/>
          <p:cNvPicPr>
            <a:picLocks noChangeAspect="1"/>
          </p:cNvPicPr>
          <p:nvPr/>
        </p:nvPicPr>
        <p:blipFill>
          <a:blip r:embed="rId5"/>
          <a:stretch>
            <a:fillRect/>
          </a:stretch>
        </p:blipFill>
        <p:spPr>
          <a:xfrm>
            <a:off x="7918056" y="3760152"/>
            <a:ext cx="134549" cy="195707"/>
          </a:xfrm>
          <a:prstGeom prst="rect">
            <a:avLst/>
          </a:prstGeom>
        </p:spPr>
      </p:pic>
      <p:sp>
        <p:nvSpPr>
          <p:cNvPr id="62" name="TextBox 61"/>
          <p:cNvSpPr txBox="1"/>
          <p:nvPr/>
        </p:nvSpPr>
        <p:spPr>
          <a:xfrm>
            <a:off x="8093165" y="3770375"/>
            <a:ext cx="963036" cy="194310"/>
          </a:xfrm>
          <a:prstGeom prst="rect">
            <a:avLst/>
          </a:prstGeom>
          <a:noFill/>
        </p:spPr>
        <p:txBody>
          <a:bodyPr wrap="none" lIns="0" rIns="0" tIns="0" bIns="0">
            <a:spAutoFit/>
          </a:bodyPr>
          <a:lstStyle/>
          <a:p>
            <a:r>
              <a:rPr sz="1150" b="0">
                <a:solidFill>
                  <a:srgbClr val="2E2E2E"/>
                </a:solidFill>
                <a:latin typeface="Calibri"/>
              </a:rPr>
              <a:t>forecast CAGR.</a:t>
            </a:r>
          </a:p>
        </p:txBody>
      </p:sp>
      <p:sp>
        <p:nvSpPr>
          <p:cNvPr id="63" name="lockshield_28"/>
          <p:cNvSpPr/>
          <p:nvPr/>
        </p:nvSpPr>
        <p:spPr>
          <a:xfrm>
            <a:off x="238125" y="4600575"/>
            <a:ext cx="11715750" cy="19526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6172200" y="981075"/>
            <a:ext cx="5876925"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'Ear Drops' tier and Hospitals and Clinics within end user.</a:t>
            </a:r>
          </a:p>
        </p:txBody>
      </p:sp>
      <p:sp>
        <p:nvSpPr>
          <p:cNvPr id="18" name="Rounded Rectangle 17"/>
          <p:cNvSpPr/>
          <p:nvPr/>
        </p:nvSpPr>
        <p:spPr>
          <a:xfrm>
            <a:off x="142875" y="2857500"/>
            <a:ext cx="5876925" cy="1562100"/>
          </a:xfrm>
          <a:prstGeom prst="roundRect">
            <a:avLst>
              <a:gd name="adj" fmla="val 48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4322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0" name="Rectangle 19"/>
          <p:cNvSpPr/>
          <p:nvPr/>
        </p:nvSpPr>
        <p:spPr>
          <a:xfrm>
            <a:off x="276225" y="31813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857500"/>
            <a:ext cx="5876925" cy="1562100"/>
          </a:xfrm>
          <a:prstGeom prst="roundRect">
            <a:avLst>
              <a:gd name="adj" fmla="val 48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4322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Region</a:t>
            </a:r>
          </a:p>
        </p:txBody>
      </p:sp>
      <p:sp>
        <p:nvSpPr>
          <p:cNvPr id="24" name="Rectangle 23"/>
          <p:cNvSpPr/>
          <p:nvPr/>
        </p:nvSpPr>
        <p:spPr>
          <a:xfrm>
            <a:off x="6305550" y="31813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B2E4A"/>
                </a:solidFill>
                <a:latin typeface="Calibri"/>
              </a:rPr>
              <a:t>Fact.MR Analysis &amp; Recommendation</a:t>
            </a:r>
          </a:p>
        </p:txBody>
      </p:sp>
      <p:sp>
        <p:nvSpPr>
          <p:cNvPr id="28" name="Rectangle 27"/>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5360207" cy="194310"/>
          </a:xfrm>
          <a:prstGeom prst="rect">
            <a:avLst/>
          </a:prstGeom>
          <a:noFill/>
        </p:spPr>
        <p:txBody>
          <a:bodyPr wrap="none" lIns="0" rIns="0" tIns="0" bIns="0">
            <a:spAutoFit/>
          </a:bodyPr>
          <a:lstStyle/>
          <a:p>
            <a:r>
              <a:rPr sz="1150" b="0">
                <a:solidFill>
                  <a:srgbClr val="2E2E2E"/>
                </a:solidFill>
                <a:latin typeface="Calibri"/>
              </a:rPr>
              <a:t>▪ Balance scale in 'Irrigation Devices and Accessories' with targeted growth in 'Ear Drops',</a:t>
            </a:r>
          </a:p>
        </p:txBody>
      </p:sp>
      <p:sp>
        <p:nvSpPr>
          <p:cNvPr id="32" name="TextBox 31"/>
          <p:cNvSpPr txBox="1"/>
          <p:nvPr/>
        </p:nvSpPr>
        <p:spPr>
          <a:xfrm>
            <a:off x="276225" y="1575435"/>
            <a:ext cx="825276" cy="194310"/>
          </a:xfrm>
          <a:prstGeom prst="rect">
            <a:avLst/>
          </a:prstGeom>
          <a:noFill/>
        </p:spPr>
        <p:txBody>
          <a:bodyPr wrap="none" lIns="0" rIns="0" tIns="0" bIns="0">
            <a:spAutoFit/>
          </a:bodyPr>
          <a:lstStyle/>
          <a:p>
            <a:r>
              <a:rPr sz="1150" b="0">
                <a:solidFill>
                  <a:srgbClr val="2E2E2E"/>
                </a:solidFill>
                <a:latin typeface="Calibri"/>
              </a:rPr>
              <a:t>pursuing the</a:t>
            </a:r>
          </a:p>
        </p:txBody>
      </p:sp>
      <p:pic>
        <p:nvPicPr>
          <p:cNvPr id="33" name="Picture 32" descr="lock.png"/>
          <p:cNvPicPr>
            <a:picLocks noChangeAspect="1"/>
          </p:cNvPicPr>
          <p:nvPr/>
        </p:nvPicPr>
        <p:blipFill>
          <a:blip r:embed="rId4"/>
          <a:stretch>
            <a:fillRect/>
          </a:stretch>
        </p:blipFill>
        <p:spPr>
          <a:xfrm>
            <a:off x="1050655" y="1565211"/>
            <a:ext cx="134549" cy="195707"/>
          </a:xfrm>
          <a:prstGeom prst="rect">
            <a:avLst/>
          </a:prstGeom>
        </p:spPr>
      </p:pic>
      <p:sp>
        <p:nvSpPr>
          <p:cNvPr id="34" name="TextBox 33"/>
          <p:cNvSpPr txBox="1"/>
          <p:nvPr/>
        </p:nvSpPr>
        <p:spPr>
          <a:xfrm>
            <a:off x="1225764"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5" name="TextBox 34"/>
          <p:cNvSpPr txBox="1"/>
          <p:nvPr/>
        </p:nvSpPr>
        <p:spPr>
          <a:xfrm>
            <a:off x="276225" y="3276600"/>
            <a:ext cx="1447379" cy="194310"/>
          </a:xfrm>
          <a:prstGeom prst="rect">
            <a:avLst/>
          </a:prstGeom>
          <a:noFill/>
        </p:spPr>
        <p:txBody>
          <a:bodyPr wrap="none" lIns="0" rIns="0" tIns="0" bIns="0">
            <a:spAutoFit/>
          </a:bodyPr>
          <a:lstStyle/>
          <a:p>
            <a:r>
              <a:rPr sz="1150" b="0">
                <a:solidFill>
                  <a:srgbClr val="2E2E2E"/>
                </a:solidFill>
                <a:latin typeface="Calibri"/>
              </a:rPr>
              <a:t>▪ Prioritise 'Ear Drops' (</a:t>
            </a:r>
          </a:p>
        </p:txBody>
      </p:sp>
      <p:pic>
        <p:nvPicPr>
          <p:cNvPr id="36" name="Picture 35" descr="lock.png"/>
          <p:cNvPicPr>
            <a:picLocks noChangeAspect="1"/>
          </p:cNvPicPr>
          <p:nvPr/>
        </p:nvPicPr>
        <p:blipFill>
          <a:blip r:embed="rId4"/>
          <a:stretch>
            <a:fillRect/>
          </a:stretch>
        </p:blipFill>
        <p:spPr>
          <a:xfrm>
            <a:off x="1672758" y="3266376"/>
            <a:ext cx="134549" cy="195707"/>
          </a:xfrm>
          <a:prstGeom prst="rect">
            <a:avLst/>
          </a:prstGeom>
        </p:spPr>
      </p:pic>
      <p:sp>
        <p:nvSpPr>
          <p:cNvPr id="37" name="TextBox 36"/>
          <p:cNvSpPr txBox="1"/>
          <p:nvPr/>
        </p:nvSpPr>
        <p:spPr>
          <a:xfrm>
            <a:off x="1847868" y="3276600"/>
            <a:ext cx="2771278" cy="194310"/>
          </a:xfrm>
          <a:prstGeom prst="rect">
            <a:avLst/>
          </a:prstGeom>
          <a:noFill/>
        </p:spPr>
        <p:txBody>
          <a:bodyPr wrap="none" lIns="0" rIns="0" tIns="0" bIns="0">
            <a:spAutoFit/>
          </a:bodyPr>
          <a:lstStyle/>
          <a:p>
            <a:r>
              <a:rPr sz="1150" b="0">
                <a:solidFill>
                  <a:srgbClr val="2E2E2E"/>
                </a:solidFill>
                <a:latin typeface="Calibri"/>
              </a:rPr>
              <a:t>); 'Irrigation Devices and Accessories' anchors</a:t>
            </a:r>
          </a:p>
        </p:txBody>
      </p:sp>
      <p:pic>
        <p:nvPicPr>
          <p:cNvPr id="38" name="Picture 37" descr="lock.png"/>
          <p:cNvPicPr>
            <a:picLocks noChangeAspect="1"/>
          </p:cNvPicPr>
          <p:nvPr/>
        </p:nvPicPr>
        <p:blipFill>
          <a:blip r:embed="rId4"/>
          <a:stretch>
            <a:fillRect/>
          </a:stretch>
        </p:blipFill>
        <p:spPr>
          <a:xfrm>
            <a:off x="4568300" y="3266376"/>
            <a:ext cx="134549" cy="195707"/>
          </a:xfrm>
          <a:prstGeom prst="rect">
            <a:avLst/>
          </a:prstGeom>
        </p:spPr>
      </p:pic>
      <p:sp>
        <p:nvSpPr>
          <p:cNvPr id="39" name="TextBox 38"/>
          <p:cNvSpPr txBox="1"/>
          <p:nvPr/>
        </p:nvSpPr>
        <p:spPr>
          <a:xfrm>
            <a:off x="4743410" y="3276600"/>
            <a:ext cx="586519" cy="194310"/>
          </a:xfrm>
          <a:prstGeom prst="rect">
            <a:avLst/>
          </a:prstGeom>
          <a:noFill/>
        </p:spPr>
        <p:txBody>
          <a:bodyPr wrap="none" lIns="0" rIns="0" tIns="0" bIns="0">
            <a:spAutoFit/>
          </a:bodyPr>
          <a:lstStyle/>
          <a:p>
            <a:r>
              <a:rPr sz="1150" b="0">
                <a:solidFill>
                  <a:srgbClr val="2E2E2E"/>
                </a:solidFill>
                <a:latin typeface="Calibri"/>
              </a:rPr>
              <a:t>of value.</a:t>
            </a:r>
          </a:p>
        </p:txBody>
      </p:sp>
      <p:sp>
        <p:nvSpPr>
          <p:cNvPr id="40" name="TextBox 39"/>
          <p:cNvSpPr txBox="1"/>
          <p:nvPr/>
        </p:nvSpPr>
        <p:spPr>
          <a:xfrm>
            <a:off x="6305550" y="3276600"/>
            <a:ext cx="1720688" cy="194310"/>
          </a:xfrm>
          <a:prstGeom prst="rect">
            <a:avLst/>
          </a:prstGeom>
          <a:noFill/>
        </p:spPr>
        <p:txBody>
          <a:bodyPr wrap="none" lIns="0" rIns="0" tIns="0" bIns="0">
            <a:spAutoFit/>
          </a:bodyPr>
          <a:lstStyle/>
          <a:p>
            <a:r>
              <a:rPr sz="1150" b="0">
                <a:solidFill>
                  <a:srgbClr val="2E2E2E"/>
                </a:solidFill>
                <a:latin typeface="Calibri"/>
              </a:rPr>
              <a:t>▪ Lead with North America (</a:t>
            </a:r>
          </a:p>
        </p:txBody>
      </p:sp>
      <p:pic>
        <p:nvPicPr>
          <p:cNvPr id="41" name="Picture 40" descr="lock.png"/>
          <p:cNvPicPr>
            <a:picLocks noChangeAspect="1"/>
          </p:cNvPicPr>
          <p:nvPr/>
        </p:nvPicPr>
        <p:blipFill>
          <a:blip r:embed="rId4"/>
          <a:stretch>
            <a:fillRect/>
          </a:stretch>
        </p:blipFill>
        <p:spPr>
          <a:xfrm>
            <a:off x="7975392" y="3266376"/>
            <a:ext cx="134549" cy="195707"/>
          </a:xfrm>
          <a:prstGeom prst="rect">
            <a:avLst/>
          </a:prstGeom>
        </p:spPr>
      </p:pic>
      <p:sp>
        <p:nvSpPr>
          <p:cNvPr id="42" name="TextBox 41"/>
          <p:cNvSpPr txBox="1"/>
          <p:nvPr/>
        </p:nvSpPr>
        <p:spPr>
          <a:xfrm>
            <a:off x="8150501" y="3276600"/>
            <a:ext cx="2502854" cy="194310"/>
          </a:xfrm>
          <a:prstGeom prst="rect">
            <a:avLst/>
          </a:prstGeom>
          <a:noFill/>
        </p:spPr>
        <p:txBody>
          <a:bodyPr wrap="none" lIns="0" rIns="0" tIns="0" bIns="0">
            <a:spAutoFit/>
          </a:bodyPr>
          <a:lstStyle/>
          <a:p>
            <a:r>
              <a:rPr sz="1150" b="0">
                <a:solidFill>
                  <a:srgbClr val="2E2E2E"/>
                </a:solidFill>
                <a:latin typeface="Calibri"/>
              </a:rPr>
              <a:t>); capture upside in South Asia &amp; Pacific (</a:t>
            </a:r>
          </a:p>
        </p:txBody>
      </p:sp>
      <p:pic>
        <p:nvPicPr>
          <p:cNvPr id="43" name="Picture 42" descr="lock.png"/>
          <p:cNvPicPr>
            <a:picLocks noChangeAspect="1"/>
          </p:cNvPicPr>
          <p:nvPr/>
        </p:nvPicPr>
        <p:blipFill>
          <a:blip r:embed="rId4"/>
          <a:stretch>
            <a:fillRect/>
          </a:stretch>
        </p:blipFill>
        <p:spPr>
          <a:xfrm>
            <a:off x="10602510" y="3266376"/>
            <a:ext cx="134549" cy="195707"/>
          </a:xfrm>
          <a:prstGeom prst="rect">
            <a:avLst/>
          </a:prstGeom>
        </p:spPr>
      </p:pic>
      <p:sp>
        <p:nvSpPr>
          <p:cNvPr id="44" name="TextBox 43"/>
          <p:cNvSpPr txBox="1"/>
          <p:nvPr/>
        </p:nvSpPr>
        <p:spPr>
          <a:xfrm>
            <a:off x="10777620" y="327660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5" name="TextBox 44"/>
          <p:cNvSpPr txBox="1"/>
          <p:nvPr/>
        </p:nvSpPr>
        <p:spPr>
          <a:xfrm>
            <a:off x="276225" y="4972050"/>
            <a:ext cx="2069518" cy="194310"/>
          </a:xfrm>
          <a:prstGeom prst="rect">
            <a:avLst/>
          </a:prstGeom>
          <a:noFill/>
        </p:spPr>
        <p:txBody>
          <a:bodyPr wrap="none" lIns="0" rIns="0" tIns="0" bIns="0">
            <a:spAutoFit/>
          </a:bodyPr>
          <a:lstStyle/>
          <a:p>
            <a:r>
              <a:rPr sz="1150" b="0">
                <a:solidFill>
                  <a:srgbClr val="2E2E2E"/>
                </a:solidFill>
                <a:latin typeface="Calibri"/>
              </a:rPr>
              <a:t>▪ Ear Wax Removal Products adds</a:t>
            </a:r>
          </a:p>
        </p:txBody>
      </p:sp>
      <p:pic>
        <p:nvPicPr>
          <p:cNvPr id="46" name="Picture 45" descr="lock.png"/>
          <p:cNvPicPr>
            <a:picLocks noChangeAspect="1"/>
          </p:cNvPicPr>
          <p:nvPr/>
        </p:nvPicPr>
        <p:blipFill>
          <a:blip r:embed="rId4"/>
          <a:stretch>
            <a:fillRect/>
          </a:stretch>
        </p:blipFill>
        <p:spPr>
          <a:xfrm>
            <a:off x="2294897" y="4961826"/>
            <a:ext cx="134549" cy="195707"/>
          </a:xfrm>
          <a:prstGeom prst="rect">
            <a:avLst/>
          </a:prstGeom>
        </p:spPr>
      </p:pic>
      <p:sp>
        <p:nvSpPr>
          <p:cNvPr id="47" name="TextBox 46"/>
          <p:cNvSpPr txBox="1"/>
          <p:nvPr/>
        </p:nvSpPr>
        <p:spPr>
          <a:xfrm>
            <a:off x="2470006" y="4972050"/>
            <a:ext cx="1815107"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48" name="Picture 47" descr="lock.png"/>
          <p:cNvPicPr>
            <a:picLocks noChangeAspect="1"/>
          </p:cNvPicPr>
          <p:nvPr/>
        </p:nvPicPr>
        <p:blipFill>
          <a:blip r:embed="rId4"/>
          <a:stretch>
            <a:fillRect/>
          </a:stretch>
        </p:blipFill>
        <p:spPr>
          <a:xfrm>
            <a:off x="4234268" y="4961826"/>
            <a:ext cx="134549" cy="195707"/>
          </a:xfrm>
          <a:prstGeom prst="rect">
            <a:avLst/>
          </a:prstGeom>
        </p:spPr>
      </p:pic>
      <p:sp>
        <p:nvSpPr>
          <p:cNvPr id="49" name="TextBox 48"/>
          <p:cNvSpPr txBox="1"/>
          <p:nvPr/>
        </p:nvSpPr>
        <p:spPr>
          <a:xfrm>
            <a:off x="4409377" y="4972050"/>
            <a:ext cx="822709" cy="194310"/>
          </a:xfrm>
          <a:prstGeom prst="rect">
            <a:avLst/>
          </a:prstGeom>
          <a:noFill/>
        </p:spPr>
        <p:txBody>
          <a:bodyPr wrap="none" lIns="0" rIns="0" tIns="0" bIns="0">
            <a:spAutoFit/>
          </a:bodyPr>
          <a:lstStyle/>
          <a:p>
            <a:r>
              <a:rPr sz="1150" b="0">
                <a:solidFill>
                  <a:srgbClr val="2E2E2E"/>
                </a:solidFill>
                <a:latin typeface="Calibri"/>
              </a:rPr>
              <a:t>× expansion.</a:t>
            </a:r>
          </a:p>
        </p:txBody>
      </p:sp>
      <p:sp>
        <p:nvSpPr>
          <p:cNvPr id="50" name="TextBox 49"/>
          <p:cNvSpPr txBox="1"/>
          <p:nvPr/>
        </p:nvSpPr>
        <p:spPr>
          <a:xfrm>
            <a:off x="276225" y="5199888"/>
            <a:ext cx="6265639" cy="194310"/>
          </a:xfrm>
          <a:prstGeom prst="rect">
            <a:avLst/>
          </a:prstGeom>
          <a:noFill/>
        </p:spPr>
        <p:txBody>
          <a:bodyPr wrap="none" lIns="0" rIns="0" tIns="0" bIns="0">
            <a:spAutoFit/>
          </a:bodyPr>
          <a:lstStyle/>
          <a:p>
            <a:r>
              <a:rPr sz="1150" b="0">
                <a:solidFill>
                  <a:srgbClr val="2E2E2E"/>
                </a:solidFill>
                <a:latin typeface="Calibri"/>
              </a:rPr>
              <a:t>▪ Concentrate resources on the leading segment/region while seeding the fastest-growing pockets early.</a:t>
            </a:r>
          </a:p>
        </p:txBody>
      </p:sp>
      <p:sp>
        <p:nvSpPr>
          <p:cNvPr id="51" name="TextBox 50"/>
          <p:cNvSpPr txBox="1"/>
          <p:nvPr/>
        </p:nvSpPr>
        <p:spPr>
          <a:xfrm>
            <a:off x="276225" y="5427725"/>
            <a:ext cx="5372509" cy="194310"/>
          </a:xfrm>
          <a:prstGeom prst="rect">
            <a:avLst/>
          </a:prstGeom>
          <a:noFill/>
        </p:spPr>
        <p:txBody>
          <a:bodyPr wrap="none" lIns="0" rIns="0" tIns="0" bIns="0">
            <a:spAutoFit/>
          </a:bodyPr>
          <a:lstStyle/>
          <a:p>
            <a:r>
              <a:rPr sz="1150" b="0">
                <a:solidFill>
                  <a:srgbClr val="2E2E2E"/>
                </a:solidFill>
                <a:latin typeface="Calibri"/>
              </a:rPr>
              <a:t>▪ Defend share in 'Irrigation Devices and Accessories' as the value anchor of the portfolio.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1" name="Rounded Rectangle 10"/>
          <p:cNvSpPr/>
          <p:nvPr/>
        </p:nvSpPr>
        <p:spPr>
          <a:xfrm>
            <a:off x="4238625"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2" name="Rounded Rectangle 11"/>
          <p:cNvSpPr/>
          <p:nvPr/>
        </p:nvSpPr>
        <p:spPr>
          <a:xfrm>
            <a:off x="8210550"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3" name="Rounded Rectangle 12"/>
          <p:cNvSpPr/>
          <p:nvPr/>
        </p:nvSpPr>
        <p:spPr>
          <a:xfrm>
            <a:off x="142875"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Ear Wax Removal Products Market Value (US$ Mn) Scenario Forecast, 2025 &amp; 2036</a:t>
            </a:r>
          </a:p>
        </p:txBody>
      </p:sp>
      <p:cxnSp>
        <p:nvCxnSpPr>
          <p:cNvPr id="15" name="Connector 14"/>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535218"/>
            <a:ext cx="635826" cy="770082"/>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3936" y="3104026"/>
            <a:ext cx="635826" cy="1201274"/>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5725" y="2917541"/>
            <a:ext cx="635826" cy="1387759"/>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07515" y="2705100"/>
            <a:ext cx="635826" cy="160020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56468" y="2970676"/>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865901"/>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2" name="Connector 21"/>
          <p:cNvCxnSpPr/>
          <p:nvPr/>
        </p:nvCxnSpPr>
        <p:spPr>
          <a:xfrm>
            <a:off x="1456468" y="2713501"/>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608726"/>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4" name="Connector 23"/>
          <p:cNvCxnSpPr/>
          <p:nvPr/>
        </p:nvCxnSpPr>
        <p:spPr>
          <a:xfrm>
            <a:off x="1456468" y="2456326"/>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351551"/>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6" name="TextBox 25"/>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7" name="TextBox 26"/>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8" name="Oval 27"/>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32" name="Oval 31"/>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7450"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Ear Wax Removal Products Market Attractiveness Analysis By Region, 2026–2036</a:t>
            </a:r>
          </a:p>
        </p:txBody>
      </p:sp>
      <p:graphicFrame>
        <p:nvGraphicFramePr>
          <p:cNvPr id="36" name="Chart 35"/>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r:id="rId3"/>
          </a:graphicData>
        </a:graphic>
      </p:graphicFrame>
      <p:sp>
        <p:nvSpPr>
          <p:cNvPr id="37" name="Rounded Rectangle 36"/>
          <p:cNvSpPr/>
          <p:nvPr/>
        </p:nvSpPr>
        <p:spPr>
          <a:xfrm>
            <a:off x="142875" y="4953000"/>
            <a:ext cx="11906250"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2768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2035969" y="1214437"/>
            <a:ext cx="157162" cy="228600"/>
          </a:xfrm>
          <a:prstGeom prst="rect">
            <a:avLst/>
          </a:prstGeom>
        </p:spPr>
      </p:pic>
      <p:pic>
        <p:nvPicPr>
          <p:cNvPr id="43" name="Picture 42" descr="lock.png"/>
          <p:cNvPicPr>
            <a:picLocks noChangeAspect="1"/>
          </p:cNvPicPr>
          <p:nvPr/>
        </p:nvPicPr>
        <p:blipFill>
          <a:blip r:embed="rId5"/>
          <a:stretch>
            <a:fillRect/>
          </a:stretch>
        </p:blipFill>
        <p:spPr>
          <a:xfrm>
            <a:off x="6069806" y="1214437"/>
            <a:ext cx="157162" cy="228600"/>
          </a:xfrm>
          <a:prstGeom prst="rect">
            <a:avLst/>
          </a:prstGeom>
        </p:spPr>
      </p:pic>
      <p:pic>
        <p:nvPicPr>
          <p:cNvPr id="44" name="Picture 43" descr="lock.png"/>
          <p:cNvPicPr>
            <a:picLocks noChangeAspect="1"/>
          </p:cNvPicPr>
          <p:nvPr/>
        </p:nvPicPr>
        <p:blipFill>
          <a:blip r:embed="rId5"/>
          <a:stretch>
            <a:fillRect/>
          </a:stretch>
        </p:blipFill>
        <p:spPr>
          <a:xfrm>
            <a:off x="10041731" y="1214437"/>
            <a:ext cx="157162" cy="228600"/>
          </a:xfrm>
          <a:prstGeom prst="rect">
            <a:avLst/>
          </a:prstGeom>
        </p:spPr>
      </p:pic>
      <p:sp>
        <p:nvSpPr>
          <p:cNvPr id="45" name="TextBox 44"/>
          <p:cNvSpPr txBox="1"/>
          <p:nvPr/>
        </p:nvSpPr>
        <p:spPr>
          <a:xfrm>
            <a:off x="1637332" y="1028326"/>
            <a:ext cx="1030634" cy="166573"/>
          </a:xfrm>
          <a:prstGeom prst="rect">
            <a:avLst/>
          </a:prstGeom>
          <a:noFill/>
        </p:spPr>
        <p:txBody>
          <a:bodyPr wrap="none" lIns="0" rIns="0" tIns="0" bIns="0">
            <a:spAutoFit/>
          </a:bodyPr>
          <a:lstStyle/>
          <a:p>
            <a:r>
              <a:rPr sz="968" b="1">
                <a:solidFill>
                  <a:srgbClr val="6C7A89"/>
                </a:solidFill>
                <a:latin typeface="Calibri"/>
              </a:rPr>
              <a:t>OPTIMISTIC (2036)</a:t>
            </a:r>
          </a:p>
        </p:txBody>
      </p:sp>
      <p:sp>
        <p:nvSpPr>
          <p:cNvPr id="46" name="TextBox 45"/>
          <p:cNvSpPr txBox="1"/>
          <p:nvPr/>
        </p:nvSpPr>
        <p:spPr>
          <a:xfrm>
            <a:off x="1906321"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7" name="Picture 46" descr="lock.png"/>
          <p:cNvPicPr>
            <a:picLocks noChangeAspect="1"/>
          </p:cNvPicPr>
          <p:nvPr/>
        </p:nvPicPr>
        <p:blipFill>
          <a:blip r:embed="rId5"/>
          <a:stretch>
            <a:fillRect/>
          </a:stretch>
        </p:blipFill>
        <p:spPr>
          <a:xfrm>
            <a:off x="2208575" y="1473019"/>
            <a:ext cx="113255" cy="164734"/>
          </a:xfrm>
          <a:prstGeom prst="rect">
            <a:avLst/>
          </a:prstGeom>
        </p:spPr>
      </p:pic>
      <p:sp>
        <p:nvSpPr>
          <p:cNvPr id="48" name="TextBox 47"/>
          <p:cNvSpPr txBox="1"/>
          <p:nvPr/>
        </p:nvSpPr>
        <p:spPr>
          <a:xfrm>
            <a:off x="5807156" y="1028326"/>
            <a:ext cx="758662" cy="166573"/>
          </a:xfrm>
          <a:prstGeom prst="rect">
            <a:avLst/>
          </a:prstGeom>
          <a:noFill/>
        </p:spPr>
        <p:txBody>
          <a:bodyPr wrap="none" lIns="0" rIns="0" tIns="0" bIns="0">
            <a:spAutoFit/>
          </a:bodyPr>
          <a:lstStyle/>
          <a:p>
            <a:r>
              <a:rPr sz="968" b="1">
                <a:solidFill>
                  <a:srgbClr val="6C7A89"/>
                </a:solidFill>
                <a:latin typeface="Calibri"/>
              </a:rPr>
              <a:t>LIKELY (2036)</a:t>
            </a:r>
          </a:p>
        </p:txBody>
      </p:sp>
      <p:sp>
        <p:nvSpPr>
          <p:cNvPr id="49" name="TextBox 48"/>
          <p:cNvSpPr txBox="1"/>
          <p:nvPr/>
        </p:nvSpPr>
        <p:spPr>
          <a:xfrm>
            <a:off x="5940158"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0" name="Picture 49" descr="lock.png"/>
          <p:cNvPicPr>
            <a:picLocks noChangeAspect="1"/>
          </p:cNvPicPr>
          <p:nvPr/>
        </p:nvPicPr>
        <p:blipFill>
          <a:blip r:embed="rId5"/>
          <a:stretch>
            <a:fillRect/>
          </a:stretch>
        </p:blipFill>
        <p:spPr>
          <a:xfrm>
            <a:off x="6242412" y="1473019"/>
            <a:ext cx="113255" cy="164734"/>
          </a:xfrm>
          <a:prstGeom prst="rect">
            <a:avLst/>
          </a:prstGeom>
        </p:spPr>
      </p:pic>
      <p:sp>
        <p:nvSpPr>
          <p:cNvPr id="51" name="TextBox 50"/>
          <p:cNvSpPr txBox="1"/>
          <p:nvPr/>
        </p:nvSpPr>
        <p:spPr>
          <a:xfrm>
            <a:off x="9548094" y="1028326"/>
            <a:ext cx="1220636" cy="166573"/>
          </a:xfrm>
          <a:prstGeom prst="rect">
            <a:avLst/>
          </a:prstGeom>
          <a:noFill/>
        </p:spPr>
        <p:txBody>
          <a:bodyPr wrap="none" lIns="0" rIns="0" tIns="0" bIns="0">
            <a:spAutoFit/>
          </a:bodyPr>
          <a:lstStyle/>
          <a:p>
            <a:r>
              <a:rPr sz="968" b="1">
                <a:solidFill>
                  <a:srgbClr val="6C7A89"/>
                </a:solidFill>
                <a:latin typeface="Calibri"/>
              </a:rPr>
              <a:t>CONSERVATIVE (2036)</a:t>
            </a:r>
          </a:p>
        </p:txBody>
      </p:sp>
      <p:sp>
        <p:nvSpPr>
          <p:cNvPr id="52" name="TextBox 51"/>
          <p:cNvSpPr txBox="1"/>
          <p:nvPr/>
        </p:nvSpPr>
        <p:spPr>
          <a:xfrm>
            <a:off x="9912083"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3" name="Picture 52" descr="lock.png"/>
          <p:cNvPicPr>
            <a:picLocks noChangeAspect="1"/>
          </p:cNvPicPr>
          <p:nvPr/>
        </p:nvPicPr>
        <p:blipFill>
          <a:blip r:embed="rId5"/>
          <a:stretch>
            <a:fillRect/>
          </a:stretch>
        </p:blipFill>
        <p:spPr>
          <a:xfrm>
            <a:off x="10214337" y="1473019"/>
            <a:ext cx="113255" cy="164734"/>
          </a:xfrm>
          <a:prstGeom prst="rect">
            <a:avLst/>
          </a:prstGeom>
        </p:spPr>
      </p:pic>
      <p:sp>
        <p:nvSpPr>
          <p:cNvPr id="54" name="TextBox 53"/>
          <p:cNvSpPr txBox="1"/>
          <p:nvPr/>
        </p:nvSpPr>
        <p:spPr>
          <a:xfrm>
            <a:off x="2032418" y="2900267"/>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892052"/>
            <a:ext cx="108107" cy="157246"/>
          </a:xfrm>
          <a:prstGeom prst="rect">
            <a:avLst/>
          </a:prstGeom>
        </p:spPr>
      </p:pic>
      <p:sp>
        <p:nvSpPr>
          <p:cNvPr id="56" name="TextBox 55"/>
          <p:cNvSpPr txBox="1"/>
          <p:nvPr/>
        </p:nvSpPr>
        <p:spPr>
          <a:xfrm>
            <a:off x="2032418" y="2643092"/>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634877"/>
            <a:ext cx="108107" cy="157246"/>
          </a:xfrm>
          <a:prstGeom prst="rect">
            <a:avLst/>
          </a:prstGeom>
        </p:spPr>
      </p:pic>
      <p:sp>
        <p:nvSpPr>
          <p:cNvPr id="58" name="TextBox 57"/>
          <p:cNvSpPr txBox="1"/>
          <p:nvPr/>
        </p:nvSpPr>
        <p:spPr>
          <a:xfrm>
            <a:off x="2032418" y="2385917"/>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9" name="Picture 58" descr="lock.png"/>
          <p:cNvPicPr>
            <a:picLocks noChangeAspect="1"/>
          </p:cNvPicPr>
          <p:nvPr/>
        </p:nvPicPr>
        <p:blipFill>
          <a:blip r:embed="rId5"/>
          <a:stretch>
            <a:fillRect/>
          </a:stretch>
        </p:blipFill>
        <p:spPr>
          <a:xfrm>
            <a:off x="2358973" y="2377702"/>
            <a:ext cx="108107" cy="157246"/>
          </a:xfrm>
          <a:prstGeom prst="rect">
            <a:avLst/>
          </a:prstGeom>
        </p:spPr>
      </p:pic>
      <p:sp>
        <p:nvSpPr>
          <p:cNvPr id="60" name="TextBox 59"/>
          <p:cNvSpPr txBox="1"/>
          <p:nvPr/>
        </p:nvSpPr>
        <p:spPr>
          <a:xfrm>
            <a:off x="276225" y="5372100"/>
            <a:ext cx="808161" cy="194310"/>
          </a:xfrm>
          <a:prstGeom prst="rect">
            <a:avLst/>
          </a:prstGeom>
          <a:noFill/>
        </p:spPr>
        <p:txBody>
          <a:bodyPr wrap="none" lIns="0" rIns="0" tIns="0" bIns="0">
            <a:spAutoFit/>
          </a:bodyPr>
          <a:lstStyle/>
          <a:p>
            <a:r>
              <a:rPr sz="1150" b="0">
                <a:solidFill>
                  <a:srgbClr val="2E2E2E"/>
                </a:solidFill>
                <a:latin typeface="Calibri"/>
              </a:rPr>
              <a:t>▪ Optimistic:</a:t>
            </a:r>
          </a:p>
        </p:txBody>
      </p:sp>
      <p:pic>
        <p:nvPicPr>
          <p:cNvPr id="61" name="Picture 60" descr="lock.png"/>
          <p:cNvPicPr>
            <a:picLocks noChangeAspect="1"/>
          </p:cNvPicPr>
          <p:nvPr/>
        </p:nvPicPr>
        <p:blipFill>
          <a:blip r:embed="rId5"/>
          <a:stretch>
            <a:fillRect/>
          </a:stretch>
        </p:blipFill>
        <p:spPr>
          <a:xfrm>
            <a:off x="1033540" y="5361876"/>
            <a:ext cx="134549" cy="195707"/>
          </a:xfrm>
          <a:prstGeom prst="rect">
            <a:avLst/>
          </a:prstGeom>
        </p:spPr>
      </p:pic>
      <p:sp>
        <p:nvSpPr>
          <p:cNvPr id="62" name="TextBox 61"/>
          <p:cNvSpPr txBox="1"/>
          <p:nvPr/>
        </p:nvSpPr>
        <p:spPr>
          <a:xfrm>
            <a:off x="1208649" y="537210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3" name="Picture 62" descr="lock.png"/>
          <p:cNvPicPr>
            <a:picLocks noChangeAspect="1"/>
          </p:cNvPicPr>
          <p:nvPr/>
        </p:nvPicPr>
        <p:blipFill>
          <a:blip r:embed="rId5"/>
          <a:stretch>
            <a:fillRect/>
          </a:stretch>
        </p:blipFill>
        <p:spPr>
          <a:xfrm>
            <a:off x="2361612" y="5361876"/>
            <a:ext cx="134549" cy="195707"/>
          </a:xfrm>
          <a:prstGeom prst="rect">
            <a:avLst/>
          </a:prstGeom>
        </p:spPr>
      </p:pic>
      <p:sp>
        <p:nvSpPr>
          <p:cNvPr id="64" name="TextBox 63"/>
          <p:cNvSpPr txBox="1"/>
          <p:nvPr/>
        </p:nvSpPr>
        <p:spPr>
          <a:xfrm>
            <a:off x="2536721" y="537210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5" name="TextBox 64"/>
          <p:cNvSpPr txBox="1"/>
          <p:nvPr/>
        </p:nvSpPr>
        <p:spPr>
          <a:xfrm>
            <a:off x="276225" y="5599938"/>
            <a:ext cx="1448271" cy="194310"/>
          </a:xfrm>
          <a:prstGeom prst="rect">
            <a:avLst/>
          </a:prstGeom>
          <a:noFill/>
        </p:spPr>
        <p:txBody>
          <a:bodyPr wrap="none" lIns="0" rIns="0" tIns="0" bIns="0">
            <a:spAutoFit/>
          </a:bodyPr>
          <a:lstStyle/>
          <a:p>
            <a:r>
              <a:rPr sz="1150" b="0">
                <a:solidFill>
                  <a:srgbClr val="2E2E2E"/>
                </a:solidFill>
                <a:latin typeface="Calibri"/>
              </a:rPr>
              <a:t>▪ Likely (base forecast):</a:t>
            </a:r>
          </a:p>
        </p:txBody>
      </p:sp>
      <p:pic>
        <p:nvPicPr>
          <p:cNvPr id="66" name="Picture 65" descr="lock.png"/>
          <p:cNvPicPr>
            <a:picLocks noChangeAspect="1"/>
          </p:cNvPicPr>
          <p:nvPr/>
        </p:nvPicPr>
        <p:blipFill>
          <a:blip r:embed="rId5"/>
          <a:stretch>
            <a:fillRect/>
          </a:stretch>
        </p:blipFill>
        <p:spPr>
          <a:xfrm>
            <a:off x="1673650" y="5589714"/>
            <a:ext cx="134549" cy="195707"/>
          </a:xfrm>
          <a:prstGeom prst="rect">
            <a:avLst/>
          </a:prstGeom>
        </p:spPr>
      </p:pic>
      <p:sp>
        <p:nvSpPr>
          <p:cNvPr id="67" name="TextBox 66"/>
          <p:cNvSpPr txBox="1"/>
          <p:nvPr/>
        </p:nvSpPr>
        <p:spPr>
          <a:xfrm>
            <a:off x="1848759" y="5599938"/>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68" name="Picture 67" descr="lock.png"/>
          <p:cNvPicPr>
            <a:picLocks noChangeAspect="1"/>
          </p:cNvPicPr>
          <p:nvPr/>
        </p:nvPicPr>
        <p:blipFill>
          <a:blip r:embed="rId5"/>
          <a:stretch>
            <a:fillRect/>
          </a:stretch>
        </p:blipFill>
        <p:spPr>
          <a:xfrm>
            <a:off x="2495966" y="5589714"/>
            <a:ext cx="134549" cy="195707"/>
          </a:xfrm>
          <a:prstGeom prst="rect">
            <a:avLst/>
          </a:prstGeom>
        </p:spPr>
      </p:pic>
      <p:sp>
        <p:nvSpPr>
          <p:cNvPr id="69" name="TextBox 68"/>
          <p:cNvSpPr txBox="1"/>
          <p:nvPr/>
        </p:nvSpPr>
        <p:spPr>
          <a:xfrm>
            <a:off x="2671076" y="559993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0" name="TextBox 69"/>
          <p:cNvSpPr txBox="1"/>
          <p:nvPr/>
        </p:nvSpPr>
        <p:spPr>
          <a:xfrm>
            <a:off x="276225" y="5827775"/>
            <a:ext cx="969615" cy="194310"/>
          </a:xfrm>
          <a:prstGeom prst="rect">
            <a:avLst/>
          </a:prstGeom>
          <a:noFill/>
        </p:spPr>
        <p:txBody>
          <a:bodyPr wrap="none" lIns="0" rIns="0" tIns="0" bIns="0">
            <a:spAutoFit/>
          </a:bodyPr>
          <a:lstStyle/>
          <a:p>
            <a:r>
              <a:rPr sz="1150" b="0">
                <a:solidFill>
                  <a:srgbClr val="2E2E2E"/>
                </a:solidFill>
                <a:latin typeface="Calibri"/>
              </a:rPr>
              <a:t>▪ Conservative:</a:t>
            </a:r>
          </a:p>
        </p:txBody>
      </p:sp>
      <p:pic>
        <p:nvPicPr>
          <p:cNvPr id="71" name="Picture 70" descr="lock.png"/>
          <p:cNvPicPr>
            <a:picLocks noChangeAspect="1"/>
          </p:cNvPicPr>
          <p:nvPr/>
        </p:nvPicPr>
        <p:blipFill>
          <a:blip r:embed="rId5"/>
          <a:stretch>
            <a:fillRect/>
          </a:stretch>
        </p:blipFill>
        <p:spPr>
          <a:xfrm>
            <a:off x="1194994" y="5817552"/>
            <a:ext cx="134549" cy="195707"/>
          </a:xfrm>
          <a:prstGeom prst="rect">
            <a:avLst/>
          </a:prstGeom>
        </p:spPr>
      </p:pic>
      <p:sp>
        <p:nvSpPr>
          <p:cNvPr id="72" name="TextBox 71"/>
          <p:cNvSpPr txBox="1"/>
          <p:nvPr/>
        </p:nvSpPr>
        <p:spPr>
          <a:xfrm>
            <a:off x="1370103" y="5827775"/>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73" name="Picture 72" descr="lock.png"/>
          <p:cNvPicPr>
            <a:picLocks noChangeAspect="1"/>
          </p:cNvPicPr>
          <p:nvPr/>
        </p:nvPicPr>
        <p:blipFill>
          <a:blip r:embed="rId5"/>
          <a:stretch>
            <a:fillRect/>
          </a:stretch>
        </p:blipFill>
        <p:spPr>
          <a:xfrm>
            <a:off x="2017310" y="5817552"/>
            <a:ext cx="134549" cy="195707"/>
          </a:xfrm>
          <a:prstGeom prst="rect">
            <a:avLst/>
          </a:prstGeom>
        </p:spPr>
      </p:pic>
      <p:sp>
        <p:nvSpPr>
          <p:cNvPr id="74" name="TextBox 73"/>
          <p:cNvSpPr txBox="1"/>
          <p:nvPr/>
        </p:nvSpPr>
        <p:spPr>
          <a:xfrm>
            <a:off x="2192420" y="58277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5" name="TextBox 74"/>
          <p:cNvSpPr txBox="1"/>
          <p:nvPr/>
        </p:nvSpPr>
        <p:spPr>
          <a:xfrm>
            <a:off x="276225" y="6055613"/>
            <a:ext cx="3660130"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a:t>
            </a:r>
          </a:p>
        </p:txBody>
      </p:sp>
      <p:pic>
        <p:nvPicPr>
          <p:cNvPr id="76" name="Picture 75" descr="lock.png"/>
          <p:cNvPicPr>
            <a:picLocks noChangeAspect="1"/>
          </p:cNvPicPr>
          <p:nvPr/>
        </p:nvPicPr>
        <p:blipFill>
          <a:blip r:embed="rId5"/>
          <a:stretch>
            <a:fillRect/>
          </a:stretch>
        </p:blipFill>
        <p:spPr>
          <a:xfrm>
            <a:off x="3885509" y="6045390"/>
            <a:ext cx="134549" cy="195707"/>
          </a:xfrm>
          <a:prstGeom prst="rect">
            <a:avLst/>
          </a:prstGeom>
        </p:spPr>
      </p:pic>
      <p:sp>
        <p:nvSpPr>
          <p:cNvPr id="77" name="TextBox 76"/>
          <p:cNvSpPr txBox="1"/>
          <p:nvPr/>
        </p:nvSpPr>
        <p:spPr>
          <a:xfrm>
            <a:off x="4060618" y="6055613"/>
            <a:ext cx="1900683" cy="194310"/>
          </a:xfrm>
          <a:prstGeom prst="rect">
            <a:avLst/>
          </a:prstGeom>
          <a:noFill/>
        </p:spPr>
        <p:txBody>
          <a:bodyPr wrap="none" lIns="0" rIns="0" tIns="0" bIns="0">
            <a:spAutoFit/>
          </a:bodyPr>
          <a:lstStyle/>
          <a:p>
            <a:r>
              <a:rPr sz="1150" b="0">
                <a:solidFill>
                  <a:srgbClr val="2E2E2E"/>
                </a:solidFill>
                <a:latin typeface="Calibri"/>
              </a:rPr>
              <a:t>across the 2026–2036 horizon.</a:t>
            </a:r>
          </a:p>
        </p:txBody>
      </p:sp>
      <p:sp>
        <p:nvSpPr>
          <p:cNvPr id="78" name="lockshield_36"/>
          <p:cNvSpPr/>
          <p:nvPr/>
        </p:nvSpPr>
        <p:spPr>
          <a:xfrm>
            <a:off x="6267450" y="2266950"/>
            <a:ext cx="5686425" cy="2495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Global Market Analysis By Region</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Ear Wax Removal Products – Regional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Region</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Ear Wax Removal Products – Regional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6 regions, highlighting where value concentrates,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Region view breaks the Global market down geographically. Each region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North America</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Europe</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East Asia</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South Asia &amp; Pacific</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Latin America</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Middle East &amp; Africa</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Region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Region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Region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696_3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1_091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4_6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569_7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1_032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6_1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274_3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461_3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5_3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253_2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470_7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6_4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168_8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299_7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5_9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147_7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249_7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5_4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914650" cy="186689"/>
          </a:xfrm>
          <a:prstGeom prst="rect">
            <a:avLst/>
          </a:prstGeom>
          <a:noFill/>
        </p:spPr>
        <p:txBody>
          <a:bodyPr wrap="none" lIns="0" rIns="0" tIns="0" bIns="0">
            <a:spAutoFit/>
          </a:bodyPr>
          <a:lstStyle/>
          <a:p>
            <a:r>
              <a:rPr sz="1100" b="0">
                <a:solidFill>
                  <a:srgbClr val="2E2E2E"/>
                </a:solidFill>
                <a:latin typeface="Calibri"/>
              </a:rPr>
              <a:t>North America ear wax removal products market is</a:t>
            </a:r>
          </a:p>
        </p:txBody>
      </p:sp>
      <p:sp>
        <p:nvSpPr>
          <p:cNvPr id="102" name="TextBox 101"/>
          <p:cNvSpPr txBox="1"/>
          <p:nvPr/>
        </p:nvSpPr>
        <p:spPr>
          <a:xfrm>
            <a:off x="485775" y="4397077"/>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103" name="Picture 102" descr="lock.png"/>
          <p:cNvPicPr>
            <a:picLocks noChangeAspect="1"/>
          </p:cNvPicPr>
          <p:nvPr/>
        </p:nvPicPr>
        <p:blipFill>
          <a:blip r:embed="rId22"/>
          <a:stretch>
            <a:fillRect/>
          </a:stretch>
        </p:blipFill>
        <p:spPr>
          <a:xfrm>
            <a:off x="1678376" y="4387298"/>
            <a:ext cx="128699" cy="187198"/>
          </a:xfrm>
          <a:prstGeom prst="rect">
            <a:avLst/>
          </a:prstGeom>
        </p:spPr>
      </p:pic>
      <p:sp>
        <p:nvSpPr>
          <p:cNvPr id="104" name="TextBox 103"/>
          <p:cNvSpPr txBox="1"/>
          <p:nvPr/>
        </p:nvSpPr>
        <p:spPr>
          <a:xfrm>
            <a:off x="1845872" y="4397077"/>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105" name="TextBox 104"/>
          <p:cNvSpPr txBox="1"/>
          <p:nvPr/>
        </p:nvSpPr>
        <p:spPr>
          <a:xfrm>
            <a:off x="485775" y="4564717"/>
            <a:ext cx="2914650" cy="186689"/>
          </a:xfrm>
          <a:prstGeom prst="rect">
            <a:avLst/>
          </a:prstGeom>
          <a:noFill/>
        </p:spPr>
        <p:txBody>
          <a:bodyPr wrap="none" lIns="0" rIns="0" tIns="0" bIns="0">
            <a:spAutoFit/>
          </a:bodyPr>
          <a:lstStyle/>
          <a:p>
            <a:r>
              <a:rPr sz="1100" b="0">
                <a:solidFill>
                  <a:srgbClr val="2E2E2E"/>
                </a:solidFill>
                <a:latin typeface="Calibri"/>
              </a:rPr>
              <a:t>Europe in 2036. Among ear wax removal products</a:t>
            </a:r>
          </a:p>
        </p:txBody>
      </p:sp>
      <p:sp>
        <p:nvSpPr>
          <p:cNvPr id="106" name="TextBox 105"/>
          <p:cNvSpPr txBox="1"/>
          <p:nvPr/>
        </p:nvSpPr>
        <p:spPr>
          <a:xfrm>
            <a:off x="485775" y="4732357"/>
            <a:ext cx="2619722" cy="186689"/>
          </a:xfrm>
          <a:prstGeom prst="rect">
            <a:avLst/>
          </a:prstGeom>
          <a:noFill/>
        </p:spPr>
        <p:txBody>
          <a:bodyPr wrap="none" lIns="0" rIns="0" tIns="0" bIns="0">
            <a:spAutoFit/>
          </a:bodyPr>
          <a:lstStyle/>
          <a:p>
            <a:r>
              <a:rPr sz="1100" b="0">
                <a:solidFill>
                  <a:srgbClr val="2E2E2E"/>
                </a:solidFill>
                <a:latin typeface="Calibri"/>
              </a:rPr>
              <a:t>by region, South Asia &amp; Pacific is expected to</a:t>
            </a:r>
          </a:p>
        </p:txBody>
      </p:sp>
      <p:sp>
        <p:nvSpPr>
          <p:cNvPr id="107" name="TextBox 106"/>
          <p:cNvSpPr txBox="1"/>
          <p:nvPr/>
        </p:nvSpPr>
        <p:spPr>
          <a:xfrm>
            <a:off x="485775" y="489999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108" name="Picture 107" descr="lock.png"/>
          <p:cNvPicPr>
            <a:picLocks noChangeAspect="1"/>
          </p:cNvPicPr>
          <p:nvPr/>
        </p:nvPicPr>
        <p:blipFill>
          <a:blip r:embed="rId22"/>
          <a:stretch>
            <a:fillRect/>
          </a:stretch>
        </p:blipFill>
        <p:spPr>
          <a:xfrm>
            <a:off x="2108919" y="4890217"/>
            <a:ext cx="128699" cy="187198"/>
          </a:xfrm>
          <a:prstGeom prst="rect">
            <a:avLst/>
          </a:prstGeom>
        </p:spPr>
      </p:pic>
      <p:sp>
        <p:nvSpPr>
          <p:cNvPr id="109" name="TextBox 108"/>
          <p:cNvSpPr txBox="1"/>
          <p:nvPr/>
        </p:nvSpPr>
        <p:spPr>
          <a:xfrm>
            <a:off x="2276415" y="489999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110" name="TextBox 109"/>
          <p:cNvSpPr txBox="1"/>
          <p:nvPr/>
        </p:nvSpPr>
        <p:spPr>
          <a:xfrm>
            <a:off x="485775" y="5067637"/>
            <a:ext cx="482475" cy="186689"/>
          </a:xfrm>
          <a:prstGeom prst="rect">
            <a:avLst/>
          </a:prstGeom>
          <a:noFill/>
        </p:spPr>
        <p:txBody>
          <a:bodyPr wrap="none" lIns="0" rIns="0" tIns="0" bIns="0">
            <a:spAutoFit/>
          </a:bodyPr>
          <a:lstStyle/>
          <a:p>
            <a:r>
              <a:rPr sz="1100" b="0">
                <a:solidFill>
                  <a:srgbClr val="2E2E2E"/>
                </a:solidFill>
                <a:latin typeface="Calibri"/>
              </a:rPr>
              <a:t>period.</a:t>
            </a:r>
          </a:p>
        </p:txBody>
      </p:sp>
      <p:sp>
        <p:nvSpPr>
          <p:cNvPr id="111" name="TextBox 110"/>
          <p:cNvSpPr txBox="1"/>
          <p:nvPr/>
        </p:nvSpPr>
        <p:spPr>
          <a:xfrm>
            <a:off x="485775" y="5285569"/>
            <a:ext cx="2914650" cy="186689"/>
          </a:xfrm>
          <a:prstGeom prst="rect">
            <a:avLst/>
          </a:prstGeom>
          <a:noFill/>
        </p:spPr>
        <p:txBody>
          <a:bodyPr wrap="none" lIns="0" rIns="0" tIns="0" bIns="0">
            <a:spAutoFit/>
          </a:bodyPr>
          <a:lstStyle/>
          <a:p>
            <a:r>
              <a:rPr sz="1100" b="0">
                <a:solidFill>
                  <a:srgbClr val="2E2E2E"/>
                </a:solidFill>
                <a:latin typeface="Calibri"/>
              </a:rPr>
              <a:t>In terms of value share by region, North America is</a:t>
            </a:r>
          </a:p>
        </p:txBody>
      </p:sp>
      <p:sp>
        <p:nvSpPr>
          <p:cNvPr id="112" name="TextBox 111"/>
          <p:cNvSpPr txBox="1"/>
          <p:nvPr/>
        </p:nvSpPr>
        <p:spPr>
          <a:xfrm>
            <a:off x="485775" y="5453209"/>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113" name="Picture 112" descr="lock.png"/>
          <p:cNvPicPr>
            <a:picLocks noChangeAspect="1"/>
          </p:cNvPicPr>
          <p:nvPr/>
        </p:nvPicPr>
        <p:blipFill>
          <a:blip r:embed="rId22"/>
          <a:stretch>
            <a:fillRect/>
          </a:stretch>
        </p:blipFill>
        <p:spPr>
          <a:xfrm>
            <a:off x="2822716" y="5443430"/>
            <a:ext cx="128699" cy="187198"/>
          </a:xfrm>
          <a:prstGeom prst="rect">
            <a:avLst/>
          </a:prstGeom>
        </p:spPr>
      </p:pic>
      <p:sp>
        <p:nvSpPr>
          <p:cNvPr id="114" name="TextBox 113"/>
          <p:cNvSpPr txBox="1"/>
          <p:nvPr/>
        </p:nvSpPr>
        <p:spPr>
          <a:xfrm>
            <a:off x="2990212" y="5453209"/>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5" name="TextBox 114"/>
          <p:cNvSpPr txBox="1"/>
          <p:nvPr/>
        </p:nvSpPr>
        <p:spPr>
          <a:xfrm>
            <a:off x="485775" y="5620849"/>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16" name="Picture 115" descr="lock.png"/>
          <p:cNvPicPr>
            <a:picLocks noChangeAspect="1"/>
          </p:cNvPicPr>
          <p:nvPr/>
        </p:nvPicPr>
        <p:blipFill>
          <a:blip r:embed="rId22"/>
          <a:stretch>
            <a:fillRect/>
          </a:stretch>
        </p:blipFill>
        <p:spPr>
          <a:xfrm>
            <a:off x="1576057" y="5611070"/>
            <a:ext cx="128699" cy="187198"/>
          </a:xfrm>
          <a:prstGeom prst="rect">
            <a:avLst/>
          </a:prstGeom>
        </p:spPr>
      </p:pic>
      <p:sp>
        <p:nvSpPr>
          <p:cNvPr id="117" name="TextBox 116"/>
          <p:cNvSpPr txBox="1"/>
          <p:nvPr/>
        </p:nvSpPr>
        <p:spPr>
          <a:xfrm>
            <a:off x="1743553" y="562084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8" name="TextBox 117"/>
          <p:cNvSpPr txBox="1"/>
          <p:nvPr/>
        </p:nvSpPr>
        <p:spPr>
          <a:xfrm>
            <a:off x="3838575" y="4229437"/>
            <a:ext cx="1063376" cy="186689"/>
          </a:xfrm>
          <a:prstGeom prst="rect">
            <a:avLst/>
          </a:prstGeom>
          <a:noFill/>
        </p:spPr>
        <p:txBody>
          <a:bodyPr wrap="none" lIns="0" rIns="0" tIns="0" bIns="0">
            <a:spAutoFit/>
          </a:bodyPr>
          <a:lstStyle/>
          <a:p>
            <a:r>
              <a:rPr sz="1100" b="0">
                <a:solidFill>
                  <a:srgbClr val="2E2E2E"/>
                </a:solidFill>
                <a:latin typeface="Calibri"/>
              </a:rPr>
              <a:t>● North America:</a:t>
            </a:r>
          </a:p>
        </p:txBody>
      </p:sp>
      <p:pic>
        <p:nvPicPr>
          <p:cNvPr id="119" name="Picture 118" descr="lock.png"/>
          <p:cNvPicPr>
            <a:picLocks noChangeAspect="1"/>
          </p:cNvPicPr>
          <p:nvPr/>
        </p:nvPicPr>
        <p:blipFill>
          <a:blip r:embed="rId22"/>
          <a:stretch>
            <a:fillRect/>
          </a:stretch>
        </p:blipFill>
        <p:spPr>
          <a:xfrm>
            <a:off x="4850003" y="4219658"/>
            <a:ext cx="128699" cy="187198"/>
          </a:xfrm>
          <a:prstGeom prst="rect">
            <a:avLst/>
          </a:prstGeom>
        </p:spPr>
      </p:pic>
      <p:sp>
        <p:nvSpPr>
          <p:cNvPr id="120" name="TextBox 119"/>
          <p:cNvSpPr txBox="1"/>
          <p:nvPr/>
        </p:nvSpPr>
        <p:spPr>
          <a:xfrm>
            <a:off x="501749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1" name="Picture 120" descr="lock.png"/>
          <p:cNvPicPr>
            <a:picLocks noChangeAspect="1"/>
          </p:cNvPicPr>
          <p:nvPr/>
        </p:nvPicPr>
        <p:blipFill>
          <a:blip r:embed="rId22"/>
          <a:stretch>
            <a:fillRect/>
          </a:stretch>
        </p:blipFill>
        <p:spPr>
          <a:xfrm>
            <a:off x="5876949" y="4219658"/>
            <a:ext cx="128699" cy="187198"/>
          </a:xfrm>
          <a:prstGeom prst="rect">
            <a:avLst/>
          </a:prstGeom>
        </p:spPr>
      </p:pic>
      <p:sp>
        <p:nvSpPr>
          <p:cNvPr id="122" name="TextBox 121"/>
          <p:cNvSpPr txBox="1"/>
          <p:nvPr/>
        </p:nvSpPr>
        <p:spPr>
          <a:xfrm>
            <a:off x="604444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123" name="TextBox 122"/>
          <p:cNvSpPr txBox="1"/>
          <p:nvPr/>
        </p:nvSpPr>
        <p:spPr>
          <a:xfrm>
            <a:off x="3838575" y="4447369"/>
            <a:ext cx="636637" cy="186689"/>
          </a:xfrm>
          <a:prstGeom prst="rect">
            <a:avLst/>
          </a:prstGeom>
          <a:noFill/>
        </p:spPr>
        <p:txBody>
          <a:bodyPr wrap="none" lIns="0" rIns="0" tIns="0" bIns="0">
            <a:spAutoFit/>
          </a:bodyPr>
          <a:lstStyle/>
          <a:p>
            <a:r>
              <a:rPr sz="1100" b="0">
                <a:solidFill>
                  <a:srgbClr val="2E2E2E"/>
                </a:solidFill>
                <a:latin typeface="Calibri"/>
              </a:rPr>
              <a:t>● Europe:</a:t>
            </a:r>
          </a:p>
        </p:txBody>
      </p:sp>
      <p:pic>
        <p:nvPicPr>
          <p:cNvPr id="124" name="Picture 123" descr="lock.png"/>
          <p:cNvPicPr>
            <a:picLocks noChangeAspect="1"/>
          </p:cNvPicPr>
          <p:nvPr/>
        </p:nvPicPr>
        <p:blipFill>
          <a:blip r:embed="rId22"/>
          <a:stretch>
            <a:fillRect/>
          </a:stretch>
        </p:blipFill>
        <p:spPr>
          <a:xfrm>
            <a:off x="4423263" y="4437590"/>
            <a:ext cx="128699" cy="187198"/>
          </a:xfrm>
          <a:prstGeom prst="rect">
            <a:avLst/>
          </a:prstGeom>
        </p:spPr>
      </p:pic>
      <p:sp>
        <p:nvSpPr>
          <p:cNvPr id="125" name="TextBox 124"/>
          <p:cNvSpPr txBox="1"/>
          <p:nvPr/>
        </p:nvSpPr>
        <p:spPr>
          <a:xfrm>
            <a:off x="4590759"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6" name="Picture 125" descr="lock.png"/>
          <p:cNvPicPr>
            <a:picLocks noChangeAspect="1"/>
          </p:cNvPicPr>
          <p:nvPr/>
        </p:nvPicPr>
        <p:blipFill>
          <a:blip r:embed="rId22"/>
          <a:stretch>
            <a:fillRect/>
          </a:stretch>
        </p:blipFill>
        <p:spPr>
          <a:xfrm>
            <a:off x="5450209" y="4437590"/>
            <a:ext cx="128699" cy="187198"/>
          </a:xfrm>
          <a:prstGeom prst="rect">
            <a:avLst/>
          </a:prstGeom>
        </p:spPr>
      </p:pic>
      <p:sp>
        <p:nvSpPr>
          <p:cNvPr id="127" name="TextBox 126"/>
          <p:cNvSpPr txBox="1"/>
          <p:nvPr/>
        </p:nvSpPr>
        <p:spPr>
          <a:xfrm>
            <a:off x="5617705" y="444736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28" name="TextBox 127"/>
          <p:cNvSpPr txBox="1"/>
          <p:nvPr/>
        </p:nvSpPr>
        <p:spPr>
          <a:xfrm>
            <a:off x="3838575" y="4665301"/>
            <a:ext cx="732101" cy="186689"/>
          </a:xfrm>
          <a:prstGeom prst="rect">
            <a:avLst/>
          </a:prstGeom>
          <a:noFill/>
        </p:spPr>
        <p:txBody>
          <a:bodyPr wrap="none" lIns="0" rIns="0" tIns="0" bIns="0">
            <a:spAutoFit/>
          </a:bodyPr>
          <a:lstStyle/>
          <a:p>
            <a:r>
              <a:rPr sz="1100" b="0">
                <a:solidFill>
                  <a:srgbClr val="2E2E2E"/>
                </a:solidFill>
                <a:latin typeface="Calibri"/>
              </a:rPr>
              <a:t>● East Asia:</a:t>
            </a:r>
          </a:p>
        </p:txBody>
      </p:sp>
      <p:pic>
        <p:nvPicPr>
          <p:cNvPr id="129" name="Picture 128" descr="lock.png"/>
          <p:cNvPicPr>
            <a:picLocks noChangeAspect="1"/>
          </p:cNvPicPr>
          <p:nvPr/>
        </p:nvPicPr>
        <p:blipFill>
          <a:blip r:embed="rId22"/>
          <a:stretch>
            <a:fillRect/>
          </a:stretch>
        </p:blipFill>
        <p:spPr>
          <a:xfrm>
            <a:off x="4518727" y="4655522"/>
            <a:ext cx="128699" cy="187198"/>
          </a:xfrm>
          <a:prstGeom prst="rect">
            <a:avLst/>
          </a:prstGeom>
        </p:spPr>
      </p:pic>
      <p:sp>
        <p:nvSpPr>
          <p:cNvPr id="130" name="TextBox 129"/>
          <p:cNvSpPr txBox="1"/>
          <p:nvPr/>
        </p:nvSpPr>
        <p:spPr>
          <a:xfrm>
            <a:off x="4686223"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1" name="Picture 130" descr="lock.png"/>
          <p:cNvPicPr>
            <a:picLocks noChangeAspect="1"/>
          </p:cNvPicPr>
          <p:nvPr/>
        </p:nvPicPr>
        <p:blipFill>
          <a:blip r:embed="rId22"/>
          <a:stretch>
            <a:fillRect/>
          </a:stretch>
        </p:blipFill>
        <p:spPr>
          <a:xfrm>
            <a:off x="5545673" y="4655522"/>
            <a:ext cx="128699" cy="187198"/>
          </a:xfrm>
          <a:prstGeom prst="rect">
            <a:avLst/>
          </a:prstGeom>
        </p:spPr>
      </p:pic>
      <p:sp>
        <p:nvSpPr>
          <p:cNvPr id="132" name="TextBox 131"/>
          <p:cNvSpPr txBox="1"/>
          <p:nvPr/>
        </p:nvSpPr>
        <p:spPr>
          <a:xfrm>
            <a:off x="5713169" y="4665301"/>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33" name="TextBox 132"/>
          <p:cNvSpPr txBox="1"/>
          <p:nvPr/>
        </p:nvSpPr>
        <p:spPr>
          <a:xfrm>
            <a:off x="3838575" y="4883233"/>
            <a:ext cx="1350143" cy="186689"/>
          </a:xfrm>
          <a:prstGeom prst="rect">
            <a:avLst/>
          </a:prstGeom>
          <a:noFill/>
        </p:spPr>
        <p:txBody>
          <a:bodyPr wrap="none" lIns="0" rIns="0" tIns="0" bIns="0">
            <a:spAutoFit/>
          </a:bodyPr>
          <a:lstStyle/>
          <a:p>
            <a:r>
              <a:rPr sz="1100" b="0">
                <a:solidFill>
                  <a:srgbClr val="2E2E2E"/>
                </a:solidFill>
                <a:latin typeface="Calibri"/>
              </a:rPr>
              <a:t>● South Asia &amp; Pacific:</a:t>
            </a:r>
          </a:p>
        </p:txBody>
      </p:sp>
      <p:pic>
        <p:nvPicPr>
          <p:cNvPr id="134" name="Picture 133" descr="lock.png"/>
          <p:cNvPicPr>
            <a:picLocks noChangeAspect="1"/>
          </p:cNvPicPr>
          <p:nvPr/>
        </p:nvPicPr>
        <p:blipFill>
          <a:blip r:embed="rId22"/>
          <a:stretch>
            <a:fillRect/>
          </a:stretch>
        </p:blipFill>
        <p:spPr>
          <a:xfrm>
            <a:off x="5136770" y="4873454"/>
            <a:ext cx="128699" cy="187198"/>
          </a:xfrm>
          <a:prstGeom prst="rect">
            <a:avLst/>
          </a:prstGeom>
        </p:spPr>
      </p:pic>
      <p:sp>
        <p:nvSpPr>
          <p:cNvPr id="135" name="TextBox 134"/>
          <p:cNvSpPr txBox="1"/>
          <p:nvPr/>
        </p:nvSpPr>
        <p:spPr>
          <a:xfrm>
            <a:off x="5304266"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6" name="Picture 135" descr="lock.png"/>
          <p:cNvPicPr>
            <a:picLocks noChangeAspect="1"/>
          </p:cNvPicPr>
          <p:nvPr/>
        </p:nvPicPr>
        <p:blipFill>
          <a:blip r:embed="rId22"/>
          <a:stretch>
            <a:fillRect/>
          </a:stretch>
        </p:blipFill>
        <p:spPr>
          <a:xfrm>
            <a:off x="6163716" y="4873454"/>
            <a:ext cx="128699" cy="187198"/>
          </a:xfrm>
          <a:prstGeom prst="rect">
            <a:avLst/>
          </a:prstGeom>
        </p:spPr>
      </p:pic>
      <p:sp>
        <p:nvSpPr>
          <p:cNvPr id="137" name="TextBox 136"/>
          <p:cNvSpPr txBox="1"/>
          <p:nvPr/>
        </p:nvSpPr>
        <p:spPr>
          <a:xfrm>
            <a:off x="6331212" y="488323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8" name="TextBox 137"/>
          <p:cNvSpPr txBox="1"/>
          <p:nvPr/>
        </p:nvSpPr>
        <p:spPr>
          <a:xfrm>
            <a:off x="3838575" y="5101165"/>
            <a:ext cx="1008260" cy="186689"/>
          </a:xfrm>
          <a:prstGeom prst="rect">
            <a:avLst/>
          </a:prstGeom>
          <a:noFill/>
        </p:spPr>
        <p:txBody>
          <a:bodyPr wrap="none" lIns="0" rIns="0" tIns="0" bIns="0">
            <a:spAutoFit/>
          </a:bodyPr>
          <a:lstStyle/>
          <a:p>
            <a:r>
              <a:rPr sz="1100" b="0">
                <a:solidFill>
                  <a:srgbClr val="2E2E2E"/>
                </a:solidFill>
                <a:latin typeface="Calibri"/>
              </a:rPr>
              <a:t>● Latin America:</a:t>
            </a:r>
          </a:p>
        </p:txBody>
      </p:sp>
      <p:pic>
        <p:nvPicPr>
          <p:cNvPr id="139" name="Picture 138" descr="lock.png"/>
          <p:cNvPicPr>
            <a:picLocks noChangeAspect="1"/>
          </p:cNvPicPr>
          <p:nvPr/>
        </p:nvPicPr>
        <p:blipFill>
          <a:blip r:embed="rId22"/>
          <a:stretch>
            <a:fillRect/>
          </a:stretch>
        </p:blipFill>
        <p:spPr>
          <a:xfrm>
            <a:off x="4794887" y="5091385"/>
            <a:ext cx="128699" cy="187198"/>
          </a:xfrm>
          <a:prstGeom prst="rect">
            <a:avLst/>
          </a:prstGeom>
        </p:spPr>
      </p:pic>
      <p:sp>
        <p:nvSpPr>
          <p:cNvPr id="140" name="TextBox 139"/>
          <p:cNvSpPr txBox="1"/>
          <p:nvPr/>
        </p:nvSpPr>
        <p:spPr>
          <a:xfrm>
            <a:off x="4962383"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1" name="Picture 140" descr="lock.png"/>
          <p:cNvPicPr>
            <a:picLocks noChangeAspect="1"/>
          </p:cNvPicPr>
          <p:nvPr/>
        </p:nvPicPr>
        <p:blipFill>
          <a:blip r:embed="rId22"/>
          <a:stretch>
            <a:fillRect/>
          </a:stretch>
        </p:blipFill>
        <p:spPr>
          <a:xfrm>
            <a:off x="5821833" y="5091385"/>
            <a:ext cx="128699" cy="187198"/>
          </a:xfrm>
          <a:prstGeom prst="rect">
            <a:avLst/>
          </a:prstGeom>
        </p:spPr>
      </p:pic>
      <p:sp>
        <p:nvSpPr>
          <p:cNvPr id="142" name="TextBox 141"/>
          <p:cNvSpPr txBox="1"/>
          <p:nvPr/>
        </p:nvSpPr>
        <p:spPr>
          <a:xfrm>
            <a:off x="5989329" y="5101165"/>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43" name="TextBox 142"/>
          <p:cNvSpPr txBox="1"/>
          <p:nvPr/>
        </p:nvSpPr>
        <p:spPr>
          <a:xfrm>
            <a:off x="3838575" y="5319097"/>
            <a:ext cx="1386944" cy="186689"/>
          </a:xfrm>
          <a:prstGeom prst="rect">
            <a:avLst/>
          </a:prstGeom>
          <a:noFill/>
        </p:spPr>
        <p:txBody>
          <a:bodyPr wrap="none" lIns="0" rIns="0" tIns="0" bIns="0">
            <a:spAutoFit/>
          </a:bodyPr>
          <a:lstStyle/>
          <a:p>
            <a:r>
              <a:rPr sz="1100" b="0">
                <a:solidFill>
                  <a:srgbClr val="2E2E2E"/>
                </a:solidFill>
                <a:latin typeface="Calibri"/>
              </a:rPr>
              <a:t>● Middle East &amp; Africa:</a:t>
            </a:r>
          </a:p>
        </p:txBody>
      </p:sp>
      <p:pic>
        <p:nvPicPr>
          <p:cNvPr id="144" name="Picture 143" descr="lock.png"/>
          <p:cNvPicPr>
            <a:picLocks noChangeAspect="1"/>
          </p:cNvPicPr>
          <p:nvPr/>
        </p:nvPicPr>
        <p:blipFill>
          <a:blip r:embed="rId22"/>
          <a:stretch>
            <a:fillRect/>
          </a:stretch>
        </p:blipFill>
        <p:spPr>
          <a:xfrm>
            <a:off x="5173571" y="5309317"/>
            <a:ext cx="128699" cy="187198"/>
          </a:xfrm>
          <a:prstGeom prst="rect">
            <a:avLst/>
          </a:prstGeom>
        </p:spPr>
      </p:pic>
      <p:sp>
        <p:nvSpPr>
          <p:cNvPr id="145" name="TextBox 144"/>
          <p:cNvSpPr txBox="1"/>
          <p:nvPr/>
        </p:nvSpPr>
        <p:spPr>
          <a:xfrm>
            <a:off x="5341067" y="531909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6" name="Picture 145" descr="lock.png"/>
          <p:cNvPicPr>
            <a:picLocks noChangeAspect="1"/>
          </p:cNvPicPr>
          <p:nvPr/>
        </p:nvPicPr>
        <p:blipFill>
          <a:blip r:embed="rId22"/>
          <a:stretch>
            <a:fillRect/>
          </a:stretch>
        </p:blipFill>
        <p:spPr>
          <a:xfrm>
            <a:off x="6200517" y="5309317"/>
            <a:ext cx="128699" cy="187198"/>
          </a:xfrm>
          <a:prstGeom prst="rect">
            <a:avLst/>
          </a:prstGeom>
        </p:spPr>
      </p:pic>
      <p:sp>
        <p:nvSpPr>
          <p:cNvPr id="147" name="TextBox 146"/>
          <p:cNvSpPr txBox="1"/>
          <p:nvPr/>
        </p:nvSpPr>
        <p:spPr>
          <a:xfrm>
            <a:off x="6368013" y="5319097"/>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48" name="TextBox 147"/>
          <p:cNvSpPr txBox="1"/>
          <p:nvPr/>
        </p:nvSpPr>
        <p:spPr>
          <a:xfrm>
            <a:off x="8524875" y="5842641"/>
            <a:ext cx="3081608" cy="194310"/>
          </a:xfrm>
          <a:prstGeom prst="rect">
            <a:avLst/>
          </a:prstGeom>
          <a:noFill/>
        </p:spPr>
        <p:txBody>
          <a:bodyPr wrap="none" lIns="0" rIns="0" tIns="0" bIns="0">
            <a:spAutoFit/>
          </a:bodyPr>
          <a:lstStyle/>
          <a:p>
            <a:r>
              <a:rPr sz="1150" b="1">
                <a:solidFill>
                  <a:srgbClr val="0B2E4A"/>
                </a:solidFill>
                <a:latin typeface="Calibri"/>
              </a:rPr>
              <a:t>The Global market is projected to grow at a CAGR</a:t>
            </a:r>
          </a:p>
        </p:txBody>
      </p:sp>
      <p:sp>
        <p:nvSpPr>
          <p:cNvPr id="149" name="TextBox 148"/>
          <p:cNvSpPr txBox="1"/>
          <p:nvPr/>
        </p:nvSpPr>
        <p:spPr>
          <a:xfrm>
            <a:off x="8524875" y="6017901"/>
            <a:ext cx="200855" cy="194310"/>
          </a:xfrm>
          <a:prstGeom prst="rect">
            <a:avLst/>
          </a:prstGeom>
          <a:noFill/>
        </p:spPr>
        <p:txBody>
          <a:bodyPr wrap="none" lIns="0" rIns="0" tIns="0" bIns="0">
            <a:spAutoFit/>
          </a:bodyPr>
          <a:lstStyle/>
          <a:p>
            <a:r>
              <a:rPr sz="1150" b="1">
                <a:solidFill>
                  <a:srgbClr val="0B2E4A"/>
                </a:solidFill>
                <a:latin typeface="Calibri"/>
              </a:rPr>
              <a:t>of</a:t>
            </a:r>
          </a:p>
        </p:txBody>
      </p:sp>
      <p:pic>
        <p:nvPicPr>
          <p:cNvPr id="150" name="Picture 149" descr="lock.png"/>
          <p:cNvPicPr>
            <a:picLocks noChangeAspect="1"/>
          </p:cNvPicPr>
          <p:nvPr/>
        </p:nvPicPr>
        <p:blipFill>
          <a:blip r:embed="rId22"/>
          <a:stretch>
            <a:fillRect/>
          </a:stretch>
        </p:blipFill>
        <p:spPr>
          <a:xfrm>
            <a:off x="8674884" y="6007677"/>
            <a:ext cx="134549" cy="195707"/>
          </a:xfrm>
          <a:prstGeom prst="rect">
            <a:avLst/>
          </a:prstGeom>
        </p:spPr>
      </p:pic>
      <p:sp>
        <p:nvSpPr>
          <p:cNvPr id="151" name="TextBox 150"/>
          <p:cNvSpPr txBox="1"/>
          <p:nvPr/>
        </p:nvSpPr>
        <p:spPr>
          <a:xfrm>
            <a:off x="8849994"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Ear Wax Removal Products Market Analysis, By Region Volume (Mn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region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1601304"/>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712970" y="159654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52034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18" name="BPS Value 1"/>
          <p:cNvSpPr txBox="1"/>
          <p:nvPr/>
        </p:nvSpPr>
        <p:spPr>
          <a:xfrm>
            <a:off x="6305550" y="158225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551045" y="1899270"/>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4712970" y="189450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1818308"/>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22" name="BPS Value 2"/>
          <p:cNvSpPr txBox="1"/>
          <p:nvPr/>
        </p:nvSpPr>
        <p:spPr>
          <a:xfrm>
            <a:off x="6305550" y="188022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551045" y="240717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4712970" y="240241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4855845" y="232621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26" name="BPS Value 3"/>
          <p:cNvSpPr txBox="1"/>
          <p:nvPr/>
        </p:nvSpPr>
        <p:spPr>
          <a:xfrm>
            <a:off x="6305550" y="238812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551045" y="3128628"/>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4712970" y="312386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4855845" y="304766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0" name="BPS Value 4"/>
          <p:cNvSpPr txBox="1"/>
          <p:nvPr/>
        </p:nvSpPr>
        <p:spPr>
          <a:xfrm>
            <a:off x="6305550" y="310957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551045" y="3905065"/>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4712970" y="390030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4855845" y="382410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Europe</a:t>
            </a:r>
          </a:p>
        </p:txBody>
      </p:sp>
      <p:sp>
        <p:nvSpPr>
          <p:cNvPr id="34" name="BPS Value 5"/>
          <p:cNvSpPr txBox="1"/>
          <p:nvPr/>
        </p:nvSpPr>
        <p:spPr>
          <a:xfrm>
            <a:off x="6305550" y="388601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551045" y="4719206"/>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4712970" y="471444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4855845" y="463824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8" name="BPS Value 6"/>
          <p:cNvSpPr txBox="1"/>
          <p:nvPr/>
        </p:nvSpPr>
        <p:spPr>
          <a:xfrm>
            <a:off x="6305550" y="470015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Rounded Rectangle 38"/>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1" name="Rectangle 40"/>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Rounded Rectangle 42"/>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(MN UNITS)</a:t>
            </a:r>
          </a:p>
          <a:p>
            <a:pPr algn="ctr">
              <a:lnSpc>
                <a:spcPct val="95000"/>
              </a:lnSpc>
            </a:pPr>
            <a:r>
              <a:rPr sz="2000" b="1">
                <a:solidFill>
                  <a:srgbClr val="0E72AE"/>
                </a:solidFill>
                <a:latin typeface="Calibri"/>
              </a:rPr>
              <a:t/>
            </a:r>
          </a:p>
        </p:txBody>
      </p:sp>
      <p:sp>
        <p:nvSpPr>
          <p:cNvPr id="44" name="Rounded Rectangle 43"/>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(MN UNITS)</a:t>
            </a:r>
          </a:p>
          <a:p>
            <a:pPr algn="ctr">
              <a:lnSpc>
                <a:spcPct val="95000"/>
              </a:lnSpc>
            </a:pPr>
            <a:r>
              <a:rPr sz="2000" b="1">
                <a:solidFill>
                  <a:srgbClr val="0E72AE"/>
                </a:solidFill>
                <a:latin typeface="Calibri"/>
              </a:rPr>
              <a:t/>
            </a:r>
          </a:p>
        </p:txBody>
      </p:sp>
      <p:sp>
        <p:nvSpPr>
          <p:cNvPr id="45" name="Rounded Rectangle 44"/>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r>
          </a:p>
        </p:txBody>
      </p:sp>
      <p:sp>
        <p:nvSpPr>
          <p:cNvPr id="46" name="TextBox 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7" name="Picture 46" descr="lock.png"/>
          <p:cNvPicPr>
            <a:picLocks noChangeAspect="1"/>
          </p:cNvPicPr>
          <p:nvPr/>
        </p:nvPicPr>
        <p:blipFill>
          <a:blip r:embed="rId5"/>
          <a:stretch>
            <a:fillRect/>
          </a:stretch>
        </p:blipFill>
        <p:spPr>
          <a:xfrm>
            <a:off x="2333863" y="3121818"/>
            <a:ext cx="343793" cy="500062"/>
          </a:xfrm>
          <a:prstGeom prst="rect">
            <a:avLst/>
          </a:prstGeom>
        </p:spPr>
      </p:pic>
      <p:pic>
        <p:nvPicPr>
          <p:cNvPr id="48" name="Picture 47" descr="211_0_605E5C.png"/>
          <p:cNvPicPr>
            <a:picLocks noChangeAspect="1"/>
          </p:cNvPicPr>
          <p:nvPr/>
        </p:nvPicPr>
        <p:blipFill>
          <a:blip r:embed="rId6"/>
          <a:stretch>
            <a:fillRect/>
          </a:stretch>
        </p:blipFill>
        <p:spPr>
          <a:xfrm>
            <a:off x="1317398" y="5897562"/>
            <a:ext cx="1594300" cy="482599"/>
          </a:xfrm>
          <a:prstGeom prst="rect">
            <a:avLst/>
          </a:prstGeom>
        </p:spPr>
      </p:pic>
      <p:pic>
        <p:nvPicPr>
          <p:cNvPr id="49" name="Picture 48" descr="340_7_605E5C.png"/>
          <p:cNvPicPr>
            <a:picLocks noChangeAspect="1"/>
          </p:cNvPicPr>
          <p:nvPr/>
        </p:nvPicPr>
        <p:blipFill>
          <a:blip r:embed="rId7"/>
          <a:stretch>
            <a:fillRect/>
          </a:stretch>
        </p:blipFill>
        <p:spPr>
          <a:xfrm>
            <a:off x="5351235" y="5897562"/>
            <a:ext cx="1594300" cy="482599"/>
          </a:xfrm>
          <a:prstGeom prst="rect">
            <a:avLst/>
          </a:prstGeom>
        </p:spPr>
      </p:pic>
      <p:pic>
        <p:nvPicPr>
          <p:cNvPr id="50" name="Picture 49" descr="4_9__605E5C.png"/>
          <p:cNvPicPr>
            <a:picLocks noChangeAspect="1"/>
          </p:cNvPicPr>
          <p:nvPr/>
        </p:nvPicPr>
        <p:blipFill>
          <a:blip r:embed="rId8"/>
          <a:stretch>
            <a:fillRect/>
          </a:stretch>
        </p:blipFill>
        <p:spPr>
          <a:xfrm>
            <a:off x="9465355" y="5897562"/>
            <a:ext cx="1309912" cy="482599"/>
          </a:xfrm>
          <a:prstGeom prst="rect">
            <a:avLst/>
          </a:prstGeom>
        </p:spPr>
      </p:pic>
      <p:pic>
        <p:nvPicPr>
          <p:cNvPr id="51" name="Picture 50" descr="lock.png"/>
          <p:cNvPicPr>
            <a:picLocks noChangeAspect="1"/>
          </p:cNvPicPr>
          <p:nvPr/>
        </p:nvPicPr>
        <p:blipFill>
          <a:blip r:embed="rId5"/>
          <a:stretch>
            <a:fillRect/>
          </a:stretch>
        </p:blipFill>
        <p:spPr>
          <a:xfrm>
            <a:off x="5914657" y="5893409"/>
            <a:ext cx="337498" cy="490906"/>
          </a:xfrm>
          <a:prstGeom prst="rect">
            <a:avLst/>
          </a:prstGeom>
        </p:spPr>
      </p:pic>
      <p:sp>
        <p:nvSpPr>
          <p:cNvPr id="52" name="TextBox 51"/>
          <p:cNvSpPr txBox="1"/>
          <p:nvPr/>
        </p:nvSpPr>
        <p:spPr>
          <a:xfrm>
            <a:off x="7239000" y="1400175"/>
            <a:ext cx="4648200" cy="194310"/>
          </a:xfrm>
          <a:prstGeom prst="rect">
            <a:avLst/>
          </a:prstGeom>
          <a:noFill/>
        </p:spPr>
        <p:txBody>
          <a:bodyPr wrap="none" lIns="0" rIns="0" tIns="0" bIns="0">
            <a:spAutoFit/>
          </a:bodyPr>
          <a:lstStyle/>
          <a:p>
            <a:r>
              <a:rPr sz="1150" b="0">
                <a:solidFill>
                  <a:srgbClr val="2E2E2E"/>
                </a:solidFill>
                <a:latin typeface="Calibri"/>
              </a:rPr>
              <a:t>South Asia &amp; Pacific ear wax removal products market is projected to register</a:t>
            </a:r>
          </a:p>
        </p:txBody>
      </p:sp>
      <p:pic>
        <p:nvPicPr>
          <p:cNvPr id="53" name="Picture 52" descr="lock.png"/>
          <p:cNvPicPr>
            <a:picLocks noChangeAspect="1"/>
          </p:cNvPicPr>
          <p:nvPr/>
        </p:nvPicPr>
        <p:blipFill>
          <a:blip r:embed="rId5"/>
          <a:stretch>
            <a:fillRect/>
          </a:stretch>
        </p:blipFill>
        <p:spPr>
          <a:xfrm>
            <a:off x="7224920" y="1565211"/>
            <a:ext cx="134549" cy="195707"/>
          </a:xfrm>
          <a:prstGeom prst="rect">
            <a:avLst/>
          </a:prstGeom>
        </p:spPr>
      </p:pic>
      <p:sp>
        <p:nvSpPr>
          <p:cNvPr id="54" name="TextBox 53"/>
          <p:cNvSpPr txBox="1"/>
          <p:nvPr/>
        </p:nvSpPr>
        <p:spPr>
          <a:xfrm>
            <a:off x="7400029" y="1575435"/>
            <a:ext cx="4348447" cy="194310"/>
          </a:xfrm>
          <a:prstGeom prst="rect">
            <a:avLst/>
          </a:prstGeom>
          <a:noFill/>
        </p:spPr>
        <p:txBody>
          <a:bodyPr wrap="none" lIns="0" rIns="0" tIns="0" bIns="0">
            <a:spAutoFit/>
          </a:bodyPr>
          <a:lstStyle/>
          <a:p>
            <a:r>
              <a:rPr sz="1150" b="0">
                <a:solidFill>
                  <a:srgbClr val="2E2E2E"/>
                </a:solidFill>
                <a:latin typeface="Calibri"/>
              </a:rPr>
              <a:t>X higher volume than Europe in 2036. Among ear wax removal products</a:t>
            </a:r>
          </a:p>
        </p:txBody>
      </p:sp>
      <p:sp>
        <p:nvSpPr>
          <p:cNvPr id="55" name="TextBox 54"/>
          <p:cNvSpPr txBox="1"/>
          <p:nvPr/>
        </p:nvSpPr>
        <p:spPr>
          <a:xfrm>
            <a:off x="7239000" y="1750695"/>
            <a:ext cx="4439996" cy="194310"/>
          </a:xfrm>
          <a:prstGeom prst="rect">
            <a:avLst/>
          </a:prstGeom>
          <a:noFill/>
        </p:spPr>
        <p:txBody>
          <a:bodyPr wrap="none" lIns="0" rIns="0" tIns="0" bIns="0">
            <a:spAutoFit/>
          </a:bodyPr>
          <a:lstStyle/>
          <a:p>
            <a:r>
              <a:rPr sz="1150" b="0">
                <a:solidFill>
                  <a:srgbClr val="2E2E2E"/>
                </a:solidFill>
                <a:latin typeface="Calibri"/>
              </a:rPr>
              <a:t>by region, South Asia &amp; Pacific is expected to witness the highest CAGR of</a:t>
            </a:r>
          </a:p>
        </p:txBody>
      </p:sp>
      <p:pic>
        <p:nvPicPr>
          <p:cNvPr id="56" name="Picture 55" descr="lock.png"/>
          <p:cNvPicPr>
            <a:picLocks noChangeAspect="1"/>
          </p:cNvPicPr>
          <p:nvPr/>
        </p:nvPicPr>
        <p:blipFill>
          <a:blip r:embed="rId5"/>
          <a:stretch>
            <a:fillRect/>
          </a:stretch>
        </p:blipFill>
        <p:spPr>
          <a:xfrm>
            <a:off x="11628150" y="1740471"/>
            <a:ext cx="134549" cy="195707"/>
          </a:xfrm>
          <a:prstGeom prst="rect">
            <a:avLst/>
          </a:prstGeom>
        </p:spPr>
      </p:pic>
      <p:sp>
        <p:nvSpPr>
          <p:cNvPr id="57" name="TextBox 56"/>
          <p:cNvSpPr txBox="1"/>
          <p:nvPr/>
        </p:nvSpPr>
        <p:spPr>
          <a:xfrm>
            <a:off x="7239000" y="192595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58" name="TextBox 57"/>
          <p:cNvSpPr txBox="1"/>
          <p:nvPr/>
        </p:nvSpPr>
        <p:spPr>
          <a:xfrm>
            <a:off x="7239000" y="2153793"/>
            <a:ext cx="4252602"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a:t>
            </a:r>
          </a:p>
        </p:txBody>
      </p:sp>
      <p:sp>
        <p:nvSpPr>
          <p:cNvPr id="59" name="TextBox 58"/>
          <p:cNvSpPr txBox="1"/>
          <p:nvPr/>
        </p:nvSpPr>
        <p:spPr>
          <a:xfrm>
            <a:off x="7239000" y="2329053"/>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60" name="Picture 59" descr="lock.png"/>
          <p:cNvPicPr>
            <a:picLocks noChangeAspect="1"/>
          </p:cNvPicPr>
          <p:nvPr/>
        </p:nvPicPr>
        <p:blipFill>
          <a:blip r:embed="rId5"/>
          <a:stretch>
            <a:fillRect/>
          </a:stretch>
        </p:blipFill>
        <p:spPr>
          <a:xfrm>
            <a:off x="9025226" y="2318829"/>
            <a:ext cx="134549" cy="195707"/>
          </a:xfrm>
          <a:prstGeom prst="rect">
            <a:avLst/>
          </a:prstGeom>
        </p:spPr>
      </p:pic>
      <p:sp>
        <p:nvSpPr>
          <p:cNvPr id="61" name="TextBox 60"/>
          <p:cNvSpPr txBox="1"/>
          <p:nvPr/>
        </p:nvSpPr>
        <p:spPr>
          <a:xfrm>
            <a:off x="9200335"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2" name="Picture 61" descr="lock.png"/>
          <p:cNvPicPr>
            <a:picLocks noChangeAspect="1"/>
          </p:cNvPicPr>
          <p:nvPr/>
        </p:nvPicPr>
        <p:blipFill>
          <a:blip r:embed="rId5"/>
          <a:stretch>
            <a:fillRect/>
          </a:stretch>
        </p:blipFill>
        <p:spPr>
          <a:xfrm>
            <a:off x="10595478" y="2318829"/>
            <a:ext cx="134549" cy="195707"/>
          </a:xfrm>
          <a:prstGeom prst="rect">
            <a:avLst/>
          </a:prstGeom>
        </p:spPr>
      </p:pic>
      <p:sp>
        <p:nvSpPr>
          <p:cNvPr id="63" name="TextBox 62"/>
          <p:cNvSpPr txBox="1"/>
          <p:nvPr/>
        </p:nvSpPr>
        <p:spPr>
          <a:xfrm>
            <a:off x="10770588"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4" name="TextBox 63"/>
          <p:cNvSpPr txBox="1"/>
          <p:nvPr/>
        </p:nvSpPr>
        <p:spPr>
          <a:xfrm>
            <a:off x="7239000" y="2504313"/>
            <a:ext cx="2083531" cy="194310"/>
          </a:xfrm>
          <a:prstGeom prst="rect">
            <a:avLst/>
          </a:prstGeom>
          <a:noFill/>
        </p:spPr>
        <p:txBody>
          <a:bodyPr wrap="none" lIns="0" rIns="0" tIns="0" bIns="0">
            <a:spAutoFit/>
          </a:bodyPr>
          <a:lstStyle/>
          <a:p>
            <a:r>
              <a:rPr sz="1150" b="0">
                <a:solidFill>
                  <a:srgbClr val="2E2E2E"/>
                </a:solidFill>
                <a:latin typeface="Calibri"/>
              </a:rPr>
              <a:t>North America is expected to lose</a:t>
            </a:r>
          </a:p>
        </p:txBody>
      </p:sp>
      <p:pic>
        <p:nvPicPr>
          <p:cNvPr id="65" name="Picture 64" descr="lock.png"/>
          <p:cNvPicPr>
            <a:picLocks noChangeAspect="1"/>
          </p:cNvPicPr>
          <p:nvPr/>
        </p:nvPicPr>
        <p:blipFill>
          <a:blip r:embed="rId5"/>
          <a:stretch>
            <a:fillRect/>
          </a:stretch>
        </p:blipFill>
        <p:spPr>
          <a:xfrm>
            <a:off x="9271685" y="2494089"/>
            <a:ext cx="134549" cy="195707"/>
          </a:xfrm>
          <a:prstGeom prst="rect">
            <a:avLst/>
          </a:prstGeom>
        </p:spPr>
      </p:pic>
      <p:sp>
        <p:nvSpPr>
          <p:cNvPr id="66" name="TextBox 65"/>
          <p:cNvSpPr txBox="1"/>
          <p:nvPr/>
        </p:nvSpPr>
        <p:spPr>
          <a:xfrm>
            <a:off x="9446794" y="2504313"/>
            <a:ext cx="1926356" cy="194310"/>
          </a:xfrm>
          <a:prstGeom prst="rect">
            <a:avLst/>
          </a:prstGeom>
          <a:noFill/>
        </p:spPr>
        <p:txBody>
          <a:bodyPr wrap="none" lIns="0" rIns="0" tIns="0" bIns="0">
            <a:spAutoFit/>
          </a:bodyPr>
          <a:lstStyle/>
          <a:p>
            <a:r>
              <a:rPr sz="1150" b="0">
                <a:solidFill>
                  <a:srgbClr val="2E2E2E"/>
                </a:solidFill>
                <a:latin typeface="Calibri"/>
              </a:rPr>
              <a:t>BPS over the forecast period to</a:t>
            </a:r>
          </a:p>
        </p:txBody>
      </p:sp>
      <p:sp>
        <p:nvSpPr>
          <p:cNvPr id="67" name="TextBox 66"/>
          <p:cNvSpPr txBox="1"/>
          <p:nvPr/>
        </p:nvSpPr>
        <p:spPr>
          <a:xfrm>
            <a:off x="7239000" y="2679573"/>
            <a:ext cx="755104" cy="194310"/>
          </a:xfrm>
          <a:prstGeom prst="rect">
            <a:avLst/>
          </a:prstGeom>
          <a:noFill/>
        </p:spPr>
        <p:txBody>
          <a:bodyPr wrap="none" lIns="0" rIns="0" tIns="0" bIns="0">
            <a:spAutoFit/>
          </a:bodyPr>
          <a:lstStyle/>
          <a:p>
            <a:r>
              <a:rPr sz="1150" b="0">
                <a:solidFill>
                  <a:srgbClr val="2E2E2E"/>
                </a:solidFill>
                <a:latin typeface="Calibri"/>
              </a:rPr>
              <a:t>account for</a:t>
            </a:r>
          </a:p>
        </p:txBody>
      </p:sp>
      <p:pic>
        <p:nvPicPr>
          <p:cNvPr id="68" name="Picture 67" descr="lock.png"/>
          <p:cNvPicPr>
            <a:picLocks noChangeAspect="1"/>
          </p:cNvPicPr>
          <p:nvPr/>
        </p:nvPicPr>
        <p:blipFill>
          <a:blip r:embed="rId5"/>
          <a:stretch>
            <a:fillRect/>
          </a:stretch>
        </p:blipFill>
        <p:spPr>
          <a:xfrm>
            <a:off x="7943258" y="2669349"/>
            <a:ext cx="134549" cy="195707"/>
          </a:xfrm>
          <a:prstGeom prst="rect">
            <a:avLst/>
          </a:prstGeom>
        </p:spPr>
      </p:pic>
      <p:sp>
        <p:nvSpPr>
          <p:cNvPr id="69" name="TextBox 68"/>
          <p:cNvSpPr txBox="1"/>
          <p:nvPr/>
        </p:nvSpPr>
        <p:spPr>
          <a:xfrm>
            <a:off x="8118367"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70"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Ear Wax Removal Products Market Analysis, By Region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region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1589120"/>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4712970" y="158435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508157"/>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18" name="BPS Value 1"/>
          <p:cNvSpPr txBox="1"/>
          <p:nvPr/>
        </p:nvSpPr>
        <p:spPr>
          <a:xfrm>
            <a:off x="6305550" y="157007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551045" y="1868604"/>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4712970" y="186384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178764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22" name="BPS Value 2"/>
          <p:cNvSpPr txBox="1"/>
          <p:nvPr/>
        </p:nvSpPr>
        <p:spPr>
          <a:xfrm>
            <a:off x="6305550" y="184955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551045" y="225573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4712970" y="225097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4855845" y="217477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26" name="BPS Value 3"/>
          <p:cNvSpPr txBox="1"/>
          <p:nvPr/>
        </p:nvSpPr>
        <p:spPr>
          <a:xfrm>
            <a:off x="6305550" y="223668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551045" y="2729875"/>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4712970" y="272511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4855845" y="264891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0" name="BPS Value 4"/>
          <p:cNvSpPr txBox="1"/>
          <p:nvPr/>
        </p:nvSpPr>
        <p:spPr>
          <a:xfrm>
            <a:off x="6305550" y="271082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551045" y="3494265"/>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4712970" y="348950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4855845" y="341330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Europe</a:t>
            </a:r>
          </a:p>
        </p:txBody>
      </p:sp>
      <p:sp>
        <p:nvSpPr>
          <p:cNvPr id="34" name="BPS Value 5"/>
          <p:cNvSpPr txBox="1"/>
          <p:nvPr/>
        </p:nvSpPr>
        <p:spPr>
          <a:xfrm>
            <a:off x="6305550" y="347521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FMI Legend Chip"/>
          <p:cNvSpPr/>
          <p:nvPr/>
        </p:nvSpPr>
        <p:spPr>
          <a:xfrm>
            <a:off x="4551045" y="4574201"/>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rot="10800000">
            <a:off x="4712970" y="456943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4855845" y="449323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8" name="BPS Value 6"/>
          <p:cNvSpPr txBox="1"/>
          <p:nvPr/>
        </p:nvSpPr>
        <p:spPr>
          <a:xfrm>
            <a:off x="6305550" y="455515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9" name="Rounded Rectangle 38"/>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1" name="Rectangle 40"/>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Rounded Rectangle 42"/>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
            </a:r>
          </a:p>
        </p:txBody>
      </p:sp>
      <p:sp>
        <p:nvSpPr>
          <p:cNvPr id="44" name="Rounded Rectangle 43"/>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
            </a:r>
          </a:p>
        </p:txBody>
      </p:sp>
      <p:sp>
        <p:nvSpPr>
          <p:cNvPr id="45" name="Rounded Rectangle 44"/>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r>
          </a:p>
        </p:txBody>
      </p:sp>
      <p:sp>
        <p:nvSpPr>
          <p:cNvPr id="46" name="TextBox 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7" name="Picture 46" descr="lock.png"/>
          <p:cNvPicPr>
            <a:picLocks noChangeAspect="1"/>
          </p:cNvPicPr>
          <p:nvPr/>
        </p:nvPicPr>
        <p:blipFill>
          <a:blip r:embed="rId5"/>
          <a:stretch>
            <a:fillRect/>
          </a:stretch>
        </p:blipFill>
        <p:spPr>
          <a:xfrm>
            <a:off x="2333863" y="3121818"/>
            <a:ext cx="343793" cy="500062"/>
          </a:xfrm>
          <a:prstGeom prst="rect">
            <a:avLst/>
          </a:prstGeom>
        </p:spPr>
      </p:pic>
      <p:pic>
        <p:nvPicPr>
          <p:cNvPr id="48" name="Picture 47" descr="2_110_605E5C.png"/>
          <p:cNvPicPr>
            <a:picLocks noChangeAspect="1"/>
          </p:cNvPicPr>
          <p:nvPr/>
        </p:nvPicPr>
        <p:blipFill>
          <a:blip r:embed="rId6"/>
          <a:stretch>
            <a:fillRect/>
          </a:stretch>
        </p:blipFill>
        <p:spPr>
          <a:xfrm>
            <a:off x="1317398" y="5897562"/>
            <a:ext cx="1594300" cy="482599"/>
          </a:xfrm>
          <a:prstGeom prst="rect">
            <a:avLst/>
          </a:prstGeom>
        </p:spPr>
      </p:pic>
      <p:pic>
        <p:nvPicPr>
          <p:cNvPr id="49" name="Picture 48" descr="3_604_605E5C.png"/>
          <p:cNvPicPr>
            <a:picLocks noChangeAspect="1"/>
          </p:cNvPicPr>
          <p:nvPr/>
        </p:nvPicPr>
        <p:blipFill>
          <a:blip r:embed="rId7"/>
          <a:stretch>
            <a:fillRect/>
          </a:stretch>
        </p:blipFill>
        <p:spPr>
          <a:xfrm>
            <a:off x="5351235" y="5897562"/>
            <a:ext cx="1594300" cy="482599"/>
          </a:xfrm>
          <a:prstGeom prst="rect">
            <a:avLst/>
          </a:prstGeom>
        </p:spPr>
      </p:pic>
      <p:pic>
        <p:nvPicPr>
          <p:cNvPr id="50" name="Picture 49" descr="5_5__605E5C.png"/>
          <p:cNvPicPr>
            <a:picLocks noChangeAspect="1"/>
          </p:cNvPicPr>
          <p:nvPr/>
        </p:nvPicPr>
        <p:blipFill>
          <a:blip r:embed="rId8"/>
          <a:stretch>
            <a:fillRect/>
          </a:stretch>
        </p:blipFill>
        <p:spPr>
          <a:xfrm>
            <a:off x="9465355" y="5897562"/>
            <a:ext cx="1309912" cy="482599"/>
          </a:xfrm>
          <a:prstGeom prst="rect">
            <a:avLst/>
          </a:prstGeom>
        </p:spPr>
      </p:pic>
      <p:pic>
        <p:nvPicPr>
          <p:cNvPr id="51" name="Picture 50" descr="lock.png"/>
          <p:cNvPicPr>
            <a:picLocks noChangeAspect="1"/>
          </p:cNvPicPr>
          <p:nvPr/>
        </p:nvPicPr>
        <p:blipFill>
          <a:blip r:embed="rId5"/>
          <a:stretch>
            <a:fillRect/>
          </a:stretch>
        </p:blipFill>
        <p:spPr>
          <a:xfrm>
            <a:off x="5914657" y="5893409"/>
            <a:ext cx="337498" cy="490906"/>
          </a:xfrm>
          <a:prstGeom prst="rect">
            <a:avLst/>
          </a:prstGeom>
        </p:spPr>
      </p:pic>
      <p:sp>
        <p:nvSpPr>
          <p:cNvPr id="52" name="TextBox 51"/>
          <p:cNvSpPr txBox="1"/>
          <p:nvPr/>
        </p:nvSpPr>
        <p:spPr>
          <a:xfrm>
            <a:off x="7239000" y="1400175"/>
            <a:ext cx="4362139" cy="194310"/>
          </a:xfrm>
          <a:prstGeom prst="rect">
            <a:avLst/>
          </a:prstGeom>
          <a:noFill/>
        </p:spPr>
        <p:txBody>
          <a:bodyPr wrap="none" lIns="0" rIns="0" tIns="0" bIns="0">
            <a:spAutoFit/>
          </a:bodyPr>
          <a:lstStyle/>
          <a:p>
            <a:r>
              <a:rPr sz="1150" b="0">
                <a:solidFill>
                  <a:srgbClr val="2E2E2E"/>
                </a:solidFill>
                <a:latin typeface="Calibri"/>
              </a:rPr>
              <a:t>North America ear wax removal products market is projected to register</a:t>
            </a:r>
          </a:p>
        </p:txBody>
      </p:sp>
      <p:pic>
        <p:nvPicPr>
          <p:cNvPr id="53" name="Picture 52" descr="lock.png"/>
          <p:cNvPicPr>
            <a:picLocks noChangeAspect="1"/>
          </p:cNvPicPr>
          <p:nvPr/>
        </p:nvPicPr>
        <p:blipFill>
          <a:blip r:embed="rId5"/>
          <a:stretch>
            <a:fillRect/>
          </a:stretch>
        </p:blipFill>
        <p:spPr>
          <a:xfrm>
            <a:off x="11550293" y="1389951"/>
            <a:ext cx="134549" cy="195707"/>
          </a:xfrm>
          <a:prstGeom prst="rect">
            <a:avLst/>
          </a:prstGeom>
        </p:spPr>
      </p:pic>
      <p:sp>
        <p:nvSpPr>
          <p:cNvPr id="54" name="TextBox 53"/>
          <p:cNvSpPr txBox="1"/>
          <p:nvPr/>
        </p:nvSpPr>
        <p:spPr>
          <a:xfrm>
            <a:off x="11725403" y="1400175"/>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55" name="TextBox 54"/>
          <p:cNvSpPr txBox="1"/>
          <p:nvPr/>
        </p:nvSpPr>
        <p:spPr>
          <a:xfrm>
            <a:off x="7239000" y="1575435"/>
            <a:ext cx="4291682" cy="194310"/>
          </a:xfrm>
          <a:prstGeom prst="rect">
            <a:avLst/>
          </a:prstGeom>
          <a:noFill/>
        </p:spPr>
        <p:txBody>
          <a:bodyPr wrap="none" lIns="0" rIns="0" tIns="0" bIns="0">
            <a:spAutoFit/>
          </a:bodyPr>
          <a:lstStyle/>
          <a:p>
            <a:r>
              <a:rPr sz="1150" b="0">
                <a:solidFill>
                  <a:srgbClr val="2E2E2E"/>
                </a:solidFill>
                <a:latin typeface="Calibri"/>
              </a:rPr>
              <a:t>higher value than Europe in 2036. Among ear wax removal products by</a:t>
            </a:r>
          </a:p>
        </p:txBody>
      </p:sp>
      <p:sp>
        <p:nvSpPr>
          <p:cNvPr id="56" name="TextBox 55"/>
          <p:cNvSpPr txBox="1"/>
          <p:nvPr/>
        </p:nvSpPr>
        <p:spPr>
          <a:xfrm>
            <a:off x="7239000" y="1750695"/>
            <a:ext cx="4263994" cy="194310"/>
          </a:xfrm>
          <a:prstGeom prst="rect">
            <a:avLst/>
          </a:prstGeom>
          <a:noFill/>
        </p:spPr>
        <p:txBody>
          <a:bodyPr wrap="none" lIns="0" rIns="0" tIns="0" bIns="0">
            <a:spAutoFit/>
          </a:bodyPr>
          <a:lstStyle/>
          <a:p>
            <a:r>
              <a:rPr sz="1150" b="0">
                <a:solidFill>
                  <a:srgbClr val="2E2E2E"/>
                </a:solidFill>
                <a:latin typeface="Calibri"/>
              </a:rPr>
              <a:t>region, South Asia &amp; Pacific is expected to witness the highest CAGR of</a:t>
            </a:r>
          </a:p>
        </p:txBody>
      </p:sp>
      <p:pic>
        <p:nvPicPr>
          <p:cNvPr id="57" name="Picture 56" descr="lock.png"/>
          <p:cNvPicPr>
            <a:picLocks noChangeAspect="1"/>
          </p:cNvPicPr>
          <p:nvPr/>
        </p:nvPicPr>
        <p:blipFill>
          <a:blip r:embed="rId5"/>
          <a:stretch>
            <a:fillRect/>
          </a:stretch>
        </p:blipFill>
        <p:spPr>
          <a:xfrm>
            <a:off x="11452148" y="1740471"/>
            <a:ext cx="134549" cy="195707"/>
          </a:xfrm>
          <a:prstGeom prst="rect">
            <a:avLst/>
          </a:prstGeom>
        </p:spPr>
      </p:pic>
      <p:sp>
        <p:nvSpPr>
          <p:cNvPr id="58" name="TextBox 57"/>
          <p:cNvSpPr txBox="1"/>
          <p:nvPr/>
        </p:nvSpPr>
        <p:spPr>
          <a:xfrm>
            <a:off x="7239000" y="192595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59" name="TextBox 58"/>
          <p:cNvSpPr txBox="1"/>
          <p:nvPr/>
        </p:nvSpPr>
        <p:spPr>
          <a:xfrm>
            <a:off x="7239000" y="2153793"/>
            <a:ext cx="4648200"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a:t>
            </a:r>
          </a:p>
        </p:txBody>
      </p:sp>
      <p:sp>
        <p:nvSpPr>
          <p:cNvPr id="60" name="TextBox 59"/>
          <p:cNvSpPr txBox="1"/>
          <p:nvPr/>
        </p:nvSpPr>
        <p:spPr>
          <a:xfrm>
            <a:off x="7239000" y="232905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61" name="Picture 60" descr="lock.png"/>
          <p:cNvPicPr>
            <a:picLocks noChangeAspect="1"/>
          </p:cNvPicPr>
          <p:nvPr/>
        </p:nvPicPr>
        <p:blipFill>
          <a:blip r:embed="rId5"/>
          <a:stretch>
            <a:fillRect/>
          </a:stretch>
        </p:blipFill>
        <p:spPr>
          <a:xfrm>
            <a:off x="8106708" y="2318829"/>
            <a:ext cx="134549" cy="195707"/>
          </a:xfrm>
          <a:prstGeom prst="rect">
            <a:avLst/>
          </a:prstGeom>
        </p:spPr>
      </p:pic>
      <p:sp>
        <p:nvSpPr>
          <p:cNvPr id="62" name="TextBox 61"/>
          <p:cNvSpPr txBox="1"/>
          <p:nvPr/>
        </p:nvSpPr>
        <p:spPr>
          <a:xfrm>
            <a:off x="8281817"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3" name="Picture 62" descr="lock.png"/>
          <p:cNvPicPr>
            <a:picLocks noChangeAspect="1"/>
          </p:cNvPicPr>
          <p:nvPr/>
        </p:nvPicPr>
        <p:blipFill>
          <a:blip r:embed="rId5"/>
          <a:stretch>
            <a:fillRect/>
          </a:stretch>
        </p:blipFill>
        <p:spPr>
          <a:xfrm>
            <a:off x="9676961" y="2318829"/>
            <a:ext cx="134549" cy="195707"/>
          </a:xfrm>
          <a:prstGeom prst="rect">
            <a:avLst/>
          </a:prstGeom>
        </p:spPr>
      </p:pic>
      <p:sp>
        <p:nvSpPr>
          <p:cNvPr id="64" name="TextBox 63"/>
          <p:cNvSpPr txBox="1"/>
          <p:nvPr/>
        </p:nvSpPr>
        <p:spPr>
          <a:xfrm>
            <a:off x="985207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5"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Ear Wax Removal Products Market Share Analysis, By Region Volume (Mn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region, 2021–2036, highlighting the geographies gaining and ceding ground</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(Mn Units)</a:t>
            </a:r>
          </a:p>
        </p:txBody>
      </p:sp>
      <p:graphicFrame>
        <p:nvGraphicFramePr>
          <p:cNvPr id="12" name="Table 11"/>
          <p:cNvGraphicFramePr>
            <a:graphicFrameLocks noGrp="1"/>
          </p:cNvGraphicFramePr>
          <p:nvPr/>
        </p:nvGraphicFramePr>
        <p:xfrm>
          <a:off x="152400" y="1238250"/>
          <a:ext cx="11887195" cy="1971675"/>
        </p:xfrm>
        <a:graphic>
          <a:graphicData uri="http://schemas.openxmlformats.org/drawingml/2006/table">
            <a:tbl>
              <a:tblPr>
                <a:tableStyleId>{5C22544A-7EE6-4342-B048-85BDC9FD1C3A}</a:tableStyleId>
              </a:tblPr>
              <a:tblGrid>
                <a:gridCol w="1475375"/>
                <a:gridCol w="612460"/>
                <a:gridCol w="612460"/>
                <a:gridCol w="612460"/>
                <a:gridCol w="612460"/>
                <a:gridCol w="612460"/>
                <a:gridCol w="612460"/>
                <a:gridCol w="612460"/>
                <a:gridCol w="612460"/>
                <a:gridCol w="612460"/>
                <a:gridCol w="612460"/>
                <a:gridCol w="612460"/>
                <a:gridCol w="612460"/>
                <a:gridCol w="612460"/>
                <a:gridCol w="612460"/>
                <a:gridCol w="612460"/>
                <a:gridCol w="612460"/>
                <a:gridCol w="612460"/>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Share Read-out, By Region</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646995" y="2080450"/>
            <a:ext cx="366712" cy="533400"/>
          </a:xfrm>
          <a:prstGeom prst="rect">
            <a:avLst/>
          </a:prstGeom>
        </p:spPr>
      </p:pic>
      <p:sp>
        <p:nvSpPr>
          <p:cNvPr id="20" name="TextBox 19"/>
          <p:cNvSpPr txBox="1"/>
          <p:nvPr/>
        </p:nvSpPr>
        <p:spPr>
          <a:xfrm>
            <a:off x="276225" y="3971925"/>
            <a:ext cx="4661941" cy="194310"/>
          </a:xfrm>
          <a:prstGeom prst="rect">
            <a:avLst/>
          </a:prstGeom>
          <a:noFill/>
        </p:spPr>
        <p:txBody>
          <a:bodyPr wrap="none" lIns="0" rIns="0" tIns="0" bIns="0">
            <a:spAutoFit/>
          </a:bodyPr>
          <a:lstStyle/>
          <a:p>
            <a:r>
              <a:rPr sz="1150" b="0">
                <a:solidFill>
                  <a:srgbClr val="2E2E2E"/>
                </a:solidFill>
                <a:latin typeface="Calibri"/>
              </a:rPr>
              <a:t>South Asia &amp; Pacific ear wax removal products market is projected to register</a:t>
            </a:r>
          </a:p>
        </p:txBody>
      </p:sp>
      <p:pic>
        <p:nvPicPr>
          <p:cNvPr id="21" name="Picture 20" descr="lock.png"/>
          <p:cNvPicPr>
            <a:picLocks noChangeAspect="1"/>
          </p:cNvPicPr>
          <p:nvPr/>
        </p:nvPicPr>
        <p:blipFill>
          <a:blip r:embed="rId4"/>
          <a:stretch>
            <a:fillRect/>
          </a:stretch>
        </p:blipFill>
        <p:spPr>
          <a:xfrm>
            <a:off x="4887320" y="3961701"/>
            <a:ext cx="134549" cy="195707"/>
          </a:xfrm>
          <a:prstGeom prst="rect">
            <a:avLst/>
          </a:prstGeom>
        </p:spPr>
      </p:pic>
      <p:sp>
        <p:nvSpPr>
          <p:cNvPr id="22" name="TextBox 21"/>
          <p:cNvSpPr txBox="1"/>
          <p:nvPr/>
        </p:nvSpPr>
        <p:spPr>
          <a:xfrm>
            <a:off x="5062430" y="3971925"/>
            <a:ext cx="6302437" cy="194310"/>
          </a:xfrm>
          <a:prstGeom prst="rect">
            <a:avLst/>
          </a:prstGeom>
          <a:noFill/>
        </p:spPr>
        <p:txBody>
          <a:bodyPr wrap="none" lIns="0" rIns="0" tIns="0" bIns="0">
            <a:spAutoFit/>
          </a:bodyPr>
          <a:lstStyle/>
          <a:p>
            <a:r>
              <a:rPr sz="1150" b="0">
                <a:solidFill>
                  <a:srgbClr val="2E2E2E"/>
                </a:solidFill>
                <a:latin typeface="Calibri"/>
              </a:rPr>
              <a:t>X higher volume than Europe in 2036. Among ear wax removal products by region, South Asia &amp; Pacific is</a:t>
            </a:r>
          </a:p>
        </p:txBody>
      </p:sp>
      <p:sp>
        <p:nvSpPr>
          <p:cNvPr id="23" name="TextBox 22"/>
          <p:cNvSpPr txBox="1"/>
          <p:nvPr/>
        </p:nvSpPr>
        <p:spPr>
          <a:xfrm>
            <a:off x="276225" y="414718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24" name="Picture 23" descr="lock.png"/>
          <p:cNvPicPr>
            <a:picLocks noChangeAspect="1"/>
          </p:cNvPicPr>
          <p:nvPr/>
        </p:nvPicPr>
        <p:blipFill>
          <a:blip r:embed="rId4"/>
          <a:stretch>
            <a:fillRect/>
          </a:stretch>
        </p:blipFill>
        <p:spPr>
          <a:xfrm>
            <a:off x="2711386" y="4136961"/>
            <a:ext cx="134549" cy="195707"/>
          </a:xfrm>
          <a:prstGeom prst="rect">
            <a:avLst/>
          </a:prstGeom>
        </p:spPr>
      </p:pic>
      <p:sp>
        <p:nvSpPr>
          <p:cNvPr id="25" name="TextBox 24"/>
          <p:cNvSpPr txBox="1"/>
          <p:nvPr/>
        </p:nvSpPr>
        <p:spPr>
          <a:xfrm>
            <a:off x="2886495"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6046564"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 dominate the market, gaining</a:t>
            </a:r>
          </a:p>
        </p:txBody>
      </p:sp>
      <p:pic>
        <p:nvPicPr>
          <p:cNvPr id="27" name="Picture 26" descr="lock.png"/>
          <p:cNvPicPr>
            <a:picLocks noChangeAspect="1"/>
          </p:cNvPicPr>
          <p:nvPr/>
        </p:nvPicPr>
        <p:blipFill>
          <a:blip r:embed="rId4"/>
          <a:stretch>
            <a:fillRect/>
          </a:stretch>
        </p:blipFill>
        <p:spPr>
          <a:xfrm>
            <a:off x="6271943" y="4364799"/>
            <a:ext cx="134549" cy="195707"/>
          </a:xfrm>
          <a:prstGeom prst="rect">
            <a:avLst/>
          </a:prstGeom>
        </p:spPr>
      </p:pic>
      <p:sp>
        <p:nvSpPr>
          <p:cNvPr id="28" name="TextBox 27"/>
          <p:cNvSpPr txBox="1"/>
          <p:nvPr/>
        </p:nvSpPr>
        <p:spPr>
          <a:xfrm>
            <a:off x="6447052"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842195" y="4364799"/>
            <a:ext cx="134549" cy="195707"/>
          </a:xfrm>
          <a:prstGeom prst="rect">
            <a:avLst/>
          </a:prstGeom>
        </p:spPr>
      </p:pic>
      <p:sp>
        <p:nvSpPr>
          <p:cNvPr id="30" name="TextBox 29"/>
          <p:cNvSpPr txBox="1"/>
          <p:nvPr/>
        </p:nvSpPr>
        <p:spPr>
          <a:xfrm>
            <a:off x="8017304" y="4375022"/>
            <a:ext cx="2986645" cy="194310"/>
          </a:xfrm>
          <a:prstGeom prst="rect">
            <a:avLst/>
          </a:prstGeom>
          <a:noFill/>
        </p:spPr>
        <p:txBody>
          <a:bodyPr wrap="none" lIns="0" rIns="0" tIns="0" bIns="0">
            <a:spAutoFit/>
          </a:bodyPr>
          <a:lstStyle/>
          <a:p>
            <a:r>
              <a:rPr sz="1150" b="0">
                <a:solidFill>
                  <a:srgbClr val="2E2E2E"/>
                </a:solidFill>
                <a:latin typeface="Calibri"/>
              </a:rPr>
              <a:t>share by 2036. North America is expected to lose</a:t>
            </a:r>
          </a:p>
        </p:txBody>
      </p:sp>
      <p:pic>
        <p:nvPicPr>
          <p:cNvPr id="31" name="Picture 30" descr="lock.png"/>
          <p:cNvPicPr>
            <a:picLocks noChangeAspect="1"/>
          </p:cNvPicPr>
          <p:nvPr/>
        </p:nvPicPr>
        <p:blipFill>
          <a:blip r:embed="rId4"/>
          <a:stretch>
            <a:fillRect/>
          </a:stretch>
        </p:blipFill>
        <p:spPr>
          <a:xfrm>
            <a:off x="10953104" y="4364799"/>
            <a:ext cx="134549" cy="195707"/>
          </a:xfrm>
          <a:prstGeom prst="rect">
            <a:avLst/>
          </a:prstGeom>
        </p:spPr>
      </p:pic>
      <p:sp>
        <p:nvSpPr>
          <p:cNvPr id="32" name="TextBox 31"/>
          <p:cNvSpPr txBox="1"/>
          <p:nvPr/>
        </p:nvSpPr>
        <p:spPr>
          <a:xfrm>
            <a:off x="11128213" y="4375022"/>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33" name="TextBox 32"/>
          <p:cNvSpPr txBox="1"/>
          <p:nvPr/>
        </p:nvSpPr>
        <p:spPr>
          <a:xfrm>
            <a:off x="276225" y="4550282"/>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34" name="Picture 33" descr="lock.png"/>
          <p:cNvPicPr>
            <a:picLocks noChangeAspect="1"/>
          </p:cNvPicPr>
          <p:nvPr/>
        </p:nvPicPr>
        <p:blipFill>
          <a:blip r:embed="rId4"/>
          <a:stretch>
            <a:fillRect/>
          </a:stretch>
        </p:blipFill>
        <p:spPr>
          <a:xfrm>
            <a:off x="2608427" y="4540059"/>
            <a:ext cx="134549" cy="195707"/>
          </a:xfrm>
          <a:prstGeom prst="rect">
            <a:avLst/>
          </a:prstGeom>
        </p:spPr>
      </p:pic>
      <p:sp>
        <p:nvSpPr>
          <p:cNvPr id="35" name="TextBox 34"/>
          <p:cNvSpPr txBox="1"/>
          <p:nvPr/>
        </p:nvSpPr>
        <p:spPr>
          <a:xfrm>
            <a:off x="2783536"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Ear Wax Removal Products Market Share Analysis, By Region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region, 2021–2036, highlighting the geographies gaining and ceding ground</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(US$ Mn)</a:t>
            </a:r>
          </a:p>
        </p:txBody>
      </p:sp>
      <p:graphicFrame>
        <p:nvGraphicFramePr>
          <p:cNvPr id="12" name="Table 11"/>
          <p:cNvGraphicFramePr>
            <a:graphicFrameLocks noGrp="1"/>
          </p:cNvGraphicFramePr>
          <p:nvPr/>
        </p:nvGraphicFramePr>
        <p:xfrm>
          <a:off x="152400" y="1238250"/>
          <a:ext cx="11887195" cy="1971675"/>
        </p:xfrm>
        <a:graphic>
          <a:graphicData uri="http://schemas.openxmlformats.org/drawingml/2006/table">
            <a:tbl>
              <a:tblPr>
                <a:tableStyleId>{5C22544A-7EE6-4342-B048-85BDC9FD1C3A}</a:tableStyleId>
              </a:tblPr>
              <a:tblGrid>
                <a:gridCol w="1475375"/>
                <a:gridCol w="612460"/>
                <a:gridCol w="612460"/>
                <a:gridCol w="612460"/>
                <a:gridCol w="612460"/>
                <a:gridCol w="612460"/>
                <a:gridCol w="612460"/>
                <a:gridCol w="612460"/>
                <a:gridCol w="612460"/>
                <a:gridCol w="612460"/>
                <a:gridCol w="612460"/>
                <a:gridCol w="612460"/>
                <a:gridCol w="612460"/>
                <a:gridCol w="612460"/>
                <a:gridCol w="612460"/>
                <a:gridCol w="612460"/>
                <a:gridCol w="612460"/>
                <a:gridCol w="612460"/>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Share Read-out, By Region</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646995" y="2080450"/>
            <a:ext cx="366712" cy="533400"/>
          </a:xfrm>
          <a:prstGeom prst="rect">
            <a:avLst/>
          </a:prstGeom>
        </p:spPr>
      </p:pic>
      <p:sp>
        <p:nvSpPr>
          <p:cNvPr id="20" name="TextBox 19"/>
          <p:cNvSpPr txBox="1"/>
          <p:nvPr/>
        </p:nvSpPr>
        <p:spPr>
          <a:xfrm>
            <a:off x="276225" y="3971925"/>
            <a:ext cx="4362139" cy="194310"/>
          </a:xfrm>
          <a:prstGeom prst="rect">
            <a:avLst/>
          </a:prstGeom>
          <a:noFill/>
        </p:spPr>
        <p:txBody>
          <a:bodyPr wrap="none" lIns="0" rIns="0" tIns="0" bIns="0">
            <a:spAutoFit/>
          </a:bodyPr>
          <a:lstStyle/>
          <a:p>
            <a:r>
              <a:rPr sz="1150" b="0">
                <a:solidFill>
                  <a:srgbClr val="2E2E2E"/>
                </a:solidFill>
                <a:latin typeface="Calibri"/>
              </a:rPr>
              <a:t>North America ear wax removal products market is projected to register</a:t>
            </a:r>
          </a:p>
        </p:txBody>
      </p:sp>
      <p:pic>
        <p:nvPicPr>
          <p:cNvPr id="21" name="Picture 20" descr="lock.png"/>
          <p:cNvPicPr>
            <a:picLocks noChangeAspect="1"/>
          </p:cNvPicPr>
          <p:nvPr/>
        </p:nvPicPr>
        <p:blipFill>
          <a:blip r:embed="rId4"/>
          <a:stretch>
            <a:fillRect/>
          </a:stretch>
        </p:blipFill>
        <p:spPr>
          <a:xfrm>
            <a:off x="4587518" y="3961701"/>
            <a:ext cx="134549" cy="195707"/>
          </a:xfrm>
          <a:prstGeom prst="rect">
            <a:avLst/>
          </a:prstGeom>
        </p:spPr>
      </p:pic>
      <p:sp>
        <p:nvSpPr>
          <p:cNvPr id="22" name="TextBox 21"/>
          <p:cNvSpPr txBox="1"/>
          <p:nvPr/>
        </p:nvSpPr>
        <p:spPr>
          <a:xfrm>
            <a:off x="4762628" y="3971925"/>
            <a:ext cx="6916873" cy="194310"/>
          </a:xfrm>
          <a:prstGeom prst="rect">
            <a:avLst/>
          </a:prstGeom>
          <a:noFill/>
        </p:spPr>
        <p:txBody>
          <a:bodyPr wrap="none" lIns="0" rIns="0" tIns="0" bIns="0">
            <a:spAutoFit/>
          </a:bodyPr>
          <a:lstStyle/>
          <a:p>
            <a:r>
              <a:rPr sz="1150" b="0">
                <a:solidFill>
                  <a:srgbClr val="2E2E2E"/>
                </a:solidFill>
                <a:latin typeface="Calibri"/>
              </a:rPr>
              <a:t>X higher value than Europe in 2036. Among ear wax removal products by region, South Asia &amp; Pacific is expected to</a:t>
            </a:r>
          </a:p>
        </p:txBody>
      </p:sp>
      <p:sp>
        <p:nvSpPr>
          <p:cNvPr id="23" name="TextBox 22"/>
          <p:cNvSpPr txBox="1"/>
          <p:nvPr/>
        </p:nvSpPr>
        <p:spPr>
          <a:xfrm>
            <a:off x="276225" y="414718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4" name="Picture 23" descr="lock.png"/>
          <p:cNvPicPr>
            <a:picLocks noChangeAspect="1"/>
          </p:cNvPicPr>
          <p:nvPr/>
        </p:nvPicPr>
        <p:blipFill>
          <a:blip r:embed="rId4"/>
          <a:stretch>
            <a:fillRect/>
          </a:stretch>
        </p:blipFill>
        <p:spPr>
          <a:xfrm>
            <a:off x="1973149" y="4136961"/>
            <a:ext cx="134549" cy="195707"/>
          </a:xfrm>
          <a:prstGeom prst="rect">
            <a:avLst/>
          </a:prstGeom>
        </p:spPr>
      </p:pic>
      <p:sp>
        <p:nvSpPr>
          <p:cNvPr id="25" name="TextBox 24"/>
          <p:cNvSpPr txBox="1"/>
          <p:nvPr/>
        </p:nvSpPr>
        <p:spPr>
          <a:xfrm>
            <a:off x="2148258"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5541664"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 market, losing</a:t>
            </a:r>
          </a:p>
        </p:txBody>
      </p:sp>
      <p:pic>
        <p:nvPicPr>
          <p:cNvPr id="27" name="Picture 26" descr="lock.png"/>
          <p:cNvPicPr>
            <a:picLocks noChangeAspect="1"/>
          </p:cNvPicPr>
          <p:nvPr/>
        </p:nvPicPr>
        <p:blipFill>
          <a:blip r:embed="rId4"/>
          <a:stretch>
            <a:fillRect/>
          </a:stretch>
        </p:blipFill>
        <p:spPr>
          <a:xfrm>
            <a:off x="5767043" y="4364799"/>
            <a:ext cx="134549" cy="195707"/>
          </a:xfrm>
          <a:prstGeom prst="rect">
            <a:avLst/>
          </a:prstGeom>
        </p:spPr>
      </p:pic>
      <p:sp>
        <p:nvSpPr>
          <p:cNvPr id="28" name="TextBox 27"/>
          <p:cNvSpPr txBox="1"/>
          <p:nvPr/>
        </p:nvSpPr>
        <p:spPr>
          <a:xfrm>
            <a:off x="5942153"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337296" y="4364799"/>
            <a:ext cx="134549" cy="195707"/>
          </a:xfrm>
          <a:prstGeom prst="rect">
            <a:avLst/>
          </a:prstGeom>
        </p:spPr>
      </p:pic>
      <p:sp>
        <p:nvSpPr>
          <p:cNvPr id="30" name="TextBox 29"/>
          <p:cNvSpPr txBox="1"/>
          <p:nvPr/>
        </p:nvSpPr>
        <p:spPr>
          <a:xfrm>
            <a:off x="7512405" y="437502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Ear Wax Removal Products Market Trends, By Region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regional volume and value shares shift over 2021–2036, highlighting who gains ground</a:t>
            </a:r>
          </a:p>
        </p:txBody>
      </p:sp>
      <p:sp>
        <p:nvSpPr>
          <p:cNvPr id="10" name="Rounded Rectangle 9"/>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Region (Mn Units)</a:t>
            </a:r>
          </a:p>
        </p:txBody>
      </p:sp>
      <p:graphicFrame>
        <p:nvGraphicFramePr>
          <p:cNvPr id="12" name="Chart 11"/>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9763125" y="1304925"/>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MI Dense Legend"/>
          <p:cNvSpPr txBox="1"/>
          <p:nvPr/>
        </p:nvSpPr>
        <p:spPr>
          <a:xfrm>
            <a:off x="9839325" y="1362075"/>
            <a:ext cx="2057400" cy="171450"/>
          </a:xfrm>
          <a:prstGeom prst="rect">
            <a:avLst/>
          </a:prstGeom>
          <a:noFill/>
        </p:spPr>
        <p:txBody>
          <a:bodyPr wrap="none">
            <a:spAutoFit/>
          </a:bodyPr>
          <a:lstStyle/>
          <a:p>
            <a:pPr/>
            <a:r>
              <a:rPr sz="850" b="1">
                <a:solidFill>
                  <a:srgbClr val="6C7A89"/>
                </a:solidFill>
                <a:latin typeface="Calibri"/>
              </a:rPr>
              <a:t/>
            </a:r>
          </a:p>
        </p:txBody>
      </p:sp>
      <p:sp>
        <p:nvSpPr>
          <p:cNvPr id="15" name="FMI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008189"/>
                </a:solidFill>
                <a:latin typeface="Calibri"/>
              </a:rPr>
              <a:t>■  </a:t>
            </a:r>
            <a:r>
              <a:rPr sz="750">
                <a:solidFill>
                  <a:srgbClr val="2E2E2E"/>
                </a:solidFill>
                <a:latin typeface="Calibri"/>
              </a:rPr>
              <a:t>   South Asia &amp; Pacific</a:t>
            </a:r>
          </a:p>
          <a:p>
            <a:pPr>
              <a:spcBef>
                <a:spcPts val="500"/>
              </a:spcBef>
            </a:pPr>
            <a:r>
              <a:rPr sz="900">
                <a:solidFill>
                  <a:srgbClr val="9E7E0A"/>
                </a:solidFill>
                <a:latin typeface="Calibri"/>
              </a:rPr>
              <a:t>■  </a:t>
            </a:r>
            <a:r>
              <a:rPr sz="750">
                <a:solidFill>
                  <a:srgbClr val="2E2E2E"/>
                </a:solidFill>
                <a:latin typeface="Calibri"/>
              </a:rPr>
              <a:t>   Europe</a:t>
            </a:r>
          </a:p>
          <a:p>
            <a:pPr>
              <a:spcBef>
                <a:spcPts val="500"/>
              </a:spcBef>
            </a:pPr>
            <a:r>
              <a:rPr sz="900">
                <a:solidFill>
                  <a:srgbClr val="3D85C6"/>
                </a:solidFill>
                <a:latin typeface="Calibri"/>
              </a:rPr>
              <a:t>■  </a:t>
            </a:r>
            <a:r>
              <a:rPr sz="750">
                <a:solidFill>
                  <a:srgbClr val="2E2E2E"/>
                </a:solidFill>
                <a:latin typeface="Calibri"/>
              </a:rPr>
              <a:t>   North America</a:t>
            </a:r>
          </a:p>
          <a:p>
            <a:pPr>
              <a:spcBef>
                <a:spcPts val="500"/>
              </a:spcBef>
            </a:pPr>
            <a:r>
              <a:rPr sz="900">
                <a:solidFill>
                  <a:srgbClr val="40315E"/>
                </a:solidFill>
                <a:latin typeface="Calibri"/>
              </a:rPr>
              <a:t>■  </a:t>
            </a:r>
            <a:r>
              <a:rPr sz="750">
                <a:solidFill>
                  <a:srgbClr val="2E2E2E"/>
                </a:solidFill>
                <a:latin typeface="Calibri"/>
              </a:rPr>
              <a:t>   East Asia</a:t>
            </a:r>
          </a:p>
          <a:p>
            <a:pPr>
              <a:spcBef>
                <a:spcPts val="500"/>
              </a:spcBef>
            </a:pPr>
            <a:r>
              <a:rPr sz="900">
                <a:solidFill>
                  <a:srgbClr val="A35313"/>
                </a:solidFill>
                <a:latin typeface="Calibri"/>
              </a:rPr>
              <a:t>■  </a:t>
            </a:r>
            <a:r>
              <a:rPr sz="750">
                <a:solidFill>
                  <a:srgbClr val="2E2E2E"/>
                </a:solidFill>
                <a:latin typeface="Calibri"/>
              </a:rPr>
              <a:t>   Latin America</a:t>
            </a:r>
          </a:p>
          <a:p>
            <a:pPr>
              <a:spcBef>
                <a:spcPts val="500"/>
              </a:spcBef>
            </a:pPr>
            <a:r>
              <a:rPr sz="900">
                <a:solidFill>
                  <a:srgbClr val="808080"/>
                </a:solidFill>
                <a:latin typeface="Calibri"/>
              </a:rPr>
              <a:t>■  </a:t>
            </a:r>
            <a:r>
              <a:rPr sz="750">
                <a:solidFill>
                  <a:srgbClr val="2E2E2E"/>
                </a:solidFill>
                <a:latin typeface="Calibri"/>
              </a:rPr>
              <a:t>   Middle East &amp; Africa</a:t>
            </a:r>
          </a:p>
        </p:txBody>
      </p:sp>
      <p:sp>
        <p:nvSpPr>
          <p:cNvPr id="16" name="Rounded Rectangle 15"/>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Region (US$ Mn)</a:t>
            </a:r>
          </a:p>
        </p:txBody>
      </p:sp>
      <p:graphicFrame>
        <p:nvGraphicFramePr>
          <p:cNvPr id="18" name="Chart 17"/>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19" name="Rounded Rectangle 18"/>
          <p:cNvSpPr/>
          <p:nvPr/>
        </p:nvSpPr>
        <p:spPr>
          <a:xfrm>
            <a:off x="9763125" y="4191000"/>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MI Dense Legend"/>
          <p:cNvSpPr txBox="1"/>
          <p:nvPr/>
        </p:nvSpPr>
        <p:spPr>
          <a:xfrm>
            <a:off x="9839325" y="4248150"/>
            <a:ext cx="2057400" cy="171450"/>
          </a:xfrm>
          <a:prstGeom prst="rect">
            <a:avLst/>
          </a:prstGeom>
          <a:noFill/>
        </p:spPr>
        <p:txBody>
          <a:bodyPr wrap="none">
            <a:spAutoFit/>
          </a:bodyPr>
          <a:lstStyle/>
          <a:p>
            <a:pPr/>
            <a:r>
              <a:rPr sz="850" b="1">
                <a:solidFill>
                  <a:srgbClr val="6C7A89"/>
                </a:solidFill>
                <a:latin typeface="Calibri"/>
              </a:rPr>
              <a:t/>
            </a:r>
          </a:p>
        </p:txBody>
      </p:sp>
      <p:sp>
        <p:nvSpPr>
          <p:cNvPr id="21" name="FMI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3D85C6"/>
                </a:solidFill>
                <a:latin typeface="Calibri"/>
              </a:rPr>
              <a:t>■  </a:t>
            </a:r>
            <a:r>
              <a:rPr sz="750">
                <a:solidFill>
                  <a:srgbClr val="2E2E2E"/>
                </a:solidFill>
                <a:latin typeface="Calibri"/>
              </a:rPr>
              <a:t>   North America</a:t>
            </a:r>
          </a:p>
          <a:p>
            <a:pPr>
              <a:spcBef>
                <a:spcPts val="500"/>
              </a:spcBef>
            </a:pPr>
            <a:r>
              <a:rPr sz="900">
                <a:solidFill>
                  <a:srgbClr val="9E7E0A"/>
                </a:solidFill>
                <a:latin typeface="Calibri"/>
              </a:rPr>
              <a:t>■  </a:t>
            </a:r>
            <a:r>
              <a:rPr sz="750">
                <a:solidFill>
                  <a:srgbClr val="2E2E2E"/>
                </a:solidFill>
                <a:latin typeface="Calibri"/>
              </a:rPr>
              <a:t>   Europe</a:t>
            </a:r>
          </a:p>
          <a:p>
            <a:pPr>
              <a:spcBef>
                <a:spcPts val="500"/>
              </a:spcBef>
            </a:pPr>
            <a:r>
              <a:rPr sz="900">
                <a:solidFill>
                  <a:srgbClr val="40315E"/>
                </a:solidFill>
                <a:latin typeface="Calibri"/>
              </a:rPr>
              <a:t>■  </a:t>
            </a:r>
            <a:r>
              <a:rPr sz="750">
                <a:solidFill>
                  <a:srgbClr val="2E2E2E"/>
                </a:solidFill>
                <a:latin typeface="Calibri"/>
              </a:rPr>
              <a:t>   South Asia &amp; Pacific</a:t>
            </a:r>
          </a:p>
          <a:p>
            <a:pPr>
              <a:spcBef>
                <a:spcPts val="500"/>
              </a:spcBef>
            </a:pPr>
            <a:r>
              <a:rPr sz="900">
                <a:solidFill>
                  <a:srgbClr val="008189"/>
                </a:solidFill>
                <a:latin typeface="Calibri"/>
              </a:rPr>
              <a:t>■  </a:t>
            </a:r>
            <a:r>
              <a:rPr sz="750">
                <a:solidFill>
                  <a:srgbClr val="2E2E2E"/>
                </a:solidFill>
                <a:latin typeface="Calibri"/>
              </a:rPr>
              <a:t>   East Asia</a:t>
            </a:r>
          </a:p>
          <a:p>
            <a:pPr>
              <a:spcBef>
                <a:spcPts val="500"/>
              </a:spcBef>
            </a:pPr>
            <a:r>
              <a:rPr sz="900">
                <a:solidFill>
                  <a:srgbClr val="A35313"/>
                </a:solidFill>
                <a:latin typeface="Calibri"/>
              </a:rPr>
              <a:t>■  </a:t>
            </a:r>
            <a:r>
              <a:rPr sz="750">
                <a:solidFill>
                  <a:srgbClr val="2E2E2E"/>
                </a:solidFill>
                <a:latin typeface="Calibri"/>
              </a:rPr>
              <a:t>   Latin America</a:t>
            </a:r>
          </a:p>
          <a:p>
            <a:pPr>
              <a:spcBef>
                <a:spcPts val="500"/>
              </a:spcBef>
            </a:pPr>
            <a:r>
              <a:rPr sz="900">
                <a:solidFill>
                  <a:srgbClr val="808080"/>
                </a:solidFill>
                <a:latin typeface="Calibri"/>
              </a:rPr>
              <a:t>■  </a:t>
            </a:r>
            <a:r>
              <a:rPr sz="750">
                <a:solidFill>
                  <a:srgbClr val="2E2E2E"/>
                </a:solidFill>
                <a:latin typeface="Calibri"/>
              </a:rPr>
              <a:t>   Middle East &amp; Africa</a:t>
            </a: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3" name="TextBox 22"/>
          <p:cNvSpPr txBox="1"/>
          <p:nvPr/>
        </p:nvSpPr>
        <p:spPr>
          <a:xfrm>
            <a:off x="9930765" y="1407795"/>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4" name="TextBox 23"/>
          <p:cNvSpPr txBox="1"/>
          <p:nvPr/>
        </p:nvSpPr>
        <p:spPr>
          <a:xfrm>
            <a:off x="9930765" y="4293870"/>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5" name="lockshield_12"/>
          <p:cNvSpPr/>
          <p:nvPr/>
        </p:nvSpPr>
        <p:spPr>
          <a:xfrm>
            <a:off x="238125" y="1266825"/>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8"/>
          <p:cNvSpPr/>
          <p:nvPr/>
        </p:nvSpPr>
        <p:spPr>
          <a:xfrm>
            <a:off x="238125" y="4152900"/>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Ear Wax Removal Products Market Top 10 Countries (2036)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global market in 2036, highlighting the leading countries within each region by value</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by country  ·  2036 (US$ Mn)  ·  tile size = market value</a:t>
            </a:r>
          </a:p>
        </p:txBody>
      </p:sp>
      <p:sp>
        <p:nvSpPr>
          <p:cNvPr id="12" name="Rectangle 11"/>
          <p:cNvSpPr/>
          <p:nvPr/>
        </p:nvSpPr>
        <p:spPr>
          <a:xfrm>
            <a:off x="238125" y="1266825"/>
            <a:ext cx="3246537"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3" name="Rectangle 12"/>
          <p:cNvSpPr/>
          <p:nvPr/>
        </p:nvSpPr>
        <p:spPr>
          <a:xfrm>
            <a:off x="3484662" y="1266825"/>
            <a:ext cx="3441009" cy="2887119"/>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14" name="Rectangle 13"/>
          <p:cNvSpPr/>
          <p:nvPr/>
        </p:nvSpPr>
        <p:spPr>
          <a:xfrm>
            <a:off x="3484662" y="4153944"/>
            <a:ext cx="3441009" cy="2418306"/>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5" name="Rectangle 14"/>
          <p:cNvSpPr/>
          <p:nvPr/>
        </p:nvSpPr>
        <p:spPr>
          <a:xfrm>
            <a:off x="6925671" y="1266825"/>
            <a:ext cx="2853838" cy="2242473"/>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16" name="Rectangle 15"/>
          <p:cNvSpPr/>
          <p:nvPr/>
        </p:nvSpPr>
        <p:spPr>
          <a:xfrm>
            <a:off x="9779509" y="1266825"/>
            <a:ext cx="2174366" cy="2242473"/>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17" name="Rectangle 16"/>
          <p:cNvSpPr/>
          <p:nvPr/>
        </p:nvSpPr>
        <p:spPr>
          <a:xfrm>
            <a:off x="6925671" y="3509298"/>
            <a:ext cx="2443090" cy="1641050"/>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18" name="Rectangle 17"/>
          <p:cNvSpPr/>
          <p:nvPr/>
        </p:nvSpPr>
        <p:spPr>
          <a:xfrm>
            <a:off x="6925671" y="5150348"/>
            <a:ext cx="2443090" cy="1421902"/>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19" name="Rectangle 18"/>
          <p:cNvSpPr/>
          <p:nvPr/>
        </p:nvSpPr>
        <p:spPr>
          <a:xfrm>
            <a:off x="9368761" y="3509298"/>
            <a:ext cx="1303918" cy="2110512"/>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20" name="Rectangle 19"/>
          <p:cNvSpPr/>
          <p:nvPr/>
        </p:nvSpPr>
        <p:spPr>
          <a:xfrm>
            <a:off x="10672679" y="3509298"/>
            <a:ext cx="1281196" cy="2110512"/>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France</a:t>
            </a:r>
          </a:p>
          <a:p>
            <a:pPr algn="ctr"/>
            <a:r>
              <a:rPr sz="1100" b="0">
                <a:solidFill>
                  <a:srgbClr val="FFFFFF"/>
                </a:solidFill>
                <a:latin typeface="Calibri"/>
              </a:rPr>
              <a:t> </a:t>
            </a:r>
          </a:p>
        </p:txBody>
      </p:sp>
      <p:sp>
        <p:nvSpPr>
          <p:cNvPr id="21" name="Rectangle 20"/>
          <p:cNvSpPr/>
          <p:nvPr/>
        </p:nvSpPr>
        <p:spPr>
          <a:xfrm>
            <a:off x="9368761" y="5619810"/>
            <a:ext cx="2585114" cy="952440"/>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Turkey</a:t>
            </a:r>
          </a:p>
          <a:p>
            <a:pPr algn="ctr"/>
            <a:r>
              <a:rPr sz="1100" b="0">
                <a:solidFill>
                  <a:srgbClr val="FFFFFF"/>
                </a:solidFill>
                <a:latin typeface="Calibri"/>
              </a:rPr>
              <a:t> </a:t>
            </a: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4"/>
          <a:stretch>
            <a:fillRect/>
          </a:stretch>
        </p:blipFill>
        <p:spPr>
          <a:xfrm>
            <a:off x="1706954" y="3919537"/>
            <a:ext cx="308877" cy="449275"/>
          </a:xfrm>
          <a:prstGeom prst="rect">
            <a:avLst/>
          </a:prstGeom>
        </p:spPr>
      </p:pic>
      <p:pic>
        <p:nvPicPr>
          <p:cNvPr id="24" name="Picture 23" descr="lock.png"/>
          <p:cNvPicPr>
            <a:picLocks noChangeAspect="1"/>
          </p:cNvPicPr>
          <p:nvPr/>
        </p:nvPicPr>
        <p:blipFill>
          <a:blip r:embed="rId4"/>
          <a:stretch>
            <a:fillRect/>
          </a:stretch>
        </p:blipFill>
        <p:spPr>
          <a:xfrm>
            <a:off x="5050728" y="2710384"/>
            <a:ext cx="308877" cy="449275"/>
          </a:xfrm>
          <a:prstGeom prst="rect">
            <a:avLst/>
          </a:prstGeom>
        </p:spPr>
      </p:pic>
      <p:pic>
        <p:nvPicPr>
          <p:cNvPr id="25" name="Picture 24" descr="lock.png"/>
          <p:cNvPicPr>
            <a:picLocks noChangeAspect="1"/>
          </p:cNvPicPr>
          <p:nvPr/>
        </p:nvPicPr>
        <p:blipFill>
          <a:blip r:embed="rId4"/>
          <a:stretch>
            <a:fillRect/>
          </a:stretch>
        </p:blipFill>
        <p:spPr>
          <a:xfrm>
            <a:off x="5050728" y="5363097"/>
            <a:ext cx="308877" cy="449275"/>
          </a:xfrm>
          <a:prstGeom prst="rect">
            <a:avLst/>
          </a:prstGeom>
        </p:spPr>
      </p:pic>
      <p:pic>
        <p:nvPicPr>
          <p:cNvPr id="26" name="Picture 25" descr="lock.png"/>
          <p:cNvPicPr>
            <a:picLocks noChangeAspect="1"/>
          </p:cNvPicPr>
          <p:nvPr/>
        </p:nvPicPr>
        <p:blipFill>
          <a:blip r:embed="rId4"/>
          <a:stretch>
            <a:fillRect/>
          </a:stretch>
        </p:blipFill>
        <p:spPr>
          <a:xfrm>
            <a:off x="8198151" y="2388061"/>
            <a:ext cx="308877" cy="449275"/>
          </a:xfrm>
          <a:prstGeom prst="rect">
            <a:avLst/>
          </a:prstGeom>
        </p:spPr>
      </p:pic>
      <p:pic>
        <p:nvPicPr>
          <p:cNvPr id="27" name="Picture 26" descr="lock.png"/>
          <p:cNvPicPr>
            <a:picLocks noChangeAspect="1"/>
          </p:cNvPicPr>
          <p:nvPr/>
        </p:nvPicPr>
        <p:blipFill>
          <a:blip r:embed="rId4"/>
          <a:stretch>
            <a:fillRect/>
          </a:stretch>
        </p:blipFill>
        <p:spPr>
          <a:xfrm>
            <a:off x="10712253" y="2388061"/>
            <a:ext cx="308877" cy="449275"/>
          </a:xfrm>
          <a:prstGeom prst="rect">
            <a:avLst/>
          </a:prstGeom>
        </p:spPr>
      </p:pic>
      <p:pic>
        <p:nvPicPr>
          <p:cNvPr id="28" name="Picture 27" descr="lock.png"/>
          <p:cNvPicPr>
            <a:picLocks noChangeAspect="1"/>
          </p:cNvPicPr>
          <p:nvPr/>
        </p:nvPicPr>
        <p:blipFill>
          <a:blip r:embed="rId4"/>
          <a:stretch>
            <a:fillRect/>
          </a:stretch>
        </p:blipFill>
        <p:spPr>
          <a:xfrm>
            <a:off x="7992777" y="4329823"/>
            <a:ext cx="308877" cy="449275"/>
          </a:xfrm>
          <a:prstGeom prst="rect">
            <a:avLst/>
          </a:prstGeom>
        </p:spPr>
      </p:pic>
      <p:pic>
        <p:nvPicPr>
          <p:cNvPr id="29" name="Picture 28" descr="lock.png"/>
          <p:cNvPicPr>
            <a:picLocks noChangeAspect="1"/>
          </p:cNvPicPr>
          <p:nvPr/>
        </p:nvPicPr>
        <p:blipFill>
          <a:blip r:embed="rId4"/>
          <a:stretch>
            <a:fillRect/>
          </a:stretch>
        </p:blipFill>
        <p:spPr>
          <a:xfrm>
            <a:off x="7992777" y="5861298"/>
            <a:ext cx="308877" cy="449275"/>
          </a:xfrm>
          <a:prstGeom prst="rect">
            <a:avLst/>
          </a:prstGeom>
        </p:spPr>
      </p:pic>
      <p:pic>
        <p:nvPicPr>
          <p:cNvPr id="30" name="Picture 29" descr="lock.png"/>
          <p:cNvPicPr>
            <a:picLocks noChangeAspect="1"/>
          </p:cNvPicPr>
          <p:nvPr/>
        </p:nvPicPr>
        <p:blipFill>
          <a:blip r:embed="rId4"/>
          <a:stretch>
            <a:fillRect/>
          </a:stretch>
        </p:blipFill>
        <p:spPr>
          <a:xfrm>
            <a:off x="9866281" y="4564554"/>
            <a:ext cx="308877" cy="449275"/>
          </a:xfrm>
          <a:prstGeom prst="rect">
            <a:avLst/>
          </a:prstGeom>
        </p:spPr>
      </p:pic>
      <p:pic>
        <p:nvPicPr>
          <p:cNvPr id="31" name="Picture 30" descr="lock.png"/>
          <p:cNvPicPr>
            <a:picLocks noChangeAspect="1"/>
          </p:cNvPicPr>
          <p:nvPr/>
        </p:nvPicPr>
        <p:blipFill>
          <a:blip r:embed="rId4"/>
          <a:stretch>
            <a:fillRect/>
          </a:stretch>
        </p:blipFill>
        <p:spPr>
          <a:xfrm>
            <a:off x="11158838" y="4564554"/>
            <a:ext cx="308877" cy="449275"/>
          </a:xfrm>
          <a:prstGeom prst="rect">
            <a:avLst/>
          </a:prstGeom>
        </p:spPr>
      </p:pic>
      <p:pic>
        <p:nvPicPr>
          <p:cNvPr id="32" name="Picture 31" descr="lock.png"/>
          <p:cNvPicPr>
            <a:picLocks noChangeAspect="1"/>
          </p:cNvPicPr>
          <p:nvPr/>
        </p:nvPicPr>
        <p:blipFill>
          <a:blip r:embed="rId4"/>
          <a:stretch>
            <a:fillRect/>
          </a:stretch>
        </p:blipFill>
        <p:spPr>
          <a:xfrm>
            <a:off x="10506879" y="6096030"/>
            <a:ext cx="308877" cy="449275"/>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Global Market Analysis By Segments</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 User</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Channel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Age Group</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Product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Type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7 sub-segments of Product Type,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Type segment categorizes the market by product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330779"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330779"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Irrigation Devices and Accessories</a:t>
            </a:r>
          </a:p>
        </p:txBody>
      </p:sp>
      <p:sp>
        <p:nvSpPr>
          <p:cNvPr id="22" name="Rectangle 21"/>
          <p:cNvSpPr/>
          <p:nvPr/>
        </p:nvSpPr>
        <p:spPr>
          <a:xfrm>
            <a:off x="1866900"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370364"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311979" y="1773916"/>
            <a:ext cx="1330779"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311979" y="1992961"/>
            <a:ext cx="1330779"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50079"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Drops</a:t>
            </a:r>
          </a:p>
        </p:txBody>
      </p:sp>
      <p:sp>
        <p:nvSpPr>
          <p:cNvPr id="29" name="Rectangle 28"/>
          <p:cNvSpPr/>
          <p:nvPr/>
        </p:nvSpPr>
        <p:spPr>
          <a:xfrm>
            <a:off x="3311979"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311979"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311979"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3815443"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4757057" y="1773916"/>
            <a:ext cx="1330779"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57057" y="1992961"/>
            <a:ext cx="1330779"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5157"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Sprays</a:t>
            </a:r>
          </a:p>
        </p:txBody>
      </p:sp>
      <p:sp>
        <p:nvSpPr>
          <p:cNvPr id="36" name="Rectangle 35"/>
          <p:cNvSpPr/>
          <p:nvPr/>
        </p:nvSpPr>
        <p:spPr>
          <a:xfrm>
            <a:off x="4757057"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4757057"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4757057"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260521"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202136" y="1773916"/>
            <a:ext cx="1330779"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02136" y="1992961"/>
            <a:ext cx="1330779"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40236"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Manual Removal Tools</a:t>
            </a:r>
          </a:p>
        </p:txBody>
      </p:sp>
      <p:sp>
        <p:nvSpPr>
          <p:cNvPr id="43" name="Rectangle 42"/>
          <p:cNvSpPr/>
          <p:nvPr/>
        </p:nvSpPr>
        <p:spPr>
          <a:xfrm>
            <a:off x="6202136"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202136"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202136"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670560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7647214" y="1773916"/>
            <a:ext cx="1330779"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647214" y="1992961"/>
            <a:ext cx="1330779"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85314"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Suction Devices and Accessories</a:t>
            </a:r>
          </a:p>
        </p:txBody>
      </p:sp>
      <p:sp>
        <p:nvSpPr>
          <p:cNvPr id="50" name="Rectangle 49"/>
          <p:cNvSpPr/>
          <p:nvPr/>
        </p:nvSpPr>
        <p:spPr>
          <a:xfrm>
            <a:off x="7647214"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7647214"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7647214"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8150679"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9092293" y="1773916"/>
            <a:ext cx="1330779"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092293" y="1992961"/>
            <a:ext cx="1330779"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30393"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Camera-Assisted Removal Devices</a:t>
            </a:r>
          </a:p>
        </p:txBody>
      </p:sp>
      <p:sp>
        <p:nvSpPr>
          <p:cNvPr id="57" name="Rectangle 56"/>
          <p:cNvSpPr/>
          <p:nvPr/>
        </p:nvSpPr>
        <p:spPr>
          <a:xfrm>
            <a:off x="9092293"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9092293"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9092293"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9595757"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10537371" y="1773916"/>
            <a:ext cx="1330779"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537371" y="1992961"/>
            <a:ext cx="1330779"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75471"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Combination Removal Kits</a:t>
            </a:r>
          </a:p>
        </p:txBody>
      </p:sp>
      <p:sp>
        <p:nvSpPr>
          <p:cNvPr id="64" name="Rectangle 63"/>
          <p:cNvSpPr/>
          <p:nvPr/>
        </p:nvSpPr>
        <p:spPr>
          <a:xfrm>
            <a:off x="10537371"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5" name="Rectangle 64"/>
          <p:cNvSpPr/>
          <p:nvPr/>
        </p:nvSpPr>
        <p:spPr>
          <a:xfrm>
            <a:off x="10537371"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6" name="Rectangle 65"/>
          <p:cNvSpPr/>
          <p:nvPr/>
        </p:nvSpPr>
        <p:spPr>
          <a:xfrm>
            <a:off x="10537371"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7" name="Oval 66"/>
          <p:cNvSpPr/>
          <p:nvPr/>
        </p:nvSpPr>
        <p:spPr>
          <a:xfrm>
            <a:off x="11040836"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68" name="Rounded Rectangle 6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70" name="Rectangle 69"/>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72" name="Rounded Rectangle 7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74" name="Rectangle 73"/>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810000" y="4219912"/>
            <a:ext cx="421005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p:txBody>
      </p:sp>
      <p:sp>
        <p:nvSpPr>
          <p:cNvPr id="76" name="Rounded Rectangle 7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8" name="Rectangle 77"/>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Product Type split shows how demand is distributed across product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80" name="Rectangle 7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82" name="TextBox 8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83" name="TextBox 8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4" name="Picture 83" descr="502_0_605E5C.png"/>
          <p:cNvPicPr>
            <a:picLocks noChangeAspect="1"/>
          </p:cNvPicPr>
          <p:nvPr/>
        </p:nvPicPr>
        <p:blipFill>
          <a:blip r:embed="rId4"/>
          <a:stretch>
            <a:fillRect/>
          </a:stretch>
        </p:blipFill>
        <p:spPr>
          <a:xfrm>
            <a:off x="1934425" y="2286582"/>
            <a:ext cx="1195728" cy="361950"/>
          </a:xfrm>
          <a:prstGeom prst="rect">
            <a:avLst/>
          </a:prstGeom>
        </p:spPr>
      </p:pic>
      <p:pic>
        <p:nvPicPr>
          <p:cNvPr id="85" name="Picture 84" descr="924_8_605E5C.png"/>
          <p:cNvPicPr>
            <a:picLocks noChangeAspect="1"/>
          </p:cNvPicPr>
          <p:nvPr/>
        </p:nvPicPr>
        <p:blipFill>
          <a:blip r:embed="rId5"/>
          <a:stretch>
            <a:fillRect/>
          </a:stretch>
        </p:blipFill>
        <p:spPr>
          <a:xfrm>
            <a:off x="1934425" y="2779432"/>
            <a:ext cx="1195728" cy="361950"/>
          </a:xfrm>
          <a:prstGeom prst="rect">
            <a:avLst/>
          </a:prstGeom>
        </p:spPr>
      </p:pic>
      <p:pic>
        <p:nvPicPr>
          <p:cNvPr id="86" name="Picture 85" descr="6_3__605E5C.png"/>
          <p:cNvPicPr>
            <a:picLocks noChangeAspect="1"/>
          </p:cNvPicPr>
          <p:nvPr/>
        </p:nvPicPr>
        <p:blipFill>
          <a:blip r:embed="rId6"/>
          <a:stretch>
            <a:fillRect/>
          </a:stretch>
        </p:blipFill>
        <p:spPr>
          <a:xfrm>
            <a:off x="2041071" y="3272281"/>
            <a:ext cx="982436" cy="361950"/>
          </a:xfrm>
          <a:prstGeom prst="rect">
            <a:avLst/>
          </a:prstGeom>
        </p:spPr>
      </p:pic>
      <p:pic>
        <p:nvPicPr>
          <p:cNvPr id="87" name="Picture 86" descr="411_4_605E5C.png"/>
          <p:cNvPicPr>
            <a:picLocks noChangeAspect="1"/>
          </p:cNvPicPr>
          <p:nvPr/>
        </p:nvPicPr>
        <p:blipFill>
          <a:blip r:embed="rId7"/>
          <a:stretch>
            <a:fillRect/>
          </a:stretch>
        </p:blipFill>
        <p:spPr>
          <a:xfrm>
            <a:off x="3379504" y="2286582"/>
            <a:ext cx="1195728" cy="361950"/>
          </a:xfrm>
          <a:prstGeom prst="rect">
            <a:avLst/>
          </a:prstGeom>
        </p:spPr>
      </p:pic>
      <p:pic>
        <p:nvPicPr>
          <p:cNvPr id="88" name="Picture 87" descr="800_4_605E5C.png"/>
          <p:cNvPicPr>
            <a:picLocks noChangeAspect="1"/>
          </p:cNvPicPr>
          <p:nvPr/>
        </p:nvPicPr>
        <p:blipFill>
          <a:blip r:embed="rId8"/>
          <a:stretch>
            <a:fillRect/>
          </a:stretch>
        </p:blipFill>
        <p:spPr>
          <a:xfrm>
            <a:off x="3379504" y="2779432"/>
            <a:ext cx="1195728" cy="361950"/>
          </a:xfrm>
          <a:prstGeom prst="rect">
            <a:avLst/>
          </a:prstGeom>
        </p:spPr>
      </p:pic>
      <p:pic>
        <p:nvPicPr>
          <p:cNvPr id="89" name="Picture 88" descr="6_9__605E5C.png"/>
          <p:cNvPicPr>
            <a:picLocks noChangeAspect="1"/>
          </p:cNvPicPr>
          <p:nvPr/>
        </p:nvPicPr>
        <p:blipFill>
          <a:blip r:embed="rId9"/>
          <a:stretch>
            <a:fillRect/>
          </a:stretch>
        </p:blipFill>
        <p:spPr>
          <a:xfrm>
            <a:off x="3486150" y="3272281"/>
            <a:ext cx="982436" cy="361950"/>
          </a:xfrm>
          <a:prstGeom prst="rect">
            <a:avLst/>
          </a:prstGeom>
        </p:spPr>
      </p:pic>
      <p:pic>
        <p:nvPicPr>
          <p:cNvPr id="90" name="Picture 89" descr="379_5_605E5C.png"/>
          <p:cNvPicPr>
            <a:picLocks noChangeAspect="1"/>
          </p:cNvPicPr>
          <p:nvPr/>
        </p:nvPicPr>
        <p:blipFill>
          <a:blip r:embed="rId10"/>
          <a:stretch>
            <a:fillRect/>
          </a:stretch>
        </p:blipFill>
        <p:spPr>
          <a:xfrm>
            <a:off x="4824582" y="2286582"/>
            <a:ext cx="1195728" cy="361950"/>
          </a:xfrm>
          <a:prstGeom prst="rect">
            <a:avLst/>
          </a:prstGeom>
        </p:spPr>
      </p:pic>
      <p:pic>
        <p:nvPicPr>
          <p:cNvPr id="91" name="Picture 90" descr="505_0_605E5C.png"/>
          <p:cNvPicPr>
            <a:picLocks noChangeAspect="1"/>
          </p:cNvPicPr>
          <p:nvPr/>
        </p:nvPicPr>
        <p:blipFill>
          <a:blip r:embed="rId11"/>
          <a:stretch>
            <a:fillRect/>
          </a:stretch>
        </p:blipFill>
        <p:spPr>
          <a:xfrm>
            <a:off x="4824582" y="2779432"/>
            <a:ext cx="1195728" cy="361950"/>
          </a:xfrm>
          <a:prstGeom prst="rect">
            <a:avLst/>
          </a:prstGeom>
        </p:spPr>
      </p:pic>
      <p:pic>
        <p:nvPicPr>
          <p:cNvPr id="92" name="Picture 91" descr="2_9__605E5C.png"/>
          <p:cNvPicPr>
            <a:picLocks noChangeAspect="1"/>
          </p:cNvPicPr>
          <p:nvPr/>
        </p:nvPicPr>
        <p:blipFill>
          <a:blip r:embed="rId12"/>
          <a:stretch>
            <a:fillRect/>
          </a:stretch>
        </p:blipFill>
        <p:spPr>
          <a:xfrm>
            <a:off x="4931228" y="3272281"/>
            <a:ext cx="982436" cy="361950"/>
          </a:xfrm>
          <a:prstGeom prst="rect">
            <a:avLst/>
          </a:prstGeom>
        </p:spPr>
      </p:pic>
      <p:pic>
        <p:nvPicPr>
          <p:cNvPr id="93" name="Picture 92" descr="238_2_605E5C.png"/>
          <p:cNvPicPr>
            <a:picLocks noChangeAspect="1"/>
          </p:cNvPicPr>
          <p:nvPr/>
        </p:nvPicPr>
        <p:blipFill>
          <a:blip r:embed="rId13"/>
          <a:stretch>
            <a:fillRect/>
          </a:stretch>
        </p:blipFill>
        <p:spPr>
          <a:xfrm>
            <a:off x="6269661" y="2286582"/>
            <a:ext cx="1195728" cy="361950"/>
          </a:xfrm>
          <a:prstGeom prst="rect">
            <a:avLst/>
          </a:prstGeom>
        </p:spPr>
      </p:pic>
      <p:pic>
        <p:nvPicPr>
          <p:cNvPr id="94" name="Picture 93" descr="412_7_605E5C.png"/>
          <p:cNvPicPr>
            <a:picLocks noChangeAspect="1"/>
          </p:cNvPicPr>
          <p:nvPr/>
        </p:nvPicPr>
        <p:blipFill>
          <a:blip r:embed="rId14"/>
          <a:stretch>
            <a:fillRect/>
          </a:stretch>
        </p:blipFill>
        <p:spPr>
          <a:xfrm>
            <a:off x="6269661" y="2779432"/>
            <a:ext cx="1195728" cy="361950"/>
          </a:xfrm>
          <a:prstGeom prst="rect">
            <a:avLst/>
          </a:prstGeom>
        </p:spPr>
      </p:pic>
      <p:pic>
        <p:nvPicPr>
          <p:cNvPr id="95" name="Picture 94" descr="5_7__605E5C.png"/>
          <p:cNvPicPr>
            <a:picLocks noChangeAspect="1"/>
          </p:cNvPicPr>
          <p:nvPr/>
        </p:nvPicPr>
        <p:blipFill>
          <a:blip r:embed="rId15"/>
          <a:stretch>
            <a:fillRect/>
          </a:stretch>
        </p:blipFill>
        <p:spPr>
          <a:xfrm>
            <a:off x="6376307" y="3272281"/>
            <a:ext cx="982436" cy="361950"/>
          </a:xfrm>
          <a:prstGeom prst="rect">
            <a:avLst/>
          </a:prstGeom>
        </p:spPr>
      </p:pic>
      <p:pic>
        <p:nvPicPr>
          <p:cNvPr id="96" name="Picture 95" descr="235_0_605E5C.png"/>
          <p:cNvPicPr>
            <a:picLocks noChangeAspect="1"/>
          </p:cNvPicPr>
          <p:nvPr/>
        </p:nvPicPr>
        <p:blipFill>
          <a:blip r:embed="rId16"/>
          <a:stretch>
            <a:fillRect/>
          </a:stretch>
        </p:blipFill>
        <p:spPr>
          <a:xfrm>
            <a:off x="7714739" y="2286582"/>
            <a:ext cx="1195728" cy="361950"/>
          </a:xfrm>
          <a:prstGeom prst="rect">
            <a:avLst/>
          </a:prstGeom>
        </p:spPr>
      </p:pic>
      <p:pic>
        <p:nvPicPr>
          <p:cNvPr id="97" name="Picture 96" descr="358_6_605E5C.png"/>
          <p:cNvPicPr>
            <a:picLocks noChangeAspect="1"/>
          </p:cNvPicPr>
          <p:nvPr/>
        </p:nvPicPr>
        <p:blipFill>
          <a:blip r:embed="rId17"/>
          <a:stretch>
            <a:fillRect/>
          </a:stretch>
        </p:blipFill>
        <p:spPr>
          <a:xfrm>
            <a:off x="7714739" y="2779432"/>
            <a:ext cx="1195728" cy="361950"/>
          </a:xfrm>
          <a:prstGeom prst="rect">
            <a:avLst/>
          </a:prstGeom>
        </p:spPr>
      </p:pic>
      <p:pic>
        <p:nvPicPr>
          <p:cNvPr id="98" name="Picture 97" descr="4_3__605E5C.png"/>
          <p:cNvPicPr>
            <a:picLocks noChangeAspect="1"/>
          </p:cNvPicPr>
          <p:nvPr/>
        </p:nvPicPr>
        <p:blipFill>
          <a:blip r:embed="rId18"/>
          <a:stretch>
            <a:fillRect/>
          </a:stretch>
        </p:blipFill>
        <p:spPr>
          <a:xfrm>
            <a:off x="7821385" y="3272281"/>
            <a:ext cx="982436" cy="361950"/>
          </a:xfrm>
          <a:prstGeom prst="rect">
            <a:avLst/>
          </a:prstGeom>
        </p:spPr>
      </p:pic>
      <p:pic>
        <p:nvPicPr>
          <p:cNvPr id="99" name="Picture 98" descr="179_7_605E5C.png"/>
          <p:cNvPicPr>
            <a:picLocks noChangeAspect="1"/>
          </p:cNvPicPr>
          <p:nvPr/>
        </p:nvPicPr>
        <p:blipFill>
          <a:blip r:embed="rId19"/>
          <a:stretch>
            <a:fillRect/>
          </a:stretch>
        </p:blipFill>
        <p:spPr>
          <a:xfrm>
            <a:off x="9159818" y="2286582"/>
            <a:ext cx="1195728" cy="361950"/>
          </a:xfrm>
          <a:prstGeom prst="rect">
            <a:avLst/>
          </a:prstGeom>
        </p:spPr>
      </p:pic>
      <p:pic>
        <p:nvPicPr>
          <p:cNvPr id="100" name="Picture 99" descr="305_7_605E5C.png"/>
          <p:cNvPicPr>
            <a:picLocks noChangeAspect="1"/>
          </p:cNvPicPr>
          <p:nvPr/>
        </p:nvPicPr>
        <p:blipFill>
          <a:blip r:embed="rId20"/>
          <a:stretch>
            <a:fillRect/>
          </a:stretch>
        </p:blipFill>
        <p:spPr>
          <a:xfrm>
            <a:off x="9159818" y="2779432"/>
            <a:ext cx="1195728" cy="361950"/>
          </a:xfrm>
          <a:prstGeom prst="rect">
            <a:avLst/>
          </a:prstGeom>
        </p:spPr>
      </p:pic>
      <p:pic>
        <p:nvPicPr>
          <p:cNvPr id="101" name="Picture 100" descr="5_5__605E5C.png"/>
          <p:cNvPicPr>
            <a:picLocks noChangeAspect="1"/>
          </p:cNvPicPr>
          <p:nvPr/>
        </p:nvPicPr>
        <p:blipFill>
          <a:blip r:embed="rId21"/>
          <a:stretch>
            <a:fillRect/>
          </a:stretch>
        </p:blipFill>
        <p:spPr>
          <a:xfrm>
            <a:off x="9266464" y="3272281"/>
            <a:ext cx="982436" cy="361950"/>
          </a:xfrm>
          <a:prstGeom prst="rect">
            <a:avLst/>
          </a:prstGeom>
        </p:spPr>
      </p:pic>
      <p:pic>
        <p:nvPicPr>
          <p:cNvPr id="102" name="Picture 101" descr="164_3_605E5C.png"/>
          <p:cNvPicPr>
            <a:picLocks noChangeAspect="1"/>
          </p:cNvPicPr>
          <p:nvPr/>
        </p:nvPicPr>
        <p:blipFill>
          <a:blip r:embed="rId22"/>
          <a:stretch>
            <a:fillRect/>
          </a:stretch>
        </p:blipFill>
        <p:spPr>
          <a:xfrm>
            <a:off x="10604896" y="2286582"/>
            <a:ext cx="1195728" cy="361950"/>
          </a:xfrm>
          <a:prstGeom prst="rect">
            <a:avLst/>
          </a:prstGeom>
        </p:spPr>
      </p:pic>
      <p:pic>
        <p:nvPicPr>
          <p:cNvPr id="103" name="Picture 102" descr="297_1_605E5C.png"/>
          <p:cNvPicPr>
            <a:picLocks noChangeAspect="1"/>
          </p:cNvPicPr>
          <p:nvPr/>
        </p:nvPicPr>
        <p:blipFill>
          <a:blip r:embed="rId23"/>
          <a:stretch>
            <a:fillRect/>
          </a:stretch>
        </p:blipFill>
        <p:spPr>
          <a:xfrm>
            <a:off x="10604896" y="2779432"/>
            <a:ext cx="1195728" cy="361950"/>
          </a:xfrm>
          <a:prstGeom prst="rect">
            <a:avLst/>
          </a:prstGeom>
        </p:spPr>
      </p:pic>
      <p:pic>
        <p:nvPicPr>
          <p:cNvPr id="104" name="Picture 103" descr="6_1__605E5C.png"/>
          <p:cNvPicPr>
            <a:picLocks noChangeAspect="1"/>
          </p:cNvPicPr>
          <p:nvPr/>
        </p:nvPicPr>
        <p:blipFill>
          <a:blip r:embed="rId24"/>
          <a:stretch>
            <a:fillRect/>
          </a:stretch>
        </p:blipFill>
        <p:spPr>
          <a:xfrm>
            <a:off x="10711542" y="3272281"/>
            <a:ext cx="982436" cy="361950"/>
          </a:xfrm>
          <a:prstGeom prst="rect">
            <a:avLst/>
          </a:prstGeom>
        </p:spPr>
      </p:pic>
      <p:pic>
        <p:nvPicPr>
          <p:cNvPr id="105" name="Picture 104" descr="lock.png"/>
          <p:cNvPicPr>
            <a:picLocks noChangeAspect="1"/>
          </p:cNvPicPr>
          <p:nvPr/>
        </p:nvPicPr>
        <p:blipFill>
          <a:blip r:embed="rId25"/>
          <a:stretch>
            <a:fillRect/>
          </a:stretch>
        </p:blipFill>
        <p:spPr>
          <a:xfrm>
            <a:off x="2438944" y="2827057"/>
            <a:ext cx="183356" cy="266700"/>
          </a:xfrm>
          <a:prstGeom prst="rect">
            <a:avLst/>
          </a:prstGeom>
        </p:spPr>
      </p:pic>
      <p:pic>
        <p:nvPicPr>
          <p:cNvPr id="106" name="Picture 105" descr="lock.png"/>
          <p:cNvPicPr>
            <a:picLocks noChangeAspect="1"/>
          </p:cNvPicPr>
          <p:nvPr/>
        </p:nvPicPr>
        <p:blipFill>
          <a:blip r:embed="rId25"/>
          <a:stretch>
            <a:fillRect/>
          </a:stretch>
        </p:blipFill>
        <p:spPr>
          <a:xfrm>
            <a:off x="3884023" y="2827057"/>
            <a:ext cx="183356" cy="266700"/>
          </a:xfrm>
          <a:prstGeom prst="rect">
            <a:avLst/>
          </a:prstGeom>
        </p:spPr>
      </p:pic>
      <p:pic>
        <p:nvPicPr>
          <p:cNvPr id="107" name="Picture 106" descr="lock.png"/>
          <p:cNvPicPr>
            <a:picLocks noChangeAspect="1"/>
          </p:cNvPicPr>
          <p:nvPr/>
        </p:nvPicPr>
        <p:blipFill>
          <a:blip r:embed="rId25"/>
          <a:stretch>
            <a:fillRect/>
          </a:stretch>
        </p:blipFill>
        <p:spPr>
          <a:xfrm>
            <a:off x="5329101" y="2827057"/>
            <a:ext cx="183356" cy="266700"/>
          </a:xfrm>
          <a:prstGeom prst="rect">
            <a:avLst/>
          </a:prstGeom>
        </p:spPr>
      </p:pic>
      <p:pic>
        <p:nvPicPr>
          <p:cNvPr id="108" name="Picture 107" descr="lock.png"/>
          <p:cNvPicPr>
            <a:picLocks noChangeAspect="1"/>
          </p:cNvPicPr>
          <p:nvPr/>
        </p:nvPicPr>
        <p:blipFill>
          <a:blip r:embed="rId25"/>
          <a:stretch>
            <a:fillRect/>
          </a:stretch>
        </p:blipFill>
        <p:spPr>
          <a:xfrm>
            <a:off x="6774180" y="2827057"/>
            <a:ext cx="183356" cy="266700"/>
          </a:xfrm>
          <a:prstGeom prst="rect">
            <a:avLst/>
          </a:prstGeom>
        </p:spPr>
      </p:pic>
      <p:pic>
        <p:nvPicPr>
          <p:cNvPr id="109" name="Picture 108" descr="lock.png"/>
          <p:cNvPicPr>
            <a:picLocks noChangeAspect="1"/>
          </p:cNvPicPr>
          <p:nvPr/>
        </p:nvPicPr>
        <p:blipFill>
          <a:blip r:embed="rId25"/>
          <a:stretch>
            <a:fillRect/>
          </a:stretch>
        </p:blipFill>
        <p:spPr>
          <a:xfrm>
            <a:off x="8219258" y="2827057"/>
            <a:ext cx="183356" cy="266700"/>
          </a:xfrm>
          <a:prstGeom prst="rect">
            <a:avLst/>
          </a:prstGeom>
        </p:spPr>
      </p:pic>
      <p:pic>
        <p:nvPicPr>
          <p:cNvPr id="110" name="Picture 109" descr="lock.png"/>
          <p:cNvPicPr>
            <a:picLocks noChangeAspect="1"/>
          </p:cNvPicPr>
          <p:nvPr/>
        </p:nvPicPr>
        <p:blipFill>
          <a:blip r:embed="rId25"/>
          <a:stretch>
            <a:fillRect/>
          </a:stretch>
        </p:blipFill>
        <p:spPr>
          <a:xfrm>
            <a:off x="9664337" y="2827057"/>
            <a:ext cx="183356" cy="266700"/>
          </a:xfrm>
          <a:prstGeom prst="rect">
            <a:avLst/>
          </a:prstGeom>
        </p:spPr>
      </p:pic>
      <p:pic>
        <p:nvPicPr>
          <p:cNvPr id="111" name="Picture 110" descr="lock.png"/>
          <p:cNvPicPr>
            <a:picLocks noChangeAspect="1"/>
          </p:cNvPicPr>
          <p:nvPr/>
        </p:nvPicPr>
        <p:blipFill>
          <a:blip r:embed="rId25"/>
          <a:stretch>
            <a:fillRect/>
          </a:stretch>
        </p:blipFill>
        <p:spPr>
          <a:xfrm>
            <a:off x="11109415" y="2827057"/>
            <a:ext cx="183356" cy="266700"/>
          </a:xfrm>
          <a:prstGeom prst="rect">
            <a:avLst/>
          </a:prstGeom>
        </p:spPr>
      </p:pic>
      <p:sp>
        <p:nvSpPr>
          <p:cNvPr id="112" name="TextBox 111"/>
          <p:cNvSpPr txBox="1"/>
          <p:nvPr/>
        </p:nvSpPr>
        <p:spPr>
          <a:xfrm>
            <a:off x="485775" y="4229437"/>
            <a:ext cx="2914650" cy="186689"/>
          </a:xfrm>
          <a:prstGeom prst="rect">
            <a:avLst/>
          </a:prstGeom>
          <a:noFill/>
        </p:spPr>
        <p:txBody>
          <a:bodyPr wrap="none" lIns="0" rIns="0" tIns="0" bIns="0">
            <a:spAutoFit/>
          </a:bodyPr>
          <a:lstStyle/>
          <a:p>
            <a:r>
              <a:rPr sz="1100" b="0">
                <a:solidFill>
                  <a:srgbClr val="2E2E2E"/>
                </a:solidFill>
                <a:latin typeface="Calibri"/>
              </a:rPr>
              <a:t>Among ear wax removal products by product type,</a:t>
            </a:r>
          </a:p>
        </p:txBody>
      </p:sp>
      <p:sp>
        <p:nvSpPr>
          <p:cNvPr id="113" name="TextBox 112"/>
          <p:cNvSpPr txBox="1"/>
          <p:nvPr/>
        </p:nvSpPr>
        <p:spPr>
          <a:xfrm>
            <a:off x="485775" y="4397077"/>
            <a:ext cx="2648917" cy="186689"/>
          </a:xfrm>
          <a:prstGeom prst="rect">
            <a:avLst/>
          </a:prstGeom>
          <a:noFill/>
        </p:spPr>
        <p:txBody>
          <a:bodyPr wrap="none" lIns="0" rIns="0" tIns="0" bIns="0">
            <a:spAutoFit/>
          </a:bodyPr>
          <a:lstStyle/>
          <a:p>
            <a:r>
              <a:rPr sz="1100" b="0">
                <a:solidFill>
                  <a:srgbClr val="2E2E2E"/>
                </a:solidFill>
                <a:latin typeface="Calibri"/>
              </a:rPr>
              <a:t>ear drops segment is expected to witness the</a:t>
            </a:r>
          </a:p>
        </p:txBody>
      </p:sp>
      <p:sp>
        <p:nvSpPr>
          <p:cNvPr id="114" name="TextBox 113"/>
          <p:cNvSpPr txBox="1"/>
          <p:nvPr/>
        </p:nvSpPr>
        <p:spPr>
          <a:xfrm>
            <a:off x="485775" y="4564717"/>
            <a:ext cx="990781" cy="186689"/>
          </a:xfrm>
          <a:prstGeom prst="rect">
            <a:avLst/>
          </a:prstGeom>
          <a:noFill/>
        </p:spPr>
        <p:txBody>
          <a:bodyPr wrap="none" lIns="0" rIns="0" tIns="0" bIns="0">
            <a:spAutoFit/>
          </a:bodyPr>
          <a:lstStyle/>
          <a:p>
            <a:r>
              <a:rPr sz="1100" b="0">
                <a:solidFill>
                  <a:srgbClr val="2E2E2E"/>
                </a:solidFill>
                <a:latin typeface="Calibri"/>
              </a:rPr>
              <a:t>highest CAGR of</a:t>
            </a:r>
          </a:p>
        </p:txBody>
      </p:sp>
      <p:pic>
        <p:nvPicPr>
          <p:cNvPr id="115" name="Picture 114" descr="lock.png"/>
          <p:cNvPicPr>
            <a:picLocks noChangeAspect="1"/>
          </p:cNvPicPr>
          <p:nvPr/>
        </p:nvPicPr>
        <p:blipFill>
          <a:blip r:embed="rId25"/>
          <a:stretch>
            <a:fillRect/>
          </a:stretch>
        </p:blipFill>
        <p:spPr>
          <a:xfrm>
            <a:off x="1424607" y="4554938"/>
            <a:ext cx="128699" cy="187198"/>
          </a:xfrm>
          <a:prstGeom prst="rect">
            <a:avLst/>
          </a:prstGeom>
        </p:spPr>
      </p:pic>
      <p:sp>
        <p:nvSpPr>
          <p:cNvPr id="116" name="TextBox 115"/>
          <p:cNvSpPr txBox="1"/>
          <p:nvPr/>
        </p:nvSpPr>
        <p:spPr>
          <a:xfrm>
            <a:off x="1592103" y="4564717"/>
            <a:ext cx="1624905" cy="186689"/>
          </a:xfrm>
          <a:prstGeom prst="rect">
            <a:avLst/>
          </a:prstGeom>
          <a:noFill/>
        </p:spPr>
        <p:txBody>
          <a:bodyPr wrap="none" lIns="0" rIns="0" tIns="0" bIns="0">
            <a:spAutoFit/>
          </a:bodyPr>
          <a:lstStyle/>
          <a:p>
            <a:r>
              <a:rPr sz="1100" b="0">
                <a:solidFill>
                  <a:srgbClr val="2E2E2E"/>
                </a:solidFill>
                <a:latin typeface="Calibri"/>
              </a:rPr>
              <a:t>over the forecast period. In</a:t>
            </a:r>
          </a:p>
        </p:txBody>
      </p:sp>
      <p:sp>
        <p:nvSpPr>
          <p:cNvPr id="117" name="TextBox 116"/>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terms of value share by product type, the irrigation</a:t>
            </a:r>
          </a:p>
        </p:txBody>
      </p:sp>
      <p:sp>
        <p:nvSpPr>
          <p:cNvPr id="118" name="TextBox 117"/>
          <p:cNvSpPr txBox="1"/>
          <p:nvPr/>
        </p:nvSpPr>
        <p:spPr>
          <a:xfrm>
            <a:off x="485775" y="4899997"/>
            <a:ext cx="2765152" cy="186689"/>
          </a:xfrm>
          <a:prstGeom prst="rect">
            <a:avLst/>
          </a:prstGeom>
          <a:noFill/>
        </p:spPr>
        <p:txBody>
          <a:bodyPr wrap="none" lIns="0" rIns="0" tIns="0" bIns="0">
            <a:spAutoFit/>
          </a:bodyPr>
          <a:lstStyle/>
          <a:p>
            <a:r>
              <a:rPr sz="1100" b="0">
                <a:solidFill>
                  <a:srgbClr val="2E2E2E"/>
                </a:solidFill>
                <a:latin typeface="Calibri"/>
              </a:rPr>
              <a:t>devices and accessories segment is expected to</a:t>
            </a:r>
          </a:p>
        </p:txBody>
      </p:sp>
      <p:sp>
        <p:nvSpPr>
          <p:cNvPr id="119" name="TextBox 118"/>
          <p:cNvSpPr txBox="1"/>
          <p:nvPr/>
        </p:nvSpPr>
        <p:spPr>
          <a:xfrm>
            <a:off x="485775" y="5067637"/>
            <a:ext cx="1760512" cy="186689"/>
          </a:xfrm>
          <a:prstGeom prst="rect">
            <a:avLst/>
          </a:prstGeom>
          <a:noFill/>
        </p:spPr>
        <p:txBody>
          <a:bodyPr wrap="none" lIns="0" rIns="0" tIns="0" bIns="0">
            <a:spAutoFit/>
          </a:bodyPr>
          <a:lstStyle/>
          <a:p>
            <a:r>
              <a:rPr sz="1100" b="0">
                <a:solidFill>
                  <a:srgbClr val="2E2E2E"/>
                </a:solidFill>
                <a:latin typeface="Calibri"/>
              </a:rPr>
              <a:t>dominate the market, gaining</a:t>
            </a:r>
          </a:p>
        </p:txBody>
      </p:sp>
      <p:pic>
        <p:nvPicPr>
          <p:cNvPr id="120" name="Picture 119" descr="lock.png"/>
          <p:cNvPicPr>
            <a:picLocks noChangeAspect="1"/>
          </p:cNvPicPr>
          <p:nvPr/>
        </p:nvPicPr>
        <p:blipFill>
          <a:blip r:embed="rId25"/>
          <a:stretch>
            <a:fillRect/>
          </a:stretch>
        </p:blipFill>
        <p:spPr>
          <a:xfrm>
            <a:off x="2194339" y="5057858"/>
            <a:ext cx="128699" cy="187198"/>
          </a:xfrm>
          <a:prstGeom prst="rect">
            <a:avLst/>
          </a:prstGeom>
        </p:spPr>
      </p:pic>
      <p:sp>
        <p:nvSpPr>
          <p:cNvPr id="121" name="TextBox 120"/>
          <p:cNvSpPr txBox="1"/>
          <p:nvPr/>
        </p:nvSpPr>
        <p:spPr>
          <a:xfrm>
            <a:off x="2361835"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122" name="TextBox 121"/>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123" name="Picture 122" descr="lock.png"/>
          <p:cNvPicPr>
            <a:picLocks noChangeAspect="1"/>
          </p:cNvPicPr>
          <p:nvPr/>
        </p:nvPicPr>
        <p:blipFill>
          <a:blip r:embed="rId25"/>
          <a:stretch>
            <a:fillRect/>
          </a:stretch>
        </p:blipFill>
        <p:spPr>
          <a:xfrm>
            <a:off x="1330764" y="5225498"/>
            <a:ext cx="128699" cy="187198"/>
          </a:xfrm>
          <a:prstGeom prst="rect">
            <a:avLst/>
          </a:prstGeom>
        </p:spPr>
      </p:pic>
      <p:sp>
        <p:nvSpPr>
          <p:cNvPr id="124" name="TextBox 123"/>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25" name="TextBox 124"/>
          <p:cNvSpPr txBox="1"/>
          <p:nvPr/>
        </p:nvSpPr>
        <p:spPr>
          <a:xfrm>
            <a:off x="485775" y="5453209"/>
            <a:ext cx="2614538" cy="186689"/>
          </a:xfrm>
          <a:prstGeom prst="rect">
            <a:avLst/>
          </a:prstGeom>
          <a:noFill/>
        </p:spPr>
        <p:txBody>
          <a:bodyPr wrap="none" lIns="0" rIns="0" tIns="0" bIns="0">
            <a:spAutoFit/>
          </a:bodyPr>
          <a:lstStyle/>
          <a:p>
            <a:r>
              <a:rPr sz="1100" b="0">
                <a:solidFill>
                  <a:srgbClr val="2E2E2E"/>
                </a:solidFill>
                <a:latin typeface="Calibri"/>
              </a:rPr>
              <a:t>Irrigation devices and accessories segment is</a:t>
            </a:r>
          </a:p>
        </p:txBody>
      </p:sp>
      <p:sp>
        <p:nvSpPr>
          <p:cNvPr id="126" name="TextBox 125"/>
          <p:cNvSpPr txBox="1"/>
          <p:nvPr/>
        </p:nvSpPr>
        <p:spPr>
          <a:xfrm>
            <a:off x="485775" y="562084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127" name="Picture 126" descr="lock.png"/>
          <p:cNvPicPr>
            <a:picLocks noChangeAspect="1"/>
          </p:cNvPicPr>
          <p:nvPr/>
        </p:nvPicPr>
        <p:blipFill>
          <a:blip r:embed="rId25"/>
          <a:stretch>
            <a:fillRect/>
          </a:stretch>
        </p:blipFill>
        <p:spPr>
          <a:xfrm>
            <a:off x="1678376" y="5611070"/>
            <a:ext cx="128699" cy="187198"/>
          </a:xfrm>
          <a:prstGeom prst="rect">
            <a:avLst/>
          </a:prstGeom>
        </p:spPr>
      </p:pic>
      <p:sp>
        <p:nvSpPr>
          <p:cNvPr id="128" name="TextBox 127"/>
          <p:cNvSpPr txBox="1"/>
          <p:nvPr/>
        </p:nvSpPr>
        <p:spPr>
          <a:xfrm>
            <a:off x="1845872" y="5620849"/>
            <a:ext cx="1389434" cy="186689"/>
          </a:xfrm>
          <a:prstGeom prst="rect">
            <a:avLst/>
          </a:prstGeom>
          <a:noFill/>
        </p:spPr>
        <p:txBody>
          <a:bodyPr wrap="none" lIns="0" rIns="0" tIns="0" bIns="0">
            <a:spAutoFit/>
          </a:bodyPr>
          <a:lstStyle/>
          <a:p>
            <a:r>
              <a:rPr sz="1100" b="0">
                <a:solidFill>
                  <a:srgbClr val="2E2E2E"/>
                </a:solidFill>
                <a:latin typeface="Calibri"/>
              </a:rPr>
              <a:t>X higher value than ear</a:t>
            </a:r>
          </a:p>
        </p:txBody>
      </p:sp>
      <p:sp>
        <p:nvSpPr>
          <p:cNvPr id="129" name="TextBox 128"/>
          <p:cNvSpPr txBox="1"/>
          <p:nvPr/>
        </p:nvSpPr>
        <p:spPr>
          <a:xfrm>
            <a:off x="485775" y="5788489"/>
            <a:ext cx="1410989" cy="186689"/>
          </a:xfrm>
          <a:prstGeom prst="rect">
            <a:avLst/>
          </a:prstGeom>
          <a:noFill/>
        </p:spPr>
        <p:txBody>
          <a:bodyPr wrap="none" lIns="0" rIns="0" tIns="0" bIns="0">
            <a:spAutoFit/>
          </a:bodyPr>
          <a:lstStyle/>
          <a:p>
            <a:r>
              <a:rPr sz="1100" b="0">
                <a:solidFill>
                  <a:srgbClr val="2E2E2E"/>
                </a:solidFill>
                <a:latin typeface="Calibri"/>
              </a:rPr>
              <a:t>drops segment in 2036.</a:t>
            </a:r>
          </a:p>
        </p:txBody>
      </p:sp>
      <p:sp>
        <p:nvSpPr>
          <p:cNvPr id="130" name="TextBox 129"/>
          <p:cNvSpPr txBox="1"/>
          <p:nvPr/>
        </p:nvSpPr>
        <p:spPr>
          <a:xfrm>
            <a:off x="3838575" y="4229437"/>
            <a:ext cx="2069806" cy="179984"/>
          </a:xfrm>
          <a:prstGeom prst="rect">
            <a:avLst/>
          </a:prstGeom>
          <a:noFill/>
        </p:spPr>
        <p:txBody>
          <a:bodyPr wrap="none" lIns="0" rIns="0" tIns="0" bIns="0">
            <a:spAutoFit/>
          </a:bodyPr>
          <a:lstStyle/>
          <a:p>
            <a:r>
              <a:rPr sz="1055" b="0">
                <a:solidFill>
                  <a:srgbClr val="2E2E2E"/>
                </a:solidFill>
                <a:latin typeface="Calibri"/>
              </a:rPr>
              <a:t>● Irrigation Devices and Accessories:</a:t>
            </a:r>
          </a:p>
        </p:txBody>
      </p:sp>
      <p:pic>
        <p:nvPicPr>
          <p:cNvPr id="131" name="Picture 130" descr="lock.png"/>
          <p:cNvPicPr>
            <a:picLocks noChangeAspect="1"/>
          </p:cNvPicPr>
          <p:nvPr/>
        </p:nvPicPr>
        <p:blipFill>
          <a:blip r:embed="rId25"/>
          <a:stretch>
            <a:fillRect/>
          </a:stretch>
        </p:blipFill>
        <p:spPr>
          <a:xfrm>
            <a:off x="5855462" y="4220049"/>
            <a:ext cx="123551" cy="179710"/>
          </a:xfrm>
          <a:prstGeom prst="rect">
            <a:avLst/>
          </a:prstGeom>
        </p:spPr>
      </p:pic>
      <p:sp>
        <p:nvSpPr>
          <p:cNvPr id="132" name="TextBox 131"/>
          <p:cNvSpPr txBox="1"/>
          <p:nvPr/>
        </p:nvSpPr>
        <p:spPr>
          <a:xfrm>
            <a:off x="6016258" y="4229437"/>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33" name="Picture 132" descr="lock.png"/>
          <p:cNvPicPr>
            <a:picLocks noChangeAspect="1"/>
          </p:cNvPicPr>
          <p:nvPr/>
        </p:nvPicPr>
        <p:blipFill>
          <a:blip r:embed="rId25"/>
          <a:stretch>
            <a:fillRect/>
          </a:stretch>
        </p:blipFill>
        <p:spPr>
          <a:xfrm>
            <a:off x="6841331" y="4220049"/>
            <a:ext cx="123551" cy="179710"/>
          </a:xfrm>
          <a:prstGeom prst="rect">
            <a:avLst/>
          </a:prstGeom>
        </p:spPr>
      </p:pic>
      <p:sp>
        <p:nvSpPr>
          <p:cNvPr id="134" name="TextBox 133"/>
          <p:cNvSpPr txBox="1"/>
          <p:nvPr/>
        </p:nvSpPr>
        <p:spPr>
          <a:xfrm>
            <a:off x="7002127" y="4229437"/>
            <a:ext cx="697761" cy="179984"/>
          </a:xfrm>
          <a:prstGeom prst="rect">
            <a:avLst/>
          </a:prstGeom>
          <a:noFill/>
        </p:spPr>
        <p:txBody>
          <a:bodyPr wrap="none" lIns="0" rIns="0" tIns="0" bIns="0">
            <a:spAutoFit/>
          </a:bodyPr>
          <a:lstStyle/>
          <a:p>
            <a:r>
              <a:rPr sz="1055" b="0">
                <a:solidFill>
                  <a:srgbClr val="2E2E2E"/>
                </a:solidFill>
                <a:latin typeface="Calibri"/>
              </a:rPr>
              <a:t>CAGR leads</a:t>
            </a:r>
          </a:p>
        </p:txBody>
      </p:sp>
      <p:sp>
        <p:nvSpPr>
          <p:cNvPr id="135" name="TextBox 134"/>
          <p:cNvSpPr txBox="1"/>
          <p:nvPr/>
        </p:nvSpPr>
        <p:spPr>
          <a:xfrm>
            <a:off x="3838575" y="4390371"/>
            <a:ext cx="794432" cy="179984"/>
          </a:xfrm>
          <a:prstGeom prst="rect">
            <a:avLst/>
          </a:prstGeom>
          <a:noFill/>
        </p:spPr>
        <p:txBody>
          <a:bodyPr wrap="none" lIns="0" rIns="0" tIns="0" bIns="0">
            <a:spAutoFit/>
          </a:bodyPr>
          <a:lstStyle/>
          <a:p>
            <a:r>
              <a:rPr sz="1055" b="0">
                <a:solidFill>
                  <a:srgbClr val="2E2E2E"/>
                </a:solidFill>
                <a:latin typeface="Calibri"/>
              </a:rPr>
              <a:t>the segment.</a:t>
            </a:r>
          </a:p>
        </p:txBody>
      </p:sp>
      <p:sp>
        <p:nvSpPr>
          <p:cNvPr id="136" name="TextBox 135"/>
          <p:cNvSpPr txBox="1"/>
          <p:nvPr/>
        </p:nvSpPr>
        <p:spPr>
          <a:xfrm>
            <a:off x="3838575" y="4599586"/>
            <a:ext cx="753275" cy="179984"/>
          </a:xfrm>
          <a:prstGeom prst="rect">
            <a:avLst/>
          </a:prstGeom>
          <a:noFill/>
        </p:spPr>
        <p:txBody>
          <a:bodyPr wrap="none" lIns="0" rIns="0" tIns="0" bIns="0">
            <a:spAutoFit/>
          </a:bodyPr>
          <a:lstStyle/>
          <a:p>
            <a:r>
              <a:rPr sz="1055" b="0">
                <a:solidFill>
                  <a:srgbClr val="2E2E2E"/>
                </a:solidFill>
                <a:latin typeface="Calibri"/>
              </a:rPr>
              <a:t>● Ear Drops:</a:t>
            </a:r>
          </a:p>
        </p:txBody>
      </p:sp>
      <p:pic>
        <p:nvPicPr>
          <p:cNvPr id="137" name="Picture 136" descr="lock.png"/>
          <p:cNvPicPr>
            <a:picLocks noChangeAspect="1"/>
          </p:cNvPicPr>
          <p:nvPr/>
        </p:nvPicPr>
        <p:blipFill>
          <a:blip r:embed="rId25"/>
          <a:stretch>
            <a:fillRect/>
          </a:stretch>
        </p:blipFill>
        <p:spPr>
          <a:xfrm>
            <a:off x="4538932" y="4590198"/>
            <a:ext cx="123551" cy="179710"/>
          </a:xfrm>
          <a:prstGeom prst="rect">
            <a:avLst/>
          </a:prstGeom>
        </p:spPr>
      </p:pic>
      <p:sp>
        <p:nvSpPr>
          <p:cNvPr id="138" name="TextBox 137"/>
          <p:cNvSpPr txBox="1"/>
          <p:nvPr/>
        </p:nvSpPr>
        <p:spPr>
          <a:xfrm>
            <a:off x="4699728" y="4599586"/>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39" name="Picture 138" descr="lock.png"/>
          <p:cNvPicPr>
            <a:picLocks noChangeAspect="1"/>
          </p:cNvPicPr>
          <p:nvPr/>
        </p:nvPicPr>
        <p:blipFill>
          <a:blip r:embed="rId25"/>
          <a:stretch>
            <a:fillRect/>
          </a:stretch>
        </p:blipFill>
        <p:spPr>
          <a:xfrm>
            <a:off x="5524800" y="4590198"/>
            <a:ext cx="123551" cy="179710"/>
          </a:xfrm>
          <a:prstGeom prst="rect">
            <a:avLst/>
          </a:prstGeom>
        </p:spPr>
      </p:pic>
      <p:sp>
        <p:nvSpPr>
          <p:cNvPr id="140" name="TextBox 139"/>
          <p:cNvSpPr txBox="1"/>
          <p:nvPr/>
        </p:nvSpPr>
        <p:spPr>
          <a:xfrm>
            <a:off x="5685596" y="4599586"/>
            <a:ext cx="1172915" cy="179984"/>
          </a:xfrm>
          <a:prstGeom prst="rect">
            <a:avLst/>
          </a:prstGeom>
          <a:noFill/>
        </p:spPr>
        <p:txBody>
          <a:bodyPr wrap="none" lIns="0" rIns="0" tIns="0" bIns="0">
            <a:spAutoFit/>
          </a:bodyPr>
          <a:lstStyle/>
          <a:p>
            <a:r>
              <a:rPr sz="1055" b="0">
                <a:solidFill>
                  <a:srgbClr val="2E2E2E"/>
                </a:solidFill>
                <a:latin typeface="Calibri"/>
              </a:rPr>
              <a:t>CAGR grows fastest.</a:t>
            </a:r>
          </a:p>
        </p:txBody>
      </p:sp>
      <p:sp>
        <p:nvSpPr>
          <p:cNvPr id="141" name="TextBox 140"/>
          <p:cNvSpPr txBox="1"/>
          <p:nvPr/>
        </p:nvSpPr>
        <p:spPr>
          <a:xfrm>
            <a:off x="3838575" y="4808800"/>
            <a:ext cx="786541" cy="179984"/>
          </a:xfrm>
          <a:prstGeom prst="rect">
            <a:avLst/>
          </a:prstGeom>
          <a:noFill/>
        </p:spPr>
        <p:txBody>
          <a:bodyPr wrap="none" lIns="0" rIns="0" tIns="0" bIns="0">
            <a:spAutoFit/>
          </a:bodyPr>
          <a:lstStyle/>
          <a:p>
            <a:r>
              <a:rPr sz="1055" b="0">
                <a:solidFill>
                  <a:srgbClr val="2E2E2E"/>
                </a:solidFill>
                <a:latin typeface="Calibri"/>
              </a:rPr>
              <a:t>● Ear Sprays:</a:t>
            </a:r>
          </a:p>
        </p:txBody>
      </p:sp>
      <p:pic>
        <p:nvPicPr>
          <p:cNvPr id="142" name="Picture 141" descr="lock.png"/>
          <p:cNvPicPr>
            <a:picLocks noChangeAspect="1"/>
          </p:cNvPicPr>
          <p:nvPr/>
        </p:nvPicPr>
        <p:blipFill>
          <a:blip r:embed="rId25"/>
          <a:stretch>
            <a:fillRect/>
          </a:stretch>
        </p:blipFill>
        <p:spPr>
          <a:xfrm>
            <a:off x="4572198" y="4799413"/>
            <a:ext cx="123551" cy="179710"/>
          </a:xfrm>
          <a:prstGeom prst="rect">
            <a:avLst/>
          </a:prstGeom>
        </p:spPr>
      </p:pic>
      <p:sp>
        <p:nvSpPr>
          <p:cNvPr id="143" name="TextBox 142"/>
          <p:cNvSpPr txBox="1"/>
          <p:nvPr/>
        </p:nvSpPr>
        <p:spPr>
          <a:xfrm>
            <a:off x="4732994" y="4808800"/>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44" name="Picture 143" descr="lock.png"/>
          <p:cNvPicPr>
            <a:picLocks noChangeAspect="1"/>
          </p:cNvPicPr>
          <p:nvPr/>
        </p:nvPicPr>
        <p:blipFill>
          <a:blip r:embed="rId25"/>
          <a:stretch>
            <a:fillRect/>
          </a:stretch>
        </p:blipFill>
        <p:spPr>
          <a:xfrm>
            <a:off x="5558066" y="4799413"/>
            <a:ext cx="123551" cy="179710"/>
          </a:xfrm>
          <a:prstGeom prst="rect">
            <a:avLst/>
          </a:prstGeom>
        </p:spPr>
      </p:pic>
      <p:sp>
        <p:nvSpPr>
          <p:cNvPr id="145" name="TextBox 144"/>
          <p:cNvSpPr txBox="1"/>
          <p:nvPr/>
        </p:nvSpPr>
        <p:spPr>
          <a:xfrm>
            <a:off x="5718862" y="4808800"/>
            <a:ext cx="1212992" cy="179984"/>
          </a:xfrm>
          <a:prstGeom prst="rect">
            <a:avLst/>
          </a:prstGeom>
          <a:noFill/>
        </p:spPr>
        <p:txBody>
          <a:bodyPr wrap="none" lIns="0" rIns="0" tIns="0" bIns="0">
            <a:spAutoFit/>
          </a:bodyPr>
          <a:lstStyle/>
          <a:p>
            <a:r>
              <a:rPr sz="1055" b="0">
                <a:solidFill>
                  <a:srgbClr val="2E2E2E"/>
                </a:solidFill>
                <a:latin typeface="Calibri"/>
              </a:rPr>
              <a:t>CAGR serves a niche.</a:t>
            </a:r>
          </a:p>
        </p:txBody>
      </p:sp>
      <p:sp>
        <p:nvSpPr>
          <p:cNvPr id="146" name="TextBox 145"/>
          <p:cNvSpPr txBox="1"/>
          <p:nvPr/>
        </p:nvSpPr>
        <p:spPr>
          <a:xfrm>
            <a:off x="3838575" y="5018015"/>
            <a:ext cx="1462373" cy="179984"/>
          </a:xfrm>
          <a:prstGeom prst="rect">
            <a:avLst/>
          </a:prstGeom>
          <a:noFill/>
        </p:spPr>
        <p:txBody>
          <a:bodyPr wrap="none" lIns="0" rIns="0" tIns="0" bIns="0">
            <a:spAutoFit/>
          </a:bodyPr>
          <a:lstStyle/>
          <a:p>
            <a:r>
              <a:rPr sz="1055" b="0">
                <a:solidFill>
                  <a:srgbClr val="2E2E2E"/>
                </a:solidFill>
                <a:latin typeface="Calibri"/>
              </a:rPr>
              <a:t>● Manual Removal Tools:</a:t>
            </a:r>
          </a:p>
        </p:txBody>
      </p:sp>
      <p:pic>
        <p:nvPicPr>
          <p:cNvPr id="147" name="Picture 146" descr="lock.png"/>
          <p:cNvPicPr>
            <a:picLocks noChangeAspect="1"/>
          </p:cNvPicPr>
          <p:nvPr/>
        </p:nvPicPr>
        <p:blipFill>
          <a:blip r:embed="rId25"/>
          <a:stretch>
            <a:fillRect/>
          </a:stretch>
        </p:blipFill>
        <p:spPr>
          <a:xfrm>
            <a:off x="5248029" y="5008627"/>
            <a:ext cx="123551" cy="179710"/>
          </a:xfrm>
          <a:prstGeom prst="rect">
            <a:avLst/>
          </a:prstGeom>
        </p:spPr>
      </p:pic>
      <p:sp>
        <p:nvSpPr>
          <p:cNvPr id="148" name="TextBox 147"/>
          <p:cNvSpPr txBox="1"/>
          <p:nvPr/>
        </p:nvSpPr>
        <p:spPr>
          <a:xfrm>
            <a:off x="5408825" y="5018015"/>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49" name="Picture 148" descr="lock.png"/>
          <p:cNvPicPr>
            <a:picLocks noChangeAspect="1"/>
          </p:cNvPicPr>
          <p:nvPr/>
        </p:nvPicPr>
        <p:blipFill>
          <a:blip r:embed="rId25"/>
          <a:stretch>
            <a:fillRect/>
          </a:stretch>
        </p:blipFill>
        <p:spPr>
          <a:xfrm>
            <a:off x="6233897" y="5008627"/>
            <a:ext cx="123551" cy="179710"/>
          </a:xfrm>
          <a:prstGeom prst="rect">
            <a:avLst/>
          </a:prstGeom>
        </p:spPr>
      </p:pic>
      <p:sp>
        <p:nvSpPr>
          <p:cNvPr id="150" name="TextBox 149"/>
          <p:cNvSpPr txBox="1"/>
          <p:nvPr/>
        </p:nvSpPr>
        <p:spPr>
          <a:xfrm>
            <a:off x="6394693" y="5018015"/>
            <a:ext cx="1212992" cy="179984"/>
          </a:xfrm>
          <a:prstGeom prst="rect">
            <a:avLst/>
          </a:prstGeom>
          <a:noFill/>
        </p:spPr>
        <p:txBody>
          <a:bodyPr wrap="none" lIns="0" rIns="0" tIns="0" bIns="0">
            <a:spAutoFit/>
          </a:bodyPr>
          <a:lstStyle/>
          <a:p>
            <a:r>
              <a:rPr sz="1055" b="0">
                <a:solidFill>
                  <a:srgbClr val="2E2E2E"/>
                </a:solidFill>
                <a:latin typeface="Calibri"/>
              </a:rPr>
              <a:t>CAGR serves a niche.</a:t>
            </a:r>
          </a:p>
        </p:txBody>
      </p:sp>
      <p:sp>
        <p:nvSpPr>
          <p:cNvPr id="151" name="TextBox 150"/>
          <p:cNvSpPr txBox="1"/>
          <p:nvPr/>
        </p:nvSpPr>
        <p:spPr>
          <a:xfrm>
            <a:off x="3838575" y="5227230"/>
            <a:ext cx="1972889" cy="179984"/>
          </a:xfrm>
          <a:prstGeom prst="rect">
            <a:avLst/>
          </a:prstGeom>
          <a:noFill/>
        </p:spPr>
        <p:txBody>
          <a:bodyPr wrap="none" lIns="0" rIns="0" tIns="0" bIns="0">
            <a:spAutoFit/>
          </a:bodyPr>
          <a:lstStyle/>
          <a:p>
            <a:r>
              <a:rPr sz="1055" b="0">
                <a:solidFill>
                  <a:srgbClr val="2E2E2E"/>
                </a:solidFill>
                <a:latin typeface="Calibri"/>
              </a:rPr>
              <a:t>● Suction Devices and Accessories:</a:t>
            </a:r>
          </a:p>
        </p:txBody>
      </p:sp>
      <p:pic>
        <p:nvPicPr>
          <p:cNvPr id="152" name="Picture 151" descr="lock.png"/>
          <p:cNvPicPr>
            <a:picLocks noChangeAspect="1"/>
          </p:cNvPicPr>
          <p:nvPr/>
        </p:nvPicPr>
        <p:blipFill>
          <a:blip r:embed="rId25"/>
          <a:stretch>
            <a:fillRect/>
          </a:stretch>
        </p:blipFill>
        <p:spPr>
          <a:xfrm>
            <a:off x="5758545" y="5217842"/>
            <a:ext cx="123551" cy="179710"/>
          </a:xfrm>
          <a:prstGeom prst="rect">
            <a:avLst/>
          </a:prstGeom>
        </p:spPr>
      </p:pic>
      <p:sp>
        <p:nvSpPr>
          <p:cNvPr id="153" name="TextBox 152"/>
          <p:cNvSpPr txBox="1"/>
          <p:nvPr/>
        </p:nvSpPr>
        <p:spPr>
          <a:xfrm>
            <a:off x="5919341" y="5227230"/>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54" name="Picture 153" descr="lock.png"/>
          <p:cNvPicPr>
            <a:picLocks noChangeAspect="1"/>
          </p:cNvPicPr>
          <p:nvPr/>
        </p:nvPicPr>
        <p:blipFill>
          <a:blip r:embed="rId25"/>
          <a:stretch>
            <a:fillRect/>
          </a:stretch>
        </p:blipFill>
        <p:spPr>
          <a:xfrm>
            <a:off x="6744414" y="5217842"/>
            <a:ext cx="123551" cy="179710"/>
          </a:xfrm>
          <a:prstGeom prst="rect">
            <a:avLst/>
          </a:prstGeom>
        </p:spPr>
      </p:pic>
      <p:sp>
        <p:nvSpPr>
          <p:cNvPr id="155" name="TextBox 154"/>
          <p:cNvSpPr txBox="1"/>
          <p:nvPr/>
        </p:nvSpPr>
        <p:spPr>
          <a:xfrm>
            <a:off x="6905210" y="5227230"/>
            <a:ext cx="853352" cy="179984"/>
          </a:xfrm>
          <a:prstGeom prst="rect">
            <a:avLst/>
          </a:prstGeom>
          <a:noFill/>
        </p:spPr>
        <p:txBody>
          <a:bodyPr wrap="none" lIns="0" rIns="0" tIns="0" bIns="0">
            <a:spAutoFit/>
          </a:bodyPr>
          <a:lstStyle/>
          <a:p>
            <a:r>
              <a:rPr sz="1055" b="0">
                <a:solidFill>
                  <a:srgbClr val="2E2E2E"/>
                </a:solidFill>
                <a:latin typeface="Calibri"/>
              </a:rPr>
              <a:t>CAGR serves a</a:t>
            </a:r>
          </a:p>
        </p:txBody>
      </p:sp>
      <p:sp>
        <p:nvSpPr>
          <p:cNvPr id="156" name="TextBox 155"/>
          <p:cNvSpPr txBox="1"/>
          <p:nvPr/>
        </p:nvSpPr>
        <p:spPr>
          <a:xfrm>
            <a:off x="3838575" y="5388164"/>
            <a:ext cx="405455" cy="179984"/>
          </a:xfrm>
          <a:prstGeom prst="rect">
            <a:avLst/>
          </a:prstGeom>
          <a:noFill/>
        </p:spPr>
        <p:txBody>
          <a:bodyPr wrap="none" lIns="0" rIns="0" tIns="0" bIns="0">
            <a:spAutoFit/>
          </a:bodyPr>
          <a:lstStyle/>
          <a:p>
            <a:r>
              <a:rPr sz="1055" b="0">
                <a:solidFill>
                  <a:srgbClr val="2E2E2E"/>
                </a:solidFill>
                <a:latin typeface="Calibri"/>
              </a:rPr>
              <a:t>niche.</a:t>
            </a:r>
          </a:p>
        </p:txBody>
      </p:sp>
      <p:sp>
        <p:nvSpPr>
          <p:cNvPr id="157" name="TextBox 156"/>
          <p:cNvSpPr txBox="1"/>
          <p:nvPr/>
        </p:nvSpPr>
        <p:spPr>
          <a:xfrm>
            <a:off x="3838575" y="5597379"/>
            <a:ext cx="2083688" cy="179984"/>
          </a:xfrm>
          <a:prstGeom prst="rect">
            <a:avLst/>
          </a:prstGeom>
          <a:noFill/>
        </p:spPr>
        <p:txBody>
          <a:bodyPr wrap="none" lIns="0" rIns="0" tIns="0" bIns="0">
            <a:spAutoFit/>
          </a:bodyPr>
          <a:lstStyle/>
          <a:p>
            <a:r>
              <a:rPr sz="1055" b="0">
                <a:solidFill>
                  <a:srgbClr val="2E2E2E"/>
                </a:solidFill>
                <a:latin typeface="Calibri"/>
              </a:rPr>
              <a:t>● Camera-Assisted Removal Devices:</a:t>
            </a:r>
          </a:p>
        </p:txBody>
      </p:sp>
      <p:pic>
        <p:nvPicPr>
          <p:cNvPr id="158" name="Picture 157" descr="lock.png"/>
          <p:cNvPicPr>
            <a:picLocks noChangeAspect="1"/>
          </p:cNvPicPr>
          <p:nvPr/>
        </p:nvPicPr>
        <p:blipFill>
          <a:blip r:embed="rId25"/>
          <a:stretch>
            <a:fillRect/>
          </a:stretch>
        </p:blipFill>
        <p:spPr>
          <a:xfrm>
            <a:off x="5869345" y="5587991"/>
            <a:ext cx="123551" cy="179710"/>
          </a:xfrm>
          <a:prstGeom prst="rect">
            <a:avLst/>
          </a:prstGeom>
        </p:spPr>
      </p:pic>
      <p:sp>
        <p:nvSpPr>
          <p:cNvPr id="159" name="TextBox 158"/>
          <p:cNvSpPr txBox="1"/>
          <p:nvPr/>
        </p:nvSpPr>
        <p:spPr>
          <a:xfrm>
            <a:off x="6030141" y="5597379"/>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60" name="Picture 159" descr="lock.png"/>
          <p:cNvPicPr>
            <a:picLocks noChangeAspect="1"/>
          </p:cNvPicPr>
          <p:nvPr/>
        </p:nvPicPr>
        <p:blipFill>
          <a:blip r:embed="rId25"/>
          <a:stretch>
            <a:fillRect/>
          </a:stretch>
        </p:blipFill>
        <p:spPr>
          <a:xfrm>
            <a:off x="6855213" y="5587991"/>
            <a:ext cx="123551" cy="179710"/>
          </a:xfrm>
          <a:prstGeom prst="rect">
            <a:avLst/>
          </a:prstGeom>
        </p:spPr>
      </p:pic>
      <p:sp>
        <p:nvSpPr>
          <p:cNvPr id="161" name="TextBox 160"/>
          <p:cNvSpPr txBox="1"/>
          <p:nvPr/>
        </p:nvSpPr>
        <p:spPr>
          <a:xfrm>
            <a:off x="7016009" y="5597379"/>
            <a:ext cx="758792" cy="179984"/>
          </a:xfrm>
          <a:prstGeom prst="rect">
            <a:avLst/>
          </a:prstGeom>
          <a:noFill/>
        </p:spPr>
        <p:txBody>
          <a:bodyPr wrap="none" lIns="0" rIns="0" tIns="0" bIns="0">
            <a:spAutoFit/>
          </a:bodyPr>
          <a:lstStyle/>
          <a:p>
            <a:r>
              <a:rPr sz="1055" b="0">
                <a:solidFill>
                  <a:srgbClr val="2E2E2E"/>
                </a:solidFill>
                <a:latin typeface="Calibri"/>
              </a:rPr>
              <a:t>CAGR serves</a:t>
            </a:r>
          </a:p>
        </p:txBody>
      </p:sp>
      <p:sp>
        <p:nvSpPr>
          <p:cNvPr id="162" name="TextBox 161"/>
          <p:cNvSpPr txBox="1"/>
          <p:nvPr/>
        </p:nvSpPr>
        <p:spPr>
          <a:xfrm>
            <a:off x="3838575" y="5758313"/>
            <a:ext cx="500014" cy="179984"/>
          </a:xfrm>
          <a:prstGeom prst="rect">
            <a:avLst/>
          </a:prstGeom>
          <a:noFill/>
        </p:spPr>
        <p:txBody>
          <a:bodyPr wrap="none" lIns="0" rIns="0" tIns="0" bIns="0">
            <a:spAutoFit/>
          </a:bodyPr>
          <a:lstStyle/>
          <a:p>
            <a:r>
              <a:rPr sz="1055" b="0">
                <a:solidFill>
                  <a:srgbClr val="2E2E2E"/>
                </a:solidFill>
                <a:latin typeface="Calibri"/>
              </a:rPr>
              <a:t>a niche.</a:t>
            </a:r>
          </a:p>
        </p:txBody>
      </p:sp>
      <p:sp>
        <p:nvSpPr>
          <p:cNvPr id="163" name="TextBox 162"/>
          <p:cNvSpPr txBox="1"/>
          <p:nvPr/>
        </p:nvSpPr>
        <p:spPr>
          <a:xfrm>
            <a:off x="3838575" y="5967528"/>
            <a:ext cx="1657778" cy="179984"/>
          </a:xfrm>
          <a:prstGeom prst="rect">
            <a:avLst/>
          </a:prstGeom>
          <a:noFill/>
        </p:spPr>
        <p:txBody>
          <a:bodyPr wrap="none" lIns="0" rIns="0" tIns="0" bIns="0">
            <a:spAutoFit/>
          </a:bodyPr>
          <a:lstStyle/>
          <a:p>
            <a:r>
              <a:rPr sz="1055" b="0">
                <a:solidFill>
                  <a:srgbClr val="2E2E2E"/>
                </a:solidFill>
                <a:latin typeface="Calibri"/>
              </a:rPr>
              <a:t>● Combination Removal Kits:</a:t>
            </a:r>
          </a:p>
        </p:txBody>
      </p:sp>
      <p:pic>
        <p:nvPicPr>
          <p:cNvPr id="164" name="Picture 163" descr="lock.png"/>
          <p:cNvPicPr>
            <a:picLocks noChangeAspect="1"/>
          </p:cNvPicPr>
          <p:nvPr/>
        </p:nvPicPr>
        <p:blipFill>
          <a:blip r:embed="rId25"/>
          <a:stretch>
            <a:fillRect/>
          </a:stretch>
        </p:blipFill>
        <p:spPr>
          <a:xfrm>
            <a:off x="5443435" y="5958140"/>
            <a:ext cx="123551" cy="179710"/>
          </a:xfrm>
          <a:prstGeom prst="rect">
            <a:avLst/>
          </a:prstGeom>
        </p:spPr>
      </p:pic>
      <p:sp>
        <p:nvSpPr>
          <p:cNvPr id="165" name="TextBox 164"/>
          <p:cNvSpPr txBox="1"/>
          <p:nvPr/>
        </p:nvSpPr>
        <p:spPr>
          <a:xfrm>
            <a:off x="5604231" y="5967528"/>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66" name="Picture 165" descr="lock.png"/>
          <p:cNvPicPr>
            <a:picLocks noChangeAspect="1"/>
          </p:cNvPicPr>
          <p:nvPr/>
        </p:nvPicPr>
        <p:blipFill>
          <a:blip r:embed="rId25"/>
          <a:stretch>
            <a:fillRect/>
          </a:stretch>
        </p:blipFill>
        <p:spPr>
          <a:xfrm>
            <a:off x="6429303" y="5958140"/>
            <a:ext cx="123551" cy="179710"/>
          </a:xfrm>
          <a:prstGeom prst="rect">
            <a:avLst/>
          </a:prstGeom>
        </p:spPr>
      </p:pic>
      <p:sp>
        <p:nvSpPr>
          <p:cNvPr id="167" name="TextBox 166"/>
          <p:cNvSpPr txBox="1"/>
          <p:nvPr/>
        </p:nvSpPr>
        <p:spPr>
          <a:xfrm>
            <a:off x="6590099" y="5967528"/>
            <a:ext cx="1212992" cy="179984"/>
          </a:xfrm>
          <a:prstGeom prst="rect">
            <a:avLst/>
          </a:prstGeom>
          <a:noFill/>
        </p:spPr>
        <p:txBody>
          <a:bodyPr wrap="none" lIns="0" rIns="0" tIns="0" bIns="0">
            <a:spAutoFit/>
          </a:bodyPr>
          <a:lstStyle/>
          <a:p>
            <a:r>
              <a:rPr sz="1055" b="0">
                <a:solidFill>
                  <a:srgbClr val="2E2E2E"/>
                </a:solidFill>
                <a:latin typeface="Calibri"/>
              </a:rPr>
              <a:t>CAGR serves a niche.</a:t>
            </a:r>
          </a:p>
        </p:txBody>
      </p:sp>
      <p:sp>
        <p:nvSpPr>
          <p:cNvPr id="168" name="TextBox 167"/>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Product Type segment is projected to grow at a</a:t>
            </a:r>
          </a:p>
        </p:txBody>
      </p:sp>
      <p:sp>
        <p:nvSpPr>
          <p:cNvPr id="169" name="TextBox 168"/>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70" name="Picture 169" descr="lock.png"/>
          <p:cNvPicPr>
            <a:picLocks noChangeAspect="1"/>
          </p:cNvPicPr>
          <p:nvPr/>
        </p:nvPicPr>
        <p:blipFill>
          <a:blip r:embed="rId25"/>
          <a:stretch>
            <a:fillRect/>
          </a:stretch>
        </p:blipFill>
        <p:spPr>
          <a:xfrm>
            <a:off x="9048826" y="6007677"/>
            <a:ext cx="134549" cy="195707"/>
          </a:xfrm>
          <a:prstGeom prst="rect">
            <a:avLst/>
          </a:prstGeom>
        </p:spPr>
      </p:pic>
      <p:sp>
        <p:nvSpPr>
          <p:cNvPr id="171" name="TextBox 170"/>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Product Type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Product Type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Type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Type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77650" cy="186689"/>
          </a:xfrm>
          <a:prstGeom prst="rect">
            <a:avLst/>
          </a:prstGeom>
          <a:noFill/>
        </p:spPr>
        <p:txBody>
          <a:bodyPr wrap="none" lIns="0" rIns="0" tIns="0" bIns="0">
            <a:spAutoFit/>
          </a:bodyPr>
          <a:lstStyle/>
          <a:p>
            <a:r>
              <a:rPr sz="1100" b="0">
                <a:solidFill>
                  <a:srgbClr val="2E2E2E"/>
                </a:solidFill>
                <a:latin typeface="Calibri"/>
              </a:rPr>
              <a:t>Irrigation devices and accessories followed by ear drops are expected to be the two most attractive product type segments in the global ear wax removal products market in terms of value over the forecast</a:t>
            </a:r>
          </a:p>
        </p:txBody>
      </p:sp>
      <p:sp>
        <p:nvSpPr>
          <p:cNvPr id="20" name="TextBox 19"/>
          <p:cNvSpPr txBox="1"/>
          <p:nvPr/>
        </p:nvSpPr>
        <p:spPr>
          <a:xfrm>
            <a:off x="257175" y="5861685"/>
            <a:ext cx="4586692" cy="186689"/>
          </a:xfrm>
          <a:prstGeom prst="rect">
            <a:avLst/>
          </a:prstGeom>
          <a:noFill/>
        </p:spPr>
        <p:txBody>
          <a:bodyPr wrap="none" lIns="0" rIns="0" tIns="0" bIns="0">
            <a:spAutoFit/>
          </a:bodyPr>
          <a:lstStyle/>
          <a:p>
            <a:r>
              <a:rPr sz="1100" b="0">
                <a:solidFill>
                  <a:srgbClr val="2E2E2E"/>
                </a:solidFill>
                <a:latin typeface="Calibri"/>
              </a:rPr>
              <a:t>period. Irrigation devices and accessories and ear drops exhibit a CAGR index of</a:t>
            </a:r>
          </a:p>
        </p:txBody>
      </p:sp>
      <p:pic>
        <p:nvPicPr>
          <p:cNvPr id="21" name="Picture 20" descr="lock.png"/>
          <p:cNvPicPr>
            <a:picLocks noChangeAspect="1"/>
          </p:cNvPicPr>
          <p:nvPr/>
        </p:nvPicPr>
        <p:blipFill>
          <a:blip r:embed="rId6"/>
          <a:stretch>
            <a:fillRect/>
          </a:stretch>
        </p:blipFill>
        <p:spPr>
          <a:xfrm>
            <a:off x="4791918" y="5851905"/>
            <a:ext cx="128699" cy="187198"/>
          </a:xfrm>
          <a:prstGeom prst="rect">
            <a:avLst/>
          </a:prstGeom>
        </p:spPr>
      </p:pic>
      <p:sp>
        <p:nvSpPr>
          <p:cNvPr id="22" name="TextBox 21"/>
          <p:cNvSpPr txBox="1"/>
          <p:nvPr/>
        </p:nvSpPr>
        <p:spPr>
          <a:xfrm>
            <a:off x="4959414"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5197308" y="5851905"/>
            <a:ext cx="128699" cy="187198"/>
          </a:xfrm>
          <a:prstGeom prst="rect">
            <a:avLst/>
          </a:prstGeom>
        </p:spPr>
      </p:pic>
      <p:sp>
        <p:nvSpPr>
          <p:cNvPr id="24" name="TextBox 23"/>
          <p:cNvSpPr txBox="1"/>
          <p:nvPr/>
        </p:nvSpPr>
        <p:spPr>
          <a:xfrm>
            <a:off x="5364804"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6973778" y="5851905"/>
            <a:ext cx="128699" cy="187198"/>
          </a:xfrm>
          <a:prstGeom prst="rect">
            <a:avLst/>
          </a:prstGeom>
        </p:spPr>
      </p:pic>
      <p:sp>
        <p:nvSpPr>
          <p:cNvPr id="26" name="TextBox 25"/>
          <p:cNvSpPr txBox="1"/>
          <p:nvPr/>
        </p:nvSpPr>
        <p:spPr>
          <a:xfrm>
            <a:off x="7141274"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7379168" y="5851905"/>
            <a:ext cx="128699" cy="187198"/>
          </a:xfrm>
          <a:prstGeom prst="rect">
            <a:avLst/>
          </a:prstGeom>
        </p:spPr>
      </p:pic>
      <p:sp>
        <p:nvSpPr>
          <p:cNvPr id="28" name="TextBox 27"/>
          <p:cNvSpPr txBox="1"/>
          <p:nvPr/>
        </p:nvSpPr>
        <p:spPr>
          <a:xfrm>
            <a:off x="7546664"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10101068" y="5851905"/>
            <a:ext cx="128699" cy="187198"/>
          </a:xfrm>
          <a:prstGeom prst="rect">
            <a:avLst/>
          </a:prstGeom>
        </p:spPr>
      </p:pic>
      <p:sp>
        <p:nvSpPr>
          <p:cNvPr id="30" name="TextBox 29"/>
          <p:cNvSpPr txBox="1"/>
          <p:nvPr/>
        </p:nvSpPr>
        <p:spPr>
          <a:xfrm>
            <a:off x="10268564" y="5861685"/>
            <a:ext cx="799256" cy="186689"/>
          </a:xfrm>
          <a:prstGeom prst="rect">
            <a:avLst/>
          </a:prstGeom>
          <a:noFill/>
        </p:spPr>
        <p:txBody>
          <a:bodyPr wrap="none" lIns="0" rIns="0" tIns="0" bIns="0">
            <a:spAutoFit/>
          </a:bodyPr>
          <a:lstStyle/>
          <a:p>
            <a:r>
              <a:rPr sz="1100" b="0">
                <a:solidFill>
                  <a:srgbClr val="2E2E2E"/>
                </a:solidFill>
                <a:latin typeface="Calibri"/>
              </a:rPr>
              <a:t>. The suction</a:t>
            </a:r>
          </a:p>
        </p:txBody>
      </p:sp>
      <p:sp>
        <p:nvSpPr>
          <p:cNvPr id="31" name="TextBox 30"/>
          <p:cNvSpPr txBox="1"/>
          <p:nvPr/>
        </p:nvSpPr>
        <p:spPr>
          <a:xfrm>
            <a:off x="257175" y="6029325"/>
            <a:ext cx="11296384" cy="186689"/>
          </a:xfrm>
          <a:prstGeom prst="rect">
            <a:avLst/>
          </a:prstGeom>
          <a:noFill/>
        </p:spPr>
        <p:txBody>
          <a:bodyPr wrap="none" lIns="0" rIns="0" tIns="0" bIns="0">
            <a:spAutoFit/>
          </a:bodyPr>
          <a:lstStyle/>
          <a:p>
            <a:r>
              <a:rPr sz="1100" b="0">
                <a:solidFill>
                  <a:srgbClr val="2E2E2E"/>
                </a:solidFill>
                <a:latin typeface="Calibri"/>
              </a:rPr>
              <a:t>devices and accessories segment is expected to be less attractive as compared to other segments over the forecast period, owing to its lower CAGR and incremental opportunity. Bubbles right of the</a:t>
            </a:r>
          </a:p>
        </p:txBody>
      </p:sp>
      <p:sp>
        <p:nvSpPr>
          <p:cNvPr id="32" name="TextBox 31"/>
          <p:cNvSpPr txBox="1"/>
          <p:nvPr/>
        </p:nvSpPr>
        <p:spPr>
          <a:xfrm>
            <a:off x="257175" y="6196965"/>
            <a:ext cx="3224344" cy="186689"/>
          </a:xfrm>
          <a:prstGeom prst="rect">
            <a:avLst/>
          </a:prstGeom>
          <a:noFill/>
        </p:spPr>
        <p:txBody>
          <a:bodyPr wrap="none" lIns="0" rIns="0" tIns="0" bIns="0">
            <a:spAutoFit/>
          </a:bodyPr>
          <a:lstStyle/>
          <a:p>
            <a:r>
              <a:rPr sz="1100" b="0">
                <a:solidFill>
                  <a:srgbClr val="2E2E2E"/>
                </a:solidFill>
                <a:latin typeface="Calibri"/>
              </a:rPr>
              <a:t>CAGR-Index line 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Product Type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Ear Drops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Ear Sprays</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Irrigation Devices and Accessories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Manual Removal Tools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Product Type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Camera-Assisted Removal Devices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Suction Devices and Accessories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Combination Removal Kits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3952875"/>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Product Type</a:t>
            </a:r>
          </a:p>
        </p:txBody>
      </p:sp>
      <p:sp>
        <p:nvSpPr>
          <p:cNvPr id="21" name="Rectangle 20"/>
          <p:cNvSpPr/>
          <p:nvPr/>
        </p:nvSpPr>
        <p:spPr>
          <a:xfrm>
            <a:off x="6305550" y="41910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4276725"/>
            <a:ext cx="5610225" cy="22669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7"/>
          <a:stretch>
            <a:fillRect/>
          </a:stretch>
        </p:blipFill>
        <p:spPr>
          <a:xfrm>
            <a:off x="3100230" y="2330679"/>
            <a:ext cx="252890" cy="367840"/>
          </a:xfrm>
          <a:prstGeom prst="rect">
            <a:avLst/>
          </a:prstGeom>
        </p:spPr>
      </p:pic>
      <p:pic>
        <p:nvPicPr>
          <p:cNvPr id="25" name="Picture 24" descr="lock.png"/>
          <p:cNvPicPr>
            <a:picLocks noChangeAspect="1"/>
          </p:cNvPicPr>
          <p:nvPr/>
        </p:nvPicPr>
        <p:blipFill>
          <a:blip r:embed="rId7"/>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3100230" y="5216754"/>
            <a:ext cx="252890" cy="367840"/>
          </a:xfrm>
          <a:prstGeom prst="rect">
            <a:avLst/>
          </a:prstGeom>
        </p:spPr>
      </p:pic>
      <p:sp>
        <p:nvSpPr>
          <p:cNvPr id="27" name="TextBox 26"/>
          <p:cNvSpPr txBox="1"/>
          <p:nvPr/>
        </p:nvSpPr>
        <p:spPr>
          <a:xfrm>
            <a:off x="6305550" y="4286250"/>
            <a:ext cx="5481168" cy="194310"/>
          </a:xfrm>
          <a:prstGeom prst="rect">
            <a:avLst/>
          </a:prstGeom>
          <a:noFill/>
        </p:spPr>
        <p:txBody>
          <a:bodyPr wrap="none" lIns="0" rIns="0" tIns="0" bIns="0">
            <a:spAutoFit/>
          </a:bodyPr>
          <a:lstStyle/>
          <a:p>
            <a:r>
              <a:rPr sz="1150" b="0">
                <a:solidFill>
                  <a:srgbClr val="2E2E2E"/>
                </a:solidFill>
                <a:latin typeface="Calibri"/>
              </a:rPr>
              <a:t>By 2036, irrigation devices and accessories segment is anticipated to witness an increase of</a:t>
            </a:r>
          </a:p>
        </p:txBody>
      </p:sp>
      <p:pic>
        <p:nvPicPr>
          <p:cNvPr id="28" name="Picture 27" descr="lock.png"/>
          <p:cNvPicPr>
            <a:picLocks noChangeAspect="1"/>
          </p:cNvPicPr>
          <p:nvPr/>
        </p:nvPicPr>
        <p:blipFill>
          <a:blip r:embed="rId7"/>
          <a:stretch>
            <a:fillRect/>
          </a:stretch>
        </p:blipFill>
        <p:spPr>
          <a:xfrm>
            <a:off x="6291470" y="4451286"/>
            <a:ext cx="134549" cy="195707"/>
          </a:xfrm>
          <a:prstGeom prst="rect">
            <a:avLst/>
          </a:prstGeom>
        </p:spPr>
      </p:pic>
      <p:sp>
        <p:nvSpPr>
          <p:cNvPr id="29" name="TextBox 28"/>
          <p:cNvSpPr txBox="1"/>
          <p:nvPr/>
        </p:nvSpPr>
        <p:spPr>
          <a:xfrm>
            <a:off x="6466579" y="4461510"/>
            <a:ext cx="5317170" cy="194310"/>
          </a:xfrm>
          <a:prstGeom prst="rect">
            <a:avLst/>
          </a:prstGeom>
          <a:noFill/>
        </p:spPr>
        <p:txBody>
          <a:bodyPr wrap="none" lIns="0" rIns="0" tIns="0" bIns="0">
            <a:spAutoFit/>
          </a:bodyPr>
          <a:lstStyle/>
          <a:p>
            <a:r>
              <a:rPr sz="1150" b="0">
                <a:solidFill>
                  <a:srgbClr val="2E2E2E"/>
                </a:solidFill>
                <a:latin typeface="Calibri"/>
              </a:rPr>
              <a:t>X in terms of value as compared to 2026. The irrigation devices and accessories segment</a:t>
            </a:r>
          </a:p>
        </p:txBody>
      </p:sp>
      <p:sp>
        <p:nvSpPr>
          <p:cNvPr id="30" name="TextBox 29"/>
          <p:cNvSpPr txBox="1"/>
          <p:nvPr/>
        </p:nvSpPr>
        <p:spPr>
          <a:xfrm>
            <a:off x="6305550" y="4636770"/>
            <a:ext cx="3409106" cy="194310"/>
          </a:xfrm>
          <a:prstGeom prst="rect">
            <a:avLst/>
          </a:prstGeom>
          <a:noFill/>
        </p:spPr>
        <p:txBody>
          <a:bodyPr wrap="none" lIns="0" rIns="0" tIns="0" bIns="0">
            <a:spAutoFit/>
          </a:bodyPr>
          <a:lstStyle/>
          <a:p>
            <a:r>
              <a:rPr sz="1150" b="0">
                <a:solidFill>
                  <a:srgbClr val="2E2E2E"/>
                </a:solidFill>
                <a:latin typeface="Calibri"/>
              </a:rPr>
              <a:t>is expected to create an incremental opportunity of US$</a:t>
            </a:r>
          </a:p>
        </p:txBody>
      </p:sp>
      <p:pic>
        <p:nvPicPr>
          <p:cNvPr id="31" name="Picture 30" descr="lock.png"/>
          <p:cNvPicPr>
            <a:picLocks noChangeAspect="1"/>
          </p:cNvPicPr>
          <p:nvPr/>
        </p:nvPicPr>
        <p:blipFill>
          <a:blip r:embed="rId7"/>
          <a:stretch>
            <a:fillRect/>
          </a:stretch>
        </p:blipFill>
        <p:spPr>
          <a:xfrm>
            <a:off x="9663810" y="4626546"/>
            <a:ext cx="134549" cy="195707"/>
          </a:xfrm>
          <a:prstGeom prst="rect">
            <a:avLst/>
          </a:prstGeom>
        </p:spPr>
      </p:pic>
      <p:sp>
        <p:nvSpPr>
          <p:cNvPr id="32" name="TextBox 31"/>
          <p:cNvSpPr txBox="1"/>
          <p:nvPr/>
        </p:nvSpPr>
        <p:spPr>
          <a:xfrm>
            <a:off x="9838919" y="4636770"/>
            <a:ext cx="1649660" cy="194310"/>
          </a:xfrm>
          <a:prstGeom prst="rect">
            <a:avLst/>
          </a:prstGeom>
          <a:noFill/>
        </p:spPr>
        <p:txBody>
          <a:bodyPr wrap="none" lIns="0" rIns="0" tIns="0" bIns="0">
            <a:spAutoFit/>
          </a:bodyPr>
          <a:lstStyle/>
          <a:p>
            <a:r>
              <a:rPr sz="1150" b="0">
                <a:solidFill>
                  <a:srgbClr val="2E2E2E"/>
                </a:solidFill>
                <a:latin typeface="Calibri"/>
              </a:rPr>
              <a:t>Mn for the overall ear wax</a:t>
            </a:r>
          </a:p>
        </p:txBody>
      </p:sp>
      <p:sp>
        <p:nvSpPr>
          <p:cNvPr id="33" name="TextBox 32"/>
          <p:cNvSpPr txBox="1"/>
          <p:nvPr/>
        </p:nvSpPr>
        <p:spPr>
          <a:xfrm>
            <a:off x="6305550" y="4812029"/>
            <a:ext cx="2759298" cy="194310"/>
          </a:xfrm>
          <a:prstGeom prst="rect">
            <a:avLst/>
          </a:prstGeom>
          <a:noFill/>
        </p:spPr>
        <p:txBody>
          <a:bodyPr wrap="none" lIns="0" rIns="0" tIns="0" bIns="0">
            <a:spAutoFit/>
          </a:bodyPr>
          <a:lstStyle/>
          <a:p>
            <a:r>
              <a:rPr sz="1150" b="0">
                <a:solidFill>
                  <a:srgbClr val="2E2E2E"/>
                </a:solidFill>
                <a:latin typeface="Calibri"/>
              </a:rPr>
              <a:t>removal products market from 2026 to 2036.</a:t>
            </a:r>
          </a:p>
        </p:txBody>
      </p:sp>
      <p:sp>
        <p:nvSpPr>
          <p:cNvPr id="34" name="TextBox 33"/>
          <p:cNvSpPr txBox="1"/>
          <p:nvPr/>
        </p:nvSpPr>
        <p:spPr>
          <a:xfrm>
            <a:off x="6305550" y="5039867"/>
            <a:ext cx="4808277" cy="194310"/>
          </a:xfrm>
          <a:prstGeom prst="rect">
            <a:avLst/>
          </a:prstGeom>
          <a:noFill/>
        </p:spPr>
        <p:txBody>
          <a:bodyPr wrap="none" lIns="0" rIns="0" tIns="0" bIns="0">
            <a:spAutoFit/>
          </a:bodyPr>
          <a:lstStyle/>
          <a:p>
            <a:r>
              <a:rPr sz="1150" b="0">
                <a:solidFill>
                  <a:srgbClr val="2E2E2E"/>
                </a:solidFill>
                <a:latin typeface="Calibri"/>
              </a:rPr>
              <a:t>The ear drops segment is expected to create an incremental opportunity of US$</a:t>
            </a:r>
          </a:p>
        </p:txBody>
      </p:sp>
      <p:pic>
        <p:nvPicPr>
          <p:cNvPr id="35" name="Picture 34" descr="lock.png"/>
          <p:cNvPicPr>
            <a:picLocks noChangeAspect="1"/>
          </p:cNvPicPr>
          <p:nvPr/>
        </p:nvPicPr>
        <p:blipFill>
          <a:blip r:embed="rId7"/>
          <a:stretch>
            <a:fillRect/>
          </a:stretch>
        </p:blipFill>
        <p:spPr>
          <a:xfrm>
            <a:off x="11062980" y="5029644"/>
            <a:ext cx="134549" cy="195707"/>
          </a:xfrm>
          <a:prstGeom prst="rect">
            <a:avLst/>
          </a:prstGeom>
        </p:spPr>
      </p:pic>
      <p:sp>
        <p:nvSpPr>
          <p:cNvPr id="36" name="TextBox 35"/>
          <p:cNvSpPr txBox="1"/>
          <p:nvPr/>
        </p:nvSpPr>
        <p:spPr>
          <a:xfrm>
            <a:off x="11238090" y="5039867"/>
            <a:ext cx="483542" cy="194310"/>
          </a:xfrm>
          <a:prstGeom prst="rect">
            <a:avLst/>
          </a:prstGeom>
          <a:noFill/>
        </p:spPr>
        <p:txBody>
          <a:bodyPr wrap="none" lIns="0" rIns="0" tIns="0" bIns="0">
            <a:spAutoFit/>
          </a:bodyPr>
          <a:lstStyle/>
          <a:p>
            <a:r>
              <a:rPr sz="1150" b="0">
                <a:solidFill>
                  <a:srgbClr val="2E2E2E"/>
                </a:solidFill>
                <a:latin typeface="Calibri"/>
              </a:rPr>
              <a:t>Mn for</a:t>
            </a:r>
          </a:p>
        </p:txBody>
      </p:sp>
      <p:sp>
        <p:nvSpPr>
          <p:cNvPr id="37" name="TextBox 36"/>
          <p:cNvSpPr txBox="1"/>
          <p:nvPr/>
        </p:nvSpPr>
        <p:spPr>
          <a:xfrm>
            <a:off x="6305550" y="5215127"/>
            <a:ext cx="5502870" cy="194310"/>
          </a:xfrm>
          <a:prstGeom prst="rect">
            <a:avLst/>
          </a:prstGeom>
          <a:noFill/>
        </p:spPr>
        <p:txBody>
          <a:bodyPr wrap="none" lIns="0" rIns="0" tIns="0" bIns="0">
            <a:spAutoFit/>
          </a:bodyPr>
          <a:lstStyle/>
          <a:p>
            <a:r>
              <a:rPr sz="1150" b="0">
                <a:solidFill>
                  <a:srgbClr val="2E2E2E"/>
                </a:solidFill>
                <a:latin typeface="Calibri"/>
              </a:rPr>
              <a:t>the overall ear wax removal products market from 2026 to 2036. The manual removal tools</a:t>
            </a:r>
          </a:p>
        </p:txBody>
      </p:sp>
      <p:sp>
        <p:nvSpPr>
          <p:cNvPr id="38" name="TextBox 37"/>
          <p:cNvSpPr txBox="1"/>
          <p:nvPr/>
        </p:nvSpPr>
        <p:spPr>
          <a:xfrm>
            <a:off x="6305550" y="5390387"/>
            <a:ext cx="3955938" cy="194310"/>
          </a:xfrm>
          <a:prstGeom prst="rect">
            <a:avLst/>
          </a:prstGeom>
          <a:noFill/>
        </p:spPr>
        <p:txBody>
          <a:bodyPr wrap="none" lIns="0" rIns="0" tIns="0" bIns="0">
            <a:spAutoFit/>
          </a:bodyPr>
          <a:lstStyle/>
          <a:p>
            <a:r>
              <a:rPr sz="1150" b="0">
                <a:solidFill>
                  <a:srgbClr val="2E2E2E"/>
                </a:solidFill>
                <a:latin typeface="Calibri"/>
              </a:rPr>
              <a:t>segment is expected to create an incremental opportunity of US$</a:t>
            </a:r>
          </a:p>
        </p:txBody>
      </p:sp>
      <p:pic>
        <p:nvPicPr>
          <p:cNvPr id="39" name="Picture 38" descr="lock.png"/>
          <p:cNvPicPr>
            <a:picLocks noChangeAspect="1"/>
          </p:cNvPicPr>
          <p:nvPr/>
        </p:nvPicPr>
        <p:blipFill>
          <a:blip r:embed="rId7"/>
          <a:stretch>
            <a:fillRect/>
          </a:stretch>
        </p:blipFill>
        <p:spPr>
          <a:xfrm>
            <a:off x="10210642" y="5380164"/>
            <a:ext cx="134549" cy="195707"/>
          </a:xfrm>
          <a:prstGeom prst="rect">
            <a:avLst/>
          </a:prstGeom>
        </p:spPr>
      </p:pic>
      <p:sp>
        <p:nvSpPr>
          <p:cNvPr id="40" name="TextBox 39"/>
          <p:cNvSpPr txBox="1"/>
          <p:nvPr/>
        </p:nvSpPr>
        <p:spPr>
          <a:xfrm>
            <a:off x="10385751" y="5390387"/>
            <a:ext cx="1378954" cy="194310"/>
          </a:xfrm>
          <a:prstGeom prst="rect">
            <a:avLst/>
          </a:prstGeom>
          <a:noFill/>
        </p:spPr>
        <p:txBody>
          <a:bodyPr wrap="none" lIns="0" rIns="0" tIns="0" bIns="0">
            <a:spAutoFit/>
          </a:bodyPr>
          <a:lstStyle/>
          <a:p>
            <a:r>
              <a:rPr sz="1150" b="0">
                <a:solidFill>
                  <a:srgbClr val="2E2E2E"/>
                </a:solidFill>
                <a:latin typeface="Calibri"/>
              </a:rPr>
              <a:t>Mn for the overall ear</a:t>
            </a:r>
          </a:p>
        </p:txBody>
      </p:sp>
      <p:sp>
        <p:nvSpPr>
          <p:cNvPr id="41" name="TextBox 40"/>
          <p:cNvSpPr txBox="1"/>
          <p:nvPr/>
        </p:nvSpPr>
        <p:spPr>
          <a:xfrm>
            <a:off x="6305550" y="5565647"/>
            <a:ext cx="3030004" cy="194310"/>
          </a:xfrm>
          <a:prstGeom prst="rect">
            <a:avLst/>
          </a:prstGeom>
          <a:noFill/>
        </p:spPr>
        <p:txBody>
          <a:bodyPr wrap="none" lIns="0" rIns="0" tIns="0" bIns="0">
            <a:spAutoFit/>
          </a:bodyPr>
          <a:lstStyle/>
          <a:p>
            <a:r>
              <a:rPr sz="1150" b="0">
                <a:solidFill>
                  <a:srgbClr val="2E2E2E"/>
                </a:solidFill>
                <a:latin typeface="Calibri"/>
              </a:rPr>
              <a:t>wax removal products market from 2026 to 2036.</a:t>
            </a:r>
          </a:p>
        </p:txBody>
      </p:sp>
      <p:sp>
        <p:nvSpPr>
          <p:cNvPr id="42"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Product Type (US$ Mn)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Type, 2021–2036, highlighting the sub-segments driving growth</a:t>
            </a:r>
          </a:p>
        </p:txBody>
      </p:sp>
      <p:sp>
        <p:nvSpPr>
          <p:cNvPr id="10" name="Rounded Rectangle 9"/>
          <p:cNvSpPr/>
          <p:nvPr/>
        </p:nvSpPr>
        <p:spPr>
          <a:xfrm>
            <a:off x="142875" y="981075"/>
            <a:ext cx="11906250" cy="5638800"/>
          </a:xfrm>
          <a:prstGeom prst="roundRect">
            <a:avLst>
              <a:gd name="adj" fmla="val 13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Product Type (US$ Mn)</a:t>
            </a:r>
          </a:p>
        </p:txBody>
      </p:sp>
      <p:graphicFrame>
        <p:nvGraphicFramePr>
          <p:cNvPr id="12" name="Table 11"/>
          <p:cNvGraphicFramePr>
            <a:graphicFrameLocks noGrp="1"/>
          </p:cNvGraphicFramePr>
          <p:nvPr/>
        </p:nvGraphicFramePr>
        <p:xfrm>
          <a:off x="152400" y="1238250"/>
          <a:ext cx="11887204" cy="5172066"/>
        </p:xfrm>
        <a:graphic>
          <a:graphicData uri="http://schemas.openxmlformats.org/drawingml/2006/table">
            <a:tbl>
              <a:tblPr>
                <a:tableStyleId>{5C22544A-7EE6-4342-B048-85BDC9FD1C3A}</a:tableStyleId>
              </a:tblPr>
              <a:tblGrid>
                <a:gridCol w="3093384"/>
                <a:gridCol w="528231"/>
                <a:gridCol w="528231"/>
                <a:gridCol w="528231"/>
                <a:gridCol w="528231"/>
                <a:gridCol w="528231"/>
                <a:gridCol w="509624"/>
                <a:gridCol w="504308"/>
                <a:gridCol w="504308"/>
                <a:gridCol w="504308"/>
                <a:gridCol w="504308"/>
                <a:gridCol w="504308"/>
                <a:gridCol w="504308"/>
                <a:gridCol w="504308"/>
                <a:gridCol w="504308"/>
                <a:gridCol w="504308"/>
                <a:gridCol w="504308"/>
                <a:gridCol w="599961"/>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297">
                <a:tc>
                  <a:txBody>
                    <a:bodyPr wrap="none"/>
                    <a:lstStyle/>
                    <a:p>
                      <a:pPr algn="l"/>
                      <a:r>
                        <a:rPr sz="1100" b="1">
                          <a:solidFill>
                            <a:srgbClr val="2E2E2E"/>
                          </a:solidFill>
                          <a:latin typeface="Calibri"/>
                        </a:rPr>
                        <a:t>Ear Drops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Peroxide-Based Drops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Oil-Based Drops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Sodium Bicarbonate-Based Drops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Surfactant-Based Drops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Solvent-Containing Combination Drops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Other Wax-Dissolving Drops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Ear Sprays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Oil-Based Sprays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Saline/Seawater-Based Cleansing Sprays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Other Wax-Dispersing Sprays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Irrigation Devices and Accessories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Bulb Syringes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Manual Pump Irrigators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Powered Irrigation Systems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Irrigation Tips and Replacement Accessories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Manual Removal Tools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Flexible Ear Scoops and Cleaners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Ear Curettes, Loops, and Hooks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Lighted Manual Instruments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64198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456003" y="3680645"/>
            <a:ext cx="366712" cy="5334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Product Type (US$ Mn)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Type, 2021–2036, highlighting the sub-segments driving growth</a:t>
            </a:r>
          </a:p>
        </p:txBody>
      </p:sp>
      <p:sp>
        <p:nvSpPr>
          <p:cNvPr id="10" name="Rounded Rectangle 9"/>
          <p:cNvSpPr/>
          <p:nvPr/>
        </p:nvSpPr>
        <p:spPr>
          <a:xfrm>
            <a:off x="142875" y="981075"/>
            <a:ext cx="1190625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Product Type (US$ Mn)</a:t>
            </a:r>
          </a:p>
        </p:txBody>
      </p:sp>
      <p:graphicFrame>
        <p:nvGraphicFramePr>
          <p:cNvPr id="12" name="Table 11"/>
          <p:cNvGraphicFramePr>
            <a:graphicFrameLocks noGrp="1"/>
          </p:cNvGraphicFramePr>
          <p:nvPr/>
        </p:nvGraphicFramePr>
        <p:xfrm>
          <a:off x="152400" y="1238250"/>
          <a:ext cx="11887202" cy="2714626"/>
        </p:xfrm>
        <a:graphic>
          <a:graphicData uri="http://schemas.openxmlformats.org/drawingml/2006/table">
            <a:tbl>
              <a:tblPr>
                <a:tableStyleId>{5C22544A-7EE6-4342-B048-85BDC9FD1C3A}</a:tableStyleId>
              </a:tblPr>
              <a:tblGrid>
                <a:gridCol w="3136434"/>
                <a:gridCol w="525645"/>
                <a:gridCol w="525645"/>
                <a:gridCol w="525645"/>
                <a:gridCol w="525645"/>
                <a:gridCol w="525645"/>
                <a:gridCol w="507129"/>
                <a:gridCol w="501839"/>
                <a:gridCol w="501839"/>
                <a:gridCol w="501839"/>
                <a:gridCol w="501839"/>
                <a:gridCol w="501839"/>
                <a:gridCol w="501839"/>
                <a:gridCol w="501839"/>
                <a:gridCol w="501839"/>
                <a:gridCol w="501839"/>
                <a:gridCol w="501839"/>
                <a:gridCol w="597024"/>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Camera-Assisted Removal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Smartphone-Connected Ear Cleaners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Replacement Extraction Tips and Accessories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Suction Devices and Accessories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Professional Microsuction Systems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Suction Tips and Consumables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Combination Removal Kits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Drops with Irrigation Tools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Drops with Manual Cleaning Tools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295775"/>
            <a:ext cx="11906250" cy="2333625"/>
          </a:xfrm>
          <a:prstGeom prst="roundRect">
            <a:avLst>
              <a:gd name="adj" fmla="val 32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3815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Product Type</a:t>
            </a:r>
          </a:p>
        </p:txBody>
      </p:sp>
      <p:sp>
        <p:nvSpPr>
          <p:cNvPr id="16" name="Rectangle 15"/>
          <p:cNvSpPr/>
          <p:nvPr/>
        </p:nvSpPr>
        <p:spPr>
          <a:xfrm>
            <a:off x="276225" y="46196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705350"/>
            <a:ext cx="11639550" cy="18478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477528" y="2451926"/>
            <a:ext cx="366712" cy="533400"/>
          </a:xfrm>
          <a:prstGeom prst="rect">
            <a:avLst/>
          </a:prstGeom>
        </p:spPr>
      </p:pic>
      <p:sp>
        <p:nvSpPr>
          <p:cNvPr id="20" name="TextBox 19"/>
          <p:cNvSpPr txBox="1"/>
          <p:nvPr/>
        </p:nvSpPr>
        <p:spPr>
          <a:xfrm>
            <a:off x="276225" y="4714875"/>
            <a:ext cx="3984463" cy="194310"/>
          </a:xfrm>
          <a:prstGeom prst="rect">
            <a:avLst/>
          </a:prstGeom>
          <a:noFill/>
        </p:spPr>
        <p:txBody>
          <a:bodyPr wrap="none" lIns="0" rIns="0" tIns="0" bIns="0">
            <a:spAutoFit/>
          </a:bodyPr>
          <a:lstStyle/>
          <a:p>
            <a:r>
              <a:rPr sz="1150" b="0">
                <a:solidFill>
                  <a:srgbClr val="2E2E2E"/>
                </a:solidFill>
                <a:latin typeface="Calibri"/>
              </a:rPr>
              <a:t>Irrigation devices and accessories segment is projected to register</a:t>
            </a:r>
          </a:p>
        </p:txBody>
      </p:sp>
      <p:pic>
        <p:nvPicPr>
          <p:cNvPr id="21" name="Picture 20" descr="lock.png"/>
          <p:cNvPicPr>
            <a:picLocks noChangeAspect="1"/>
          </p:cNvPicPr>
          <p:nvPr/>
        </p:nvPicPr>
        <p:blipFill>
          <a:blip r:embed="rId4"/>
          <a:stretch>
            <a:fillRect/>
          </a:stretch>
        </p:blipFill>
        <p:spPr>
          <a:xfrm>
            <a:off x="4209842" y="4704651"/>
            <a:ext cx="134549" cy="195707"/>
          </a:xfrm>
          <a:prstGeom prst="rect">
            <a:avLst/>
          </a:prstGeom>
        </p:spPr>
      </p:pic>
      <p:sp>
        <p:nvSpPr>
          <p:cNvPr id="22" name="TextBox 21"/>
          <p:cNvSpPr txBox="1"/>
          <p:nvPr/>
        </p:nvSpPr>
        <p:spPr>
          <a:xfrm>
            <a:off x="4384951" y="4714875"/>
            <a:ext cx="7192999" cy="194310"/>
          </a:xfrm>
          <a:prstGeom prst="rect">
            <a:avLst/>
          </a:prstGeom>
          <a:noFill/>
        </p:spPr>
        <p:txBody>
          <a:bodyPr wrap="none" lIns="0" rIns="0" tIns="0" bIns="0">
            <a:spAutoFit/>
          </a:bodyPr>
          <a:lstStyle/>
          <a:p>
            <a:r>
              <a:rPr sz="1150" b="0">
                <a:solidFill>
                  <a:srgbClr val="2E2E2E"/>
                </a:solidFill>
                <a:latin typeface="Calibri"/>
              </a:rPr>
              <a:t>X higher value than ear drops segment in 2036. Among ear wax removal products by product type, ear drops segment is</a:t>
            </a:r>
          </a:p>
        </p:txBody>
      </p:sp>
      <p:sp>
        <p:nvSpPr>
          <p:cNvPr id="23" name="TextBox 22"/>
          <p:cNvSpPr txBox="1"/>
          <p:nvPr/>
        </p:nvSpPr>
        <p:spPr>
          <a:xfrm>
            <a:off x="276225" y="489013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24" name="Picture 23" descr="lock.png"/>
          <p:cNvPicPr>
            <a:picLocks noChangeAspect="1"/>
          </p:cNvPicPr>
          <p:nvPr/>
        </p:nvPicPr>
        <p:blipFill>
          <a:blip r:embed="rId4"/>
          <a:stretch>
            <a:fillRect/>
          </a:stretch>
        </p:blipFill>
        <p:spPr>
          <a:xfrm>
            <a:off x="2711386" y="4879911"/>
            <a:ext cx="134549" cy="195707"/>
          </a:xfrm>
          <a:prstGeom prst="rect">
            <a:avLst/>
          </a:prstGeom>
        </p:spPr>
      </p:pic>
      <p:sp>
        <p:nvSpPr>
          <p:cNvPr id="25" name="TextBox 24"/>
          <p:cNvSpPr txBox="1"/>
          <p:nvPr/>
        </p:nvSpPr>
        <p:spPr>
          <a:xfrm>
            <a:off x="2886495" y="48901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5117972"/>
            <a:ext cx="7896721" cy="194310"/>
          </a:xfrm>
          <a:prstGeom prst="rect">
            <a:avLst/>
          </a:prstGeom>
          <a:noFill/>
        </p:spPr>
        <p:txBody>
          <a:bodyPr wrap="none" lIns="0" rIns="0" tIns="0" bIns="0">
            <a:spAutoFit/>
          </a:bodyPr>
          <a:lstStyle/>
          <a:p>
            <a:r>
              <a:rPr sz="1150" b="0">
                <a:solidFill>
                  <a:srgbClr val="2E2E2E"/>
                </a:solidFill>
                <a:latin typeface="Calibri"/>
              </a:rPr>
              <a:t>In terms of value share by product type, the irrigation devices and accessories segment is expected to dominate the market, gaining</a:t>
            </a:r>
          </a:p>
        </p:txBody>
      </p:sp>
      <p:pic>
        <p:nvPicPr>
          <p:cNvPr id="27" name="Picture 26" descr="lock.png"/>
          <p:cNvPicPr>
            <a:picLocks noChangeAspect="1"/>
          </p:cNvPicPr>
          <p:nvPr/>
        </p:nvPicPr>
        <p:blipFill>
          <a:blip r:embed="rId4"/>
          <a:stretch>
            <a:fillRect/>
          </a:stretch>
        </p:blipFill>
        <p:spPr>
          <a:xfrm>
            <a:off x="8122100" y="5107749"/>
            <a:ext cx="134549" cy="195707"/>
          </a:xfrm>
          <a:prstGeom prst="rect">
            <a:avLst/>
          </a:prstGeom>
        </p:spPr>
      </p:pic>
      <p:sp>
        <p:nvSpPr>
          <p:cNvPr id="28" name="TextBox 27"/>
          <p:cNvSpPr txBox="1"/>
          <p:nvPr/>
        </p:nvSpPr>
        <p:spPr>
          <a:xfrm>
            <a:off x="8297209" y="51179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692352" y="5107749"/>
            <a:ext cx="134549" cy="195707"/>
          </a:xfrm>
          <a:prstGeom prst="rect">
            <a:avLst/>
          </a:prstGeom>
        </p:spPr>
      </p:pic>
      <p:sp>
        <p:nvSpPr>
          <p:cNvPr id="30" name="TextBox 29"/>
          <p:cNvSpPr txBox="1"/>
          <p:nvPr/>
        </p:nvSpPr>
        <p:spPr>
          <a:xfrm>
            <a:off x="9867461" y="5117972"/>
            <a:ext cx="1837928" cy="194310"/>
          </a:xfrm>
          <a:prstGeom prst="rect">
            <a:avLst/>
          </a:prstGeom>
          <a:noFill/>
        </p:spPr>
        <p:txBody>
          <a:bodyPr wrap="none" lIns="0" rIns="0" tIns="0" bIns="0">
            <a:spAutoFit/>
          </a:bodyPr>
          <a:lstStyle/>
          <a:p>
            <a:r>
              <a:rPr sz="1150" b="0">
                <a:solidFill>
                  <a:srgbClr val="2E2E2E"/>
                </a:solidFill>
                <a:latin typeface="Calibri"/>
              </a:rPr>
              <a:t>share by 2036. The ear sprays</a:t>
            </a:r>
          </a:p>
        </p:txBody>
      </p:sp>
      <p:sp>
        <p:nvSpPr>
          <p:cNvPr id="31" name="TextBox 30"/>
          <p:cNvSpPr txBox="1"/>
          <p:nvPr/>
        </p:nvSpPr>
        <p:spPr>
          <a:xfrm>
            <a:off x="276225" y="5293232"/>
            <a:ext cx="1725538" cy="194310"/>
          </a:xfrm>
          <a:prstGeom prst="rect">
            <a:avLst/>
          </a:prstGeom>
          <a:noFill/>
        </p:spPr>
        <p:txBody>
          <a:bodyPr wrap="none" lIns="0" rIns="0" tIns="0" bIns="0">
            <a:spAutoFit/>
          </a:bodyPr>
          <a:lstStyle/>
          <a:p>
            <a:r>
              <a:rPr sz="1150" b="0">
                <a:solidFill>
                  <a:srgbClr val="2E2E2E"/>
                </a:solidFill>
                <a:latin typeface="Calibri"/>
              </a:rPr>
              <a:t>segment is expected to lose</a:t>
            </a:r>
          </a:p>
        </p:txBody>
      </p:sp>
      <p:pic>
        <p:nvPicPr>
          <p:cNvPr id="32" name="Picture 31" descr="lock.png"/>
          <p:cNvPicPr>
            <a:picLocks noChangeAspect="1"/>
          </p:cNvPicPr>
          <p:nvPr/>
        </p:nvPicPr>
        <p:blipFill>
          <a:blip r:embed="rId4"/>
          <a:stretch>
            <a:fillRect/>
          </a:stretch>
        </p:blipFill>
        <p:spPr>
          <a:xfrm>
            <a:off x="1950917" y="5283009"/>
            <a:ext cx="134549" cy="195707"/>
          </a:xfrm>
          <a:prstGeom prst="rect">
            <a:avLst/>
          </a:prstGeom>
        </p:spPr>
      </p:pic>
      <p:sp>
        <p:nvSpPr>
          <p:cNvPr id="33" name="TextBox 32"/>
          <p:cNvSpPr txBox="1"/>
          <p:nvPr/>
        </p:nvSpPr>
        <p:spPr>
          <a:xfrm>
            <a:off x="2126026" y="52932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4713530" y="5283009"/>
            <a:ext cx="134549" cy="195707"/>
          </a:xfrm>
          <a:prstGeom prst="rect">
            <a:avLst/>
          </a:prstGeom>
        </p:spPr>
      </p:pic>
      <p:sp>
        <p:nvSpPr>
          <p:cNvPr id="35" name="TextBox 34"/>
          <p:cNvSpPr txBox="1"/>
          <p:nvPr/>
        </p:nvSpPr>
        <p:spPr>
          <a:xfrm>
            <a:off x="4888640" y="52932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Product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Product Type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Product Type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859714"/>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185495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7875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Combination Removal Kits</a:t>
            </a:r>
          </a:p>
        </p:txBody>
      </p:sp>
      <p:sp>
        <p:nvSpPr>
          <p:cNvPr id="18" name="BPS Value 1"/>
          <p:cNvSpPr txBox="1"/>
          <p:nvPr/>
        </p:nvSpPr>
        <p:spPr>
          <a:xfrm>
            <a:off x="6896100" y="184066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2242063"/>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23730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16110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Camera-Assisted Removal Devices</a:t>
            </a:r>
          </a:p>
        </p:txBody>
      </p:sp>
      <p:sp>
        <p:nvSpPr>
          <p:cNvPr id="22" name="BPS Value 2"/>
          <p:cNvSpPr txBox="1"/>
          <p:nvPr/>
        </p:nvSpPr>
        <p:spPr>
          <a:xfrm>
            <a:off x="6896100" y="222301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2663395"/>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265863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58243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Suction Devices and Accessories</a:t>
            </a:r>
          </a:p>
        </p:txBody>
      </p:sp>
      <p:sp>
        <p:nvSpPr>
          <p:cNvPr id="26" name="BPS Value 3"/>
          <p:cNvSpPr txBox="1"/>
          <p:nvPr/>
        </p:nvSpPr>
        <p:spPr>
          <a:xfrm>
            <a:off x="6896100" y="264434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3152597"/>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314783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307163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Manual Removal Tools</a:t>
            </a:r>
          </a:p>
        </p:txBody>
      </p:sp>
      <p:sp>
        <p:nvSpPr>
          <p:cNvPr id="30" name="BPS Value 4"/>
          <p:cNvSpPr txBox="1"/>
          <p:nvPr/>
        </p:nvSpPr>
        <p:spPr>
          <a:xfrm>
            <a:off x="6896100" y="313354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928997" y="3734692"/>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5090922" y="372992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365372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Sprays</a:t>
            </a:r>
          </a:p>
        </p:txBody>
      </p:sp>
      <p:sp>
        <p:nvSpPr>
          <p:cNvPr id="34" name="BPS Value 5"/>
          <p:cNvSpPr txBox="1"/>
          <p:nvPr/>
        </p:nvSpPr>
        <p:spPr>
          <a:xfrm>
            <a:off x="6896100" y="371564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928997" y="4562717"/>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0922" y="455795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448175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Drops</a:t>
            </a:r>
          </a:p>
        </p:txBody>
      </p:sp>
      <p:sp>
        <p:nvSpPr>
          <p:cNvPr id="38" name="BPS Value 6"/>
          <p:cNvSpPr txBox="1"/>
          <p:nvPr/>
        </p:nvSpPr>
        <p:spPr>
          <a:xfrm>
            <a:off x="6896100" y="454366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FMI Legend Chip"/>
          <p:cNvSpPr/>
          <p:nvPr/>
        </p:nvSpPr>
        <p:spPr>
          <a:xfrm>
            <a:off x="4928997" y="5657024"/>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sosceles Triangle 39"/>
          <p:cNvSpPr/>
          <p:nvPr/>
        </p:nvSpPr>
        <p:spPr>
          <a:xfrm>
            <a:off x="5090922" y="565226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PS Name 7"/>
          <p:cNvSpPr txBox="1"/>
          <p:nvPr/>
        </p:nvSpPr>
        <p:spPr>
          <a:xfrm>
            <a:off x="5233797" y="557606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Irrigation Devices and Accessories</a:t>
            </a:r>
          </a:p>
        </p:txBody>
      </p:sp>
      <p:sp>
        <p:nvSpPr>
          <p:cNvPr id="42" name="BPS Value 7"/>
          <p:cNvSpPr txBox="1"/>
          <p:nvPr/>
        </p:nvSpPr>
        <p:spPr>
          <a:xfrm>
            <a:off x="6896100" y="563797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3" name="Rounded Rectangle 4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Product Type</a:t>
            </a:r>
          </a:p>
        </p:txBody>
      </p:sp>
      <p:sp>
        <p:nvSpPr>
          <p:cNvPr id="45" name="Rectangle 4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7" name="TextBox 4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8" name="Picture 47" descr="lock.png"/>
          <p:cNvPicPr>
            <a:picLocks noChangeAspect="1"/>
          </p:cNvPicPr>
          <p:nvPr/>
        </p:nvPicPr>
        <p:blipFill>
          <a:blip r:embed="rId5"/>
          <a:stretch>
            <a:fillRect/>
          </a:stretch>
        </p:blipFill>
        <p:spPr>
          <a:xfrm>
            <a:off x="2557843" y="3833622"/>
            <a:ext cx="275034" cy="400050"/>
          </a:xfrm>
          <a:prstGeom prst="rect">
            <a:avLst/>
          </a:prstGeom>
        </p:spPr>
      </p:pic>
      <p:sp>
        <p:nvSpPr>
          <p:cNvPr id="49" name="TextBox 48"/>
          <p:cNvSpPr txBox="1"/>
          <p:nvPr/>
        </p:nvSpPr>
        <p:spPr>
          <a:xfrm>
            <a:off x="7829550" y="1400175"/>
            <a:ext cx="3687799" cy="194310"/>
          </a:xfrm>
          <a:prstGeom prst="rect">
            <a:avLst/>
          </a:prstGeom>
          <a:noFill/>
        </p:spPr>
        <p:txBody>
          <a:bodyPr wrap="none" lIns="0" rIns="0" tIns="0" bIns="0">
            <a:spAutoFit/>
          </a:bodyPr>
          <a:lstStyle/>
          <a:p>
            <a:r>
              <a:rPr sz="1150" b="0">
                <a:solidFill>
                  <a:srgbClr val="2E2E2E"/>
                </a:solidFill>
                <a:latin typeface="Calibri"/>
              </a:rPr>
              <a:t>Among ear wax removal products by product type, ear drops</a:t>
            </a:r>
          </a:p>
        </p:txBody>
      </p:sp>
      <p:sp>
        <p:nvSpPr>
          <p:cNvPr id="50" name="TextBox 49"/>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51" name="Picture 50" descr="lock.png"/>
          <p:cNvPicPr>
            <a:picLocks noChangeAspect="1"/>
          </p:cNvPicPr>
          <p:nvPr/>
        </p:nvPicPr>
        <p:blipFill>
          <a:blip r:embed="rId5"/>
          <a:stretch>
            <a:fillRect/>
          </a:stretch>
        </p:blipFill>
        <p:spPr>
          <a:xfrm>
            <a:off x="10935343" y="1565211"/>
            <a:ext cx="134549" cy="195707"/>
          </a:xfrm>
          <a:prstGeom prst="rect">
            <a:avLst/>
          </a:prstGeom>
        </p:spPr>
      </p:pic>
      <p:sp>
        <p:nvSpPr>
          <p:cNvPr id="52" name="TextBox 51"/>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53" name="TextBox 52"/>
          <p:cNvSpPr txBox="1"/>
          <p:nvPr/>
        </p:nvSpPr>
        <p:spPr>
          <a:xfrm>
            <a:off x="7829550" y="1750695"/>
            <a:ext cx="3654995" cy="194310"/>
          </a:xfrm>
          <a:prstGeom prst="rect">
            <a:avLst/>
          </a:prstGeom>
          <a:noFill/>
        </p:spPr>
        <p:txBody>
          <a:bodyPr wrap="none" lIns="0" rIns="0" tIns="0" bIns="0">
            <a:spAutoFit/>
          </a:bodyPr>
          <a:lstStyle/>
          <a:p>
            <a:r>
              <a:rPr sz="1150" b="0">
                <a:solidFill>
                  <a:srgbClr val="2E2E2E"/>
                </a:solidFill>
                <a:latin typeface="Calibri"/>
              </a:rPr>
              <a:t>forecast period. In terms of value share by product type, the</a:t>
            </a:r>
          </a:p>
        </p:txBody>
      </p:sp>
      <p:sp>
        <p:nvSpPr>
          <p:cNvPr id="54" name="TextBox 53"/>
          <p:cNvSpPr txBox="1"/>
          <p:nvPr/>
        </p:nvSpPr>
        <p:spPr>
          <a:xfrm>
            <a:off x="7829550" y="1925955"/>
            <a:ext cx="4057650" cy="194310"/>
          </a:xfrm>
          <a:prstGeom prst="rect">
            <a:avLst/>
          </a:prstGeom>
          <a:noFill/>
        </p:spPr>
        <p:txBody>
          <a:bodyPr wrap="none" lIns="0" rIns="0" tIns="0" bIns="0">
            <a:spAutoFit/>
          </a:bodyPr>
          <a:lstStyle/>
          <a:p>
            <a:r>
              <a:rPr sz="1150" b="0">
                <a:solidFill>
                  <a:srgbClr val="2E2E2E"/>
                </a:solidFill>
                <a:latin typeface="Calibri"/>
              </a:rPr>
              <a:t>irrigation devices and accessories segment is expected to dominate</a:t>
            </a:r>
          </a:p>
        </p:txBody>
      </p:sp>
      <p:sp>
        <p:nvSpPr>
          <p:cNvPr id="55" name="TextBox 54"/>
          <p:cNvSpPr txBox="1"/>
          <p:nvPr/>
        </p:nvSpPr>
        <p:spPr>
          <a:xfrm>
            <a:off x="7829550" y="2101215"/>
            <a:ext cx="1231478" cy="194310"/>
          </a:xfrm>
          <a:prstGeom prst="rect">
            <a:avLst/>
          </a:prstGeom>
          <a:noFill/>
        </p:spPr>
        <p:txBody>
          <a:bodyPr wrap="none" lIns="0" rIns="0" tIns="0" bIns="0">
            <a:spAutoFit/>
          </a:bodyPr>
          <a:lstStyle/>
          <a:p>
            <a:r>
              <a:rPr sz="1150" b="0">
                <a:solidFill>
                  <a:srgbClr val="2E2E2E"/>
                </a:solidFill>
                <a:latin typeface="Calibri"/>
              </a:rPr>
              <a:t>the market, gaining</a:t>
            </a:r>
          </a:p>
        </p:txBody>
      </p:sp>
      <p:pic>
        <p:nvPicPr>
          <p:cNvPr id="56" name="Picture 55" descr="lock.png"/>
          <p:cNvPicPr>
            <a:picLocks noChangeAspect="1"/>
          </p:cNvPicPr>
          <p:nvPr/>
        </p:nvPicPr>
        <p:blipFill>
          <a:blip r:embed="rId5"/>
          <a:stretch>
            <a:fillRect/>
          </a:stretch>
        </p:blipFill>
        <p:spPr>
          <a:xfrm>
            <a:off x="9010182" y="2090991"/>
            <a:ext cx="134549" cy="195707"/>
          </a:xfrm>
          <a:prstGeom prst="rect">
            <a:avLst/>
          </a:prstGeom>
        </p:spPr>
      </p:pic>
      <p:sp>
        <p:nvSpPr>
          <p:cNvPr id="57" name="TextBox 56"/>
          <p:cNvSpPr txBox="1"/>
          <p:nvPr/>
        </p:nvSpPr>
        <p:spPr>
          <a:xfrm>
            <a:off x="9185291"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8" name="Picture 57" descr="lock.png"/>
          <p:cNvPicPr>
            <a:picLocks noChangeAspect="1"/>
          </p:cNvPicPr>
          <p:nvPr/>
        </p:nvPicPr>
        <p:blipFill>
          <a:blip r:embed="rId5"/>
          <a:stretch>
            <a:fillRect/>
          </a:stretch>
        </p:blipFill>
        <p:spPr>
          <a:xfrm>
            <a:off x="10580434" y="2090991"/>
            <a:ext cx="134549" cy="195707"/>
          </a:xfrm>
          <a:prstGeom prst="rect">
            <a:avLst/>
          </a:prstGeom>
        </p:spPr>
      </p:pic>
      <p:sp>
        <p:nvSpPr>
          <p:cNvPr id="59" name="TextBox 58"/>
          <p:cNvSpPr txBox="1"/>
          <p:nvPr/>
        </p:nvSpPr>
        <p:spPr>
          <a:xfrm>
            <a:off x="10755543"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0" name="TextBox 59"/>
          <p:cNvSpPr txBox="1"/>
          <p:nvPr/>
        </p:nvSpPr>
        <p:spPr>
          <a:xfrm>
            <a:off x="7829550" y="2329053"/>
            <a:ext cx="2617241" cy="194310"/>
          </a:xfrm>
          <a:prstGeom prst="rect">
            <a:avLst/>
          </a:prstGeom>
          <a:noFill/>
        </p:spPr>
        <p:txBody>
          <a:bodyPr wrap="none" lIns="0" rIns="0" tIns="0" bIns="0">
            <a:spAutoFit/>
          </a:bodyPr>
          <a:lstStyle/>
          <a:p>
            <a:r>
              <a:rPr sz="1150" b="0">
                <a:solidFill>
                  <a:srgbClr val="2E2E2E"/>
                </a:solidFill>
                <a:latin typeface="Calibri"/>
              </a:rPr>
              <a:t>The ear sprays segment is expected to lose</a:t>
            </a:r>
          </a:p>
        </p:txBody>
      </p:sp>
      <p:pic>
        <p:nvPicPr>
          <p:cNvPr id="61" name="Picture 60" descr="lock.png"/>
          <p:cNvPicPr>
            <a:picLocks noChangeAspect="1"/>
          </p:cNvPicPr>
          <p:nvPr/>
        </p:nvPicPr>
        <p:blipFill>
          <a:blip r:embed="rId5"/>
          <a:stretch>
            <a:fillRect/>
          </a:stretch>
        </p:blipFill>
        <p:spPr>
          <a:xfrm>
            <a:off x="10395945" y="2318829"/>
            <a:ext cx="134549" cy="195707"/>
          </a:xfrm>
          <a:prstGeom prst="rect">
            <a:avLst/>
          </a:prstGeom>
        </p:spPr>
      </p:pic>
      <p:sp>
        <p:nvSpPr>
          <p:cNvPr id="62" name="TextBox 61"/>
          <p:cNvSpPr txBox="1"/>
          <p:nvPr/>
        </p:nvSpPr>
        <p:spPr>
          <a:xfrm>
            <a:off x="10571055"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63" name="TextBox 62"/>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64" name="Picture 63" descr="lock.png"/>
          <p:cNvPicPr>
            <a:picLocks noChangeAspect="1"/>
          </p:cNvPicPr>
          <p:nvPr/>
        </p:nvPicPr>
        <p:blipFill>
          <a:blip r:embed="rId5"/>
          <a:stretch>
            <a:fillRect/>
          </a:stretch>
        </p:blipFill>
        <p:spPr>
          <a:xfrm>
            <a:off x="9630324" y="2494089"/>
            <a:ext cx="134549" cy="195707"/>
          </a:xfrm>
          <a:prstGeom prst="rect">
            <a:avLst/>
          </a:prstGeom>
        </p:spPr>
      </p:pic>
      <p:sp>
        <p:nvSpPr>
          <p:cNvPr id="65" name="TextBox 64"/>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6"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End User</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 User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End User Segment Outlook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9 sub-segments of End User,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End User segment categorizes the market by end user.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Audiologists</a:t>
            </a:r>
          </a:p>
        </p:txBody>
      </p:sp>
      <p:sp>
        <p:nvSpPr>
          <p:cNvPr id="22" name="Rectangle 21"/>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ENT specialists</a:t>
            </a:r>
          </a:p>
        </p:txBody>
      </p:sp>
      <p:sp>
        <p:nvSpPr>
          <p:cNvPr id="29" name="Rectangle 28"/>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Others</a:t>
            </a:r>
          </a:p>
        </p:txBody>
      </p:sp>
      <p:sp>
        <p:nvSpPr>
          <p:cNvPr id="36" name="Rectangle 35"/>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General practitioners</a:t>
            </a:r>
          </a:p>
        </p:txBody>
      </p:sp>
      <p:sp>
        <p:nvSpPr>
          <p:cNvPr id="43" name="Rectangle 42"/>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Healthcare professionals</a:t>
            </a:r>
          </a:p>
        </p:txBody>
      </p:sp>
      <p:sp>
        <p:nvSpPr>
          <p:cNvPr id="50" name="Rectangle 49"/>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6" name="Rectangle 55"/>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8" name="Rounded Rectangle 5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0" name="Rectangle 59"/>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62" name="Rounded Rectangle 6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4" name="Rectangle 63"/>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End User split shows how demand is distributed across end user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6" name="Rectangle 6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8" name="TextBox 6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9" name="TextBox 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0" name="Picture 69" descr="377_9_605E5C.png"/>
          <p:cNvPicPr>
            <a:picLocks noChangeAspect="1"/>
          </p:cNvPicPr>
          <p:nvPr/>
        </p:nvPicPr>
        <p:blipFill>
          <a:blip r:embed="rId4"/>
          <a:stretch>
            <a:fillRect/>
          </a:stretch>
        </p:blipFill>
        <p:spPr>
          <a:xfrm>
            <a:off x="2223441" y="2286582"/>
            <a:ext cx="1195728" cy="361950"/>
          </a:xfrm>
          <a:prstGeom prst="rect">
            <a:avLst/>
          </a:prstGeom>
        </p:spPr>
      </p:pic>
      <p:pic>
        <p:nvPicPr>
          <p:cNvPr id="71" name="Picture 70" descr="561_7_605E5C.png"/>
          <p:cNvPicPr>
            <a:picLocks noChangeAspect="1"/>
          </p:cNvPicPr>
          <p:nvPr/>
        </p:nvPicPr>
        <p:blipFill>
          <a:blip r:embed="rId5"/>
          <a:stretch>
            <a:fillRect/>
          </a:stretch>
        </p:blipFill>
        <p:spPr>
          <a:xfrm>
            <a:off x="2223441" y="2779432"/>
            <a:ext cx="1195728" cy="361950"/>
          </a:xfrm>
          <a:prstGeom prst="rect">
            <a:avLst/>
          </a:prstGeom>
        </p:spPr>
      </p:pic>
      <p:pic>
        <p:nvPicPr>
          <p:cNvPr id="72" name="Picture 71" descr="4_0__605E5C.png"/>
          <p:cNvPicPr>
            <a:picLocks noChangeAspect="1"/>
          </p:cNvPicPr>
          <p:nvPr/>
        </p:nvPicPr>
        <p:blipFill>
          <a:blip r:embed="rId6"/>
          <a:stretch>
            <a:fillRect/>
          </a:stretch>
        </p:blipFill>
        <p:spPr>
          <a:xfrm>
            <a:off x="2330087" y="3272281"/>
            <a:ext cx="982436" cy="361950"/>
          </a:xfrm>
          <a:prstGeom prst="rect">
            <a:avLst/>
          </a:prstGeom>
        </p:spPr>
      </p:pic>
      <p:pic>
        <p:nvPicPr>
          <p:cNvPr id="73" name="Picture 72" descr="336_7_605E5C.png"/>
          <p:cNvPicPr>
            <a:picLocks noChangeAspect="1"/>
          </p:cNvPicPr>
          <p:nvPr/>
        </p:nvPicPr>
        <p:blipFill>
          <a:blip r:embed="rId7"/>
          <a:stretch>
            <a:fillRect/>
          </a:stretch>
        </p:blipFill>
        <p:spPr>
          <a:xfrm>
            <a:off x="4246551" y="2286582"/>
            <a:ext cx="1195728" cy="361950"/>
          </a:xfrm>
          <a:prstGeom prst="rect">
            <a:avLst/>
          </a:prstGeom>
        </p:spPr>
      </p:pic>
      <p:pic>
        <p:nvPicPr>
          <p:cNvPr id="74" name="Picture 73" descr="449_1_605E5C.png"/>
          <p:cNvPicPr>
            <a:picLocks noChangeAspect="1"/>
          </p:cNvPicPr>
          <p:nvPr/>
        </p:nvPicPr>
        <p:blipFill>
          <a:blip r:embed="rId8"/>
          <a:stretch>
            <a:fillRect/>
          </a:stretch>
        </p:blipFill>
        <p:spPr>
          <a:xfrm>
            <a:off x="4246551" y="2779432"/>
            <a:ext cx="1195728" cy="361950"/>
          </a:xfrm>
          <a:prstGeom prst="rect">
            <a:avLst/>
          </a:prstGeom>
        </p:spPr>
      </p:pic>
      <p:pic>
        <p:nvPicPr>
          <p:cNvPr id="75" name="Picture 74" descr="2_9__605E5C.png"/>
          <p:cNvPicPr>
            <a:picLocks noChangeAspect="1"/>
          </p:cNvPicPr>
          <p:nvPr/>
        </p:nvPicPr>
        <p:blipFill>
          <a:blip r:embed="rId9"/>
          <a:stretch>
            <a:fillRect/>
          </a:stretch>
        </p:blipFill>
        <p:spPr>
          <a:xfrm>
            <a:off x="4353197" y="3272281"/>
            <a:ext cx="982436" cy="361950"/>
          </a:xfrm>
          <a:prstGeom prst="rect">
            <a:avLst/>
          </a:prstGeom>
        </p:spPr>
      </p:pic>
      <p:pic>
        <p:nvPicPr>
          <p:cNvPr id="76" name="Picture 75" descr="327_0_605E5C.png"/>
          <p:cNvPicPr>
            <a:picLocks noChangeAspect="1"/>
          </p:cNvPicPr>
          <p:nvPr/>
        </p:nvPicPr>
        <p:blipFill>
          <a:blip r:embed="rId10"/>
          <a:stretch>
            <a:fillRect/>
          </a:stretch>
        </p:blipFill>
        <p:spPr>
          <a:xfrm>
            <a:off x="6269661" y="2286582"/>
            <a:ext cx="1195728" cy="361950"/>
          </a:xfrm>
          <a:prstGeom prst="rect">
            <a:avLst/>
          </a:prstGeom>
        </p:spPr>
      </p:pic>
      <p:pic>
        <p:nvPicPr>
          <p:cNvPr id="77" name="Picture 76" descr="618_4_605E5C.png"/>
          <p:cNvPicPr>
            <a:picLocks noChangeAspect="1"/>
          </p:cNvPicPr>
          <p:nvPr/>
        </p:nvPicPr>
        <p:blipFill>
          <a:blip r:embed="rId11"/>
          <a:stretch>
            <a:fillRect/>
          </a:stretch>
        </p:blipFill>
        <p:spPr>
          <a:xfrm>
            <a:off x="6269661" y="2779432"/>
            <a:ext cx="1195728" cy="361950"/>
          </a:xfrm>
          <a:prstGeom prst="rect">
            <a:avLst/>
          </a:prstGeom>
        </p:spPr>
      </p:pic>
      <p:pic>
        <p:nvPicPr>
          <p:cNvPr id="78" name="Picture 77" descr="6_6__605E5C.png"/>
          <p:cNvPicPr>
            <a:picLocks noChangeAspect="1"/>
          </p:cNvPicPr>
          <p:nvPr/>
        </p:nvPicPr>
        <p:blipFill>
          <a:blip r:embed="rId12"/>
          <a:stretch>
            <a:fillRect/>
          </a:stretch>
        </p:blipFill>
        <p:spPr>
          <a:xfrm>
            <a:off x="6376307" y="3272281"/>
            <a:ext cx="982436" cy="361950"/>
          </a:xfrm>
          <a:prstGeom prst="rect">
            <a:avLst/>
          </a:prstGeom>
        </p:spPr>
      </p:pic>
      <p:pic>
        <p:nvPicPr>
          <p:cNvPr id="79" name="Picture 78" descr="314_1_605E5C.png"/>
          <p:cNvPicPr>
            <a:picLocks noChangeAspect="1"/>
          </p:cNvPicPr>
          <p:nvPr/>
        </p:nvPicPr>
        <p:blipFill>
          <a:blip r:embed="rId13"/>
          <a:stretch>
            <a:fillRect/>
          </a:stretch>
        </p:blipFill>
        <p:spPr>
          <a:xfrm>
            <a:off x="8292771" y="2286582"/>
            <a:ext cx="1195728" cy="361950"/>
          </a:xfrm>
          <a:prstGeom prst="rect">
            <a:avLst/>
          </a:prstGeom>
        </p:spPr>
      </p:pic>
      <p:pic>
        <p:nvPicPr>
          <p:cNvPr id="80" name="Picture 79" descr="464_8_605E5C.png"/>
          <p:cNvPicPr>
            <a:picLocks noChangeAspect="1"/>
          </p:cNvPicPr>
          <p:nvPr/>
        </p:nvPicPr>
        <p:blipFill>
          <a:blip r:embed="rId14"/>
          <a:stretch>
            <a:fillRect/>
          </a:stretch>
        </p:blipFill>
        <p:spPr>
          <a:xfrm>
            <a:off x="8292771" y="2779432"/>
            <a:ext cx="1195728" cy="361950"/>
          </a:xfrm>
          <a:prstGeom prst="rect">
            <a:avLst/>
          </a:prstGeom>
        </p:spPr>
      </p:pic>
      <p:pic>
        <p:nvPicPr>
          <p:cNvPr id="81" name="Picture 80" descr="4_0__605E5C.png"/>
          <p:cNvPicPr>
            <a:picLocks noChangeAspect="1"/>
          </p:cNvPicPr>
          <p:nvPr/>
        </p:nvPicPr>
        <p:blipFill>
          <a:blip r:embed="rId6"/>
          <a:stretch>
            <a:fillRect/>
          </a:stretch>
        </p:blipFill>
        <p:spPr>
          <a:xfrm>
            <a:off x="8399417" y="3272281"/>
            <a:ext cx="982436" cy="361950"/>
          </a:xfrm>
          <a:prstGeom prst="rect">
            <a:avLst/>
          </a:prstGeom>
        </p:spPr>
      </p:pic>
      <p:pic>
        <p:nvPicPr>
          <p:cNvPr id="82" name="Picture 81" descr="205_9_605E5C.png"/>
          <p:cNvPicPr>
            <a:picLocks noChangeAspect="1"/>
          </p:cNvPicPr>
          <p:nvPr/>
        </p:nvPicPr>
        <p:blipFill>
          <a:blip r:embed="rId15"/>
          <a:stretch>
            <a:fillRect/>
          </a:stretch>
        </p:blipFill>
        <p:spPr>
          <a:xfrm>
            <a:off x="10315881" y="2286582"/>
            <a:ext cx="1195728" cy="361950"/>
          </a:xfrm>
          <a:prstGeom prst="rect">
            <a:avLst/>
          </a:prstGeom>
        </p:spPr>
      </p:pic>
      <p:pic>
        <p:nvPicPr>
          <p:cNvPr id="83" name="Picture 82" descr="415_0_605E5C.png"/>
          <p:cNvPicPr>
            <a:picLocks noChangeAspect="1"/>
          </p:cNvPicPr>
          <p:nvPr/>
        </p:nvPicPr>
        <p:blipFill>
          <a:blip r:embed="rId16"/>
          <a:stretch>
            <a:fillRect/>
          </a:stretch>
        </p:blipFill>
        <p:spPr>
          <a:xfrm>
            <a:off x="10315881" y="2779432"/>
            <a:ext cx="1195728" cy="361950"/>
          </a:xfrm>
          <a:prstGeom prst="rect">
            <a:avLst/>
          </a:prstGeom>
        </p:spPr>
      </p:pic>
      <p:pic>
        <p:nvPicPr>
          <p:cNvPr id="84" name="Picture 83" descr="7_3__605E5C.png"/>
          <p:cNvPicPr>
            <a:picLocks noChangeAspect="1"/>
          </p:cNvPicPr>
          <p:nvPr/>
        </p:nvPicPr>
        <p:blipFill>
          <a:blip r:embed="rId17"/>
          <a:stretch>
            <a:fillRect/>
          </a:stretch>
        </p:blipFill>
        <p:spPr>
          <a:xfrm>
            <a:off x="10422527" y="3272281"/>
            <a:ext cx="982436" cy="361950"/>
          </a:xfrm>
          <a:prstGeom prst="rect">
            <a:avLst/>
          </a:prstGeom>
        </p:spPr>
      </p:pic>
      <p:pic>
        <p:nvPicPr>
          <p:cNvPr id="85" name="Picture 84" descr="lock.png"/>
          <p:cNvPicPr>
            <a:picLocks noChangeAspect="1"/>
          </p:cNvPicPr>
          <p:nvPr/>
        </p:nvPicPr>
        <p:blipFill>
          <a:blip r:embed="rId18"/>
          <a:stretch>
            <a:fillRect/>
          </a:stretch>
        </p:blipFill>
        <p:spPr>
          <a:xfrm>
            <a:off x="2727960" y="2827057"/>
            <a:ext cx="183356" cy="266700"/>
          </a:xfrm>
          <a:prstGeom prst="rect">
            <a:avLst/>
          </a:prstGeom>
        </p:spPr>
      </p:pic>
      <p:pic>
        <p:nvPicPr>
          <p:cNvPr id="86" name="Picture 85" descr="lock.png"/>
          <p:cNvPicPr>
            <a:picLocks noChangeAspect="1"/>
          </p:cNvPicPr>
          <p:nvPr/>
        </p:nvPicPr>
        <p:blipFill>
          <a:blip r:embed="rId18"/>
          <a:stretch>
            <a:fillRect/>
          </a:stretch>
        </p:blipFill>
        <p:spPr>
          <a:xfrm>
            <a:off x="4751070" y="2827057"/>
            <a:ext cx="183356" cy="266700"/>
          </a:xfrm>
          <a:prstGeom prst="rect">
            <a:avLst/>
          </a:prstGeom>
        </p:spPr>
      </p:pic>
      <p:pic>
        <p:nvPicPr>
          <p:cNvPr id="87" name="Picture 86" descr="lock.png"/>
          <p:cNvPicPr>
            <a:picLocks noChangeAspect="1"/>
          </p:cNvPicPr>
          <p:nvPr/>
        </p:nvPicPr>
        <p:blipFill>
          <a:blip r:embed="rId18"/>
          <a:stretch>
            <a:fillRect/>
          </a:stretch>
        </p:blipFill>
        <p:spPr>
          <a:xfrm>
            <a:off x="6774180" y="2827057"/>
            <a:ext cx="183356" cy="266700"/>
          </a:xfrm>
          <a:prstGeom prst="rect">
            <a:avLst/>
          </a:prstGeom>
        </p:spPr>
      </p:pic>
      <p:pic>
        <p:nvPicPr>
          <p:cNvPr id="88" name="Picture 87" descr="lock.png"/>
          <p:cNvPicPr>
            <a:picLocks noChangeAspect="1"/>
          </p:cNvPicPr>
          <p:nvPr/>
        </p:nvPicPr>
        <p:blipFill>
          <a:blip r:embed="rId18"/>
          <a:stretch>
            <a:fillRect/>
          </a:stretch>
        </p:blipFill>
        <p:spPr>
          <a:xfrm>
            <a:off x="8797290" y="2827057"/>
            <a:ext cx="183356" cy="266700"/>
          </a:xfrm>
          <a:prstGeom prst="rect">
            <a:avLst/>
          </a:prstGeom>
        </p:spPr>
      </p:pic>
      <p:pic>
        <p:nvPicPr>
          <p:cNvPr id="89" name="Picture 88" descr="lock.png"/>
          <p:cNvPicPr>
            <a:picLocks noChangeAspect="1"/>
          </p:cNvPicPr>
          <p:nvPr/>
        </p:nvPicPr>
        <p:blipFill>
          <a:blip r:embed="rId18"/>
          <a:stretch>
            <a:fillRect/>
          </a:stretch>
        </p:blipFill>
        <p:spPr>
          <a:xfrm>
            <a:off x="10820400" y="2827057"/>
            <a:ext cx="183356" cy="266700"/>
          </a:xfrm>
          <a:prstGeom prst="rect">
            <a:avLst/>
          </a:prstGeom>
        </p:spPr>
      </p:pic>
      <p:sp>
        <p:nvSpPr>
          <p:cNvPr id="90" name="TextBox 89"/>
          <p:cNvSpPr txBox="1"/>
          <p:nvPr/>
        </p:nvSpPr>
        <p:spPr>
          <a:xfrm>
            <a:off x="485775" y="4229437"/>
            <a:ext cx="2719040" cy="186689"/>
          </a:xfrm>
          <a:prstGeom prst="rect">
            <a:avLst/>
          </a:prstGeom>
          <a:noFill/>
        </p:spPr>
        <p:txBody>
          <a:bodyPr wrap="none" lIns="0" rIns="0" tIns="0" bIns="0">
            <a:spAutoFit/>
          </a:bodyPr>
          <a:lstStyle/>
          <a:p>
            <a:r>
              <a:rPr sz="1100" b="0">
                <a:solidFill>
                  <a:srgbClr val="2E2E2E"/>
                </a:solidFill>
                <a:latin typeface="Calibri"/>
              </a:rPr>
              <a:t>Among ear wax removal products by end user,</a:t>
            </a:r>
          </a:p>
        </p:txBody>
      </p:sp>
      <p:sp>
        <p:nvSpPr>
          <p:cNvPr id="91" name="TextBox 90"/>
          <p:cNvSpPr txBox="1"/>
          <p:nvPr/>
        </p:nvSpPr>
        <p:spPr>
          <a:xfrm>
            <a:off x="485775" y="4397077"/>
            <a:ext cx="2551509" cy="186689"/>
          </a:xfrm>
          <a:prstGeom prst="rect">
            <a:avLst/>
          </a:prstGeom>
          <a:noFill/>
        </p:spPr>
        <p:txBody>
          <a:bodyPr wrap="none" lIns="0" rIns="0" tIns="0" bIns="0">
            <a:spAutoFit/>
          </a:bodyPr>
          <a:lstStyle/>
          <a:p>
            <a:r>
              <a:rPr sz="1100" b="0">
                <a:solidFill>
                  <a:srgbClr val="2E2E2E"/>
                </a:solidFill>
                <a:latin typeface="Calibri"/>
              </a:rPr>
              <a:t>hospitals and clinics segment is expected to</a:t>
            </a:r>
          </a:p>
        </p:txBody>
      </p:sp>
      <p:sp>
        <p:nvSpPr>
          <p:cNvPr id="92" name="TextBox 91"/>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93" name="Picture 92" descr="lock.png"/>
          <p:cNvPicPr>
            <a:picLocks noChangeAspect="1"/>
          </p:cNvPicPr>
          <p:nvPr/>
        </p:nvPicPr>
        <p:blipFill>
          <a:blip r:embed="rId18"/>
          <a:stretch>
            <a:fillRect/>
          </a:stretch>
        </p:blipFill>
        <p:spPr>
          <a:xfrm>
            <a:off x="2108919" y="4554938"/>
            <a:ext cx="128699" cy="187198"/>
          </a:xfrm>
          <a:prstGeom prst="rect">
            <a:avLst/>
          </a:prstGeom>
        </p:spPr>
      </p:pic>
      <p:sp>
        <p:nvSpPr>
          <p:cNvPr id="94" name="TextBox 93"/>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95" name="TextBox 94"/>
          <p:cNvSpPr txBox="1"/>
          <p:nvPr/>
        </p:nvSpPr>
        <p:spPr>
          <a:xfrm>
            <a:off x="485775" y="4732357"/>
            <a:ext cx="2766243" cy="186689"/>
          </a:xfrm>
          <a:prstGeom prst="rect">
            <a:avLst/>
          </a:prstGeom>
          <a:noFill/>
        </p:spPr>
        <p:txBody>
          <a:bodyPr wrap="none" lIns="0" rIns="0" tIns="0" bIns="0">
            <a:spAutoFit/>
          </a:bodyPr>
          <a:lstStyle/>
          <a:p>
            <a:r>
              <a:rPr sz="1100" b="0">
                <a:solidFill>
                  <a:srgbClr val="2E2E2E"/>
                </a:solidFill>
                <a:latin typeface="Calibri"/>
              </a:rPr>
              <a:t>period. In terms of value share by end user, the</a:t>
            </a:r>
          </a:p>
        </p:txBody>
      </p:sp>
      <p:sp>
        <p:nvSpPr>
          <p:cNvPr id="96" name="TextBox 95"/>
          <p:cNvSpPr txBox="1"/>
          <p:nvPr/>
        </p:nvSpPr>
        <p:spPr>
          <a:xfrm>
            <a:off x="485775" y="4899997"/>
            <a:ext cx="2591618" cy="186689"/>
          </a:xfrm>
          <a:prstGeom prst="rect">
            <a:avLst/>
          </a:prstGeom>
          <a:noFill/>
        </p:spPr>
        <p:txBody>
          <a:bodyPr wrap="none" lIns="0" rIns="0" tIns="0" bIns="0">
            <a:spAutoFit/>
          </a:bodyPr>
          <a:lstStyle/>
          <a:p>
            <a:r>
              <a:rPr sz="1100" b="0">
                <a:solidFill>
                  <a:srgbClr val="2E2E2E"/>
                </a:solidFill>
                <a:latin typeface="Calibri"/>
              </a:rPr>
              <a:t>others segment is expected to dominate the</a:t>
            </a:r>
          </a:p>
        </p:txBody>
      </p:sp>
      <p:sp>
        <p:nvSpPr>
          <p:cNvPr id="97" name="TextBox 96"/>
          <p:cNvSpPr txBox="1"/>
          <p:nvPr/>
        </p:nvSpPr>
        <p:spPr>
          <a:xfrm>
            <a:off x="485775" y="5067637"/>
            <a:ext cx="959693" cy="186689"/>
          </a:xfrm>
          <a:prstGeom prst="rect">
            <a:avLst/>
          </a:prstGeom>
          <a:noFill/>
        </p:spPr>
        <p:txBody>
          <a:bodyPr wrap="none" lIns="0" rIns="0" tIns="0" bIns="0">
            <a:spAutoFit/>
          </a:bodyPr>
          <a:lstStyle/>
          <a:p>
            <a:r>
              <a:rPr sz="1100" b="0">
                <a:solidFill>
                  <a:srgbClr val="2E2E2E"/>
                </a:solidFill>
                <a:latin typeface="Calibri"/>
              </a:rPr>
              <a:t>market, gaining</a:t>
            </a:r>
          </a:p>
        </p:txBody>
      </p:sp>
      <p:pic>
        <p:nvPicPr>
          <p:cNvPr id="98" name="Picture 97" descr="lock.png"/>
          <p:cNvPicPr>
            <a:picLocks noChangeAspect="1"/>
          </p:cNvPicPr>
          <p:nvPr/>
        </p:nvPicPr>
        <p:blipFill>
          <a:blip r:embed="rId18"/>
          <a:stretch>
            <a:fillRect/>
          </a:stretch>
        </p:blipFill>
        <p:spPr>
          <a:xfrm>
            <a:off x="1393519" y="5057858"/>
            <a:ext cx="128699" cy="187198"/>
          </a:xfrm>
          <a:prstGeom prst="rect">
            <a:avLst/>
          </a:prstGeom>
        </p:spPr>
      </p:pic>
      <p:sp>
        <p:nvSpPr>
          <p:cNvPr id="99" name="TextBox 98"/>
          <p:cNvSpPr txBox="1"/>
          <p:nvPr/>
        </p:nvSpPr>
        <p:spPr>
          <a:xfrm>
            <a:off x="1561015"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100" name="Picture 99" descr="lock.png"/>
          <p:cNvPicPr>
            <a:picLocks noChangeAspect="1"/>
          </p:cNvPicPr>
          <p:nvPr/>
        </p:nvPicPr>
        <p:blipFill>
          <a:blip r:embed="rId18"/>
          <a:stretch>
            <a:fillRect/>
          </a:stretch>
        </p:blipFill>
        <p:spPr>
          <a:xfrm>
            <a:off x="2895500" y="5057858"/>
            <a:ext cx="128699" cy="187198"/>
          </a:xfrm>
          <a:prstGeom prst="rect">
            <a:avLst/>
          </a:prstGeom>
        </p:spPr>
      </p:pic>
      <p:sp>
        <p:nvSpPr>
          <p:cNvPr id="101" name="TextBox 100"/>
          <p:cNvSpPr txBox="1"/>
          <p:nvPr/>
        </p:nvSpPr>
        <p:spPr>
          <a:xfrm>
            <a:off x="485775"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02" name="TextBox 101"/>
          <p:cNvSpPr txBox="1"/>
          <p:nvPr/>
        </p:nvSpPr>
        <p:spPr>
          <a:xfrm>
            <a:off x="485775" y="5453209"/>
            <a:ext cx="2303487" cy="186689"/>
          </a:xfrm>
          <a:prstGeom prst="rect">
            <a:avLst/>
          </a:prstGeom>
          <a:noFill/>
        </p:spPr>
        <p:txBody>
          <a:bodyPr wrap="none" lIns="0" rIns="0" tIns="0" bIns="0">
            <a:spAutoFit/>
          </a:bodyPr>
          <a:lstStyle/>
          <a:p>
            <a:r>
              <a:rPr sz="1100" b="0">
                <a:solidFill>
                  <a:srgbClr val="2E2E2E"/>
                </a:solidFill>
                <a:latin typeface="Calibri"/>
              </a:rPr>
              <a:t>Others segment is projected to register</a:t>
            </a:r>
          </a:p>
        </p:txBody>
      </p:sp>
      <p:pic>
        <p:nvPicPr>
          <p:cNvPr id="103" name="Picture 102" descr="lock.png"/>
          <p:cNvPicPr>
            <a:picLocks noChangeAspect="1"/>
          </p:cNvPicPr>
          <p:nvPr/>
        </p:nvPicPr>
        <p:blipFill>
          <a:blip r:embed="rId18"/>
          <a:stretch>
            <a:fillRect/>
          </a:stretch>
        </p:blipFill>
        <p:spPr>
          <a:xfrm>
            <a:off x="2737313" y="5443430"/>
            <a:ext cx="128699" cy="187198"/>
          </a:xfrm>
          <a:prstGeom prst="rect">
            <a:avLst/>
          </a:prstGeom>
        </p:spPr>
      </p:pic>
      <p:sp>
        <p:nvSpPr>
          <p:cNvPr id="104" name="TextBox 103"/>
          <p:cNvSpPr txBox="1"/>
          <p:nvPr/>
        </p:nvSpPr>
        <p:spPr>
          <a:xfrm>
            <a:off x="2904809" y="545320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105" name="TextBox 104"/>
          <p:cNvSpPr txBox="1"/>
          <p:nvPr/>
        </p:nvSpPr>
        <p:spPr>
          <a:xfrm>
            <a:off x="485775" y="5620849"/>
            <a:ext cx="2790254" cy="186689"/>
          </a:xfrm>
          <a:prstGeom prst="rect">
            <a:avLst/>
          </a:prstGeom>
          <a:noFill/>
        </p:spPr>
        <p:txBody>
          <a:bodyPr wrap="none" lIns="0" rIns="0" tIns="0" bIns="0">
            <a:spAutoFit/>
          </a:bodyPr>
          <a:lstStyle/>
          <a:p>
            <a:r>
              <a:rPr sz="1100" b="0">
                <a:solidFill>
                  <a:srgbClr val="2E2E2E"/>
                </a:solidFill>
                <a:latin typeface="Calibri"/>
              </a:rPr>
              <a:t>higher value than audiologists segment in 2036.</a:t>
            </a:r>
          </a:p>
        </p:txBody>
      </p:sp>
      <p:sp>
        <p:nvSpPr>
          <p:cNvPr id="106" name="TextBox 105"/>
          <p:cNvSpPr txBox="1"/>
          <p:nvPr/>
        </p:nvSpPr>
        <p:spPr>
          <a:xfrm>
            <a:off x="3838575" y="4229437"/>
            <a:ext cx="922858" cy="186689"/>
          </a:xfrm>
          <a:prstGeom prst="rect">
            <a:avLst/>
          </a:prstGeom>
          <a:noFill/>
        </p:spPr>
        <p:txBody>
          <a:bodyPr wrap="none" lIns="0" rIns="0" tIns="0" bIns="0">
            <a:spAutoFit/>
          </a:bodyPr>
          <a:lstStyle/>
          <a:p>
            <a:r>
              <a:rPr sz="1100" b="0">
                <a:solidFill>
                  <a:srgbClr val="2E2E2E"/>
                </a:solidFill>
                <a:latin typeface="Calibri"/>
              </a:rPr>
              <a:t>● Audiologists:</a:t>
            </a:r>
          </a:p>
        </p:txBody>
      </p:sp>
      <p:pic>
        <p:nvPicPr>
          <p:cNvPr id="107" name="Picture 106" descr="lock.png"/>
          <p:cNvPicPr>
            <a:picLocks noChangeAspect="1"/>
          </p:cNvPicPr>
          <p:nvPr/>
        </p:nvPicPr>
        <p:blipFill>
          <a:blip r:embed="rId18"/>
          <a:stretch>
            <a:fillRect/>
          </a:stretch>
        </p:blipFill>
        <p:spPr>
          <a:xfrm>
            <a:off x="4709484" y="4219658"/>
            <a:ext cx="128699" cy="187198"/>
          </a:xfrm>
          <a:prstGeom prst="rect">
            <a:avLst/>
          </a:prstGeom>
        </p:spPr>
      </p:pic>
      <p:sp>
        <p:nvSpPr>
          <p:cNvPr id="108" name="TextBox 107"/>
          <p:cNvSpPr txBox="1"/>
          <p:nvPr/>
        </p:nvSpPr>
        <p:spPr>
          <a:xfrm>
            <a:off x="487698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9" name="Picture 108" descr="lock.png"/>
          <p:cNvPicPr>
            <a:picLocks noChangeAspect="1"/>
          </p:cNvPicPr>
          <p:nvPr/>
        </p:nvPicPr>
        <p:blipFill>
          <a:blip r:embed="rId18"/>
          <a:stretch>
            <a:fillRect/>
          </a:stretch>
        </p:blipFill>
        <p:spPr>
          <a:xfrm>
            <a:off x="5736431" y="4219658"/>
            <a:ext cx="128699" cy="187198"/>
          </a:xfrm>
          <a:prstGeom prst="rect">
            <a:avLst/>
          </a:prstGeom>
        </p:spPr>
      </p:pic>
      <p:sp>
        <p:nvSpPr>
          <p:cNvPr id="110" name="TextBox 109"/>
          <p:cNvSpPr txBox="1"/>
          <p:nvPr/>
        </p:nvSpPr>
        <p:spPr>
          <a:xfrm>
            <a:off x="5903926"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11" name="TextBox 110"/>
          <p:cNvSpPr txBox="1"/>
          <p:nvPr/>
        </p:nvSpPr>
        <p:spPr>
          <a:xfrm>
            <a:off x="3838575" y="4447369"/>
            <a:ext cx="1064195" cy="186689"/>
          </a:xfrm>
          <a:prstGeom prst="rect">
            <a:avLst/>
          </a:prstGeom>
          <a:noFill/>
        </p:spPr>
        <p:txBody>
          <a:bodyPr wrap="none" lIns="0" rIns="0" tIns="0" bIns="0">
            <a:spAutoFit/>
          </a:bodyPr>
          <a:lstStyle/>
          <a:p>
            <a:r>
              <a:rPr sz="1100" b="0">
                <a:solidFill>
                  <a:srgbClr val="2E2E2E"/>
                </a:solidFill>
                <a:latin typeface="Calibri"/>
              </a:rPr>
              <a:t>● ENT specialists:</a:t>
            </a:r>
          </a:p>
        </p:txBody>
      </p:sp>
      <p:pic>
        <p:nvPicPr>
          <p:cNvPr id="112" name="Picture 111" descr="lock.png"/>
          <p:cNvPicPr>
            <a:picLocks noChangeAspect="1"/>
          </p:cNvPicPr>
          <p:nvPr/>
        </p:nvPicPr>
        <p:blipFill>
          <a:blip r:embed="rId18"/>
          <a:stretch>
            <a:fillRect/>
          </a:stretch>
        </p:blipFill>
        <p:spPr>
          <a:xfrm>
            <a:off x="4850822" y="4437590"/>
            <a:ext cx="128699" cy="187198"/>
          </a:xfrm>
          <a:prstGeom prst="rect">
            <a:avLst/>
          </a:prstGeom>
        </p:spPr>
      </p:pic>
      <p:sp>
        <p:nvSpPr>
          <p:cNvPr id="113" name="TextBox 112"/>
          <p:cNvSpPr txBox="1"/>
          <p:nvPr/>
        </p:nvSpPr>
        <p:spPr>
          <a:xfrm>
            <a:off x="5018317"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4" name="Picture 113" descr="lock.png"/>
          <p:cNvPicPr>
            <a:picLocks noChangeAspect="1"/>
          </p:cNvPicPr>
          <p:nvPr/>
        </p:nvPicPr>
        <p:blipFill>
          <a:blip r:embed="rId18"/>
          <a:stretch>
            <a:fillRect/>
          </a:stretch>
        </p:blipFill>
        <p:spPr>
          <a:xfrm>
            <a:off x="5877768" y="4437590"/>
            <a:ext cx="128699" cy="187198"/>
          </a:xfrm>
          <a:prstGeom prst="rect">
            <a:avLst/>
          </a:prstGeom>
        </p:spPr>
      </p:pic>
      <p:sp>
        <p:nvSpPr>
          <p:cNvPr id="115" name="TextBox 114"/>
          <p:cNvSpPr txBox="1"/>
          <p:nvPr/>
        </p:nvSpPr>
        <p:spPr>
          <a:xfrm>
            <a:off x="6045263"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6" name="TextBox 115"/>
          <p:cNvSpPr txBox="1"/>
          <p:nvPr/>
        </p:nvSpPr>
        <p:spPr>
          <a:xfrm>
            <a:off x="3838575" y="4665301"/>
            <a:ext cx="615354" cy="186689"/>
          </a:xfrm>
          <a:prstGeom prst="rect">
            <a:avLst/>
          </a:prstGeom>
          <a:noFill/>
        </p:spPr>
        <p:txBody>
          <a:bodyPr wrap="none" lIns="0" rIns="0" tIns="0" bIns="0">
            <a:spAutoFit/>
          </a:bodyPr>
          <a:lstStyle/>
          <a:p>
            <a:r>
              <a:rPr sz="1100" b="0">
                <a:solidFill>
                  <a:srgbClr val="2E2E2E"/>
                </a:solidFill>
                <a:latin typeface="Calibri"/>
              </a:rPr>
              <a:t>● Others:</a:t>
            </a:r>
          </a:p>
        </p:txBody>
      </p:sp>
      <p:pic>
        <p:nvPicPr>
          <p:cNvPr id="117" name="Picture 116" descr="lock.png"/>
          <p:cNvPicPr>
            <a:picLocks noChangeAspect="1"/>
          </p:cNvPicPr>
          <p:nvPr/>
        </p:nvPicPr>
        <p:blipFill>
          <a:blip r:embed="rId18"/>
          <a:stretch>
            <a:fillRect/>
          </a:stretch>
        </p:blipFill>
        <p:spPr>
          <a:xfrm>
            <a:off x="4401981" y="4655522"/>
            <a:ext cx="128699" cy="187198"/>
          </a:xfrm>
          <a:prstGeom prst="rect">
            <a:avLst/>
          </a:prstGeom>
        </p:spPr>
      </p:pic>
      <p:sp>
        <p:nvSpPr>
          <p:cNvPr id="118" name="TextBox 117"/>
          <p:cNvSpPr txBox="1"/>
          <p:nvPr/>
        </p:nvSpPr>
        <p:spPr>
          <a:xfrm>
            <a:off x="4569477"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9" name="Picture 118" descr="lock.png"/>
          <p:cNvPicPr>
            <a:picLocks noChangeAspect="1"/>
          </p:cNvPicPr>
          <p:nvPr/>
        </p:nvPicPr>
        <p:blipFill>
          <a:blip r:embed="rId18"/>
          <a:stretch>
            <a:fillRect/>
          </a:stretch>
        </p:blipFill>
        <p:spPr>
          <a:xfrm>
            <a:off x="5428927" y="4655522"/>
            <a:ext cx="128699" cy="187198"/>
          </a:xfrm>
          <a:prstGeom prst="rect">
            <a:avLst/>
          </a:prstGeom>
        </p:spPr>
      </p:pic>
      <p:sp>
        <p:nvSpPr>
          <p:cNvPr id="120" name="TextBox 119"/>
          <p:cNvSpPr txBox="1"/>
          <p:nvPr/>
        </p:nvSpPr>
        <p:spPr>
          <a:xfrm>
            <a:off x="5596423"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1" name="TextBox 120"/>
          <p:cNvSpPr txBox="1"/>
          <p:nvPr/>
        </p:nvSpPr>
        <p:spPr>
          <a:xfrm>
            <a:off x="3838575" y="4883233"/>
            <a:ext cx="1436365" cy="186689"/>
          </a:xfrm>
          <a:prstGeom prst="rect">
            <a:avLst/>
          </a:prstGeom>
          <a:noFill/>
        </p:spPr>
        <p:txBody>
          <a:bodyPr wrap="none" lIns="0" rIns="0" tIns="0" bIns="0">
            <a:spAutoFit/>
          </a:bodyPr>
          <a:lstStyle/>
          <a:p>
            <a:r>
              <a:rPr sz="1100" b="0">
                <a:solidFill>
                  <a:srgbClr val="2E2E2E"/>
                </a:solidFill>
                <a:latin typeface="Calibri"/>
              </a:rPr>
              <a:t>● General practitioners:</a:t>
            </a:r>
          </a:p>
        </p:txBody>
      </p:sp>
      <p:pic>
        <p:nvPicPr>
          <p:cNvPr id="122" name="Picture 121" descr="lock.png"/>
          <p:cNvPicPr>
            <a:picLocks noChangeAspect="1"/>
          </p:cNvPicPr>
          <p:nvPr/>
        </p:nvPicPr>
        <p:blipFill>
          <a:blip r:embed="rId18"/>
          <a:stretch>
            <a:fillRect/>
          </a:stretch>
        </p:blipFill>
        <p:spPr>
          <a:xfrm>
            <a:off x="5222991" y="4873454"/>
            <a:ext cx="128699" cy="187198"/>
          </a:xfrm>
          <a:prstGeom prst="rect">
            <a:avLst/>
          </a:prstGeom>
        </p:spPr>
      </p:pic>
      <p:sp>
        <p:nvSpPr>
          <p:cNvPr id="123" name="TextBox 122"/>
          <p:cNvSpPr txBox="1"/>
          <p:nvPr/>
        </p:nvSpPr>
        <p:spPr>
          <a:xfrm>
            <a:off x="5390487"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4" name="Picture 123" descr="lock.png"/>
          <p:cNvPicPr>
            <a:picLocks noChangeAspect="1"/>
          </p:cNvPicPr>
          <p:nvPr/>
        </p:nvPicPr>
        <p:blipFill>
          <a:blip r:embed="rId18"/>
          <a:stretch>
            <a:fillRect/>
          </a:stretch>
        </p:blipFill>
        <p:spPr>
          <a:xfrm>
            <a:off x="6249937" y="4873454"/>
            <a:ext cx="128699" cy="187198"/>
          </a:xfrm>
          <a:prstGeom prst="rect">
            <a:avLst/>
          </a:prstGeom>
        </p:spPr>
      </p:pic>
      <p:sp>
        <p:nvSpPr>
          <p:cNvPr id="125" name="TextBox 124"/>
          <p:cNvSpPr txBox="1"/>
          <p:nvPr/>
        </p:nvSpPr>
        <p:spPr>
          <a:xfrm>
            <a:off x="6417433"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6" name="TextBox 125"/>
          <p:cNvSpPr txBox="1"/>
          <p:nvPr/>
        </p:nvSpPr>
        <p:spPr>
          <a:xfrm>
            <a:off x="3838575" y="5101165"/>
            <a:ext cx="1631726" cy="186689"/>
          </a:xfrm>
          <a:prstGeom prst="rect">
            <a:avLst/>
          </a:prstGeom>
          <a:noFill/>
        </p:spPr>
        <p:txBody>
          <a:bodyPr wrap="none" lIns="0" rIns="0" tIns="0" bIns="0">
            <a:spAutoFit/>
          </a:bodyPr>
          <a:lstStyle/>
          <a:p>
            <a:r>
              <a:rPr sz="1100" b="0">
                <a:solidFill>
                  <a:srgbClr val="2E2E2E"/>
                </a:solidFill>
                <a:latin typeface="Calibri"/>
              </a:rPr>
              <a:t>● Healthcare professionals:</a:t>
            </a:r>
          </a:p>
        </p:txBody>
      </p:sp>
      <p:pic>
        <p:nvPicPr>
          <p:cNvPr id="127" name="Picture 126" descr="lock.png"/>
          <p:cNvPicPr>
            <a:picLocks noChangeAspect="1"/>
          </p:cNvPicPr>
          <p:nvPr/>
        </p:nvPicPr>
        <p:blipFill>
          <a:blip r:embed="rId18"/>
          <a:stretch>
            <a:fillRect/>
          </a:stretch>
        </p:blipFill>
        <p:spPr>
          <a:xfrm>
            <a:off x="5418353" y="5091385"/>
            <a:ext cx="128699" cy="187198"/>
          </a:xfrm>
          <a:prstGeom prst="rect">
            <a:avLst/>
          </a:prstGeom>
        </p:spPr>
      </p:pic>
      <p:sp>
        <p:nvSpPr>
          <p:cNvPr id="128" name="TextBox 127"/>
          <p:cNvSpPr txBox="1"/>
          <p:nvPr/>
        </p:nvSpPr>
        <p:spPr>
          <a:xfrm>
            <a:off x="5585849"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9" name="Picture 128" descr="lock.png"/>
          <p:cNvPicPr>
            <a:picLocks noChangeAspect="1"/>
          </p:cNvPicPr>
          <p:nvPr/>
        </p:nvPicPr>
        <p:blipFill>
          <a:blip r:embed="rId18"/>
          <a:stretch>
            <a:fillRect/>
          </a:stretch>
        </p:blipFill>
        <p:spPr>
          <a:xfrm>
            <a:off x="6445299" y="5091385"/>
            <a:ext cx="128699" cy="187198"/>
          </a:xfrm>
          <a:prstGeom prst="rect">
            <a:avLst/>
          </a:prstGeom>
        </p:spPr>
      </p:pic>
      <p:sp>
        <p:nvSpPr>
          <p:cNvPr id="130" name="TextBox 129"/>
          <p:cNvSpPr txBox="1"/>
          <p:nvPr/>
        </p:nvSpPr>
        <p:spPr>
          <a:xfrm>
            <a:off x="6612795" y="5101165"/>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31" name="TextBox 130"/>
          <p:cNvSpPr txBox="1"/>
          <p:nvPr/>
        </p:nvSpPr>
        <p:spPr>
          <a:xfrm>
            <a:off x="3838575" y="5268805"/>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32" name="TextBox 131"/>
          <p:cNvSpPr txBox="1"/>
          <p:nvPr/>
        </p:nvSpPr>
        <p:spPr>
          <a:xfrm>
            <a:off x="8524875" y="5842641"/>
            <a:ext cx="2939293" cy="194310"/>
          </a:xfrm>
          <a:prstGeom prst="rect">
            <a:avLst/>
          </a:prstGeom>
          <a:noFill/>
        </p:spPr>
        <p:txBody>
          <a:bodyPr wrap="none" lIns="0" rIns="0" tIns="0" bIns="0">
            <a:spAutoFit/>
          </a:bodyPr>
          <a:lstStyle/>
          <a:p>
            <a:r>
              <a:rPr sz="1150" b="1">
                <a:solidFill>
                  <a:srgbClr val="0B2E4A"/>
                </a:solidFill>
                <a:latin typeface="Calibri"/>
              </a:rPr>
              <a:t>The End User segment is projected to grow at a</a:t>
            </a:r>
          </a:p>
        </p:txBody>
      </p:sp>
      <p:sp>
        <p:nvSpPr>
          <p:cNvPr id="133" name="TextBox 132"/>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34" name="Picture 133" descr="lock.png"/>
          <p:cNvPicPr>
            <a:picLocks noChangeAspect="1"/>
          </p:cNvPicPr>
          <p:nvPr/>
        </p:nvPicPr>
        <p:blipFill>
          <a:blip r:embed="rId18"/>
          <a:stretch>
            <a:fillRect/>
          </a:stretch>
        </p:blipFill>
        <p:spPr>
          <a:xfrm>
            <a:off x="9048826" y="6007677"/>
            <a:ext cx="134549" cy="195707"/>
          </a:xfrm>
          <a:prstGeom prst="rect">
            <a:avLst/>
          </a:prstGeom>
        </p:spPr>
      </p:pic>
      <p:sp>
        <p:nvSpPr>
          <p:cNvPr id="135" name="TextBox 134"/>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End User Segment Outlook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9 sub-segments of End User,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End User segment categorizes the market by end user.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Individual consumers</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25" name="Oval 24"/>
          <p:cNvSpPr/>
          <p:nvPr/>
        </p:nvSpPr>
        <p:spPr>
          <a:xfrm>
            <a:off x="2912269"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26" name="Rounded Rectangle 25"/>
          <p:cNvSpPr/>
          <p:nvPr/>
        </p:nvSpPr>
        <p:spPr>
          <a:xfrm>
            <a:off x="4395788" y="1773916"/>
            <a:ext cx="2414588"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Hospitals and Clinics</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2" name="Oval 31"/>
          <p:cNvSpPr/>
          <p:nvPr/>
        </p:nvSpPr>
        <p:spPr>
          <a:xfrm>
            <a:off x="5441156"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33" name="Rounded Rectangle 32"/>
          <p:cNvSpPr/>
          <p:nvPr/>
        </p:nvSpPr>
        <p:spPr>
          <a:xfrm>
            <a:off x="6924675"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Nursing Homes</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39" name="Oval 38"/>
          <p:cNvSpPr/>
          <p:nvPr/>
        </p:nvSpPr>
        <p:spPr>
          <a:xfrm>
            <a:off x="7970044"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8</a:t>
            </a:r>
          </a:p>
        </p:txBody>
      </p:sp>
      <p:sp>
        <p:nvSpPr>
          <p:cNvPr id="40" name="Rounded Rectangle 39"/>
          <p:cNvSpPr/>
          <p:nvPr/>
        </p:nvSpPr>
        <p:spPr>
          <a:xfrm>
            <a:off x="9453562"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Assisted Living Facilities</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46" name="Oval 45"/>
          <p:cNvSpPr/>
          <p:nvPr/>
        </p:nvSpPr>
        <p:spPr>
          <a:xfrm>
            <a:off x="10498931"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9</a:t>
            </a:r>
          </a:p>
        </p:txBody>
      </p:sp>
      <p:sp>
        <p:nvSpPr>
          <p:cNvPr id="47" name="Rounded Rectangle 46"/>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9" name="Rectangle 48"/>
          <p:cNvSpPr/>
          <p:nvPr/>
        </p:nvSpPr>
        <p:spPr>
          <a:xfrm>
            <a:off x="457200" y="4146897"/>
            <a:ext cx="112776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51" name="TextBox 5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3" name="Picture 52" descr="203_7_605E5C.png"/>
          <p:cNvPicPr>
            <a:picLocks noChangeAspect="1"/>
          </p:cNvPicPr>
          <p:nvPr/>
        </p:nvPicPr>
        <p:blipFill>
          <a:blip r:embed="rId4"/>
          <a:stretch>
            <a:fillRect/>
          </a:stretch>
        </p:blipFill>
        <p:spPr>
          <a:xfrm>
            <a:off x="2476330" y="2286582"/>
            <a:ext cx="1195728" cy="361950"/>
          </a:xfrm>
          <a:prstGeom prst="rect">
            <a:avLst/>
          </a:prstGeom>
        </p:spPr>
      </p:pic>
      <p:pic>
        <p:nvPicPr>
          <p:cNvPr id="54" name="Picture 53" descr="390_4_605E5C.png"/>
          <p:cNvPicPr>
            <a:picLocks noChangeAspect="1"/>
          </p:cNvPicPr>
          <p:nvPr/>
        </p:nvPicPr>
        <p:blipFill>
          <a:blip r:embed="rId5"/>
          <a:stretch>
            <a:fillRect/>
          </a:stretch>
        </p:blipFill>
        <p:spPr>
          <a:xfrm>
            <a:off x="2476330" y="2779432"/>
            <a:ext cx="1195728" cy="361950"/>
          </a:xfrm>
          <a:prstGeom prst="rect">
            <a:avLst/>
          </a:prstGeom>
        </p:spPr>
      </p:pic>
      <p:pic>
        <p:nvPicPr>
          <p:cNvPr id="55" name="Picture 54" descr="6_7__605E5C.png"/>
          <p:cNvPicPr>
            <a:picLocks noChangeAspect="1"/>
          </p:cNvPicPr>
          <p:nvPr/>
        </p:nvPicPr>
        <p:blipFill>
          <a:blip r:embed="rId6"/>
          <a:stretch>
            <a:fillRect/>
          </a:stretch>
        </p:blipFill>
        <p:spPr>
          <a:xfrm>
            <a:off x="2582976" y="3272281"/>
            <a:ext cx="982436" cy="361950"/>
          </a:xfrm>
          <a:prstGeom prst="rect">
            <a:avLst/>
          </a:prstGeom>
        </p:spPr>
      </p:pic>
      <p:pic>
        <p:nvPicPr>
          <p:cNvPr id="56" name="Picture 55" descr="161_8_605E5C.png"/>
          <p:cNvPicPr>
            <a:picLocks noChangeAspect="1"/>
          </p:cNvPicPr>
          <p:nvPr/>
        </p:nvPicPr>
        <p:blipFill>
          <a:blip r:embed="rId7"/>
          <a:stretch>
            <a:fillRect/>
          </a:stretch>
        </p:blipFill>
        <p:spPr>
          <a:xfrm>
            <a:off x="5005218" y="2286582"/>
            <a:ext cx="1195728" cy="361950"/>
          </a:xfrm>
          <a:prstGeom prst="rect">
            <a:avLst/>
          </a:prstGeom>
        </p:spPr>
      </p:pic>
      <p:pic>
        <p:nvPicPr>
          <p:cNvPr id="57" name="Picture 56" descr="354_6_605E5C.png"/>
          <p:cNvPicPr>
            <a:picLocks noChangeAspect="1"/>
          </p:cNvPicPr>
          <p:nvPr/>
        </p:nvPicPr>
        <p:blipFill>
          <a:blip r:embed="rId8"/>
          <a:stretch>
            <a:fillRect/>
          </a:stretch>
        </p:blipFill>
        <p:spPr>
          <a:xfrm>
            <a:off x="5005218" y="2779432"/>
            <a:ext cx="1195728" cy="361950"/>
          </a:xfrm>
          <a:prstGeom prst="rect">
            <a:avLst/>
          </a:prstGeom>
        </p:spPr>
      </p:pic>
      <p:pic>
        <p:nvPicPr>
          <p:cNvPr id="58" name="Picture 57" descr="8_2__605E5C.png"/>
          <p:cNvPicPr>
            <a:picLocks noChangeAspect="1"/>
          </p:cNvPicPr>
          <p:nvPr/>
        </p:nvPicPr>
        <p:blipFill>
          <a:blip r:embed="rId9"/>
          <a:stretch>
            <a:fillRect/>
          </a:stretch>
        </p:blipFill>
        <p:spPr>
          <a:xfrm>
            <a:off x="5111864" y="3272281"/>
            <a:ext cx="982436" cy="361950"/>
          </a:xfrm>
          <a:prstGeom prst="rect">
            <a:avLst/>
          </a:prstGeom>
        </p:spPr>
      </p:pic>
      <p:pic>
        <p:nvPicPr>
          <p:cNvPr id="59" name="Picture 58" descr="132_9_605E5C.png"/>
          <p:cNvPicPr>
            <a:picLocks noChangeAspect="1"/>
          </p:cNvPicPr>
          <p:nvPr/>
        </p:nvPicPr>
        <p:blipFill>
          <a:blip r:embed="rId10"/>
          <a:stretch>
            <a:fillRect/>
          </a:stretch>
        </p:blipFill>
        <p:spPr>
          <a:xfrm>
            <a:off x="7534105" y="2286582"/>
            <a:ext cx="1195728" cy="361950"/>
          </a:xfrm>
          <a:prstGeom prst="rect">
            <a:avLst/>
          </a:prstGeom>
        </p:spPr>
      </p:pic>
      <p:pic>
        <p:nvPicPr>
          <p:cNvPr id="60" name="Picture 59" descr="279_6_605E5C.png"/>
          <p:cNvPicPr>
            <a:picLocks noChangeAspect="1"/>
          </p:cNvPicPr>
          <p:nvPr/>
        </p:nvPicPr>
        <p:blipFill>
          <a:blip r:embed="rId11"/>
          <a:stretch>
            <a:fillRect/>
          </a:stretch>
        </p:blipFill>
        <p:spPr>
          <a:xfrm>
            <a:off x="7534105" y="2779432"/>
            <a:ext cx="1195728" cy="361950"/>
          </a:xfrm>
          <a:prstGeom prst="rect">
            <a:avLst/>
          </a:prstGeom>
        </p:spPr>
      </p:pic>
      <p:pic>
        <p:nvPicPr>
          <p:cNvPr id="61" name="Picture 60" descr="7_7__605E5C.png"/>
          <p:cNvPicPr>
            <a:picLocks noChangeAspect="1"/>
          </p:cNvPicPr>
          <p:nvPr/>
        </p:nvPicPr>
        <p:blipFill>
          <a:blip r:embed="rId12"/>
          <a:stretch>
            <a:fillRect/>
          </a:stretch>
        </p:blipFill>
        <p:spPr>
          <a:xfrm>
            <a:off x="7640751" y="3272281"/>
            <a:ext cx="982436" cy="361950"/>
          </a:xfrm>
          <a:prstGeom prst="rect">
            <a:avLst/>
          </a:prstGeom>
        </p:spPr>
      </p:pic>
      <p:pic>
        <p:nvPicPr>
          <p:cNvPr id="62" name="Picture 61" descr="50_1_605E5C.png"/>
          <p:cNvPicPr>
            <a:picLocks noChangeAspect="1"/>
          </p:cNvPicPr>
          <p:nvPr/>
        </p:nvPicPr>
        <p:blipFill>
          <a:blip r:embed="rId13"/>
          <a:stretch>
            <a:fillRect/>
          </a:stretch>
        </p:blipFill>
        <p:spPr>
          <a:xfrm>
            <a:off x="10169638" y="2286582"/>
            <a:ext cx="982436" cy="361950"/>
          </a:xfrm>
          <a:prstGeom prst="rect">
            <a:avLst/>
          </a:prstGeom>
        </p:spPr>
      </p:pic>
      <p:pic>
        <p:nvPicPr>
          <p:cNvPr id="63" name="Picture 62" descr="70_6_605E5C.png"/>
          <p:cNvPicPr>
            <a:picLocks noChangeAspect="1"/>
          </p:cNvPicPr>
          <p:nvPr/>
        </p:nvPicPr>
        <p:blipFill>
          <a:blip r:embed="rId14"/>
          <a:stretch>
            <a:fillRect/>
          </a:stretch>
        </p:blipFill>
        <p:spPr>
          <a:xfrm>
            <a:off x="10169638" y="2779432"/>
            <a:ext cx="982436" cy="361950"/>
          </a:xfrm>
          <a:prstGeom prst="rect">
            <a:avLst/>
          </a:prstGeom>
        </p:spPr>
      </p:pic>
      <p:pic>
        <p:nvPicPr>
          <p:cNvPr id="64" name="Picture 63" descr="3_5__605E5C.png"/>
          <p:cNvPicPr>
            <a:picLocks noChangeAspect="1"/>
          </p:cNvPicPr>
          <p:nvPr/>
        </p:nvPicPr>
        <p:blipFill>
          <a:blip r:embed="rId15"/>
          <a:stretch>
            <a:fillRect/>
          </a:stretch>
        </p:blipFill>
        <p:spPr>
          <a:xfrm>
            <a:off x="10169638" y="3272281"/>
            <a:ext cx="982436" cy="361950"/>
          </a:xfrm>
          <a:prstGeom prst="rect">
            <a:avLst/>
          </a:prstGeom>
        </p:spPr>
      </p:pic>
      <p:pic>
        <p:nvPicPr>
          <p:cNvPr id="65" name="Picture 64" descr="lock.png"/>
          <p:cNvPicPr>
            <a:picLocks noChangeAspect="1"/>
          </p:cNvPicPr>
          <p:nvPr/>
        </p:nvPicPr>
        <p:blipFill>
          <a:blip r:embed="rId16"/>
          <a:stretch>
            <a:fillRect/>
          </a:stretch>
        </p:blipFill>
        <p:spPr>
          <a:xfrm>
            <a:off x="2980848" y="2827057"/>
            <a:ext cx="183356" cy="266700"/>
          </a:xfrm>
          <a:prstGeom prst="rect">
            <a:avLst/>
          </a:prstGeom>
        </p:spPr>
      </p:pic>
      <p:pic>
        <p:nvPicPr>
          <p:cNvPr id="66" name="Picture 65" descr="lock.png"/>
          <p:cNvPicPr>
            <a:picLocks noChangeAspect="1"/>
          </p:cNvPicPr>
          <p:nvPr/>
        </p:nvPicPr>
        <p:blipFill>
          <a:blip r:embed="rId16"/>
          <a:stretch>
            <a:fillRect/>
          </a:stretch>
        </p:blipFill>
        <p:spPr>
          <a:xfrm>
            <a:off x="5509737" y="2827057"/>
            <a:ext cx="183356" cy="266700"/>
          </a:xfrm>
          <a:prstGeom prst="rect">
            <a:avLst/>
          </a:prstGeom>
        </p:spPr>
      </p:pic>
      <p:pic>
        <p:nvPicPr>
          <p:cNvPr id="67" name="Picture 66" descr="lock.png"/>
          <p:cNvPicPr>
            <a:picLocks noChangeAspect="1"/>
          </p:cNvPicPr>
          <p:nvPr/>
        </p:nvPicPr>
        <p:blipFill>
          <a:blip r:embed="rId16"/>
          <a:stretch>
            <a:fillRect/>
          </a:stretch>
        </p:blipFill>
        <p:spPr>
          <a:xfrm>
            <a:off x="8038624" y="2827057"/>
            <a:ext cx="183356" cy="266700"/>
          </a:xfrm>
          <a:prstGeom prst="rect">
            <a:avLst/>
          </a:prstGeom>
        </p:spPr>
      </p:pic>
      <p:pic>
        <p:nvPicPr>
          <p:cNvPr id="68" name="Picture 67" descr="lock.png"/>
          <p:cNvPicPr>
            <a:picLocks noChangeAspect="1"/>
          </p:cNvPicPr>
          <p:nvPr/>
        </p:nvPicPr>
        <p:blipFill>
          <a:blip r:embed="rId16"/>
          <a:stretch>
            <a:fillRect/>
          </a:stretch>
        </p:blipFill>
        <p:spPr>
          <a:xfrm>
            <a:off x="10567511" y="2827057"/>
            <a:ext cx="183356" cy="266700"/>
          </a:xfrm>
          <a:prstGeom prst="rect">
            <a:avLst/>
          </a:prstGeom>
        </p:spPr>
      </p:pic>
      <p:sp>
        <p:nvSpPr>
          <p:cNvPr id="69" name="TextBox 68"/>
          <p:cNvSpPr txBox="1"/>
          <p:nvPr/>
        </p:nvSpPr>
        <p:spPr>
          <a:xfrm>
            <a:off x="485775" y="4229437"/>
            <a:ext cx="1435273" cy="186689"/>
          </a:xfrm>
          <a:prstGeom prst="rect">
            <a:avLst/>
          </a:prstGeom>
          <a:noFill/>
        </p:spPr>
        <p:txBody>
          <a:bodyPr wrap="none" lIns="0" rIns="0" tIns="0" bIns="0">
            <a:spAutoFit/>
          </a:bodyPr>
          <a:lstStyle/>
          <a:p>
            <a:r>
              <a:rPr sz="1100" b="0">
                <a:solidFill>
                  <a:srgbClr val="2E2E2E"/>
                </a:solidFill>
                <a:latin typeface="Calibri"/>
              </a:rPr>
              <a:t>● Individual consumers:</a:t>
            </a:r>
          </a:p>
        </p:txBody>
      </p:sp>
      <p:pic>
        <p:nvPicPr>
          <p:cNvPr id="70" name="Picture 69" descr="lock.png"/>
          <p:cNvPicPr>
            <a:picLocks noChangeAspect="1"/>
          </p:cNvPicPr>
          <p:nvPr/>
        </p:nvPicPr>
        <p:blipFill>
          <a:blip r:embed="rId16"/>
          <a:stretch>
            <a:fillRect/>
          </a:stretch>
        </p:blipFill>
        <p:spPr>
          <a:xfrm>
            <a:off x="1869100" y="4219658"/>
            <a:ext cx="128699" cy="187198"/>
          </a:xfrm>
          <a:prstGeom prst="rect">
            <a:avLst/>
          </a:prstGeom>
        </p:spPr>
      </p:pic>
      <p:sp>
        <p:nvSpPr>
          <p:cNvPr id="71" name="TextBox 70"/>
          <p:cNvSpPr txBox="1"/>
          <p:nvPr/>
        </p:nvSpPr>
        <p:spPr>
          <a:xfrm>
            <a:off x="2036596"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2" name="Picture 71" descr="lock.png"/>
          <p:cNvPicPr>
            <a:picLocks noChangeAspect="1"/>
          </p:cNvPicPr>
          <p:nvPr/>
        </p:nvPicPr>
        <p:blipFill>
          <a:blip r:embed="rId16"/>
          <a:stretch>
            <a:fillRect/>
          </a:stretch>
        </p:blipFill>
        <p:spPr>
          <a:xfrm>
            <a:off x="2896046" y="4219658"/>
            <a:ext cx="128699" cy="187198"/>
          </a:xfrm>
          <a:prstGeom prst="rect">
            <a:avLst/>
          </a:prstGeom>
        </p:spPr>
      </p:pic>
      <p:sp>
        <p:nvSpPr>
          <p:cNvPr id="73" name="TextBox 72"/>
          <p:cNvSpPr txBox="1"/>
          <p:nvPr/>
        </p:nvSpPr>
        <p:spPr>
          <a:xfrm>
            <a:off x="3063542" y="422943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74" name="TextBox 73"/>
          <p:cNvSpPr txBox="1"/>
          <p:nvPr/>
        </p:nvSpPr>
        <p:spPr>
          <a:xfrm>
            <a:off x="485775" y="4447369"/>
            <a:ext cx="1386160" cy="186689"/>
          </a:xfrm>
          <a:prstGeom prst="rect">
            <a:avLst/>
          </a:prstGeom>
          <a:noFill/>
        </p:spPr>
        <p:txBody>
          <a:bodyPr wrap="none" lIns="0" rIns="0" tIns="0" bIns="0">
            <a:spAutoFit/>
          </a:bodyPr>
          <a:lstStyle/>
          <a:p>
            <a:r>
              <a:rPr sz="1100" b="0">
                <a:solidFill>
                  <a:srgbClr val="2E2E2E"/>
                </a:solidFill>
                <a:latin typeface="Calibri"/>
              </a:rPr>
              <a:t>● Hospitals and Clinics:</a:t>
            </a:r>
          </a:p>
        </p:txBody>
      </p:sp>
      <p:pic>
        <p:nvPicPr>
          <p:cNvPr id="75" name="Picture 74" descr="lock.png"/>
          <p:cNvPicPr>
            <a:picLocks noChangeAspect="1"/>
          </p:cNvPicPr>
          <p:nvPr/>
        </p:nvPicPr>
        <p:blipFill>
          <a:blip r:embed="rId16"/>
          <a:stretch>
            <a:fillRect/>
          </a:stretch>
        </p:blipFill>
        <p:spPr>
          <a:xfrm>
            <a:off x="1819986" y="4437590"/>
            <a:ext cx="128699" cy="187198"/>
          </a:xfrm>
          <a:prstGeom prst="rect">
            <a:avLst/>
          </a:prstGeom>
        </p:spPr>
      </p:pic>
      <p:sp>
        <p:nvSpPr>
          <p:cNvPr id="76" name="TextBox 75"/>
          <p:cNvSpPr txBox="1"/>
          <p:nvPr/>
        </p:nvSpPr>
        <p:spPr>
          <a:xfrm>
            <a:off x="1987482"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7" name="Picture 76" descr="lock.png"/>
          <p:cNvPicPr>
            <a:picLocks noChangeAspect="1"/>
          </p:cNvPicPr>
          <p:nvPr/>
        </p:nvPicPr>
        <p:blipFill>
          <a:blip r:embed="rId16"/>
          <a:stretch>
            <a:fillRect/>
          </a:stretch>
        </p:blipFill>
        <p:spPr>
          <a:xfrm>
            <a:off x="2846932" y="4437590"/>
            <a:ext cx="128699" cy="187198"/>
          </a:xfrm>
          <a:prstGeom prst="rect">
            <a:avLst/>
          </a:prstGeom>
        </p:spPr>
      </p:pic>
      <p:sp>
        <p:nvSpPr>
          <p:cNvPr id="78" name="TextBox 77"/>
          <p:cNvSpPr txBox="1"/>
          <p:nvPr/>
        </p:nvSpPr>
        <p:spPr>
          <a:xfrm>
            <a:off x="3014428"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79" name="TextBox 78"/>
          <p:cNvSpPr txBox="1"/>
          <p:nvPr/>
        </p:nvSpPr>
        <p:spPr>
          <a:xfrm>
            <a:off x="485775" y="4665301"/>
            <a:ext cx="1096119" cy="186689"/>
          </a:xfrm>
          <a:prstGeom prst="rect">
            <a:avLst/>
          </a:prstGeom>
          <a:noFill/>
        </p:spPr>
        <p:txBody>
          <a:bodyPr wrap="none" lIns="0" rIns="0" tIns="0" bIns="0">
            <a:spAutoFit/>
          </a:bodyPr>
          <a:lstStyle/>
          <a:p>
            <a:r>
              <a:rPr sz="1100" b="0">
                <a:solidFill>
                  <a:srgbClr val="2E2E2E"/>
                </a:solidFill>
                <a:latin typeface="Calibri"/>
              </a:rPr>
              <a:t>● Nursing Homes:</a:t>
            </a:r>
          </a:p>
        </p:txBody>
      </p:sp>
      <p:pic>
        <p:nvPicPr>
          <p:cNvPr id="80" name="Picture 79" descr="lock.png"/>
          <p:cNvPicPr>
            <a:picLocks noChangeAspect="1"/>
          </p:cNvPicPr>
          <p:nvPr/>
        </p:nvPicPr>
        <p:blipFill>
          <a:blip r:embed="rId16"/>
          <a:stretch>
            <a:fillRect/>
          </a:stretch>
        </p:blipFill>
        <p:spPr>
          <a:xfrm>
            <a:off x="1529945" y="4655522"/>
            <a:ext cx="128699" cy="187198"/>
          </a:xfrm>
          <a:prstGeom prst="rect">
            <a:avLst/>
          </a:prstGeom>
        </p:spPr>
      </p:pic>
      <p:sp>
        <p:nvSpPr>
          <p:cNvPr id="81" name="TextBox 80"/>
          <p:cNvSpPr txBox="1"/>
          <p:nvPr/>
        </p:nvSpPr>
        <p:spPr>
          <a:xfrm>
            <a:off x="1697441"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2" name="Picture 81" descr="lock.png"/>
          <p:cNvPicPr>
            <a:picLocks noChangeAspect="1"/>
          </p:cNvPicPr>
          <p:nvPr/>
        </p:nvPicPr>
        <p:blipFill>
          <a:blip r:embed="rId16"/>
          <a:stretch>
            <a:fillRect/>
          </a:stretch>
        </p:blipFill>
        <p:spPr>
          <a:xfrm>
            <a:off x="2556891" y="4655522"/>
            <a:ext cx="128699" cy="187198"/>
          </a:xfrm>
          <a:prstGeom prst="rect">
            <a:avLst/>
          </a:prstGeom>
        </p:spPr>
      </p:pic>
      <p:sp>
        <p:nvSpPr>
          <p:cNvPr id="83" name="TextBox 82"/>
          <p:cNvSpPr txBox="1"/>
          <p:nvPr/>
        </p:nvSpPr>
        <p:spPr>
          <a:xfrm>
            <a:off x="2724387"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84" name="TextBox 83"/>
          <p:cNvSpPr txBox="1"/>
          <p:nvPr/>
        </p:nvSpPr>
        <p:spPr>
          <a:xfrm>
            <a:off x="485775" y="4883233"/>
            <a:ext cx="1574641" cy="186689"/>
          </a:xfrm>
          <a:prstGeom prst="rect">
            <a:avLst/>
          </a:prstGeom>
          <a:noFill/>
        </p:spPr>
        <p:txBody>
          <a:bodyPr wrap="none" lIns="0" rIns="0" tIns="0" bIns="0">
            <a:spAutoFit/>
          </a:bodyPr>
          <a:lstStyle/>
          <a:p>
            <a:r>
              <a:rPr sz="1100" b="0">
                <a:solidFill>
                  <a:srgbClr val="2E2E2E"/>
                </a:solidFill>
                <a:latin typeface="Calibri"/>
              </a:rPr>
              <a:t>● Assisted Living Facilities:</a:t>
            </a:r>
          </a:p>
        </p:txBody>
      </p:sp>
      <p:pic>
        <p:nvPicPr>
          <p:cNvPr id="85" name="Picture 84" descr="lock.png"/>
          <p:cNvPicPr>
            <a:picLocks noChangeAspect="1"/>
          </p:cNvPicPr>
          <p:nvPr/>
        </p:nvPicPr>
        <p:blipFill>
          <a:blip r:embed="rId16"/>
          <a:stretch>
            <a:fillRect/>
          </a:stretch>
        </p:blipFill>
        <p:spPr>
          <a:xfrm>
            <a:off x="2008467" y="4873454"/>
            <a:ext cx="128699" cy="187198"/>
          </a:xfrm>
          <a:prstGeom prst="rect">
            <a:avLst/>
          </a:prstGeom>
        </p:spPr>
      </p:pic>
      <p:sp>
        <p:nvSpPr>
          <p:cNvPr id="86" name="TextBox 85"/>
          <p:cNvSpPr txBox="1"/>
          <p:nvPr/>
        </p:nvSpPr>
        <p:spPr>
          <a:xfrm>
            <a:off x="2175963"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7" name="Picture 86" descr="lock.png"/>
          <p:cNvPicPr>
            <a:picLocks noChangeAspect="1"/>
          </p:cNvPicPr>
          <p:nvPr/>
        </p:nvPicPr>
        <p:blipFill>
          <a:blip r:embed="rId16"/>
          <a:stretch>
            <a:fillRect/>
          </a:stretch>
        </p:blipFill>
        <p:spPr>
          <a:xfrm>
            <a:off x="3035413" y="4873454"/>
            <a:ext cx="128699" cy="187198"/>
          </a:xfrm>
          <a:prstGeom prst="rect">
            <a:avLst/>
          </a:prstGeom>
        </p:spPr>
      </p:pic>
      <p:sp>
        <p:nvSpPr>
          <p:cNvPr id="88" name="TextBox 87"/>
          <p:cNvSpPr txBox="1"/>
          <p:nvPr/>
        </p:nvSpPr>
        <p:spPr>
          <a:xfrm>
            <a:off x="3202909"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End User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End User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End User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End User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212363" cy="186689"/>
          </a:xfrm>
          <a:prstGeom prst="rect">
            <a:avLst/>
          </a:prstGeom>
          <a:noFill/>
        </p:spPr>
        <p:txBody>
          <a:bodyPr wrap="none" lIns="0" rIns="0" tIns="0" bIns="0">
            <a:spAutoFit/>
          </a:bodyPr>
          <a:lstStyle/>
          <a:p>
            <a:r>
              <a:rPr sz="1100" b="0">
                <a:solidFill>
                  <a:srgbClr val="2E2E2E"/>
                </a:solidFill>
                <a:latin typeface="Calibri"/>
              </a:rPr>
              <a:t>Others followed by audiologists are expected to be the two most attractive end user segments in the global ear wax removal products market in terms of value over the forecast period. Others and</a:t>
            </a:r>
          </a:p>
        </p:txBody>
      </p:sp>
      <p:sp>
        <p:nvSpPr>
          <p:cNvPr id="20" name="TextBox 19"/>
          <p:cNvSpPr txBox="1"/>
          <p:nvPr/>
        </p:nvSpPr>
        <p:spPr>
          <a:xfrm>
            <a:off x="257175" y="5945505"/>
            <a:ext cx="2113565" cy="186689"/>
          </a:xfrm>
          <a:prstGeom prst="rect">
            <a:avLst/>
          </a:prstGeom>
          <a:noFill/>
        </p:spPr>
        <p:txBody>
          <a:bodyPr wrap="none" lIns="0" rIns="0" tIns="0" bIns="0">
            <a:spAutoFit/>
          </a:bodyPr>
          <a:lstStyle/>
          <a:p>
            <a:r>
              <a:rPr sz="1100" b="0">
                <a:solidFill>
                  <a:srgbClr val="2E2E2E"/>
                </a:solidFill>
                <a:latin typeface="Calibri"/>
              </a:rPr>
              <a:t>audiologists exhibit a CAGR index of</a:t>
            </a:r>
          </a:p>
        </p:txBody>
      </p:sp>
      <p:pic>
        <p:nvPicPr>
          <p:cNvPr id="21" name="Picture 20" descr="lock.png"/>
          <p:cNvPicPr>
            <a:picLocks noChangeAspect="1"/>
          </p:cNvPicPr>
          <p:nvPr/>
        </p:nvPicPr>
        <p:blipFill>
          <a:blip r:embed="rId6"/>
          <a:stretch>
            <a:fillRect/>
          </a:stretch>
        </p:blipFill>
        <p:spPr>
          <a:xfrm>
            <a:off x="2318792" y="5935726"/>
            <a:ext cx="128699" cy="187198"/>
          </a:xfrm>
          <a:prstGeom prst="rect">
            <a:avLst/>
          </a:prstGeom>
        </p:spPr>
      </p:pic>
      <p:sp>
        <p:nvSpPr>
          <p:cNvPr id="22" name="TextBox 21"/>
          <p:cNvSpPr txBox="1"/>
          <p:nvPr/>
        </p:nvSpPr>
        <p:spPr>
          <a:xfrm>
            <a:off x="2486287"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2724182" y="5935726"/>
            <a:ext cx="128699" cy="187198"/>
          </a:xfrm>
          <a:prstGeom prst="rect">
            <a:avLst/>
          </a:prstGeom>
        </p:spPr>
      </p:pic>
      <p:sp>
        <p:nvSpPr>
          <p:cNvPr id="24" name="TextBox 23"/>
          <p:cNvSpPr txBox="1"/>
          <p:nvPr/>
        </p:nvSpPr>
        <p:spPr>
          <a:xfrm>
            <a:off x="2891678"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4500651" y="5935726"/>
            <a:ext cx="128699" cy="187198"/>
          </a:xfrm>
          <a:prstGeom prst="rect">
            <a:avLst/>
          </a:prstGeom>
        </p:spPr>
      </p:pic>
      <p:sp>
        <p:nvSpPr>
          <p:cNvPr id="26" name="TextBox 25"/>
          <p:cNvSpPr txBox="1"/>
          <p:nvPr/>
        </p:nvSpPr>
        <p:spPr>
          <a:xfrm>
            <a:off x="4668147"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4906041" y="5935726"/>
            <a:ext cx="128699" cy="187198"/>
          </a:xfrm>
          <a:prstGeom prst="rect">
            <a:avLst/>
          </a:prstGeom>
        </p:spPr>
      </p:pic>
      <p:sp>
        <p:nvSpPr>
          <p:cNvPr id="28" name="TextBox 27"/>
          <p:cNvSpPr txBox="1"/>
          <p:nvPr/>
        </p:nvSpPr>
        <p:spPr>
          <a:xfrm>
            <a:off x="5073537"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7627941" y="5935726"/>
            <a:ext cx="128699" cy="187198"/>
          </a:xfrm>
          <a:prstGeom prst="rect">
            <a:avLst/>
          </a:prstGeom>
        </p:spPr>
      </p:pic>
      <p:sp>
        <p:nvSpPr>
          <p:cNvPr id="30" name="TextBox 29"/>
          <p:cNvSpPr txBox="1"/>
          <p:nvPr/>
        </p:nvSpPr>
        <p:spPr>
          <a:xfrm>
            <a:off x="7795437" y="5945505"/>
            <a:ext cx="3433911" cy="186689"/>
          </a:xfrm>
          <a:prstGeom prst="rect">
            <a:avLst/>
          </a:prstGeom>
          <a:noFill/>
        </p:spPr>
        <p:txBody>
          <a:bodyPr wrap="none" lIns="0" rIns="0" tIns="0" bIns="0">
            <a:spAutoFit/>
          </a:bodyPr>
          <a:lstStyle/>
          <a:p>
            <a:r>
              <a:rPr sz="1100" b="0">
                <a:solidFill>
                  <a:srgbClr val="2E2E2E"/>
                </a:solidFill>
                <a:latin typeface="Calibri"/>
              </a:rPr>
              <a:t>. The assisted living facilities segment is expected to be less</a:t>
            </a:r>
          </a:p>
        </p:txBody>
      </p:sp>
      <p:sp>
        <p:nvSpPr>
          <p:cNvPr id="31" name="TextBox 30"/>
          <p:cNvSpPr txBox="1"/>
          <p:nvPr/>
        </p:nvSpPr>
        <p:spPr>
          <a:xfrm>
            <a:off x="257175" y="6113145"/>
            <a:ext cx="11338386" cy="186689"/>
          </a:xfrm>
          <a:prstGeom prst="rect">
            <a:avLst/>
          </a:prstGeom>
          <a:noFill/>
        </p:spPr>
        <p:txBody>
          <a:bodyPr wrap="none" lIns="0" rIns="0" tIns="0" bIns="0">
            <a:spAutoFit/>
          </a:bodyPr>
          <a:lstStyle/>
          <a:p>
            <a:r>
              <a:rPr sz="1100" b="0">
                <a:solidFill>
                  <a:srgbClr val="2E2E2E"/>
                </a:solidFill>
                <a:latin typeface="Calibri"/>
              </a:rPr>
              <a:t>attractive as compared to other segments over 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End User (1/3)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End User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Individual consumers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Healthcare professionals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ENT specialists</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General practitioners</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End User (2/3)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End User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Audiologists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Hospitals and Clinics</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Nursing Homes</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Assisted Living Facilities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End User (3/3)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End User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Others</a:t>
            </a:r>
          </a:p>
        </p:txBody>
      </p:sp>
      <p:graphicFrame>
        <p:nvGraphicFramePr>
          <p:cNvPr id="12" name="Chart 11"/>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End User</a:t>
            </a:r>
          </a:p>
        </p:txBody>
      </p:sp>
      <p:sp>
        <p:nvSpPr>
          <p:cNvPr id="15" name="Rectangle 14"/>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24059" y="3583939"/>
            <a:ext cx="402511" cy="585471"/>
          </a:xfrm>
          <a:prstGeom prst="rect">
            <a:avLst/>
          </a:prstGeom>
        </p:spPr>
      </p:pic>
      <p:sp>
        <p:nvSpPr>
          <p:cNvPr id="19" name="TextBox 18"/>
          <p:cNvSpPr txBox="1"/>
          <p:nvPr/>
        </p:nvSpPr>
        <p:spPr>
          <a:xfrm>
            <a:off x="6305550" y="1400175"/>
            <a:ext cx="3884887" cy="194310"/>
          </a:xfrm>
          <a:prstGeom prst="rect">
            <a:avLst/>
          </a:prstGeom>
          <a:noFill/>
        </p:spPr>
        <p:txBody>
          <a:bodyPr wrap="none" lIns="0" rIns="0" tIns="0" bIns="0">
            <a:spAutoFit/>
          </a:bodyPr>
          <a:lstStyle/>
          <a:p>
            <a:r>
              <a:rPr sz="1150" b="0">
                <a:solidFill>
                  <a:srgbClr val="2E2E2E"/>
                </a:solidFill>
                <a:latin typeface="Calibri"/>
              </a:rPr>
              <a:t>By 2036, others segment is anticipated to witness an increase of</a:t>
            </a:r>
          </a:p>
        </p:txBody>
      </p:sp>
      <p:pic>
        <p:nvPicPr>
          <p:cNvPr id="20" name="Picture 19" descr="lock.png"/>
          <p:cNvPicPr>
            <a:picLocks noChangeAspect="1"/>
          </p:cNvPicPr>
          <p:nvPr/>
        </p:nvPicPr>
        <p:blipFill>
          <a:blip r:embed="rId5"/>
          <a:stretch>
            <a:fillRect/>
          </a:stretch>
        </p:blipFill>
        <p:spPr>
          <a:xfrm>
            <a:off x="10139591" y="1389951"/>
            <a:ext cx="134549" cy="195707"/>
          </a:xfrm>
          <a:prstGeom prst="rect">
            <a:avLst/>
          </a:prstGeom>
        </p:spPr>
      </p:pic>
      <p:sp>
        <p:nvSpPr>
          <p:cNvPr id="21" name="TextBox 20"/>
          <p:cNvSpPr txBox="1"/>
          <p:nvPr/>
        </p:nvSpPr>
        <p:spPr>
          <a:xfrm>
            <a:off x="10314701" y="1400175"/>
            <a:ext cx="1341871" cy="194310"/>
          </a:xfrm>
          <a:prstGeom prst="rect">
            <a:avLst/>
          </a:prstGeom>
          <a:noFill/>
        </p:spPr>
        <p:txBody>
          <a:bodyPr wrap="none" lIns="0" rIns="0" tIns="0" bIns="0">
            <a:spAutoFit/>
          </a:bodyPr>
          <a:lstStyle/>
          <a:p>
            <a:r>
              <a:rPr sz="1150" b="0">
                <a:solidFill>
                  <a:srgbClr val="2E2E2E"/>
                </a:solidFill>
                <a:latin typeface="Calibri"/>
              </a:rPr>
              <a:t>X in terms of value as</a:t>
            </a:r>
          </a:p>
        </p:txBody>
      </p:sp>
      <p:sp>
        <p:nvSpPr>
          <p:cNvPr id="22" name="TextBox 21"/>
          <p:cNvSpPr txBox="1"/>
          <p:nvPr/>
        </p:nvSpPr>
        <p:spPr>
          <a:xfrm>
            <a:off x="6305550" y="1575435"/>
            <a:ext cx="5519985" cy="194310"/>
          </a:xfrm>
          <a:prstGeom prst="rect">
            <a:avLst/>
          </a:prstGeom>
          <a:noFill/>
        </p:spPr>
        <p:txBody>
          <a:bodyPr wrap="none" lIns="0" rIns="0" tIns="0" bIns="0">
            <a:spAutoFit/>
          </a:bodyPr>
          <a:lstStyle/>
          <a:p>
            <a:r>
              <a:rPr sz="1150" b="0">
                <a:solidFill>
                  <a:srgbClr val="2E2E2E"/>
                </a:solidFill>
                <a:latin typeface="Calibri"/>
              </a:rPr>
              <a:t>compared to 2026. The others segment is expected to create an incremental opportunity of</a:t>
            </a:r>
          </a:p>
        </p:txBody>
      </p:sp>
      <p:sp>
        <p:nvSpPr>
          <p:cNvPr id="23" name="TextBox 22"/>
          <p:cNvSpPr txBox="1"/>
          <p:nvPr/>
        </p:nvSpPr>
        <p:spPr>
          <a:xfrm>
            <a:off x="6305550" y="1750695"/>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24" name="Picture 23" descr="lock.png"/>
          <p:cNvPicPr>
            <a:picLocks noChangeAspect="1"/>
          </p:cNvPicPr>
          <p:nvPr/>
        </p:nvPicPr>
        <p:blipFill>
          <a:blip r:embed="rId5"/>
          <a:stretch>
            <a:fillRect/>
          </a:stretch>
        </p:blipFill>
        <p:spPr>
          <a:xfrm>
            <a:off x="6565953" y="1740471"/>
            <a:ext cx="134549" cy="195707"/>
          </a:xfrm>
          <a:prstGeom prst="rect">
            <a:avLst/>
          </a:prstGeom>
        </p:spPr>
      </p:pic>
      <p:sp>
        <p:nvSpPr>
          <p:cNvPr id="25" name="TextBox 24"/>
          <p:cNvSpPr txBox="1"/>
          <p:nvPr/>
        </p:nvSpPr>
        <p:spPr>
          <a:xfrm>
            <a:off x="6741062" y="1750695"/>
            <a:ext cx="4365848" cy="194310"/>
          </a:xfrm>
          <a:prstGeom prst="rect">
            <a:avLst/>
          </a:prstGeom>
          <a:noFill/>
        </p:spPr>
        <p:txBody>
          <a:bodyPr wrap="none" lIns="0" rIns="0" tIns="0" bIns="0">
            <a:spAutoFit/>
          </a:bodyPr>
          <a:lstStyle/>
          <a:p>
            <a:r>
              <a:rPr sz="1150" b="0">
                <a:solidFill>
                  <a:srgbClr val="2E2E2E"/>
                </a:solidFill>
                <a:latin typeface="Calibri"/>
              </a:rPr>
              <a:t>Mn for the overall ear wax removal products market from 2026 to 2036.</a:t>
            </a:r>
          </a:p>
        </p:txBody>
      </p:sp>
      <p:sp>
        <p:nvSpPr>
          <p:cNvPr id="26" name="TextBox 25"/>
          <p:cNvSpPr txBox="1"/>
          <p:nvPr/>
        </p:nvSpPr>
        <p:spPr>
          <a:xfrm>
            <a:off x="6305550" y="1978533"/>
            <a:ext cx="5426422" cy="194310"/>
          </a:xfrm>
          <a:prstGeom prst="rect">
            <a:avLst/>
          </a:prstGeom>
          <a:noFill/>
        </p:spPr>
        <p:txBody>
          <a:bodyPr wrap="none" lIns="0" rIns="0" tIns="0" bIns="0">
            <a:spAutoFit/>
          </a:bodyPr>
          <a:lstStyle/>
          <a:p>
            <a:r>
              <a:rPr sz="1150" b="0">
                <a:solidFill>
                  <a:srgbClr val="2E2E2E"/>
                </a:solidFill>
                <a:latin typeface="Calibri"/>
              </a:rPr>
              <a:t>The healthcare professionals segment is expected to create an incremental opportunity of</a:t>
            </a:r>
          </a:p>
        </p:txBody>
      </p:sp>
      <p:sp>
        <p:nvSpPr>
          <p:cNvPr id="27" name="TextBox 26"/>
          <p:cNvSpPr txBox="1"/>
          <p:nvPr/>
        </p:nvSpPr>
        <p:spPr>
          <a:xfrm>
            <a:off x="6305550" y="2153793"/>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28" name="Picture 27" descr="lock.png"/>
          <p:cNvPicPr>
            <a:picLocks noChangeAspect="1"/>
          </p:cNvPicPr>
          <p:nvPr/>
        </p:nvPicPr>
        <p:blipFill>
          <a:blip r:embed="rId5"/>
          <a:stretch>
            <a:fillRect/>
          </a:stretch>
        </p:blipFill>
        <p:spPr>
          <a:xfrm>
            <a:off x="6565953" y="2143569"/>
            <a:ext cx="134549" cy="195707"/>
          </a:xfrm>
          <a:prstGeom prst="rect">
            <a:avLst/>
          </a:prstGeom>
        </p:spPr>
      </p:pic>
      <p:sp>
        <p:nvSpPr>
          <p:cNvPr id="29" name="TextBox 28"/>
          <p:cNvSpPr txBox="1"/>
          <p:nvPr/>
        </p:nvSpPr>
        <p:spPr>
          <a:xfrm>
            <a:off x="6741062" y="2153793"/>
            <a:ext cx="4619724" cy="194310"/>
          </a:xfrm>
          <a:prstGeom prst="rect">
            <a:avLst/>
          </a:prstGeom>
          <a:noFill/>
        </p:spPr>
        <p:txBody>
          <a:bodyPr wrap="none" lIns="0" rIns="0" tIns="0" bIns="0">
            <a:spAutoFit/>
          </a:bodyPr>
          <a:lstStyle/>
          <a:p>
            <a:r>
              <a:rPr sz="1150" b="0">
                <a:solidFill>
                  <a:srgbClr val="2E2E2E"/>
                </a:solidFill>
                <a:latin typeface="Calibri"/>
              </a:rPr>
              <a:t>Mn for the overall ear wax removal products market from 2026 to 2036. The</a:t>
            </a:r>
          </a:p>
        </p:txBody>
      </p:sp>
      <p:sp>
        <p:nvSpPr>
          <p:cNvPr id="30" name="TextBox 29"/>
          <p:cNvSpPr txBox="1"/>
          <p:nvPr/>
        </p:nvSpPr>
        <p:spPr>
          <a:xfrm>
            <a:off x="6305550" y="2329053"/>
            <a:ext cx="5167982" cy="194310"/>
          </a:xfrm>
          <a:prstGeom prst="rect">
            <a:avLst/>
          </a:prstGeom>
          <a:noFill/>
        </p:spPr>
        <p:txBody>
          <a:bodyPr wrap="none" lIns="0" rIns="0" tIns="0" bIns="0">
            <a:spAutoFit/>
          </a:bodyPr>
          <a:lstStyle/>
          <a:p>
            <a:r>
              <a:rPr sz="1150" b="0">
                <a:solidFill>
                  <a:srgbClr val="2E2E2E"/>
                </a:solidFill>
                <a:latin typeface="Calibri"/>
              </a:rPr>
              <a:t>hospitals and clinics segment is expected to create an incremental opportunity of US$</a:t>
            </a:r>
          </a:p>
        </p:txBody>
      </p:sp>
      <p:pic>
        <p:nvPicPr>
          <p:cNvPr id="31" name="Picture 30" descr="lock.png"/>
          <p:cNvPicPr>
            <a:picLocks noChangeAspect="1"/>
          </p:cNvPicPr>
          <p:nvPr/>
        </p:nvPicPr>
        <p:blipFill>
          <a:blip r:embed="rId5"/>
          <a:stretch>
            <a:fillRect/>
          </a:stretch>
        </p:blipFill>
        <p:spPr>
          <a:xfrm>
            <a:off x="11422686" y="2318829"/>
            <a:ext cx="134549" cy="195707"/>
          </a:xfrm>
          <a:prstGeom prst="rect">
            <a:avLst/>
          </a:prstGeom>
        </p:spPr>
      </p:pic>
      <p:sp>
        <p:nvSpPr>
          <p:cNvPr id="32" name="TextBox 31"/>
          <p:cNvSpPr txBox="1"/>
          <p:nvPr/>
        </p:nvSpPr>
        <p:spPr>
          <a:xfrm>
            <a:off x="11597795" y="2329053"/>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33" name="TextBox 32"/>
          <p:cNvSpPr txBox="1"/>
          <p:nvPr/>
        </p:nvSpPr>
        <p:spPr>
          <a:xfrm>
            <a:off x="6305550" y="2504313"/>
            <a:ext cx="4131084" cy="194310"/>
          </a:xfrm>
          <a:prstGeom prst="rect">
            <a:avLst/>
          </a:prstGeom>
          <a:noFill/>
        </p:spPr>
        <p:txBody>
          <a:bodyPr wrap="none" lIns="0" rIns="0" tIns="0" bIns="0">
            <a:spAutoFit/>
          </a:bodyPr>
          <a:lstStyle/>
          <a:p>
            <a:r>
              <a:rPr sz="1150" b="0">
                <a:solidFill>
                  <a:srgbClr val="2E2E2E"/>
                </a:solidFill>
                <a:latin typeface="Calibri"/>
              </a:rPr>
              <a:t>for the overall ear wax removal products market from 2026 to 2036.</a:t>
            </a:r>
          </a:p>
        </p:txBody>
      </p:sp>
      <p:sp>
        <p:nvSpPr>
          <p:cNvPr id="34" name="lockshield_12"/>
          <p:cNvSpPr/>
          <p:nvPr/>
        </p:nvSpPr>
        <p:spPr>
          <a:xfrm>
            <a:off x="238125"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End User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End User, 2021–2036, highlighting the sub-segments driving growth</a:t>
            </a:r>
          </a:p>
        </p:txBody>
      </p:sp>
      <p:sp>
        <p:nvSpPr>
          <p:cNvPr id="10" name="Rounded Rectangle 9"/>
          <p:cNvSpPr/>
          <p:nvPr/>
        </p:nvSpPr>
        <p:spPr>
          <a:xfrm>
            <a:off x="142875" y="981075"/>
            <a:ext cx="1190625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End User (US$ Mn)</a:t>
            </a:r>
          </a:p>
        </p:txBody>
      </p:sp>
      <p:graphicFrame>
        <p:nvGraphicFramePr>
          <p:cNvPr id="12" name="Table 11"/>
          <p:cNvGraphicFramePr>
            <a:graphicFrameLocks noGrp="1"/>
          </p:cNvGraphicFramePr>
          <p:nvPr/>
        </p:nvGraphicFramePr>
        <p:xfrm>
          <a:off x="152400" y="1238250"/>
          <a:ext cx="11887193" cy="2714626"/>
        </p:xfrm>
        <a:graphic>
          <a:graphicData uri="http://schemas.openxmlformats.org/drawingml/2006/table">
            <a:tbl>
              <a:tblPr>
                <a:tableStyleId>{5C22544A-7EE6-4342-B048-85BDC9FD1C3A}</a:tableStyleId>
              </a:tblPr>
              <a:tblGrid>
                <a:gridCol w="1721397"/>
                <a:gridCol w="597988"/>
                <a:gridCol w="597988"/>
                <a:gridCol w="597988"/>
                <a:gridCol w="597988"/>
                <a:gridCol w="597988"/>
                <a:gridCol w="597988"/>
                <a:gridCol w="597988"/>
                <a:gridCol w="597988"/>
                <a:gridCol w="597988"/>
                <a:gridCol w="597988"/>
                <a:gridCol w="597988"/>
                <a:gridCol w="597988"/>
                <a:gridCol w="597988"/>
                <a:gridCol w="597988"/>
                <a:gridCol w="597988"/>
                <a:gridCol w="597988"/>
                <a:gridCol w="597988"/>
              </a:tblGrid>
              <a:tr h="246126">
                <a:tc>
                  <a:txBody>
                    <a:bodyPr wrap="none"/>
                    <a:lstStyle/>
                    <a:p>
                      <a:pPr algn="l"/>
                      <a:r>
                        <a:rPr sz="1100" b="1">
                          <a:solidFill>
                            <a:srgbClr val="0B2E4A"/>
                          </a:solidFill>
                          <a:latin typeface="Calibri"/>
                        </a:rPr>
                        <a:t>End User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Individual consumers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Healthcare professionals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ENT specialists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General practitioners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Audiologists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Hospitals and Clinics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Nursing Homes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Assisted Living Facilities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Others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295775"/>
            <a:ext cx="11906250" cy="2333625"/>
          </a:xfrm>
          <a:prstGeom prst="roundRect">
            <a:avLst>
              <a:gd name="adj" fmla="val 32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3815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End User</a:t>
            </a:r>
          </a:p>
        </p:txBody>
      </p:sp>
      <p:sp>
        <p:nvSpPr>
          <p:cNvPr id="16" name="Rectangle 15"/>
          <p:cNvSpPr/>
          <p:nvPr/>
        </p:nvSpPr>
        <p:spPr>
          <a:xfrm>
            <a:off x="276225" y="46196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705350"/>
            <a:ext cx="11639550" cy="18478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770004" y="2451926"/>
            <a:ext cx="366712" cy="533400"/>
          </a:xfrm>
          <a:prstGeom prst="rect">
            <a:avLst/>
          </a:prstGeom>
        </p:spPr>
      </p:pic>
      <p:sp>
        <p:nvSpPr>
          <p:cNvPr id="20" name="TextBox 19"/>
          <p:cNvSpPr txBox="1"/>
          <p:nvPr/>
        </p:nvSpPr>
        <p:spPr>
          <a:xfrm>
            <a:off x="276225" y="4714875"/>
            <a:ext cx="2404727" cy="194310"/>
          </a:xfrm>
          <a:prstGeom prst="rect">
            <a:avLst/>
          </a:prstGeom>
          <a:noFill/>
        </p:spPr>
        <p:txBody>
          <a:bodyPr wrap="none" lIns="0" rIns="0" tIns="0" bIns="0">
            <a:spAutoFit/>
          </a:bodyPr>
          <a:lstStyle/>
          <a:p>
            <a:r>
              <a:rPr sz="1150" b="0">
                <a:solidFill>
                  <a:srgbClr val="2E2E2E"/>
                </a:solidFill>
                <a:latin typeface="Calibri"/>
              </a:rPr>
              <a:t>Others segment is projected to register</a:t>
            </a:r>
          </a:p>
        </p:txBody>
      </p:sp>
      <p:pic>
        <p:nvPicPr>
          <p:cNvPr id="21" name="Picture 20" descr="lock.png"/>
          <p:cNvPicPr>
            <a:picLocks noChangeAspect="1"/>
          </p:cNvPicPr>
          <p:nvPr/>
        </p:nvPicPr>
        <p:blipFill>
          <a:blip r:embed="rId4"/>
          <a:stretch>
            <a:fillRect/>
          </a:stretch>
        </p:blipFill>
        <p:spPr>
          <a:xfrm>
            <a:off x="2630106" y="4704651"/>
            <a:ext cx="134549" cy="195707"/>
          </a:xfrm>
          <a:prstGeom prst="rect">
            <a:avLst/>
          </a:prstGeom>
        </p:spPr>
      </p:pic>
      <p:sp>
        <p:nvSpPr>
          <p:cNvPr id="22" name="TextBox 21"/>
          <p:cNvSpPr txBox="1"/>
          <p:nvPr/>
        </p:nvSpPr>
        <p:spPr>
          <a:xfrm>
            <a:off x="2805215" y="4714875"/>
            <a:ext cx="8923349" cy="194310"/>
          </a:xfrm>
          <a:prstGeom prst="rect">
            <a:avLst/>
          </a:prstGeom>
          <a:noFill/>
        </p:spPr>
        <p:txBody>
          <a:bodyPr wrap="none" lIns="0" rIns="0" tIns="0" bIns="0">
            <a:spAutoFit/>
          </a:bodyPr>
          <a:lstStyle/>
          <a:p>
            <a:r>
              <a:rPr sz="1150" b="0">
                <a:solidFill>
                  <a:srgbClr val="2E2E2E"/>
                </a:solidFill>
                <a:latin typeface="Calibri"/>
              </a:rPr>
              <a:t>X higher value than audiologists segment in 2036. Among ear wax removal products by end user, hospitals and clinics segment is expected to witness</a:t>
            </a:r>
          </a:p>
        </p:txBody>
      </p:sp>
      <p:sp>
        <p:nvSpPr>
          <p:cNvPr id="23" name="TextBox 22"/>
          <p:cNvSpPr txBox="1"/>
          <p:nvPr/>
        </p:nvSpPr>
        <p:spPr>
          <a:xfrm>
            <a:off x="276225" y="4890135"/>
            <a:ext cx="1263979" cy="194310"/>
          </a:xfrm>
          <a:prstGeom prst="rect">
            <a:avLst/>
          </a:prstGeom>
          <a:noFill/>
        </p:spPr>
        <p:txBody>
          <a:bodyPr wrap="none" lIns="0" rIns="0" tIns="0" bIns="0">
            <a:spAutoFit/>
          </a:bodyPr>
          <a:lstStyle/>
          <a:p>
            <a:r>
              <a:rPr sz="1150" b="0">
                <a:solidFill>
                  <a:srgbClr val="2E2E2E"/>
                </a:solidFill>
                <a:latin typeface="Calibri"/>
              </a:rPr>
              <a:t>the highest CAGR of</a:t>
            </a:r>
          </a:p>
        </p:txBody>
      </p:sp>
      <p:pic>
        <p:nvPicPr>
          <p:cNvPr id="24" name="Picture 23" descr="lock.png"/>
          <p:cNvPicPr>
            <a:picLocks noChangeAspect="1"/>
          </p:cNvPicPr>
          <p:nvPr/>
        </p:nvPicPr>
        <p:blipFill>
          <a:blip r:embed="rId4"/>
          <a:stretch>
            <a:fillRect/>
          </a:stretch>
        </p:blipFill>
        <p:spPr>
          <a:xfrm>
            <a:off x="1489358" y="4879911"/>
            <a:ext cx="134549" cy="195707"/>
          </a:xfrm>
          <a:prstGeom prst="rect">
            <a:avLst/>
          </a:prstGeom>
        </p:spPr>
      </p:pic>
      <p:sp>
        <p:nvSpPr>
          <p:cNvPr id="25" name="TextBox 24"/>
          <p:cNvSpPr txBox="1"/>
          <p:nvPr/>
        </p:nvSpPr>
        <p:spPr>
          <a:xfrm>
            <a:off x="1664467" y="48901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5117972"/>
            <a:ext cx="6050272" cy="194310"/>
          </a:xfrm>
          <a:prstGeom prst="rect">
            <a:avLst/>
          </a:prstGeom>
          <a:noFill/>
        </p:spPr>
        <p:txBody>
          <a:bodyPr wrap="none" lIns="0" rIns="0" tIns="0" bIns="0">
            <a:spAutoFit/>
          </a:bodyPr>
          <a:lstStyle/>
          <a:p>
            <a:r>
              <a:rPr sz="1150" b="0">
                <a:solidFill>
                  <a:srgbClr val="2E2E2E"/>
                </a:solidFill>
                <a:latin typeface="Calibri"/>
              </a:rPr>
              <a:t>In terms of value share by end user, the others segment is expected to dominate the market, gaining</a:t>
            </a:r>
          </a:p>
        </p:txBody>
      </p:sp>
      <p:pic>
        <p:nvPicPr>
          <p:cNvPr id="27" name="Picture 26" descr="lock.png"/>
          <p:cNvPicPr>
            <a:picLocks noChangeAspect="1"/>
          </p:cNvPicPr>
          <p:nvPr/>
        </p:nvPicPr>
        <p:blipFill>
          <a:blip r:embed="rId4"/>
          <a:stretch>
            <a:fillRect/>
          </a:stretch>
        </p:blipFill>
        <p:spPr>
          <a:xfrm>
            <a:off x="6275651" y="5107749"/>
            <a:ext cx="134549" cy="195707"/>
          </a:xfrm>
          <a:prstGeom prst="rect">
            <a:avLst/>
          </a:prstGeom>
        </p:spPr>
      </p:pic>
      <p:sp>
        <p:nvSpPr>
          <p:cNvPr id="28" name="TextBox 27"/>
          <p:cNvSpPr txBox="1"/>
          <p:nvPr/>
        </p:nvSpPr>
        <p:spPr>
          <a:xfrm>
            <a:off x="6450760" y="51179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845903" y="5107749"/>
            <a:ext cx="134549" cy="195707"/>
          </a:xfrm>
          <a:prstGeom prst="rect">
            <a:avLst/>
          </a:prstGeom>
        </p:spPr>
      </p:pic>
      <p:sp>
        <p:nvSpPr>
          <p:cNvPr id="30" name="TextBox 29"/>
          <p:cNvSpPr txBox="1"/>
          <p:nvPr/>
        </p:nvSpPr>
        <p:spPr>
          <a:xfrm>
            <a:off x="8021013" y="5117972"/>
            <a:ext cx="3514650" cy="194310"/>
          </a:xfrm>
          <a:prstGeom prst="rect">
            <a:avLst/>
          </a:prstGeom>
          <a:noFill/>
        </p:spPr>
        <p:txBody>
          <a:bodyPr wrap="none" lIns="0" rIns="0" tIns="0" bIns="0">
            <a:spAutoFit/>
          </a:bodyPr>
          <a:lstStyle/>
          <a:p>
            <a:r>
              <a:rPr sz="1150" b="0">
                <a:solidFill>
                  <a:srgbClr val="2E2E2E"/>
                </a:solidFill>
                <a:latin typeface="Calibri"/>
              </a:rPr>
              <a:t>share by 2036. The ENT specialists segment is expected to</a:t>
            </a:r>
          </a:p>
        </p:txBody>
      </p:sp>
      <p:sp>
        <p:nvSpPr>
          <p:cNvPr id="31" name="TextBox 30"/>
          <p:cNvSpPr txBox="1"/>
          <p:nvPr/>
        </p:nvSpPr>
        <p:spPr>
          <a:xfrm>
            <a:off x="276225" y="5293232"/>
            <a:ext cx="316669" cy="194310"/>
          </a:xfrm>
          <a:prstGeom prst="rect">
            <a:avLst/>
          </a:prstGeom>
          <a:noFill/>
        </p:spPr>
        <p:txBody>
          <a:bodyPr wrap="none" lIns="0" rIns="0" tIns="0" bIns="0">
            <a:spAutoFit/>
          </a:bodyPr>
          <a:lstStyle/>
          <a:p>
            <a:r>
              <a:rPr sz="1150" b="0">
                <a:solidFill>
                  <a:srgbClr val="2E2E2E"/>
                </a:solidFill>
                <a:latin typeface="Calibri"/>
              </a:rPr>
              <a:t>lose</a:t>
            </a:r>
          </a:p>
        </p:txBody>
      </p:sp>
      <p:pic>
        <p:nvPicPr>
          <p:cNvPr id="32" name="Picture 31" descr="lock.png"/>
          <p:cNvPicPr>
            <a:picLocks noChangeAspect="1"/>
          </p:cNvPicPr>
          <p:nvPr/>
        </p:nvPicPr>
        <p:blipFill>
          <a:blip r:embed="rId4"/>
          <a:stretch>
            <a:fillRect/>
          </a:stretch>
        </p:blipFill>
        <p:spPr>
          <a:xfrm>
            <a:off x="542047" y="5283009"/>
            <a:ext cx="134549" cy="195707"/>
          </a:xfrm>
          <a:prstGeom prst="rect">
            <a:avLst/>
          </a:prstGeom>
        </p:spPr>
      </p:pic>
      <p:sp>
        <p:nvSpPr>
          <p:cNvPr id="33" name="TextBox 32"/>
          <p:cNvSpPr txBox="1"/>
          <p:nvPr/>
        </p:nvSpPr>
        <p:spPr>
          <a:xfrm>
            <a:off x="717157" y="52932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3304661" y="5283009"/>
            <a:ext cx="134549" cy="195707"/>
          </a:xfrm>
          <a:prstGeom prst="rect">
            <a:avLst/>
          </a:prstGeom>
        </p:spPr>
      </p:pic>
      <p:sp>
        <p:nvSpPr>
          <p:cNvPr id="35" name="TextBox 34"/>
          <p:cNvSpPr txBox="1"/>
          <p:nvPr/>
        </p:nvSpPr>
        <p:spPr>
          <a:xfrm>
            <a:off x="3479771" y="52932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End User</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End User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End User ·  2021 / 2026 / 2036 (US$ Mn)  ·  right axis = BPS share shift</a:t>
            </a:r>
          </a:p>
        </p:txBody>
      </p:sp>
      <p:graphicFrame>
        <p:nvGraphicFramePr>
          <p:cNvPr id="12" name="Chart 11"/>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3932301"/>
            <a:ext cx="38100" cy="38100"/>
          </a:xfrm>
          <a:prstGeom prst="rect">
            <a:avLst/>
          </a:prstGeom>
          <a:noFill/>
        </p:spPr>
        <p:txBody>
          <a:bodyPr wrap="none">
            <a:spAutoFit/>
          </a:bodyPr>
          <a:lstStyle/>
          <a:p/>
        </p:txBody>
      </p:sp>
      <p:sp>
        <p:nvSpPr>
          <p:cNvPr id="15" name="FMI Legend Chip"/>
          <p:cNvSpPr/>
          <p:nvPr/>
        </p:nvSpPr>
        <p:spPr>
          <a:xfrm>
            <a:off x="4928997" y="1553036"/>
            <a:ext cx="85725" cy="85725"/>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54827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47207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Assisted Living Facilities</a:t>
            </a:r>
          </a:p>
        </p:txBody>
      </p:sp>
      <p:sp>
        <p:nvSpPr>
          <p:cNvPr id="18" name="BPS Value 1"/>
          <p:cNvSpPr txBox="1"/>
          <p:nvPr/>
        </p:nvSpPr>
        <p:spPr>
          <a:xfrm>
            <a:off x="6896100" y="153398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1783159"/>
            <a:ext cx="85725" cy="8572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177839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170219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Nursing Homes</a:t>
            </a:r>
          </a:p>
        </p:txBody>
      </p:sp>
      <p:sp>
        <p:nvSpPr>
          <p:cNvPr id="22" name="BPS Value 2"/>
          <p:cNvSpPr txBox="1"/>
          <p:nvPr/>
        </p:nvSpPr>
        <p:spPr>
          <a:xfrm>
            <a:off x="6896100" y="176410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2199920"/>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219515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11895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Hospitals and Clinics</a:t>
            </a:r>
          </a:p>
        </p:txBody>
      </p:sp>
      <p:sp>
        <p:nvSpPr>
          <p:cNvPr id="26" name="BPS Value 3"/>
          <p:cNvSpPr txBox="1"/>
          <p:nvPr/>
        </p:nvSpPr>
        <p:spPr>
          <a:xfrm>
            <a:off x="6896100" y="218087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2689449"/>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268468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260848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Individual consumers</a:t>
            </a:r>
          </a:p>
        </p:txBody>
      </p:sp>
      <p:sp>
        <p:nvSpPr>
          <p:cNvPr id="30" name="BPS Value 4"/>
          <p:cNvSpPr txBox="1"/>
          <p:nvPr/>
        </p:nvSpPr>
        <p:spPr>
          <a:xfrm>
            <a:off x="6896100" y="267039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928997" y="3218710"/>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5090922" y="321394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313774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Healthcare professionals</a:t>
            </a:r>
          </a:p>
        </p:txBody>
      </p:sp>
      <p:sp>
        <p:nvSpPr>
          <p:cNvPr id="34" name="BPS Value 5"/>
          <p:cNvSpPr txBox="1"/>
          <p:nvPr/>
        </p:nvSpPr>
        <p:spPr>
          <a:xfrm>
            <a:off x="6896100" y="319966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FMI Legend Chip"/>
          <p:cNvSpPr/>
          <p:nvPr/>
        </p:nvSpPr>
        <p:spPr>
          <a:xfrm>
            <a:off x="4928997" y="3786546"/>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rot="10800000">
            <a:off x="5090922" y="378178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370558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ENT specialists</a:t>
            </a:r>
          </a:p>
        </p:txBody>
      </p:sp>
      <p:sp>
        <p:nvSpPr>
          <p:cNvPr id="38" name="BPS Value 6"/>
          <p:cNvSpPr txBox="1"/>
          <p:nvPr/>
        </p:nvSpPr>
        <p:spPr>
          <a:xfrm>
            <a:off x="6896100" y="376749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9" name="FMI Legend Chip"/>
          <p:cNvSpPr/>
          <p:nvPr/>
        </p:nvSpPr>
        <p:spPr>
          <a:xfrm>
            <a:off x="4928997" y="4387099"/>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sosceles Triangle 39"/>
          <p:cNvSpPr/>
          <p:nvPr/>
        </p:nvSpPr>
        <p:spPr>
          <a:xfrm rot="10800000">
            <a:off x="5090922" y="438233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PS Name 7"/>
          <p:cNvSpPr txBox="1"/>
          <p:nvPr/>
        </p:nvSpPr>
        <p:spPr>
          <a:xfrm>
            <a:off x="5233797" y="430613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General practitioners</a:t>
            </a:r>
          </a:p>
        </p:txBody>
      </p:sp>
      <p:sp>
        <p:nvSpPr>
          <p:cNvPr id="42" name="BPS Value 7"/>
          <p:cNvSpPr txBox="1"/>
          <p:nvPr/>
        </p:nvSpPr>
        <p:spPr>
          <a:xfrm>
            <a:off x="6896100" y="436804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3" name="FMI Legend Chip"/>
          <p:cNvSpPr/>
          <p:nvPr/>
        </p:nvSpPr>
        <p:spPr>
          <a:xfrm>
            <a:off x="4928997" y="5061701"/>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Isosceles Triangle 43"/>
          <p:cNvSpPr/>
          <p:nvPr/>
        </p:nvSpPr>
        <p:spPr>
          <a:xfrm rot="10800000">
            <a:off x="5090922" y="505693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PS Name 8"/>
          <p:cNvSpPr txBox="1"/>
          <p:nvPr/>
        </p:nvSpPr>
        <p:spPr>
          <a:xfrm>
            <a:off x="5233797" y="498073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Audiologists</a:t>
            </a:r>
          </a:p>
        </p:txBody>
      </p:sp>
      <p:sp>
        <p:nvSpPr>
          <p:cNvPr id="46" name="BPS Value 8"/>
          <p:cNvSpPr txBox="1"/>
          <p:nvPr/>
        </p:nvSpPr>
        <p:spPr>
          <a:xfrm>
            <a:off x="6896100" y="504265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7" name="FMI Legend Chip"/>
          <p:cNvSpPr/>
          <p:nvPr/>
        </p:nvSpPr>
        <p:spPr>
          <a:xfrm>
            <a:off x="4928997" y="5837241"/>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Isosceles Triangle 47"/>
          <p:cNvSpPr/>
          <p:nvPr/>
        </p:nvSpPr>
        <p:spPr>
          <a:xfrm>
            <a:off x="5090922" y="583247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PS Name 9"/>
          <p:cNvSpPr txBox="1"/>
          <p:nvPr/>
        </p:nvSpPr>
        <p:spPr>
          <a:xfrm>
            <a:off x="5233797" y="575627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Others</a:t>
            </a:r>
          </a:p>
        </p:txBody>
      </p:sp>
      <p:sp>
        <p:nvSpPr>
          <p:cNvPr id="50" name="BPS Value 9"/>
          <p:cNvSpPr txBox="1"/>
          <p:nvPr/>
        </p:nvSpPr>
        <p:spPr>
          <a:xfrm>
            <a:off x="6896100" y="581819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51" name="Rounded Rectangle 5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End User</a:t>
            </a:r>
          </a:p>
        </p:txBody>
      </p:sp>
      <p:sp>
        <p:nvSpPr>
          <p:cNvPr id="53" name="Rectangle 5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5" name="TextBox 5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6" name="Picture 55" descr="lock.png"/>
          <p:cNvPicPr>
            <a:picLocks noChangeAspect="1"/>
          </p:cNvPicPr>
          <p:nvPr/>
        </p:nvPicPr>
        <p:blipFill>
          <a:blip r:embed="rId5"/>
          <a:stretch>
            <a:fillRect/>
          </a:stretch>
        </p:blipFill>
        <p:spPr>
          <a:xfrm>
            <a:off x="2557843" y="3751325"/>
            <a:ext cx="275034" cy="400050"/>
          </a:xfrm>
          <a:prstGeom prst="rect">
            <a:avLst/>
          </a:prstGeom>
        </p:spPr>
      </p:pic>
      <p:sp>
        <p:nvSpPr>
          <p:cNvPr id="57" name="TextBox 56"/>
          <p:cNvSpPr txBox="1"/>
          <p:nvPr/>
        </p:nvSpPr>
        <p:spPr>
          <a:xfrm>
            <a:off x="7829550" y="1400175"/>
            <a:ext cx="4051213" cy="194310"/>
          </a:xfrm>
          <a:prstGeom prst="rect">
            <a:avLst/>
          </a:prstGeom>
          <a:noFill/>
        </p:spPr>
        <p:txBody>
          <a:bodyPr wrap="none" lIns="0" rIns="0" tIns="0" bIns="0">
            <a:spAutoFit/>
          </a:bodyPr>
          <a:lstStyle/>
          <a:p>
            <a:r>
              <a:rPr sz="1150" b="0">
                <a:solidFill>
                  <a:srgbClr val="2E2E2E"/>
                </a:solidFill>
                <a:latin typeface="Calibri"/>
              </a:rPr>
              <a:t>Among ear wax removal products by end user, hospitals and clinics</a:t>
            </a:r>
          </a:p>
        </p:txBody>
      </p:sp>
      <p:sp>
        <p:nvSpPr>
          <p:cNvPr id="58" name="TextBox 57"/>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59" name="Picture 58" descr="lock.png"/>
          <p:cNvPicPr>
            <a:picLocks noChangeAspect="1"/>
          </p:cNvPicPr>
          <p:nvPr/>
        </p:nvPicPr>
        <p:blipFill>
          <a:blip r:embed="rId5"/>
          <a:stretch>
            <a:fillRect/>
          </a:stretch>
        </p:blipFill>
        <p:spPr>
          <a:xfrm>
            <a:off x="10935343" y="1565211"/>
            <a:ext cx="134549" cy="195707"/>
          </a:xfrm>
          <a:prstGeom prst="rect">
            <a:avLst/>
          </a:prstGeom>
        </p:spPr>
      </p:pic>
      <p:sp>
        <p:nvSpPr>
          <p:cNvPr id="60" name="TextBox 59"/>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61" name="TextBox 60"/>
          <p:cNvSpPr txBox="1"/>
          <p:nvPr/>
        </p:nvSpPr>
        <p:spPr>
          <a:xfrm>
            <a:off x="7829550" y="1750695"/>
            <a:ext cx="3821583" cy="194310"/>
          </a:xfrm>
          <a:prstGeom prst="rect">
            <a:avLst/>
          </a:prstGeom>
          <a:noFill/>
        </p:spPr>
        <p:txBody>
          <a:bodyPr wrap="none" lIns="0" rIns="0" tIns="0" bIns="0">
            <a:spAutoFit/>
          </a:bodyPr>
          <a:lstStyle/>
          <a:p>
            <a:r>
              <a:rPr sz="1150" b="0">
                <a:solidFill>
                  <a:srgbClr val="2E2E2E"/>
                </a:solidFill>
                <a:latin typeface="Calibri"/>
              </a:rPr>
              <a:t>forecast period. In terms of value share by end user, the others</a:t>
            </a:r>
          </a:p>
        </p:txBody>
      </p:sp>
      <p:sp>
        <p:nvSpPr>
          <p:cNvPr id="62" name="TextBox 61"/>
          <p:cNvSpPr txBox="1"/>
          <p:nvPr/>
        </p:nvSpPr>
        <p:spPr>
          <a:xfrm>
            <a:off x="7829550" y="1925955"/>
            <a:ext cx="3245941" cy="194310"/>
          </a:xfrm>
          <a:prstGeom prst="rect">
            <a:avLst/>
          </a:prstGeom>
          <a:noFill/>
        </p:spPr>
        <p:txBody>
          <a:bodyPr wrap="none" lIns="0" rIns="0" tIns="0" bIns="0">
            <a:spAutoFit/>
          </a:bodyPr>
          <a:lstStyle/>
          <a:p>
            <a:r>
              <a:rPr sz="1150" b="0">
                <a:solidFill>
                  <a:srgbClr val="2E2E2E"/>
                </a:solidFill>
                <a:latin typeface="Calibri"/>
              </a:rPr>
              <a:t>segment is expected to dominate the market, gaining</a:t>
            </a:r>
          </a:p>
        </p:txBody>
      </p:sp>
      <p:pic>
        <p:nvPicPr>
          <p:cNvPr id="63" name="Picture 62" descr="lock.png"/>
          <p:cNvPicPr>
            <a:picLocks noChangeAspect="1"/>
          </p:cNvPicPr>
          <p:nvPr/>
        </p:nvPicPr>
        <p:blipFill>
          <a:blip r:embed="rId5"/>
          <a:stretch>
            <a:fillRect/>
          </a:stretch>
        </p:blipFill>
        <p:spPr>
          <a:xfrm>
            <a:off x="11024645" y="1915731"/>
            <a:ext cx="134549" cy="195707"/>
          </a:xfrm>
          <a:prstGeom prst="rect">
            <a:avLst/>
          </a:prstGeom>
        </p:spPr>
      </p:pic>
      <p:sp>
        <p:nvSpPr>
          <p:cNvPr id="64" name="TextBox 63"/>
          <p:cNvSpPr txBox="1"/>
          <p:nvPr/>
        </p:nvSpPr>
        <p:spPr>
          <a:xfrm>
            <a:off x="11199754" y="1925955"/>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65" name="TextBox 64"/>
          <p:cNvSpPr txBox="1"/>
          <p:nvPr/>
        </p:nvSpPr>
        <p:spPr>
          <a:xfrm>
            <a:off x="7829550" y="2101215"/>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66" name="Picture 65" descr="lock.png"/>
          <p:cNvPicPr>
            <a:picLocks noChangeAspect="1"/>
          </p:cNvPicPr>
          <p:nvPr/>
        </p:nvPicPr>
        <p:blipFill>
          <a:blip r:embed="rId5"/>
          <a:stretch>
            <a:fillRect/>
          </a:stretch>
        </p:blipFill>
        <p:spPr>
          <a:xfrm>
            <a:off x="8712947" y="2090991"/>
            <a:ext cx="134549" cy="195707"/>
          </a:xfrm>
          <a:prstGeom prst="rect">
            <a:avLst/>
          </a:prstGeom>
        </p:spPr>
      </p:pic>
      <p:sp>
        <p:nvSpPr>
          <p:cNvPr id="67" name="TextBox 66"/>
          <p:cNvSpPr txBox="1"/>
          <p:nvPr/>
        </p:nvSpPr>
        <p:spPr>
          <a:xfrm>
            <a:off x="8888056"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8" name="TextBox 67"/>
          <p:cNvSpPr txBox="1"/>
          <p:nvPr/>
        </p:nvSpPr>
        <p:spPr>
          <a:xfrm>
            <a:off x="7829550" y="2329053"/>
            <a:ext cx="2885095" cy="194310"/>
          </a:xfrm>
          <a:prstGeom prst="rect">
            <a:avLst/>
          </a:prstGeom>
          <a:noFill/>
        </p:spPr>
        <p:txBody>
          <a:bodyPr wrap="none" lIns="0" rIns="0" tIns="0" bIns="0">
            <a:spAutoFit/>
          </a:bodyPr>
          <a:lstStyle/>
          <a:p>
            <a:r>
              <a:rPr sz="1150" b="0">
                <a:solidFill>
                  <a:srgbClr val="2E2E2E"/>
                </a:solidFill>
                <a:latin typeface="Calibri"/>
              </a:rPr>
              <a:t>The ENT specialists segment is expected to lose</a:t>
            </a:r>
          </a:p>
        </p:txBody>
      </p:sp>
      <p:pic>
        <p:nvPicPr>
          <p:cNvPr id="69" name="Picture 68" descr="lock.png"/>
          <p:cNvPicPr>
            <a:picLocks noChangeAspect="1"/>
          </p:cNvPicPr>
          <p:nvPr/>
        </p:nvPicPr>
        <p:blipFill>
          <a:blip r:embed="rId5"/>
          <a:stretch>
            <a:fillRect/>
          </a:stretch>
        </p:blipFill>
        <p:spPr>
          <a:xfrm>
            <a:off x="10663799" y="2318829"/>
            <a:ext cx="134549" cy="195707"/>
          </a:xfrm>
          <a:prstGeom prst="rect">
            <a:avLst/>
          </a:prstGeom>
        </p:spPr>
      </p:pic>
      <p:sp>
        <p:nvSpPr>
          <p:cNvPr id="70" name="TextBox 69"/>
          <p:cNvSpPr txBox="1"/>
          <p:nvPr/>
        </p:nvSpPr>
        <p:spPr>
          <a:xfrm>
            <a:off x="10838908"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71" name="TextBox 70"/>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72" name="Picture 71" descr="lock.png"/>
          <p:cNvPicPr>
            <a:picLocks noChangeAspect="1"/>
          </p:cNvPicPr>
          <p:nvPr/>
        </p:nvPicPr>
        <p:blipFill>
          <a:blip r:embed="rId5"/>
          <a:stretch>
            <a:fillRect/>
          </a:stretch>
        </p:blipFill>
        <p:spPr>
          <a:xfrm>
            <a:off x="9630324" y="2494089"/>
            <a:ext cx="134549" cy="195707"/>
          </a:xfrm>
          <a:prstGeom prst="rect">
            <a:avLst/>
          </a:prstGeom>
        </p:spPr>
      </p:pic>
      <p:sp>
        <p:nvSpPr>
          <p:cNvPr id="73" name="TextBox 72"/>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74" name="lockshield_12"/>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Sales Channel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Channel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Sales Channel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5 sub-segments of Sales Channel,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Sales Channel segment categorizes the market by sales channel.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Online Channels</a:t>
            </a:r>
          </a:p>
        </p:txBody>
      </p:sp>
      <p:sp>
        <p:nvSpPr>
          <p:cNvPr id="22" name="Rectangle 21"/>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Retail Pharmacies and Drug Stores</a:t>
            </a:r>
          </a:p>
        </p:txBody>
      </p:sp>
      <p:sp>
        <p:nvSpPr>
          <p:cNvPr id="29" name="Rectangle 28"/>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Medical Distributors and Institut…</a:t>
            </a:r>
          </a:p>
        </p:txBody>
      </p:sp>
      <p:sp>
        <p:nvSpPr>
          <p:cNvPr id="36" name="Rectangle 35"/>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Offline Channels</a:t>
            </a:r>
          </a:p>
        </p:txBody>
      </p:sp>
      <p:sp>
        <p:nvSpPr>
          <p:cNvPr id="43" name="Rectangle 42"/>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Supermarkets and Mass Retailers</a:t>
            </a:r>
          </a:p>
        </p:txBody>
      </p:sp>
      <p:sp>
        <p:nvSpPr>
          <p:cNvPr id="50" name="Rectangle 49"/>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6" name="Rectangle 55"/>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8" name="Rounded Rectangle 5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0" name="Rectangle 59"/>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62" name="Rounded Rectangle 6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4" name="Rectangle 63"/>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Sales Channel split shows how demand is distributed across sales channel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6" name="Rectangle 6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8" name="TextBox 6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9" name="TextBox 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0" name="Picture 69" descr="611_0_605E5C.png"/>
          <p:cNvPicPr>
            <a:picLocks noChangeAspect="1"/>
          </p:cNvPicPr>
          <p:nvPr/>
        </p:nvPicPr>
        <p:blipFill>
          <a:blip r:embed="rId4"/>
          <a:stretch>
            <a:fillRect/>
          </a:stretch>
        </p:blipFill>
        <p:spPr>
          <a:xfrm>
            <a:off x="2223441" y="2286582"/>
            <a:ext cx="1195728" cy="361950"/>
          </a:xfrm>
          <a:prstGeom prst="rect">
            <a:avLst/>
          </a:prstGeom>
        </p:spPr>
      </p:pic>
      <p:pic>
        <p:nvPicPr>
          <p:cNvPr id="71" name="Picture 70" descr="1_008_605E5C.png"/>
          <p:cNvPicPr>
            <a:picLocks noChangeAspect="1"/>
          </p:cNvPicPr>
          <p:nvPr/>
        </p:nvPicPr>
        <p:blipFill>
          <a:blip r:embed="rId5"/>
          <a:stretch>
            <a:fillRect/>
          </a:stretch>
        </p:blipFill>
        <p:spPr>
          <a:xfrm>
            <a:off x="2223441" y="2779432"/>
            <a:ext cx="1195728" cy="361950"/>
          </a:xfrm>
          <a:prstGeom prst="rect">
            <a:avLst/>
          </a:prstGeom>
        </p:spPr>
      </p:pic>
      <p:pic>
        <p:nvPicPr>
          <p:cNvPr id="72" name="Picture 71" descr="5_1__605E5C.png"/>
          <p:cNvPicPr>
            <a:picLocks noChangeAspect="1"/>
          </p:cNvPicPr>
          <p:nvPr/>
        </p:nvPicPr>
        <p:blipFill>
          <a:blip r:embed="rId6"/>
          <a:stretch>
            <a:fillRect/>
          </a:stretch>
        </p:blipFill>
        <p:spPr>
          <a:xfrm>
            <a:off x="2330087" y="3272281"/>
            <a:ext cx="982436" cy="361950"/>
          </a:xfrm>
          <a:prstGeom prst="rect">
            <a:avLst/>
          </a:prstGeom>
        </p:spPr>
      </p:pic>
      <p:pic>
        <p:nvPicPr>
          <p:cNvPr id="73" name="Picture 72" descr="472_3_605E5C.png"/>
          <p:cNvPicPr>
            <a:picLocks noChangeAspect="1"/>
          </p:cNvPicPr>
          <p:nvPr/>
        </p:nvPicPr>
        <p:blipFill>
          <a:blip r:embed="rId7"/>
          <a:stretch>
            <a:fillRect/>
          </a:stretch>
        </p:blipFill>
        <p:spPr>
          <a:xfrm>
            <a:off x="4246551" y="2286582"/>
            <a:ext cx="1195728" cy="361950"/>
          </a:xfrm>
          <a:prstGeom prst="rect">
            <a:avLst/>
          </a:prstGeom>
        </p:spPr>
      </p:pic>
      <p:pic>
        <p:nvPicPr>
          <p:cNvPr id="74" name="Picture 73" descr="794_3_605E5C.png"/>
          <p:cNvPicPr>
            <a:picLocks noChangeAspect="1"/>
          </p:cNvPicPr>
          <p:nvPr/>
        </p:nvPicPr>
        <p:blipFill>
          <a:blip r:embed="rId8"/>
          <a:stretch>
            <a:fillRect/>
          </a:stretch>
        </p:blipFill>
        <p:spPr>
          <a:xfrm>
            <a:off x="4246551" y="2779432"/>
            <a:ext cx="1195728" cy="361950"/>
          </a:xfrm>
          <a:prstGeom prst="rect">
            <a:avLst/>
          </a:prstGeom>
        </p:spPr>
      </p:pic>
      <p:pic>
        <p:nvPicPr>
          <p:cNvPr id="75" name="Picture 74" descr="5_3__605E5C.png"/>
          <p:cNvPicPr>
            <a:picLocks noChangeAspect="1"/>
          </p:cNvPicPr>
          <p:nvPr/>
        </p:nvPicPr>
        <p:blipFill>
          <a:blip r:embed="rId9"/>
          <a:stretch>
            <a:fillRect/>
          </a:stretch>
        </p:blipFill>
        <p:spPr>
          <a:xfrm>
            <a:off x="4353197" y="3272281"/>
            <a:ext cx="982436" cy="361950"/>
          </a:xfrm>
          <a:prstGeom prst="rect">
            <a:avLst/>
          </a:prstGeom>
        </p:spPr>
      </p:pic>
      <p:pic>
        <p:nvPicPr>
          <p:cNvPr id="76" name="Picture 75" descr="437_8_605E5C.png"/>
          <p:cNvPicPr>
            <a:picLocks noChangeAspect="1"/>
          </p:cNvPicPr>
          <p:nvPr/>
        </p:nvPicPr>
        <p:blipFill>
          <a:blip r:embed="rId10"/>
          <a:stretch>
            <a:fillRect/>
          </a:stretch>
        </p:blipFill>
        <p:spPr>
          <a:xfrm>
            <a:off x="6269661" y="2286582"/>
            <a:ext cx="1195728" cy="361950"/>
          </a:xfrm>
          <a:prstGeom prst="rect">
            <a:avLst/>
          </a:prstGeom>
        </p:spPr>
      </p:pic>
      <p:pic>
        <p:nvPicPr>
          <p:cNvPr id="77" name="Picture 76" descr="612_1_605E5C.png"/>
          <p:cNvPicPr>
            <a:picLocks noChangeAspect="1"/>
          </p:cNvPicPr>
          <p:nvPr/>
        </p:nvPicPr>
        <p:blipFill>
          <a:blip r:embed="rId11"/>
          <a:stretch>
            <a:fillRect/>
          </a:stretch>
        </p:blipFill>
        <p:spPr>
          <a:xfrm>
            <a:off x="6269661" y="2779432"/>
            <a:ext cx="1195728" cy="361950"/>
          </a:xfrm>
          <a:prstGeom prst="rect">
            <a:avLst/>
          </a:prstGeom>
        </p:spPr>
      </p:pic>
      <p:pic>
        <p:nvPicPr>
          <p:cNvPr id="78" name="Picture 77" descr="3_4__605E5C.png"/>
          <p:cNvPicPr>
            <a:picLocks noChangeAspect="1"/>
          </p:cNvPicPr>
          <p:nvPr/>
        </p:nvPicPr>
        <p:blipFill>
          <a:blip r:embed="rId12"/>
          <a:stretch>
            <a:fillRect/>
          </a:stretch>
        </p:blipFill>
        <p:spPr>
          <a:xfrm>
            <a:off x="6376307" y="3272281"/>
            <a:ext cx="982436" cy="361950"/>
          </a:xfrm>
          <a:prstGeom prst="rect">
            <a:avLst/>
          </a:prstGeom>
        </p:spPr>
      </p:pic>
      <p:pic>
        <p:nvPicPr>
          <p:cNvPr id="79" name="Picture 78" descr="392_1_605E5C.png"/>
          <p:cNvPicPr>
            <a:picLocks noChangeAspect="1"/>
          </p:cNvPicPr>
          <p:nvPr/>
        </p:nvPicPr>
        <p:blipFill>
          <a:blip r:embed="rId13"/>
          <a:stretch>
            <a:fillRect/>
          </a:stretch>
        </p:blipFill>
        <p:spPr>
          <a:xfrm>
            <a:off x="8292771" y="2286582"/>
            <a:ext cx="1195728" cy="361950"/>
          </a:xfrm>
          <a:prstGeom prst="rect">
            <a:avLst/>
          </a:prstGeom>
        </p:spPr>
      </p:pic>
      <p:pic>
        <p:nvPicPr>
          <p:cNvPr id="80" name="Picture 79" descr="810_4_605E5C.png"/>
          <p:cNvPicPr>
            <a:picLocks noChangeAspect="1"/>
          </p:cNvPicPr>
          <p:nvPr/>
        </p:nvPicPr>
        <p:blipFill>
          <a:blip r:embed="rId14"/>
          <a:stretch>
            <a:fillRect/>
          </a:stretch>
        </p:blipFill>
        <p:spPr>
          <a:xfrm>
            <a:off x="8292771" y="2779432"/>
            <a:ext cx="1195728" cy="361950"/>
          </a:xfrm>
          <a:prstGeom prst="rect">
            <a:avLst/>
          </a:prstGeom>
        </p:spPr>
      </p:pic>
      <p:pic>
        <p:nvPicPr>
          <p:cNvPr id="81" name="Picture 80" descr="7_5__605E5C.png"/>
          <p:cNvPicPr>
            <a:picLocks noChangeAspect="1"/>
          </p:cNvPicPr>
          <p:nvPr/>
        </p:nvPicPr>
        <p:blipFill>
          <a:blip r:embed="rId15"/>
          <a:stretch>
            <a:fillRect/>
          </a:stretch>
        </p:blipFill>
        <p:spPr>
          <a:xfrm>
            <a:off x="8399417" y="3272281"/>
            <a:ext cx="982436" cy="361950"/>
          </a:xfrm>
          <a:prstGeom prst="rect">
            <a:avLst/>
          </a:prstGeom>
        </p:spPr>
      </p:pic>
      <p:pic>
        <p:nvPicPr>
          <p:cNvPr id="82" name="Picture 81" descr="196_8_605E5C.png"/>
          <p:cNvPicPr>
            <a:picLocks noChangeAspect="1"/>
          </p:cNvPicPr>
          <p:nvPr/>
        </p:nvPicPr>
        <p:blipFill>
          <a:blip r:embed="rId16"/>
          <a:stretch>
            <a:fillRect/>
          </a:stretch>
        </p:blipFill>
        <p:spPr>
          <a:xfrm>
            <a:off x="10315881" y="2286582"/>
            <a:ext cx="1195728" cy="361950"/>
          </a:xfrm>
          <a:prstGeom prst="rect">
            <a:avLst/>
          </a:prstGeom>
        </p:spPr>
      </p:pic>
      <p:pic>
        <p:nvPicPr>
          <p:cNvPr id="83" name="Picture 82" descr="378_9_605E5C.png"/>
          <p:cNvPicPr>
            <a:picLocks noChangeAspect="1"/>
          </p:cNvPicPr>
          <p:nvPr/>
        </p:nvPicPr>
        <p:blipFill>
          <a:blip r:embed="rId17"/>
          <a:stretch>
            <a:fillRect/>
          </a:stretch>
        </p:blipFill>
        <p:spPr>
          <a:xfrm>
            <a:off x="10315881" y="2779432"/>
            <a:ext cx="1195728" cy="361950"/>
          </a:xfrm>
          <a:prstGeom prst="rect">
            <a:avLst/>
          </a:prstGeom>
        </p:spPr>
      </p:pic>
      <p:pic>
        <p:nvPicPr>
          <p:cNvPr id="84" name="Picture 83" descr="6_8__605E5C.png"/>
          <p:cNvPicPr>
            <a:picLocks noChangeAspect="1"/>
          </p:cNvPicPr>
          <p:nvPr/>
        </p:nvPicPr>
        <p:blipFill>
          <a:blip r:embed="rId18"/>
          <a:stretch>
            <a:fillRect/>
          </a:stretch>
        </p:blipFill>
        <p:spPr>
          <a:xfrm>
            <a:off x="10422527" y="3272281"/>
            <a:ext cx="982436" cy="361950"/>
          </a:xfrm>
          <a:prstGeom prst="rect">
            <a:avLst/>
          </a:prstGeom>
        </p:spPr>
      </p:pic>
      <p:pic>
        <p:nvPicPr>
          <p:cNvPr id="85" name="Picture 84" descr="lock.png"/>
          <p:cNvPicPr>
            <a:picLocks noChangeAspect="1"/>
          </p:cNvPicPr>
          <p:nvPr/>
        </p:nvPicPr>
        <p:blipFill>
          <a:blip r:embed="rId19"/>
          <a:stretch>
            <a:fillRect/>
          </a:stretch>
        </p:blipFill>
        <p:spPr>
          <a:xfrm>
            <a:off x="2727960" y="2827057"/>
            <a:ext cx="183356" cy="266700"/>
          </a:xfrm>
          <a:prstGeom prst="rect">
            <a:avLst/>
          </a:prstGeom>
        </p:spPr>
      </p:pic>
      <p:pic>
        <p:nvPicPr>
          <p:cNvPr id="86" name="Picture 85" descr="lock.png"/>
          <p:cNvPicPr>
            <a:picLocks noChangeAspect="1"/>
          </p:cNvPicPr>
          <p:nvPr/>
        </p:nvPicPr>
        <p:blipFill>
          <a:blip r:embed="rId19"/>
          <a:stretch>
            <a:fillRect/>
          </a:stretch>
        </p:blipFill>
        <p:spPr>
          <a:xfrm>
            <a:off x="4751070" y="2827057"/>
            <a:ext cx="183356" cy="266700"/>
          </a:xfrm>
          <a:prstGeom prst="rect">
            <a:avLst/>
          </a:prstGeom>
        </p:spPr>
      </p:pic>
      <p:pic>
        <p:nvPicPr>
          <p:cNvPr id="87" name="Picture 86" descr="lock.png"/>
          <p:cNvPicPr>
            <a:picLocks noChangeAspect="1"/>
          </p:cNvPicPr>
          <p:nvPr/>
        </p:nvPicPr>
        <p:blipFill>
          <a:blip r:embed="rId19"/>
          <a:stretch>
            <a:fillRect/>
          </a:stretch>
        </p:blipFill>
        <p:spPr>
          <a:xfrm>
            <a:off x="6774180" y="2827057"/>
            <a:ext cx="183356" cy="266700"/>
          </a:xfrm>
          <a:prstGeom prst="rect">
            <a:avLst/>
          </a:prstGeom>
        </p:spPr>
      </p:pic>
      <p:pic>
        <p:nvPicPr>
          <p:cNvPr id="88" name="Picture 87" descr="lock.png"/>
          <p:cNvPicPr>
            <a:picLocks noChangeAspect="1"/>
          </p:cNvPicPr>
          <p:nvPr/>
        </p:nvPicPr>
        <p:blipFill>
          <a:blip r:embed="rId19"/>
          <a:stretch>
            <a:fillRect/>
          </a:stretch>
        </p:blipFill>
        <p:spPr>
          <a:xfrm>
            <a:off x="8797290" y="2827057"/>
            <a:ext cx="183356" cy="266700"/>
          </a:xfrm>
          <a:prstGeom prst="rect">
            <a:avLst/>
          </a:prstGeom>
        </p:spPr>
      </p:pic>
      <p:pic>
        <p:nvPicPr>
          <p:cNvPr id="89" name="Picture 88" descr="lock.png"/>
          <p:cNvPicPr>
            <a:picLocks noChangeAspect="1"/>
          </p:cNvPicPr>
          <p:nvPr/>
        </p:nvPicPr>
        <p:blipFill>
          <a:blip r:embed="rId19"/>
          <a:stretch>
            <a:fillRect/>
          </a:stretch>
        </p:blipFill>
        <p:spPr>
          <a:xfrm>
            <a:off x="10820400" y="2827057"/>
            <a:ext cx="183356" cy="266700"/>
          </a:xfrm>
          <a:prstGeom prst="rect">
            <a:avLst/>
          </a:prstGeom>
        </p:spPr>
      </p:pic>
      <p:sp>
        <p:nvSpPr>
          <p:cNvPr id="90" name="TextBox 89"/>
          <p:cNvSpPr txBox="1"/>
          <p:nvPr/>
        </p:nvSpPr>
        <p:spPr>
          <a:xfrm>
            <a:off x="485775" y="4229437"/>
            <a:ext cx="2914650" cy="186689"/>
          </a:xfrm>
          <a:prstGeom prst="rect">
            <a:avLst/>
          </a:prstGeom>
          <a:noFill/>
        </p:spPr>
        <p:txBody>
          <a:bodyPr wrap="none" lIns="0" rIns="0" tIns="0" bIns="0">
            <a:spAutoFit/>
          </a:bodyPr>
          <a:lstStyle/>
          <a:p>
            <a:r>
              <a:rPr sz="1100" b="0">
                <a:solidFill>
                  <a:srgbClr val="2E2E2E"/>
                </a:solidFill>
                <a:latin typeface="Calibri"/>
              </a:rPr>
              <a:t>Among ear wax removal products by sales channel,</a:t>
            </a:r>
          </a:p>
        </p:txBody>
      </p:sp>
      <p:sp>
        <p:nvSpPr>
          <p:cNvPr id="91" name="TextBox 90"/>
          <p:cNvSpPr txBox="1"/>
          <p:nvPr/>
        </p:nvSpPr>
        <p:spPr>
          <a:xfrm>
            <a:off x="485775" y="4397077"/>
            <a:ext cx="2668289" cy="186689"/>
          </a:xfrm>
          <a:prstGeom prst="rect">
            <a:avLst/>
          </a:prstGeom>
          <a:noFill/>
        </p:spPr>
        <p:txBody>
          <a:bodyPr wrap="none" lIns="0" rIns="0" tIns="0" bIns="0">
            <a:spAutoFit/>
          </a:bodyPr>
          <a:lstStyle/>
          <a:p>
            <a:r>
              <a:rPr sz="1100" b="0">
                <a:solidFill>
                  <a:srgbClr val="2E2E2E"/>
                </a:solidFill>
                <a:latin typeface="Calibri"/>
              </a:rPr>
              <a:t>other offline channels segment is expected to</a:t>
            </a:r>
          </a:p>
        </p:txBody>
      </p:sp>
      <p:sp>
        <p:nvSpPr>
          <p:cNvPr id="92" name="TextBox 91"/>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93" name="Picture 92" descr="lock.png"/>
          <p:cNvPicPr>
            <a:picLocks noChangeAspect="1"/>
          </p:cNvPicPr>
          <p:nvPr/>
        </p:nvPicPr>
        <p:blipFill>
          <a:blip r:embed="rId19"/>
          <a:stretch>
            <a:fillRect/>
          </a:stretch>
        </p:blipFill>
        <p:spPr>
          <a:xfrm>
            <a:off x="2108919" y="4554938"/>
            <a:ext cx="128699" cy="187198"/>
          </a:xfrm>
          <a:prstGeom prst="rect">
            <a:avLst/>
          </a:prstGeom>
        </p:spPr>
      </p:pic>
      <p:sp>
        <p:nvSpPr>
          <p:cNvPr id="94" name="TextBox 93"/>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95" name="TextBox 94"/>
          <p:cNvSpPr txBox="1"/>
          <p:nvPr/>
        </p:nvSpPr>
        <p:spPr>
          <a:xfrm>
            <a:off x="485775" y="4732357"/>
            <a:ext cx="2807716" cy="186689"/>
          </a:xfrm>
          <a:prstGeom prst="rect">
            <a:avLst/>
          </a:prstGeom>
          <a:noFill/>
        </p:spPr>
        <p:txBody>
          <a:bodyPr wrap="none" lIns="0" rIns="0" tIns="0" bIns="0">
            <a:spAutoFit/>
          </a:bodyPr>
          <a:lstStyle/>
          <a:p>
            <a:r>
              <a:rPr sz="1100" b="0">
                <a:solidFill>
                  <a:srgbClr val="2E2E2E"/>
                </a:solidFill>
                <a:latin typeface="Calibri"/>
              </a:rPr>
              <a:t>period. In terms of value share by sales channel,</a:t>
            </a:r>
          </a:p>
        </p:txBody>
      </p:sp>
      <p:sp>
        <p:nvSpPr>
          <p:cNvPr id="96" name="TextBox 95"/>
          <p:cNvSpPr txBox="1"/>
          <p:nvPr/>
        </p:nvSpPr>
        <p:spPr>
          <a:xfrm>
            <a:off x="485775" y="4899997"/>
            <a:ext cx="2534046" cy="186689"/>
          </a:xfrm>
          <a:prstGeom prst="rect">
            <a:avLst/>
          </a:prstGeom>
          <a:noFill/>
        </p:spPr>
        <p:txBody>
          <a:bodyPr wrap="none" lIns="0" rIns="0" tIns="0" bIns="0">
            <a:spAutoFit/>
          </a:bodyPr>
          <a:lstStyle/>
          <a:p>
            <a:r>
              <a:rPr sz="1100" b="0">
                <a:solidFill>
                  <a:srgbClr val="2E2E2E"/>
                </a:solidFill>
                <a:latin typeface="Calibri"/>
              </a:rPr>
              <a:t>the online channels segment is expected to</a:t>
            </a:r>
          </a:p>
        </p:txBody>
      </p:sp>
      <p:sp>
        <p:nvSpPr>
          <p:cNvPr id="97" name="TextBox 96"/>
          <p:cNvSpPr txBox="1"/>
          <p:nvPr/>
        </p:nvSpPr>
        <p:spPr>
          <a:xfrm>
            <a:off x="485775" y="5067637"/>
            <a:ext cx="1682750" cy="186689"/>
          </a:xfrm>
          <a:prstGeom prst="rect">
            <a:avLst/>
          </a:prstGeom>
          <a:noFill/>
        </p:spPr>
        <p:txBody>
          <a:bodyPr wrap="none" lIns="0" rIns="0" tIns="0" bIns="0">
            <a:spAutoFit/>
          </a:bodyPr>
          <a:lstStyle/>
          <a:p>
            <a:r>
              <a:rPr sz="1100" b="0">
                <a:solidFill>
                  <a:srgbClr val="2E2E2E"/>
                </a:solidFill>
                <a:latin typeface="Calibri"/>
              </a:rPr>
              <a:t>dominate the market, losing</a:t>
            </a:r>
          </a:p>
        </p:txBody>
      </p:sp>
      <p:pic>
        <p:nvPicPr>
          <p:cNvPr id="98" name="Picture 97" descr="lock.png"/>
          <p:cNvPicPr>
            <a:picLocks noChangeAspect="1"/>
          </p:cNvPicPr>
          <p:nvPr/>
        </p:nvPicPr>
        <p:blipFill>
          <a:blip r:embed="rId19"/>
          <a:stretch>
            <a:fillRect/>
          </a:stretch>
        </p:blipFill>
        <p:spPr>
          <a:xfrm>
            <a:off x="2116576" y="5057858"/>
            <a:ext cx="128699" cy="187198"/>
          </a:xfrm>
          <a:prstGeom prst="rect">
            <a:avLst/>
          </a:prstGeom>
        </p:spPr>
      </p:pic>
      <p:sp>
        <p:nvSpPr>
          <p:cNvPr id="99" name="TextBox 98"/>
          <p:cNvSpPr txBox="1"/>
          <p:nvPr/>
        </p:nvSpPr>
        <p:spPr>
          <a:xfrm>
            <a:off x="2284072"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100" name="TextBox 99"/>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101" name="Picture 100" descr="lock.png"/>
          <p:cNvPicPr>
            <a:picLocks noChangeAspect="1"/>
          </p:cNvPicPr>
          <p:nvPr/>
        </p:nvPicPr>
        <p:blipFill>
          <a:blip r:embed="rId19"/>
          <a:stretch>
            <a:fillRect/>
          </a:stretch>
        </p:blipFill>
        <p:spPr>
          <a:xfrm>
            <a:off x="1330764" y="5225498"/>
            <a:ext cx="128699" cy="187198"/>
          </a:xfrm>
          <a:prstGeom prst="rect">
            <a:avLst/>
          </a:prstGeom>
        </p:spPr>
      </p:pic>
      <p:sp>
        <p:nvSpPr>
          <p:cNvPr id="102" name="TextBox 101"/>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03" name="TextBox 102"/>
          <p:cNvSpPr txBox="1"/>
          <p:nvPr/>
        </p:nvSpPr>
        <p:spPr>
          <a:xfrm>
            <a:off x="485775" y="5453209"/>
            <a:ext cx="2825179" cy="186689"/>
          </a:xfrm>
          <a:prstGeom prst="rect">
            <a:avLst/>
          </a:prstGeom>
          <a:noFill/>
        </p:spPr>
        <p:txBody>
          <a:bodyPr wrap="none" lIns="0" rIns="0" tIns="0" bIns="0">
            <a:spAutoFit/>
          </a:bodyPr>
          <a:lstStyle/>
          <a:p>
            <a:r>
              <a:rPr sz="1100" b="0">
                <a:solidFill>
                  <a:srgbClr val="2E2E2E"/>
                </a:solidFill>
                <a:latin typeface="Calibri"/>
              </a:rPr>
              <a:t>Online channels segment is projected to register</a:t>
            </a:r>
          </a:p>
        </p:txBody>
      </p:sp>
      <p:pic>
        <p:nvPicPr>
          <p:cNvPr id="104" name="Picture 103" descr="lock.png"/>
          <p:cNvPicPr>
            <a:picLocks noChangeAspect="1"/>
          </p:cNvPicPr>
          <p:nvPr/>
        </p:nvPicPr>
        <p:blipFill>
          <a:blip r:embed="rId19"/>
          <a:stretch>
            <a:fillRect/>
          </a:stretch>
        </p:blipFill>
        <p:spPr>
          <a:xfrm>
            <a:off x="472307" y="5611070"/>
            <a:ext cx="128699" cy="187198"/>
          </a:xfrm>
          <a:prstGeom prst="rect">
            <a:avLst/>
          </a:prstGeom>
        </p:spPr>
      </p:pic>
      <p:sp>
        <p:nvSpPr>
          <p:cNvPr id="105" name="TextBox 104"/>
          <p:cNvSpPr txBox="1"/>
          <p:nvPr/>
        </p:nvSpPr>
        <p:spPr>
          <a:xfrm>
            <a:off x="639803" y="5620849"/>
            <a:ext cx="2448644" cy="186689"/>
          </a:xfrm>
          <a:prstGeom prst="rect">
            <a:avLst/>
          </a:prstGeom>
          <a:noFill/>
        </p:spPr>
        <p:txBody>
          <a:bodyPr wrap="none" lIns="0" rIns="0" tIns="0" bIns="0">
            <a:spAutoFit/>
          </a:bodyPr>
          <a:lstStyle/>
          <a:p>
            <a:r>
              <a:rPr sz="1100" b="0">
                <a:solidFill>
                  <a:srgbClr val="2E2E2E"/>
                </a:solidFill>
                <a:latin typeface="Calibri"/>
              </a:rPr>
              <a:t>X higher value than other offline channels</a:t>
            </a:r>
          </a:p>
        </p:txBody>
      </p:sp>
      <p:sp>
        <p:nvSpPr>
          <p:cNvPr id="106" name="TextBox 105"/>
          <p:cNvSpPr txBox="1"/>
          <p:nvPr/>
        </p:nvSpPr>
        <p:spPr>
          <a:xfrm>
            <a:off x="485775" y="578848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107" name="TextBox 106"/>
          <p:cNvSpPr txBox="1"/>
          <p:nvPr/>
        </p:nvSpPr>
        <p:spPr>
          <a:xfrm>
            <a:off x="3838575" y="4229437"/>
            <a:ext cx="1152326" cy="186689"/>
          </a:xfrm>
          <a:prstGeom prst="rect">
            <a:avLst/>
          </a:prstGeom>
          <a:noFill/>
        </p:spPr>
        <p:txBody>
          <a:bodyPr wrap="none" lIns="0" rIns="0" tIns="0" bIns="0">
            <a:spAutoFit/>
          </a:bodyPr>
          <a:lstStyle/>
          <a:p>
            <a:r>
              <a:rPr sz="1100" b="0">
                <a:solidFill>
                  <a:srgbClr val="2E2E2E"/>
                </a:solidFill>
                <a:latin typeface="Calibri"/>
              </a:rPr>
              <a:t>● Online Channels:</a:t>
            </a:r>
          </a:p>
        </p:txBody>
      </p:sp>
      <p:pic>
        <p:nvPicPr>
          <p:cNvPr id="108" name="Picture 107" descr="lock.png"/>
          <p:cNvPicPr>
            <a:picLocks noChangeAspect="1"/>
          </p:cNvPicPr>
          <p:nvPr/>
        </p:nvPicPr>
        <p:blipFill>
          <a:blip r:embed="rId19"/>
          <a:stretch>
            <a:fillRect/>
          </a:stretch>
        </p:blipFill>
        <p:spPr>
          <a:xfrm>
            <a:off x="4938953" y="4219658"/>
            <a:ext cx="128699" cy="187198"/>
          </a:xfrm>
          <a:prstGeom prst="rect">
            <a:avLst/>
          </a:prstGeom>
        </p:spPr>
      </p:pic>
      <p:sp>
        <p:nvSpPr>
          <p:cNvPr id="109" name="TextBox 108"/>
          <p:cNvSpPr txBox="1"/>
          <p:nvPr/>
        </p:nvSpPr>
        <p:spPr>
          <a:xfrm>
            <a:off x="510644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0" name="Picture 109" descr="lock.png"/>
          <p:cNvPicPr>
            <a:picLocks noChangeAspect="1"/>
          </p:cNvPicPr>
          <p:nvPr/>
        </p:nvPicPr>
        <p:blipFill>
          <a:blip r:embed="rId19"/>
          <a:stretch>
            <a:fillRect/>
          </a:stretch>
        </p:blipFill>
        <p:spPr>
          <a:xfrm>
            <a:off x="5965899" y="4219658"/>
            <a:ext cx="128699" cy="187198"/>
          </a:xfrm>
          <a:prstGeom prst="rect">
            <a:avLst/>
          </a:prstGeom>
        </p:spPr>
      </p:pic>
      <p:sp>
        <p:nvSpPr>
          <p:cNvPr id="111" name="TextBox 110"/>
          <p:cNvSpPr txBox="1"/>
          <p:nvPr/>
        </p:nvSpPr>
        <p:spPr>
          <a:xfrm>
            <a:off x="6133395"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12" name="TextBox 111"/>
          <p:cNvSpPr txBox="1"/>
          <p:nvPr/>
        </p:nvSpPr>
        <p:spPr>
          <a:xfrm>
            <a:off x="3838575" y="4447369"/>
            <a:ext cx="2180431" cy="186689"/>
          </a:xfrm>
          <a:prstGeom prst="rect">
            <a:avLst/>
          </a:prstGeom>
          <a:noFill/>
        </p:spPr>
        <p:txBody>
          <a:bodyPr wrap="none" lIns="0" rIns="0" tIns="0" bIns="0">
            <a:spAutoFit/>
          </a:bodyPr>
          <a:lstStyle/>
          <a:p>
            <a:r>
              <a:rPr sz="1100" b="0">
                <a:solidFill>
                  <a:srgbClr val="2E2E2E"/>
                </a:solidFill>
                <a:latin typeface="Calibri"/>
              </a:rPr>
              <a:t>● Retail Pharmacies and Drug Stores:</a:t>
            </a:r>
          </a:p>
        </p:txBody>
      </p:sp>
      <p:pic>
        <p:nvPicPr>
          <p:cNvPr id="113" name="Picture 112" descr="lock.png"/>
          <p:cNvPicPr>
            <a:picLocks noChangeAspect="1"/>
          </p:cNvPicPr>
          <p:nvPr/>
        </p:nvPicPr>
        <p:blipFill>
          <a:blip r:embed="rId19"/>
          <a:stretch>
            <a:fillRect/>
          </a:stretch>
        </p:blipFill>
        <p:spPr>
          <a:xfrm>
            <a:off x="5967057" y="4437590"/>
            <a:ext cx="128699" cy="187198"/>
          </a:xfrm>
          <a:prstGeom prst="rect">
            <a:avLst/>
          </a:prstGeom>
        </p:spPr>
      </p:pic>
      <p:sp>
        <p:nvSpPr>
          <p:cNvPr id="114" name="TextBox 113"/>
          <p:cNvSpPr txBox="1"/>
          <p:nvPr/>
        </p:nvSpPr>
        <p:spPr>
          <a:xfrm>
            <a:off x="613455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5" name="Picture 114" descr="lock.png"/>
          <p:cNvPicPr>
            <a:picLocks noChangeAspect="1"/>
          </p:cNvPicPr>
          <p:nvPr/>
        </p:nvPicPr>
        <p:blipFill>
          <a:blip r:embed="rId19"/>
          <a:stretch>
            <a:fillRect/>
          </a:stretch>
        </p:blipFill>
        <p:spPr>
          <a:xfrm>
            <a:off x="6994003" y="4437590"/>
            <a:ext cx="128699" cy="187198"/>
          </a:xfrm>
          <a:prstGeom prst="rect">
            <a:avLst/>
          </a:prstGeom>
        </p:spPr>
      </p:pic>
      <p:sp>
        <p:nvSpPr>
          <p:cNvPr id="116" name="TextBox 115"/>
          <p:cNvSpPr txBox="1"/>
          <p:nvPr/>
        </p:nvSpPr>
        <p:spPr>
          <a:xfrm>
            <a:off x="7161499" y="4447369"/>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17" name="TextBox 116"/>
          <p:cNvSpPr txBox="1"/>
          <p:nvPr/>
        </p:nvSpPr>
        <p:spPr>
          <a:xfrm>
            <a:off x="3838575" y="4615009"/>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18" name="TextBox 117"/>
          <p:cNvSpPr txBox="1"/>
          <p:nvPr/>
        </p:nvSpPr>
        <p:spPr>
          <a:xfrm>
            <a:off x="3838575" y="4832941"/>
            <a:ext cx="3201441" cy="186689"/>
          </a:xfrm>
          <a:prstGeom prst="rect">
            <a:avLst/>
          </a:prstGeom>
          <a:noFill/>
        </p:spPr>
        <p:txBody>
          <a:bodyPr wrap="none" lIns="0" rIns="0" tIns="0" bIns="0">
            <a:spAutoFit/>
          </a:bodyPr>
          <a:lstStyle/>
          <a:p>
            <a:r>
              <a:rPr sz="1100" b="1">
                <a:solidFill>
                  <a:srgbClr val="008189"/>
                </a:solidFill>
                <a:latin typeface="Calibri"/>
              </a:rPr>
              <a:t>● Medical Distributors and Institutional Procurement:</a:t>
            </a:r>
          </a:p>
        </p:txBody>
      </p:sp>
      <p:pic>
        <p:nvPicPr>
          <p:cNvPr id="119" name="Picture 118" descr="lock.png"/>
          <p:cNvPicPr>
            <a:picLocks noChangeAspect="1"/>
          </p:cNvPicPr>
          <p:nvPr/>
        </p:nvPicPr>
        <p:blipFill>
          <a:blip r:embed="rId19"/>
          <a:stretch>
            <a:fillRect/>
          </a:stretch>
        </p:blipFill>
        <p:spPr>
          <a:xfrm>
            <a:off x="6988068" y="4823162"/>
            <a:ext cx="128699" cy="187198"/>
          </a:xfrm>
          <a:prstGeom prst="rect">
            <a:avLst/>
          </a:prstGeom>
        </p:spPr>
      </p:pic>
      <p:sp>
        <p:nvSpPr>
          <p:cNvPr id="120" name="TextBox 119"/>
          <p:cNvSpPr txBox="1"/>
          <p:nvPr/>
        </p:nvSpPr>
        <p:spPr>
          <a:xfrm>
            <a:off x="7155564" y="4832941"/>
            <a:ext cx="510852" cy="186689"/>
          </a:xfrm>
          <a:prstGeom prst="rect">
            <a:avLst/>
          </a:prstGeom>
          <a:noFill/>
        </p:spPr>
        <p:txBody>
          <a:bodyPr wrap="none" lIns="0" rIns="0" tIns="0" bIns="0">
            <a:spAutoFit/>
          </a:bodyPr>
          <a:lstStyle/>
          <a:p>
            <a:r>
              <a:rPr sz="1100" b="1">
                <a:solidFill>
                  <a:srgbClr val="008189"/>
                </a:solidFill>
                <a:latin typeface="Calibri"/>
              </a:rPr>
              <a:t>of 2026</a:t>
            </a:r>
          </a:p>
        </p:txBody>
      </p:sp>
      <p:sp>
        <p:nvSpPr>
          <p:cNvPr id="121" name="TextBox 120"/>
          <p:cNvSpPr txBox="1"/>
          <p:nvPr/>
        </p:nvSpPr>
        <p:spPr>
          <a:xfrm>
            <a:off x="3838575" y="5000581"/>
            <a:ext cx="460102" cy="186689"/>
          </a:xfrm>
          <a:prstGeom prst="rect">
            <a:avLst/>
          </a:prstGeom>
          <a:noFill/>
        </p:spPr>
        <p:txBody>
          <a:bodyPr wrap="none" lIns="0" rIns="0" tIns="0" bIns="0">
            <a:spAutoFit/>
          </a:bodyPr>
          <a:lstStyle/>
          <a:p>
            <a:r>
              <a:rPr sz="1100" b="1">
                <a:solidFill>
                  <a:srgbClr val="008189"/>
                </a:solidFill>
                <a:latin typeface="Calibri"/>
              </a:rPr>
              <a:t>value ·</a:t>
            </a:r>
          </a:p>
        </p:txBody>
      </p:sp>
      <p:pic>
        <p:nvPicPr>
          <p:cNvPr id="122" name="Picture 121" descr="lock.png"/>
          <p:cNvPicPr>
            <a:picLocks noChangeAspect="1"/>
          </p:cNvPicPr>
          <p:nvPr/>
        </p:nvPicPr>
        <p:blipFill>
          <a:blip r:embed="rId19"/>
          <a:stretch>
            <a:fillRect/>
          </a:stretch>
        </p:blipFill>
        <p:spPr>
          <a:xfrm>
            <a:off x="4246728" y="4990801"/>
            <a:ext cx="128699" cy="187198"/>
          </a:xfrm>
          <a:prstGeom prst="rect">
            <a:avLst/>
          </a:prstGeom>
        </p:spPr>
      </p:pic>
      <p:sp>
        <p:nvSpPr>
          <p:cNvPr id="123" name="TextBox 122"/>
          <p:cNvSpPr txBox="1"/>
          <p:nvPr/>
        </p:nvSpPr>
        <p:spPr>
          <a:xfrm>
            <a:off x="4414224" y="5000581"/>
            <a:ext cx="1284633" cy="186689"/>
          </a:xfrm>
          <a:prstGeom prst="rect">
            <a:avLst/>
          </a:prstGeom>
          <a:noFill/>
        </p:spPr>
        <p:txBody>
          <a:bodyPr wrap="none" lIns="0" rIns="0" tIns="0" bIns="0">
            <a:spAutoFit/>
          </a:bodyPr>
          <a:lstStyle/>
          <a:p>
            <a:r>
              <a:rPr sz="1100" b="1">
                <a:solidFill>
                  <a:srgbClr val="008189"/>
                </a:solidFill>
                <a:latin typeface="Calibri"/>
              </a:rPr>
              <a:t>CAGR serves a niche.</a:t>
            </a:r>
          </a:p>
        </p:txBody>
      </p:sp>
      <p:sp>
        <p:nvSpPr>
          <p:cNvPr id="124" name="TextBox 123"/>
          <p:cNvSpPr txBox="1"/>
          <p:nvPr/>
        </p:nvSpPr>
        <p:spPr>
          <a:xfrm>
            <a:off x="3838575" y="5218513"/>
            <a:ext cx="1526951" cy="186689"/>
          </a:xfrm>
          <a:prstGeom prst="rect">
            <a:avLst/>
          </a:prstGeom>
          <a:noFill/>
        </p:spPr>
        <p:txBody>
          <a:bodyPr wrap="none" lIns="0" rIns="0" tIns="0" bIns="0">
            <a:spAutoFit/>
          </a:bodyPr>
          <a:lstStyle/>
          <a:p>
            <a:r>
              <a:rPr sz="1100" b="0">
                <a:solidFill>
                  <a:srgbClr val="2E2E2E"/>
                </a:solidFill>
                <a:latin typeface="Calibri"/>
              </a:rPr>
              <a:t>● Other Offline Channels:</a:t>
            </a:r>
          </a:p>
        </p:txBody>
      </p:sp>
      <p:pic>
        <p:nvPicPr>
          <p:cNvPr id="125" name="Picture 124" descr="lock.png"/>
          <p:cNvPicPr>
            <a:picLocks noChangeAspect="1"/>
          </p:cNvPicPr>
          <p:nvPr/>
        </p:nvPicPr>
        <p:blipFill>
          <a:blip r:embed="rId19"/>
          <a:stretch>
            <a:fillRect/>
          </a:stretch>
        </p:blipFill>
        <p:spPr>
          <a:xfrm>
            <a:off x="5313578" y="5208733"/>
            <a:ext cx="128699" cy="187198"/>
          </a:xfrm>
          <a:prstGeom prst="rect">
            <a:avLst/>
          </a:prstGeom>
        </p:spPr>
      </p:pic>
      <p:sp>
        <p:nvSpPr>
          <p:cNvPr id="126" name="TextBox 125"/>
          <p:cNvSpPr txBox="1"/>
          <p:nvPr/>
        </p:nvSpPr>
        <p:spPr>
          <a:xfrm>
            <a:off x="5481074" y="521851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7" name="Picture 126" descr="lock.png"/>
          <p:cNvPicPr>
            <a:picLocks noChangeAspect="1"/>
          </p:cNvPicPr>
          <p:nvPr/>
        </p:nvPicPr>
        <p:blipFill>
          <a:blip r:embed="rId19"/>
          <a:stretch>
            <a:fillRect/>
          </a:stretch>
        </p:blipFill>
        <p:spPr>
          <a:xfrm>
            <a:off x="6340524" y="5208733"/>
            <a:ext cx="128699" cy="187198"/>
          </a:xfrm>
          <a:prstGeom prst="rect">
            <a:avLst/>
          </a:prstGeom>
        </p:spPr>
      </p:pic>
      <p:sp>
        <p:nvSpPr>
          <p:cNvPr id="128" name="TextBox 127"/>
          <p:cNvSpPr txBox="1"/>
          <p:nvPr/>
        </p:nvSpPr>
        <p:spPr>
          <a:xfrm>
            <a:off x="6508020" y="521851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29" name="TextBox 128"/>
          <p:cNvSpPr txBox="1"/>
          <p:nvPr/>
        </p:nvSpPr>
        <p:spPr>
          <a:xfrm>
            <a:off x="3838575" y="5436445"/>
            <a:ext cx="2121495" cy="186689"/>
          </a:xfrm>
          <a:prstGeom prst="rect">
            <a:avLst/>
          </a:prstGeom>
          <a:noFill/>
        </p:spPr>
        <p:txBody>
          <a:bodyPr wrap="none" lIns="0" rIns="0" tIns="0" bIns="0">
            <a:spAutoFit/>
          </a:bodyPr>
          <a:lstStyle/>
          <a:p>
            <a:r>
              <a:rPr sz="1100" b="0">
                <a:solidFill>
                  <a:srgbClr val="2E2E2E"/>
                </a:solidFill>
                <a:latin typeface="Calibri"/>
              </a:rPr>
              <a:t>● Supermarkets and Mass Retailers:</a:t>
            </a:r>
          </a:p>
        </p:txBody>
      </p:sp>
      <p:pic>
        <p:nvPicPr>
          <p:cNvPr id="130" name="Picture 129" descr="lock.png"/>
          <p:cNvPicPr>
            <a:picLocks noChangeAspect="1"/>
          </p:cNvPicPr>
          <p:nvPr/>
        </p:nvPicPr>
        <p:blipFill>
          <a:blip r:embed="rId19"/>
          <a:stretch>
            <a:fillRect/>
          </a:stretch>
        </p:blipFill>
        <p:spPr>
          <a:xfrm>
            <a:off x="5908121" y="5426665"/>
            <a:ext cx="128699" cy="187198"/>
          </a:xfrm>
          <a:prstGeom prst="rect">
            <a:avLst/>
          </a:prstGeom>
        </p:spPr>
      </p:pic>
      <p:sp>
        <p:nvSpPr>
          <p:cNvPr id="131" name="TextBox 130"/>
          <p:cNvSpPr txBox="1"/>
          <p:nvPr/>
        </p:nvSpPr>
        <p:spPr>
          <a:xfrm>
            <a:off x="6075617" y="543644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2" name="Picture 131" descr="lock.png"/>
          <p:cNvPicPr>
            <a:picLocks noChangeAspect="1"/>
          </p:cNvPicPr>
          <p:nvPr/>
        </p:nvPicPr>
        <p:blipFill>
          <a:blip r:embed="rId19"/>
          <a:stretch>
            <a:fillRect/>
          </a:stretch>
        </p:blipFill>
        <p:spPr>
          <a:xfrm>
            <a:off x="6935067" y="5426665"/>
            <a:ext cx="128699" cy="187198"/>
          </a:xfrm>
          <a:prstGeom prst="rect">
            <a:avLst/>
          </a:prstGeom>
        </p:spPr>
      </p:pic>
      <p:sp>
        <p:nvSpPr>
          <p:cNvPr id="133" name="TextBox 132"/>
          <p:cNvSpPr txBox="1"/>
          <p:nvPr/>
        </p:nvSpPr>
        <p:spPr>
          <a:xfrm>
            <a:off x="7102563" y="5436445"/>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34" name="TextBox 133"/>
          <p:cNvSpPr txBox="1"/>
          <p:nvPr/>
        </p:nvSpPr>
        <p:spPr>
          <a:xfrm>
            <a:off x="3838575" y="5604085"/>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35" name="TextBox 134"/>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Sales Channel segment is projected to grow at a</a:t>
            </a:r>
          </a:p>
        </p:txBody>
      </p:sp>
      <p:sp>
        <p:nvSpPr>
          <p:cNvPr id="136" name="TextBox 135"/>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37" name="Picture 136" descr="lock.png"/>
          <p:cNvPicPr>
            <a:picLocks noChangeAspect="1"/>
          </p:cNvPicPr>
          <p:nvPr/>
        </p:nvPicPr>
        <p:blipFill>
          <a:blip r:embed="rId19"/>
          <a:stretch>
            <a:fillRect/>
          </a:stretch>
        </p:blipFill>
        <p:spPr>
          <a:xfrm>
            <a:off x="9048826" y="6007677"/>
            <a:ext cx="134549" cy="195707"/>
          </a:xfrm>
          <a:prstGeom prst="rect">
            <a:avLst/>
          </a:prstGeom>
        </p:spPr>
      </p:pic>
      <p:sp>
        <p:nvSpPr>
          <p:cNvPr id="138" name="TextBox 137"/>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Sales Channel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Sales Channel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Sales Channel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Sales Channel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461477" cy="186689"/>
          </a:xfrm>
          <a:prstGeom prst="rect">
            <a:avLst/>
          </a:prstGeom>
          <a:noFill/>
        </p:spPr>
        <p:txBody>
          <a:bodyPr wrap="none" lIns="0" rIns="0" tIns="0" bIns="0">
            <a:spAutoFit/>
          </a:bodyPr>
          <a:lstStyle/>
          <a:p>
            <a:r>
              <a:rPr sz="1100" b="0">
                <a:solidFill>
                  <a:srgbClr val="2E2E2E"/>
                </a:solidFill>
                <a:latin typeface="Calibri"/>
              </a:rPr>
              <a:t>Online channels followed by other offline channels are expected to be the two most attractive sales channel segments in the global ear wax removal products market in terms of value over the forecast</a:t>
            </a:r>
          </a:p>
        </p:txBody>
      </p:sp>
      <p:sp>
        <p:nvSpPr>
          <p:cNvPr id="20" name="TextBox 19"/>
          <p:cNvSpPr txBox="1"/>
          <p:nvPr/>
        </p:nvSpPr>
        <p:spPr>
          <a:xfrm>
            <a:off x="257175" y="5861685"/>
            <a:ext cx="4301016" cy="186689"/>
          </a:xfrm>
          <a:prstGeom prst="rect">
            <a:avLst/>
          </a:prstGeom>
          <a:noFill/>
        </p:spPr>
        <p:txBody>
          <a:bodyPr wrap="none" lIns="0" rIns="0" tIns="0" bIns="0">
            <a:spAutoFit/>
          </a:bodyPr>
          <a:lstStyle/>
          <a:p>
            <a:r>
              <a:rPr sz="1100" b="0">
                <a:solidFill>
                  <a:srgbClr val="2E2E2E"/>
                </a:solidFill>
                <a:latin typeface="Calibri"/>
              </a:rPr>
              <a:t>period. Online channels and other offline channels exhibit a CAGR index of</a:t>
            </a:r>
          </a:p>
        </p:txBody>
      </p:sp>
      <p:pic>
        <p:nvPicPr>
          <p:cNvPr id="21" name="Picture 20" descr="lock.png"/>
          <p:cNvPicPr>
            <a:picLocks noChangeAspect="1"/>
          </p:cNvPicPr>
          <p:nvPr/>
        </p:nvPicPr>
        <p:blipFill>
          <a:blip r:embed="rId6"/>
          <a:stretch>
            <a:fillRect/>
          </a:stretch>
        </p:blipFill>
        <p:spPr>
          <a:xfrm>
            <a:off x="4506243" y="5851905"/>
            <a:ext cx="128699" cy="187198"/>
          </a:xfrm>
          <a:prstGeom prst="rect">
            <a:avLst/>
          </a:prstGeom>
        </p:spPr>
      </p:pic>
      <p:sp>
        <p:nvSpPr>
          <p:cNvPr id="22" name="TextBox 21"/>
          <p:cNvSpPr txBox="1"/>
          <p:nvPr/>
        </p:nvSpPr>
        <p:spPr>
          <a:xfrm>
            <a:off x="4673738"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4911633" y="5851905"/>
            <a:ext cx="128699" cy="187198"/>
          </a:xfrm>
          <a:prstGeom prst="rect">
            <a:avLst/>
          </a:prstGeom>
        </p:spPr>
      </p:pic>
      <p:sp>
        <p:nvSpPr>
          <p:cNvPr id="24" name="TextBox 23"/>
          <p:cNvSpPr txBox="1"/>
          <p:nvPr/>
        </p:nvSpPr>
        <p:spPr>
          <a:xfrm>
            <a:off x="5079129"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6688102" y="5851905"/>
            <a:ext cx="128699" cy="187198"/>
          </a:xfrm>
          <a:prstGeom prst="rect">
            <a:avLst/>
          </a:prstGeom>
        </p:spPr>
      </p:pic>
      <p:sp>
        <p:nvSpPr>
          <p:cNvPr id="26" name="TextBox 25"/>
          <p:cNvSpPr txBox="1"/>
          <p:nvPr/>
        </p:nvSpPr>
        <p:spPr>
          <a:xfrm>
            <a:off x="6855598"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7093492" y="5851905"/>
            <a:ext cx="128699" cy="187198"/>
          </a:xfrm>
          <a:prstGeom prst="rect">
            <a:avLst/>
          </a:prstGeom>
        </p:spPr>
      </p:pic>
      <p:sp>
        <p:nvSpPr>
          <p:cNvPr id="28" name="TextBox 27"/>
          <p:cNvSpPr txBox="1"/>
          <p:nvPr/>
        </p:nvSpPr>
        <p:spPr>
          <a:xfrm>
            <a:off x="7260988"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9815392" y="5851905"/>
            <a:ext cx="128699" cy="187198"/>
          </a:xfrm>
          <a:prstGeom prst="rect">
            <a:avLst/>
          </a:prstGeom>
        </p:spPr>
      </p:pic>
      <p:sp>
        <p:nvSpPr>
          <p:cNvPr id="30" name="TextBox 29"/>
          <p:cNvSpPr txBox="1"/>
          <p:nvPr/>
        </p:nvSpPr>
        <p:spPr>
          <a:xfrm>
            <a:off x="9982888" y="5861685"/>
            <a:ext cx="830907" cy="186689"/>
          </a:xfrm>
          <a:prstGeom prst="rect">
            <a:avLst/>
          </a:prstGeom>
          <a:noFill/>
        </p:spPr>
        <p:txBody>
          <a:bodyPr wrap="none" lIns="0" rIns="0" tIns="0" bIns="0">
            <a:spAutoFit/>
          </a:bodyPr>
          <a:lstStyle/>
          <a:p>
            <a:r>
              <a:rPr sz="1100" b="0">
                <a:solidFill>
                  <a:srgbClr val="2E2E2E"/>
                </a:solidFill>
                <a:latin typeface="Calibri"/>
              </a:rPr>
              <a:t>. The medical</a:t>
            </a:r>
          </a:p>
        </p:txBody>
      </p:sp>
      <p:sp>
        <p:nvSpPr>
          <p:cNvPr id="31" name="TextBox 30"/>
          <p:cNvSpPr txBox="1"/>
          <p:nvPr/>
        </p:nvSpPr>
        <p:spPr>
          <a:xfrm>
            <a:off x="257175" y="6029325"/>
            <a:ext cx="11677650" cy="186689"/>
          </a:xfrm>
          <a:prstGeom prst="rect">
            <a:avLst/>
          </a:prstGeom>
          <a:noFill/>
        </p:spPr>
        <p:txBody>
          <a:bodyPr wrap="none" lIns="0" rIns="0" tIns="0" bIns="0">
            <a:spAutoFit/>
          </a:bodyPr>
          <a:lstStyle/>
          <a:p>
            <a:r>
              <a:rPr sz="1100" b="0">
                <a:solidFill>
                  <a:srgbClr val="2E2E2E"/>
                </a:solidFill>
                <a:latin typeface="Calibri"/>
              </a:rPr>
              <a:t>distributors and institutional procurement segment is expected to be less attractive as compared to other segments over the forecast period, owing to its lower CAGR and incremental opportunity. Bubbles</a:t>
            </a:r>
          </a:p>
        </p:txBody>
      </p:sp>
      <p:sp>
        <p:nvSpPr>
          <p:cNvPr id="32" name="TextBox 31"/>
          <p:cNvSpPr txBox="1"/>
          <p:nvPr/>
        </p:nvSpPr>
        <p:spPr>
          <a:xfrm>
            <a:off x="257175" y="6196965"/>
            <a:ext cx="3892557" cy="186689"/>
          </a:xfrm>
          <a:prstGeom prst="rect">
            <a:avLst/>
          </a:prstGeom>
          <a:noFill/>
        </p:spPr>
        <p:txBody>
          <a:bodyPr wrap="none" lIns="0" rIns="0" tIns="0" bIns="0">
            <a:spAutoFit/>
          </a:bodyPr>
          <a:lstStyle/>
          <a:p>
            <a:r>
              <a:rPr sz="1100" b="0">
                <a:solidFill>
                  <a:srgbClr val="2E2E2E"/>
                </a:solidFill>
                <a:latin typeface="Calibri"/>
              </a:rPr>
              <a:t>right of the CAGR-Index line 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Sales Channel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Sales Channel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Retail Pharmacies and Drug Stores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Supermarkets and Mass Retailers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Online Channels</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Medical Distributors and Institutional Procurement</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Sales Channel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Sales Channel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Other Offline Channels</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Sales Channel</a:t>
            </a:r>
          </a:p>
        </p:txBody>
      </p:sp>
      <p:sp>
        <p:nvSpPr>
          <p:cNvPr id="15" name="Rectangle 14"/>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27556" y="3674659"/>
            <a:ext cx="395643" cy="575481"/>
          </a:xfrm>
          <a:prstGeom prst="rect">
            <a:avLst/>
          </a:prstGeom>
        </p:spPr>
      </p:pic>
      <p:sp>
        <p:nvSpPr>
          <p:cNvPr id="19" name="TextBox 18"/>
          <p:cNvSpPr txBox="1"/>
          <p:nvPr/>
        </p:nvSpPr>
        <p:spPr>
          <a:xfrm>
            <a:off x="6305550" y="1400175"/>
            <a:ext cx="4802264" cy="194310"/>
          </a:xfrm>
          <a:prstGeom prst="rect">
            <a:avLst/>
          </a:prstGeom>
          <a:noFill/>
        </p:spPr>
        <p:txBody>
          <a:bodyPr wrap="none" lIns="0" rIns="0" tIns="0" bIns="0">
            <a:spAutoFit/>
          </a:bodyPr>
          <a:lstStyle/>
          <a:p>
            <a:r>
              <a:rPr sz="1150" b="0">
                <a:solidFill>
                  <a:srgbClr val="2E2E2E"/>
                </a:solidFill>
                <a:latin typeface="Calibri"/>
              </a:rPr>
              <a:t>By 2036, other offline channels segment is anticipated to witness an increase of</a:t>
            </a:r>
          </a:p>
        </p:txBody>
      </p:sp>
      <p:pic>
        <p:nvPicPr>
          <p:cNvPr id="20" name="Picture 19" descr="lock.png"/>
          <p:cNvPicPr>
            <a:picLocks noChangeAspect="1"/>
          </p:cNvPicPr>
          <p:nvPr/>
        </p:nvPicPr>
        <p:blipFill>
          <a:blip r:embed="rId5"/>
          <a:stretch>
            <a:fillRect/>
          </a:stretch>
        </p:blipFill>
        <p:spPr>
          <a:xfrm>
            <a:off x="11056968" y="1389951"/>
            <a:ext cx="134549" cy="195707"/>
          </a:xfrm>
          <a:prstGeom prst="rect">
            <a:avLst/>
          </a:prstGeom>
        </p:spPr>
      </p:pic>
      <p:sp>
        <p:nvSpPr>
          <p:cNvPr id="21" name="TextBox 20"/>
          <p:cNvSpPr txBox="1"/>
          <p:nvPr/>
        </p:nvSpPr>
        <p:spPr>
          <a:xfrm>
            <a:off x="11232077" y="1400175"/>
            <a:ext cx="295560" cy="194310"/>
          </a:xfrm>
          <a:prstGeom prst="rect">
            <a:avLst/>
          </a:prstGeom>
          <a:noFill/>
        </p:spPr>
        <p:txBody>
          <a:bodyPr wrap="none" lIns="0" rIns="0" tIns="0" bIns="0">
            <a:spAutoFit/>
          </a:bodyPr>
          <a:lstStyle/>
          <a:p>
            <a:r>
              <a:rPr sz="1150" b="0">
                <a:solidFill>
                  <a:srgbClr val="2E2E2E"/>
                </a:solidFill>
                <a:latin typeface="Calibri"/>
              </a:rPr>
              <a:t>X in</a:t>
            </a:r>
          </a:p>
        </p:txBody>
      </p:sp>
      <p:sp>
        <p:nvSpPr>
          <p:cNvPr id="22" name="TextBox 21"/>
          <p:cNvSpPr txBox="1"/>
          <p:nvPr/>
        </p:nvSpPr>
        <p:spPr>
          <a:xfrm>
            <a:off x="6305550" y="1575435"/>
            <a:ext cx="5591175" cy="194310"/>
          </a:xfrm>
          <a:prstGeom prst="rect">
            <a:avLst/>
          </a:prstGeom>
          <a:noFill/>
        </p:spPr>
        <p:txBody>
          <a:bodyPr wrap="none" lIns="0" rIns="0" tIns="0" bIns="0">
            <a:spAutoFit/>
          </a:bodyPr>
          <a:lstStyle/>
          <a:p>
            <a:r>
              <a:rPr sz="1150" b="0">
                <a:solidFill>
                  <a:srgbClr val="2E2E2E"/>
                </a:solidFill>
                <a:latin typeface="Calibri"/>
              </a:rPr>
              <a:t>terms of value as compared to 2026. The other offline channels segment is expected to create</a:t>
            </a:r>
          </a:p>
        </p:txBody>
      </p:sp>
      <p:sp>
        <p:nvSpPr>
          <p:cNvPr id="23" name="TextBox 22"/>
          <p:cNvSpPr txBox="1"/>
          <p:nvPr/>
        </p:nvSpPr>
        <p:spPr>
          <a:xfrm>
            <a:off x="6305550" y="1750695"/>
            <a:ext cx="2136588" cy="194310"/>
          </a:xfrm>
          <a:prstGeom prst="rect">
            <a:avLst/>
          </a:prstGeom>
          <a:noFill/>
        </p:spPr>
        <p:txBody>
          <a:bodyPr wrap="none" lIns="0" rIns="0" tIns="0" bIns="0">
            <a:spAutoFit/>
          </a:bodyPr>
          <a:lstStyle/>
          <a:p>
            <a:r>
              <a:rPr sz="1150" b="0">
                <a:solidFill>
                  <a:srgbClr val="2E2E2E"/>
                </a:solidFill>
                <a:latin typeface="Calibri"/>
              </a:rPr>
              <a:t>an incremental opportunity of US$</a:t>
            </a:r>
          </a:p>
        </p:txBody>
      </p:sp>
      <p:pic>
        <p:nvPicPr>
          <p:cNvPr id="24" name="Picture 23" descr="lock.png"/>
          <p:cNvPicPr>
            <a:picLocks noChangeAspect="1"/>
          </p:cNvPicPr>
          <p:nvPr/>
        </p:nvPicPr>
        <p:blipFill>
          <a:blip r:embed="rId5"/>
          <a:stretch>
            <a:fillRect/>
          </a:stretch>
        </p:blipFill>
        <p:spPr>
          <a:xfrm>
            <a:off x="8391292" y="1740471"/>
            <a:ext cx="134549" cy="195707"/>
          </a:xfrm>
          <a:prstGeom prst="rect">
            <a:avLst/>
          </a:prstGeom>
        </p:spPr>
      </p:pic>
      <p:sp>
        <p:nvSpPr>
          <p:cNvPr id="25" name="TextBox 24"/>
          <p:cNvSpPr txBox="1"/>
          <p:nvPr/>
        </p:nvSpPr>
        <p:spPr>
          <a:xfrm>
            <a:off x="8566402" y="1750695"/>
            <a:ext cx="3188034" cy="194310"/>
          </a:xfrm>
          <a:prstGeom prst="rect">
            <a:avLst/>
          </a:prstGeom>
          <a:noFill/>
        </p:spPr>
        <p:txBody>
          <a:bodyPr wrap="none" lIns="0" rIns="0" tIns="0" bIns="0">
            <a:spAutoFit/>
          </a:bodyPr>
          <a:lstStyle/>
          <a:p>
            <a:r>
              <a:rPr sz="1150" b="0">
                <a:solidFill>
                  <a:srgbClr val="2E2E2E"/>
                </a:solidFill>
                <a:latin typeface="Calibri"/>
              </a:rPr>
              <a:t>Mn for the overall ear wax removal products market</a:t>
            </a:r>
          </a:p>
        </p:txBody>
      </p:sp>
      <p:sp>
        <p:nvSpPr>
          <p:cNvPr id="26" name="TextBox 25"/>
          <p:cNvSpPr txBox="1"/>
          <p:nvPr/>
        </p:nvSpPr>
        <p:spPr>
          <a:xfrm>
            <a:off x="6305550" y="1925955"/>
            <a:ext cx="1220923" cy="194310"/>
          </a:xfrm>
          <a:prstGeom prst="rect">
            <a:avLst/>
          </a:prstGeom>
          <a:noFill/>
        </p:spPr>
        <p:txBody>
          <a:bodyPr wrap="none" lIns="0" rIns="0" tIns="0" bIns="0">
            <a:spAutoFit/>
          </a:bodyPr>
          <a:lstStyle/>
          <a:p>
            <a:r>
              <a:rPr sz="1150" b="0">
                <a:solidFill>
                  <a:srgbClr val="2E2E2E"/>
                </a:solidFill>
                <a:latin typeface="Calibri"/>
              </a:rPr>
              <a:t>from 2026 to 2036.</a:t>
            </a:r>
          </a:p>
        </p:txBody>
      </p:sp>
      <p:sp>
        <p:nvSpPr>
          <p:cNvPr id="27" name="TextBox 26"/>
          <p:cNvSpPr txBox="1"/>
          <p:nvPr/>
        </p:nvSpPr>
        <p:spPr>
          <a:xfrm>
            <a:off x="6305550" y="2153793"/>
            <a:ext cx="5171975" cy="194310"/>
          </a:xfrm>
          <a:prstGeom prst="rect">
            <a:avLst/>
          </a:prstGeom>
          <a:noFill/>
        </p:spPr>
        <p:txBody>
          <a:bodyPr wrap="none" lIns="0" rIns="0" tIns="0" bIns="0">
            <a:spAutoFit/>
          </a:bodyPr>
          <a:lstStyle/>
          <a:p>
            <a:r>
              <a:rPr sz="1150" b="0">
                <a:solidFill>
                  <a:srgbClr val="2E2E2E"/>
                </a:solidFill>
                <a:latin typeface="Calibri"/>
              </a:rPr>
              <a:t>The online channels segment is expected to create an incremental opportunity of US$</a:t>
            </a:r>
          </a:p>
        </p:txBody>
      </p:sp>
      <p:pic>
        <p:nvPicPr>
          <p:cNvPr id="28" name="Picture 27" descr="lock.png"/>
          <p:cNvPicPr>
            <a:picLocks noChangeAspect="1"/>
          </p:cNvPicPr>
          <p:nvPr/>
        </p:nvPicPr>
        <p:blipFill>
          <a:blip r:embed="rId5"/>
          <a:stretch>
            <a:fillRect/>
          </a:stretch>
        </p:blipFill>
        <p:spPr>
          <a:xfrm>
            <a:off x="11426679" y="2143569"/>
            <a:ext cx="134549" cy="195707"/>
          </a:xfrm>
          <a:prstGeom prst="rect">
            <a:avLst/>
          </a:prstGeom>
        </p:spPr>
      </p:pic>
      <p:sp>
        <p:nvSpPr>
          <p:cNvPr id="29" name="TextBox 28"/>
          <p:cNvSpPr txBox="1"/>
          <p:nvPr/>
        </p:nvSpPr>
        <p:spPr>
          <a:xfrm>
            <a:off x="11601788" y="2153793"/>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30" name="TextBox 29"/>
          <p:cNvSpPr txBox="1"/>
          <p:nvPr/>
        </p:nvSpPr>
        <p:spPr>
          <a:xfrm>
            <a:off x="6305550" y="2329053"/>
            <a:ext cx="5447531" cy="194310"/>
          </a:xfrm>
          <a:prstGeom prst="rect">
            <a:avLst/>
          </a:prstGeom>
          <a:noFill/>
        </p:spPr>
        <p:txBody>
          <a:bodyPr wrap="none" lIns="0" rIns="0" tIns="0" bIns="0">
            <a:spAutoFit/>
          </a:bodyPr>
          <a:lstStyle/>
          <a:p>
            <a:r>
              <a:rPr sz="1150" b="0">
                <a:solidFill>
                  <a:srgbClr val="2E2E2E"/>
                </a:solidFill>
                <a:latin typeface="Calibri"/>
              </a:rPr>
              <a:t>for the overall ear wax removal products market from 2026 to 2036. The retail pharmacies</a:t>
            </a:r>
          </a:p>
        </p:txBody>
      </p:sp>
      <p:sp>
        <p:nvSpPr>
          <p:cNvPr id="31" name="TextBox 30"/>
          <p:cNvSpPr txBox="1"/>
          <p:nvPr/>
        </p:nvSpPr>
        <p:spPr>
          <a:xfrm>
            <a:off x="6305550" y="2504313"/>
            <a:ext cx="4915817" cy="194310"/>
          </a:xfrm>
          <a:prstGeom prst="rect">
            <a:avLst/>
          </a:prstGeom>
          <a:noFill/>
        </p:spPr>
        <p:txBody>
          <a:bodyPr wrap="none" lIns="0" rIns="0" tIns="0" bIns="0">
            <a:spAutoFit/>
          </a:bodyPr>
          <a:lstStyle/>
          <a:p>
            <a:r>
              <a:rPr sz="1150" b="0">
                <a:solidFill>
                  <a:srgbClr val="2E2E2E"/>
                </a:solidFill>
                <a:latin typeface="Calibri"/>
              </a:rPr>
              <a:t>and drug stores segment is expected to create an incremental opportunity of US$</a:t>
            </a:r>
          </a:p>
        </p:txBody>
      </p:sp>
      <p:pic>
        <p:nvPicPr>
          <p:cNvPr id="32" name="Picture 31" descr="lock.png"/>
          <p:cNvPicPr>
            <a:picLocks noChangeAspect="1"/>
          </p:cNvPicPr>
          <p:nvPr/>
        </p:nvPicPr>
        <p:blipFill>
          <a:blip r:embed="rId5"/>
          <a:stretch>
            <a:fillRect/>
          </a:stretch>
        </p:blipFill>
        <p:spPr>
          <a:xfrm>
            <a:off x="11170521" y="2494089"/>
            <a:ext cx="134549" cy="195707"/>
          </a:xfrm>
          <a:prstGeom prst="rect">
            <a:avLst/>
          </a:prstGeom>
        </p:spPr>
      </p:pic>
      <p:sp>
        <p:nvSpPr>
          <p:cNvPr id="33" name="TextBox 32"/>
          <p:cNvSpPr txBox="1"/>
          <p:nvPr/>
        </p:nvSpPr>
        <p:spPr>
          <a:xfrm>
            <a:off x="11345630" y="2504313"/>
            <a:ext cx="483542" cy="194310"/>
          </a:xfrm>
          <a:prstGeom prst="rect">
            <a:avLst/>
          </a:prstGeom>
          <a:noFill/>
        </p:spPr>
        <p:txBody>
          <a:bodyPr wrap="none" lIns="0" rIns="0" tIns="0" bIns="0">
            <a:spAutoFit/>
          </a:bodyPr>
          <a:lstStyle/>
          <a:p>
            <a:r>
              <a:rPr sz="1150" b="0">
                <a:solidFill>
                  <a:srgbClr val="2E2E2E"/>
                </a:solidFill>
                <a:latin typeface="Calibri"/>
              </a:rPr>
              <a:t>Mn for</a:t>
            </a:r>
          </a:p>
        </p:txBody>
      </p:sp>
      <p:sp>
        <p:nvSpPr>
          <p:cNvPr id="34" name="TextBox 33"/>
          <p:cNvSpPr txBox="1"/>
          <p:nvPr/>
        </p:nvSpPr>
        <p:spPr>
          <a:xfrm>
            <a:off x="6305550" y="2679573"/>
            <a:ext cx="3925416" cy="194310"/>
          </a:xfrm>
          <a:prstGeom prst="rect">
            <a:avLst/>
          </a:prstGeom>
          <a:noFill/>
        </p:spPr>
        <p:txBody>
          <a:bodyPr wrap="none" lIns="0" rIns="0" tIns="0" bIns="0">
            <a:spAutoFit/>
          </a:bodyPr>
          <a:lstStyle/>
          <a:p>
            <a:r>
              <a:rPr sz="1150" b="0">
                <a:solidFill>
                  <a:srgbClr val="2E2E2E"/>
                </a:solidFill>
                <a:latin typeface="Calibri"/>
              </a:rPr>
              <a:t>the overall ear wax removal products market from 2026 to 2036.</a:t>
            </a:r>
          </a:p>
        </p:txBody>
      </p:sp>
      <p:sp>
        <p:nvSpPr>
          <p:cNvPr id="35"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Sales Channel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Sales Channel, 2021–2036, highlighting the sub-segments driving growth</a:t>
            </a:r>
          </a:p>
        </p:txBody>
      </p:sp>
      <p:sp>
        <p:nvSpPr>
          <p:cNvPr id="10" name="Rounded Rectangle 9"/>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Sales Channel (US$ Mn)</a:t>
            </a:r>
          </a:p>
        </p:txBody>
      </p:sp>
      <p:graphicFrame>
        <p:nvGraphicFramePr>
          <p:cNvPr id="12" name="Table 11"/>
          <p:cNvGraphicFramePr>
            <a:graphicFrameLocks noGrp="1"/>
          </p:cNvGraphicFramePr>
          <p:nvPr/>
        </p:nvGraphicFramePr>
        <p:xfrm>
          <a:off x="152400" y="1238250"/>
          <a:ext cx="11887194" cy="1724028"/>
        </p:xfrm>
        <a:graphic>
          <a:graphicData uri="http://schemas.openxmlformats.org/drawingml/2006/table">
            <a:tbl>
              <a:tblPr>
                <a:tableStyleId>{5C22544A-7EE6-4342-B048-85BDC9FD1C3A}</a:tableStyleId>
              </a:tblPr>
              <a:tblGrid>
                <a:gridCol w="3345513"/>
                <a:gridCol w="513086"/>
                <a:gridCol w="513086"/>
                <a:gridCol w="513086"/>
                <a:gridCol w="513086"/>
                <a:gridCol w="513086"/>
                <a:gridCol w="495012"/>
                <a:gridCol w="489848"/>
                <a:gridCol w="489848"/>
                <a:gridCol w="489848"/>
                <a:gridCol w="489848"/>
                <a:gridCol w="489848"/>
                <a:gridCol w="489848"/>
                <a:gridCol w="489848"/>
                <a:gridCol w="489848"/>
                <a:gridCol w="489848"/>
                <a:gridCol w="489848"/>
                <a:gridCol w="582759"/>
              </a:tblGrid>
              <a:tr h="246126">
                <a:tc>
                  <a:txBody>
                    <a:bodyPr wrap="none"/>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7">
                <a:tc>
                  <a:txBody>
                    <a:bodyPr wrap="none"/>
                    <a:lstStyle/>
                    <a:p>
                      <a:pPr algn="l"/>
                      <a:r>
                        <a:rPr sz="1100" b="1">
                          <a:solidFill>
                            <a:srgbClr val="2E2E2E"/>
                          </a:solidFill>
                          <a:latin typeface="Calibri"/>
                        </a:rPr>
                        <a:t>Retail Pharmacies and Drug Stores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Supermarkets and Mass 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Online Channels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Medical Distributors and Institutional Procurement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Other Offline Channels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Sales Channel</a:t>
            </a:r>
          </a:p>
        </p:txBody>
      </p:sp>
      <p:sp>
        <p:nvSpPr>
          <p:cNvPr id="16" name="Rectangle 15"/>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582063" y="1956627"/>
            <a:ext cx="366712" cy="533399"/>
          </a:xfrm>
          <a:prstGeom prst="rect">
            <a:avLst/>
          </a:prstGeom>
        </p:spPr>
      </p:pic>
      <p:sp>
        <p:nvSpPr>
          <p:cNvPr id="20" name="TextBox 19"/>
          <p:cNvSpPr txBox="1"/>
          <p:nvPr/>
        </p:nvSpPr>
        <p:spPr>
          <a:xfrm>
            <a:off x="276225" y="3724275"/>
            <a:ext cx="2950133" cy="194310"/>
          </a:xfrm>
          <a:prstGeom prst="rect">
            <a:avLst/>
          </a:prstGeom>
          <a:noFill/>
        </p:spPr>
        <p:txBody>
          <a:bodyPr wrap="none" lIns="0" rIns="0" tIns="0" bIns="0">
            <a:spAutoFit/>
          </a:bodyPr>
          <a:lstStyle/>
          <a:p>
            <a:r>
              <a:rPr sz="1150" b="0">
                <a:solidFill>
                  <a:srgbClr val="2E2E2E"/>
                </a:solidFill>
                <a:latin typeface="Calibri"/>
              </a:rPr>
              <a:t>Online channels segment is projected to register</a:t>
            </a:r>
          </a:p>
        </p:txBody>
      </p:sp>
      <p:pic>
        <p:nvPicPr>
          <p:cNvPr id="21" name="Picture 20" descr="lock.png"/>
          <p:cNvPicPr>
            <a:picLocks noChangeAspect="1"/>
          </p:cNvPicPr>
          <p:nvPr/>
        </p:nvPicPr>
        <p:blipFill>
          <a:blip r:embed="rId4"/>
          <a:stretch>
            <a:fillRect/>
          </a:stretch>
        </p:blipFill>
        <p:spPr>
          <a:xfrm>
            <a:off x="3175512" y="3714051"/>
            <a:ext cx="134549" cy="195707"/>
          </a:xfrm>
          <a:prstGeom prst="rect">
            <a:avLst/>
          </a:prstGeom>
        </p:spPr>
      </p:pic>
      <p:sp>
        <p:nvSpPr>
          <p:cNvPr id="22" name="TextBox 21"/>
          <p:cNvSpPr txBox="1"/>
          <p:nvPr/>
        </p:nvSpPr>
        <p:spPr>
          <a:xfrm>
            <a:off x="3350621" y="3724275"/>
            <a:ext cx="8018524" cy="194310"/>
          </a:xfrm>
          <a:prstGeom prst="rect">
            <a:avLst/>
          </a:prstGeom>
          <a:noFill/>
        </p:spPr>
        <p:txBody>
          <a:bodyPr wrap="none" lIns="0" rIns="0" tIns="0" bIns="0">
            <a:spAutoFit/>
          </a:bodyPr>
          <a:lstStyle/>
          <a:p>
            <a:r>
              <a:rPr sz="1150" b="0">
                <a:solidFill>
                  <a:srgbClr val="2E2E2E"/>
                </a:solidFill>
                <a:latin typeface="Calibri"/>
              </a:rPr>
              <a:t>X higher value than other offline channels segment in 2036. Among ear wax removal products by sales channel, other offline channels</a:t>
            </a:r>
          </a:p>
        </p:txBody>
      </p:sp>
      <p:sp>
        <p:nvSpPr>
          <p:cNvPr id="23" name="TextBox 22"/>
          <p:cNvSpPr txBox="1"/>
          <p:nvPr/>
        </p:nvSpPr>
        <p:spPr>
          <a:xfrm>
            <a:off x="276225" y="38995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24" name="Picture 23" descr="lock.png"/>
          <p:cNvPicPr>
            <a:picLocks noChangeAspect="1"/>
          </p:cNvPicPr>
          <p:nvPr/>
        </p:nvPicPr>
        <p:blipFill>
          <a:blip r:embed="rId4"/>
          <a:stretch>
            <a:fillRect/>
          </a:stretch>
        </p:blipFill>
        <p:spPr>
          <a:xfrm>
            <a:off x="3382018" y="3889311"/>
            <a:ext cx="134549" cy="195707"/>
          </a:xfrm>
          <a:prstGeom prst="rect">
            <a:avLst/>
          </a:prstGeom>
        </p:spPr>
      </p:pic>
      <p:sp>
        <p:nvSpPr>
          <p:cNvPr id="25" name="TextBox 24"/>
          <p:cNvSpPr txBox="1"/>
          <p:nvPr/>
        </p:nvSpPr>
        <p:spPr>
          <a:xfrm>
            <a:off x="3557127"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127372"/>
            <a:ext cx="6789365" cy="194310"/>
          </a:xfrm>
          <a:prstGeom prst="rect">
            <a:avLst/>
          </a:prstGeom>
          <a:noFill/>
        </p:spPr>
        <p:txBody>
          <a:bodyPr wrap="none" lIns="0" rIns="0" tIns="0" bIns="0">
            <a:spAutoFit/>
          </a:bodyPr>
          <a:lstStyle/>
          <a:p>
            <a:r>
              <a:rPr sz="1150" b="0">
                <a:solidFill>
                  <a:srgbClr val="2E2E2E"/>
                </a:solidFill>
                <a:latin typeface="Calibri"/>
              </a:rPr>
              <a:t>In terms of value share by sales channel, the online channels segment is expected to dominate the market, losing</a:t>
            </a:r>
          </a:p>
        </p:txBody>
      </p:sp>
      <p:pic>
        <p:nvPicPr>
          <p:cNvPr id="27" name="Picture 26" descr="lock.png"/>
          <p:cNvPicPr>
            <a:picLocks noChangeAspect="1"/>
          </p:cNvPicPr>
          <p:nvPr/>
        </p:nvPicPr>
        <p:blipFill>
          <a:blip r:embed="rId4"/>
          <a:stretch>
            <a:fillRect/>
          </a:stretch>
        </p:blipFill>
        <p:spPr>
          <a:xfrm>
            <a:off x="7014744" y="4117149"/>
            <a:ext cx="134549" cy="195707"/>
          </a:xfrm>
          <a:prstGeom prst="rect">
            <a:avLst/>
          </a:prstGeom>
        </p:spPr>
      </p:pic>
      <p:sp>
        <p:nvSpPr>
          <p:cNvPr id="28" name="TextBox 27"/>
          <p:cNvSpPr txBox="1"/>
          <p:nvPr/>
        </p:nvSpPr>
        <p:spPr>
          <a:xfrm>
            <a:off x="7189853"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584996" y="4117149"/>
            <a:ext cx="134549" cy="195707"/>
          </a:xfrm>
          <a:prstGeom prst="rect">
            <a:avLst/>
          </a:prstGeom>
        </p:spPr>
      </p:pic>
      <p:sp>
        <p:nvSpPr>
          <p:cNvPr id="30" name="TextBox 29"/>
          <p:cNvSpPr txBox="1"/>
          <p:nvPr/>
        </p:nvSpPr>
        <p:spPr>
          <a:xfrm>
            <a:off x="8760106" y="4127372"/>
            <a:ext cx="2676859" cy="194310"/>
          </a:xfrm>
          <a:prstGeom prst="rect">
            <a:avLst/>
          </a:prstGeom>
          <a:noFill/>
        </p:spPr>
        <p:txBody>
          <a:bodyPr wrap="none" lIns="0" rIns="0" tIns="0" bIns="0">
            <a:spAutoFit/>
          </a:bodyPr>
          <a:lstStyle/>
          <a:p>
            <a:r>
              <a:rPr sz="1150" b="0">
                <a:solidFill>
                  <a:srgbClr val="2E2E2E"/>
                </a:solidFill>
                <a:latin typeface="Calibri"/>
              </a:rPr>
              <a:t>share by 2036. The medical distributors and</a:t>
            </a:r>
          </a:p>
        </p:txBody>
      </p:sp>
      <p:sp>
        <p:nvSpPr>
          <p:cNvPr id="31" name="TextBox 30"/>
          <p:cNvSpPr txBox="1"/>
          <p:nvPr/>
        </p:nvSpPr>
        <p:spPr>
          <a:xfrm>
            <a:off x="276225" y="4302632"/>
            <a:ext cx="3290155" cy="194310"/>
          </a:xfrm>
          <a:prstGeom prst="rect">
            <a:avLst/>
          </a:prstGeom>
          <a:noFill/>
        </p:spPr>
        <p:txBody>
          <a:bodyPr wrap="none" lIns="0" rIns="0" tIns="0" bIns="0">
            <a:spAutoFit/>
          </a:bodyPr>
          <a:lstStyle/>
          <a:p>
            <a:r>
              <a:rPr sz="1150" b="0">
                <a:solidFill>
                  <a:srgbClr val="2E2E2E"/>
                </a:solidFill>
                <a:latin typeface="Calibri"/>
              </a:rPr>
              <a:t>institutional procurement segment is expected to lose</a:t>
            </a:r>
          </a:p>
        </p:txBody>
      </p:sp>
      <p:pic>
        <p:nvPicPr>
          <p:cNvPr id="32" name="Picture 31" descr="lock.png"/>
          <p:cNvPicPr>
            <a:picLocks noChangeAspect="1"/>
          </p:cNvPicPr>
          <p:nvPr/>
        </p:nvPicPr>
        <p:blipFill>
          <a:blip r:embed="rId4"/>
          <a:stretch>
            <a:fillRect/>
          </a:stretch>
        </p:blipFill>
        <p:spPr>
          <a:xfrm>
            <a:off x="3515534" y="4292409"/>
            <a:ext cx="134549" cy="195707"/>
          </a:xfrm>
          <a:prstGeom prst="rect">
            <a:avLst/>
          </a:prstGeom>
        </p:spPr>
      </p:pic>
      <p:sp>
        <p:nvSpPr>
          <p:cNvPr id="33" name="TextBox 32"/>
          <p:cNvSpPr txBox="1"/>
          <p:nvPr/>
        </p:nvSpPr>
        <p:spPr>
          <a:xfrm>
            <a:off x="3690643"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6278148" y="4292409"/>
            <a:ext cx="134549" cy="195707"/>
          </a:xfrm>
          <a:prstGeom prst="rect">
            <a:avLst/>
          </a:prstGeom>
        </p:spPr>
      </p:pic>
      <p:sp>
        <p:nvSpPr>
          <p:cNvPr id="35" name="TextBox 34"/>
          <p:cNvSpPr txBox="1"/>
          <p:nvPr/>
        </p:nvSpPr>
        <p:spPr>
          <a:xfrm>
            <a:off x="6453257"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Sales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Sales Channel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Sales Channel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911598"/>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190683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83063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Supermarkets and Mass Retailers</a:t>
            </a:r>
          </a:p>
        </p:txBody>
      </p:sp>
      <p:sp>
        <p:nvSpPr>
          <p:cNvPr id="18" name="BPS Value 1"/>
          <p:cNvSpPr txBox="1"/>
          <p:nvPr/>
        </p:nvSpPr>
        <p:spPr>
          <a:xfrm>
            <a:off x="6896100" y="189254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2540225"/>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53546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45926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Medical Distributors and Institutional Procurement</a:t>
            </a:r>
          </a:p>
        </p:txBody>
      </p:sp>
      <p:sp>
        <p:nvSpPr>
          <p:cNvPr id="22" name="BPS Value 2"/>
          <p:cNvSpPr txBox="1"/>
          <p:nvPr/>
        </p:nvSpPr>
        <p:spPr>
          <a:xfrm>
            <a:off x="6896100" y="252117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3432332"/>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342756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335136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Retail Pharmacies and Drug Stores</a:t>
            </a:r>
          </a:p>
        </p:txBody>
      </p:sp>
      <p:sp>
        <p:nvSpPr>
          <p:cNvPr id="26" name="BPS Value 3"/>
          <p:cNvSpPr txBox="1"/>
          <p:nvPr/>
        </p:nvSpPr>
        <p:spPr>
          <a:xfrm>
            <a:off x="6896100" y="341328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4450195"/>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444543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436923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Offline Channels</a:t>
            </a:r>
          </a:p>
        </p:txBody>
      </p:sp>
      <p:sp>
        <p:nvSpPr>
          <p:cNvPr id="30" name="BPS Value 4"/>
          <p:cNvSpPr txBox="1"/>
          <p:nvPr/>
        </p:nvSpPr>
        <p:spPr>
          <a:xfrm>
            <a:off x="6896100" y="443114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928997" y="560393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5090922" y="559917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552297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Online Channels</a:t>
            </a:r>
          </a:p>
        </p:txBody>
      </p:sp>
      <p:sp>
        <p:nvSpPr>
          <p:cNvPr id="34" name="BPS Value 5"/>
          <p:cNvSpPr txBox="1"/>
          <p:nvPr/>
        </p:nvSpPr>
        <p:spPr>
          <a:xfrm>
            <a:off x="6896100" y="558488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Rounded Rectangle 34"/>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Sales Channel</a:t>
            </a:r>
          </a:p>
        </p:txBody>
      </p:sp>
      <p:sp>
        <p:nvSpPr>
          <p:cNvPr id="37" name="Rectangle 36"/>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9" name="TextBox 3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0" name="Picture 39" descr="lock.png"/>
          <p:cNvPicPr>
            <a:picLocks noChangeAspect="1"/>
          </p:cNvPicPr>
          <p:nvPr/>
        </p:nvPicPr>
        <p:blipFill>
          <a:blip r:embed="rId5"/>
          <a:stretch>
            <a:fillRect/>
          </a:stretch>
        </p:blipFill>
        <p:spPr>
          <a:xfrm>
            <a:off x="2557843" y="3833622"/>
            <a:ext cx="275034" cy="400050"/>
          </a:xfrm>
          <a:prstGeom prst="rect">
            <a:avLst/>
          </a:prstGeom>
        </p:spPr>
      </p:pic>
      <p:sp>
        <p:nvSpPr>
          <p:cNvPr id="41" name="TextBox 40"/>
          <p:cNvSpPr txBox="1"/>
          <p:nvPr/>
        </p:nvSpPr>
        <p:spPr>
          <a:xfrm>
            <a:off x="7829550" y="1400175"/>
            <a:ext cx="3889759" cy="194310"/>
          </a:xfrm>
          <a:prstGeom prst="rect">
            <a:avLst/>
          </a:prstGeom>
          <a:noFill/>
        </p:spPr>
        <p:txBody>
          <a:bodyPr wrap="none" lIns="0" rIns="0" tIns="0" bIns="0">
            <a:spAutoFit/>
          </a:bodyPr>
          <a:lstStyle/>
          <a:p>
            <a:r>
              <a:rPr sz="1150" b="0">
                <a:solidFill>
                  <a:srgbClr val="2E2E2E"/>
                </a:solidFill>
                <a:latin typeface="Calibri"/>
              </a:rPr>
              <a:t>Among ear wax removal products by sales channel, other offline</a:t>
            </a:r>
          </a:p>
        </p:txBody>
      </p:sp>
      <p:sp>
        <p:nvSpPr>
          <p:cNvPr id="42" name="TextBox 41"/>
          <p:cNvSpPr txBox="1"/>
          <p:nvPr/>
        </p:nvSpPr>
        <p:spPr>
          <a:xfrm>
            <a:off x="7829550" y="1575435"/>
            <a:ext cx="3715166" cy="194310"/>
          </a:xfrm>
          <a:prstGeom prst="rect">
            <a:avLst/>
          </a:prstGeom>
          <a:noFill/>
        </p:spPr>
        <p:txBody>
          <a:bodyPr wrap="none" lIns="0" rIns="0" tIns="0" bIns="0">
            <a:spAutoFit/>
          </a:bodyPr>
          <a:lstStyle/>
          <a:p>
            <a:r>
              <a:rPr sz="1150" b="0">
                <a:solidFill>
                  <a:srgbClr val="2E2E2E"/>
                </a:solidFill>
                <a:latin typeface="Calibri"/>
              </a:rPr>
              <a:t>channels segment is expected to witness the highest CAGR of</a:t>
            </a:r>
          </a:p>
        </p:txBody>
      </p:sp>
      <p:pic>
        <p:nvPicPr>
          <p:cNvPr id="43" name="Picture 42" descr="lock.png"/>
          <p:cNvPicPr>
            <a:picLocks noChangeAspect="1"/>
          </p:cNvPicPr>
          <p:nvPr/>
        </p:nvPicPr>
        <p:blipFill>
          <a:blip r:embed="rId5"/>
          <a:stretch>
            <a:fillRect/>
          </a:stretch>
        </p:blipFill>
        <p:spPr>
          <a:xfrm>
            <a:off x="11493870" y="1565211"/>
            <a:ext cx="134549" cy="195707"/>
          </a:xfrm>
          <a:prstGeom prst="rect">
            <a:avLst/>
          </a:prstGeom>
        </p:spPr>
      </p:pic>
      <p:sp>
        <p:nvSpPr>
          <p:cNvPr id="44" name="TextBox 43"/>
          <p:cNvSpPr txBox="1"/>
          <p:nvPr/>
        </p:nvSpPr>
        <p:spPr>
          <a:xfrm>
            <a:off x="7829550" y="1750695"/>
            <a:ext cx="3979614"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sales channel,</a:t>
            </a:r>
          </a:p>
        </p:txBody>
      </p:sp>
      <p:sp>
        <p:nvSpPr>
          <p:cNvPr id="45" name="TextBox 44"/>
          <p:cNvSpPr txBox="1"/>
          <p:nvPr/>
        </p:nvSpPr>
        <p:spPr>
          <a:xfrm>
            <a:off x="7829550" y="1925955"/>
            <a:ext cx="3978473" cy="194310"/>
          </a:xfrm>
          <a:prstGeom prst="rect">
            <a:avLst/>
          </a:prstGeom>
          <a:noFill/>
        </p:spPr>
        <p:txBody>
          <a:bodyPr wrap="none" lIns="0" rIns="0" tIns="0" bIns="0">
            <a:spAutoFit/>
          </a:bodyPr>
          <a:lstStyle/>
          <a:p>
            <a:r>
              <a:rPr sz="1150" b="0">
                <a:solidFill>
                  <a:srgbClr val="2E2E2E"/>
                </a:solidFill>
                <a:latin typeface="Calibri"/>
              </a:rPr>
              <a:t>the online channels segment is expected to dominate the market,</a:t>
            </a:r>
          </a:p>
        </p:txBody>
      </p:sp>
      <p:sp>
        <p:nvSpPr>
          <p:cNvPr id="46" name="TextBox 45"/>
          <p:cNvSpPr txBox="1"/>
          <p:nvPr/>
        </p:nvSpPr>
        <p:spPr>
          <a:xfrm>
            <a:off x="7829550" y="2101215"/>
            <a:ext cx="423068" cy="194310"/>
          </a:xfrm>
          <a:prstGeom prst="rect">
            <a:avLst/>
          </a:prstGeom>
          <a:noFill/>
        </p:spPr>
        <p:txBody>
          <a:bodyPr wrap="none" lIns="0" rIns="0" tIns="0" bIns="0">
            <a:spAutoFit/>
          </a:bodyPr>
          <a:lstStyle/>
          <a:p>
            <a:r>
              <a:rPr sz="1150" b="0">
                <a:solidFill>
                  <a:srgbClr val="2E2E2E"/>
                </a:solidFill>
                <a:latin typeface="Calibri"/>
              </a:rPr>
              <a:t>losing</a:t>
            </a:r>
          </a:p>
        </p:txBody>
      </p:sp>
      <p:pic>
        <p:nvPicPr>
          <p:cNvPr id="47" name="Picture 46" descr="lock.png"/>
          <p:cNvPicPr>
            <a:picLocks noChangeAspect="1"/>
          </p:cNvPicPr>
          <p:nvPr/>
        </p:nvPicPr>
        <p:blipFill>
          <a:blip r:embed="rId5"/>
          <a:stretch>
            <a:fillRect/>
          </a:stretch>
        </p:blipFill>
        <p:spPr>
          <a:xfrm>
            <a:off x="8201772" y="2090991"/>
            <a:ext cx="134549" cy="195707"/>
          </a:xfrm>
          <a:prstGeom prst="rect">
            <a:avLst/>
          </a:prstGeom>
        </p:spPr>
      </p:pic>
      <p:sp>
        <p:nvSpPr>
          <p:cNvPr id="48" name="TextBox 47"/>
          <p:cNvSpPr txBox="1"/>
          <p:nvPr/>
        </p:nvSpPr>
        <p:spPr>
          <a:xfrm>
            <a:off x="8376881"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9" name="Picture 48" descr="lock.png"/>
          <p:cNvPicPr>
            <a:picLocks noChangeAspect="1"/>
          </p:cNvPicPr>
          <p:nvPr/>
        </p:nvPicPr>
        <p:blipFill>
          <a:blip r:embed="rId5"/>
          <a:stretch>
            <a:fillRect/>
          </a:stretch>
        </p:blipFill>
        <p:spPr>
          <a:xfrm>
            <a:off x="9772025" y="2090991"/>
            <a:ext cx="134549" cy="195707"/>
          </a:xfrm>
          <a:prstGeom prst="rect">
            <a:avLst/>
          </a:prstGeom>
        </p:spPr>
      </p:pic>
      <p:sp>
        <p:nvSpPr>
          <p:cNvPr id="50" name="TextBox 49"/>
          <p:cNvSpPr txBox="1"/>
          <p:nvPr/>
        </p:nvSpPr>
        <p:spPr>
          <a:xfrm>
            <a:off x="9947134"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1" name="TextBox 50"/>
          <p:cNvSpPr txBox="1"/>
          <p:nvPr/>
        </p:nvSpPr>
        <p:spPr>
          <a:xfrm>
            <a:off x="7829550" y="2329053"/>
            <a:ext cx="4008995" cy="194310"/>
          </a:xfrm>
          <a:prstGeom prst="rect">
            <a:avLst/>
          </a:prstGeom>
          <a:noFill/>
        </p:spPr>
        <p:txBody>
          <a:bodyPr wrap="none" lIns="0" rIns="0" tIns="0" bIns="0">
            <a:spAutoFit/>
          </a:bodyPr>
          <a:lstStyle/>
          <a:p>
            <a:r>
              <a:rPr sz="1150" b="0">
                <a:solidFill>
                  <a:srgbClr val="2E2E2E"/>
                </a:solidFill>
                <a:latin typeface="Calibri"/>
              </a:rPr>
              <a:t>The medical distributors and institutional procurement segment is</a:t>
            </a:r>
          </a:p>
        </p:txBody>
      </p:sp>
      <p:sp>
        <p:nvSpPr>
          <p:cNvPr id="52" name="TextBox 51"/>
          <p:cNvSpPr txBox="1"/>
          <p:nvPr/>
        </p:nvSpPr>
        <p:spPr>
          <a:xfrm>
            <a:off x="7829550" y="2504313"/>
            <a:ext cx="1054906" cy="194310"/>
          </a:xfrm>
          <a:prstGeom prst="rect">
            <a:avLst/>
          </a:prstGeom>
          <a:noFill/>
        </p:spPr>
        <p:txBody>
          <a:bodyPr wrap="none" lIns="0" rIns="0" tIns="0" bIns="0">
            <a:spAutoFit/>
          </a:bodyPr>
          <a:lstStyle/>
          <a:p>
            <a:r>
              <a:rPr sz="1150" b="0">
                <a:solidFill>
                  <a:srgbClr val="2E2E2E"/>
                </a:solidFill>
                <a:latin typeface="Calibri"/>
              </a:rPr>
              <a:t>expected to lose</a:t>
            </a:r>
          </a:p>
        </p:txBody>
      </p:sp>
      <p:pic>
        <p:nvPicPr>
          <p:cNvPr id="53" name="Picture 52" descr="lock.png"/>
          <p:cNvPicPr>
            <a:picLocks noChangeAspect="1"/>
          </p:cNvPicPr>
          <p:nvPr/>
        </p:nvPicPr>
        <p:blipFill>
          <a:blip r:embed="rId5"/>
          <a:stretch>
            <a:fillRect/>
          </a:stretch>
        </p:blipFill>
        <p:spPr>
          <a:xfrm>
            <a:off x="8833610" y="2494089"/>
            <a:ext cx="134549" cy="195707"/>
          </a:xfrm>
          <a:prstGeom prst="rect">
            <a:avLst/>
          </a:prstGeom>
        </p:spPr>
      </p:pic>
      <p:sp>
        <p:nvSpPr>
          <p:cNvPr id="54" name="TextBox 53"/>
          <p:cNvSpPr txBox="1"/>
          <p:nvPr/>
        </p:nvSpPr>
        <p:spPr>
          <a:xfrm>
            <a:off x="9008719" y="250431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55" name="Picture 54" descr="lock.png"/>
          <p:cNvPicPr>
            <a:picLocks noChangeAspect="1"/>
          </p:cNvPicPr>
          <p:nvPr/>
        </p:nvPicPr>
        <p:blipFill>
          <a:blip r:embed="rId5"/>
          <a:stretch>
            <a:fillRect/>
          </a:stretch>
        </p:blipFill>
        <p:spPr>
          <a:xfrm>
            <a:off x="7815470" y="2669349"/>
            <a:ext cx="134549" cy="195707"/>
          </a:xfrm>
          <a:prstGeom prst="rect">
            <a:avLst/>
          </a:prstGeom>
        </p:spPr>
      </p:pic>
      <p:sp>
        <p:nvSpPr>
          <p:cNvPr id="56" name="TextBox 55"/>
          <p:cNvSpPr txBox="1"/>
          <p:nvPr/>
        </p:nvSpPr>
        <p:spPr>
          <a:xfrm>
            <a:off x="7990579"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7"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Age Group</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Age Group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Age Group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Age Group,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Age Group segment categorizes the market by age group.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Paediatric</a:t>
            </a:r>
          </a:p>
        </p:txBody>
      </p:sp>
      <p:sp>
        <p:nvSpPr>
          <p:cNvPr id="22" name="Rectangle 21"/>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Adult</a:t>
            </a:r>
          </a:p>
        </p:txBody>
      </p:sp>
      <p:sp>
        <p:nvSpPr>
          <p:cNvPr id="29" name="Rectangle 28"/>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Geriatric</a:t>
            </a:r>
          </a:p>
        </p:txBody>
      </p:sp>
      <p:sp>
        <p:nvSpPr>
          <p:cNvPr id="36" name="Rectangle 35"/>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2" name="Rectangle 41"/>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4" name="Rounded Rectangle 4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6" name="Rectangle 45"/>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8" name="Rounded Rectangle 4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0" name="Rectangle 49"/>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Age Group split shows how demand is distributed across age group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2" name="Rectangle 5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4" name="TextBox 5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5" name="TextBox 5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6" name="Picture 55" descr="1_235_605E5C.png"/>
          <p:cNvPicPr>
            <a:picLocks noChangeAspect="1"/>
          </p:cNvPicPr>
          <p:nvPr/>
        </p:nvPicPr>
        <p:blipFill>
          <a:blip r:embed="rId4"/>
          <a:stretch>
            <a:fillRect/>
          </a:stretch>
        </p:blipFill>
        <p:spPr>
          <a:xfrm>
            <a:off x="2897811" y="2286582"/>
            <a:ext cx="1195728" cy="361950"/>
          </a:xfrm>
          <a:prstGeom prst="rect">
            <a:avLst/>
          </a:prstGeom>
        </p:spPr>
      </p:pic>
      <p:pic>
        <p:nvPicPr>
          <p:cNvPr id="57" name="Picture 56" descr="2_216_605E5C.png"/>
          <p:cNvPicPr>
            <a:picLocks noChangeAspect="1"/>
          </p:cNvPicPr>
          <p:nvPr/>
        </p:nvPicPr>
        <p:blipFill>
          <a:blip r:embed="rId5"/>
          <a:stretch>
            <a:fillRect/>
          </a:stretch>
        </p:blipFill>
        <p:spPr>
          <a:xfrm>
            <a:off x="2897811" y="2779432"/>
            <a:ext cx="1195728" cy="361950"/>
          </a:xfrm>
          <a:prstGeom prst="rect">
            <a:avLst/>
          </a:prstGeom>
        </p:spPr>
      </p:pic>
      <p:pic>
        <p:nvPicPr>
          <p:cNvPr id="58" name="Picture 57" descr="6_0__605E5C.png"/>
          <p:cNvPicPr>
            <a:picLocks noChangeAspect="1"/>
          </p:cNvPicPr>
          <p:nvPr/>
        </p:nvPicPr>
        <p:blipFill>
          <a:blip r:embed="rId6"/>
          <a:stretch>
            <a:fillRect/>
          </a:stretch>
        </p:blipFill>
        <p:spPr>
          <a:xfrm>
            <a:off x="3004457" y="3272281"/>
            <a:ext cx="982436" cy="361950"/>
          </a:xfrm>
          <a:prstGeom prst="rect">
            <a:avLst/>
          </a:prstGeom>
        </p:spPr>
      </p:pic>
      <p:pic>
        <p:nvPicPr>
          <p:cNvPr id="59" name="Picture 58" descr="440_7_605E5C.png"/>
          <p:cNvPicPr>
            <a:picLocks noChangeAspect="1"/>
          </p:cNvPicPr>
          <p:nvPr/>
        </p:nvPicPr>
        <p:blipFill>
          <a:blip r:embed="rId7"/>
          <a:stretch>
            <a:fillRect/>
          </a:stretch>
        </p:blipFill>
        <p:spPr>
          <a:xfrm>
            <a:off x="6269661" y="2286582"/>
            <a:ext cx="1195728" cy="361950"/>
          </a:xfrm>
          <a:prstGeom prst="rect">
            <a:avLst/>
          </a:prstGeom>
        </p:spPr>
      </p:pic>
      <p:pic>
        <p:nvPicPr>
          <p:cNvPr id="60" name="Picture 59" descr="802_7_605E5C.png"/>
          <p:cNvPicPr>
            <a:picLocks noChangeAspect="1"/>
          </p:cNvPicPr>
          <p:nvPr/>
        </p:nvPicPr>
        <p:blipFill>
          <a:blip r:embed="rId8"/>
          <a:stretch>
            <a:fillRect/>
          </a:stretch>
        </p:blipFill>
        <p:spPr>
          <a:xfrm>
            <a:off x="6269661" y="2779432"/>
            <a:ext cx="1195728" cy="361950"/>
          </a:xfrm>
          <a:prstGeom prst="rect">
            <a:avLst/>
          </a:prstGeom>
        </p:spPr>
      </p:pic>
      <p:pic>
        <p:nvPicPr>
          <p:cNvPr id="61" name="Picture 60" descr="6_2__605E5C.png"/>
          <p:cNvPicPr>
            <a:picLocks noChangeAspect="1"/>
          </p:cNvPicPr>
          <p:nvPr/>
        </p:nvPicPr>
        <p:blipFill>
          <a:blip r:embed="rId9"/>
          <a:stretch>
            <a:fillRect/>
          </a:stretch>
        </p:blipFill>
        <p:spPr>
          <a:xfrm>
            <a:off x="6376307" y="3272281"/>
            <a:ext cx="982436" cy="361950"/>
          </a:xfrm>
          <a:prstGeom prst="rect">
            <a:avLst/>
          </a:prstGeom>
        </p:spPr>
      </p:pic>
      <p:pic>
        <p:nvPicPr>
          <p:cNvPr id="62" name="Picture 61" descr="433_8_605E5C.png"/>
          <p:cNvPicPr>
            <a:picLocks noChangeAspect="1"/>
          </p:cNvPicPr>
          <p:nvPr/>
        </p:nvPicPr>
        <p:blipFill>
          <a:blip r:embed="rId10"/>
          <a:stretch>
            <a:fillRect/>
          </a:stretch>
        </p:blipFill>
        <p:spPr>
          <a:xfrm>
            <a:off x="9641511" y="2286582"/>
            <a:ext cx="1195728" cy="361950"/>
          </a:xfrm>
          <a:prstGeom prst="rect">
            <a:avLst/>
          </a:prstGeom>
        </p:spPr>
      </p:pic>
      <p:pic>
        <p:nvPicPr>
          <p:cNvPr id="63" name="Picture 62" descr="585_7_605E5C.png"/>
          <p:cNvPicPr>
            <a:picLocks noChangeAspect="1"/>
          </p:cNvPicPr>
          <p:nvPr/>
        </p:nvPicPr>
        <p:blipFill>
          <a:blip r:embed="rId11"/>
          <a:stretch>
            <a:fillRect/>
          </a:stretch>
        </p:blipFill>
        <p:spPr>
          <a:xfrm>
            <a:off x="9641511" y="2779432"/>
            <a:ext cx="1195728" cy="361950"/>
          </a:xfrm>
          <a:prstGeom prst="rect">
            <a:avLst/>
          </a:prstGeom>
        </p:spPr>
      </p:pic>
      <p:pic>
        <p:nvPicPr>
          <p:cNvPr id="64" name="Picture 63" descr="3_0__605E5C.png"/>
          <p:cNvPicPr>
            <a:picLocks noChangeAspect="1"/>
          </p:cNvPicPr>
          <p:nvPr/>
        </p:nvPicPr>
        <p:blipFill>
          <a:blip r:embed="rId12"/>
          <a:stretch>
            <a:fillRect/>
          </a:stretch>
        </p:blipFill>
        <p:spPr>
          <a:xfrm>
            <a:off x="9748157" y="3272281"/>
            <a:ext cx="982436" cy="361950"/>
          </a:xfrm>
          <a:prstGeom prst="rect">
            <a:avLst/>
          </a:prstGeom>
        </p:spPr>
      </p:pic>
      <p:pic>
        <p:nvPicPr>
          <p:cNvPr id="65" name="Picture 64" descr="lock.png"/>
          <p:cNvPicPr>
            <a:picLocks noChangeAspect="1"/>
          </p:cNvPicPr>
          <p:nvPr/>
        </p:nvPicPr>
        <p:blipFill>
          <a:blip r:embed="rId13"/>
          <a:stretch>
            <a:fillRect/>
          </a:stretch>
        </p:blipFill>
        <p:spPr>
          <a:xfrm>
            <a:off x="3402330" y="2827057"/>
            <a:ext cx="183356" cy="266700"/>
          </a:xfrm>
          <a:prstGeom prst="rect">
            <a:avLst/>
          </a:prstGeom>
        </p:spPr>
      </p:pic>
      <p:pic>
        <p:nvPicPr>
          <p:cNvPr id="66" name="Picture 65" descr="lock.png"/>
          <p:cNvPicPr>
            <a:picLocks noChangeAspect="1"/>
          </p:cNvPicPr>
          <p:nvPr/>
        </p:nvPicPr>
        <p:blipFill>
          <a:blip r:embed="rId13"/>
          <a:stretch>
            <a:fillRect/>
          </a:stretch>
        </p:blipFill>
        <p:spPr>
          <a:xfrm>
            <a:off x="677418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10146030" y="2827057"/>
            <a:ext cx="183356" cy="266700"/>
          </a:xfrm>
          <a:prstGeom prst="rect">
            <a:avLst/>
          </a:prstGeom>
        </p:spPr>
      </p:pic>
      <p:sp>
        <p:nvSpPr>
          <p:cNvPr id="68" name="TextBox 67"/>
          <p:cNvSpPr txBox="1"/>
          <p:nvPr/>
        </p:nvSpPr>
        <p:spPr>
          <a:xfrm>
            <a:off x="485775" y="4229437"/>
            <a:ext cx="2793528" cy="186689"/>
          </a:xfrm>
          <a:prstGeom prst="rect">
            <a:avLst/>
          </a:prstGeom>
          <a:noFill/>
        </p:spPr>
        <p:txBody>
          <a:bodyPr wrap="none" lIns="0" rIns="0" tIns="0" bIns="0">
            <a:spAutoFit/>
          </a:bodyPr>
          <a:lstStyle/>
          <a:p>
            <a:r>
              <a:rPr sz="1100" b="0">
                <a:solidFill>
                  <a:srgbClr val="2E2E2E"/>
                </a:solidFill>
                <a:latin typeface="Calibri"/>
              </a:rPr>
              <a:t>Among ear wax removal products by age group,</a:t>
            </a:r>
          </a:p>
        </p:txBody>
      </p:sp>
      <p:sp>
        <p:nvSpPr>
          <p:cNvPr id="69" name="TextBox 68"/>
          <p:cNvSpPr txBox="1"/>
          <p:nvPr/>
        </p:nvSpPr>
        <p:spPr>
          <a:xfrm>
            <a:off x="485775" y="4397077"/>
            <a:ext cx="2848371" cy="186689"/>
          </a:xfrm>
          <a:prstGeom prst="rect">
            <a:avLst/>
          </a:prstGeom>
          <a:noFill/>
        </p:spPr>
        <p:txBody>
          <a:bodyPr wrap="none" lIns="0" rIns="0" tIns="0" bIns="0">
            <a:spAutoFit/>
          </a:bodyPr>
          <a:lstStyle/>
          <a:p>
            <a:r>
              <a:rPr sz="1100" b="0">
                <a:solidFill>
                  <a:srgbClr val="2E2E2E"/>
                </a:solidFill>
                <a:latin typeface="Calibri"/>
              </a:rPr>
              <a:t>adult segment is expected to witness the highest</a:t>
            </a:r>
          </a:p>
        </p:txBody>
      </p:sp>
      <p:sp>
        <p:nvSpPr>
          <p:cNvPr id="70" name="TextBox 69"/>
          <p:cNvSpPr txBox="1"/>
          <p:nvPr/>
        </p:nvSpPr>
        <p:spPr>
          <a:xfrm>
            <a:off x="485775" y="4564717"/>
            <a:ext cx="543304" cy="186689"/>
          </a:xfrm>
          <a:prstGeom prst="rect">
            <a:avLst/>
          </a:prstGeom>
          <a:noFill/>
        </p:spPr>
        <p:txBody>
          <a:bodyPr wrap="none" lIns="0" rIns="0" tIns="0" bIns="0">
            <a:spAutoFit/>
          </a:bodyPr>
          <a:lstStyle/>
          <a:p>
            <a:r>
              <a:rPr sz="1100" b="0">
                <a:solidFill>
                  <a:srgbClr val="2E2E2E"/>
                </a:solidFill>
                <a:latin typeface="Calibri"/>
              </a:rPr>
              <a:t>CAGR of</a:t>
            </a:r>
          </a:p>
        </p:txBody>
      </p:sp>
      <p:pic>
        <p:nvPicPr>
          <p:cNvPr id="71" name="Picture 70" descr="lock.png"/>
          <p:cNvPicPr>
            <a:picLocks noChangeAspect="1"/>
          </p:cNvPicPr>
          <p:nvPr/>
        </p:nvPicPr>
        <p:blipFill>
          <a:blip r:embed="rId13"/>
          <a:stretch>
            <a:fillRect/>
          </a:stretch>
        </p:blipFill>
        <p:spPr>
          <a:xfrm>
            <a:off x="977131" y="4554938"/>
            <a:ext cx="128699" cy="187198"/>
          </a:xfrm>
          <a:prstGeom prst="rect">
            <a:avLst/>
          </a:prstGeom>
        </p:spPr>
      </p:pic>
      <p:sp>
        <p:nvSpPr>
          <p:cNvPr id="72" name="TextBox 71"/>
          <p:cNvSpPr txBox="1"/>
          <p:nvPr/>
        </p:nvSpPr>
        <p:spPr>
          <a:xfrm>
            <a:off x="1144627" y="4564717"/>
            <a:ext cx="2135956" cy="186689"/>
          </a:xfrm>
          <a:prstGeom prst="rect">
            <a:avLst/>
          </a:prstGeom>
          <a:noFill/>
        </p:spPr>
        <p:txBody>
          <a:bodyPr wrap="none" lIns="0" rIns="0" tIns="0" bIns="0">
            <a:spAutoFit/>
          </a:bodyPr>
          <a:lstStyle/>
          <a:p>
            <a:r>
              <a:rPr sz="1100" b="0">
                <a:solidFill>
                  <a:srgbClr val="2E2E2E"/>
                </a:solidFill>
                <a:latin typeface="Calibri"/>
              </a:rPr>
              <a:t>over the forecast period. In terms of</a:t>
            </a:r>
          </a:p>
        </p:txBody>
      </p:sp>
      <p:sp>
        <p:nvSpPr>
          <p:cNvPr id="73" name="TextBox 72"/>
          <p:cNvSpPr txBox="1"/>
          <p:nvPr/>
        </p:nvSpPr>
        <p:spPr>
          <a:xfrm>
            <a:off x="485775" y="4732357"/>
            <a:ext cx="2875657" cy="186689"/>
          </a:xfrm>
          <a:prstGeom prst="rect">
            <a:avLst/>
          </a:prstGeom>
          <a:noFill/>
        </p:spPr>
        <p:txBody>
          <a:bodyPr wrap="none" lIns="0" rIns="0" tIns="0" bIns="0">
            <a:spAutoFit/>
          </a:bodyPr>
          <a:lstStyle/>
          <a:p>
            <a:r>
              <a:rPr sz="1100" b="0">
                <a:solidFill>
                  <a:srgbClr val="2E2E2E"/>
                </a:solidFill>
                <a:latin typeface="Calibri"/>
              </a:rPr>
              <a:t>value share by age group, the paediatric segment</a:t>
            </a:r>
          </a:p>
        </p:txBody>
      </p:sp>
      <p:sp>
        <p:nvSpPr>
          <p:cNvPr id="74" name="TextBox 73"/>
          <p:cNvSpPr txBox="1"/>
          <p:nvPr/>
        </p:nvSpPr>
        <p:spPr>
          <a:xfrm>
            <a:off x="485775" y="4899997"/>
            <a:ext cx="2585070" cy="186689"/>
          </a:xfrm>
          <a:prstGeom prst="rect">
            <a:avLst/>
          </a:prstGeom>
          <a:noFill/>
        </p:spPr>
        <p:txBody>
          <a:bodyPr wrap="none" lIns="0" rIns="0" tIns="0" bIns="0">
            <a:spAutoFit/>
          </a:bodyPr>
          <a:lstStyle/>
          <a:p>
            <a:r>
              <a:rPr sz="1100" b="0">
                <a:solidFill>
                  <a:srgbClr val="2E2E2E"/>
                </a:solidFill>
                <a:latin typeface="Calibri"/>
              </a:rPr>
              <a:t>is expected to dominate the market, gaining</a:t>
            </a:r>
          </a:p>
        </p:txBody>
      </p:sp>
      <p:pic>
        <p:nvPicPr>
          <p:cNvPr id="75" name="Picture 74" descr="lock.png"/>
          <p:cNvPicPr>
            <a:picLocks noChangeAspect="1"/>
          </p:cNvPicPr>
          <p:nvPr/>
        </p:nvPicPr>
        <p:blipFill>
          <a:blip r:embed="rId13"/>
          <a:stretch>
            <a:fillRect/>
          </a:stretch>
        </p:blipFill>
        <p:spPr>
          <a:xfrm>
            <a:off x="3018896" y="4890217"/>
            <a:ext cx="128699" cy="187198"/>
          </a:xfrm>
          <a:prstGeom prst="rect">
            <a:avLst/>
          </a:prstGeom>
        </p:spPr>
      </p:pic>
      <p:sp>
        <p:nvSpPr>
          <p:cNvPr id="76" name="TextBox 75"/>
          <p:cNvSpPr txBox="1"/>
          <p:nvPr/>
        </p:nvSpPr>
        <p:spPr>
          <a:xfrm>
            <a:off x="485775"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77" name="Picture 76" descr="lock.png"/>
          <p:cNvPicPr>
            <a:picLocks noChangeAspect="1"/>
          </p:cNvPicPr>
          <p:nvPr/>
        </p:nvPicPr>
        <p:blipFill>
          <a:blip r:embed="rId13"/>
          <a:stretch>
            <a:fillRect/>
          </a:stretch>
        </p:blipFill>
        <p:spPr>
          <a:xfrm>
            <a:off x="1820259" y="5057858"/>
            <a:ext cx="128699" cy="187198"/>
          </a:xfrm>
          <a:prstGeom prst="rect">
            <a:avLst/>
          </a:prstGeom>
        </p:spPr>
      </p:pic>
      <p:sp>
        <p:nvSpPr>
          <p:cNvPr id="78" name="TextBox 77"/>
          <p:cNvSpPr txBox="1"/>
          <p:nvPr/>
        </p:nvSpPr>
        <p:spPr>
          <a:xfrm>
            <a:off x="1987755"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79" name="TextBox 78"/>
          <p:cNvSpPr txBox="1"/>
          <p:nvPr/>
        </p:nvSpPr>
        <p:spPr>
          <a:xfrm>
            <a:off x="485775" y="5285569"/>
            <a:ext cx="2486025" cy="186689"/>
          </a:xfrm>
          <a:prstGeom prst="rect">
            <a:avLst/>
          </a:prstGeom>
          <a:noFill/>
        </p:spPr>
        <p:txBody>
          <a:bodyPr wrap="none" lIns="0" rIns="0" tIns="0" bIns="0">
            <a:spAutoFit/>
          </a:bodyPr>
          <a:lstStyle/>
          <a:p>
            <a:r>
              <a:rPr sz="1100" b="0">
                <a:solidFill>
                  <a:srgbClr val="2E2E2E"/>
                </a:solidFill>
                <a:latin typeface="Calibri"/>
              </a:rPr>
              <a:t>Paediatric segment is projected to register</a:t>
            </a:r>
          </a:p>
        </p:txBody>
      </p:sp>
      <p:pic>
        <p:nvPicPr>
          <p:cNvPr id="80" name="Picture 79" descr="lock.png"/>
          <p:cNvPicPr>
            <a:picLocks noChangeAspect="1"/>
          </p:cNvPicPr>
          <p:nvPr/>
        </p:nvPicPr>
        <p:blipFill>
          <a:blip r:embed="rId13"/>
          <a:stretch>
            <a:fillRect/>
          </a:stretch>
        </p:blipFill>
        <p:spPr>
          <a:xfrm>
            <a:off x="2919851" y="5275790"/>
            <a:ext cx="128699" cy="187198"/>
          </a:xfrm>
          <a:prstGeom prst="rect">
            <a:avLst/>
          </a:prstGeom>
        </p:spPr>
      </p:pic>
      <p:sp>
        <p:nvSpPr>
          <p:cNvPr id="81" name="TextBox 80"/>
          <p:cNvSpPr txBox="1"/>
          <p:nvPr/>
        </p:nvSpPr>
        <p:spPr>
          <a:xfrm>
            <a:off x="3087347" y="528556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82" name="TextBox 81"/>
          <p:cNvSpPr txBox="1"/>
          <p:nvPr/>
        </p:nvSpPr>
        <p:spPr>
          <a:xfrm>
            <a:off x="485775" y="5453209"/>
            <a:ext cx="2403623" cy="186689"/>
          </a:xfrm>
          <a:prstGeom prst="rect">
            <a:avLst/>
          </a:prstGeom>
          <a:noFill/>
        </p:spPr>
        <p:txBody>
          <a:bodyPr wrap="none" lIns="0" rIns="0" tIns="0" bIns="0">
            <a:spAutoFit/>
          </a:bodyPr>
          <a:lstStyle/>
          <a:p>
            <a:r>
              <a:rPr sz="1100" b="0">
                <a:solidFill>
                  <a:srgbClr val="2E2E2E"/>
                </a:solidFill>
                <a:latin typeface="Calibri"/>
              </a:rPr>
              <a:t>higher value than adult segment in 2036.</a:t>
            </a:r>
          </a:p>
        </p:txBody>
      </p:sp>
      <p:sp>
        <p:nvSpPr>
          <p:cNvPr id="83" name="TextBox 82"/>
          <p:cNvSpPr txBox="1"/>
          <p:nvPr/>
        </p:nvSpPr>
        <p:spPr>
          <a:xfrm>
            <a:off x="3838575" y="4229437"/>
            <a:ext cx="797892" cy="186689"/>
          </a:xfrm>
          <a:prstGeom prst="rect">
            <a:avLst/>
          </a:prstGeom>
          <a:noFill/>
        </p:spPr>
        <p:txBody>
          <a:bodyPr wrap="none" lIns="0" rIns="0" tIns="0" bIns="0">
            <a:spAutoFit/>
          </a:bodyPr>
          <a:lstStyle/>
          <a:p>
            <a:r>
              <a:rPr sz="1100" b="0">
                <a:solidFill>
                  <a:srgbClr val="2E2E2E"/>
                </a:solidFill>
                <a:latin typeface="Calibri"/>
              </a:rPr>
              <a:t>● Paediatric:</a:t>
            </a:r>
          </a:p>
        </p:txBody>
      </p:sp>
      <p:pic>
        <p:nvPicPr>
          <p:cNvPr id="84" name="Picture 83" descr="lock.png"/>
          <p:cNvPicPr>
            <a:picLocks noChangeAspect="1"/>
          </p:cNvPicPr>
          <p:nvPr/>
        </p:nvPicPr>
        <p:blipFill>
          <a:blip r:embed="rId13"/>
          <a:stretch>
            <a:fillRect/>
          </a:stretch>
        </p:blipFill>
        <p:spPr>
          <a:xfrm>
            <a:off x="4584518" y="4219658"/>
            <a:ext cx="128699" cy="187198"/>
          </a:xfrm>
          <a:prstGeom prst="rect">
            <a:avLst/>
          </a:prstGeom>
        </p:spPr>
      </p:pic>
      <p:sp>
        <p:nvSpPr>
          <p:cNvPr id="85" name="TextBox 84"/>
          <p:cNvSpPr txBox="1"/>
          <p:nvPr/>
        </p:nvSpPr>
        <p:spPr>
          <a:xfrm>
            <a:off x="4752014"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6" name="Picture 85" descr="lock.png"/>
          <p:cNvPicPr>
            <a:picLocks noChangeAspect="1"/>
          </p:cNvPicPr>
          <p:nvPr/>
        </p:nvPicPr>
        <p:blipFill>
          <a:blip r:embed="rId13"/>
          <a:stretch>
            <a:fillRect/>
          </a:stretch>
        </p:blipFill>
        <p:spPr>
          <a:xfrm>
            <a:off x="5611465" y="4219658"/>
            <a:ext cx="128699" cy="187198"/>
          </a:xfrm>
          <a:prstGeom prst="rect">
            <a:avLst/>
          </a:prstGeom>
        </p:spPr>
      </p:pic>
      <p:sp>
        <p:nvSpPr>
          <p:cNvPr id="87" name="TextBox 86"/>
          <p:cNvSpPr txBox="1"/>
          <p:nvPr/>
        </p:nvSpPr>
        <p:spPr>
          <a:xfrm>
            <a:off x="5778960"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88" name="TextBox 87"/>
          <p:cNvSpPr txBox="1"/>
          <p:nvPr/>
        </p:nvSpPr>
        <p:spPr>
          <a:xfrm>
            <a:off x="3838575" y="4447369"/>
            <a:ext cx="536227" cy="186689"/>
          </a:xfrm>
          <a:prstGeom prst="rect">
            <a:avLst/>
          </a:prstGeom>
          <a:noFill/>
        </p:spPr>
        <p:txBody>
          <a:bodyPr wrap="none" lIns="0" rIns="0" tIns="0" bIns="0">
            <a:spAutoFit/>
          </a:bodyPr>
          <a:lstStyle/>
          <a:p>
            <a:r>
              <a:rPr sz="1100" b="0">
                <a:solidFill>
                  <a:srgbClr val="2E2E2E"/>
                </a:solidFill>
                <a:latin typeface="Calibri"/>
              </a:rPr>
              <a:t>● Adult:</a:t>
            </a:r>
          </a:p>
        </p:txBody>
      </p:sp>
      <p:pic>
        <p:nvPicPr>
          <p:cNvPr id="89" name="Picture 88" descr="lock.png"/>
          <p:cNvPicPr>
            <a:picLocks noChangeAspect="1"/>
          </p:cNvPicPr>
          <p:nvPr/>
        </p:nvPicPr>
        <p:blipFill>
          <a:blip r:embed="rId13"/>
          <a:stretch>
            <a:fillRect/>
          </a:stretch>
        </p:blipFill>
        <p:spPr>
          <a:xfrm>
            <a:off x="4322854" y="4437590"/>
            <a:ext cx="128699" cy="187198"/>
          </a:xfrm>
          <a:prstGeom prst="rect">
            <a:avLst/>
          </a:prstGeom>
        </p:spPr>
      </p:pic>
      <p:sp>
        <p:nvSpPr>
          <p:cNvPr id="90" name="TextBox 89"/>
          <p:cNvSpPr txBox="1"/>
          <p:nvPr/>
        </p:nvSpPr>
        <p:spPr>
          <a:xfrm>
            <a:off x="4490350"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1" name="Picture 90" descr="lock.png"/>
          <p:cNvPicPr>
            <a:picLocks noChangeAspect="1"/>
          </p:cNvPicPr>
          <p:nvPr/>
        </p:nvPicPr>
        <p:blipFill>
          <a:blip r:embed="rId13"/>
          <a:stretch>
            <a:fillRect/>
          </a:stretch>
        </p:blipFill>
        <p:spPr>
          <a:xfrm>
            <a:off x="5349800" y="4437590"/>
            <a:ext cx="128699" cy="187198"/>
          </a:xfrm>
          <a:prstGeom prst="rect">
            <a:avLst/>
          </a:prstGeom>
        </p:spPr>
      </p:pic>
      <p:sp>
        <p:nvSpPr>
          <p:cNvPr id="92" name="TextBox 91"/>
          <p:cNvSpPr txBox="1"/>
          <p:nvPr/>
        </p:nvSpPr>
        <p:spPr>
          <a:xfrm>
            <a:off x="5517296"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93" name="TextBox 92"/>
          <p:cNvSpPr txBox="1"/>
          <p:nvPr/>
        </p:nvSpPr>
        <p:spPr>
          <a:xfrm>
            <a:off x="3838575" y="4665301"/>
            <a:ext cx="722312" cy="186689"/>
          </a:xfrm>
          <a:prstGeom prst="rect">
            <a:avLst/>
          </a:prstGeom>
          <a:noFill/>
        </p:spPr>
        <p:txBody>
          <a:bodyPr wrap="none" lIns="0" rIns="0" tIns="0" bIns="0">
            <a:spAutoFit/>
          </a:bodyPr>
          <a:lstStyle/>
          <a:p>
            <a:r>
              <a:rPr sz="1100" b="0">
                <a:solidFill>
                  <a:srgbClr val="2E2E2E"/>
                </a:solidFill>
                <a:latin typeface="Calibri"/>
              </a:rPr>
              <a:t>● Geriatric:</a:t>
            </a:r>
          </a:p>
        </p:txBody>
      </p:sp>
      <p:pic>
        <p:nvPicPr>
          <p:cNvPr id="94" name="Picture 93" descr="lock.png"/>
          <p:cNvPicPr>
            <a:picLocks noChangeAspect="1"/>
          </p:cNvPicPr>
          <p:nvPr/>
        </p:nvPicPr>
        <p:blipFill>
          <a:blip r:embed="rId13"/>
          <a:stretch>
            <a:fillRect/>
          </a:stretch>
        </p:blipFill>
        <p:spPr>
          <a:xfrm>
            <a:off x="4508939" y="4655522"/>
            <a:ext cx="128699" cy="187198"/>
          </a:xfrm>
          <a:prstGeom prst="rect">
            <a:avLst/>
          </a:prstGeom>
        </p:spPr>
      </p:pic>
      <p:sp>
        <p:nvSpPr>
          <p:cNvPr id="95" name="TextBox 94"/>
          <p:cNvSpPr txBox="1"/>
          <p:nvPr/>
        </p:nvSpPr>
        <p:spPr>
          <a:xfrm>
            <a:off x="4676434"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6" name="Picture 95" descr="lock.png"/>
          <p:cNvPicPr>
            <a:picLocks noChangeAspect="1"/>
          </p:cNvPicPr>
          <p:nvPr/>
        </p:nvPicPr>
        <p:blipFill>
          <a:blip r:embed="rId13"/>
          <a:stretch>
            <a:fillRect/>
          </a:stretch>
        </p:blipFill>
        <p:spPr>
          <a:xfrm>
            <a:off x="5535885" y="4655522"/>
            <a:ext cx="128699" cy="187198"/>
          </a:xfrm>
          <a:prstGeom prst="rect">
            <a:avLst/>
          </a:prstGeom>
        </p:spPr>
      </p:pic>
      <p:sp>
        <p:nvSpPr>
          <p:cNvPr id="97" name="TextBox 96"/>
          <p:cNvSpPr txBox="1"/>
          <p:nvPr/>
        </p:nvSpPr>
        <p:spPr>
          <a:xfrm>
            <a:off x="5703380"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98" name="TextBox 97"/>
          <p:cNvSpPr txBox="1"/>
          <p:nvPr/>
        </p:nvSpPr>
        <p:spPr>
          <a:xfrm>
            <a:off x="8524875" y="5842641"/>
            <a:ext cx="3043696" cy="194310"/>
          </a:xfrm>
          <a:prstGeom prst="rect">
            <a:avLst/>
          </a:prstGeom>
          <a:noFill/>
        </p:spPr>
        <p:txBody>
          <a:bodyPr wrap="none" lIns="0" rIns="0" tIns="0" bIns="0">
            <a:spAutoFit/>
          </a:bodyPr>
          <a:lstStyle/>
          <a:p>
            <a:r>
              <a:rPr sz="1150" b="1">
                <a:solidFill>
                  <a:srgbClr val="0B2E4A"/>
                </a:solidFill>
                <a:latin typeface="Calibri"/>
              </a:rPr>
              <a:t>The Age Group segment is projected to grow at a</a:t>
            </a:r>
          </a:p>
        </p:txBody>
      </p:sp>
      <p:sp>
        <p:nvSpPr>
          <p:cNvPr id="99" name="TextBox 98"/>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00" name="Picture 99" descr="lock.png"/>
          <p:cNvPicPr>
            <a:picLocks noChangeAspect="1"/>
          </p:cNvPicPr>
          <p:nvPr/>
        </p:nvPicPr>
        <p:blipFill>
          <a:blip r:embed="rId13"/>
          <a:stretch>
            <a:fillRect/>
          </a:stretch>
        </p:blipFill>
        <p:spPr>
          <a:xfrm>
            <a:off x="9048826" y="6007677"/>
            <a:ext cx="134549" cy="195707"/>
          </a:xfrm>
          <a:prstGeom prst="rect">
            <a:avLst/>
          </a:prstGeom>
        </p:spPr>
      </p:pic>
      <p:sp>
        <p:nvSpPr>
          <p:cNvPr id="101" name="TextBox 100"/>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Age Group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Age Group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Age Group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Age Group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589717" cy="186689"/>
          </a:xfrm>
          <a:prstGeom prst="rect">
            <a:avLst/>
          </a:prstGeom>
          <a:noFill/>
        </p:spPr>
        <p:txBody>
          <a:bodyPr wrap="none" lIns="0" rIns="0" tIns="0" bIns="0">
            <a:spAutoFit/>
          </a:bodyPr>
          <a:lstStyle/>
          <a:p>
            <a:r>
              <a:rPr sz="1100" b="0">
                <a:solidFill>
                  <a:srgbClr val="2E2E2E"/>
                </a:solidFill>
                <a:latin typeface="Calibri"/>
              </a:rPr>
              <a:t>Paediatric followed by adult are expected to be the two most attractive age group segments in the global ear wax removal products market in terms of value over the forecast period. Paediatric and adult</a:t>
            </a:r>
          </a:p>
        </p:txBody>
      </p:sp>
      <p:sp>
        <p:nvSpPr>
          <p:cNvPr id="20" name="TextBox 19"/>
          <p:cNvSpPr txBox="1"/>
          <p:nvPr/>
        </p:nvSpPr>
        <p:spPr>
          <a:xfrm>
            <a:off x="257175" y="5945505"/>
            <a:ext cx="1402514" cy="186689"/>
          </a:xfrm>
          <a:prstGeom prst="rect">
            <a:avLst/>
          </a:prstGeom>
          <a:noFill/>
        </p:spPr>
        <p:txBody>
          <a:bodyPr wrap="none" lIns="0" rIns="0" tIns="0" bIns="0">
            <a:spAutoFit/>
          </a:bodyPr>
          <a:lstStyle/>
          <a:p>
            <a:r>
              <a:rPr sz="1100" b="0">
                <a:solidFill>
                  <a:srgbClr val="2E2E2E"/>
                </a:solidFill>
                <a:latin typeface="Calibri"/>
              </a:rPr>
              <a:t>exhibit a CAGR index of</a:t>
            </a:r>
          </a:p>
        </p:txBody>
      </p:sp>
      <p:pic>
        <p:nvPicPr>
          <p:cNvPr id="21" name="Picture 20" descr="lock.png"/>
          <p:cNvPicPr>
            <a:picLocks noChangeAspect="1"/>
          </p:cNvPicPr>
          <p:nvPr/>
        </p:nvPicPr>
        <p:blipFill>
          <a:blip r:embed="rId6"/>
          <a:stretch>
            <a:fillRect/>
          </a:stretch>
        </p:blipFill>
        <p:spPr>
          <a:xfrm>
            <a:off x="1607740" y="5935726"/>
            <a:ext cx="128699" cy="187198"/>
          </a:xfrm>
          <a:prstGeom prst="rect">
            <a:avLst/>
          </a:prstGeom>
        </p:spPr>
      </p:pic>
      <p:sp>
        <p:nvSpPr>
          <p:cNvPr id="22" name="TextBox 21"/>
          <p:cNvSpPr txBox="1"/>
          <p:nvPr/>
        </p:nvSpPr>
        <p:spPr>
          <a:xfrm>
            <a:off x="1775236"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2013131" y="5935726"/>
            <a:ext cx="128699" cy="187198"/>
          </a:xfrm>
          <a:prstGeom prst="rect">
            <a:avLst/>
          </a:prstGeom>
        </p:spPr>
      </p:pic>
      <p:sp>
        <p:nvSpPr>
          <p:cNvPr id="24" name="TextBox 23"/>
          <p:cNvSpPr txBox="1"/>
          <p:nvPr/>
        </p:nvSpPr>
        <p:spPr>
          <a:xfrm>
            <a:off x="2180626"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3789600" y="5935726"/>
            <a:ext cx="128699" cy="187198"/>
          </a:xfrm>
          <a:prstGeom prst="rect">
            <a:avLst/>
          </a:prstGeom>
        </p:spPr>
      </p:pic>
      <p:sp>
        <p:nvSpPr>
          <p:cNvPr id="26" name="TextBox 25"/>
          <p:cNvSpPr txBox="1"/>
          <p:nvPr/>
        </p:nvSpPr>
        <p:spPr>
          <a:xfrm>
            <a:off x="3957096"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4194990" y="5935726"/>
            <a:ext cx="128699" cy="187198"/>
          </a:xfrm>
          <a:prstGeom prst="rect">
            <a:avLst/>
          </a:prstGeom>
        </p:spPr>
      </p:pic>
      <p:sp>
        <p:nvSpPr>
          <p:cNvPr id="28" name="TextBox 27"/>
          <p:cNvSpPr txBox="1"/>
          <p:nvPr/>
        </p:nvSpPr>
        <p:spPr>
          <a:xfrm>
            <a:off x="4362486"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6916890" y="5935726"/>
            <a:ext cx="128699" cy="187198"/>
          </a:xfrm>
          <a:prstGeom prst="rect">
            <a:avLst/>
          </a:prstGeom>
        </p:spPr>
      </p:pic>
      <p:sp>
        <p:nvSpPr>
          <p:cNvPr id="30" name="TextBox 29"/>
          <p:cNvSpPr txBox="1"/>
          <p:nvPr/>
        </p:nvSpPr>
        <p:spPr>
          <a:xfrm>
            <a:off x="7084386" y="5945505"/>
            <a:ext cx="4113584" cy="186689"/>
          </a:xfrm>
          <a:prstGeom prst="rect">
            <a:avLst/>
          </a:prstGeom>
          <a:noFill/>
        </p:spPr>
        <p:txBody>
          <a:bodyPr wrap="none" lIns="0" rIns="0" tIns="0" bIns="0">
            <a:spAutoFit/>
          </a:bodyPr>
          <a:lstStyle/>
          <a:p>
            <a:r>
              <a:rPr sz="1100" b="0">
                <a:solidFill>
                  <a:srgbClr val="2E2E2E"/>
                </a:solidFill>
                <a:latin typeface="Calibri"/>
              </a:rPr>
              <a:t>. The geriatric segment is expected to be less attractive as compared to</a:t>
            </a:r>
          </a:p>
        </p:txBody>
      </p:sp>
      <p:sp>
        <p:nvSpPr>
          <p:cNvPr id="31" name="TextBox 30"/>
          <p:cNvSpPr txBox="1"/>
          <p:nvPr/>
        </p:nvSpPr>
        <p:spPr>
          <a:xfrm>
            <a:off x="257175" y="6113145"/>
            <a:ext cx="9845888" cy="186689"/>
          </a:xfrm>
          <a:prstGeom prst="rect">
            <a:avLst/>
          </a:prstGeom>
          <a:noFill/>
        </p:spPr>
        <p:txBody>
          <a:bodyPr wrap="none" lIns="0" rIns="0" tIns="0" bIns="0">
            <a:spAutoFit/>
          </a:bodyPr>
          <a:lstStyle/>
          <a:p>
            <a:r>
              <a:rPr sz="1100" b="0">
                <a:solidFill>
                  <a:srgbClr val="2E2E2E"/>
                </a:solidFill>
                <a:latin typeface="Calibri"/>
              </a:rPr>
              <a:t>other segments over 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Age Group</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Age Group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Paediatric</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Adult</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Geriatric</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3952875"/>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Age Group</a:t>
            </a:r>
          </a:p>
        </p:txBody>
      </p:sp>
      <p:sp>
        <p:nvSpPr>
          <p:cNvPr id="21" name="Rectangle 20"/>
          <p:cNvSpPr/>
          <p:nvPr/>
        </p:nvSpPr>
        <p:spPr>
          <a:xfrm>
            <a:off x="6305550" y="41910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4276725"/>
            <a:ext cx="5610225" cy="22669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7"/>
          <a:stretch>
            <a:fillRect/>
          </a:stretch>
        </p:blipFill>
        <p:spPr>
          <a:xfrm>
            <a:off x="3094826" y="2237234"/>
            <a:ext cx="263506" cy="383281"/>
          </a:xfrm>
          <a:prstGeom prst="rect">
            <a:avLst/>
          </a:prstGeom>
        </p:spPr>
      </p:pic>
      <p:pic>
        <p:nvPicPr>
          <p:cNvPr id="25" name="Picture 24" descr="lock.png"/>
          <p:cNvPicPr>
            <a:picLocks noChangeAspect="1"/>
          </p:cNvPicPr>
          <p:nvPr/>
        </p:nvPicPr>
        <p:blipFill>
          <a:blip r:embed="rId7"/>
          <a:stretch>
            <a:fillRect/>
          </a:stretch>
        </p:blipFill>
        <p:spPr>
          <a:xfrm>
            <a:off x="9124151" y="2237234"/>
            <a:ext cx="263506" cy="383281"/>
          </a:xfrm>
          <a:prstGeom prst="rect">
            <a:avLst/>
          </a:prstGeom>
        </p:spPr>
      </p:pic>
      <p:pic>
        <p:nvPicPr>
          <p:cNvPr id="26" name="Picture 25" descr="lock.png"/>
          <p:cNvPicPr>
            <a:picLocks noChangeAspect="1"/>
          </p:cNvPicPr>
          <p:nvPr/>
        </p:nvPicPr>
        <p:blipFill>
          <a:blip r:embed="rId7"/>
          <a:stretch>
            <a:fillRect/>
          </a:stretch>
        </p:blipFill>
        <p:spPr>
          <a:xfrm>
            <a:off x="3094826" y="5123309"/>
            <a:ext cx="263506" cy="383281"/>
          </a:xfrm>
          <a:prstGeom prst="rect">
            <a:avLst/>
          </a:prstGeom>
        </p:spPr>
      </p:pic>
      <p:sp>
        <p:nvSpPr>
          <p:cNvPr id="27" name="TextBox 26"/>
          <p:cNvSpPr txBox="1"/>
          <p:nvPr/>
        </p:nvSpPr>
        <p:spPr>
          <a:xfrm>
            <a:off x="6305550" y="4286250"/>
            <a:ext cx="4096546" cy="194310"/>
          </a:xfrm>
          <a:prstGeom prst="rect">
            <a:avLst/>
          </a:prstGeom>
          <a:noFill/>
        </p:spPr>
        <p:txBody>
          <a:bodyPr wrap="none" lIns="0" rIns="0" tIns="0" bIns="0">
            <a:spAutoFit/>
          </a:bodyPr>
          <a:lstStyle/>
          <a:p>
            <a:r>
              <a:rPr sz="1150" b="0">
                <a:solidFill>
                  <a:srgbClr val="2E2E2E"/>
                </a:solidFill>
                <a:latin typeface="Calibri"/>
              </a:rPr>
              <a:t>By 2036, paediatric segment is anticipated to witness an increase of</a:t>
            </a:r>
          </a:p>
        </p:txBody>
      </p:sp>
      <p:pic>
        <p:nvPicPr>
          <p:cNvPr id="28" name="Picture 27" descr="lock.png"/>
          <p:cNvPicPr>
            <a:picLocks noChangeAspect="1"/>
          </p:cNvPicPr>
          <p:nvPr/>
        </p:nvPicPr>
        <p:blipFill>
          <a:blip r:embed="rId7"/>
          <a:stretch>
            <a:fillRect/>
          </a:stretch>
        </p:blipFill>
        <p:spPr>
          <a:xfrm>
            <a:off x="10351250" y="4276026"/>
            <a:ext cx="134549" cy="195707"/>
          </a:xfrm>
          <a:prstGeom prst="rect">
            <a:avLst/>
          </a:prstGeom>
        </p:spPr>
      </p:pic>
      <p:sp>
        <p:nvSpPr>
          <p:cNvPr id="29" name="TextBox 28"/>
          <p:cNvSpPr txBox="1"/>
          <p:nvPr/>
        </p:nvSpPr>
        <p:spPr>
          <a:xfrm>
            <a:off x="10526359" y="4286250"/>
            <a:ext cx="1341871" cy="194310"/>
          </a:xfrm>
          <a:prstGeom prst="rect">
            <a:avLst/>
          </a:prstGeom>
          <a:noFill/>
        </p:spPr>
        <p:txBody>
          <a:bodyPr wrap="none" lIns="0" rIns="0" tIns="0" bIns="0">
            <a:spAutoFit/>
          </a:bodyPr>
          <a:lstStyle/>
          <a:p>
            <a:r>
              <a:rPr sz="1150" b="0">
                <a:solidFill>
                  <a:srgbClr val="2E2E2E"/>
                </a:solidFill>
                <a:latin typeface="Calibri"/>
              </a:rPr>
              <a:t>X in terms of value as</a:t>
            </a:r>
          </a:p>
        </p:txBody>
      </p:sp>
      <p:sp>
        <p:nvSpPr>
          <p:cNvPr id="30" name="TextBox 29"/>
          <p:cNvSpPr txBox="1"/>
          <p:nvPr/>
        </p:nvSpPr>
        <p:spPr>
          <a:xfrm>
            <a:off x="6305550" y="4461510"/>
            <a:ext cx="5577036" cy="194310"/>
          </a:xfrm>
          <a:prstGeom prst="rect">
            <a:avLst/>
          </a:prstGeom>
          <a:noFill/>
        </p:spPr>
        <p:txBody>
          <a:bodyPr wrap="none" lIns="0" rIns="0" tIns="0" bIns="0">
            <a:spAutoFit/>
          </a:bodyPr>
          <a:lstStyle/>
          <a:p>
            <a:r>
              <a:rPr sz="1150" b="0">
                <a:solidFill>
                  <a:srgbClr val="2E2E2E"/>
                </a:solidFill>
                <a:latin typeface="Calibri"/>
              </a:rPr>
              <a:t>compared to 2026. The paediatric segment is expected to create an incremental opportunity</a:t>
            </a:r>
          </a:p>
        </p:txBody>
      </p:sp>
      <p:sp>
        <p:nvSpPr>
          <p:cNvPr id="31" name="TextBox 30"/>
          <p:cNvSpPr txBox="1"/>
          <p:nvPr/>
        </p:nvSpPr>
        <p:spPr>
          <a:xfrm>
            <a:off x="6305550" y="4636770"/>
            <a:ext cx="465856" cy="194310"/>
          </a:xfrm>
          <a:prstGeom prst="rect">
            <a:avLst/>
          </a:prstGeom>
          <a:noFill/>
        </p:spPr>
        <p:txBody>
          <a:bodyPr wrap="none" lIns="0" rIns="0" tIns="0" bIns="0">
            <a:spAutoFit/>
          </a:bodyPr>
          <a:lstStyle/>
          <a:p>
            <a:r>
              <a:rPr sz="1150" b="0">
                <a:solidFill>
                  <a:srgbClr val="2E2E2E"/>
                </a:solidFill>
                <a:latin typeface="Calibri"/>
              </a:rPr>
              <a:t>of US$</a:t>
            </a:r>
          </a:p>
        </p:txBody>
      </p:sp>
      <p:pic>
        <p:nvPicPr>
          <p:cNvPr id="32" name="Picture 31" descr="lock.png"/>
          <p:cNvPicPr>
            <a:picLocks noChangeAspect="1"/>
          </p:cNvPicPr>
          <p:nvPr/>
        </p:nvPicPr>
        <p:blipFill>
          <a:blip r:embed="rId7"/>
          <a:stretch>
            <a:fillRect/>
          </a:stretch>
        </p:blipFill>
        <p:spPr>
          <a:xfrm>
            <a:off x="6720560" y="4626546"/>
            <a:ext cx="134549" cy="195707"/>
          </a:xfrm>
          <a:prstGeom prst="rect">
            <a:avLst/>
          </a:prstGeom>
        </p:spPr>
      </p:pic>
      <p:sp>
        <p:nvSpPr>
          <p:cNvPr id="33" name="TextBox 32"/>
          <p:cNvSpPr txBox="1"/>
          <p:nvPr/>
        </p:nvSpPr>
        <p:spPr>
          <a:xfrm>
            <a:off x="6895670" y="4636770"/>
            <a:ext cx="4365848" cy="194310"/>
          </a:xfrm>
          <a:prstGeom prst="rect">
            <a:avLst/>
          </a:prstGeom>
          <a:noFill/>
        </p:spPr>
        <p:txBody>
          <a:bodyPr wrap="none" lIns="0" rIns="0" tIns="0" bIns="0">
            <a:spAutoFit/>
          </a:bodyPr>
          <a:lstStyle/>
          <a:p>
            <a:r>
              <a:rPr sz="1150" b="0">
                <a:solidFill>
                  <a:srgbClr val="2E2E2E"/>
                </a:solidFill>
                <a:latin typeface="Calibri"/>
              </a:rPr>
              <a:t>Mn for the overall ear wax removal products market from 2026 to 2036.</a:t>
            </a:r>
          </a:p>
        </p:txBody>
      </p:sp>
      <p:sp>
        <p:nvSpPr>
          <p:cNvPr id="34" name="TextBox 33"/>
          <p:cNvSpPr txBox="1"/>
          <p:nvPr/>
        </p:nvSpPr>
        <p:spPr>
          <a:xfrm>
            <a:off x="6305550" y="4864607"/>
            <a:ext cx="4548981" cy="194310"/>
          </a:xfrm>
          <a:prstGeom prst="rect">
            <a:avLst/>
          </a:prstGeom>
          <a:noFill/>
        </p:spPr>
        <p:txBody>
          <a:bodyPr wrap="none" lIns="0" rIns="0" tIns="0" bIns="0">
            <a:spAutoFit/>
          </a:bodyPr>
          <a:lstStyle/>
          <a:p>
            <a:r>
              <a:rPr sz="1150" b="0">
                <a:solidFill>
                  <a:srgbClr val="2E2E2E"/>
                </a:solidFill>
                <a:latin typeface="Calibri"/>
              </a:rPr>
              <a:t>The adult segment is expected to create an incremental opportunity of US$</a:t>
            </a:r>
          </a:p>
        </p:txBody>
      </p:sp>
      <p:pic>
        <p:nvPicPr>
          <p:cNvPr id="35" name="Picture 34" descr="lock.png"/>
          <p:cNvPicPr>
            <a:picLocks noChangeAspect="1"/>
          </p:cNvPicPr>
          <p:nvPr/>
        </p:nvPicPr>
        <p:blipFill>
          <a:blip r:embed="rId7"/>
          <a:stretch>
            <a:fillRect/>
          </a:stretch>
        </p:blipFill>
        <p:spPr>
          <a:xfrm>
            <a:off x="10803685" y="4854384"/>
            <a:ext cx="134549" cy="195707"/>
          </a:xfrm>
          <a:prstGeom prst="rect">
            <a:avLst/>
          </a:prstGeom>
        </p:spPr>
      </p:pic>
      <p:sp>
        <p:nvSpPr>
          <p:cNvPr id="36" name="TextBox 35"/>
          <p:cNvSpPr txBox="1"/>
          <p:nvPr/>
        </p:nvSpPr>
        <p:spPr>
          <a:xfrm>
            <a:off x="10978794" y="4864607"/>
            <a:ext cx="715168" cy="194310"/>
          </a:xfrm>
          <a:prstGeom prst="rect">
            <a:avLst/>
          </a:prstGeom>
          <a:noFill/>
        </p:spPr>
        <p:txBody>
          <a:bodyPr wrap="none" lIns="0" rIns="0" tIns="0" bIns="0">
            <a:spAutoFit/>
          </a:bodyPr>
          <a:lstStyle/>
          <a:p>
            <a:r>
              <a:rPr sz="1150" b="0">
                <a:solidFill>
                  <a:srgbClr val="2E2E2E"/>
                </a:solidFill>
                <a:latin typeface="Calibri"/>
              </a:rPr>
              <a:t>Mn for the</a:t>
            </a:r>
          </a:p>
        </p:txBody>
      </p:sp>
      <p:sp>
        <p:nvSpPr>
          <p:cNvPr id="37" name="TextBox 36"/>
          <p:cNvSpPr txBox="1"/>
          <p:nvPr/>
        </p:nvSpPr>
        <p:spPr>
          <a:xfrm>
            <a:off x="6305550" y="5039867"/>
            <a:ext cx="5143165" cy="194310"/>
          </a:xfrm>
          <a:prstGeom prst="rect">
            <a:avLst/>
          </a:prstGeom>
          <a:noFill/>
        </p:spPr>
        <p:txBody>
          <a:bodyPr wrap="none" lIns="0" rIns="0" tIns="0" bIns="0">
            <a:spAutoFit/>
          </a:bodyPr>
          <a:lstStyle/>
          <a:p>
            <a:r>
              <a:rPr sz="1150" b="0">
                <a:solidFill>
                  <a:srgbClr val="2E2E2E"/>
                </a:solidFill>
                <a:latin typeface="Calibri"/>
              </a:rPr>
              <a:t>overall ear wax removal products market from 2026 to 2036. The geriatric segment is</a:t>
            </a:r>
          </a:p>
        </p:txBody>
      </p:sp>
      <p:sp>
        <p:nvSpPr>
          <p:cNvPr id="38" name="TextBox 37"/>
          <p:cNvSpPr txBox="1"/>
          <p:nvPr/>
        </p:nvSpPr>
        <p:spPr>
          <a:xfrm>
            <a:off x="6305550" y="5215127"/>
            <a:ext cx="3285306" cy="194310"/>
          </a:xfrm>
          <a:prstGeom prst="rect">
            <a:avLst/>
          </a:prstGeom>
          <a:noFill/>
        </p:spPr>
        <p:txBody>
          <a:bodyPr wrap="none" lIns="0" rIns="0" tIns="0" bIns="0">
            <a:spAutoFit/>
          </a:bodyPr>
          <a:lstStyle/>
          <a:p>
            <a:r>
              <a:rPr sz="1150" b="0">
                <a:solidFill>
                  <a:srgbClr val="2E2E2E"/>
                </a:solidFill>
                <a:latin typeface="Calibri"/>
              </a:rPr>
              <a:t>expected to create an incremental opportunity of US$</a:t>
            </a:r>
          </a:p>
        </p:txBody>
      </p:sp>
      <p:pic>
        <p:nvPicPr>
          <p:cNvPr id="39" name="Picture 38" descr="lock.png"/>
          <p:cNvPicPr>
            <a:picLocks noChangeAspect="1"/>
          </p:cNvPicPr>
          <p:nvPr/>
        </p:nvPicPr>
        <p:blipFill>
          <a:blip r:embed="rId7"/>
          <a:stretch>
            <a:fillRect/>
          </a:stretch>
        </p:blipFill>
        <p:spPr>
          <a:xfrm>
            <a:off x="9540010" y="5204904"/>
            <a:ext cx="134549" cy="195707"/>
          </a:xfrm>
          <a:prstGeom prst="rect">
            <a:avLst/>
          </a:prstGeom>
        </p:spPr>
      </p:pic>
      <p:sp>
        <p:nvSpPr>
          <p:cNvPr id="40" name="TextBox 39"/>
          <p:cNvSpPr txBox="1"/>
          <p:nvPr/>
        </p:nvSpPr>
        <p:spPr>
          <a:xfrm>
            <a:off x="9715119" y="5215127"/>
            <a:ext cx="2169678" cy="194310"/>
          </a:xfrm>
          <a:prstGeom prst="rect">
            <a:avLst/>
          </a:prstGeom>
          <a:noFill/>
        </p:spPr>
        <p:txBody>
          <a:bodyPr wrap="none" lIns="0" rIns="0" tIns="0" bIns="0">
            <a:spAutoFit/>
          </a:bodyPr>
          <a:lstStyle/>
          <a:p>
            <a:r>
              <a:rPr sz="1150" b="0">
                <a:solidFill>
                  <a:srgbClr val="2E2E2E"/>
                </a:solidFill>
                <a:latin typeface="Calibri"/>
              </a:rPr>
              <a:t>Mn for the overall ear wax removal</a:t>
            </a:r>
          </a:p>
        </p:txBody>
      </p:sp>
      <p:sp>
        <p:nvSpPr>
          <p:cNvPr id="41" name="TextBox 40"/>
          <p:cNvSpPr txBox="1"/>
          <p:nvPr/>
        </p:nvSpPr>
        <p:spPr>
          <a:xfrm>
            <a:off x="6305550" y="5390387"/>
            <a:ext cx="2239280" cy="194310"/>
          </a:xfrm>
          <a:prstGeom prst="rect">
            <a:avLst/>
          </a:prstGeom>
          <a:noFill/>
        </p:spPr>
        <p:txBody>
          <a:bodyPr wrap="none" lIns="0" rIns="0" tIns="0" bIns="0">
            <a:spAutoFit/>
          </a:bodyPr>
          <a:lstStyle/>
          <a:p>
            <a:r>
              <a:rPr sz="1150" b="0">
                <a:solidFill>
                  <a:srgbClr val="2E2E2E"/>
                </a:solidFill>
                <a:latin typeface="Calibri"/>
              </a:rPr>
              <a:t>products market from 2026 to 2036.</a:t>
            </a:r>
          </a:p>
        </p:txBody>
      </p:sp>
      <p:sp>
        <p:nvSpPr>
          <p:cNvPr id="42"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Age Group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Age Group, 2021–2036, highlighting the sub-segments driving growth</a:t>
            </a:r>
          </a:p>
        </p:txBody>
      </p:sp>
      <p:sp>
        <p:nvSpPr>
          <p:cNvPr id="10" name="Rounded Rectangle 9"/>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Age Group (US$ Mn)</a:t>
            </a:r>
          </a:p>
        </p:txBody>
      </p:sp>
      <p:graphicFrame>
        <p:nvGraphicFramePr>
          <p:cNvPr id="12" name="Table 11"/>
          <p:cNvGraphicFramePr>
            <a:graphicFrameLocks noGrp="1"/>
          </p:cNvGraphicFramePr>
          <p:nvPr/>
        </p:nvGraphicFramePr>
        <p:xfrm>
          <a:off x="152400" y="1238250"/>
          <a:ext cx="11887204" cy="1238250"/>
        </p:xfrm>
        <a:graphic>
          <a:graphicData uri="http://schemas.openxmlformats.org/drawingml/2006/table">
            <a:tbl>
              <a:tblPr>
                <a:tableStyleId>{5C22544A-7EE6-4342-B048-85BDC9FD1C3A}</a:tableStyleId>
              </a:tblPr>
              <a:tblGrid>
                <a:gridCol w="874587"/>
                <a:gridCol w="647801"/>
                <a:gridCol w="647801"/>
                <a:gridCol w="647801"/>
                <a:gridCol w="647801"/>
                <a:gridCol w="647801"/>
                <a:gridCol w="647801"/>
                <a:gridCol w="647801"/>
                <a:gridCol w="647801"/>
                <a:gridCol w="647801"/>
                <a:gridCol w="647801"/>
                <a:gridCol w="647801"/>
                <a:gridCol w="647801"/>
                <a:gridCol w="647801"/>
                <a:gridCol w="647801"/>
                <a:gridCol w="647801"/>
                <a:gridCol w="647801"/>
                <a:gridCol w="647801"/>
              </a:tblGrid>
              <a:tr h="246126">
                <a:tc>
                  <a:txBody>
                    <a:bodyPr wrap="none"/>
                    <a:lstStyle/>
                    <a:p>
                      <a:pPr algn="l"/>
                      <a:r>
                        <a:rPr sz="1100" b="1">
                          <a:solidFill>
                            <a:srgbClr val="0B2E4A"/>
                          </a:solidFill>
                          <a:latin typeface="Calibri"/>
                        </a:rPr>
                        <a:t>Age Group</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Paediatric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Adult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Geriatric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819400"/>
            <a:ext cx="1190625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Age Group</a:t>
            </a:r>
          </a:p>
        </p:txBody>
      </p:sp>
      <p:sp>
        <p:nvSpPr>
          <p:cNvPr id="16" name="Rectangle 15"/>
          <p:cNvSpPr/>
          <p:nvPr/>
        </p:nvSpPr>
        <p:spPr>
          <a:xfrm>
            <a:off x="276225" y="31432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346605" y="1713738"/>
            <a:ext cx="366712" cy="533400"/>
          </a:xfrm>
          <a:prstGeom prst="rect">
            <a:avLst/>
          </a:prstGeom>
        </p:spPr>
      </p:pic>
      <p:sp>
        <p:nvSpPr>
          <p:cNvPr id="20" name="TextBox 19"/>
          <p:cNvSpPr txBox="1"/>
          <p:nvPr/>
        </p:nvSpPr>
        <p:spPr>
          <a:xfrm>
            <a:off x="276225" y="3238500"/>
            <a:ext cx="2595562" cy="194310"/>
          </a:xfrm>
          <a:prstGeom prst="rect">
            <a:avLst/>
          </a:prstGeom>
          <a:noFill/>
        </p:spPr>
        <p:txBody>
          <a:bodyPr wrap="none" lIns="0" rIns="0" tIns="0" bIns="0">
            <a:spAutoFit/>
          </a:bodyPr>
          <a:lstStyle/>
          <a:p>
            <a:r>
              <a:rPr sz="1150" b="0">
                <a:solidFill>
                  <a:srgbClr val="2E2E2E"/>
                </a:solidFill>
                <a:latin typeface="Calibri"/>
              </a:rPr>
              <a:t>Paediatric segment is projected to register</a:t>
            </a:r>
          </a:p>
        </p:txBody>
      </p:sp>
      <p:pic>
        <p:nvPicPr>
          <p:cNvPr id="21" name="Picture 20" descr="lock.png"/>
          <p:cNvPicPr>
            <a:picLocks noChangeAspect="1"/>
          </p:cNvPicPr>
          <p:nvPr/>
        </p:nvPicPr>
        <p:blipFill>
          <a:blip r:embed="rId4"/>
          <a:stretch>
            <a:fillRect/>
          </a:stretch>
        </p:blipFill>
        <p:spPr>
          <a:xfrm>
            <a:off x="2820941" y="3228276"/>
            <a:ext cx="134549" cy="195707"/>
          </a:xfrm>
          <a:prstGeom prst="rect">
            <a:avLst/>
          </a:prstGeom>
        </p:spPr>
      </p:pic>
      <p:sp>
        <p:nvSpPr>
          <p:cNvPr id="22" name="TextBox 21"/>
          <p:cNvSpPr txBox="1"/>
          <p:nvPr/>
        </p:nvSpPr>
        <p:spPr>
          <a:xfrm>
            <a:off x="2996050" y="3238500"/>
            <a:ext cx="8790403" cy="194310"/>
          </a:xfrm>
          <a:prstGeom prst="rect">
            <a:avLst/>
          </a:prstGeom>
          <a:noFill/>
        </p:spPr>
        <p:txBody>
          <a:bodyPr wrap="none" lIns="0" rIns="0" tIns="0" bIns="0">
            <a:spAutoFit/>
          </a:bodyPr>
          <a:lstStyle/>
          <a:p>
            <a:r>
              <a:rPr sz="1150" b="0">
                <a:solidFill>
                  <a:srgbClr val="2E2E2E"/>
                </a:solidFill>
                <a:latin typeface="Calibri"/>
              </a:rPr>
              <a:t>X higher value than adult segment in 2036. Among ear wax removal products by age group, adult segment is expected to witness the highest CAGR</a:t>
            </a:r>
          </a:p>
        </p:txBody>
      </p:sp>
      <p:sp>
        <p:nvSpPr>
          <p:cNvPr id="23" name="TextBox 22"/>
          <p:cNvSpPr txBox="1"/>
          <p:nvPr/>
        </p:nvSpPr>
        <p:spPr>
          <a:xfrm>
            <a:off x="276225" y="3413760"/>
            <a:ext cx="197718" cy="194310"/>
          </a:xfrm>
          <a:prstGeom prst="rect">
            <a:avLst/>
          </a:prstGeom>
          <a:noFill/>
        </p:spPr>
        <p:txBody>
          <a:bodyPr wrap="none" lIns="0" rIns="0" tIns="0" bIns="0">
            <a:spAutoFit/>
          </a:bodyPr>
          <a:lstStyle/>
          <a:p>
            <a:r>
              <a:rPr sz="1150" b="0">
                <a:solidFill>
                  <a:srgbClr val="2E2E2E"/>
                </a:solidFill>
                <a:latin typeface="Calibri"/>
              </a:rPr>
              <a:t>of</a:t>
            </a:r>
          </a:p>
        </p:txBody>
      </p:sp>
      <p:pic>
        <p:nvPicPr>
          <p:cNvPr id="24" name="Picture 23" descr="lock.png"/>
          <p:cNvPicPr>
            <a:picLocks noChangeAspect="1"/>
          </p:cNvPicPr>
          <p:nvPr/>
        </p:nvPicPr>
        <p:blipFill>
          <a:blip r:embed="rId4"/>
          <a:stretch>
            <a:fillRect/>
          </a:stretch>
        </p:blipFill>
        <p:spPr>
          <a:xfrm>
            <a:off x="423097" y="3403536"/>
            <a:ext cx="134549" cy="195707"/>
          </a:xfrm>
          <a:prstGeom prst="rect">
            <a:avLst/>
          </a:prstGeom>
        </p:spPr>
      </p:pic>
      <p:sp>
        <p:nvSpPr>
          <p:cNvPr id="25" name="TextBox 24"/>
          <p:cNvSpPr txBox="1"/>
          <p:nvPr/>
        </p:nvSpPr>
        <p:spPr>
          <a:xfrm>
            <a:off x="598206" y="34137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641597"/>
            <a:ext cx="6339805" cy="194310"/>
          </a:xfrm>
          <a:prstGeom prst="rect">
            <a:avLst/>
          </a:prstGeom>
          <a:noFill/>
        </p:spPr>
        <p:txBody>
          <a:bodyPr wrap="none" lIns="0" rIns="0" tIns="0" bIns="0">
            <a:spAutoFit/>
          </a:bodyPr>
          <a:lstStyle/>
          <a:p>
            <a:r>
              <a:rPr sz="1150" b="0">
                <a:solidFill>
                  <a:srgbClr val="2E2E2E"/>
                </a:solidFill>
                <a:latin typeface="Calibri"/>
              </a:rPr>
              <a:t>In terms of value share by age group, the paediatric segment is expected to dominate the market, gaining</a:t>
            </a:r>
          </a:p>
        </p:txBody>
      </p:sp>
      <p:pic>
        <p:nvPicPr>
          <p:cNvPr id="27" name="Picture 26" descr="lock.png"/>
          <p:cNvPicPr>
            <a:picLocks noChangeAspect="1"/>
          </p:cNvPicPr>
          <p:nvPr/>
        </p:nvPicPr>
        <p:blipFill>
          <a:blip r:embed="rId4"/>
          <a:stretch>
            <a:fillRect/>
          </a:stretch>
        </p:blipFill>
        <p:spPr>
          <a:xfrm>
            <a:off x="6565184" y="3631374"/>
            <a:ext cx="134549" cy="195707"/>
          </a:xfrm>
          <a:prstGeom prst="rect">
            <a:avLst/>
          </a:prstGeom>
        </p:spPr>
      </p:pic>
      <p:sp>
        <p:nvSpPr>
          <p:cNvPr id="28" name="TextBox 27"/>
          <p:cNvSpPr txBox="1"/>
          <p:nvPr/>
        </p:nvSpPr>
        <p:spPr>
          <a:xfrm>
            <a:off x="6740293" y="36415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135436" y="3631374"/>
            <a:ext cx="134549" cy="195707"/>
          </a:xfrm>
          <a:prstGeom prst="rect">
            <a:avLst/>
          </a:prstGeom>
        </p:spPr>
      </p:pic>
      <p:sp>
        <p:nvSpPr>
          <p:cNvPr id="30" name="TextBox 29"/>
          <p:cNvSpPr txBox="1"/>
          <p:nvPr/>
        </p:nvSpPr>
        <p:spPr>
          <a:xfrm>
            <a:off x="8310545" y="3641597"/>
            <a:ext cx="3407395" cy="194310"/>
          </a:xfrm>
          <a:prstGeom prst="rect">
            <a:avLst/>
          </a:prstGeom>
          <a:noFill/>
        </p:spPr>
        <p:txBody>
          <a:bodyPr wrap="none" lIns="0" rIns="0" tIns="0" bIns="0">
            <a:spAutoFit/>
          </a:bodyPr>
          <a:lstStyle/>
          <a:p>
            <a:r>
              <a:rPr sz="1150" b="0">
                <a:solidFill>
                  <a:srgbClr val="2E2E2E"/>
                </a:solidFill>
                <a:latin typeface="Calibri"/>
              </a:rPr>
              <a:t>share by 2036. The geriatric segment is expected to lose</a:t>
            </a:r>
          </a:p>
        </p:txBody>
      </p:sp>
      <p:pic>
        <p:nvPicPr>
          <p:cNvPr id="31" name="Picture 30" descr="lock.png"/>
          <p:cNvPicPr>
            <a:picLocks noChangeAspect="1"/>
          </p:cNvPicPr>
          <p:nvPr/>
        </p:nvPicPr>
        <p:blipFill>
          <a:blip r:embed="rId4"/>
          <a:stretch>
            <a:fillRect/>
          </a:stretch>
        </p:blipFill>
        <p:spPr>
          <a:xfrm>
            <a:off x="262145" y="3806634"/>
            <a:ext cx="134549" cy="195707"/>
          </a:xfrm>
          <a:prstGeom prst="rect">
            <a:avLst/>
          </a:prstGeom>
        </p:spPr>
      </p:pic>
      <p:sp>
        <p:nvSpPr>
          <p:cNvPr id="32" name="TextBox 31"/>
          <p:cNvSpPr txBox="1"/>
          <p:nvPr/>
        </p:nvSpPr>
        <p:spPr>
          <a:xfrm>
            <a:off x="437254" y="381685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3" name="Picture 32" descr="lock.png"/>
          <p:cNvPicPr>
            <a:picLocks noChangeAspect="1"/>
          </p:cNvPicPr>
          <p:nvPr/>
        </p:nvPicPr>
        <p:blipFill>
          <a:blip r:embed="rId4"/>
          <a:stretch>
            <a:fillRect/>
          </a:stretch>
        </p:blipFill>
        <p:spPr>
          <a:xfrm>
            <a:off x="3024759" y="3806634"/>
            <a:ext cx="134549" cy="195707"/>
          </a:xfrm>
          <a:prstGeom prst="rect">
            <a:avLst/>
          </a:prstGeom>
        </p:spPr>
      </p:pic>
      <p:sp>
        <p:nvSpPr>
          <p:cNvPr id="34" name="TextBox 33"/>
          <p:cNvSpPr txBox="1"/>
          <p:nvPr/>
        </p:nvSpPr>
        <p:spPr>
          <a:xfrm>
            <a:off x="3199868" y="381685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Age Group</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Age Group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Age Group ·  2021 / 2026 / 2036 (US$ Mn)  ·  right axis = BPS share shift</a:t>
            </a:r>
          </a:p>
        </p:txBody>
      </p:sp>
      <p:graphicFrame>
        <p:nvGraphicFramePr>
          <p:cNvPr id="12" name="Chart 11"/>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3932301"/>
            <a:ext cx="38100" cy="38100"/>
          </a:xfrm>
          <a:prstGeom prst="rect">
            <a:avLst/>
          </a:prstGeom>
          <a:noFill/>
        </p:spPr>
        <p:txBody>
          <a:bodyPr wrap="none">
            <a:spAutoFit/>
          </a:bodyPr>
          <a:lstStyle/>
          <a:p/>
        </p:txBody>
      </p:sp>
      <p:sp>
        <p:nvSpPr>
          <p:cNvPr id="15" name="FMI Legend Chip"/>
          <p:cNvSpPr/>
          <p:nvPr/>
        </p:nvSpPr>
        <p:spPr>
          <a:xfrm>
            <a:off x="4928997" y="1891552"/>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88678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81058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Geriatric</a:t>
            </a:r>
          </a:p>
        </p:txBody>
      </p:sp>
      <p:sp>
        <p:nvSpPr>
          <p:cNvPr id="18" name="BPS Value 1"/>
          <p:cNvSpPr txBox="1"/>
          <p:nvPr/>
        </p:nvSpPr>
        <p:spPr>
          <a:xfrm>
            <a:off x="6896100" y="187250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803907"/>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279914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72294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Adult</a:t>
            </a:r>
          </a:p>
        </p:txBody>
      </p:sp>
      <p:sp>
        <p:nvSpPr>
          <p:cNvPr id="22" name="BPS Value 2"/>
          <p:cNvSpPr txBox="1"/>
          <p:nvPr/>
        </p:nvSpPr>
        <p:spPr>
          <a:xfrm>
            <a:off x="6896100" y="278485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4787507"/>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478274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470654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Paediatric</a:t>
            </a:r>
          </a:p>
        </p:txBody>
      </p:sp>
      <p:sp>
        <p:nvSpPr>
          <p:cNvPr id="26" name="BPS Value 3"/>
          <p:cNvSpPr txBox="1"/>
          <p:nvPr/>
        </p:nvSpPr>
        <p:spPr>
          <a:xfrm>
            <a:off x="6896100" y="476845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Rounded Rectangle 26"/>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Age Group</a:t>
            </a:r>
          </a:p>
        </p:txBody>
      </p:sp>
      <p:sp>
        <p:nvSpPr>
          <p:cNvPr id="29" name="Rectangle 28"/>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2557843" y="3751325"/>
            <a:ext cx="275034" cy="400050"/>
          </a:xfrm>
          <a:prstGeom prst="rect">
            <a:avLst/>
          </a:prstGeom>
        </p:spPr>
      </p:pic>
      <p:sp>
        <p:nvSpPr>
          <p:cNvPr id="33" name="TextBox 32"/>
          <p:cNvSpPr txBox="1"/>
          <p:nvPr/>
        </p:nvSpPr>
        <p:spPr>
          <a:xfrm>
            <a:off x="7829550" y="1400175"/>
            <a:ext cx="3926842" cy="194310"/>
          </a:xfrm>
          <a:prstGeom prst="rect">
            <a:avLst/>
          </a:prstGeom>
          <a:noFill/>
        </p:spPr>
        <p:txBody>
          <a:bodyPr wrap="none" lIns="0" rIns="0" tIns="0" bIns="0">
            <a:spAutoFit/>
          </a:bodyPr>
          <a:lstStyle/>
          <a:p>
            <a:r>
              <a:rPr sz="1150" b="0">
                <a:solidFill>
                  <a:srgbClr val="2E2E2E"/>
                </a:solidFill>
                <a:latin typeface="Calibri"/>
              </a:rPr>
              <a:t>Among ear wax removal products by age group, adult segment is</a:t>
            </a:r>
          </a:p>
        </p:txBody>
      </p:sp>
      <p:sp>
        <p:nvSpPr>
          <p:cNvPr id="34" name="TextBox 33"/>
          <p:cNvSpPr txBox="1"/>
          <p:nvPr/>
        </p:nvSpPr>
        <p:spPr>
          <a:xfrm>
            <a:off x="7829550" y="157543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35" name="Picture 34" descr="lock.png"/>
          <p:cNvPicPr>
            <a:picLocks noChangeAspect="1"/>
          </p:cNvPicPr>
          <p:nvPr/>
        </p:nvPicPr>
        <p:blipFill>
          <a:blip r:embed="rId5"/>
          <a:stretch>
            <a:fillRect/>
          </a:stretch>
        </p:blipFill>
        <p:spPr>
          <a:xfrm>
            <a:off x="10264711" y="1565211"/>
            <a:ext cx="134549" cy="195707"/>
          </a:xfrm>
          <a:prstGeom prst="rect">
            <a:avLst/>
          </a:prstGeom>
        </p:spPr>
      </p:pic>
      <p:sp>
        <p:nvSpPr>
          <p:cNvPr id="36" name="TextBox 35"/>
          <p:cNvSpPr txBox="1"/>
          <p:nvPr/>
        </p:nvSpPr>
        <p:spPr>
          <a:xfrm>
            <a:off x="10439820" y="157543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37" name="TextBox 36"/>
          <p:cNvSpPr txBox="1"/>
          <p:nvPr/>
        </p:nvSpPr>
        <p:spPr>
          <a:xfrm>
            <a:off x="7829550" y="1750695"/>
            <a:ext cx="3594806" cy="194310"/>
          </a:xfrm>
          <a:prstGeom prst="rect">
            <a:avLst/>
          </a:prstGeom>
          <a:noFill/>
        </p:spPr>
        <p:txBody>
          <a:bodyPr wrap="none" lIns="0" rIns="0" tIns="0" bIns="0">
            <a:spAutoFit/>
          </a:bodyPr>
          <a:lstStyle/>
          <a:p>
            <a:r>
              <a:rPr sz="1150" b="0">
                <a:solidFill>
                  <a:srgbClr val="2E2E2E"/>
                </a:solidFill>
                <a:latin typeface="Calibri"/>
              </a:rPr>
              <a:t>period. In terms of value share by age group, the paediatric</a:t>
            </a:r>
          </a:p>
        </p:txBody>
      </p:sp>
      <p:sp>
        <p:nvSpPr>
          <p:cNvPr id="38" name="TextBox 37"/>
          <p:cNvSpPr txBox="1"/>
          <p:nvPr/>
        </p:nvSpPr>
        <p:spPr>
          <a:xfrm>
            <a:off x="7829550" y="1925955"/>
            <a:ext cx="3245941" cy="194310"/>
          </a:xfrm>
          <a:prstGeom prst="rect">
            <a:avLst/>
          </a:prstGeom>
          <a:noFill/>
        </p:spPr>
        <p:txBody>
          <a:bodyPr wrap="none" lIns="0" rIns="0" tIns="0" bIns="0">
            <a:spAutoFit/>
          </a:bodyPr>
          <a:lstStyle/>
          <a:p>
            <a:r>
              <a:rPr sz="1150" b="0">
                <a:solidFill>
                  <a:srgbClr val="2E2E2E"/>
                </a:solidFill>
                <a:latin typeface="Calibri"/>
              </a:rPr>
              <a:t>segment is expected to dominate the market, gaining</a:t>
            </a:r>
          </a:p>
        </p:txBody>
      </p:sp>
      <p:pic>
        <p:nvPicPr>
          <p:cNvPr id="39" name="Picture 38" descr="lock.png"/>
          <p:cNvPicPr>
            <a:picLocks noChangeAspect="1"/>
          </p:cNvPicPr>
          <p:nvPr/>
        </p:nvPicPr>
        <p:blipFill>
          <a:blip r:embed="rId5"/>
          <a:stretch>
            <a:fillRect/>
          </a:stretch>
        </p:blipFill>
        <p:spPr>
          <a:xfrm>
            <a:off x="11024645" y="1915731"/>
            <a:ext cx="134549" cy="195707"/>
          </a:xfrm>
          <a:prstGeom prst="rect">
            <a:avLst/>
          </a:prstGeom>
        </p:spPr>
      </p:pic>
      <p:sp>
        <p:nvSpPr>
          <p:cNvPr id="40" name="TextBox 39"/>
          <p:cNvSpPr txBox="1"/>
          <p:nvPr/>
        </p:nvSpPr>
        <p:spPr>
          <a:xfrm>
            <a:off x="11199754" y="1925955"/>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41" name="TextBox 40"/>
          <p:cNvSpPr txBox="1"/>
          <p:nvPr/>
        </p:nvSpPr>
        <p:spPr>
          <a:xfrm>
            <a:off x="7829550" y="2101215"/>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42" name="Picture 41" descr="lock.png"/>
          <p:cNvPicPr>
            <a:picLocks noChangeAspect="1"/>
          </p:cNvPicPr>
          <p:nvPr/>
        </p:nvPicPr>
        <p:blipFill>
          <a:blip r:embed="rId5"/>
          <a:stretch>
            <a:fillRect/>
          </a:stretch>
        </p:blipFill>
        <p:spPr>
          <a:xfrm>
            <a:off x="8712947" y="2090991"/>
            <a:ext cx="134549" cy="195707"/>
          </a:xfrm>
          <a:prstGeom prst="rect">
            <a:avLst/>
          </a:prstGeom>
        </p:spPr>
      </p:pic>
      <p:sp>
        <p:nvSpPr>
          <p:cNvPr id="43" name="TextBox 42"/>
          <p:cNvSpPr txBox="1"/>
          <p:nvPr/>
        </p:nvSpPr>
        <p:spPr>
          <a:xfrm>
            <a:off x="8888056"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4" name="TextBox 43"/>
          <p:cNvSpPr txBox="1"/>
          <p:nvPr/>
        </p:nvSpPr>
        <p:spPr>
          <a:xfrm>
            <a:off x="7829550" y="2329053"/>
            <a:ext cx="2504281" cy="194310"/>
          </a:xfrm>
          <a:prstGeom prst="rect">
            <a:avLst/>
          </a:prstGeom>
          <a:noFill/>
        </p:spPr>
        <p:txBody>
          <a:bodyPr wrap="none" lIns="0" rIns="0" tIns="0" bIns="0">
            <a:spAutoFit/>
          </a:bodyPr>
          <a:lstStyle/>
          <a:p>
            <a:r>
              <a:rPr sz="1150" b="0">
                <a:solidFill>
                  <a:srgbClr val="2E2E2E"/>
                </a:solidFill>
                <a:latin typeface="Calibri"/>
              </a:rPr>
              <a:t>The geriatric segment is expected to lose</a:t>
            </a:r>
          </a:p>
        </p:txBody>
      </p:sp>
      <p:pic>
        <p:nvPicPr>
          <p:cNvPr id="45" name="Picture 44" descr="lock.png"/>
          <p:cNvPicPr>
            <a:picLocks noChangeAspect="1"/>
          </p:cNvPicPr>
          <p:nvPr/>
        </p:nvPicPr>
        <p:blipFill>
          <a:blip r:embed="rId5"/>
          <a:stretch>
            <a:fillRect/>
          </a:stretch>
        </p:blipFill>
        <p:spPr>
          <a:xfrm>
            <a:off x="10282985" y="2318829"/>
            <a:ext cx="134549" cy="195707"/>
          </a:xfrm>
          <a:prstGeom prst="rect">
            <a:avLst/>
          </a:prstGeom>
        </p:spPr>
      </p:pic>
      <p:sp>
        <p:nvSpPr>
          <p:cNvPr id="46" name="TextBox 45"/>
          <p:cNvSpPr txBox="1"/>
          <p:nvPr/>
        </p:nvSpPr>
        <p:spPr>
          <a:xfrm>
            <a:off x="10458094" y="2329053"/>
            <a:ext cx="1346150" cy="194310"/>
          </a:xfrm>
          <a:prstGeom prst="rect">
            <a:avLst/>
          </a:prstGeom>
          <a:noFill/>
        </p:spPr>
        <p:txBody>
          <a:bodyPr wrap="none" lIns="0" rIns="0" tIns="0" bIns="0">
            <a:spAutoFit/>
          </a:bodyPr>
          <a:lstStyle/>
          <a:p>
            <a:r>
              <a:rPr sz="1150" b="0">
                <a:solidFill>
                  <a:srgbClr val="2E2E2E"/>
                </a:solidFill>
                <a:latin typeface="Calibri"/>
              </a:rPr>
              <a:t>BPS over the forecast</a:t>
            </a:r>
          </a:p>
        </p:txBody>
      </p:sp>
      <p:sp>
        <p:nvSpPr>
          <p:cNvPr id="47" name="TextBox 46"/>
          <p:cNvSpPr txBox="1"/>
          <p:nvPr/>
        </p:nvSpPr>
        <p:spPr>
          <a:xfrm>
            <a:off x="7829550" y="2504313"/>
            <a:ext cx="1335310" cy="194310"/>
          </a:xfrm>
          <a:prstGeom prst="rect">
            <a:avLst/>
          </a:prstGeom>
          <a:noFill/>
        </p:spPr>
        <p:txBody>
          <a:bodyPr wrap="none" lIns="0" rIns="0" tIns="0" bIns="0">
            <a:spAutoFit/>
          </a:bodyPr>
          <a:lstStyle/>
          <a:p>
            <a:r>
              <a:rPr sz="1150" b="0">
                <a:solidFill>
                  <a:srgbClr val="2E2E2E"/>
                </a:solidFill>
                <a:latin typeface="Calibri"/>
              </a:rPr>
              <a:t>period to account for</a:t>
            </a:r>
          </a:p>
        </p:txBody>
      </p:sp>
      <p:pic>
        <p:nvPicPr>
          <p:cNvPr id="48" name="Picture 47" descr="lock.png"/>
          <p:cNvPicPr>
            <a:picLocks noChangeAspect="1"/>
          </p:cNvPicPr>
          <p:nvPr/>
        </p:nvPicPr>
        <p:blipFill>
          <a:blip r:embed="rId5"/>
          <a:stretch>
            <a:fillRect/>
          </a:stretch>
        </p:blipFill>
        <p:spPr>
          <a:xfrm>
            <a:off x="9114014" y="2494089"/>
            <a:ext cx="134549" cy="195707"/>
          </a:xfrm>
          <a:prstGeom prst="rect">
            <a:avLst/>
          </a:prstGeom>
        </p:spPr>
      </p:pic>
      <p:sp>
        <p:nvSpPr>
          <p:cNvPr id="49" name="TextBox 48"/>
          <p:cNvSpPr txBox="1"/>
          <p:nvPr/>
        </p:nvSpPr>
        <p:spPr>
          <a:xfrm>
            <a:off x="928912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0" name="lockshield_12"/>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220595"/>
            <a:ext cx="7239000" cy="247650"/>
          </a:xfrm>
          <a:prstGeom prst="rect">
            <a:avLst/>
          </a:prstGeom>
          <a:noFill/>
        </p:spPr>
        <p:txBody>
          <a:bodyPr wrap="none" lIns="0" tIns="0">
            <a:spAutoFit/>
          </a:bodyPr>
          <a:lstStyle/>
          <a:p>
            <a:r>
              <a:rPr sz="1400" b="0">
                <a:solidFill>
                  <a:srgbClr val="8FC8F2"/>
                </a:solidFill>
                <a:latin typeface="Calibri"/>
              </a:rPr>
              <a:t>Ear Wax Removal Products Market</a:t>
            </a:r>
          </a:p>
        </p:txBody>
      </p:sp>
      <p:sp>
        <p:nvSpPr>
          <p:cNvPr id="6" name="FMI Breaker Title"/>
          <p:cNvSpPr txBox="1"/>
          <p:nvPr/>
        </p:nvSpPr>
        <p:spPr>
          <a:xfrm>
            <a:off x="914400" y="2525395"/>
            <a:ext cx="7239000" cy="971550"/>
          </a:xfrm>
          <a:prstGeom prst="rect">
            <a:avLst/>
          </a:prstGeom>
          <a:noFill/>
        </p:spPr>
        <p:txBody>
          <a:bodyPr wrap="square" lIns="0" rIns="0" tIns="0">
            <a:spAutoFit/>
          </a:bodyPr>
          <a:lstStyle/>
          <a:p>
            <a:r>
              <a:rPr sz="3000" b="1" cap="all" spc="400">
                <a:solidFill>
                  <a:srgbClr val="FFFFFF"/>
                </a:solidFill>
                <a:latin typeface="Calibri"/>
              </a:rPr>
              <a:t>North America Market Outlook</a:t>
            </a:r>
          </a:p>
        </p:txBody>
      </p:sp>
      <p:sp>
        <p:nvSpPr>
          <p:cNvPr id="7" name="TextBox 6"/>
          <p:cNvSpPr txBox="1"/>
          <p:nvPr/>
        </p:nvSpPr>
        <p:spPr>
          <a:xfrm>
            <a:off x="914400" y="3687445"/>
            <a:ext cx="7124700" cy="237871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Country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Product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End User</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Sales Channel</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Age Group</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North America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Ear Wax Removal Products Market Summary, By Volume (Mn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volume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(MN UNITS)</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(MN UNITS)</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(Mn Units)</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707854" cy="186689"/>
          </a:xfrm>
          <a:prstGeom prst="rect">
            <a:avLst/>
          </a:prstGeom>
          <a:noFill/>
        </p:spPr>
        <p:txBody>
          <a:bodyPr wrap="none" lIns="0" rIns="0" tIns="0" bIns="0">
            <a:spAutoFit/>
          </a:bodyPr>
          <a:lstStyle/>
          <a:p>
            <a:r>
              <a:rPr sz="1100" b="0">
                <a:solidFill>
                  <a:srgbClr val="2E2E2E"/>
                </a:solidFill>
                <a:latin typeface="Calibri"/>
              </a:rPr>
              <a:t>North America ear wax removal products market is projected to</a:t>
            </a:r>
          </a:p>
        </p:txBody>
      </p:sp>
      <p:sp>
        <p:nvSpPr>
          <p:cNvPr id="35" name="TextBox 34"/>
          <p:cNvSpPr txBox="1"/>
          <p:nvPr/>
        </p:nvSpPr>
        <p:spPr>
          <a:xfrm>
            <a:off x="8048625" y="2214627"/>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36" name="Picture 35" descr="lock.png"/>
          <p:cNvPicPr>
            <a:picLocks noChangeAspect="1"/>
          </p:cNvPicPr>
          <p:nvPr/>
        </p:nvPicPr>
        <p:blipFill>
          <a:blip r:embed="rId6"/>
          <a:stretch>
            <a:fillRect/>
          </a:stretch>
        </p:blipFill>
        <p:spPr>
          <a:xfrm>
            <a:off x="8509166" y="2204848"/>
            <a:ext cx="128699" cy="187198"/>
          </a:xfrm>
          <a:prstGeom prst="rect">
            <a:avLst/>
          </a:prstGeom>
        </p:spPr>
      </p:pic>
      <p:sp>
        <p:nvSpPr>
          <p:cNvPr id="37" name="TextBox 36"/>
          <p:cNvSpPr txBox="1"/>
          <p:nvPr/>
        </p:nvSpPr>
        <p:spPr>
          <a:xfrm>
            <a:off x="8676662" y="2214627"/>
            <a:ext cx="2964333" cy="186689"/>
          </a:xfrm>
          <a:prstGeom prst="rect">
            <a:avLst/>
          </a:prstGeom>
          <a:noFill/>
        </p:spPr>
        <p:txBody>
          <a:bodyPr wrap="none" lIns="0" rIns="0" tIns="0" bIns="0">
            <a:spAutoFit/>
          </a:bodyPr>
          <a:lstStyle/>
          <a:p>
            <a:r>
              <a:rPr sz="1100" b="0">
                <a:solidFill>
                  <a:srgbClr val="2E2E2E"/>
                </a:solidFill>
                <a:latin typeface="Calibri"/>
              </a:rPr>
              <a:t>X increase in volume by the end of forecast period,</a:t>
            </a:r>
          </a:p>
        </p:txBody>
      </p:sp>
      <p:sp>
        <p:nvSpPr>
          <p:cNvPr id="38" name="TextBox 37"/>
          <p:cNvSpPr txBox="1"/>
          <p:nvPr/>
        </p:nvSpPr>
        <p:spPr>
          <a:xfrm>
            <a:off x="8048625" y="2382267"/>
            <a:ext cx="3663106" cy="186689"/>
          </a:xfrm>
          <a:prstGeom prst="rect">
            <a:avLst/>
          </a:prstGeom>
          <a:noFill/>
        </p:spPr>
        <p:txBody>
          <a:bodyPr wrap="none" lIns="0" rIns="0" tIns="0" bIns="0">
            <a:spAutoFit/>
          </a:bodyPr>
          <a:lstStyle/>
          <a:p>
            <a:r>
              <a:rPr sz="1100" b="0">
                <a:solidFill>
                  <a:srgbClr val="2E2E2E"/>
                </a:solidFill>
                <a:latin typeface="Calibri"/>
              </a:rPr>
              <a:t>2036. North America ear wax removal products market volume</a:t>
            </a:r>
          </a:p>
        </p:txBody>
      </p:sp>
      <p:sp>
        <p:nvSpPr>
          <p:cNvPr id="39" name="TextBox 38"/>
          <p:cNvSpPr txBox="1"/>
          <p:nvPr/>
        </p:nvSpPr>
        <p:spPr>
          <a:xfrm>
            <a:off x="8048625" y="2549907"/>
            <a:ext cx="543867" cy="186689"/>
          </a:xfrm>
          <a:prstGeom prst="rect">
            <a:avLst/>
          </a:prstGeom>
          <a:noFill/>
        </p:spPr>
        <p:txBody>
          <a:bodyPr wrap="none" lIns="0" rIns="0" tIns="0" bIns="0">
            <a:spAutoFit/>
          </a:bodyPr>
          <a:lstStyle/>
          <a:p>
            <a:r>
              <a:rPr sz="1100" b="0">
                <a:solidFill>
                  <a:srgbClr val="2E2E2E"/>
                </a:solidFill>
                <a:latin typeface="Calibri"/>
              </a:rPr>
              <a:t>stood at</a:t>
            </a:r>
          </a:p>
        </p:txBody>
      </p:sp>
      <p:pic>
        <p:nvPicPr>
          <p:cNvPr id="40" name="Picture 39" descr="lock.png"/>
          <p:cNvPicPr>
            <a:picLocks noChangeAspect="1"/>
          </p:cNvPicPr>
          <p:nvPr/>
        </p:nvPicPr>
        <p:blipFill>
          <a:blip r:embed="rId6"/>
          <a:stretch>
            <a:fillRect/>
          </a:stretch>
        </p:blipFill>
        <p:spPr>
          <a:xfrm>
            <a:off x="8540544" y="2540128"/>
            <a:ext cx="128699" cy="187198"/>
          </a:xfrm>
          <a:prstGeom prst="rect">
            <a:avLst/>
          </a:prstGeom>
        </p:spPr>
      </p:pic>
      <p:sp>
        <p:nvSpPr>
          <p:cNvPr id="41" name="TextBox 40"/>
          <p:cNvSpPr txBox="1"/>
          <p:nvPr/>
        </p:nvSpPr>
        <p:spPr>
          <a:xfrm>
            <a:off x="8708039" y="2549907"/>
            <a:ext cx="2469653" cy="186689"/>
          </a:xfrm>
          <a:prstGeom prst="rect">
            <a:avLst/>
          </a:prstGeom>
          <a:noFill/>
        </p:spPr>
        <p:txBody>
          <a:bodyPr wrap="none" lIns="0" rIns="0" tIns="0" bIns="0">
            <a:spAutoFit/>
          </a:bodyPr>
          <a:lstStyle/>
          <a:p>
            <a:r>
              <a:rPr sz="1100" b="0">
                <a:solidFill>
                  <a:srgbClr val="2E2E2E"/>
                </a:solidFill>
                <a:latin typeface="Calibri"/>
              </a:rPr>
              <a:t>Mn Units in 2025 and is expected to reach</a:t>
            </a:r>
          </a:p>
        </p:txBody>
      </p:sp>
      <p:pic>
        <p:nvPicPr>
          <p:cNvPr id="42" name="Picture 41" descr="lock.png"/>
          <p:cNvPicPr>
            <a:picLocks noChangeAspect="1"/>
          </p:cNvPicPr>
          <p:nvPr/>
        </p:nvPicPr>
        <p:blipFill>
          <a:blip r:embed="rId6"/>
          <a:stretch>
            <a:fillRect/>
          </a:stretch>
        </p:blipFill>
        <p:spPr>
          <a:xfrm>
            <a:off x="11125745" y="2540128"/>
            <a:ext cx="128699" cy="187198"/>
          </a:xfrm>
          <a:prstGeom prst="rect">
            <a:avLst/>
          </a:prstGeom>
        </p:spPr>
      </p:pic>
      <p:sp>
        <p:nvSpPr>
          <p:cNvPr id="43" name="TextBox 42"/>
          <p:cNvSpPr txBox="1"/>
          <p:nvPr/>
        </p:nvSpPr>
        <p:spPr>
          <a:xfrm>
            <a:off x="11293241" y="2549907"/>
            <a:ext cx="269106" cy="186689"/>
          </a:xfrm>
          <a:prstGeom prst="rect">
            <a:avLst/>
          </a:prstGeom>
          <a:noFill/>
        </p:spPr>
        <p:txBody>
          <a:bodyPr wrap="none" lIns="0" rIns="0" tIns="0" bIns="0">
            <a:spAutoFit/>
          </a:bodyPr>
          <a:lstStyle/>
          <a:p>
            <a:r>
              <a:rPr sz="1100" b="0">
                <a:solidFill>
                  <a:srgbClr val="2E2E2E"/>
                </a:solidFill>
                <a:latin typeface="Calibri"/>
              </a:rPr>
              <a:t>Mn</a:t>
            </a:r>
          </a:p>
        </p:txBody>
      </p:sp>
      <p:sp>
        <p:nvSpPr>
          <p:cNvPr id="44" name="TextBox 43"/>
          <p:cNvSpPr txBox="1"/>
          <p:nvPr/>
        </p:nvSpPr>
        <p:spPr>
          <a:xfrm>
            <a:off x="8048625" y="2717547"/>
            <a:ext cx="1882460" cy="186689"/>
          </a:xfrm>
          <a:prstGeom prst="rect">
            <a:avLst/>
          </a:prstGeom>
          <a:noFill/>
        </p:spPr>
        <p:txBody>
          <a:bodyPr wrap="none" lIns="0" rIns="0" tIns="0" bIns="0">
            <a:spAutoFit/>
          </a:bodyPr>
          <a:lstStyle/>
          <a:p>
            <a:r>
              <a:rPr sz="1100" b="0">
                <a:solidFill>
                  <a:srgbClr val="2E2E2E"/>
                </a:solidFill>
                <a:latin typeface="Calibri"/>
              </a:rPr>
              <a:t>Units by 2036 end, at a CAGR of</a:t>
            </a:r>
          </a:p>
        </p:txBody>
      </p:sp>
      <p:pic>
        <p:nvPicPr>
          <p:cNvPr id="45" name="Picture 44" descr="lock.png"/>
          <p:cNvPicPr>
            <a:picLocks noChangeAspect="1"/>
          </p:cNvPicPr>
          <p:nvPr/>
        </p:nvPicPr>
        <p:blipFill>
          <a:blip r:embed="rId6"/>
          <a:stretch>
            <a:fillRect/>
          </a:stretch>
        </p:blipFill>
        <p:spPr>
          <a:xfrm>
            <a:off x="9879136" y="2707768"/>
            <a:ext cx="128699" cy="187198"/>
          </a:xfrm>
          <a:prstGeom prst="rect">
            <a:avLst/>
          </a:prstGeom>
        </p:spPr>
      </p:pic>
      <p:sp>
        <p:nvSpPr>
          <p:cNvPr id="46" name="TextBox 45"/>
          <p:cNvSpPr txBox="1"/>
          <p:nvPr/>
        </p:nvSpPr>
        <p:spPr>
          <a:xfrm>
            <a:off x="10046632"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7" name="TextBox 46"/>
          <p:cNvSpPr txBox="1"/>
          <p:nvPr/>
        </p:nvSpPr>
        <p:spPr>
          <a:xfrm>
            <a:off x="8048625" y="2935479"/>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8" name="TextBox 47"/>
          <p:cNvSpPr txBox="1"/>
          <p:nvPr/>
        </p:nvSpPr>
        <p:spPr>
          <a:xfrm>
            <a:off x="8048625" y="310311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49" name="TextBox 48"/>
          <p:cNvSpPr txBox="1"/>
          <p:nvPr/>
        </p:nvSpPr>
        <p:spPr>
          <a:xfrm>
            <a:off x="8048625" y="4456475"/>
            <a:ext cx="2138300" cy="194310"/>
          </a:xfrm>
          <a:prstGeom prst="rect">
            <a:avLst/>
          </a:prstGeom>
          <a:noFill/>
        </p:spPr>
        <p:txBody>
          <a:bodyPr wrap="none" lIns="0" rIns="0" tIns="0" bIns="0">
            <a:spAutoFit/>
          </a:bodyPr>
          <a:lstStyle/>
          <a:p>
            <a:r>
              <a:rPr sz="1150" b="0">
                <a:solidFill>
                  <a:srgbClr val="2E2E2E"/>
                </a:solidFill>
                <a:latin typeface="Calibri"/>
              </a:rPr>
              <a:t>▪ 'Canada' leads regional growth at</a:t>
            </a:r>
          </a:p>
        </p:txBody>
      </p:sp>
      <p:pic>
        <p:nvPicPr>
          <p:cNvPr id="50" name="Picture 49" descr="lock.png"/>
          <p:cNvPicPr>
            <a:picLocks noChangeAspect="1"/>
          </p:cNvPicPr>
          <p:nvPr/>
        </p:nvPicPr>
        <p:blipFill>
          <a:blip r:embed="rId6"/>
          <a:stretch>
            <a:fillRect/>
          </a:stretch>
        </p:blipFill>
        <p:spPr>
          <a:xfrm>
            <a:off x="10136079" y="4446251"/>
            <a:ext cx="134549" cy="195707"/>
          </a:xfrm>
          <a:prstGeom prst="rect">
            <a:avLst/>
          </a:prstGeom>
        </p:spPr>
      </p:pic>
      <p:sp>
        <p:nvSpPr>
          <p:cNvPr id="51" name="TextBox 50"/>
          <p:cNvSpPr txBox="1"/>
          <p:nvPr/>
        </p:nvSpPr>
        <p:spPr>
          <a:xfrm>
            <a:off x="10311188"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2" name="TextBox 51"/>
          <p:cNvSpPr txBox="1"/>
          <p:nvPr/>
        </p:nvSpPr>
        <p:spPr>
          <a:xfrm>
            <a:off x="8048625" y="4684312"/>
            <a:ext cx="3724312" cy="194310"/>
          </a:xfrm>
          <a:prstGeom prst="rect">
            <a:avLst/>
          </a:prstGeom>
          <a:noFill/>
        </p:spPr>
        <p:txBody>
          <a:bodyPr wrap="none" lIns="0" rIns="0" tIns="0" bIns="0">
            <a:spAutoFit/>
          </a:bodyPr>
          <a:lstStyle/>
          <a:p>
            <a:r>
              <a:rPr sz="1150" b="0">
                <a:solidFill>
                  <a:srgbClr val="2E2E2E"/>
                </a:solidFill>
                <a:latin typeface="Calibri"/>
              </a:rPr>
              <a:t>▪ Demand concentrates in 'Irrigation Devices and Accessories'</a:t>
            </a:r>
          </a:p>
        </p:txBody>
      </p:sp>
      <p:sp>
        <p:nvSpPr>
          <p:cNvPr id="53" name="TextBox 52"/>
          <p:cNvSpPr txBox="1"/>
          <p:nvPr/>
        </p:nvSpPr>
        <p:spPr>
          <a:xfrm>
            <a:off x="8048625" y="4859572"/>
            <a:ext cx="1308496" cy="194310"/>
          </a:xfrm>
          <a:prstGeom prst="rect">
            <a:avLst/>
          </a:prstGeom>
          <a:noFill/>
        </p:spPr>
        <p:txBody>
          <a:bodyPr wrap="none" lIns="0" rIns="0" tIns="0" bIns="0">
            <a:spAutoFit/>
          </a:bodyPr>
          <a:lstStyle/>
          <a:p>
            <a:r>
              <a:rPr sz="1150" b="0">
                <a:solidFill>
                  <a:srgbClr val="2E2E2E"/>
                </a:solidFill>
                <a:latin typeface="Calibri"/>
              </a:rPr>
              <a:t>within Product Type.</a:t>
            </a:r>
          </a:p>
        </p:txBody>
      </p:sp>
      <p:sp>
        <p:nvSpPr>
          <p:cNvPr id="54" name="TextBox 53"/>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5" name="TextBox 54"/>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6"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Ear Wax Removal Products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country, highlighting where pricing power sits</a:t>
            </a:r>
          </a:p>
        </p:txBody>
      </p:sp>
      <p:sp>
        <p:nvSpPr>
          <p:cNvPr id="10" name="Rounded Rectangle 9"/>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Product Type  ·  range across 2021–2036 (US$/Units)</a:t>
            </a:r>
          </a:p>
        </p:txBody>
      </p:sp>
      <p:cxnSp>
        <p:nvCxnSpPr>
          <p:cNvPr id="12" name="Connector 11"/>
          <p:cNvCxnSpPr/>
          <p:nvPr/>
        </p:nvCxnSpPr>
        <p:spPr>
          <a:xfrm>
            <a:off x="657225" y="310071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68877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27683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86488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0" cy="164777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310071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68877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27683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86488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3" name="FMI Scale tick"/>
          <p:cNvSpPr txBox="1"/>
          <p:nvPr/>
        </p:nvSpPr>
        <p:spPr>
          <a:xfrm>
            <a:off x="219075" y="3034040"/>
            <a:ext cx="381000" cy="133350"/>
          </a:xfrm>
          <a:prstGeom prst="rect">
            <a:avLst/>
          </a:prstGeom>
          <a:noFill/>
        </p:spPr>
        <p:txBody>
          <a:bodyPr wrap="none" lIns="0" rIns="0" tIns="0" bIns="0" anchor="ctr">
            <a:spAutoFit/>
          </a:bodyPr>
          <a:lstStyle/>
          <a:p>
            <a:pPr algn="r"/>
            <a:r>
              <a:rPr sz="1100" b="0">
                <a:solidFill>
                  <a:srgbClr val="6C7A89"/>
                </a:solidFill>
                <a:latin typeface="Calibri"/>
              </a:rPr>
              <a:t/>
            </a:r>
          </a:p>
        </p:txBody>
      </p:sp>
      <p:sp>
        <p:nvSpPr>
          <p:cNvPr id="24" name="FMI Scale tick"/>
          <p:cNvSpPr txBox="1"/>
          <p:nvPr/>
        </p:nvSpPr>
        <p:spPr>
          <a:xfrm>
            <a:off x="219075" y="2210155"/>
            <a:ext cx="381000" cy="133350"/>
          </a:xfrm>
          <a:prstGeom prst="rect">
            <a:avLst/>
          </a:prstGeom>
          <a:noFill/>
        </p:spPr>
        <p:txBody>
          <a:bodyPr wrap="none" lIns="0" rIns="0" tIns="0" bIns="0" anchor="ctr">
            <a:spAutoFit/>
          </a:bodyPr>
          <a:lstStyle/>
          <a:p>
            <a:pPr algn="r"/>
            <a:r>
              <a:rPr sz="1100" b="0">
                <a:solidFill>
                  <a:srgbClr val="6C7A89"/>
                </a:solidFill>
                <a:latin typeface="Calibri"/>
              </a:rPr>
              <a:t/>
            </a:r>
          </a:p>
        </p:txBody>
      </p:sp>
      <p:sp>
        <p:nvSpPr>
          <p:cNvPr id="25" name="FMI Scale tick"/>
          <p:cNvSpPr txBox="1"/>
          <p:nvPr/>
        </p:nvSpPr>
        <p:spPr>
          <a:xfrm>
            <a:off x="219075" y="1386270"/>
            <a:ext cx="381000" cy="133350"/>
          </a:xfrm>
          <a:prstGeom prst="rect">
            <a:avLst/>
          </a:prstGeom>
          <a:noFill/>
        </p:spPr>
        <p:txBody>
          <a:bodyPr wrap="none" lIns="0" rIns="0" tIns="0" bIns="0" anchor="ctr">
            <a:spAutoFit/>
          </a:bodyPr>
          <a:lstStyle/>
          <a:p>
            <a:pPr algn="r"/>
            <a:r>
              <a:rPr sz="1100" b="0">
                <a:solidFill>
                  <a:srgbClr val="6C7A89"/>
                </a:solidFill>
                <a:latin typeface="Calibri"/>
              </a:rPr>
              <a:t/>
            </a:r>
          </a:p>
        </p:txBody>
      </p:sp>
      <p:cxnSp>
        <p:nvCxnSpPr>
          <p:cNvPr id="26" name="Connector 25"/>
          <p:cNvCxnSpPr/>
          <p:nvPr/>
        </p:nvCxnSpPr>
        <p:spPr>
          <a:xfrm flipV="1">
            <a:off x="1157968" y="2513106"/>
            <a:ext cx="0" cy="397482"/>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26523" y="291058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26523" y="251310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938893" y="2622235"/>
            <a:ext cx="438150" cy="198732"/>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938893" y="2725115"/>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7225" y="2360706"/>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2" name="Connector 31"/>
          <p:cNvCxnSpPr/>
          <p:nvPr/>
        </p:nvCxnSpPr>
        <p:spPr>
          <a:xfrm flipV="1">
            <a:off x="2159454" y="2330636"/>
            <a:ext cx="0" cy="544831"/>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028009" y="287546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028009" y="233063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40379" y="2484074"/>
            <a:ext cx="438150" cy="270661"/>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1940379" y="2624809"/>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658711" y="2178236"/>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8" name="Connector 37"/>
          <p:cNvCxnSpPr/>
          <p:nvPr/>
        </p:nvCxnSpPr>
        <p:spPr>
          <a:xfrm flipV="1">
            <a:off x="3160939" y="2256801"/>
            <a:ext cx="0" cy="480853"/>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029494" y="273765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029494" y="225680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2941864" y="2387341"/>
            <a:ext cx="438150" cy="240312"/>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2941864" y="2510897"/>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660196" y="2104401"/>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44" name="Connector 43"/>
          <p:cNvCxnSpPr/>
          <p:nvPr/>
        </p:nvCxnSpPr>
        <p:spPr>
          <a:xfrm flipV="1">
            <a:off x="4162425" y="2223421"/>
            <a:ext cx="0" cy="521215"/>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030980" y="274463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030980" y="222342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3943350" y="2365264"/>
            <a:ext cx="438150" cy="26015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3943350" y="2498339"/>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3661682" y="2071021"/>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0" name="Connector 49"/>
          <p:cNvCxnSpPr/>
          <p:nvPr/>
        </p:nvCxnSpPr>
        <p:spPr>
          <a:xfrm flipV="1">
            <a:off x="5163911" y="1643073"/>
            <a:ext cx="0" cy="626697"/>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032466" y="226977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032466" y="164307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4944836" y="1813828"/>
            <a:ext cx="438150" cy="313042"/>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4944836" y="1974183"/>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663168" y="1490673"/>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6" name="Connector 55"/>
          <p:cNvCxnSpPr/>
          <p:nvPr/>
        </p:nvCxnSpPr>
        <p:spPr>
          <a:xfrm flipV="1">
            <a:off x="6165396" y="2162125"/>
            <a:ext cx="0" cy="49777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033951" y="265989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033951" y="216212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946321" y="2295993"/>
            <a:ext cx="438150" cy="248176"/>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5946321" y="2422886"/>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664654" y="2009725"/>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62" name="Connector 61"/>
          <p:cNvCxnSpPr/>
          <p:nvPr/>
        </p:nvCxnSpPr>
        <p:spPr>
          <a:xfrm flipV="1">
            <a:off x="7166882" y="1845058"/>
            <a:ext cx="0" cy="645267"/>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7035437" y="249032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035437" y="184505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6947807" y="2020025"/>
            <a:ext cx="438150" cy="321811"/>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Connector 65"/>
          <p:cNvCxnSpPr/>
          <p:nvPr/>
        </p:nvCxnSpPr>
        <p:spPr>
          <a:xfrm>
            <a:off x="6947807" y="2186095"/>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6666139" y="1692658"/>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68" name="TextBox 67"/>
          <p:cNvSpPr txBox="1"/>
          <p:nvPr/>
        </p:nvSpPr>
        <p:spPr>
          <a:xfrm>
            <a:off x="657225"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Drops</a:t>
            </a:r>
          </a:p>
        </p:txBody>
      </p:sp>
      <p:sp>
        <p:nvSpPr>
          <p:cNvPr id="69" name="TextBox 68"/>
          <p:cNvSpPr txBox="1"/>
          <p:nvPr/>
        </p:nvSpPr>
        <p:spPr>
          <a:xfrm>
            <a:off x="1658711"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Sprays</a:t>
            </a:r>
          </a:p>
        </p:txBody>
      </p:sp>
      <p:sp>
        <p:nvSpPr>
          <p:cNvPr id="70" name="TextBox 69"/>
          <p:cNvSpPr txBox="1"/>
          <p:nvPr/>
        </p:nvSpPr>
        <p:spPr>
          <a:xfrm>
            <a:off x="2660196"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Irrigation Devices an…</a:t>
            </a:r>
          </a:p>
        </p:txBody>
      </p:sp>
      <p:sp>
        <p:nvSpPr>
          <p:cNvPr id="71" name="TextBox 70"/>
          <p:cNvSpPr txBox="1"/>
          <p:nvPr/>
        </p:nvSpPr>
        <p:spPr>
          <a:xfrm>
            <a:off x="3661682"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Manual Removal Tools</a:t>
            </a:r>
          </a:p>
        </p:txBody>
      </p:sp>
      <p:sp>
        <p:nvSpPr>
          <p:cNvPr id="72" name="TextBox 71"/>
          <p:cNvSpPr txBox="1"/>
          <p:nvPr/>
        </p:nvSpPr>
        <p:spPr>
          <a:xfrm>
            <a:off x="4663168"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Camera-Assisted Remov…</a:t>
            </a:r>
          </a:p>
        </p:txBody>
      </p:sp>
      <p:sp>
        <p:nvSpPr>
          <p:cNvPr id="73" name="TextBox 72"/>
          <p:cNvSpPr txBox="1"/>
          <p:nvPr/>
        </p:nvSpPr>
        <p:spPr>
          <a:xfrm>
            <a:off x="5664654"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Suction Devices and A…</a:t>
            </a:r>
          </a:p>
        </p:txBody>
      </p:sp>
      <p:sp>
        <p:nvSpPr>
          <p:cNvPr id="74" name="TextBox 73"/>
          <p:cNvSpPr txBox="1"/>
          <p:nvPr/>
        </p:nvSpPr>
        <p:spPr>
          <a:xfrm>
            <a:off x="6666139"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Combination Removal K…</a:t>
            </a:r>
          </a:p>
        </p:txBody>
      </p:sp>
      <p:sp>
        <p:nvSpPr>
          <p:cNvPr id="75" name="Rounded Rectangle 74"/>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Country vs North America  ·  2026–2036</a:t>
            </a:r>
          </a:p>
        </p:txBody>
      </p:sp>
      <p:cxnSp>
        <p:nvCxnSpPr>
          <p:cNvPr id="77" name="Connector 76"/>
          <p:cNvCxnSpPr/>
          <p:nvPr/>
        </p:nvCxnSpPr>
        <p:spPr>
          <a:xfrm>
            <a:off x="619125" y="432570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19125" y="475941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619125" y="519311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619125" y="562682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619125" y="606052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619125" y="4325706"/>
            <a:ext cx="0" cy="1734819"/>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590550" y="432570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590550" y="475941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590550" y="519311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590550" y="562682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590550" y="606052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88" name="FMI Scale tick"/>
          <p:cNvSpPr txBox="1"/>
          <p:nvPr/>
        </p:nvSpPr>
        <p:spPr>
          <a:xfrm>
            <a:off x="138112" y="4259031"/>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+4.9%</a:t>
            </a:r>
          </a:p>
        </p:txBody>
      </p:sp>
      <p:sp>
        <p:nvSpPr>
          <p:cNvPr id="89" name="FMI Scale tick"/>
          <p:cNvSpPr txBox="1"/>
          <p:nvPr/>
        </p:nvSpPr>
        <p:spPr>
          <a:xfrm>
            <a:off x="138112" y="4692736"/>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+2.5%</a:t>
            </a:r>
          </a:p>
        </p:txBody>
      </p:sp>
      <p:sp>
        <p:nvSpPr>
          <p:cNvPr id="90" name="FMI Scale tick"/>
          <p:cNvSpPr txBox="1"/>
          <p:nvPr/>
        </p:nvSpPr>
        <p:spPr>
          <a:xfrm>
            <a:off x="219075" y="5126441"/>
            <a:ext cx="361950" cy="133350"/>
          </a:xfrm>
          <a:prstGeom prst="rect">
            <a:avLst/>
          </a:prstGeom>
          <a:noFill/>
        </p:spPr>
        <p:txBody>
          <a:bodyPr wrap="square" lIns="28575" rIns="28575" tIns="9525" bIns="9525" anchor="ctr">
            <a:spAutoFit/>
          </a:bodyPr>
          <a:lstStyle/>
          <a:p>
            <a:pPr algn="r"/>
            <a:r>
              <a:rPr sz="1100" b="1">
                <a:solidFill>
                  <a:srgbClr val="6C7A89"/>
                </a:solidFill>
                <a:latin typeface="Calibri"/>
              </a:rPr>
              <a:t>North America</a:t>
            </a:r>
          </a:p>
        </p:txBody>
      </p:sp>
      <p:sp>
        <p:nvSpPr>
          <p:cNvPr id="91" name="FMI Scale tick"/>
          <p:cNvSpPr txBox="1"/>
          <p:nvPr/>
        </p:nvSpPr>
        <p:spPr>
          <a:xfrm>
            <a:off x="164306" y="5560146"/>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-2.5%</a:t>
            </a:r>
          </a:p>
        </p:txBody>
      </p:sp>
      <p:sp>
        <p:nvSpPr>
          <p:cNvPr id="92" name="FMI Scale tick"/>
          <p:cNvSpPr txBox="1"/>
          <p:nvPr/>
        </p:nvSpPr>
        <p:spPr>
          <a:xfrm>
            <a:off x="164306" y="5993850"/>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-4.9%</a:t>
            </a:r>
          </a:p>
        </p:txBody>
      </p:sp>
      <p:cxnSp>
        <p:nvCxnSpPr>
          <p:cNvPr id="93" name="Connector 92"/>
          <p:cNvCxnSpPr/>
          <p:nvPr/>
        </p:nvCxnSpPr>
        <p:spPr>
          <a:xfrm>
            <a:off x="619125" y="519311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94" name="Rectangle 93"/>
          <p:cNvSpPr/>
          <p:nvPr/>
        </p:nvSpPr>
        <p:spPr>
          <a:xfrm>
            <a:off x="2152650" y="5193116"/>
            <a:ext cx="457200" cy="332924"/>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FMI Data Label"/>
          <p:cNvSpPr txBox="1"/>
          <p:nvPr/>
        </p:nvSpPr>
        <p:spPr>
          <a:xfrm>
            <a:off x="619125" y="5535565"/>
            <a:ext cx="35242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6" name="Rectangle 95"/>
          <p:cNvSpPr/>
          <p:nvPr/>
        </p:nvSpPr>
        <p:spPr>
          <a:xfrm>
            <a:off x="5676900" y="4437287"/>
            <a:ext cx="457200" cy="75582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FMI Data Label"/>
          <p:cNvSpPr txBox="1"/>
          <p:nvPr/>
        </p:nvSpPr>
        <p:spPr>
          <a:xfrm>
            <a:off x="4143375" y="4294412"/>
            <a:ext cx="35242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8" name="TextBox 97"/>
          <p:cNvSpPr txBox="1"/>
          <p:nvPr/>
        </p:nvSpPr>
        <p:spPr>
          <a:xfrm>
            <a:off x="619125" y="6242060"/>
            <a:ext cx="3524250" cy="247650"/>
          </a:xfrm>
          <a:prstGeom prst="rect">
            <a:avLst/>
          </a:prstGeom>
          <a:noFill/>
        </p:spPr>
        <p:txBody>
          <a:bodyPr wrap="square" lIns="28575" rIns="28575" tIns="9525" bIns="9525">
            <a:spAutoFit/>
          </a:bodyPr>
          <a:lstStyle/>
          <a:p>
            <a:pPr algn="ctr"/>
            <a:r>
              <a:rPr sz="1100" b="0">
                <a:solidFill>
                  <a:srgbClr val="2E2E2E"/>
                </a:solidFill>
                <a:latin typeface="Calibri"/>
              </a:rPr>
              <a:t>U.S.</a:t>
            </a:r>
          </a:p>
        </p:txBody>
      </p:sp>
      <p:sp>
        <p:nvSpPr>
          <p:cNvPr id="99" name="TextBox 98"/>
          <p:cNvSpPr txBox="1"/>
          <p:nvPr/>
        </p:nvSpPr>
        <p:spPr>
          <a:xfrm>
            <a:off x="4143375" y="6242060"/>
            <a:ext cx="3524250" cy="247650"/>
          </a:xfrm>
          <a:prstGeom prst="rect">
            <a:avLst/>
          </a:prstGeom>
          <a:noFill/>
        </p:spPr>
        <p:txBody>
          <a:bodyPr wrap="square" lIns="28575" rIns="28575" tIns="9525" bIns="9525">
            <a:spAutoFit/>
          </a:bodyPr>
          <a:lstStyle/>
          <a:p>
            <a:pPr algn="ctr"/>
            <a:r>
              <a:rPr sz="1100" b="0">
                <a:solidFill>
                  <a:srgbClr val="2E2E2E"/>
                </a:solidFill>
                <a:latin typeface="Calibri"/>
              </a:rPr>
              <a:t>Canada</a:t>
            </a:r>
          </a:p>
        </p:txBody>
      </p:sp>
      <p:sp>
        <p:nvSpPr>
          <p:cNvPr id="100" name="Rounded Rectangle 99"/>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02" name="Rectangle 101"/>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04" name="TextBox 10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05" name="Picture 104" descr="lock.png"/>
          <p:cNvPicPr>
            <a:picLocks noChangeAspect="1"/>
          </p:cNvPicPr>
          <p:nvPr/>
        </p:nvPicPr>
        <p:blipFill>
          <a:blip r:embed="rId4"/>
          <a:stretch>
            <a:fillRect/>
          </a:stretch>
        </p:blipFill>
        <p:spPr>
          <a:xfrm>
            <a:off x="1093618" y="2333782"/>
            <a:ext cx="128699" cy="187198"/>
          </a:xfrm>
          <a:prstGeom prst="rect">
            <a:avLst/>
          </a:prstGeom>
        </p:spPr>
      </p:pic>
      <p:pic>
        <p:nvPicPr>
          <p:cNvPr id="106" name="Picture 105" descr="lock.png"/>
          <p:cNvPicPr>
            <a:picLocks noChangeAspect="1"/>
          </p:cNvPicPr>
          <p:nvPr/>
        </p:nvPicPr>
        <p:blipFill>
          <a:blip r:embed="rId4"/>
          <a:stretch>
            <a:fillRect/>
          </a:stretch>
        </p:blipFill>
        <p:spPr>
          <a:xfrm>
            <a:off x="2095104" y="2151312"/>
            <a:ext cx="128699" cy="187198"/>
          </a:xfrm>
          <a:prstGeom prst="rect">
            <a:avLst/>
          </a:prstGeom>
        </p:spPr>
      </p:pic>
      <p:pic>
        <p:nvPicPr>
          <p:cNvPr id="107" name="Picture 106" descr="lock.png"/>
          <p:cNvPicPr>
            <a:picLocks noChangeAspect="1"/>
          </p:cNvPicPr>
          <p:nvPr/>
        </p:nvPicPr>
        <p:blipFill>
          <a:blip r:embed="rId4"/>
          <a:stretch>
            <a:fillRect/>
          </a:stretch>
        </p:blipFill>
        <p:spPr>
          <a:xfrm>
            <a:off x="3096589" y="2077477"/>
            <a:ext cx="128699" cy="187198"/>
          </a:xfrm>
          <a:prstGeom prst="rect">
            <a:avLst/>
          </a:prstGeom>
        </p:spPr>
      </p:pic>
      <p:pic>
        <p:nvPicPr>
          <p:cNvPr id="108" name="Picture 107" descr="lock.png"/>
          <p:cNvPicPr>
            <a:picLocks noChangeAspect="1"/>
          </p:cNvPicPr>
          <p:nvPr/>
        </p:nvPicPr>
        <p:blipFill>
          <a:blip r:embed="rId4"/>
          <a:stretch>
            <a:fillRect/>
          </a:stretch>
        </p:blipFill>
        <p:spPr>
          <a:xfrm>
            <a:off x="4098075" y="2044097"/>
            <a:ext cx="128699" cy="187198"/>
          </a:xfrm>
          <a:prstGeom prst="rect">
            <a:avLst/>
          </a:prstGeom>
        </p:spPr>
      </p:pic>
      <p:pic>
        <p:nvPicPr>
          <p:cNvPr id="109" name="Picture 108" descr="lock.png"/>
          <p:cNvPicPr>
            <a:picLocks noChangeAspect="1"/>
          </p:cNvPicPr>
          <p:nvPr/>
        </p:nvPicPr>
        <p:blipFill>
          <a:blip r:embed="rId4"/>
          <a:stretch>
            <a:fillRect/>
          </a:stretch>
        </p:blipFill>
        <p:spPr>
          <a:xfrm>
            <a:off x="5099561" y="1463749"/>
            <a:ext cx="128699" cy="187198"/>
          </a:xfrm>
          <a:prstGeom prst="rect">
            <a:avLst/>
          </a:prstGeom>
        </p:spPr>
      </p:pic>
      <p:pic>
        <p:nvPicPr>
          <p:cNvPr id="110" name="Picture 109" descr="lock.png"/>
          <p:cNvPicPr>
            <a:picLocks noChangeAspect="1"/>
          </p:cNvPicPr>
          <p:nvPr/>
        </p:nvPicPr>
        <p:blipFill>
          <a:blip r:embed="rId4"/>
          <a:stretch>
            <a:fillRect/>
          </a:stretch>
        </p:blipFill>
        <p:spPr>
          <a:xfrm>
            <a:off x="6101047" y="1982801"/>
            <a:ext cx="128699" cy="187198"/>
          </a:xfrm>
          <a:prstGeom prst="rect">
            <a:avLst/>
          </a:prstGeom>
        </p:spPr>
      </p:pic>
      <p:pic>
        <p:nvPicPr>
          <p:cNvPr id="111" name="Picture 110" descr="lock.png"/>
          <p:cNvPicPr>
            <a:picLocks noChangeAspect="1"/>
          </p:cNvPicPr>
          <p:nvPr/>
        </p:nvPicPr>
        <p:blipFill>
          <a:blip r:embed="rId4"/>
          <a:stretch>
            <a:fillRect/>
          </a:stretch>
        </p:blipFill>
        <p:spPr>
          <a:xfrm>
            <a:off x="7102532" y="1665734"/>
            <a:ext cx="128699" cy="187198"/>
          </a:xfrm>
          <a:prstGeom prst="rect">
            <a:avLst/>
          </a:prstGeom>
        </p:spPr>
      </p:pic>
      <p:pic>
        <p:nvPicPr>
          <p:cNvPr id="112" name="Picture 111" descr="lock.png"/>
          <p:cNvPicPr>
            <a:picLocks noChangeAspect="1"/>
          </p:cNvPicPr>
          <p:nvPr/>
        </p:nvPicPr>
        <p:blipFill>
          <a:blip r:embed="rId4"/>
          <a:stretch>
            <a:fillRect/>
          </a:stretch>
        </p:blipFill>
        <p:spPr>
          <a:xfrm>
            <a:off x="2316900" y="5508641"/>
            <a:ext cx="128699" cy="187198"/>
          </a:xfrm>
          <a:prstGeom prst="rect">
            <a:avLst/>
          </a:prstGeom>
        </p:spPr>
      </p:pic>
      <p:pic>
        <p:nvPicPr>
          <p:cNvPr id="113" name="Picture 112" descr="lock.png"/>
          <p:cNvPicPr>
            <a:picLocks noChangeAspect="1"/>
          </p:cNvPicPr>
          <p:nvPr/>
        </p:nvPicPr>
        <p:blipFill>
          <a:blip r:embed="rId4"/>
          <a:stretch>
            <a:fillRect/>
          </a:stretch>
        </p:blipFill>
        <p:spPr>
          <a:xfrm>
            <a:off x="5841150" y="4267488"/>
            <a:ext cx="128699" cy="187198"/>
          </a:xfrm>
          <a:prstGeom prst="rect">
            <a:avLst/>
          </a:prstGeom>
        </p:spPr>
      </p:pic>
      <p:sp>
        <p:nvSpPr>
          <p:cNvPr id="114" name="TextBox 113"/>
          <p:cNvSpPr txBox="1"/>
          <p:nvPr/>
        </p:nvSpPr>
        <p:spPr>
          <a:xfrm>
            <a:off x="8048625" y="1471995"/>
            <a:ext cx="3455032" cy="194310"/>
          </a:xfrm>
          <a:prstGeom prst="rect">
            <a:avLst/>
          </a:prstGeom>
          <a:noFill/>
        </p:spPr>
        <p:txBody>
          <a:bodyPr wrap="none" lIns="0" rIns="0" tIns="0" bIns="0">
            <a:spAutoFit/>
          </a:bodyPr>
          <a:lstStyle/>
          <a:p>
            <a:r>
              <a:rPr sz="1150" b="0">
                <a:solidFill>
                  <a:srgbClr val="2E2E2E"/>
                </a:solidFill>
                <a:latin typeface="Calibri"/>
              </a:rPr>
              <a:t>Camera-assisted removal devices segment is expected to</a:t>
            </a:r>
          </a:p>
        </p:txBody>
      </p:sp>
      <p:sp>
        <p:nvSpPr>
          <p:cNvPr id="115" name="TextBox 114"/>
          <p:cNvSpPr txBox="1"/>
          <p:nvPr/>
        </p:nvSpPr>
        <p:spPr>
          <a:xfrm>
            <a:off x="8048625" y="1647255"/>
            <a:ext cx="2627225" cy="194310"/>
          </a:xfrm>
          <a:prstGeom prst="rect">
            <a:avLst/>
          </a:prstGeom>
          <a:noFill/>
        </p:spPr>
        <p:txBody>
          <a:bodyPr wrap="none" lIns="0" rIns="0" tIns="0" bIns="0">
            <a:spAutoFit/>
          </a:bodyPr>
          <a:lstStyle/>
          <a:p>
            <a:r>
              <a:rPr sz="1150" b="0">
                <a:solidFill>
                  <a:srgbClr val="2E2E2E"/>
                </a:solidFill>
                <a:latin typeface="Calibri"/>
              </a:rPr>
              <a:t>command the highest average price of US$</a:t>
            </a:r>
          </a:p>
        </p:txBody>
      </p:sp>
      <p:pic>
        <p:nvPicPr>
          <p:cNvPr id="116" name="Picture 115" descr="lock.png"/>
          <p:cNvPicPr>
            <a:picLocks noChangeAspect="1"/>
          </p:cNvPicPr>
          <p:nvPr/>
        </p:nvPicPr>
        <p:blipFill>
          <a:blip r:embed="rId4"/>
          <a:stretch>
            <a:fillRect/>
          </a:stretch>
        </p:blipFill>
        <p:spPr>
          <a:xfrm>
            <a:off x="10625004" y="1637031"/>
            <a:ext cx="134549" cy="195707"/>
          </a:xfrm>
          <a:prstGeom prst="rect">
            <a:avLst/>
          </a:prstGeom>
        </p:spPr>
      </p:pic>
      <p:sp>
        <p:nvSpPr>
          <p:cNvPr id="117" name="TextBox 116"/>
          <p:cNvSpPr txBox="1"/>
          <p:nvPr/>
        </p:nvSpPr>
        <p:spPr>
          <a:xfrm>
            <a:off x="10800113" y="1647255"/>
            <a:ext cx="706611" cy="194310"/>
          </a:xfrm>
          <a:prstGeom prst="rect">
            <a:avLst/>
          </a:prstGeom>
          <a:noFill/>
        </p:spPr>
        <p:txBody>
          <a:bodyPr wrap="none" lIns="0" rIns="0" tIns="0" bIns="0">
            <a:spAutoFit/>
          </a:bodyPr>
          <a:lstStyle/>
          <a:p>
            <a:r>
              <a:rPr sz="1150" b="0">
                <a:solidFill>
                  <a:srgbClr val="2E2E2E"/>
                </a:solidFill>
                <a:latin typeface="Calibri"/>
              </a:rPr>
              <a:t>per Unit in</a:t>
            </a:r>
          </a:p>
        </p:txBody>
      </p:sp>
      <p:sp>
        <p:nvSpPr>
          <p:cNvPr id="118" name="TextBox 117"/>
          <p:cNvSpPr txBox="1"/>
          <p:nvPr/>
        </p:nvSpPr>
        <p:spPr>
          <a:xfrm>
            <a:off x="8048625" y="1822515"/>
            <a:ext cx="3522027" cy="194310"/>
          </a:xfrm>
          <a:prstGeom prst="rect">
            <a:avLst/>
          </a:prstGeom>
          <a:noFill/>
        </p:spPr>
        <p:txBody>
          <a:bodyPr wrap="none" lIns="0" rIns="0" tIns="0" bIns="0">
            <a:spAutoFit/>
          </a:bodyPr>
          <a:lstStyle/>
          <a:p>
            <a:r>
              <a:rPr sz="1150" b="0">
                <a:solidFill>
                  <a:srgbClr val="2E2E2E"/>
                </a:solidFill>
                <a:latin typeface="Calibri"/>
              </a:rPr>
              <a:t>2036. Average selling price of ear wax removal products is</a:t>
            </a:r>
          </a:p>
        </p:txBody>
      </p:sp>
      <p:sp>
        <p:nvSpPr>
          <p:cNvPr id="119" name="TextBox 118"/>
          <p:cNvSpPr txBox="1"/>
          <p:nvPr/>
        </p:nvSpPr>
        <p:spPr>
          <a:xfrm>
            <a:off x="8048625" y="1997775"/>
            <a:ext cx="1093985" cy="194310"/>
          </a:xfrm>
          <a:prstGeom prst="rect">
            <a:avLst/>
          </a:prstGeom>
          <a:noFill/>
        </p:spPr>
        <p:txBody>
          <a:bodyPr wrap="none" lIns="0" rIns="0" tIns="0" bIns="0">
            <a:spAutoFit/>
          </a:bodyPr>
          <a:lstStyle/>
          <a:p>
            <a:r>
              <a:rPr sz="1150" b="0">
                <a:solidFill>
                  <a:srgbClr val="2E2E2E"/>
                </a:solidFill>
                <a:latin typeface="Calibri"/>
              </a:rPr>
              <a:t>estimated at US$</a:t>
            </a:r>
          </a:p>
        </p:txBody>
      </p:sp>
      <p:pic>
        <p:nvPicPr>
          <p:cNvPr id="120" name="Picture 119" descr="lock.png"/>
          <p:cNvPicPr>
            <a:picLocks noChangeAspect="1"/>
          </p:cNvPicPr>
          <p:nvPr/>
        </p:nvPicPr>
        <p:blipFill>
          <a:blip r:embed="rId4"/>
          <a:stretch>
            <a:fillRect/>
          </a:stretch>
        </p:blipFill>
        <p:spPr>
          <a:xfrm>
            <a:off x="9091764" y="1987551"/>
            <a:ext cx="134549" cy="195707"/>
          </a:xfrm>
          <a:prstGeom prst="rect">
            <a:avLst/>
          </a:prstGeom>
        </p:spPr>
      </p:pic>
      <p:sp>
        <p:nvSpPr>
          <p:cNvPr id="121" name="TextBox 120"/>
          <p:cNvSpPr txBox="1"/>
          <p:nvPr/>
        </p:nvSpPr>
        <p:spPr>
          <a:xfrm>
            <a:off x="9266874" y="1997775"/>
            <a:ext cx="2181944" cy="194310"/>
          </a:xfrm>
          <a:prstGeom prst="rect">
            <a:avLst/>
          </a:prstGeom>
          <a:noFill/>
        </p:spPr>
        <p:txBody>
          <a:bodyPr wrap="none" lIns="0" rIns="0" tIns="0" bIns="0">
            <a:spAutoFit/>
          </a:bodyPr>
          <a:lstStyle/>
          <a:p>
            <a:r>
              <a:rPr sz="1150" b="0">
                <a:solidFill>
                  <a:srgbClr val="2E2E2E"/>
                </a:solidFill>
                <a:latin typeface="Calibri"/>
              </a:rPr>
              <a:t>per Unit in 2025 and is projected to</a:t>
            </a:r>
          </a:p>
        </p:txBody>
      </p:sp>
      <p:sp>
        <p:nvSpPr>
          <p:cNvPr id="122" name="TextBox 121"/>
          <p:cNvSpPr txBox="1"/>
          <p:nvPr/>
        </p:nvSpPr>
        <p:spPr>
          <a:xfrm>
            <a:off x="8048625" y="2173035"/>
            <a:ext cx="999281" cy="194310"/>
          </a:xfrm>
          <a:prstGeom prst="rect">
            <a:avLst/>
          </a:prstGeom>
          <a:noFill/>
        </p:spPr>
        <p:txBody>
          <a:bodyPr wrap="none" lIns="0" rIns="0" tIns="0" bIns="0">
            <a:spAutoFit/>
          </a:bodyPr>
          <a:lstStyle/>
          <a:p>
            <a:r>
              <a:rPr sz="1150" b="0">
                <a:solidFill>
                  <a:srgbClr val="2E2E2E"/>
                </a:solidFill>
                <a:latin typeface="Calibri"/>
              </a:rPr>
              <a:t>increase to US$</a:t>
            </a:r>
          </a:p>
        </p:txBody>
      </p:sp>
      <p:pic>
        <p:nvPicPr>
          <p:cNvPr id="123" name="Picture 122" descr="lock.png"/>
          <p:cNvPicPr>
            <a:picLocks noChangeAspect="1"/>
          </p:cNvPicPr>
          <p:nvPr/>
        </p:nvPicPr>
        <p:blipFill>
          <a:blip r:embed="rId4"/>
          <a:stretch>
            <a:fillRect/>
          </a:stretch>
        </p:blipFill>
        <p:spPr>
          <a:xfrm>
            <a:off x="8997060" y="2162811"/>
            <a:ext cx="134549" cy="195707"/>
          </a:xfrm>
          <a:prstGeom prst="rect">
            <a:avLst/>
          </a:prstGeom>
        </p:spPr>
      </p:pic>
      <p:sp>
        <p:nvSpPr>
          <p:cNvPr id="124" name="TextBox 123"/>
          <p:cNvSpPr txBox="1"/>
          <p:nvPr/>
        </p:nvSpPr>
        <p:spPr>
          <a:xfrm>
            <a:off x="9172169" y="2173035"/>
            <a:ext cx="1105681" cy="194310"/>
          </a:xfrm>
          <a:prstGeom prst="rect">
            <a:avLst/>
          </a:prstGeom>
          <a:noFill/>
        </p:spPr>
        <p:txBody>
          <a:bodyPr wrap="none" lIns="0" rIns="0" tIns="0" bIns="0">
            <a:spAutoFit/>
          </a:bodyPr>
          <a:lstStyle/>
          <a:p>
            <a:r>
              <a:rPr sz="1150" b="0">
                <a:solidFill>
                  <a:srgbClr val="2E2E2E"/>
                </a:solidFill>
                <a:latin typeface="Calibri"/>
              </a:rPr>
              <a:t>per Unit by 2036.</a:t>
            </a:r>
          </a:p>
        </p:txBody>
      </p:sp>
      <p:sp>
        <p:nvSpPr>
          <p:cNvPr id="125" name="TextBox 124"/>
          <p:cNvSpPr txBox="1"/>
          <p:nvPr/>
        </p:nvSpPr>
        <p:spPr>
          <a:xfrm>
            <a:off x="8048625" y="2400873"/>
            <a:ext cx="3596518" cy="194310"/>
          </a:xfrm>
          <a:prstGeom prst="rect">
            <a:avLst/>
          </a:prstGeom>
          <a:noFill/>
        </p:spPr>
        <p:txBody>
          <a:bodyPr wrap="none" lIns="0" rIns="0" tIns="0" bIns="0">
            <a:spAutoFit/>
          </a:bodyPr>
          <a:lstStyle/>
          <a:p>
            <a:r>
              <a:rPr sz="1150" b="0">
                <a:solidFill>
                  <a:srgbClr val="2E2E2E"/>
                </a:solidFill>
                <a:latin typeface="Calibri"/>
              </a:rPr>
              <a:t>Canada is the highest-priced country, while U.S. is the most</a:t>
            </a:r>
          </a:p>
        </p:txBody>
      </p:sp>
      <p:sp>
        <p:nvSpPr>
          <p:cNvPr id="126" name="TextBox 125"/>
          <p:cNvSpPr txBox="1"/>
          <p:nvPr/>
        </p:nvSpPr>
        <p:spPr>
          <a:xfrm>
            <a:off x="8048625" y="2576133"/>
            <a:ext cx="3714898" cy="194310"/>
          </a:xfrm>
          <a:prstGeom prst="rect">
            <a:avLst/>
          </a:prstGeom>
          <a:noFill/>
        </p:spPr>
        <p:txBody>
          <a:bodyPr wrap="none" lIns="0" rIns="0" tIns="0" bIns="0">
            <a:spAutoFit/>
          </a:bodyPr>
          <a:lstStyle/>
          <a:p>
            <a:r>
              <a:rPr sz="1150" b="0">
                <a:solidFill>
                  <a:srgbClr val="2E2E2E"/>
                </a:solidFill>
                <a:latin typeface="Calibri"/>
              </a:rPr>
              <a:t>price-competitive market. Against the North America price of</a:t>
            </a:r>
          </a:p>
        </p:txBody>
      </p:sp>
      <p:pic>
        <p:nvPicPr>
          <p:cNvPr id="127" name="Picture 126" descr="lock.png"/>
          <p:cNvPicPr>
            <a:picLocks noChangeAspect="1"/>
          </p:cNvPicPr>
          <p:nvPr/>
        </p:nvPicPr>
        <p:blipFill>
          <a:blip r:embed="rId4"/>
          <a:stretch>
            <a:fillRect/>
          </a:stretch>
        </p:blipFill>
        <p:spPr>
          <a:xfrm>
            <a:off x="8034545" y="2741169"/>
            <a:ext cx="134549" cy="195707"/>
          </a:xfrm>
          <a:prstGeom prst="rect">
            <a:avLst/>
          </a:prstGeom>
        </p:spPr>
      </p:pic>
      <p:sp>
        <p:nvSpPr>
          <p:cNvPr id="128" name="TextBox 127"/>
          <p:cNvSpPr txBox="1"/>
          <p:nvPr/>
        </p:nvSpPr>
        <p:spPr>
          <a:xfrm>
            <a:off x="8209654" y="2751393"/>
            <a:ext cx="3195451" cy="194310"/>
          </a:xfrm>
          <a:prstGeom prst="rect">
            <a:avLst/>
          </a:prstGeom>
          <a:noFill/>
        </p:spPr>
        <p:txBody>
          <a:bodyPr wrap="none" lIns="0" rIns="0" tIns="0" bIns="0">
            <a:spAutoFit/>
          </a:bodyPr>
          <a:lstStyle/>
          <a:p>
            <a:r>
              <a:rPr sz="1150" b="0">
                <a:solidFill>
                  <a:srgbClr val="2E2E2E"/>
                </a:solidFill>
                <a:latin typeface="Calibri"/>
              </a:rPr>
              <a:t>US$/Units, 1 of 2 countries price above and 1 below.</a:t>
            </a:r>
          </a:p>
        </p:txBody>
      </p:sp>
      <p:sp>
        <p:nvSpPr>
          <p:cNvPr id="129" name="TextBox 128"/>
          <p:cNvSpPr txBox="1"/>
          <p:nvPr/>
        </p:nvSpPr>
        <p:spPr>
          <a:xfrm>
            <a:off x="8048625" y="2979230"/>
            <a:ext cx="1677330" cy="194310"/>
          </a:xfrm>
          <a:prstGeom prst="rect">
            <a:avLst/>
          </a:prstGeom>
          <a:noFill/>
        </p:spPr>
        <p:txBody>
          <a:bodyPr wrap="none" lIns="0" rIns="0" tIns="0" bIns="0">
            <a:spAutoFit/>
          </a:bodyPr>
          <a:lstStyle/>
          <a:p>
            <a:r>
              <a:rPr sz="1150" b="0">
                <a:solidFill>
                  <a:srgbClr val="2E2E2E"/>
                </a:solidFill>
                <a:latin typeface="Calibri"/>
              </a:rPr>
              <a:t>'Canada' is the dearest at +</a:t>
            </a:r>
          </a:p>
        </p:txBody>
      </p:sp>
      <p:pic>
        <p:nvPicPr>
          <p:cNvPr id="130" name="Picture 129" descr="lock.png"/>
          <p:cNvPicPr>
            <a:picLocks noChangeAspect="1"/>
          </p:cNvPicPr>
          <p:nvPr/>
        </p:nvPicPr>
        <p:blipFill>
          <a:blip r:embed="rId4"/>
          <a:stretch>
            <a:fillRect/>
          </a:stretch>
        </p:blipFill>
        <p:spPr>
          <a:xfrm>
            <a:off x="9675109" y="2969007"/>
            <a:ext cx="134549" cy="195707"/>
          </a:xfrm>
          <a:prstGeom prst="rect">
            <a:avLst/>
          </a:prstGeom>
        </p:spPr>
      </p:pic>
      <p:sp>
        <p:nvSpPr>
          <p:cNvPr id="131" name="TextBox 130"/>
          <p:cNvSpPr txBox="1"/>
          <p:nvPr/>
        </p:nvSpPr>
        <p:spPr>
          <a:xfrm>
            <a:off x="9850218" y="2979230"/>
            <a:ext cx="1961728" cy="194310"/>
          </a:xfrm>
          <a:prstGeom prst="rect">
            <a:avLst/>
          </a:prstGeom>
          <a:noFill/>
        </p:spPr>
        <p:txBody>
          <a:bodyPr wrap="none" lIns="0" rIns="0" tIns="0" bIns="0">
            <a:spAutoFit/>
          </a:bodyPr>
          <a:lstStyle/>
          <a:p>
            <a:r>
              <a:rPr sz="1150" b="0">
                <a:solidFill>
                  <a:srgbClr val="2E2E2E"/>
                </a:solidFill>
                <a:latin typeface="Calibri"/>
              </a:rPr>
              <a:t>versus North America, 'U.S.' the</a:t>
            </a:r>
          </a:p>
        </p:txBody>
      </p:sp>
      <p:sp>
        <p:nvSpPr>
          <p:cNvPr id="132" name="TextBox 131"/>
          <p:cNvSpPr txBox="1"/>
          <p:nvPr/>
        </p:nvSpPr>
        <p:spPr>
          <a:xfrm>
            <a:off x="8048625" y="3154490"/>
            <a:ext cx="842962" cy="194310"/>
          </a:xfrm>
          <a:prstGeom prst="rect">
            <a:avLst/>
          </a:prstGeom>
          <a:noFill/>
        </p:spPr>
        <p:txBody>
          <a:bodyPr wrap="none" lIns="0" rIns="0" tIns="0" bIns="0">
            <a:spAutoFit/>
          </a:bodyPr>
          <a:lstStyle/>
          <a:p>
            <a:r>
              <a:rPr sz="1150" b="0">
                <a:solidFill>
                  <a:srgbClr val="2E2E2E"/>
                </a:solidFill>
                <a:latin typeface="Calibri"/>
              </a:rPr>
              <a:t>cheapest at -</a:t>
            </a:r>
          </a:p>
        </p:txBody>
      </p:sp>
      <p:pic>
        <p:nvPicPr>
          <p:cNvPr id="133" name="Picture 132" descr="lock.png"/>
          <p:cNvPicPr>
            <a:picLocks noChangeAspect="1"/>
          </p:cNvPicPr>
          <p:nvPr/>
        </p:nvPicPr>
        <p:blipFill>
          <a:blip r:embed="rId4"/>
          <a:stretch>
            <a:fillRect/>
          </a:stretch>
        </p:blipFill>
        <p:spPr>
          <a:xfrm>
            <a:off x="8840741" y="3144267"/>
            <a:ext cx="134549" cy="195707"/>
          </a:xfrm>
          <a:prstGeom prst="rect">
            <a:avLst/>
          </a:prstGeom>
        </p:spPr>
      </p:pic>
      <p:sp>
        <p:nvSpPr>
          <p:cNvPr id="134" name="TextBox 133"/>
          <p:cNvSpPr txBox="1"/>
          <p:nvPr/>
        </p:nvSpPr>
        <p:spPr>
          <a:xfrm>
            <a:off x="9015850" y="3154490"/>
            <a:ext cx="2728205" cy="194310"/>
          </a:xfrm>
          <a:prstGeom prst="rect">
            <a:avLst/>
          </a:prstGeom>
          <a:noFill/>
        </p:spPr>
        <p:txBody>
          <a:bodyPr wrap="none" lIns="0" rIns="0" tIns="0" bIns="0">
            <a:spAutoFit/>
          </a:bodyPr>
          <a:lstStyle/>
          <a:p>
            <a:r>
              <a:rPr sz="1150" b="0">
                <a:solidFill>
                  <a:srgbClr val="2E2E2E"/>
                </a:solidFill>
                <a:latin typeface="Calibri"/>
              </a:rPr>
              <a:t>pointing to premiumisation headroom in the</a:t>
            </a:r>
          </a:p>
        </p:txBody>
      </p:sp>
      <p:sp>
        <p:nvSpPr>
          <p:cNvPr id="135" name="TextBox 134"/>
          <p:cNvSpPr txBox="1"/>
          <p:nvPr/>
        </p:nvSpPr>
        <p:spPr>
          <a:xfrm>
            <a:off x="8048625" y="3329750"/>
            <a:ext cx="1458540" cy="194310"/>
          </a:xfrm>
          <a:prstGeom prst="rect">
            <a:avLst/>
          </a:prstGeom>
          <a:noFill/>
        </p:spPr>
        <p:txBody>
          <a:bodyPr wrap="none" lIns="0" rIns="0" tIns="0" bIns="0">
            <a:spAutoFit/>
          </a:bodyPr>
          <a:lstStyle/>
          <a:p>
            <a:r>
              <a:rPr sz="1150" b="0">
                <a:solidFill>
                  <a:srgbClr val="2E2E2E"/>
                </a:solidFill>
                <a:latin typeface="Calibri"/>
              </a:rPr>
              <a:t>lower-priced countries.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Ear Wax Removal Products Market Summary, By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value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3051231"/>
          </a:xfrm>
          <a:prstGeom prst="roundRect">
            <a:avLst>
              <a:gd name="adj" fmla="val 24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2565456"/>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p:txBody>
      </p:sp>
      <p:sp>
        <p:nvSpPr>
          <p:cNvPr id="24" name="Rounded Rectangle 23"/>
          <p:cNvSpPr/>
          <p:nvPr/>
        </p:nvSpPr>
        <p:spPr>
          <a:xfrm>
            <a:off x="7915275" y="4733879"/>
            <a:ext cx="4133850" cy="1822506"/>
          </a:xfrm>
          <a:prstGeom prst="roundRect">
            <a:avLst>
              <a:gd name="adj" fmla="val 41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819604"/>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5057729"/>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5143454"/>
            <a:ext cx="3867150" cy="133673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448338" cy="186689"/>
          </a:xfrm>
          <a:prstGeom prst="rect">
            <a:avLst/>
          </a:prstGeom>
          <a:noFill/>
        </p:spPr>
        <p:txBody>
          <a:bodyPr wrap="none" lIns="0" rIns="0" tIns="0" bIns="0">
            <a:spAutoFit/>
          </a:bodyPr>
          <a:lstStyle/>
          <a:p>
            <a:r>
              <a:rPr sz="1100" b="0">
                <a:solidFill>
                  <a:srgbClr val="2E2E2E"/>
                </a:solidFill>
                <a:latin typeface="Calibri"/>
              </a:rPr>
              <a:t>Ear wax removal products market value in North America is</a:t>
            </a:r>
          </a:p>
        </p:txBody>
      </p:sp>
      <p:sp>
        <p:nvSpPr>
          <p:cNvPr id="35" name="TextBox 34"/>
          <p:cNvSpPr txBox="1"/>
          <p:nvPr/>
        </p:nvSpPr>
        <p:spPr>
          <a:xfrm>
            <a:off x="8048625" y="2214627"/>
            <a:ext cx="1256555" cy="186689"/>
          </a:xfrm>
          <a:prstGeom prst="rect">
            <a:avLst/>
          </a:prstGeom>
          <a:noFill/>
        </p:spPr>
        <p:txBody>
          <a:bodyPr wrap="none" lIns="0" rIns="0" tIns="0" bIns="0">
            <a:spAutoFit/>
          </a:bodyPr>
          <a:lstStyle/>
          <a:p>
            <a:r>
              <a:rPr sz="1100" b="0">
                <a:solidFill>
                  <a:srgbClr val="2E2E2E"/>
                </a:solidFill>
                <a:latin typeface="Calibri"/>
              </a:rPr>
              <a:t>expected to increase</a:t>
            </a:r>
          </a:p>
        </p:txBody>
      </p:sp>
      <p:pic>
        <p:nvPicPr>
          <p:cNvPr id="36" name="Picture 35" descr="lock.png"/>
          <p:cNvPicPr>
            <a:picLocks noChangeAspect="1"/>
          </p:cNvPicPr>
          <p:nvPr/>
        </p:nvPicPr>
        <p:blipFill>
          <a:blip r:embed="rId6"/>
          <a:stretch>
            <a:fillRect/>
          </a:stretch>
        </p:blipFill>
        <p:spPr>
          <a:xfrm>
            <a:off x="9253232" y="2204848"/>
            <a:ext cx="128699" cy="187198"/>
          </a:xfrm>
          <a:prstGeom prst="rect">
            <a:avLst/>
          </a:prstGeom>
        </p:spPr>
      </p:pic>
      <p:sp>
        <p:nvSpPr>
          <p:cNvPr id="37" name="TextBox 36"/>
          <p:cNvSpPr txBox="1"/>
          <p:nvPr/>
        </p:nvSpPr>
        <p:spPr>
          <a:xfrm>
            <a:off x="9420728" y="2214627"/>
            <a:ext cx="2306215" cy="186689"/>
          </a:xfrm>
          <a:prstGeom prst="rect">
            <a:avLst/>
          </a:prstGeom>
          <a:noFill/>
        </p:spPr>
        <p:txBody>
          <a:bodyPr wrap="none" lIns="0" rIns="0" tIns="0" bIns="0">
            <a:spAutoFit/>
          </a:bodyPr>
          <a:lstStyle/>
          <a:p>
            <a:r>
              <a:rPr sz="1100" b="0">
                <a:solidFill>
                  <a:srgbClr val="2E2E2E"/>
                </a:solidFill>
                <a:latin typeface="Calibri"/>
              </a:rPr>
              <a:t>X between 2025 and 2036. In 2025, the</a:t>
            </a:r>
          </a:p>
        </p:txBody>
      </p:sp>
      <p:sp>
        <p:nvSpPr>
          <p:cNvPr id="38" name="TextBox 37"/>
          <p:cNvSpPr txBox="1"/>
          <p:nvPr/>
        </p:nvSpPr>
        <p:spPr>
          <a:xfrm>
            <a:off x="8048625" y="2382267"/>
            <a:ext cx="3803079" cy="186689"/>
          </a:xfrm>
          <a:prstGeom prst="rect">
            <a:avLst/>
          </a:prstGeom>
          <a:noFill/>
        </p:spPr>
        <p:txBody>
          <a:bodyPr wrap="none" lIns="0" rIns="0" tIns="0" bIns="0">
            <a:spAutoFit/>
          </a:bodyPr>
          <a:lstStyle/>
          <a:p>
            <a:r>
              <a:rPr sz="1100" b="0">
                <a:solidFill>
                  <a:srgbClr val="2E2E2E"/>
                </a:solidFill>
                <a:latin typeface="Calibri"/>
              </a:rPr>
              <a:t>ear wax removal products market in North America was valued at</a:t>
            </a:r>
          </a:p>
        </p:txBody>
      </p:sp>
      <p:sp>
        <p:nvSpPr>
          <p:cNvPr id="39" name="TextBox 38"/>
          <p:cNvSpPr txBox="1"/>
          <p:nvPr/>
        </p:nvSpPr>
        <p:spPr>
          <a:xfrm>
            <a:off x="8048625" y="2549907"/>
            <a:ext cx="301029" cy="186689"/>
          </a:xfrm>
          <a:prstGeom prst="rect">
            <a:avLst/>
          </a:prstGeom>
          <a:noFill/>
        </p:spPr>
        <p:txBody>
          <a:bodyPr wrap="none" lIns="0" rIns="0" tIns="0" bIns="0">
            <a:spAutoFit/>
          </a:bodyPr>
          <a:lstStyle/>
          <a:p>
            <a:r>
              <a:rPr sz="1100" b="0">
                <a:solidFill>
                  <a:srgbClr val="2E2E2E"/>
                </a:solidFill>
                <a:latin typeface="Calibri"/>
              </a:rPr>
              <a:t>US$</a:t>
            </a:r>
          </a:p>
        </p:txBody>
      </p:sp>
      <p:pic>
        <p:nvPicPr>
          <p:cNvPr id="40" name="Picture 39" descr="lock.png"/>
          <p:cNvPicPr>
            <a:picLocks noChangeAspect="1"/>
          </p:cNvPicPr>
          <p:nvPr/>
        </p:nvPicPr>
        <p:blipFill>
          <a:blip r:embed="rId6"/>
          <a:stretch>
            <a:fillRect/>
          </a:stretch>
        </p:blipFill>
        <p:spPr>
          <a:xfrm>
            <a:off x="8297706" y="2540128"/>
            <a:ext cx="128699" cy="187198"/>
          </a:xfrm>
          <a:prstGeom prst="rect">
            <a:avLst/>
          </a:prstGeom>
        </p:spPr>
      </p:pic>
      <p:sp>
        <p:nvSpPr>
          <p:cNvPr id="41" name="TextBox 40"/>
          <p:cNvSpPr txBox="1"/>
          <p:nvPr/>
        </p:nvSpPr>
        <p:spPr>
          <a:xfrm>
            <a:off x="8465202" y="2549907"/>
            <a:ext cx="2325861" cy="186689"/>
          </a:xfrm>
          <a:prstGeom prst="rect">
            <a:avLst/>
          </a:prstGeom>
          <a:noFill/>
        </p:spPr>
        <p:txBody>
          <a:bodyPr wrap="none" lIns="0" rIns="0" tIns="0" bIns="0">
            <a:spAutoFit/>
          </a:bodyPr>
          <a:lstStyle/>
          <a:p>
            <a:r>
              <a:rPr sz="1100" b="0">
                <a:solidFill>
                  <a:srgbClr val="2E2E2E"/>
                </a:solidFill>
                <a:latin typeface="Calibri"/>
              </a:rPr>
              <a:t>Mn and is estimated to account for US$</a:t>
            </a:r>
          </a:p>
        </p:txBody>
      </p:sp>
      <p:pic>
        <p:nvPicPr>
          <p:cNvPr id="42" name="Picture 41" descr="lock.png"/>
          <p:cNvPicPr>
            <a:picLocks noChangeAspect="1"/>
          </p:cNvPicPr>
          <p:nvPr/>
        </p:nvPicPr>
        <p:blipFill>
          <a:blip r:embed="rId6"/>
          <a:stretch>
            <a:fillRect/>
          </a:stretch>
        </p:blipFill>
        <p:spPr>
          <a:xfrm>
            <a:off x="10739114" y="2540128"/>
            <a:ext cx="128699" cy="187198"/>
          </a:xfrm>
          <a:prstGeom prst="rect">
            <a:avLst/>
          </a:prstGeom>
        </p:spPr>
      </p:pic>
      <p:sp>
        <p:nvSpPr>
          <p:cNvPr id="43" name="TextBox 42"/>
          <p:cNvSpPr txBox="1"/>
          <p:nvPr/>
        </p:nvSpPr>
        <p:spPr>
          <a:xfrm>
            <a:off x="10906610" y="2549907"/>
            <a:ext cx="907033" cy="186689"/>
          </a:xfrm>
          <a:prstGeom prst="rect">
            <a:avLst/>
          </a:prstGeom>
          <a:noFill/>
        </p:spPr>
        <p:txBody>
          <a:bodyPr wrap="none" lIns="0" rIns="0" tIns="0" bIns="0">
            <a:spAutoFit/>
          </a:bodyPr>
          <a:lstStyle/>
          <a:p>
            <a:r>
              <a:rPr sz="1100" b="0">
                <a:solidFill>
                  <a:srgbClr val="2E2E2E"/>
                </a:solidFill>
                <a:latin typeface="Calibri"/>
              </a:rPr>
              <a:t>Mn by the end</a:t>
            </a:r>
          </a:p>
        </p:txBody>
      </p:sp>
      <p:sp>
        <p:nvSpPr>
          <p:cNvPr id="44" name="TextBox 43"/>
          <p:cNvSpPr txBox="1"/>
          <p:nvPr/>
        </p:nvSpPr>
        <p:spPr>
          <a:xfrm>
            <a:off x="8048625" y="2717547"/>
            <a:ext cx="2392436" cy="186689"/>
          </a:xfrm>
          <a:prstGeom prst="rect">
            <a:avLst/>
          </a:prstGeom>
          <a:noFill/>
        </p:spPr>
        <p:txBody>
          <a:bodyPr wrap="none" lIns="0" rIns="0" tIns="0" bIns="0">
            <a:spAutoFit/>
          </a:bodyPr>
          <a:lstStyle/>
          <a:p>
            <a:r>
              <a:rPr sz="1100" b="0">
                <a:solidFill>
                  <a:srgbClr val="2E2E2E"/>
                </a:solidFill>
                <a:latin typeface="Calibri"/>
              </a:rPr>
              <a:t>of 2026, reflecting a Y-o-Y growth rate of</a:t>
            </a:r>
          </a:p>
        </p:txBody>
      </p:sp>
      <p:pic>
        <p:nvPicPr>
          <p:cNvPr id="45" name="Picture 44" descr="lock.png"/>
          <p:cNvPicPr>
            <a:picLocks noChangeAspect="1"/>
          </p:cNvPicPr>
          <p:nvPr/>
        </p:nvPicPr>
        <p:blipFill>
          <a:blip r:embed="rId6"/>
          <a:stretch>
            <a:fillRect/>
          </a:stretch>
        </p:blipFill>
        <p:spPr>
          <a:xfrm>
            <a:off x="10389113" y="2707768"/>
            <a:ext cx="128699" cy="187198"/>
          </a:xfrm>
          <a:prstGeom prst="rect">
            <a:avLst/>
          </a:prstGeom>
        </p:spPr>
      </p:pic>
      <p:sp>
        <p:nvSpPr>
          <p:cNvPr id="46" name="TextBox 45"/>
          <p:cNvSpPr txBox="1"/>
          <p:nvPr/>
        </p:nvSpPr>
        <p:spPr>
          <a:xfrm>
            <a:off x="10556609"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7" name="TextBox 46"/>
          <p:cNvSpPr txBox="1"/>
          <p:nvPr/>
        </p:nvSpPr>
        <p:spPr>
          <a:xfrm>
            <a:off x="8048625" y="2935479"/>
            <a:ext cx="3491210" cy="186689"/>
          </a:xfrm>
          <a:prstGeom prst="rect">
            <a:avLst/>
          </a:prstGeom>
          <a:noFill/>
        </p:spPr>
        <p:txBody>
          <a:bodyPr wrap="none" lIns="0" rIns="0" tIns="0" bIns="0">
            <a:spAutoFit/>
          </a:bodyPr>
          <a:lstStyle/>
          <a:p>
            <a:r>
              <a:rPr sz="1100" b="0">
                <a:solidFill>
                  <a:srgbClr val="2E2E2E"/>
                </a:solidFill>
                <a:latin typeface="Calibri"/>
              </a:rPr>
              <a:t>The market in North America is expected to account for US$</a:t>
            </a:r>
          </a:p>
        </p:txBody>
      </p:sp>
      <p:pic>
        <p:nvPicPr>
          <p:cNvPr id="48" name="Picture 47" descr="lock.png"/>
          <p:cNvPicPr>
            <a:picLocks noChangeAspect="1"/>
          </p:cNvPicPr>
          <p:nvPr/>
        </p:nvPicPr>
        <p:blipFill>
          <a:blip r:embed="rId6"/>
          <a:stretch>
            <a:fillRect/>
          </a:stretch>
        </p:blipFill>
        <p:spPr>
          <a:xfrm>
            <a:off x="8035157" y="3093340"/>
            <a:ext cx="128699" cy="187198"/>
          </a:xfrm>
          <a:prstGeom prst="rect">
            <a:avLst/>
          </a:prstGeom>
        </p:spPr>
      </p:pic>
      <p:sp>
        <p:nvSpPr>
          <p:cNvPr id="49" name="TextBox 48"/>
          <p:cNvSpPr txBox="1"/>
          <p:nvPr/>
        </p:nvSpPr>
        <p:spPr>
          <a:xfrm>
            <a:off x="8202653" y="3103119"/>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50" name="Picture 49" descr="lock.png"/>
          <p:cNvPicPr>
            <a:picLocks noChangeAspect="1"/>
          </p:cNvPicPr>
          <p:nvPr/>
        </p:nvPicPr>
        <p:blipFill>
          <a:blip r:embed="rId6"/>
          <a:stretch>
            <a:fillRect/>
          </a:stretch>
        </p:blipFill>
        <p:spPr>
          <a:xfrm>
            <a:off x="9646261" y="3093340"/>
            <a:ext cx="128699" cy="187198"/>
          </a:xfrm>
          <a:prstGeom prst="rect">
            <a:avLst/>
          </a:prstGeom>
        </p:spPr>
      </p:pic>
      <p:sp>
        <p:nvSpPr>
          <p:cNvPr id="51" name="TextBox 50"/>
          <p:cNvSpPr txBox="1"/>
          <p:nvPr/>
        </p:nvSpPr>
        <p:spPr>
          <a:xfrm>
            <a:off x="9813757" y="3103119"/>
            <a:ext cx="1849462" cy="186689"/>
          </a:xfrm>
          <a:prstGeom prst="rect">
            <a:avLst/>
          </a:prstGeom>
          <a:noFill/>
        </p:spPr>
        <p:txBody>
          <a:bodyPr wrap="none" lIns="0" rIns="0" tIns="0" bIns="0">
            <a:spAutoFit/>
          </a:bodyPr>
          <a:lstStyle/>
          <a:p>
            <a:r>
              <a:rPr sz="1100" b="0">
                <a:solidFill>
                  <a:srgbClr val="2E2E2E"/>
                </a:solidFill>
                <a:latin typeface="Calibri"/>
              </a:rPr>
              <a:t>over the forecast period. North</a:t>
            </a:r>
          </a:p>
        </p:txBody>
      </p:sp>
      <p:sp>
        <p:nvSpPr>
          <p:cNvPr id="52" name="TextBox 51"/>
          <p:cNvSpPr txBox="1"/>
          <p:nvPr/>
        </p:nvSpPr>
        <p:spPr>
          <a:xfrm>
            <a:off x="8048625" y="3270759"/>
            <a:ext cx="3764880" cy="186689"/>
          </a:xfrm>
          <a:prstGeom prst="rect">
            <a:avLst/>
          </a:prstGeom>
          <a:noFill/>
        </p:spPr>
        <p:txBody>
          <a:bodyPr wrap="none" lIns="0" rIns="0" tIns="0" bIns="0">
            <a:spAutoFit/>
          </a:bodyPr>
          <a:lstStyle/>
          <a:p>
            <a:r>
              <a:rPr sz="1100" b="0">
                <a:solidFill>
                  <a:srgbClr val="2E2E2E"/>
                </a:solidFill>
                <a:latin typeface="Calibri"/>
              </a:rPr>
              <a:t>America is expected to create an incremental opportunity of US$</a:t>
            </a:r>
          </a:p>
        </p:txBody>
      </p:sp>
      <p:pic>
        <p:nvPicPr>
          <p:cNvPr id="53" name="Picture 52" descr="lock.png"/>
          <p:cNvPicPr>
            <a:picLocks noChangeAspect="1"/>
          </p:cNvPicPr>
          <p:nvPr/>
        </p:nvPicPr>
        <p:blipFill>
          <a:blip r:embed="rId6"/>
          <a:stretch>
            <a:fillRect/>
          </a:stretch>
        </p:blipFill>
        <p:spPr>
          <a:xfrm>
            <a:off x="8035157" y="3428620"/>
            <a:ext cx="128699" cy="187198"/>
          </a:xfrm>
          <a:prstGeom prst="rect">
            <a:avLst/>
          </a:prstGeom>
        </p:spPr>
      </p:pic>
      <p:sp>
        <p:nvSpPr>
          <p:cNvPr id="54" name="TextBox 53"/>
          <p:cNvSpPr txBox="1"/>
          <p:nvPr/>
        </p:nvSpPr>
        <p:spPr>
          <a:xfrm>
            <a:off x="8202653" y="3438399"/>
            <a:ext cx="3676476" cy="186689"/>
          </a:xfrm>
          <a:prstGeom prst="rect">
            <a:avLst/>
          </a:prstGeom>
          <a:noFill/>
        </p:spPr>
        <p:txBody>
          <a:bodyPr wrap="none" lIns="0" rIns="0" tIns="0" bIns="0">
            <a:spAutoFit/>
          </a:bodyPr>
          <a:lstStyle/>
          <a:p>
            <a:r>
              <a:rPr sz="1100" b="0">
                <a:solidFill>
                  <a:srgbClr val="2E2E2E"/>
                </a:solidFill>
                <a:latin typeface="Calibri"/>
              </a:rPr>
              <a:t>Mn for the overall ear wax removal products market from 2025</a:t>
            </a:r>
          </a:p>
        </p:txBody>
      </p:sp>
      <p:sp>
        <p:nvSpPr>
          <p:cNvPr id="55" name="TextBox 54"/>
          <p:cNvSpPr txBox="1"/>
          <p:nvPr/>
        </p:nvSpPr>
        <p:spPr>
          <a:xfrm>
            <a:off x="8048625" y="3606039"/>
            <a:ext cx="547414" cy="186689"/>
          </a:xfrm>
          <a:prstGeom prst="rect">
            <a:avLst/>
          </a:prstGeom>
          <a:noFill/>
        </p:spPr>
        <p:txBody>
          <a:bodyPr wrap="none" lIns="0" rIns="0" tIns="0" bIns="0">
            <a:spAutoFit/>
          </a:bodyPr>
          <a:lstStyle/>
          <a:p>
            <a:r>
              <a:rPr sz="1100" b="0">
                <a:solidFill>
                  <a:srgbClr val="2E2E2E"/>
                </a:solidFill>
                <a:latin typeface="Calibri"/>
              </a:rPr>
              <a:t>to 2036.</a:t>
            </a:r>
          </a:p>
        </p:txBody>
      </p:sp>
      <p:sp>
        <p:nvSpPr>
          <p:cNvPr id="56" name="TextBox 55"/>
          <p:cNvSpPr txBox="1"/>
          <p:nvPr/>
        </p:nvSpPr>
        <p:spPr>
          <a:xfrm>
            <a:off x="8048625" y="3823971"/>
            <a:ext cx="2837184" cy="186689"/>
          </a:xfrm>
          <a:prstGeom prst="rect">
            <a:avLst/>
          </a:prstGeom>
          <a:noFill/>
        </p:spPr>
        <p:txBody>
          <a:bodyPr wrap="none" lIns="0" rIns="0" tIns="0" bIns="0">
            <a:spAutoFit/>
          </a:bodyPr>
          <a:lstStyle/>
          <a:p>
            <a:r>
              <a:rPr sz="1100" b="0">
                <a:solidFill>
                  <a:srgbClr val="2E2E2E"/>
                </a:solidFill>
                <a:latin typeface="Calibri"/>
              </a:rPr>
              <a:t>Absolute $ value for 2026 is estimated to be US$</a:t>
            </a:r>
          </a:p>
        </p:txBody>
      </p:sp>
      <p:pic>
        <p:nvPicPr>
          <p:cNvPr id="57" name="Picture 56" descr="lock.png"/>
          <p:cNvPicPr>
            <a:picLocks noChangeAspect="1"/>
          </p:cNvPicPr>
          <p:nvPr/>
        </p:nvPicPr>
        <p:blipFill>
          <a:blip r:embed="rId6"/>
          <a:stretch>
            <a:fillRect/>
          </a:stretch>
        </p:blipFill>
        <p:spPr>
          <a:xfrm>
            <a:off x="10833861" y="3814192"/>
            <a:ext cx="128699" cy="187198"/>
          </a:xfrm>
          <a:prstGeom prst="rect">
            <a:avLst/>
          </a:prstGeom>
        </p:spPr>
      </p:pic>
      <p:sp>
        <p:nvSpPr>
          <p:cNvPr id="58" name="TextBox 57"/>
          <p:cNvSpPr txBox="1"/>
          <p:nvPr/>
        </p:nvSpPr>
        <p:spPr>
          <a:xfrm>
            <a:off x="11001357" y="3823971"/>
            <a:ext cx="304303" cy="186689"/>
          </a:xfrm>
          <a:prstGeom prst="rect">
            <a:avLst/>
          </a:prstGeom>
          <a:noFill/>
        </p:spPr>
        <p:txBody>
          <a:bodyPr wrap="none" lIns="0" rIns="0" tIns="0" bIns="0">
            <a:spAutoFit/>
          </a:bodyPr>
          <a:lstStyle/>
          <a:p>
            <a:r>
              <a:rPr sz="1100" b="0">
                <a:solidFill>
                  <a:srgbClr val="2E2E2E"/>
                </a:solidFill>
                <a:latin typeface="Calibri"/>
              </a:rPr>
              <a:t>Mn.</a:t>
            </a:r>
          </a:p>
        </p:txBody>
      </p:sp>
      <p:sp>
        <p:nvSpPr>
          <p:cNvPr id="59" name="TextBox 58"/>
          <p:cNvSpPr txBox="1"/>
          <p:nvPr/>
        </p:nvSpPr>
        <p:spPr>
          <a:xfrm>
            <a:off x="8048625" y="5152979"/>
            <a:ext cx="2138300" cy="194310"/>
          </a:xfrm>
          <a:prstGeom prst="rect">
            <a:avLst/>
          </a:prstGeom>
          <a:noFill/>
        </p:spPr>
        <p:txBody>
          <a:bodyPr wrap="none" lIns="0" rIns="0" tIns="0" bIns="0">
            <a:spAutoFit/>
          </a:bodyPr>
          <a:lstStyle/>
          <a:p>
            <a:r>
              <a:rPr sz="1150" b="0">
                <a:solidFill>
                  <a:srgbClr val="2E2E2E"/>
                </a:solidFill>
                <a:latin typeface="Calibri"/>
              </a:rPr>
              <a:t>▪ 'Canada' leads regional growth at</a:t>
            </a:r>
          </a:p>
        </p:txBody>
      </p:sp>
      <p:pic>
        <p:nvPicPr>
          <p:cNvPr id="60" name="Picture 59" descr="lock.png"/>
          <p:cNvPicPr>
            <a:picLocks noChangeAspect="1"/>
          </p:cNvPicPr>
          <p:nvPr/>
        </p:nvPicPr>
        <p:blipFill>
          <a:blip r:embed="rId6"/>
          <a:stretch>
            <a:fillRect/>
          </a:stretch>
        </p:blipFill>
        <p:spPr>
          <a:xfrm>
            <a:off x="10136079" y="5142755"/>
            <a:ext cx="134549" cy="195707"/>
          </a:xfrm>
          <a:prstGeom prst="rect">
            <a:avLst/>
          </a:prstGeom>
        </p:spPr>
      </p:pic>
      <p:sp>
        <p:nvSpPr>
          <p:cNvPr id="61" name="TextBox 60"/>
          <p:cNvSpPr txBox="1"/>
          <p:nvPr/>
        </p:nvSpPr>
        <p:spPr>
          <a:xfrm>
            <a:off x="10311188" y="5152979"/>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2" name="TextBox 61"/>
          <p:cNvSpPr txBox="1"/>
          <p:nvPr/>
        </p:nvSpPr>
        <p:spPr>
          <a:xfrm>
            <a:off x="8048625" y="5380816"/>
            <a:ext cx="3724312" cy="194310"/>
          </a:xfrm>
          <a:prstGeom prst="rect">
            <a:avLst/>
          </a:prstGeom>
          <a:noFill/>
        </p:spPr>
        <p:txBody>
          <a:bodyPr wrap="none" lIns="0" rIns="0" tIns="0" bIns="0">
            <a:spAutoFit/>
          </a:bodyPr>
          <a:lstStyle/>
          <a:p>
            <a:r>
              <a:rPr sz="1150" b="0">
                <a:solidFill>
                  <a:srgbClr val="2E2E2E"/>
                </a:solidFill>
                <a:latin typeface="Calibri"/>
              </a:rPr>
              <a:t>▪ Demand concentrates in 'Irrigation Devices and Accessories'</a:t>
            </a:r>
          </a:p>
        </p:txBody>
      </p:sp>
      <p:sp>
        <p:nvSpPr>
          <p:cNvPr id="63" name="TextBox 62"/>
          <p:cNvSpPr txBox="1"/>
          <p:nvPr/>
        </p:nvSpPr>
        <p:spPr>
          <a:xfrm>
            <a:off x="8048625" y="5556076"/>
            <a:ext cx="1308496" cy="194310"/>
          </a:xfrm>
          <a:prstGeom prst="rect">
            <a:avLst/>
          </a:prstGeom>
          <a:noFill/>
        </p:spPr>
        <p:txBody>
          <a:bodyPr wrap="none" lIns="0" rIns="0" tIns="0" bIns="0">
            <a:spAutoFit/>
          </a:bodyPr>
          <a:lstStyle/>
          <a:p>
            <a:r>
              <a:rPr sz="1150" b="0">
                <a:solidFill>
                  <a:srgbClr val="2E2E2E"/>
                </a:solidFill>
                <a:latin typeface="Calibri"/>
              </a:rPr>
              <a:t>within Product Type.</a:t>
            </a:r>
          </a:p>
        </p:txBody>
      </p:sp>
      <p:sp>
        <p:nvSpPr>
          <p:cNvPr id="64" name="TextBox 63"/>
          <p:cNvSpPr txBox="1"/>
          <p:nvPr/>
        </p:nvSpPr>
        <p:spPr>
          <a:xfrm>
            <a:off x="8048625" y="5783914"/>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65" name="TextBox 64"/>
          <p:cNvSpPr txBox="1"/>
          <p:nvPr/>
        </p:nvSpPr>
        <p:spPr>
          <a:xfrm>
            <a:off x="8048625" y="6011752"/>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66"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Ear Wax Removal Products Market Volume &amp; Value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North America market and the incremental $ opportunity it creates, 2021–2036</a:t>
            </a:r>
          </a:p>
        </p:txBody>
      </p:sp>
      <p:sp>
        <p:nvSpPr>
          <p:cNvPr id="10" name="Rounded Rectangle 9"/>
          <p:cNvSpPr/>
          <p:nvPr/>
        </p:nvSpPr>
        <p:spPr>
          <a:xfrm>
            <a:off x="142875" y="981075"/>
            <a:ext cx="4695825" cy="2524125"/>
          </a:xfrm>
          <a:prstGeom prst="roundRect">
            <a:avLst>
              <a:gd name="adj" fmla="val 30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2021–2025 (Historical)</a:t>
            </a:r>
          </a:p>
        </p:txBody>
      </p:sp>
      <p:graphicFrame>
        <p:nvGraphicFramePr>
          <p:cNvPr id="12" name="Chart 11"/>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r:id="rId3"/>
          </a:graphicData>
        </a:graphic>
      </p:graphicFrame>
      <p:sp>
        <p:nvSpPr>
          <p:cNvPr id="13" name="Rounded Rectangle 12"/>
          <p:cNvSpPr/>
          <p:nvPr/>
        </p:nvSpPr>
        <p:spPr>
          <a:xfrm>
            <a:off x="4991100" y="981075"/>
            <a:ext cx="7048500" cy="2524125"/>
          </a:xfrm>
          <a:prstGeom prst="roundRect">
            <a:avLst>
              <a:gd name="adj" fmla="val 30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2026–2036 (Forecast)</a:t>
            </a:r>
          </a:p>
        </p:txBody>
      </p:sp>
      <p:graphicFrame>
        <p:nvGraphicFramePr>
          <p:cNvPr id="15" name="Chart 14"/>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638550"/>
            <a:ext cx="25146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 </a:t>
            </a:r>
          </a:p>
        </p:txBody>
      </p:sp>
      <p:sp>
        <p:nvSpPr>
          <p:cNvPr id="17" name="Rounded Rectangle 16"/>
          <p:cNvSpPr/>
          <p:nvPr/>
        </p:nvSpPr>
        <p:spPr>
          <a:xfrm>
            <a:off x="2809875" y="3638550"/>
            <a:ext cx="25146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 </a:t>
            </a:r>
          </a:p>
        </p:txBody>
      </p:sp>
      <p:sp>
        <p:nvSpPr>
          <p:cNvPr id="18" name="Rounded Rectangle 17"/>
          <p:cNvSpPr/>
          <p:nvPr/>
        </p:nvSpPr>
        <p:spPr>
          <a:xfrm>
            <a:off x="5476875" y="3638550"/>
            <a:ext cx="32004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 </a:t>
            </a:r>
          </a:p>
        </p:txBody>
      </p:sp>
      <p:sp>
        <p:nvSpPr>
          <p:cNvPr id="19" name="Rounded Rectangle 18"/>
          <p:cNvSpPr/>
          <p:nvPr/>
        </p:nvSpPr>
        <p:spPr>
          <a:xfrm>
            <a:off x="8829675" y="3638550"/>
            <a:ext cx="32004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 </a:t>
            </a:r>
          </a:p>
        </p:txBody>
      </p:sp>
      <p:sp>
        <p:nvSpPr>
          <p:cNvPr id="20" name="Rounded Rectangle 19"/>
          <p:cNvSpPr/>
          <p:nvPr/>
        </p:nvSpPr>
        <p:spPr>
          <a:xfrm>
            <a:off x="142875" y="4457700"/>
            <a:ext cx="11906250" cy="2152650"/>
          </a:xfrm>
          <a:prstGeom prst="roundRect">
            <a:avLst>
              <a:gd name="adj" fmla="val 35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&amp; Value Analysis</a:t>
            </a:r>
          </a:p>
        </p:txBody>
      </p:sp>
      <p:sp>
        <p:nvSpPr>
          <p:cNvPr id="22" name="Rectangle 21"/>
          <p:cNvSpPr/>
          <p:nvPr/>
        </p:nvSpPr>
        <p:spPr>
          <a:xfrm>
            <a:off x="276225" y="47815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867275"/>
            <a:ext cx="11639550" cy="1666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2535356" y="2029222"/>
            <a:ext cx="202455" cy="294480"/>
          </a:xfrm>
          <a:prstGeom prst="rect">
            <a:avLst/>
          </a:prstGeom>
        </p:spPr>
      </p:pic>
      <p:pic>
        <p:nvPicPr>
          <p:cNvPr id="26" name="Picture 25" descr="lock.png"/>
          <p:cNvPicPr>
            <a:picLocks noChangeAspect="1"/>
          </p:cNvPicPr>
          <p:nvPr/>
        </p:nvPicPr>
        <p:blipFill>
          <a:blip r:embed="rId6"/>
          <a:stretch>
            <a:fillRect/>
          </a:stretch>
        </p:blipFill>
        <p:spPr>
          <a:xfrm>
            <a:off x="8532694" y="1990329"/>
            <a:ext cx="255933" cy="372266"/>
          </a:xfrm>
          <a:prstGeom prst="rect">
            <a:avLst/>
          </a:prstGeom>
        </p:spPr>
      </p:pic>
      <p:pic>
        <p:nvPicPr>
          <p:cNvPr id="27" name="Picture 26" descr="lock.png"/>
          <p:cNvPicPr>
            <a:picLocks noChangeAspect="1"/>
          </p:cNvPicPr>
          <p:nvPr/>
        </p:nvPicPr>
        <p:blipFill>
          <a:blip r:embed="rId6"/>
          <a:stretch>
            <a:fillRect/>
          </a:stretch>
        </p:blipFill>
        <p:spPr>
          <a:xfrm>
            <a:off x="1321594" y="3950970"/>
            <a:ext cx="157162" cy="228600"/>
          </a:xfrm>
          <a:prstGeom prst="rect">
            <a:avLst/>
          </a:prstGeom>
        </p:spPr>
      </p:pic>
      <p:pic>
        <p:nvPicPr>
          <p:cNvPr id="28" name="Picture 27" descr="lock.png"/>
          <p:cNvPicPr>
            <a:picLocks noChangeAspect="1"/>
          </p:cNvPicPr>
          <p:nvPr/>
        </p:nvPicPr>
        <p:blipFill>
          <a:blip r:embed="rId6"/>
          <a:stretch>
            <a:fillRect/>
          </a:stretch>
        </p:blipFill>
        <p:spPr>
          <a:xfrm>
            <a:off x="3988594" y="3950970"/>
            <a:ext cx="157162" cy="228600"/>
          </a:xfrm>
          <a:prstGeom prst="rect">
            <a:avLst/>
          </a:prstGeom>
        </p:spPr>
      </p:pic>
      <p:pic>
        <p:nvPicPr>
          <p:cNvPr id="29" name="Picture 28" descr="lock.png"/>
          <p:cNvPicPr>
            <a:picLocks noChangeAspect="1"/>
          </p:cNvPicPr>
          <p:nvPr/>
        </p:nvPicPr>
        <p:blipFill>
          <a:blip r:embed="rId6"/>
          <a:stretch>
            <a:fillRect/>
          </a:stretch>
        </p:blipFill>
        <p:spPr>
          <a:xfrm>
            <a:off x="6998494" y="3950970"/>
            <a:ext cx="157162" cy="228600"/>
          </a:xfrm>
          <a:prstGeom prst="rect">
            <a:avLst/>
          </a:prstGeom>
        </p:spPr>
      </p:pic>
      <p:pic>
        <p:nvPicPr>
          <p:cNvPr id="30" name="Picture 29" descr="lock.png"/>
          <p:cNvPicPr>
            <a:picLocks noChangeAspect="1"/>
          </p:cNvPicPr>
          <p:nvPr/>
        </p:nvPicPr>
        <p:blipFill>
          <a:blip r:embed="rId6"/>
          <a:stretch>
            <a:fillRect/>
          </a:stretch>
        </p:blipFill>
        <p:spPr>
          <a:xfrm>
            <a:off x="10351294" y="3950970"/>
            <a:ext cx="157162" cy="228600"/>
          </a:xfrm>
          <a:prstGeom prst="rect">
            <a:avLst/>
          </a:prstGeom>
        </p:spPr>
      </p:pic>
      <p:sp>
        <p:nvSpPr>
          <p:cNvPr id="31" name="TextBox 30"/>
          <p:cNvSpPr txBox="1"/>
          <p:nvPr/>
        </p:nvSpPr>
        <p:spPr>
          <a:xfrm>
            <a:off x="276225" y="4876800"/>
            <a:ext cx="4868715" cy="194310"/>
          </a:xfrm>
          <a:prstGeom prst="rect">
            <a:avLst/>
          </a:prstGeom>
          <a:noFill/>
        </p:spPr>
        <p:txBody>
          <a:bodyPr wrap="none" lIns="0" rIns="0" tIns="0" bIns="0">
            <a:spAutoFit/>
          </a:bodyPr>
          <a:lstStyle/>
          <a:p>
            <a:r>
              <a:rPr sz="1150" b="0">
                <a:solidFill>
                  <a:srgbClr val="2E2E2E"/>
                </a:solidFill>
                <a:latin typeface="Calibri"/>
              </a:rPr>
              <a:t>Ear wax removal products market value in North America is expected to increase</a:t>
            </a:r>
          </a:p>
        </p:txBody>
      </p:sp>
      <p:pic>
        <p:nvPicPr>
          <p:cNvPr id="32" name="Picture 31" descr="lock.png"/>
          <p:cNvPicPr>
            <a:picLocks noChangeAspect="1"/>
          </p:cNvPicPr>
          <p:nvPr/>
        </p:nvPicPr>
        <p:blipFill>
          <a:blip r:embed="rId6"/>
          <a:stretch>
            <a:fillRect/>
          </a:stretch>
        </p:blipFill>
        <p:spPr>
          <a:xfrm>
            <a:off x="5094094" y="4866576"/>
            <a:ext cx="134549" cy="195707"/>
          </a:xfrm>
          <a:prstGeom prst="rect">
            <a:avLst/>
          </a:prstGeom>
        </p:spPr>
      </p:pic>
      <p:sp>
        <p:nvSpPr>
          <p:cNvPr id="33" name="TextBox 32"/>
          <p:cNvSpPr txBox="1"/>
          <p:nvPr/>
        </p:nvSpPr>
        <p:spPr>
          <a:xfrm>
            <a:off x="5269203" y="4876800"/>
            <a:ext cx="6605091" cy="194310"/>
          </a:xfrm>
          <a:prstGeom prst="rect">
            <a:avLst/>
          </a:prstGeom>
          <a:noFill/>
        </p:spPr>
        <p:txBody>
          <a:bodyPr wrap="none" lIns="0" rIns="0" tIns="0" bIns="0">
            <a:spAutoFit/>
          </a:bodyPr>
          <a:lstStyle/>
          <a:p>
            <a:r>
              <a:rPr sz="1150" b="0">
                <a:solidFill>
                  <a:srgbClr val="2E2E2E"/>
                </a:solidFill>
                <a:latin typeface="Calibri"/>
              </a:rPr>
              <a:t>X between 2025 and 2036. In 2025, the ear wax removal products market in North America was valued at US$</a:t>
            </a:r>
          </a:p>
        </p:txBody>
      </p:sp>
      <p:pic>
        <p:nvPicPr>
          <p:cNvPr id="34" name="Picture 33" descr="lock.png"/>
          <p:cNvPicPr>
            <a:picLocks noChangeAspect="1"/>
          </p:cNvPicPr>
          <p:nvPr/>
        </p:nvPicPr>
        <p:blipFill>
          <a:blip r:embed="rId6"/>
          <a:stretch>
            <a:fillRect/>
          </a:stretch>
        </p:blipFill>
        <p:spPr>
          <a:xfrm>
            <a:off x="262145" y="5041836"/>
            <a:ext cx="134549" cy="195707"/>
          </a:xfrm>
          <a:prstGeom prst="rect">
            <a:avLst/>
          </a:prstGeom>
        </p:spPr>
      </p:pic>
      <p:sp>
        <p:nvSpPr>
          <p:cNvPr id="35" name="TextBox 34"/>
          <p:cNvSpPr txBox="1"/>
          <p:nvPr/>
        </p:nvSpPr>
        <p:spPr>
          <a:xfrm>
            <a:off x="437254" y="5052060"/>
            <a:ext cx="2428118" cy="194310"/>
          </a:xfrm>
          <a:prstGeom prst="rect">
            <a:avLst/>
          </a:prstGeom>
          <a:noFill/>
        </p:spPr>
        <p:txBody>
          <a:bodyPr wrap="none" lIns="0" rIns="0" tIns="0" bIns="0">
            <a:spAutoFit/>
          </a:bodyPr>
          <a:lstStyle/>
          <a:p>
            <a:r>
              <a:rPr sz="1150" b="0">
                <a:solidFill>
                  <a:srgbClr val="2E2E2E"/>
                </a:solidFill>
                <a:latin typeface="Calibri"/>
              </a:rPr>
              <a:t>Mn and is estimated to account for US$</a:t>
            </a:r>
          </a:p>
        </p:txBody>
      </p:sp>
      <p:pic>
        <p:nvPicPr>
          <p:cNvPr id="36" name="Picture 35" descr="lock.png"/>
          <p:cNvPicPr>
            <a:picLocks noChangeAspect="1"/>
          </p:cNvPicPr>
          <p:nvPr/>
        </p:nvPicPr>
        <p:blipFill>
          <a:blip r:embed="rId6"/>
          <a:stretch>
            <a:fillRect/>
          </a:stretch>
        </p:blipFill>
        <p:spPr>
          <a:xfrm>
            <a:off x="2814527" y="5041836"/>
            <a:ext cx="134549" cy="195707"/>
          </a:xfrm>
          <a:prstGeom prst="rect">
            <a:avLst/>
          </a:prstGeom>
        </p:spPr>
      </p:pic>
      <p:sp>
        <p:nvSpPr>
          <p:cNvPr id="37" name="TextBox 36"/>
          <p:cNvSpPr txBox="1"/>
          <p:nvPr/>
        </p:nvSpPr>
        <p:spPr>
          <a:xfrm>
            <a:off x="2989636" y="5052060"/>
            <a:ext cx="3399408" cy="194310"/>
          </a:xfrm>
          <a:prstGeom prst="rect">
            <a:avLst/>
          </a:prstGeom>
          <a:noFill/>
        </p:spPr>
        <p:txBody>
          <a:bodyPr wrap="none" lIns="0" rIns="0" tIns="0" bIns="0">
            <a:spAutoFit/>
          </a:bodyPr>
          <a:lstStyle/>
          <a:p>
            <a:r>
              <a:rPr sz="1150" b="0">
                <a:solidFill>
                  <a:srgbClr val="2E2E2E"/>
                </a:solidFill>
                <a:latin typeface="Calibri"/>
              </a:rPr>
              <a:t>Mn by the end of 2026, reflecting a Y-o-Y growth rate of</a:t>
            </a:r>
          </a:p>
        </p:txBody>
      </p:sp>
      <p:pic>
        <p:nvPicPr>
          <p:cNvPr id="38" name="Picture 37" descr="lock.png"/>
          <p:cNvPicPr>
            <a:picLocks noChangeAspect="1"/>
          </p:cNvPicPr>
          <p:nvPr/>
        </p:nvPicPr>
        <p:blipFill>
          <a:blip r:embed="rId6"/>
          <a:stretch>
            <a:fillRect/>
          </a:stretch>
        </p:blipFill>
        <p:spPr>
          <a:xfrm>
            <a:off x="6338198" y="5041836"/>
            <a:ext cx="134549" cy="195707"/>
          </a:xfrm>
          <a:prstGeom prst="rect">
            <a:avLst/>
          </a:prstGeom>
        </p:spPr>
      </p:pic>
      <p:sp>
        <p:nvSpPr>
          <p:cNvPr id="39" name="TextBox 38"/>
          <p:cNvSpPr txBox="1"/>
          <p:nvPr/>
        </p:nvSpPr>
        <p:spPr>
          <a:xfrm>
            <a:off x="6513307" y="5052060"/>
            <a:ext cx="3716325" cy="194310"/>
          </a:xfrm>
          <a:prstGeom prst="rect">
            <a:avLst/>
          </a:prstGeom>
          <a:noFill/>
        </p:spPr>
        <p:txBody>
          <a:bodyPr wrap="none" lIns="0" rIns="0" tIns="0" bIns="0">
            <a:spAutoFit/>
          </a:bodyPr>
          <a:lstStyle/>
          <a:p>
            <a:r>
              <a:rPr sz="1150" b="0">
                <a:solidFill>
                  <a:srgbClr val="2E2E2E"/>
                </a:solidFill>
                <a:latin typeface="Calibri"/>
              </a:rPr>
              <a:t>. The market in North America is expected to account for US$</a:t>
            </a:r>
          </a:p>
        </p:txBody>
      </p:sp>
      <p:pic>
        <p:nvPicPr>
          <p:cNvPr id="40" name="Picture 39" descr="lock.png"/>
          <p:cNvPicPr>
            <a:picLocks noChangeAspect="1"/>
          </p:cNvPicPr>
          <p:nvPr/>
        </p:nvPicPr>
        <p:blipFill>
          <a:blip r:embed="rId6"/>
          <a:stretch>
            <a:fillRect/>
          </a:stretch>
        </p:blipFill>
        <p:spPr>
          <a:xfrm>
            <a:off x="10178786" y="5041836"/>
            <a:ext cx="134549" cy="195707"/>
          </a:xfrm>
          <a:prstGeom prst="rect">
            <a:avLst/>
          </a:prstGeom>
        </p:spPr>
      </p:pic>
      <p:sp>
        <p:nvSpPr>
          <p:cNvPr id="41" name="TextBox 40"/>
          <p:cNvSpPr txBox="1"/>
          <p:nvPr/>
        </p:nvSpPr>
        <p:spPr>
          <a:xfrm>
            <a:off x="10353895" y="5052060"/>
            <a:ext cx="1038646" cy="194310"/>
          </a:xfrm>
          <a:prstGeom prst="rect">
            <a:avLst/>
          </a:prstGeom>
          <a:noFill/>
        </p:spPr>
        <p:txBody>
          <a:bodyPr wrap="none" lIns="0" rIns="0" tIns="0" bIns="0">
            <a:spAutoFit/>
          </a:bodyPr>
          <a:lstStyle/>
          <a:p>
            <a:r>
              <a:rPr sz="1150" b="0">
                <a:solidFill>
                  <a:srgbClr val="2E2E2E"/>
                </a:solidFill>
                <a:latin typeface="Calibri"/>
              </a:rPr>
              <a:t>Mn by 2036 at a</a:t>
            </a:r>
          </a:p>
        </p:txBody>
      </p:sp>
      <p:sp>
        <p:nvSpPr>
          <p:cNvPr id="42" name="TextBox 41"/>
          <p:cNvSpPr txBox="1"/>
          <p:nvPr/>
        </p:nvSpPr>
        <p:spPr>
          <a:xfrm>
            <a:off x="276225" y="5227320"/>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43" name="Picture 42" descr="lock.png"/>
          <p:cNvPicPr>
            <a:picLocks noChangeAspect="1"/>
          </p:cNvPicPr>
          <p:nvPr/>
        </p:nvPicPr>
        <p:blipFill>
          <a:blip r:embed="rId6"/>
          <a:stretch>
            <a:fillRect/>
          </a:stretch>
        </p:blipFill>
        <p:spPr>
          <a:xfrm>
            <a:off x="789915" y="5217096"/>
            <a:ext cx="134549" cy="195707"/>
          </a:xfrm>
          <a:prstGeom prst="rect">
            <a:avLst/>
          </a:prstGeom>
        </p:spPr>
      </p:pic>
      <p:sp>
        <p:nvSpPr>
          <p:cNvPr id="44" name="TextBox 43"/>
          <p:cNvSpPr txBox="1"/>
          <p:nvPr/>
        </p:nvSpPr>
        <p:spPr>
          <a:xfrm>
            <a:off x="965025" y="522732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5" name="TextBox 44"/>
          <p:cNvSpPr txBox="1"/>
          <p:nvPr/>
        </p:nvSpPr>
        <p:spPr>
          <a:xfrm>
            <a:off x="276225" y="5455157"/>
            <a:ext cx="4313932" cy="194310"/>
          </a:xfrm>
          <a:prstGeom prst="rect">
            <a:avLst/>
          </a:prstGeom>
          <a:noFill/>
        </p:spPr>
        <p:txBody>
          <a:bodyPr wrap="none" lIns="0" rIns="0" tIns="0" bIns="0">
            <a:spAutoFit/>
          </a:bodyPr>
          <a:lstStyle/>
          <a:p>
            <a:r>
              <a:rPr sz="1150" b="0">
                <a:solidFill>
                  <a:srgbClr val="2E2E2E"/>
                </a:solidFill>
                <a:latin typeface="Calibri"/>
              </a:rPr>
              <a:t>North America is expected to create an incremental opportunity of US$</a:t>
            </a:r>
          </a:p>
        </p:txBody>
      </p:sp>
      <p:pic>
        <p:nvPicPr>
          <p:cNvPr id="46" name="Picture 45" descr="lock.png"/>
          <p:cNvPicPr>
            <a:picLocks noChangeAspect="1"/>
          </p:cNvPicPr>
          <p:nvPr/>
        </p:nvPicPr>
        <p:blipFill>
          <a:blip r:embed="rId6"/>
          <a:stretch>
            <a:fillRect/>
          </a:stretch>
        </p:blipFill>
        <p:spPr>
          <a:xfrm>
            <a:off x="4539310" y="5444934"/>
            <a:ext cx="134549" cy="195707"/>
          </a:xfrm>
          <a:prstGeom prst="rect">
            <a:avLst/>
          </a:prstGeom>
        </p:spPr>
      </p:pic>
      <p:sp>
        <p:nvSpPr>
          <p:cNvPr id="47" name="TextBox 46"/>
          <p:cNvSpPr txBox="1"/>
          <p:nvPr/>
        </p:nvSpPr>
        <p:spPr>
          <a:xfrm>
            <a:off x="4714420" y="5455157"/>
            <a:ext cx="7017283" cy="194310"/>
          </a:xfrm>
          <a:prstGeom prst="rect">
            <a:avLst/>
          </a:prstGeom>
          <a:noFill/>
        </p:spPr>
        <p:txBody>
          <a:bodyPr wrap="none" lIns="0" rIns="0" tIns="0" bIns="0">
            <a:spAutoFit/>
          </a:bodyPr>
          <a:lstStyle/>
          <a:p>
            <a:r>
              <a:rPr sz="1150" b="0">
                <a:solidFill>
                  <a:srgbClr val="2E2E2E"/>
                </a:solidFill>
                <a:latin typeface="Calibri"/>
              </a:rPr>
              <a:t>Mn for the overall ear wax removal products market from 2025 to 2036. Absolute $ value for 2026 is estimated to be</a:t>
            </a:r>
          </a:p>
        </p:txBody>
      </p:sp>
      <p:sp>
        <p:nvSpPr>
          <p:cNvPr id="48" name="TextBox 47"/>
          <p:cNvSpPr txBox="1"/>
          <p:nvPr/>
        </p:nvSpPr>
        <p:spPr>
          <a:xfrm>
            <a:off x="276225" y="5630417"/>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49" name="Picture 48" descr="lock.png"/>
          <p:cNvPicPr>
            <a:picLocks noChangeAspect="1"/>
          </p:cNvPicPr>
          <p:nvPr/>
        </p:nvPicPr>
        <p:blipFill>
          <a:blip r:embed="rId6"/>
          <a:stretch>
            <a:fillRect/>
          </a:stretch>
        </p:blipFill>
        <p:spPr>
          <a:xfrm>
            <a:off x="536628" y="5620194"/>
            <a:ext cx="134549" cy="195707"/>
          </a:xfrm>
          <a:prstGeom prst="rect">
            <a:avLst/>
          </a:prstGeom>
        </p:spPr>
      </p:pic>
      <p:sp>
        <p:nvSpPr>
          <p:cNvPr id="50" name="TextBox 49"/>
          <p:cNvSpPr txBox="1"/>
          <p:nvPr/>
        </p:nvSpPr>
        <p:spPr>
          <a:xfrm>
            <a:off x="711737" y="5630417"/>
            <a:ext cx="4633701" cy="194310"/>
          </a:xfrm>
          <a:prstGeom prst="rect">
            <a:avLst/>
          </a:prstGeom>
          <a:noFill/>
        </p:spPr>
        <p:txBody>
          <a:bodyPr wrap="none" lIns="0" rIns="0" tIns="0" bIns="0">
            <a:spAutoFit/>
          </a:bodyPr>
          <a:lstStyle/>
          <a:p>
            <a:r>
              <a:rPr sz="1150" b="0">
                <a:solidFill>
                  <a:srgbClr val="2E2E2E"/>
                </a:solidFill>
                <a:latin typeface="Calibri"/>
              </a:rPr>
              <a:t>Mn. North America ear wax removal products market is projected to register</a:t>
            </a:r>
          </a:p>
        </p:txBody>
      </p:sp>
      <p:pic>
        <p:nvPicPr>
          <p:cNvPr id="51" name="Picture 50" descr="lock.png"/>
          <p:cNvPicPr>
            <a:picLocks noChangeAspect="1"/>
          </p:cNvPicPr>
          <p:nvPr/>
        </p:nvPicPr>
        <p:blipFill>
          <a:blip r:embed="rId6"/>
          <a:stretch>
            <a:fillRect/>
          </a:stretch>
        </p:blipFill>
        <p:spPr>
          <a:xfrm>
            <a:off x="5294593" y="5620194"/>
            <a:ext cx="134549" cy="195707"/>
          </a:xfrm>
          <a:prstGeom prst="rect">
            <a:avLst/>
          </a:prstGeom>
        </p:spPr>
      </p:pic>
      <p:sp>
        <p:nvSpPr>
          <p:cNvPr id="52" name="TextBox 51"/>
          <p:cNvSpPr txBox="1"/>
          <p:nvPr/>
        </p:nvSpPr>
        <p:spPr>
          <a:xfrm>
            <a:off x="5469702" y="5630417"/>
            <a:ext cx="3462163" cy="194310"/>
          </a:xfrm>
          <a:prstGeom prst="rect">
            <a:avLst/>
          </a:prstGeom>
          <a:noFill/>
        </p:spPr>
        <p:txBody>
          <a:bodyPr wrap="none" lIns="0" rIns="0" tIns="0" bIns="0">
            <a:spAutoFit/>
          </a:bodyPr>
          <a:lstStyle/>
          <a:p>
            <a:r>
              <a:rPr sz="1150" b="0">
                <a:solidFill>
                  <a:srgbClr val="2E2E2E"/>
                </a:solidFill>
                <a:latin typeface="Calibri"/>
              </a:rPr>
              <a:t>X increase in volume by the end of forecast period, 2036.</a:t>
            </a:r>
          </a:p>
        </p:txBody>
      </p:sp>
      <p:sp>
        <p:nvSpPr>
          <p:cNvPr id="53" name="TextBox 52"/>
          <p:cNvSpPr txBox="1"/>
          <p:nvPr/>
        </p:nvSpPr>
        <p:spPr>
          <a:xfrm>
            <a:off x="276225" y="5858255"/>
            <a:ext cx="3981611" cy="194310"/>
          </a:xfrm>
          <a:prstGeom prst="rect">
            <a:avLst/>
          </a:prstGeom>
          <a:noFill/>
        </p:spPr>
        <p:txBody>
          <a:bodyPr wrap="none" lIns="0" rIns="0" tIns="0" bIns="0">
            <a:spAutoFit/>
          </a:bodyPr>
          <a:lstStyle/>
          <a:p>
            <a:r>
              <a:rPr sz="1150" b="0">
                <a:solidFill>
                  <a:srgbClr val="2E2E2E"/>
                </a:solidFill>
                <a:latin typeface="Calibri"/>
              </a:rPr>
              <a:t>North America ear wax removal products market volume stood at</a:t>
            </a:r>
          </a:p>
        </p:txBody>
      </p:sp>
      <p:pic>
        <p:nvPicPr>
          <p:cNvPr id="54" name="Picture 53" descr="lock.png"/>
          <p:cNvPicPr>
            <a:picLocks noChangeAspect="1"/>
          </p:cNvPicPr>
          <p:nvPr/>
        </p:nvPicPr>
        <p:blipFill>
          <a:blip r:embed="rId6"/>
          <a:stretch>
            <a:fillRect/>
          </a:stretch>
        </p:blipFill>
        <p:spPr>
          <a:xfrm>
            <a:off x="4206990" y="5848032"/>
            <a:ext cx="134549" cy="195707"/>
          </a:xfrm>
          <a:prstGeom prst="rect">
            <a:avLst/>
          </a:prstGeom>
        </p:spPr>
      </p:pic>
      <p:sp>
        <p:nvSpPr>
          <p:cNvPr id="55" name="TextBox 54"/>
          <p:cNvSpPr txBox="1"/>
          <p:nvPr/>
        </p:nvSpPr>
        <p:spPr>
          <a:xfrm>
            <a:off x="4382099" y="5858255"/>
            <a:ext cx="2578447" cy="194310"/>
          </a:xfrm>
          <a:prstGeom prst="rect">
            <a:avLst/>
          </a:prstGeom>
          <a:noFill/>
        </p:spPr>
        <p:txBody>
          <a:bodyPr wrap="none" lIns="0" rIns="0" tIns="0" bIns="0">
            <a:spAutoFit/>
          </a:bodyPr>
          <a:lstStyle/>
          <a:p>
            <a:r>
              <a:rPr sz="1150" b="0">
                <a:solidFill>
                  <a:srgbClr val="2E2E2E"/>
                </a:solidFill>
                <a:latin typeface="Calibri"/>
              </a:rPr>
              <a:t>Mn Units in 2025 and is expected to reach</a:t>
            </a:r>
          </a:p>
        </p:txBody>
      </p:sp>
      <p:pic>
        <p:nvPicPr>
          <p:cNvPr id="56" name="Picture 55" descr="lock.png"/>
          <p:cNvPicPr>
            <a:picLocks noChangeAspect="1"/>
          </p:cNvPicPr>
          <p:nvPr/>
        </p:nvPicPr>
        <p:blipFill>
          <a:blip r:embed="rId6"/>
          <a:stretch>
            <a:fillRect/>
          </a:stretch>
        </p:blipFill>
        <p:spPr>
          <a:xfrm>
            <a:off x="6909700" y="5848032"/>
            <a:ext cx="134549" cy="195707"/>
          </a:xfrm>
          <a:prstGeom prst="rect">
            <a:avLst/>
          </a:prstGeom>
        </p:spPr>
      </p:pic>
      <p:sp>
        <p:nvSpPr>
          <p:cNvPr id="57" name="TextBox 56"/>
          <p:cNvSpPr txBox="1"/>
          <p:nvPr/>
        </p:nvSpPr>
        <p:spPr>
          <a:xfrm>
            <a:off x="7084809" y="5858255"/>
            <a:ext cx="2199326" cy="194310"/>
          </a:xfrm>
          <a:prstGeom prst="rect">
            <a:avLst/>
          </a:prstGeom>
          <a:noFill/>
        </p:spPr>
        <p:txBody>
          <a:bodyPr wrap="none" lIns="0" rIns="0" tIns="0" bIns="0">
            <a:spAutoFit/>
          </a:bodyPr>
          <a:lstStyle/>
          <a:p>
            <a:r>
              <a:rPr sz="1150" b="0">
                <a:solidFill>
                  <a:srgbClr val="2E2E2E"/>
                </a:solidFill>
                <a:latin typeface="Calibri"/>
              </a:rPr>
              <a:t>Mn Units by 2036 end, at a CAGR of</a:t>
            </a:r>
          </a:p>
        </p:txBody>
      </p:sp>
      <p:pic>
        <p:nvPicPr>
          <p:cNvPr id="58" name="Picture 57" descr="lock.png"/>
          <p:cNvPicPr>
            <a:picLocks noChangeAspect="1"/>
          </p:cNvPicPr>
          <p:nvPr/>
        </p:nvPicPr>
        <p:blipFill>
          <a:blip r:embed="rId6"/>
          <a:stretch>
            <a:fillRect/>
          </a:stretch>
        </p:blipFill>
        <p:spPr>
          <a:xfrm>
            <a:off x="9233290" y="5848032"/>
            <a:ext cx="134549" cy="195707"/>
          </a:xfrm>
          <a:prstGeom prst="rect">
            <a:avLst/>
          </a:prstGeom>
        </p:spPr>
      </p:pic>
      <p:sp>
        <p:nvSpPr>
          <p:cNvPr id="59" name="TextBox 58"/>
          <p:cNvSpPr txBox="1"/>
          <p:nvPr/>
        </p:nvSpPr>
        <p:spPr>
          <a:xfrm>
            <a:off x="9408400" y="5858255"/>
            <a:ext cx="2082961" cy="194310"/>
          </a:xfrm>
          <a:prstGeom prst="rect">
            <a:avLst/>
          </a:prstGeom>
          <a:noFill/>
        </p:spPr>
        <p:txBody>
          <a:bodyPr wrap="none" lIns="0" rIns="0" tIns="0" bIns="0">
            <a:spAutoFit/>
          </a:bodyPr>
          <a:lstStyle/>
          <a:p>
            <a:r>
              <a:rPr sz="1150" b="0">
                <a:solidFill>
                  <a:srgbClr val="2E2E2E"/>
                </a:solidFill>
                <a:latin typeface="Calibri"/>
              </a:rPr>
              <a:t>. Value is projected to grow faster</a:t>
            </a:r>
          </a:p>
        </p:txBody>
      </p:sp>
      <p:sp>
        <p:nvSpPr>
          <p:cNvPr id="60" name="TextBox 59"/>
          <p:cNvSpPr txBox="1"/>
          <p:nvPr/>
        </p:nvSpPr>
        <p:spPr>
          <a:xfrm>
            <a:off x="276225" y="6033515"/>
            <a:ext cx="5013945" cy="194310"/>
          </a:xfrm>
          <a:prstGeom prst="rect">
            <a:avLst/>
          </a:prstGeom>
          <a:noFill/>
        </p:spPr>
        <p:txBody>
          <a:bodyPr wrap="none" lIns="0" rIns="0" tIns="0" bIns="0">
            <a:spAutoFit/>
          </a:bodyPr>
          <a:lstStyle/>
          <a:p>
            <a:r>
              <a:rPr sz="1150" b="0">
                <a:solidFill>
                  <a:srgbClr val="2E2E2E"/>
                </a:solidFill>
                <a:latin typeface="Calibri"/>
              </a:rPr>
              <a:t>than volume over the forecast period, owing to an increase in average selling price.</a:t>
            </a:r>
          </a:p>
        </p:txBody>
      </p:sp>
      <p:sp>
        <p:nvSpPr>
          <p:cNvPr id="61" name="lockshield_12"/>
          <p:cNvSpPr/>
          <p:nvPr/>
        </p:nvSpPr>
        <p:spPr>
          <a:xfrm>
            <a:off x="238125" y="1266825"/>
            <a:ext cx="4505325"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lockshield_15"/>
          <p:cNvSpPr/>
          <p:nvPr/>
        </p:nvSpPr>
        <p:spPr>
          <a:xfrm>
            <a:off x="5086350" y="1266825"/>
            <a:ext cx="6858000"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Ear Wax Removal Products Market Summary Country Indices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3565964"/>
          <a:ext cx="3928892" cy="2132068"/>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942971">
                <a:tc>
                  <a:txBody>
                    <a:bodyPr wrap="none"/>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42971">
                <a:tc>
                  <a:txBody>
                    <a:bodyPr wrap="none"/>
                    <a:lstStyle/>
                    <a:p>
                      <a:pPr algn="l"/>
                      <a:r>
                        <a:rPr sz="1100" b="1">
                          <a:solidFill>
                            <a:srgbClr val="2E2E2E"/>
                          </a:solidFill>
                          <a:latin typeface="Calibri"/>
                        </a:rPr>
                        <a:t>U.S.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5" name="TextBox 14"/>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3743325" cy="3091856"/>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9" name="Rectangle 18"/>
          <p:cNvSpPr/>
          <p:nvPr/>
        </p:nvSpPr>
        <p:spPr>
          <a:xfrm>
            <a:off x="4210050" y="4384867"/>
            <a:ext cx="3743325" cy="1493743"/>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20" name="Rounded Rectangle 19"/>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22" name="Chart 21"/>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3" name="Rounded Rectangle 22"/>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4" name="Table 23"/>
          <p:cNvGraphicFramePr>
            <a:graphicFrameLocks noGrp="1"/>
          </p:cNvGraphicFramePr>
          <p:nvPr/>
        </p:nvGraphicFramePr>
        <p:xfrm>
          <a:off x="8096250" y="3547710"/>
          <a:ext cx="3928892" cy="2159450"/>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956662">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56662">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25" name="TextBox 24"/>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26" name="Rounded Rectangle 25"/>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6"/>
          <a:stretch>
            <a:fillRect/>
          </a:stretch>
        </p:blipFill>
        <p:spPr>
          <a:xfrm>
            <a:off x="3188017" y="2125483"/>
            <a:ext cx="183356" cy="266700"/>
          </a:xfrm>
          <a:prstGeom prst="rect">
            <a:avLst/>
          </a:prstGeom>
        </p:spPr>
      </p:pic>
      <p:pic>
        <p:nvPicPr>
          <p:cNvPr id="29" name="Picture 28" descr="lock.png"/>
          <p:cNvPicPr>
            <a:picLocks noChangeAspect="1"/>
          </p:cNvPicPr>
          <p:nvPr/>
        </p:nvPicPr>
        <p:blipFill>
          <a:blip r:embed="rId6"/>
          <a:stretch>
            <a:fillRect/>
          </a:stretch>
        </p:blipFill>
        <p:spPr>
          <a:xfrm>
            <a:off x="2232897" y="4496595"/>
            <a:ext cx="355389" cy="516930"/>
          </a:xfrm>
          <a:prstGeom prst="rect">
            <a:avLst/>
          </a:prstGeom>
        </p:spPr>
      </p:pic>
      <p:pic>
        <p:nvPicPr>
          <p:cNvPr id="30" name="Picture 29" descr="lock.png"/>
          <p:cNvPicPr>
            <a:picLocks noChangeAspect="1"/>
          </p:cNvPicPr>
          <p:nvPr/>
        </p:nvPicPr>
        <p:blipFill>
          <a:blip r:embed="rId6"/>
          <a:stretch>
            <a:fillRect/>
          </a:stretch>
        </p:blipFill>
        <p:spPr>
          <a:xfrm>
            <a:off x="6024086" y="2838939"/>
            <a:ext cx="115252" cy="167639"/>
          </a:xfrm>
          <a:prstGeom prst="rect">
            <a:avLst/>
          </a:prstGeom>
        </p:spPr>
      </p:pic>
      <p:pic>
        <p:nvPicPr>
          <p:cNvPr id="31" name="Picture 30" descr="lock.png"/>
          <p:cNvPicPr>
            <a:picLocks noChangeAspect="1"/>
          </p:cNvPicPr>
          <p:nvPr/>
        </p:nvPicPr>
        <p:blipFill>
          <a:blip r:embed="rId6"/>
          <a:stretch>
            <a:fillRect/>
          </a:stretch>
        </p:blipFill>
        <p:spPr>
          <a:xfrm>
            <a:off x="6024086" y="5131738"/>
            <a:ext cx="115252" cy="167639"/>
          </a:xfrm>
          <a:prstGeom prst="rect">
            <a:avLst/>
          </a:prstGeom>
        </p:spPr>
      </p:pic>
      <p:pic>
        <p:nvPicPr>
          <p:cNvPr id="32" name="Picture 31" descr="lock.png"/>
          <p:cNvPicPr>
            <a:picLocks noChangeAspect="1"/>
          </p:cNvPicPr>
          <p:nvPr/>
        </p:nvPicPr>
        <p:blipFill>
          <a:blip r:embed="rId6"/>
          <a:stretch>
            <a:fillRect/>
          </a:stretch>
        </p:blipFill>
        <p:spPr>
          <a:xfrm>
            <a:off x="11131867" y="2120920"/>
            <a:ext cx="183356" cy="266700"/>
          </a:xfrm>
          <a:prstGeom prst="rect">
            <a:avLst/>
          </a:prstGeom>
        </p:spPr>
      </p:pic>
      <p:pic>
        <p:nvPicPr>
          <p:cNvPr id="33" name="Picture 32" descr="lock.png"/>
          <p:cNvPicPr>
            <a:picLocks noChangeAspect="1"/>
          </p:cNvPicPr>
          <p:nvPr/>
        </p:nvPicPr>
        <p:blipFill>
          <a:blip r:embed="rId6"/>
          <a:stretch>
            <a:fillRect/>
          </a:stretch>
        </p:blipFill>
        <p:spPr>
          <a:xfrm>
            <a:off x="10175439" y="4490163"/>
            <a:ext cx="357960" cy="520669"/>
          </a:xfrm>
          <a:prstGeom prst="rect">
            <a:avLst/>
          </a:prstGeom>
        </p:spPr>
      </p:pic>
      <p:sp>
        <p:nvSpPr>
          <p:cNvPr id="34" name="TextBox 33"/>
          <p:cNvSpPr txBox="1"/>
          <p:nvPr/>
        </p:nvSpPr>
        <p:spPr>
          <a:xfrm>
            <a:off x="257175" y="6160574"/>
            <a:ext cx="3809082" cy="186689"/>
          </a:xfrm>
          <a:prstGeom prst="rect">
            <a:avLst/>
          </a:prstGeom>
          <a:noFill/>
        </p:spPr>
        <p:txBody>
          <a:bodyPr wrap="none" lIns="0" rIns="0" tIns="0" bIns="0">
            <a:spAutoFit/>
          </a:bodyPr>
          <a:lstStyle/>
          <a:p>
            <a:r>
              <a:rPr sz="1100" b="0">
                <a:solidFill>
                  <a:srgbClr val="2E2E2E"/>
                </a:solidFill>
                <a:latin typeface="Calibri"/>
              </a:rPr>
              <a:t>The U.S. ear wax removal products market is projected to register</a:t>
            </a:r>
          </a:p>
        </p:txBody>
      </p:sp>
      <p:pic>
        <p:nvPicPr>
          <p:cNvPr id="35" name="Picture 34" descr="lock.png"/>
          <p:cNvPicPr>
            <a:picLocks noChangeAspect="1"/>
          </p:cNvPicPr>
          <p:nvPr/>
        </p:nvPicPr>
        <p:blipFill>
          <a:blip r:embed="rId6"/>
          <a:stretch>
            <a:fillRect/>
          </a:stretch>
        </p:blipFill>
        <p:spPr>
          <a:xfrm>
            <a:off x="4014308" y="6150795"/>
            <a:ext cx="128699" cy="187198"/>
          </a:xfrm>
          <a:prstGeom prst="rect">
            <a:avLst/>
          </a:prstGeom>
        </p:spPr>
      </p:pic>
      <p:sp>
        <p:nvSpPr>
          <p:cNvPr id="36" name="TextBox 35"/>
          <p:cNvSpPr txBox="1"/>
          <p:nvPr/>
        </p:nvSpPr>
        <p:spPr>
          <a:xfrm>
            <a:off x="4181804" y="6160574"/>
            <a:ext cx="4339761" cy="186689"/>
          </a:xfrm>
          <a:prstGeom prst="rect">
            <a:avLst/>
          </a:prstGeom>
          <a:noFill/>
        </p:spPr>
        <p:txBody>
          <a:bodyPr wrap="none" lIns="0" rIns="0" tIns="0" bIns="0">
            <a:spAutoFit/>
          </a:bodyPr>
          <a:lstStyle/>
          <a:p>
            <a:r>
              <a:rPr sz="1100" b="0">
                <a:solidFill>
                  <a:srgbClr val="2E2E2E"/>
                </a:solidFill>
                <a:latin typeface="Calibri"/>
              </a:rPr>
              <a:t>X higher value than Canada in 2036. Canada posts the highest CAGR Index (</a:t>
            </a:r>
          </a:p>
        </p:txBody>
      </p:sp>
      <p:pic>
        <p:nvPicPr>
          <p:cNvPr id="37" name="Picture 36" descr="lock.png"/>
          <p:cNvPicPr>
            <a:picLocks noChangeAspect="1"/>
          </p:cNvPicPr>
          <p:nvPr/>
        </p:nvPicPr>
        <p:blipFill>
          <a:blip r:embed="rId6"/>
          <a:stretch>
            <a:fillRect/>
          </a:stretch>
        </p:blipFill>
        <p:spPr>
          <a:xfrm>
            <a:off x="8469617" y="6150795"/>
            <a:ext cx="128699" cy="187198"/>
          </a:xfrm>
          <a:prstGeom prst="rect">
            <a:avLst/>
          </a:prstGeom>
        </p:spPr>
      </p:pic>
      <p:sp>
        <p:nvSpPr>
          <p:cNvPr id="38" name="TextBox 37"/>
          <p:cNvSpPr txBox="1"/>
          <p:nvPr/>
        </p:nvSpPr>
        <p:spPr>
          <a:xfrm>
            <a:off x="8637113"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39" name="Picture 38" descr="lock.png"/>
          <p:cNvPicPr>
            <a:picLocks noChangeAspect="1"/>
          </p:cNvPicPr>
          <p:nvPr/>
        </p:nvPicPr>
        <p:blipFill>
          <a:blip r:embed="rId6"/>
          <a:stretch>
            <a:fillRect/>
          </a:stretch>
        </p:blipFill>
        <p:spPr>
          <a:xfrm>
            <a:off x="9375144" y="6150795"/>
            <a:ext cx="128699" cy="187198"/>
          </a:xfrm>
          <a:prstGeom prst="rect">
            <a:avLst/>
          </a:prstGeom>
        </p:spPr>
      </p:pic>
      <p:sp>
        <p:nvSpPr>
          <p:cNvPr id="40" name="TextBox 39"/>
          <p:cNvSpPr txBox="1"/>
          <p:nvPr/>
        </p:nvSpPr>
        <p:spPr>
          <a:xfrm>
            <a:off x="9542640" y="6160574"/>
            <a:ext cx="1069106" cy="186689"/>
          </a:xfrm>
          <a:prstGeom prst="rect">
            <a:avLst/>
          </a:prstGeom>
          <a:noFill/>
        </p:spPr>
        <p:txBody>
          <a:bodyPr wrap="none" lIns="0" rIns="0" tIns="0" bIns="0">
            <a:spAutoFit/>
          </a:bodyPr>
          <a:lstStyle/>
          <a:p>
            <a:r>
              <a:rPr sz="1100" b="0">
                <a:solidFill>
                  <a:srgbClr val="2E2E2E"/>
                </a:solidFill>
                <a:latin typeface="Calibri"/>
              </a:rPr>
              <a:t>against the North</a:t>
            </a:r>
          </a:p>
        </p:txBody>
      </p:sp>
      <p:sp>
        <p:nvSpPr>
          <p:cNvPr id="41" name="TextBox 40"/>
          <p:cNvSpPr txBox="1"/>
          <p:nvPr/>
        </p:nvSpPr>
        <p:spPr>
          <a:xfrm>
            <a:off x="257175" y="6328214"/>
            <a:ext cx="4080842" cy="186689"/>
          </a:xfrm>
          <a:prstGeom prst="rect">
            <a:avLst/>
          </a:prstGeom>
          <a:noFill/>
        </p:spPr>
        <p:txBody>
          <a:bodyPr wrap="none" lIns="0" rIns="0" tIns="0" bIns="0">
            <a:spAutoFit/>
          </a:bodyPr>
          <a:lstStyle/>
          <a:p>
            <a:r>
              <a:rPr sz="1100" b="0">
                <a:solidFill>
                  <a:srgbClr val="2E2E2E"/>
                </a:solidFill>
                <a:latin typeface="Calibri"/>
              </a:rPr>
              <a:t>America benchmark, while U.S. offers the largest absolute opportunity</a:t>
            </a:r>
          </a:p>
        </p:txBody>
      </p:sp>
      <p:pic>
        <p:nvPicPr>
          <p:cNvPr id="42" name="Picture 41" descr="lock.png"/>
          <p:cNvPicPr>
            <a:picLocks noChangeAspect="1"/>
          </p:cNvPicPr>
          <p:nvPr/>
        </p:nvPicPr>
        <p:blipFill>
          <a:blip r:embed="rId6"/>
          <a:stretch>
            <a:fillRect/>
          </a:stretch>
        </p:blipFill>
        <p:spPr>
          <a:xfrm>
            <a:off x="4286068" y="6318435"/>
            <a:ext cx="128699" cy="187198"/>
          </a:xfrm>
          <a:prstGeom prst="rect">
            <a:avLst/>
          </a:prstGeom>
        </p:spPr>
      </p:pic>
      <p:sp>
        <p:nvSpPr>
          <p:cNvPr id="43" name="TextBox 42"/>
          <p:cNvSpPr txBox="1"/>
          <p:nvPr/>
        </p:nvSpPr>
        <p:spPr>
          <a:xfrm>
            <a:off x="4453564"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44" name="Picture 43" descr="lock.png"/>
          <p:cNvPicPr>
            <a:picLocks noChangeAspect="1"/>
          </p:cNvPicPr>
          <p:nvPr/>
        </p:nvPicPr>
        <p:blipFill>
          <a:blip r:embed="rId6"/>
          <a:stretch>
            <a:fillRect/>
          </a:stretch>
        </p:blipFill>
        <p:spPr>
          <a:xfrm>
            <a:off x="7713563" y="6318435"/>
            <a:ext cx="128699" cy="187198"/>
          </a:xfrm>
          <a:prstGeom prst="rect">
            <a:avLst/>
          </a:prstGeom>
        </p:spPr>
      </p:pic>
      <p:sp>
        <p:nvSpPr>
          <p:cNvPr id="45" name="TextBox 44"/>
          <p:cNvSpPr txBox="1"/>
          <p:nvPr/>
        </p:nvSpPr>
        <p:spPr>
          <a:xfrm>
            <a:off x="7881058" y="6328214"/>
            <a:ext cx="1973336" cy="186689"/>
          </a:xfrm>
          <a:prstGeom prst="rect">
            <a:avLst/>
          </a:prstGeom>
          <a:noFill/>
        </p:spPr>
        <p:txBody>
          <a:bodyPr wrap="none" lIns="0" rIns="0" tIns="0" bIns="0">
            <a:spAutoFit/>
          </a:bodyPr>
          <a:lstStyle/>
          <a:p>
            <a:r>
              <a:rPr sz="1100" b="0">
                <a:solidFill>
                  <a:srgbClr val="2E2E2E"/>
                </a:solidFill>
                <a:latin typeface="Calibri"/>
              </a:rPr>
              <a:t>of the North America increment).</a:t>
            </a:r>
          </a:p>
        </p:txBody>
      </p:sp>
      <p:sp>
        <p:nvSpPr>
          <p:cNvPr id="46" name="lockshield_12"/>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lockshield_22"/>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ounded Rectangle 13"/>
          <p:cNvSpPr/>
          <p:nvPr/>
        </p:nvSpPr>
        <p:spPr>
          <a:xfrm>
            <a:off x="142875" y="2857500"/>
            <a:ext cx="11906250" cy="1628775"/>
          </a:xfrm>
          <a:prstGeom prst="roundRect">
            <a:avLst>
              <a:gd name="adj" fmla="val 46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4322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6" name="Rectangle 15"/>
          <p:cNvSpPr/>
          <p:nvPr/>
        </p:nvSpPr>
        <p:spPr>
          <a:xfrm>
            <a:off x="276225" y="31813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67075"/>
            <a:ext cx="11639550" cy="11430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142875" y="4619625"/>
            <a:ext cx="3943350"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705350"/>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0" name="Rectangle 19"/>
          <p:cNvSpPr/>
          <p:nvPr/>
        </p:nvSpPr>
        <p:spPr>
          <a:xfrm>
            <a:off x="276225" y="494347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5029200"/>
            <a:ext cx="3676650"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4238625" y="4619625"/>
            <a:ext cx="3819525"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705350"/>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4" name="Rectangle 23"/>
          <p:cNvSpPr/>
          <p:nvPr/>
        </p:nvSpPr>
        <p:spPr>
          <a:xfrm>
            <a:off x="4371975" y="49434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1975"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8210550" y="4619625"/>
            <a:ext cx="3819525"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705350"/>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8" name="Rectangle 27"/>
          <p:cNvSpPr/>
          <p:nvPr/>
        </p:nvSpPr>
        <p:spPr>
          <a:xfrm>
            <a:off x="8343900" y="49434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3900"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'Ear Drops'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Canada outpacing the North America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7 product type categories.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3840981" cy="194310"/>
          </a:xfrm>
          <a:prstGeom prst="rect">
            <a:avLst/>
          </a:prstGeom>
          <a:noFill/>
        </p:spPr>
        <p:txBody>
          <a:bodyPr wrap="none" lIns="0" rIns="0" tIns="0" bIns="0">
            <a:spAutoFit/>
          </a:bodyPr>
          <a:lstStyle/>
          <a:p>
            <a:r>
              <a:rPr sz="1150" b="0">
                <a:solidFill>
                  <a:srgbClr val="2E2E2E"/>
                </a:solidFill>
                <a:latin typeface="Calibri"/>
              </a:rPr>
              <a:t>Global ear wax removal products market is expected to witness</a:t>
            </a:r>
          </a:p>
        </p:txBody>
      </p:sp>
      <p:pic>
        <p:nvPicPr>
          <p:cNvPr id="32" name="Picture 31" descr="lock.png"/>
          <p:cNvPicPr>
            <a:picLocks noChangeAspect="1"/>
          </p:cNvPicPr>
          <p:nvPr/>
        </p:nvPicPr>
        <p:blipFill>
          <a:blip r:embed="rId4"/>
          <a:stretch>
            <a:fillRect/>
          </a:stretch>
        </p:blipFill>
        <p:spPr>
          <a:xfrm>
            <a:off x="4066359" y="1389951"/>
            <a:ext cx="134549" cy="195707"/>
          </a:xfrm>
          <a:prstGeom prst="rect">
            <a:avLst/>
          </a:prstGeom>
        </p:spPr>
      </p:pic>
      <p:sp>
        <p:nvSpPr>
          <p:cNvPr id="33" name="TextBox 32"/>
          <p:cNvSpPr txBox="1"/>
          <p:nvPr/>
        </p:nvSpPr>
        <p:spPr>
          <a:xfrm>
            <a:off x="4241469" y="1400175"/>
            <a:ext cx="5729647" cy="194310"/>
          </a:xfrm>
          <a:prstGeom prst="rect">
            <a:avLst/>
          </a:prstGeom>
          <a:noFill/>
        </p:spPr>
        <p:txBody>
          <a:bodyPr wrap="none" lIns="0" rIns="0" tIns="0" bIns="0">
            <a:spAutoFit/>
          </a:bodyPr>
          <a:lstStyle/>
          <a:p>
            <a:r>
              <a:rPr sz="1150" b="0">
                <a:solidFill>
                  <a:srgbClr val="2E2E2E"/>
                </a:solidFill>
                <a:latin typeface="Calibri"/>
              </a:rPr>
              <a:t>X increase in revenue by 2036 end. Global ear wax removal products market accounted for US$</a:t>
            </a:r>
          </a:p>
        </p:txBody>
      </p:sp>
      <p:pic>
        <p:nvPicPr>
          <p:cNvPr id="34" name="Picture 33" descr="lock.png"/>
          <p:cNvPicPr>
            <a:picLocks noChangeAspect="1"/>
          </p:cNvPicPr>
          <p:nvPr/>
        </p:nvPicPr>
        <p:blipFill>
          <a:blip r:embed="rId4"/>
          <a:stretch>
            <a:fillRect/>
          </a:stretch>
        </p:blipFill>
        <p:spPr>
          <a:xfrm>
            <a:off x="9920270" y="1389951"/>
            <a:ext cx="134549" cy="195707"/>
          </a:xfrm>
          <a:prstGeom prst="rect">
            <a:avLst/>
          </a:prstGeom>
        </p:spPr>
      </p:pic>
      <p:sp>
        <p:nvSpPr>
          <p:cNvPr id="35" name="TextBox 34"/>
          <p:cNvSpPr txBox="1"/>
          <p:nvPr/>
        </p:nvSpPr>
        <p:spPr>
          <a:xfrm>
            <a:off x="10095379" y="1400175"/>
            <a:ext cx="1297942" cy="194310"/>
          </a:xfrm>
          <a:prstGeom prst="rect">
            <a:avLst/>
          </a:prstGeom>
          <a:noFill/>
        </p:spPr>
        <p:txBody>
          <a:bodyPr wrap="none" lIns="0" rIns="0" tIns="0" bIns="0">
            <a:spAutoFit/>
          </a:bodyPr>
          <a:lstStyle/>
          <a:p>
            <a:r>
              <a:rPr sz="1150" b="0">
                <a:solidFill>
                  <a:srgbClr val="2E2E2E"/>
                </a:solidFill>
                <a:latin typeface="Calibri"/>
              </a:rPr>
              <a:t>Mn in 2025, which is</a:t>
            </a:r>
          </a:p>
        </p:txBody>
      </p:sp>
      <p:sp>
        <p:nvSpPr>
          <p:cNvPr id="36" name="TextBox 35"/>
          <p:cNvSpPr txBox="1"/>
          <p:nvPr/>
        </p:nvSpPr>
        <p:spPr>
          <a:xfrm>
            <a:off x="276225" y="1575435"/>
            <a:ext cx="1737518" cy="194310"/>
          </a:xfrm>
          <a:prstGeom prst="rect">
            <a:avLst/>
          </a:prstGeom>
          <a:noFill/>
        </p:spPr>
        <p:txBody>
          <a:bodyPr wrap="none" lIns="0" rIns="0" tIns="0" bIns="0">
            <a:spAutoFit/>
          </a:bodyPr>
          <a:lstStyle/>
          <a:p>
            <a:r>
              <a:rPr sz="1150" b="0">
                <a:solidFill>
                  <a:srgbClr val="2E2E2E"/>
                </a:solidFill>
                <a:latin typeface="Calibri"/>
              </a:rPr>
              <a:t>expected to increase to US$</a:t>
            </a:r>
          </a:p>
        </p:txBody>
      </p:sp>
      <p:pic>
        <p:nvPicPr>
          <p:cNvPr id="37" name="Picture 36" descr="lock.png"/>
          <p:cNvPicPr>
            <a:picLocks noChangeAspect="1"/>
          </p:cNvPicPr>
          <p:nvPr/>
        </p:nvPicPr>
        <p:blipFill>
          <a:blip r:embed="rId4"/>
          <a:stretch>
            <a:fillRect/>
          </a:stretch>
        </p:blipFill>
        <p:spPr>
          <a:xfrm>
            <a:off x="1962897" y="1565211"/>
            <a:ext cx="134549" cy="195707"/>
          </a:xfrm>
          <a:prstGeom prst="rect">
            <a:avLst/>
          </a:prstGeom>
        </p:spPr>
      </p:pic>
      <p:sp>
        <p:nvSpPr>
          <p:cNvPr id="38" name="TextBox 37"/>
          <p:cNvSpPr txBox="1"/>
          <p:nvPr/>
        </p:nvSpPr>
        <p:spPr>
          <a:xfrm>
            <a:off x="2138006"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9" name="Picture 38" descr="lock.png"/>
          <p:cNvPicPr>
            <a:picLocks noChangeAspect="1"/>
          </p:cNvPicPr>
          <p:nvPr/>
        </p:nvPicPr>
        <p:blipFill>
          <a:blip r:embed="rId4"/>
          <a:stretch>
            <a:fillRect/>
          </a:stretch>
        </p:blipFill>
        <p:spPr>
          <a:xfrm>
            <a:off x="3614714" y="1565211"/>
            <a:ext cx="134549" cy="195707"/>
          </a:xfrm>
          <a:prstGeom prst="rect">
            <a:avLst/>
          </a:prstGeom>
        </p:spPr>
      </p:pic>
      <p:sp>
        <p:nvSpPr>
          <p:cNvPr id="40" name="TextBox 39"/>
          <p:cNvSpPr txBox="1"/>
          <p:nvPr/>
        </p:nvSpPr>
        <p:spPr>
          <a:xfrm>
            <a:off x="3789824"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1" name="TextBox 40"/>
          <p:cNvSpPr txBox="1"/>
          <p:nvPr/>
        </p:nvSpPr>
        <p:spPr>
          <a:xfrm>
            <a:off x="276225" y="1803273"/>
            <a:ext cx="11620500" cy="194310"/>
          </a:xfrm>
          <a:prstGeom prst="rect">
            <a:avLst/>
          </a:prstGeom>
          <a:noFill/>
        </p:spPr>
        <p:txBody>
          <a:bodyPr wrap="none" lIns="0" rIns="0" tIns="0" bIns="0">
            <a:spAutoFit/>
          </a:bodyPr>
          <a:lstStyle/>
          <a:p>
            <a:r>
              <a:rPr sz="1150" b="0">
                <a:solidFill>
                  <a:srgbClr val="2E2E2E"/>
                </a:solidFill>
                <a:latin typeface="Calibri"/>
              </a:rPr>
              <a:t>The global ear wax removal products market has been analysed on the basis of product type, end user, sales channel and age group across the globe. U.S. is expected to remain the largest market</a:t>
            </a:r>
          </a:p>
        </p:txBody>
      </p:sp>
      <p:sp>
        <p:nvSpPr>
          <p:cNvPr id="42" name="TextBox 41"/>
          <p:cNvSpPr txBox="1"/>
          <p:nvPr/>
        </p:nvSpPr>
        <p:spPr>
          <a:xfrm>
            <a:off x="276225" y="1978533"/>
            <a:ext cx="6147526" cy="194310"/>
          </a:xfrm>
          <a:prstGeom prst="rect">
            <a:avLst/>
          </a:prstGeom>
          <a:noFill/>
        </p:spPr>
        <p:txBody>
          <a:bodyPr wrap="none" lIns="0" rIns="0" tIns="0" bIns="0">
            <a:spAutoFit/>
          </a:bodyPr>
          <a:lstStyle/>
          <a:p>
            <a:r>
              <a:rPr sz="1150" b="0">
                <a:solidFill>
                  <a:srgbClr val="2E2E2E"/>
                </a:solidFill>
                <a:latin typeface="Calibri"/>
              </a:rPr>
              <a:t>for ear wax removal products, while demand in Canada is projected to increase at the highest CAGR of</a:t>
            </a:r>
          </a:p>
        </p:txBody>
      </p:sp>
      <p:pic>
        <p:nvPicPr>
          <p:cNvPr id="43" name="Picture 42" descr="lock.png"/>
          <p:cNvPicPr>
            <a:picLocks noChangeAspect="1"/>
          </p:cNvPicPr>
          <p:nvPr/>
        </p:nvPicPr>
        <p:blipFill>
          <a:blip r:embed="rId4"/>
          <a:stretch>
            <a:fillRect/>
          </a:stretch>
        </p:blipFill>
        <p:spPr>
          <a:xfrm>
            <a:off x="6372905" y="1968309"/>
            <a:ext cx="134549" cy="195707"/>
          </a:xfrm>
          <a:prstGeom prst="rect">
            <a:avLst/>
          </a:prstGeom>
        </p:spPr>
      </p:pic>
      <p:sp>
        <p:nvSpPr>
          <p:cNvPr id="44" name="TextBox 43"/>
          <p:cNvSpPr txBox="1"/>
          <p:nvPr/>
        </p:nvSpPr>
        <p:spPr>
          <a:xfrm>
            <a:off x="6548014"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5" name="TextBox 44"/>
          <p:cNvSpPr txBox="1"/>
          <p:nvPr/>
        </p:nvSpPr>
        <p:spPr>
          <a:xfrm>
            <a:off x="276225" y="3276600"/>
            <a:ext cx="6963655" cy="194310"/>
          </a:xfrm>
          <a:prstGeom prst="rect">
            <a:avLst/>
          </a:prstGeom>
          <a:noFill/>
        </p:spPr>
        <p:txBody>
          <a:bodyPr wrap="none" lIns="0" rIns="0" tIns="0" bIns="0">
            <a:spAutoFit/>
          </a:bodyPr>
          <a:lstStyle/>
          <a:p>
            <a:r>
              <a:rPr sz="1150" b="0">
                <a:solidFill>
                  <a:srgbClr val="2E2E2E"/>
                </a:solidFill>
                <a:latin typeface="Calibri"/>
              </a:rPr>
              <a:t>▪ The market is moderately fragmented: the leading product type category 'Irrigation Devices and Accessories' holds</a:t>
            </a:r>
          </a:p>
        </p:txBody>
      </p:sp>
      <p:pic>
        <p:nvPicPr>
          <p:cNvPr id="46" name="Picture 45" descr="lock.png"/>
          <p:cNvPicPr>
            <a:picLocks noChangeAspect="1"/>
          </p:cNvPicPr>
          <p:nvPr/>
        </p:nvPicPr>
        <p:blipFill>
          <a:blip r:embed="rId4"/>
          <a:stretch>
            <a:fillRect/>
          </a:stretch>
        </p:blipFill>
        <p:spPr>
          <a:xfrm>
            <a:off x="7189034" y="3266376"/>
            <a:ext cx="134549" cy="195707"/>
          </a:xfrm>
          <a:prstGeom prst="rect">
            <a:avLst/>
          </a:prstGeom>
        </p:spPr>
      </p:pic>
      <p:sp>
        <p:nvSpPr>
          <p:cNvPr id="47" name="TextBox 46"/>
          <p:cNvSpPr txBox="1"/>
          <p:nvPr/>
        </p:nvSpPr>
        <p:spPr>
          <a:xfrm>
            <a:off x="7364143" y="327660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8" name="TextBox 47"/>
          <p:cNvSpPr txBox="1"/>
          <p:nvPr/>
        </p:nvSpPr>
        <p:spPr>
          <a:xfrm>
            <a:off x="276225" y="3504437"/>
            <a:ext cx="5029919" cy="194310"/>
          </a:xfrm>
          <a:prstGeom prst="rect">
            <a:avLst/>
          </a:prstGeom>
          <a:noFill/>
        </p:spPr>
        <p:txBody>
          <a:bodyPr wrap="none" lIns="0" rIns="0" tIns="0" bIns="0">
            <a:spAutoFit/>
          </a:bodyPr>
          <a:lstStyle/>
          <a:p>
            <a:r>
              <a:rPr sz="1150" b="0">
                <a:solidFill>
                  <a:srgbClr val="2E2E2E"/>
                </a:solidFill>
                <a:latin typeface="Calibri"/>
              </a:rPr>
              <a:t>▪ Demand spans 2 countries and 4 segmentation lenses (7 product type categories).</a:t>
            </a:r>
          </a:p>
        </p:txBody>
      </p:sp>
      <p:sp>
        <p:nvSpPr>
          <p:cNvPr id="49" name="TextBox 48"/>
          <p:cNvSpPr txBox="1"/>
          <p:nvPr/>
        </p:nvSpPr>
        <p:spPr>
          <a:xfrm>
            <a:off x="276225" y="3732275"/>
            <a:ext cx="2288914" cy="194310"/>
          </a:xfrm>
          <a:prstGeom prst="rect">
            <a:avLst/>
          </a:prstGeom>
          <a:noFill/>
        </p:spPr>
        <p:txBody>
          <a:bodyPr wrap="none" lIns="0" rIns="0" tIns="0" bIns="0">
            <a:spAutoFit/>
          </a:bodyPr>
          <a:lstStyle/>
          <a:p>
            <a:r>
              <a:rPr sz="1150" b="0">
                <a:solidFill>
                  <a:srgbClr val="2E2E2E"/>
                </a:solidFill>
                <a:latin typeface="Calibri"/>
              </a:rPr>
              <a:t>▪ U.S. is the largest country market at</a:t>
            </a:r>
          </a:p>
        </p:txBody>
      </p:sp>
      <p:pic>
        <p:nvPicPr>
          <p:cNvPr id="50" name="Picture 49" descr="lock.png"/>
          <p:cNvPicPr>
            <a:picLocks noChangeAspect="1"/>
          </p:cNvPicPr>
          <p:nvPr/>
        </p:nvPicPr>
        <p:blipFill>
          <a:blip r:embed="rId4"/>
          <a:stretch>
            <a:fillRect/>
          </a:stretch>
        </p:blipFill>
        <p:spPr>
          <a:xfrm>
            <a:off x="2514293" y="3722052"/>
            <a:ext cx="134549" cy="195707"/>
          </a:xfrm>
          <a:prstGeom prst="rect">
            <a:avLst/>
          </a:prstGeom>
        </p:spPr>
      </p:pic>
      <p:sp>
        <p:nvSpPr>
          <p:cNvPr id="51" name="TextBox 50"/>
          <p:cNvSpPr txBox="1"/>
          <p:nvPr/>
        </p:nvSpPr>
        <p:spPr>
          <a:xfrm>
            <a:off x="2689402" y="373227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2" name="TextBox 51"/>
          <p:cNvSpPr txBox="1"/>
          <p:nvPr/>
        </p:nvSpPr>
        <p:spPr>
          <a:xfrm>
            <a:off x="276225" y="5038725"/>
            <a:ext cx="2248658" cy="194310"/>
          </a:xfrm>
          <a:prstGeom prst="rect">
            <a:avLst/>
          </a:prstGeom>
          <a:noFill/>
        </p:spPr>
        <p:txBody>
          <a:bodyPr wrap="none" lIns="0" rIns="0" tIns="0" bIns="0">
            <a:spAutoFit/>
          </a:bodyPr>
          <a:lstStyle/>
          <a:p>
            <a:r>
              <a:rPr sz="1150" b="0">
                <a:solidFill>
                  <a:srgbClr val="2E2E2E"/>
                </a:solidFill>
                <a:latin typeface="Calibri"/>
              </a:rPr>
              <a:t>▪ Accelerating uptake of 'Ear Drops' (</a:t>
            </a:r>
          </a:p>
        </p:txBody>
      </p:sp>
      <p:pic>
        <p:nvPicPr>
          <p:cNvPr id="53" name="Picture 52" descr="lock.png"/>
          <p:cNvPicPr>
            <a:picLocks noChangeAspect="1"/>
          </p:cNvPicPr>
          <p:nvPr/>
        </p:nvPicPr>
        <p:blipFill>
          <a:blip r:embed="rId4"/>
          <a:stretch>
            <a:fillRect/>
          </a:stretch>
        </p:blipFill>
        <p:spPr>
          <a:xfrm>
            <a:off x="2474037" y="5028501"/>
            <a:ext cx="134549" cy="195707"/>
          </a:xfrm>
          <a:prstGeom prst="rect">
            <a:avLst/>
          </a:prstGeom>
        </p:spPr>
      </p:pic>
      <p:sp>
        <p:nvSpPr>
          <p:cNvPr id="54" name="TextBox 53"/>
          <p:cNvSpPr txBox="1"/>
          <p:nvPr/>
        </p:nvSpPr>
        <p:spPr>
          <a:xfrm>
            <a:off x="2649146" y="503872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5" name="TextBox 54"/>
          <p:cNvSpPr txBox="1"/>
          <p:nvPr/>
        </p:nvSpPr>
        <p:spPr>
          <a:xfrm>
            <a:off x="276225" y="5266563"/>
            <a:ext cx="2146510" cy="194310"/>
          </a:xfrm>
          <a:prstGeom prst="rect">
            <a:avLst/>
          </a:prstGeom>
          <a:noFill/>
        </p:spPr>
        <p:txBody>
          <a:bodyPr wrap="none" lIns="0" rIns="0" tIns="0" bIns="0">
            <a:spAutoFit/>
          </a:bodyPr>
          <a:lstStyle/>
          <a:p>
            <a:r>
              <a:rPr sz="1150" b="0">
                <a:solidFill>
                  <a:srgbClr val="2E2E2E"/>
                </a:solidFill>
                <a:latin typeface="Calibri"/>
              </a:rPr>
              <a:t>▪ Fast-growing demand in Canada (</a:t>
            </a:r>
          </a:p>
        </p:txBody>
      </p:sp>
      <p:pic>
        <p:nvPicPr>
          <p:cNvPr id="56" name="Picture 55" descr="lock.png"/>
          <p:cNvPicPr>
            <a:picLocks noChangeAspect="1"/>
          </p:cNvPicPr>
          <p:nvPr/>
        </p:nvPicPr>
        <p:blipFill>
          <a:blip r:embed="rId4"/>
          <a:stretch>
            <a:fillRect/>
          </a:stretch>
        </p:blipFill>
        <p:spPr>
          <a:xfrm>
            <a:off x="2371889" y="5256339"/>
            <a:ext cx="134549" cy="195707"/>
          </a:xfrm>
          <a:prstGeom prst="rect">
            <a:avLst/>
          </a:prstGeom>
        </p:spPr>
      </p:pic>
      <p:sp>
        <p:nvSpPr>
          <p:cNvPr id="57" name="TextBox 56"/>
          <p:cNvSpPr txBox="1"/>
          <p:nvPr/>
        </p:nvSpPr>
        <p:spPr>
          <a:xfrm>
            <a:off x="2546998" y="5266563"/>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8" name="TextBox 57"/>
          <p:cNvSpPr txBox="1"/>
          <p:nvPr/>
        </p:nvSpPr>
        <p:spPr>
          <a:xfrm>
            <a:off x="276225" y="5494400"/>
            <a:ext cx="3291867" cy="194310"/>
          </a:xfrm>
          <a:prstGeom prst="rect">
            <a:avLst/>
          </a:prstGeom>
          <a:noFill/>
        </p:spPr>
        <p:txBody>
          <a:bodyPr wrap="none" lIns="0" rIns="0" tIns="0" bIns="0">
            <a:spAutoFit/>
          </a:bodyPr>
          <a:lstStyle/>
          <a:p>
            <a:r>
              <a:rPr sz="1150" b="0">
                <a:solidFill>
                  <a:srgbClr val="2E2E2E"/>
                </a:solidFill>
                <a:latin typeface="Calibri"/>
              </a:rPr>
              <a:t>▪ Momentum in Hospitals and Clinics within end user (</a:t>
            </a:r>
          </a:p>
        </p:txBody>
      </p:sp>
      <p:pic>
        <p:nvPicPr>
          <p:cNvPr id="59" name="Picture 58" descr="lock.png"/>
          <p:cNvPicPr>
            <a:picLocks noChangeAspect="1"/>
          </p:cNvPicPr>
          <p:nvPr/>
        </p:nvPicPr>
        <p:blipFill>
          <a:blip r:embed="rId4"/>
          <a:stretch>
            <a:fillRect/>
          </a:stretch>
        </p:blipFill>
        <p:spPr>
          <a:xfrm>
            <a:off x="3517246" y="5484177"/>
            <a:ext cx="134549" cy="195707"/>
          </a:xfrm>
          <a:prstGeom prst="rect">
            <a:avLst/>
          </a:prstGeom>
        </p:spPr>
      </p:pic>
      <p:sp>
        <p:nvSpPr>
          <p:cNvPr id="60" name="TextBox 59"/>
          <p:cNvSpPr txBox="1"/>
          <p:nvPr/>
        </p:nvSpPr>
        <p:spPr>
          <a:xfrm>
            <a:off x="3692355" y="549440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1" name="TextBox 60"/>
          <p:cNvSpPr txBox="1"/>
          <p:nvPr/>
        </p:nvSpPr>
        <p:spPr>
          <a:xfrm>
            <a:off x="4371975" y="5038725"/>
            <a:ext cx="2233824" cy="194310"/>
          </a:xfrm>
          <a:prstGeom prst="rect">
            <a:avLst/>
          </a:prstGeom>
          <a:noFill/>
        </p:spPr>
        <p:txBody>
          <a:bodyPr wrap="none" lIns="0" rIns="0" tIns="0" bIns="0">
            <a:spAutoFit/>
          </a:bodyPr>
          <a:lstStyle/>
          <a:p>
            <a:r>
              <a:rPr sz="1150" b="0">
                <a:solidFill>
                  <a:srgbClr val="2E2E2E"/>
                </a:solidFill>
                <a:latin typeface="Calibri"/>
              </a:rPr>
              <a:t>▪ Slower momentum in 'Ear Sprays' (</a:t>
            </a:r>
          </a:p>
        </p:txBody>
      </p:sp>
      <p:pic>
        <p:nvPicPr>
          <p:cNvPr id="62" name="Picture 61" descr="lock.png"/>
          <p:cNvPicPr>
            <a:picLocks noChangeAspect="1"/>
          </p:cNvPicPr>
          <p:nvPr/>
        </p:nvPicPr>
        <p:blipFill>
          <a:blip r:embed="rId4"/>
          <a:stretch>
            <a:fillRect/>
          </a:stretch>
        </p:blipFill>
        <p:spPr>
          <a:xfrm>
            <a:off x="6554953" y="5028501"/>
            <a:ext cx="134549" cy="195707"/>
          </a:xfrm>
          <a:prstGeom prst="rect">
            <a:avLst/>
          </a:prstGeom>
        </p:spPr>
      </p:pic>
      <p:sp>
        <p:nvSpPr>
          <p:cNvPr id="63" name="TextBox 62"/>
          <p:cNvSpPr txBox="1"/>
          <p:nvPr/>
        </p:nvSpPr>
        <p:spPr>
          <a:xfrm>
            <a:off x="6730063" y="503872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4" name="TextBox 63"/>
          <p:cNvSpPr txBox="1"/>
          <p:nvPr/>
        </p:nvSpPr>
        <p:spPr>
          <a:xfrm>
            <a:off x="4371975" y="5266563"/>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5" name="TextBox 64"/>
          <p:cNvSpPr txBox="1"/>
          <p:nvPr/>
        </p:nvSpPr>
        <p:spPr>
          <a:xfrm>
            <a:off x="4371975" y="544182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6" name="Picture 65" descr="lock.png"/>
          <p:cNvPicPr>
            <a:picLocks noChangeAspect="1"/>
          </p:cNvPicPr>
          <p:nvPr/>
        </p:nvPicPr>
        <p:blipFill>
          <a:blip r:embed="rId4"/>
          <a:stretch>
            <a:fillRect/>
          </a:stretch>
        </p:blipFill>
        <p:spPr>
          <a:xfrm>
            <a:off x="4883401" y="5431599"/>
            <a:ext cx="134549" cy="195707"/>
          </a:xfrm>
          <a:prstGeom prst="rect">
            <a:avLst/>
          </a:prstGeom>
        </p:spPr>
      </p:pic>
      <p:sp>
        <p:nvSpPr>
          <p:cNvPr id="67" name="TextBox 66"/>
          <p:cNvSpPr txBox="1"/>
          <p:nvPr/>
        </p:nvSpPr>
        <p:spPr>
          <a:xfrm>
            <a:off x="5058510" y="544182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8" name="TextBox 67"/>
          <p:cNvSpPr txBox="1"/>
          <p:nvPr/>
        </p:nvSpPr>
        <p:spPr>
          <a:xfrm>
            <a:off x="4371975" y="5669660"/>
            <a:ext cx="2863415" cy="194310"/>
          </a:xfrm>
          <a:prstGeom prst="rect">
            <a:avLst/>
          </a:prstGeom>
          <a:noFill/>
        </p:spPr>
        <p:txBody>
          <a:bodyPr wrap="none" lIns="0" rIns="0" tIns="0" bIns="0">
            <a:spAutoFit/>
          </a:bodyPr>
          <a:lstStyle/>
          <a:p>
            <a:r>
              <a:rPr sz="1150" b="0">
                <a:solidFill>
                  <a:srgbClr val="2E2E2E"/>
                </a:solidFill>
                <a:latin typeface="Calibri"/>
              </a:rPr>
              <a:t>▪ Value concentration in 'Irrigation Devices and</a:t>
            </a:r>
          </a:p>
        </p:txBody>
      </p:sp>
      <p:sp>
        <p:nvSpPr>
          <p:cNvPr id="69" name="TextBox 68"/>
          <p:cNvSpPr txBox="1"/>
          <p:nvPr/>
        </p:nvSpPr>
        <p:spPr>
          <a:xfrm>
            <a:off x="4371975" y="5844920"/>
            <a:ext cx="2730772" cy="194310"/>
          </a:xfrm>
          <a:prstGeom prst="rect">
            <a:avLst/>
          </a:prstGeom>
          <a:noFill/>
        </p:spPr>
        <p:txBody>
          <a:bodyPr wrap="none" lIns="0" rIns="0" tIns="0" bIns="0">
            <a:spAutoFit/>
          </a:bodyPr>
          <a:lstStyle/>
          <a:p>
            <a:r>
              <a:rPr sz="1150" b="0">
                <a:solidFill>
                  <a:srgbClr val="2E2E2E"/>
                </a:solidFill>
                <a:latin typeface="Calibri"/>
              </a:rPr>
              <a:t>Accessories' raises barriers for new entrants.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Capacity and product development are concentrating in 'Ear Drops' and Canada.</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Portfolio expansion tracks the shift toward higher-growth product type categories.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Commercial focus is intensifying across U.S. and Canada.</a:t>
            </a:r>
          </a:p>
        </p:txBody>
      </p:sp>
      <p:sp>
        <p:nvSpPr>
          <p:cNvPr id="14" name="Rounded Rectangle 13"/>
          <p:cNvSpPr/>
          <p:nvPr/>
        </p:nvSpPr>
        <p:spPr>
          <a:xfrm>
            <a:off x="6172200"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142875"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314825"/>
            <a:ext cx="11906250" cy="2295525"/>
          </a:xfrm>
          <a:prstGeom prst="roundRect">
            <a:avLst>
              <a:gd name="adj" fmla="val 33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product type share (2036)</a:t>
            </a:r>
          </a:p>
        </p:txBody>
      </p:sp>
      <p:graphicFrame>
        <p:nvGraphicFramePr>
          <p:cNvPr id="28" name="Chart 27"/>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9" name="TextBox 28"/>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4135025" y="5284520"/>
            <a:ext cx="382860" cy="556888"/>
          </a:xfrm>
          <a:prstGeom prst="rect">
            <a:avLst/>
          </a:prstGeom>
        </p:spPr>
      </p:pic>
      <p:sp>
        <p:nvSpPr>
          <p:cNvPr id="32" name="TextBox 31"/>
          <p:cNvSpPr txBox="1"/>
          <p:nvPr/>
        </p:nvSpPr>
        <p:spPr>
          <a:xfrm>
            <a:off x="6305550" y="1400175"/>
            <a:ext cx="684113" cy="186689"/>
          </a:xfrm>
          <a:prstGeom prst="rect">
            <a:avLst/>
          </a:prstGeom>
          <a:noFill/>
        </p:spPr>
        <p:txBody>
          <a:bodyPr wrap="none" lIns="0" rIns="0" tIns="0" bIns="0">
            <a:spAutoFit/>
          </a:bodyPr>
          <a:lstStyle/>
          <a:p>
            <a:r>
              <a:rPr sz="1100" b="0">
                <a:solidFill>
                  <a:srgbClr val="2E2E2E"/>
                </a:solidFill>
                <a:latin typeface="Calibri"/>
              </a:rPr>
              <a:t>▪ 2026 size</a:t>
            </a:r>
          </a:p>
        </p:txBody>
      </p:sp>
      <p:pic>
        <p:nvPicPr>
          <p:cNvPr id="33" name="Picture 32" descr="lock.png"/>
          <p:cNvPicPr>
            <a:picLocks noChangeAspect="1"/>
          </p:cNvPicPr>
          <p:nvPr/>
        </p:nvPicPr>
        <p:blipFill>
          <a:blip r:embed="rId5"/>
          <a:stretch>
            <a:fillRect/>
          </a:stretch>
        </p:blipFill>
        <p:spPr>
          <a:xfrm>
            <a:off x="6937714" y="1390396"/>
            <a:ext cx="128699" cy="187198"/>
          </a:xfrm>
          <a:prstGeom prst="rect">
            <a:avLst/>
          </a:prstGeom>
        </p:spPr>
      </p:pic>
      <p:sp>
        <p:nvSpPr>
          <p:cNvPr id="34" name="TextBox 33"/>
          <p:cNvSpPr txBox="1"/>
          <p:nvPr/>
        </p:nvSpPr>
        <p:spPr>
          <a:xfrm>
            <a:off x="7105210" y="1400175"/>
            <a:ext cx="878383" cy="186689"/>
          </a:xfrm>
          <a:prstGeom prst="rect">
            <a:avLst/>
          </a:prstGeom>
          <a:noFill/>
        </p:spPr>
        <p:txBody>
          <a:bodyPr wrap="none" lIns="0" rIns="0" tIns="0" bIns="0">
            <a:spAutoFit/>
          </a:bodyPr>
          <a:lstStyle/>
          <a:p>
            <a:r>
              <a:rPr sz="1100" b="0">
                <a:solidFill>
                  <a:srgbClr val="2E2E2E"/>
                </a:solidFill>
                <a:latin typeface="Calibri"/>
              </a:rPr>
              <a:t>US$ Mn; 2036</a:t>
            </a:r>
          </a:p>
        </p:txBody>
      </p:sp>
      <p:pic>
        <p:nvPicPr>
          <p:cNvPr id="35" name="Picture 34" descr="lock.png"/>
          <p:cNvPicPr>
            <a:picLocks noChangeAspect="1"/>
          </p:cNvPicPr>
          <p:nvPr/>
        </p:nvPicPr>
        <p:blipFill>
          <a:blip r:embed="rId5"/>
          <a:stretch>
            <a:fillRect/>
          </a:stretch>
        </p:blipFill>
        <p:spPr>
          <a:xfrm>
            <a:off x="7931645" y="1390396"/>
            <a:ext cx="128699" cy="187198"/>
          </a:xfrm>
          <a:prstGeom prst="rect">
            <a:avLst/>
          </a:prstGeom>
        </p:spPr>
      </p:pic>
      <p:sp>
        <p:nvSpPr>
          <p:cNvPr id="36" name="TextBox 35"/>
          <p:cNvSpPr txBox="1"/>
          <p:nvPr/>
        </p:nvSpPr>
        <p:spPr>
          <a:xfrm>
            <a:off x="8099141" y="1400175"/>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7" name="TextBox 36"/>
          <p:cNvSpPr txBox="1"/>
          <p:nvPr/>
        </p:nvSpPr>
        <p:spPr>
          <a:xfrm>
            <a:off x="6305550" y="1618107"/>
            <a:ext cx="991842" cy="186689"/>
          </a:xfrm>
          <a:prstGeom prst="rect">
            <a:avLst/>
          </a:prstGeom>
          <a:noFill/>
        </p:spPr>
        <p:txBody>
          <a:bodyPr wrap="none" lIns="0" rIns="0" tIns="0" bIns="0">
            <a:spAutoFit/>
          </a:bodyPr>
          <a:lstStyle/>
          <a:p>
            <a:r>
              <a:rPr sz="1100" b="0">
                <a:solidFill>
                  <a:srgbClr val="2E2E2E"/>
                </a:solidFill>
                <a:latin typeface="Calibri"/>
              </a:rPr>
              <a:t>▪ Forecast CAGR</a:t>
            </a:r>
          </a:p>
        </p:txBody>
      </p:sp>
      <p:pic>
        <p:nvPicPr>
          <p:cNvPr id="38" name="Picture 37" descr="lock.png"/>
          <p:cNvPicPr>
            <a:picLocks noChangeAspect="1"/>
          </p:cNvPicPr>
          <p:nvPr/>
        </p:nvPicPr>
        <p:blipFill>
          <a:blip r:embed="rId5"/>
          <a:stretch>
            <a:fillRect/>
          </a:stretch>
        </p:blipFill>
        <p:spPr>
          <a:xfrm>
            <a:off x="7245444" y="1608328"/>
            <a:ext cx="128699" cy="187198"/>
          </a:xfrm>
          <a:prstGeom prst="rect">
            <a:avLst/>
          </a:prstGeom>
        </p:spPr>
      </p:pic>
      <p:sp>
        <p:nvSpPr>
          <p:cNvPr id="39" name="TextBox 38"/>
          <p:cNvSpPr txBox="1"/>
          <p:nvPr/>
        </p:nvSpPr>
        <p:spPr>
          <a:xfrm>
            <a:off x="7412940" y="1618107"/>
            <a:ext cx="833090" cy="186689"/>
          </a:xfrm>
          <a:prstGeom prst="rect">
            <a:avLst/>
          </a:prstGeom>
          <a:noFill/>
        </p:spPr>
        <p:txBody>
          <a:bodyPr wrap="none" lIns="0" rIns="0" tIns="0" bIns="0">
            <a:spAutoFit/>
          </a:bodyPr>
          <a:lstStyle/>
          <a:p>
            <a:r>
              <a:rPr sz="1100" b="0">
                <a:solidFill>
                  <a:srgbClr val="2E2E2E"/>
                </a:solidFill>
                <a:latin typeface="Calibri"/>
              </a:rPr>
              <a:t>(2026–2036).</a:t>
            </a:r>
          </a:p>
        </p:txBody>
      </p:sp>
      <p:sp>
        <p:nvSpPr>
          <p:cNvPr id="40" name="TextBox 39"/>
          <p:cNvSpPr txBox="1"/>
          <p:nvPr/>
        </p:nvSpPr>
        <p:spPr>
          <a:xfrm>
            <a:off x="6305550" y="1836039"/>
            <a:ext cx="2968153" cy="186689"/>
          </a:xfrm>
          <a:prstGeom prst="rect">
            <a:avLst/>
          </a:prstGeom>
          <a:noFill/>
        </p:spPr>
        <p:txBody>
          <a:bodyPr wrap="none" lIns="0" rIns="0" tIns="0" bIns="0">
            <a:spAutoFit/>
          </a:bodyPr>
          <a:lstStyle/>
          <a:p>
            <a:r>
              <a:rPr sz="1100" b="0">
                <a:solidFill>
                  <a:srgbClr val="2E2E2E"/>
                </a:solidFill>
                <a:latin typeface="Calibri"/>
              </a:rPr>
              <a:t>▪ Lead category 'Irrigation Devices and Accessories'</a:t>
            </a:r>
          </a:p>
        </p:txBody>
      </p:sp>
      <p:pic>
        <p:nvPicPr>
          <p:cNvPr id="41" name="Picture 40" descr="lock.png"/>
          <p:cNvPicPr>
            <a:picLocks noChangeAspect="1"/>
          </p:cNvPicPr>
          <p:nvPr/>
        </p:nvPicPr>
        <p:blipFill>
          <a:blip r:embed="rId5"/>
          <a:stretch>
            <a:fillRect/>
          </a:stretch>
        </p:blipFill>
        <p:spPr>
          <a:xfrm>
            <a:off x="9221755" y="1826260"/>
            <a:ext cx="128699" cy="187198"/>
          </a:xfrm>
          <a:prstGeom prst="rect">
            <a:avLst/>
          </a:prstGeom>
        </p:spPr>
      </p:pic>
      <p:sp>
        <p:nvSpPr>
          <p:cNvPr id="42" name="TextBox 41"/>
          <p:cNvSpPr txBox="1"/>
          <p:nvPr/>
        </p:nvSpPr>
        <p:spPr>
          <a:xfrm>
            <a:off x="9389251" y="1836039"/>
            <a:ext cx="543049"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43" name="TextBox 42"/>
          <p:cNvSpPr txBox="1"/>
          <p:nvPr/>
        </p:nvSpPr>
        <p:spPr>
          <a:xfrm>
            <a:off x="6305550" y="2053970"/>
            <a:ext cx="1152053" cy="186689"/>
          </a:xfrm>
          <a:prstGeom prst="rect">
            <a:avLst/>
          </a:prstGeom>
          <a:noFill/>
        </p:spPr>
        <p:txBody>
          <a:bodyPr wrap="none" lIns="0" rIns="0" tIns="0" bIns="0">
            <a:spAutoFit/>
          </a:bodyPr>
          <a:lstStyle/>
          <a:p>
            <a:r>
              <a:rPr sz="1100" b="0">
                <a:solidFill>
                  <a:srgbClr val="2E2E2E"/>
                </a:solidFill>
                <a:latin typeface="Calibri"/>
              </a:rPr>
              <a:t>▪ Lead country U.S.</a:t>
            </a:r>
          </a:p>
        </p:txBody>
      </p:sp>
      <p:pic>
        <p:nvPicPr>
          <p:cNvPr id="44" name="Picture 43" descr="lock.png"/>
          <p:cNvPicPr>
            <a:picLocks noChangeAspect="1"/>
          </p:cNvPicPr>
          <p:nvPr/>
        </p:nvPicPr>
        <p:blipFill>
          <a:blip r:embed="rId5"/>
          <a:stretch>
            <a:fillRect/>
          </a:stretch>
        </p:blipFill>
        <p:spPr>
          <a:xfrm>
            <a:off x="7405655" y="2044192"/>
            <a:ext cx="128699" cy="187198"/>
          </a:xfrm>
          <a:prstGeom prst="rect">
            <a:avLst/>
          </a:prstGeom>
        </p:spPr>
      </p:pic>
      <p:sp>
        <p:nvSpPr>
          <p:cNvPr id="45" name="TextBox 44"/>
          <p:cNvSpPr txBox="1"/>
          <p:nvPr/>
        </p:nvSpPr>
        <p:spPr>
          <a:xfrm>
            <a:off x="7573151" y="205397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6305550" y="2271903"/>
            <a:ext cx="1554782" cy="186689"/>
          </a:xfrm>
          <a:prstGeom prst="rect">
            <a:avLst/>
          </a:prstGeom>
          <a:noFill/>
        </p:spPr>
        <p:txBody>
          <a:bodyPr wrap="none" lIns="0" rIns="0" tIns="0" bIns="0">
            <a:spAutoFit/>
          </a:bodyPr>
          <a:lstStyle/>
          <a:p>
            <a:r>
              <a:rPr sz="1100" b="0">
                <a:solidFill>
                  <a:srgbClr val="2E2E2E"/>
                </a:solidFill>
                <a:latin typeface="Calibri"/>
              </a:rPr>
              <a:t>▪ Incremental opportunity</a:t>
            </a:r>
          </a:p>
        </p:txBody>
      </p:sp>
      <p:pic>
        <p:nvPicPr>
          <p:cNvPr id="47" name="Picture 46" descr="lock.png"/>
          <p:cNvPicPr>
            <a:picLocks noChangeAspect="1"/>
          </p:cNvPicPr>
          <p:nvPr/>
        </p:nvPicPr>
        <p:blipFill>
          <a:blip r:embed="rId5"/>
          <a:stretch>
            <a:fillRect/>
          </a:stretch>
        </p:blipFill>
        <p:spPr>
          <a:xfrm>
            <a:off x="7808384" y="2262124"/>
            <a:ext cx="128699" cy="187198"/>
          </a:xfrm>
          <a:prstGeom prst="rect">
            <a:avLst/>
          </a:prstGeom>
        </p:spPr>
      </p:pic>
      <p:sp>
        <p:nvSpPr>
          <p:cNvPr id="48" name="TextBox 47"/>
          <p:cNvSpPr txBox="1"/>
          <p:nvPr/>
        </p:nvSpPr>
        <p:spPr>
          <a:xfrm>
            <a:off x="797588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9" name="TextBox 48"/>
          <p:cNvSpPr txBox="1"/>
          <p:nvPr/>
        </p:nvSpPr>
        <p:spPr>
          <a:xfrm>
            <a:off x="276225" y="3314700"/>
            <a:ext cx="4072001" cy="194310"/>
          </a:xfrm>
          <a:prstGeom prst="rect">
            <a:avLst/>
          </a:prstGeom>
          <a:noFill/>
        </p:spPr>
        <p:txBody>
          <a:bodyPr wrap="none" lIns="0" rIns="0" tIns="0" bIns="0">
            <a:spAutoFit/>
          </a:bodyPr>
          <a:lstStyle/>
          <a:p>
            <a:r>
              <a:rPr sz="1150" b="0">
                <a:solidFill>
                  <a:srgbClr val="2E2E2E"/>
                </a:solidFill>
                <a:latin typeface="Calibri"/>
              </a:rPr>
              <a:t>▪ Investment is flowing toward the fastest-growing tier 'Ear Drops' (</a:t>
            </a:r>
          </a:p>
        </p:txBody>
      </p:sp>
      <p:pic>
        <p:nvPicPr>
          <p:cNvPr id="50" name="Picture 49" descr="lock.png"/>
          <p:cNvPicPr>
            <a:picLocks noChangeAspect="1"/>
          </p:cNvPicPr>
          <p:nvPr/>
        </p:nvPicPr>
        <p:blipFill>
          <a:blip r:embed="rId5"/>
          <a:stretch>
            <a:fillRect/>
          </a:stretch>
        </p:blipFill>
        <p:spPr>
          <a:xfrm>
            <a:off x="4297380" y="3304476"/>
            <a:ext cx="134549" cy="195707"/>
          </a:xfrm>
          <a:prstGeom prst="rect">
            <a:avLst/>
          </a:prstGeom>
        </p:spPr>
      </p:pic>
      <p:sp>
        <p:nvSpPr>
          <p:cNvPr id="51" name="TextBox 50"/>
          <p:cNvSpPr txBox="1"/>
          <p:nvPr/>
        </p:nvSpPr>
        <p:spPr>
          <a:xfrm>
            <a:off x="4472489" y="331470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2" name="TextBox 51"/>
          <p:cNvSpPr txBox="1"/>
          <p:nvPr/>
        </p:nvSpPr>
        <p:spPr>
          <a:xfrm>
            <a:off x="276225" y="3542537"/>
            <a:ext cx="679226" cy="194310"/>
          </a:xfrm>
          <a:prstGeom prst="rect">
            <a:avLst/>
          </a:prstGeom>
          <a:noFill/>
        </p:spPr>
        <p:txBody>
          <a:bodyPr wrap="none" lIns="0" rIns="0" tIns="0" bIns="0">
            <a:spAutoFit/>
          </a:bodyPr>
          <a:lstStyle/>
          <a:p>
            <a:r>
              <a:rPr sz="1150" b="0">
                <a:solidFill>
                  <a:srgbClr val="2E2E2E"/>
                </a:solidFill>
                <a:latin typeface="Calibri"/>
              </a:rPr>
              <a:t>▪ Canada (</a:t>
            </a:r>
          </a:p>
        </p:txBody>
      </p:sp>
      <p:pic>
        <p:nvPicPr>
          <p:cNvPr id="53" name="Picture 52" descr="lock.png"/>
          <p:cNvPicPr>
            <a:picLocks noChangeAspect="1"/>
          </p:cNvPicPr>
          <p:nvPr/>
        </p:nvPicPr>
        <p:blipFill>
          <a:blip r:embed="rId5"/>
          <a:stretch>
            <a:fillRect/>
          </a:stretch>
        </p:blipFill>
        <p:spPr>
          <a:xfrm>
            <a:off x="904605" y="3532314"/>
            <a:ext cx="134549" cy="195707"/>
          </a:xfrm>
          <a:prstGeom prst="rect">
            <a:avLst/>
          </a:prstGeom>
        </p:spPr>
      </p:pic>
      <p:sp>
        <p:nvSpPr>
          <p:cNvPr id="54" name="TextBox 53"/>
          <p:cNvSpPr txBox="1"/>
          <p:nvPr/>
        </p:nvSpPr>
        <p:spPr>
          <a:xfrm>
            <a:off x="1079714" y="3542537"/>
            <a:ext cx="2362224" cy="194310"/>
          </a:xfrm>
          <a:prstGeom prst="rect">
            <a:avLst/>
          </a:prstGeom>
          <a:noFill/>
        </p:spPr>
        <p:txBody>
          <a:bodyPr wrap="none" lIns="0" rIns="0" tIns="0" bIns="0">
            <a:spAutoFit/>
          </a:bodyPr>
          <a:lstStyle/>
          <a:p>
            <a:r>
              <a:rPr sz="1150" b="0">
                <a:solidFill>
                  <a:srgbClr val="2E2E2E"/>
                </a:solidFill>
                <a:latin typeface="Calibri"/>
              </a:rPr>
              <a:t>) is a priority country for new capacity.</a:t>
            </a:r>
          </a:p>
        </p:txBody>
      </p:sp>
      <p:sp>
        <p:nvSpPr>
          <p:cNvPr id="55" name="TextBox 54"/>
          <p:cNvSpPr txBox="1"/>
          <p:nvPr/>
        </p:nvSpPr>
        <p:spPr>
          <a:xfrm>
            <a:off x="276225" y="3770375"/>
            <a:ext cx="4019835" cy="194310"/>
          </a:xfrm>
          <a:prstGeom prst="rect">
            <a:avLst/>
          </a:prstGeom>
          <a:noFill/>
        </p:spPr>
        <p:txBody>
          <a:bodyPr wrap="none" lIns="0" rIns="0" tIns="0" bIns="0">
            <a:spAutoFit/>
          </a:bodyPr>
          <a:lstStyle/>
          <a:p>
            <a:r>
              <a:rPr sz="1150" b="0">
                <a:solidFill>
                  <a:srgbClr val="2E2E2E"/>
                </a:solidFill>
                <a:latin typeface="Calibri"/>
              </a:rPr>
              <a:t>▪ Scale players anchor around 'Irrigation Devices and Accessories' (</a:t>
            </a:r>
          </a:p>
        </p:txBody>
      </p:sp>
      <p:pic>
        <p:nvPicPr>
          <p:cNvPr id="56" name="Picture 55" descr="lock.png"/>
          <p:cNvPicPr>
            <a:picLocks noChangeAspect="1"/>
          </p:cNvPicPr>
          <p:nvPr/>
        </p:nvPicPr>
        <p:blipFill>
          <a:blip r:embed="rId5"/>
          <a:stretch>
            <a:fillRect/>
          </a:stretch>
        </p:blipFill>
        <p:spPr>
          <a:xfrm>
            <a:off x="4245214" y="3760152"/>
            <a:ext cx="134549" cy="195707"/>
          </a:xfrm>
          <a:prstGeom prst="rect">
            <a:avLst/>
          </a:prstGeom>
        </p:spPr>
      </p:pic>
      <p:sp>
        <p:nvSpPr>
          <p:cNvPr id="57" name="TextBox 56"/>
          <p:cNvSpPr txBox="1"/>
          <p:nvPr/>
        </p:nvSpPr>
        <p:spPr>
          <a:xfrm>
            <a:off x="4420323" y="3770375"/>
            <a:ext cx="484683"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58" name="TextBox 57"/>
          <p:cNvSpPr txBox="1"/>
          <p:nvPr/>
        </p:nvSpPr>
        <p:spPr>
          <a:xfrm>
            <a:off x="6305550" y="3314700"/>
            <a:ext cx="4486760" cy="194310"/>
          </a:xfrm>
          <a:prstGeom prst="rect">
            <a:avLst/>
          </a:prstGeom>
          <a:noFill/>
        </p:spPr>
        <p:txBody>
          <a:bodyPr wrap="none" lIns="0" rIns="0" tIns="0" bIns="0">
            <a:spAutoFit/>
          </a:bodyPr>
          <a:lstStyle/>
          <a:p>
            <a:r>
              <a:rPr sz="1150" b="0">
                <a:solidFill>
                  <a:srgbClr val="2E2E2E"/>
                </a:solidFill>
                <a:latin typeface="Calibri"/>
              </a:rPr>
              <a:t>▪ R&amp;D aligns with the migration to 'Ear Drops' and adjacent premium tiers.</a:t>
            </a:r>
          </a:p>
        </p:txBody>
      </p:sp>
      <p:sp>
        <p:nvSpPr>
          <p:cNvPr id="59" name="TextBox 58"/>
          <p:cNvSpPr txBox="1"/>
          <p:nvPr/>
        </p:nvSpPr>
        <p:spPr>
          <a:xfrm>
            <a:off x="6305550" y="3542537"/>
            <a:ext cx="4603179" cy="194310"/>
          </a:xfrm>
          <a:prstGeom prst="rect">
            <a:avLst/>
          </a:prstGeom>
          <a:noFill/>
        </p:spPr>
        <p:txBody>
          <a:bodyPr wrap="none" lIns="0" rIns="0" tIns="0" bIns="0">
            <a:spAutoFit/>
          </a:bodyPr>
          <a:lstStyle/>
          <a:p>
            <a:r>
              <a:rPr sz="1150" b="0">
                <a:solidFill>
                  <a:srgbClr val="2E2E2E"/>
                </a:solidFill>
                <a:latin typeface="Calibri"/>
              </a:rPr>
              <a:t>▪ Development spend targets product type categories gaining share to 2036.</a:t>
            </a:r>
          </a:p>
        </p:txBody>
      </p:sp>
      <p:sp>
        <p:nvSpPr>
          <p:cNvPr id="60" name="TextBox 59"/>
          <p:cNvSpPr txBox="1"/>
          <p:nvPr/>
        </p:nvSpPr>
        <p:spPr>
          <a:xfrm>
            <a:off x="6305550" y="3770375"/>
            <a:ext cx="1663352" cy="194310"/>
          </a:xfrm>
          <a:prstGeom prst="rect">
            <a:avLst/>
          </a:prstGeom>
          <a:noFill/>
        </p:spPr>
        <p:txBody>
          <a:bodyPr wrap="none" lIns="0" rIns="0" tIns="0" bIns="0">
            <a:spAutoFit/>
          </a:bodyPr>
          <a:lstStyle/>
          <a:p>
            <a:r>
              <a:rPr sz="1150" b="0">
                <a:solidFill>
                  <a:srgbClr val="2E2E2E"/>
                </a:solidFill>
                <a:latin typeface="Calibri"/>
              </a:rPr>
              <a:t>▪ Innovation underpins the</a:t>
            </a:r>
          </a:p>
        </p:txBody>
      </p:sp>
      <p:pic>
        <p:nvPicPr>
          <p:cNvPr id="61" name="Picture 60" descr="lock.png"/>
          <p:cNvPicPr>
            <a:picLocks noChangeAspect="1"/>
          </p:cNvPicPr>
          <p:nvPr/>
        </p:nvPicPr>
        <p:blipFill>
          <a:blip r:embed="rId5"/>
          <a:stretch>
            <a:fillRect/>
          </a:stretch>
        </p:blipFill>
        <p:spPr>
          <a:xfrm>
            <a:off x="7918056" y="3760152"/>
            <a:ext cx="134549" cy="195707"/>
          </a:xfrm>
          <a:prstGeom prst="rect">
            <a:avLst/>
          </a:prstGeom>
        </p:spPr>
      </p:pic>
      <p:sp>
        <p:nvSpPr>
          <p:cNvPr id="62" name="TextBox 61"/>
          <p:cNvSpPr txBox="1"/>
          <p:nvPr/>
        </p:nvSpPr>
        <p:spPr>
          <a:xfrm>
            <a:off x="8093165" y="3770375"/>
            <a:ext cx="963036" cy="194310"/>
          </a:xfrm>
          <a:prstGeom prst="rect">
            <a:avLst/>
          </a:prstGeom>
          <a:noFill/>
        </p:spPr>
        <p:txBody>
          <a:bodyPr wrap="none" lIns="0" rIns="0" tIns="0" bIns="0">
            <a:spAutoFit/>
          </a:bodyPr>
          <a:lstStyle/>
          <a:p>
            <a:r>
              <a:rPr sz="1150" b="0">
                <a:solidFill>
                  <a:srgbClr val="2E2E2E"/>
                </a:solidFill>
                <a:latin typeface="Calibri"/>
              </a:rPr>
              <a:t>forecast CAGR.</a:t>
            </a:r>
          </a:p>
        </p:txBody>
      </p:sp>
      <p:sp>
        <p:nvSpPr>
          <p:cNvPr id="63" name="lockshield_28"/>
          <p:cNvSpPr/>
          <p:nvPr/>
        </p:nvSpPr>
        <p:spPr>
          <a:xfrm>
            <a:off x="238125" y="4600575"/>
            <a:ext cx="11715750" cy="19526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6172200" y="981075"/>
            <a:ext cx="5876925"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'Ear Drops' tier and Hospitals and Clinics within end user.</a:t>
            </a:r>
          </a:p>
        </p:txBody>
      </p:sp>
      <p:sp>
        <p:nvSpPr>
          <p:cNvPr id="18" name="Rounded Rectangle 17"/>
          <p:cNvSpPr/>
          <p:nvPr/>
        </p:nvSpPr>
        <p:spPr>
          <a:xfrm>
            <a:off x="142875" y="2857500"/>
            <a:ext cx="5876925" cy="1562100"/>
          </a:xfrm>
          <a:prstGeom prst="roundRect">
            <a:avLst>
              <a:gd name="adj" fmla="val 48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4322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0" name="Rectangle 19"/>
          <p:cNvSpPr/>
          <p:nvPr/>
        </p:nvSpPr>
        <p:spPr>
          <a:xfrm>
            <a:off x="276225" y="31813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857500"/>
            <a:ext cx="5876925" cy="1562100"/>
          </a:xfrm>
          <a:prstGeom prst="roundRect">
            <a:avLst>
              <a:gd name="adj" fmla="val 48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4322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Country</a:t>
            </a:r>
          </a:p>
        </p:txBody>
      </p:sp>
      <p:sp>
        <p:nvSpPr>
          <p:cNvPr id="24" name="Rectangle 23"/>
          <p:cNvSpPr/>
          <p:nvPr/>
        </p:nvSpPr>
        <p:spPr>
          <a:xfrm>
            <a:off x="6305550" y="31813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B2E4A"/>
                </a:solidFill>
                <a:latin typeface="Calibri"/>
              </a:rPr>
              <a:t>Fact.MR Analysis &amp; Recommendation</a:t>
            </a:r>
          </a:p>
        </p:txBody>
      </p:sp>
      <p:sp>
        <p:nvSpPr>
          <p:cNvPr id="28" name="Rectangle 27"/>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5360207" cy="194310"/>
          </a:xfrm>
          <a:prstGeom prst="rect">
            <a:avLst/>
          </a:prstGeom>
          <a:noFill/>
        </p:spPr>
        <p:txBody>
          <a:bodyPr wrap="none" lIns="0" rIns="0" tIns="0" bIns="0">
            <a:spAutoFit/>
          </a:bodyPr>
          <a:lstStyle/>
          <a:p>
            <a:r>
              <a:rPr sz="1150" b="0">
                <a:solidFill>
                  <a:srgbClr val="2E2E2E"/>
                </a:solidFill>
                <a:latin typeface="Calibri"/>
              </a:rPr>
              <a:t>▪ Balance scale in 'Irrigation Devices and Accessories' with targeted growth in 'Ear Drops',</a:t>
            </a:r>
          </a:p>
        </p:txBody>
      </p:sp>
      <p:sp>
        <p:nvSpPr>
          <p:cNvPr id="32" name="TextBox 31"/>
          <p:cNvSpPr txBox="1"/>
          <p:nvPr/>
        </p:nvSpPr>
        <p:spPr>
          <a:xfrm>
            <a:off x="276225" y="1575435"/>
            <a:ext cx="825276" cy="194310"/>
          </a:xfrm>
          <a:prstGeom prst="rect">
            <a:avLst/>
          </a:prstGeom>
          <a:noFill/>
        </p:spPr>
        <p:txBody>
          <a:bodyPr wrap="none" lIns="0" rIns="0" tIns="0" bIns="0">
            <a:spAutoFit/>
          </a:bodyPr>
          <a:lstStyle/>
          <a:p>
            <a:r>
              <a:rPr sz="1150" b="0">
                <a:solidFill>
                  <a:srgbClr val="2E2E2E"/>
                </a:solidFill>
                <a:latin typeface="Calibri"/>
              </a:rPr>
              <a:t>pursuing the</a:t>
            </a:r>
          </a:p>
        </p:txBody>
      </p:sp>
      <p:pic>
        <p:nvPicPr>
          <p:cNvPr id="33" name="Picture 32" descr="lock.png"/>
          <p:cNvPicPr>
            <a:picLocks noChangeAspect="1"/>
          </p:cNvPicPr>
          <p:nvPr/>
        </p:nvPicPr>
        <p:blipFill>
          <a:blip r:embed="rId4"/>
          <a:stretch>
            <a:fillRect/>
          </a:stretch>
        </p:blipFill>
        <p:spPr>
          <a:xfrm>
            <a:off x="1050655" y="1565211"/>
            <a:ext cx="134549" cy="195707"/>
          </a:xfrm>
          <a:prstGeom prst="rect">
            <a:avLst/>
          </a:prstGeom>
        </p:spPr>
      </p:pic>
      <p:sp>
        <p:nvSpPr>
          <p:cNvPr id="34" name="TextBox 33"/>
          <p:cNvSpPr txBox="1"/>
          <p:nvPr/>
        </p:nvSpPr>
        <p:spPr>
          <a:xfrm>
            <a:off x="1225764"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5" name="TextBox 34"/>
          <p:cNvSpPr txBox="1"/>
          <p:nvPr/>
        </p:nvSpPr>
        <p:spPr>
          <a:xfrm>
            <a:off x="276225" y="3276600"/>
            <a:ext cx="1447379" cy="194310"/>
          </a:xfrm>
          <a:prstGeom prst="rect">
            <a:avLst/>
          </a:prstGeom>
          <a:noFill/>
        </p:spPr>
        <p:txBody>
          <a:bodyPr wrap="none" lIns="0" rIns="0" tIns="0" bIns="0">
            <a:spAutoFit/>
          </a:bodyPr>
          <a:lstStyle/>
          <a:p>
            <a:r>
              <a:rPr sz="1150" b="0">
                <a:solidFill>
                  <a:srgbClr val="2E2E2E"/>
                </a:solidFill>
                <a:latin typeface="Calibri"/>
              </a:rPr>
              <a:t>▪ Prioritise 'Ear Drops' (</a:t>
            </a:r>
          </a:p>
        </p:txBody>
      </p:sp>
      <p:pic>
        <p:nvPicPr>
          <p:cNvPr id="36" name="Picture 35" descr="lock.png"/>
          <p:cNvPicPr>
            <a:picLocks noChangeAspect="1"/>
          </p:cNvPicPr>
          <p:nvPr/>
        </p:nvPicPr>
        <p:blipFill>
          <a:blip r:embed="rId4"/>
          <a:stretch>
            <a:fillRect/>
          </a:stretch>
        </p:blipFill>
        <p:spPr>
          <a:xfrm>
            <a:off x="1672758" y="3266376"/>
            <a:ext cx="134549" cy="195707"/>
          </a:xfrm>
          <a:prstGeom prst="rect">
            <a:avLst/>
          </a:prstGeom>
        </p:spPr>
      </p:pic>
      <p:sp>
        <p:nvSpPr>
          <p:cNvPr id="37" name="TextBox 36"/>
          <p:cNvSpPr txBox="1"/>
          <p:nvPr/>
        </p:nvSpPr>
        <p:spPr>
          <a:xfrm>
            <a:off x="1847868" y="3276600"/>
            <a:ext cx="2771278" cy="194310"/>
          </a:xfrm>
          <a:prstGeom prst="rect">
            <a:avLst/>
          </a:prstGeom>
          <a:noFill/>
        </p:spPr>
        <p:txBody>
          <a:bodyPr wrap="none" lIns="0" rIns="0" tIns="0" bIns="0">
            <a:spAutoFit/>
          </a:bodyPr>
          <a:lstStyle/>
          <a:p>
            <a:r>
              <a:rPr sz="1150" b="0">
                <a:solidFill>
                  <a:srgbClr val="2E2E2E"/>
                </a:solidFill>
                <a:latin typeface="Calibri"/>
              </a:rPr>
              <a:t>); 'Irrigation Devices and Accessories' anchors</a:t>
            </a:r>
          </a:p>
        </p:txBody>
      </p:sp>
      <p:pic>
        <p:nvPicPr>
          <p:cNvPr id="38" name="Picture 37" descr="lock.png"/>
          <p:cNvPicPr>
            <a:picLocks noChangeAspect="1"/>
          </p:cNvPicPr>
          <p:nvPr/>
        </p:nvPicPr>
        <p:blipFill>
          <a:blip r:embed="rId4"/>
          <a:stretch>
            <a:fillRect/>
          </a:stretch>
        </p:blipFill>
        <p:spPr>
          <a:xfrm>
            <a:off x="4568300" y="3266376"/>
            <a:ext cx="134549" cy="195707"/>
          </a:xfrm>
          <a:prstGeom prst="rect">
            <a:avLst/>
          </a:prstGeom>
        </p:spPr>
      </p:pic>
      <p:sp>
        <p:nvSpPr>
          <p:cNvPr id="39" name="TextBox 38"/>
          <p:cNvSpPr txBox="1"/>
          <p:nvPr/>
        </p:nvSpPr>
        <p:spPr>
          <a:xfrm>
            <a:off x="4743410" y="3276600"/>
            <a:ext cx="586519" cy="194310"/>
          </a:xfrm>
          <a:prstGeom prst="rect">
            <a:avLst/>
          </a:prstGeom>
          <a:noFill/>
        </p:spPr>
        <p:txBody>
          <a:bodyPr wrap="none" lIns="0" rIns="0" tIns="0" bIns="0">
            <a:spAutoFit/>
          </a:bodyPr>
          <a:lstStyle/>
          <a:p>
            <a:r>
              <a:rPr sz="1150" b="0">
                <a:solidFill>
                  <a:srgbClr val="2E2E2E"/>
                </a:solidFill>
                <a:latin typeface="Calibri"/>
              </a:rPr>
              <a:t>of value.</a:t>
            </a:r>
          </a:p>
        </p:txBody>
      </p:sp>
      <p:sp>
        <p:nvSpPr>
          <p:cNvPr id="40" name="TextBox 39"/>
          <p:cNvSpPr txBox="1"/>
          <p:nvPr/>
        </p:nvSpPr>
        <p:spPr>
          <a:xfrm>
            <a:off x="6305550" y="3276600"/>
            <a:ext cx="1083431" cy="194310"/>
          </a:xfrm>
          <a:prstGeom prst="rect">
            <a:avLst/>
          </a:prstGeom>
          <a:noFill/>
        </p:spPr>
        <p:txBody>
          <a:bodyPr wrap="none" lIns="0" rIns="0" tIns="0" bIns="0">
            <a:spAutoFit/>
          </a:bodyPr>
          <a:lstStyle/>
          <a:p>
            <a:r>
              <a:rPr sz="1150" b="0">
                <a:solidFill>
                  <a:srgbClr val="2E2E2E"/>
                </a:solidFill>
                <a:latin typeface="Calibri"/>
              </a:rPr>
              <a:t>▪ Lead with U.S. (</a:t>
            </a:r>
          </a:p>
        </p:txBody>
      </p:sp>
      <p:pic>
        <p:nvPicPr>
          <p:cNvPr id="41" name="Picture 40" descr="lock.png"/>
          <p:cNvPicPr>
            <a:picLocks noChangeAspect="1"/>
          </p:cNvPicPr>
          <p:nvPr/>
        </p:nvPicPr>
        <p:blipFill>
          <a:blip r:embed="rId4"/>
          <a:stretch>
            <a:fillRect/>
          </a:stretch>
        </p:blipFill>
        <p:spPr>
          <a:xfrm>
            <a:off x="7338135" y="3266376"/>
            <a:ext cx="134549" cy="195707"/>
          </a:xfrm>
          <a:prstGeom prst="rect">
            <a:avLst/>
          </a:prstGeom>
        </p:spPr>
      </p:pic>
      <p:sp>
        <p:nvSpPr>
          <p:cNvPr id="42" name="TextBox 41"/>
          <p:cNvSpPr txBox="1"/>
          <p:nvPr/>
        </p:nvSpPr>
        <p:spPr>
          <a:xfrm>
            <a:off x="7513244" y="3276600"/>
            <a:ext cx="1772319" cy="194310"/>
          </a:xfrm>
          <a:prstGeom prst="rect">
            <a:avLst/>
          </a:prstGeom>
          <a:noFill/>
        </p:spPr>
        <p:txBody>
          <a:bodyPr wrap="none" lIns="0" rIns="0" tIns="0" bIns="0">
            <a:spAutoFit/>
          </a:bodyPr>
          <a:lstStyle/>
          <a:p>
            <a:r>
              <a:rPr sz="1150" b="0">
                <a:solidFill>
                  <a:srgbClr val="2E2E2E"/>
                </a:solidFill>
                <a:latin typeface="Calibri"/>
              </a:rPr>
              <a:t>); capture upside in Canada (</a:t>
            </a:r>
          </a:p>
        </p:txBody>
      </p:sp>
      <p:pic>
        <p:nvPicPr>
          <p:cNvPr id="43" name="Picture 42" descr="lock.png"/>
          <p:cNvPicPr>
            <a:picLocks noChangeAspect="1"/>
          </p:cNvPicPr>
          <p:nvPr/>
        </p:nvPicPr>
        <p:blipFill>
          <a:blip r:embed="rId4"/>
          <a:stretch>
            <a:fillRect/>
          </a:stretch>
        </p:blipFill>
        <p:spPr>
          <a:xfrm>
            <a:off x="9234718" y="3266376"/>
            <a:ext cx="134549" cy="195707"/>
          </a:xfrm>
          <a:prstGeom prst="rect">
            <a:avLst/>
          </a:prstGeom>
        </p:spPr>
      </p:pic>
      <p:sp>
        <p:nvSpPr>
          <p:cNvPr id="44" name="TextBox 43"/>
          <p:cNvSpPr txBox="1"/>
          <p:nvPr/>
        </p:nvSpPr>
        <p:spPr>
          <a:xfrm>
            <a:off x="9409827" y="327660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5" name="TextBox 44"/>
          <p:cNvSpPr txBox="1"/>
          <p:nvPr/>
        </p:nvSpPr>
        <p:spPr>
          <a:xfrm>
            <a:off x="276225" y="4972050"/>
            <a:ext cx="2069518" cy="194310"/>
          </a:xfrm>
          <a:prstGeom prst="rect">
            <a:avLst/>
          </a:prstGeom>
          <a:noFill/>
        </p:spPr>
        <p:txBody>
          <a:bodyPr wrap="none" lIns="0" rIns="0" tIns="0" bIns="0">
            <a:spAutoFit/>
          </a:bodyPr>
          <a:lstStyle/>
          <a:p>
            <a:r>
              <a:rPr sz="1150" b="0">
                <a:solidFill>
                  <a:srgbClr val="2E2E2E"/>
                </a:solidFill>
                <a:latin typeface="Calibri"/>
              </a:rPr>
              <a:t>▪ Ear Wax Removal Products adds</a:t>
            </a:r>
          </a:p>
        </p:txBody>
      </p:sp>
      <p:pic>
        <p:nvPicPr>
          <p:cNvPr id="46" name="Picture 45" descr="lock.png"/>
          <p:cNvPicPr>
            <a:picLocks noChangeAspect="1"/>
          </p:cNvPicPr>
          <p:nvPr/>
        </p:nvPicPr>
        <p:blipFill>
          <a:blip r:embed="rId4"/>
          <a:stretch>
            <a:fillRect/>
          </a:stretch>
        </p:blipFill>
        <p:spPr>
          <a:xfrm>
            <a:off x="2294897" y="4961826"/>
            <a:ext cx="134549" cy="195707"/>
          </a:xfrm>
          <a:prstGeom prst="rect">
            <a:avLst/>
          </a:prstGeom>
        </p:spPr>
      </p:pic>
      <p:sp>
        <p:nvSpPr>
          <p:cNvPr id="47" name="TextBox 46"/>
          <p:cNvSpPr txBox="1"/>
          <p:nvPr/>
        </p:nvSpPr>
        <p:spPr>
          <a:xfrm>
            <a:off x="2470006" y="4972050"/>
            <a:ext cx="1815107"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48" name="Picture 47" descr="lock.png"/>
          <p:cNvPicPr>
            <a:picLocks noChangeAspect="1"/>
          </p:cNvPicPr>
          <p:nvPr/>
        </p:nvPicPr>
        <p:blipFill>
          <a:blip r:embed="rId4"/>
          <a:stretch>
            <a:fillRect/>
          </a:stretch>
        </p:blipFill>
        <p:spPr>
          <a:xfrm>
            <a:off x="4234268" y="4961826"/>
            <a:ext cx="134549" cy="195707"/>
          </a:xfrm>
          <a:prstGeom prst="rect">
            <a:avLst/>
          </a:prstGeom>
        </p:spPr>
      </p:pic>
      <p:sp>
        <p:nvSpPr>
          <p:cNvPr id="49" name="TextBox 48"/>
          <p:cNvSpPr txBox="1"/>
          <p:nvPr/>
        </p:nvSpPr>
        <p:spPr>
          <a:xfrm>
            <a:off x="4409377" y="4972050"/>
            <a:ext cx="822709" cy="194310"/>
          </a:xfrm>
          <a:prstGeom prst="rect">
            <a:avLst/>
          </a:prstGeom>
          <a:noFill/>
        </p:spPr>
        <p:txBody>
          <a:bodyPr wrap="none" lIns="0" rIns="0" tIns="0" bIns="0">
            <a:spAutoFit/>
          </a:bodyPr>
          <a:lstStyle/>
          <a:p>
            <a:r>
              <a:rPr sz="1150" b="0">
                <a:solidFill>
                  <a:srgbClr val="2E2E2E"/>
                </a:solidFill>
                <a:latin typeface="Calibri"/>
              </a:rPr>
              <a:t>× expansion.</a:t>
            </a:r>
          </a:p>
        </p:txBody>
      </p:sp>
      <p:sp>
        <p:nvSpPr>
          <p:cNvPr id="50" name="TextBox 49"/>
          <p:cNvSpPr txBox="1"/>
          <p:nvPr/>
        </p:nvSpPr>
        <p:spPr>
          <a:xfrm>
            <a:off x="276225" y="5199888"/>
            <a:ext cx="6344369" cy="194310"/>
          </a:xfrm>
          <a:prstGeom prst="rect">
            <a:avLst/>
          </a:prstGeom>
          <a:noFill/>
        </p:spPr>
        <p:txBody>
          <a:bodyPr wrap="none" lIns="0" rIns="0" tIns="0" bIns="0">
            <a:spAutoFit/>
          </a:bodyPr>
          <a:lstStyle/>
          <a:p>
            <a:r>
              <a:rPr sz="1150" b="0">
                <a:solidFill>
                  <a:srgbClr val="2E2E2E"/>
                </a:solidFill>
                <a:latin typeface="Calibri"/>
              </a:rPr>
              <a:t>▪ Concentrate resources on the leading segment/country while seeding the fastest-growing pockets early.</a:t>
            </a:r>
          </a:p>
        </p:txBody>
      </p:sp>
      <p:sp>
        <p:nvSpPr>
          <p:cNvPr id="51" name="TextBox 50"/>
          <p:cNvSpPr txBox="1"/>
          <p:nvPr/>
        </p:nvSpPr>
        <p:spPr>
          <a:xfrm>
            <a:off x="276225" y="5427725"/>
            <a:ext cx="5372509" cy="194310"/>
          </a:xfrm>
          <a:prstGeom prst="rect">
            <a:avLst/>
          </a:prstGeom>
          <a:noFill/>
        </p:spPr>
        <p:txBody>
          <a:bodyPr wrap="none" lIns="0" rIns="0" tIns="0" bIns="0">
            <a:spAutoFit/>
          </a:bodyPr>
          <a:lstStyle/>
          <a:p>
            <a:r>
              <a:rPr sz="1150" b="0">
                <a:solidFill>
                  <a:srgbClr val="2E2E2E"/>
                </a:solidFill>
                <a:latin typeface="Calibri"/>
              </a:rPr>
              <a:t>▪ Defend share in 'Irrigation Devices and Accessories' as the value anchor of the portfolio.</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1" name="Rounded Rectangle 10"/>
          <p:cNvSpPr/>
          <p:nvPr/>
        </p:nvSpPr>
        <p:spPr>
          <a:xfrm>
            <a:off x="4238625"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2" name="Rounded Rectangle 11"/>
          <p:cNvSpPr/>
          <p:nvPr/>
        </p:nvSpPr>
        <p:spPr>
          <a:xfrm>
            <a:off x="8210550"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3" name="Rounded Rectangle 12"/>
          <p:cNvSpPr/>
          <p:nvPr/>
        </p:nvSpPr>
        <p:spPr>
          <a:xfrm>
            <a:off x="142875"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Ear Wax Removal Products Market Value (US$ Mn) Scenario Forecast, 2025 &amp; 2036</a:t>
            </a:r>
          </a:p>
        </p:txBody>
      </p:sp>
      <p:cxnSp>
        <p:nvCxnSpPr>
          <p:cNvPr id="15" name="Connector 14"/>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493893"/>
            <a:ext cx="635826" cy="811407"/>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3936" y="3127245"/>
            <a:ext cx="635826" cy="1178055"/>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5725" y="2975017"/>
            <a:ext cx="635826" cy="1330283"/>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07515" y="2805113"/>
            <a:ext cx="635826" cy="1500187"/>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56468" y="2993895"/>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889120"/>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2" name="Connector 21"/>
          <p:cNvCxnSpPr/>
          <p:nvPr/>
        </p:nvCxnSpPr>
        <p:spPr>
          <a:xfrm>
            <a:off x="1456468" y="2736720"/>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631945"/>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4" name="Connector 23"/>
          <p:cNvCxnSpPr/>
          <p:nvPr/>
        </p:nvCxnSpPr>
        <p:spPr>
          <a:xfrm>
            <a:off x="1456468" y="2479545"/>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374770"/>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6" name="TextBox 25"/>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7" name="TextBox 26"/>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8" name="Oval 27"/>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32" name="Oval 31"/>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7450"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Ear Wax Removal Products Market Attractiveness Analysis By Region, 2026–2036</a:t>
            </a:r>
          </a:p>
        </p:txBody>
      </p:sp>
      <p:graphicFrame>
        <p:nvGraphicFramePr>
          <p:cNvPr id="36" name="Chart 35"/>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r:id="rId3"/>
          </a:graphicData>
        </a:graphic>
      </p:graphicFrame>
      <p:sp>
        <p:nvSpPr>
          <p:cNvPr id="37" name="Rounded Rectangle 36"/>
          <p:cNvSpPr/>
          <p:nvPr/>
        </p:nvSpPr>
        <p:spPr>
          <a:xfrm>
            <a:off x="142875" y="4953000"/>
            <a:ext cx="11906250"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2768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2035969" y="1214437"/>
            <a:ext cx="157162" cy="228600"/>
          </a:xfrm>
          <a:prstGeom prst="rect">
            <a:avLst/>
          </a:prstGeom>
        </p:spPr>
      </p:pic>
      <p:pic>
        <p:nvPicPr>
          <p:cNvPr id="43" name="Picture 42" descr="lock.png"/>
          <p:cNvPicPr>
            <a:picLocks noChangeAspect="1"/>
          </p:cNvPicPr>
          <p:nvPr/>
        </p:nvPicPr>
        <p:blipFill>
          <a:blip r:embed="rId5"/>
          <a:stretch>
            <a:fillRect/>
          </a:stretch>
        </p:blipFill>
        <p:spPr>
          <a:xfrm>
            <a:off x="6069806" y="1214437"/>
            <a:ext cx="157162" cy="228600"/>
          </a:xfrm>
          <a:prstGeom prst="rect">
            <a:avLst/>
          </a:prstGeom>
        </p:spPr>
      </p:pic>
      <p:pic>
        <p:nvPicPr>
          <p:cNvPr id="44" name="Picture 43" descr="lock.png"/>
          <p:cNvPicPr>
            <a:picLocks noChangeAspect="1"/>
          </p:cNvPicPr>
          <p:nvPr/>
        </p:nvPicPr>
        <p:blipFill>
          <a:blip r:embed="rId5"/>
          <a:stretch>
            <a:fillRect/>
          </a:stretch>
        </p:blipFill>
        <p:spPr>
          <a:xfrm>
            <a:off x="10041731" y="1214437"/>
            <a:ext cx="157162" cy="228600"/>
          </a:xfrm>
          <a:prstGeom prst="rect">
            <a:avLst/>
          </a:prstGeom>
        </p:spPr>
      </p:pic>
      <p:sp>
        <p:nvSpPr>
          <p:cNvPr id="45" name="TextBox 44"/>
          <p:cNvSpPr txBox="1"/>
          <p:nvPr/>
        </p:nvSpPr>
        <p:spPr>
          <a:xfrm>
            <a:off x="1637332" y="1028326"/>
            <a:ext cx="1030634" cy="166573"/>
          </a:xfrm>
          <a:prstGeom prst="rect">
            <a:avLst/>
          </a:prstGeom>
          <a:noFill/>
        </p:spPr>
        <p:txBody>
          <a:bodyPr wrap="none" lIns="0" rIns="0" tIns="0" bIns="0">
            <a:spAutoFit/>
          </a:bodyPr>
          <a:lstStyle/>
          <a:p>
            <a:r>
              <a:rPr sz="968" b="1">
                <a:solidFill>
                  <a:srgbClr val="6C7A89"/>
                </a:solidFill>
                <a:latin typeface="Calibri"/>
              </a:rPr>
              <a:t>OPTIMISTIC (2036)</a:t>
            </a:r>
          </a:p>
        </p:txBody>
      </p:sp>
      <p:sp>
        <p:nvSpPr>
          <p:cNvPr id="46" name="TextBox 45"/>
          <p:cNvSpPr txBox="1"/>
          <p:nvPr/>
        </p:nvSpPr>
        <p:spPr>
          <a:xfrm>
            <a:off x="1906321"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7" name="Picture 46" descr="lock.png"/>
          <p:cNvPicPr>
            <a:picLocks noChangeAspect="1"/>
          </p:cNvPicPr>
          <p:nvPr/>
        </p:nvPicPr>
        <p:blipFill>
          <a:blip r:embed="rId5"/>
          <a:stretch>
            <a:fillRect/>
          </a:stretch>
        </p:blipFill>
        <p:spPr>
          <a:xfrm>
            <a:off x="2208575" y="1473019"/>
            <a:ext cx="113255" cy="164734"/>
          </a:xfrm>
          <a:prstGeom prst="rect">
            <a:avLst/>
          </a:prstGeom>
        </p:spPr>
      </p:pic>
      <p:sp>
        <p:nvSpPr>
          <p:cNvPr id="48" name="TextBox 47"/>
          <p:cNvSpPr txBox="1"/>
          <p:nvPr/>
        </p:nvSpPr>
        <p:spPr>
          <a:xfrm>
            <a:off x="5807156" y="1028326"/>
            <a:ext cx="758662" cy="166573"/>
          </a:xfrm>
          <a:prstGeom prst="rect">
            <a:avLst/>
          </a:prstGeom>
          <a:noFill/>
        </p:spPr>
        <p:txBody>
          <a:bodyPr wrap="none" lIns="0" rIns="0" tIns="0" bIns="0">
            <a:spAutoFit/>
          </a:bodyPr>
          <a:lstStyle/>
          <a:p>
            <a:r>
              <a:rPr sz="968" b="1">
                <a:solidFill>
                  <a:srgbClr val="6C7A89"/>
                </a:solidFill>
                <a:latin typeface="Calibri"/>
              </a:rPr>
              <a:t>LIKELY (2036)</a:t>
            </a:r>
          </a:p>
        </p:txBody>
      </p:sp>
      <p:sp>
        <p:nvSpPr>
          <p:cNvPr id="49" name="TextBox 48"/>
          <p:cNvSpPr txBox="1"/>
          <p:nvPr/>
        </p:nvSpPr>
        <p:spPr>
          <a:xfrm>
            <a:off x="5940158"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0" name="Picture 49" descr="lock.png"/>
          <p:cNvPicPr>
            <a:picLocks noChangeAspect="1"/>
          </p:cNvPicPr>
          <p:nvPr/>
        </p:nvPicPr>
        <p:blipFill>
          <a:blip r:embed="rId5"/>
          <a:stretch>
            <a:fillRect/>
          </a:stretch>
        </p:blipFill>
        <p:spPr>
          <a:xfrm>
            <a:off x="6242412" y="1473019"/>
            <a:ext cx="113255" cy="164734"/>
          </a:xfrm>
          <a:prstGeom prst="rect">
            <a:avLst/>
          </a:prstGeom>
        </p:spPr>
      </p:pic>
      <p:sp>
        <p:nvSpPr>
          <p:cNvPr id="51" name="TextBox 50"/>
          <p:cNvSpPr txBox="1"/>
          <p:nvPr/>
        </p:nvSpPr>
        <p:spPr>
          <a:xfrm>
            <a:off x="9548094" y="1028326"/>
            <a:ext cx="1220636" cy="166573"/>
          </a:xfrm>
          <a:prstGeom prst="rect">
            <a:avLst/>
          </a:prstGeom>
          <a:noFill/>
        </p:spPr>
        <p:txBody>
          <a:bodyPr wrap="none" lIns="0" rIns="0" tIns="0" bIns="0">
            <a:spAutoFit/>
          </a:bodyPr>
          <a:lstStyle/>
          <a:p>
            <a:r>
              <a:rPr sz="968" b="1">
                <a:solidFill>
                  <a:srgbClr val="6C7A89"/>
                </a:solidFill>
                <a:latin typeface="Calibri"/>
              </a:rPr>
              <a:t>CONSERVATIVE (2036)</a:t>
            </a:r>
          </a:p>
        </p:txBody>
      </p:sp>
      <p:sp>
        <p:nvSpPr>
          <p:cNvPr id="52" name="TextBox 51"/>
          <p:cNvSpPr txBox="1"/>
          <p:nvPr/>
        </p:nvSpPr>
        <p:spPr>
          <a:xfrm>
            <a:off x="9912083"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3" name="Picture 52" descr="lock.png"/>
          <p:cNvPicPr>
            <a:picLocks noChangeAspect="1"/>
          </p:cNvPicPr>
          <p:nvPr/>
        </p:nvPicPr>
        <p:blipFill>
          <a:blip r:embed="rId5"/>
          <a:stretch>
            <a:fillRect/>
          </a:stretch>
        </p:blipFill>
        <p:spPr>
          <a:xfrm>
            <a:off x="10214337" y="1473019"/>
            <a:ext cx="113255" cy="164734"/>
          </a:xfrm>
          <a:prstGeom prst="rect">
            <a:avLst/>
          </a:prstGeom>
        </p:spPr>
      </p:pic>
      <p:sp>
        <p:nvSpPr>
          <p:cNvPr id="54" name="TextBox 53"/>
          <p:cNvSpPr txBox="1"/>
          <p:nvPr/>
        </p:nvSpPr>
        <p:spPr>
          <a:xfrm>
            <a:off x="2032418" y="2923486"/>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915271"/>
            <a:ext cx="108107" cy="157246"/>
          </a:xfrm>
          <a:prstGeom prst="rect">
            <a:avLst/>
          </a:prstGeom>
        </p:spPr>
      </p:pic>
      <p:sp>
        <p:nvSpPr>
          <p:cNvPr id="56" name="TextBox 55"/>
          <p:cNvSpPr txBox="1"/>
          <p:nvPr/>
        </p:nvSpPr>
        <p:spPr>
          <a:xfrm>
            <a:off x="2032418" y="2666311"/>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658096"/>
            <a:ext cx="108107" cy="157246"/>
          </a:xfrm>
          <a:prstGeom prst="rect">
            <a:avLst/>
          </a:prstGeom>
        </p:spPr>
      </p:pic>
      <p:sp>
        <p:nvSpPr>
          <p:cNvPr id="58" name="TextBox 57"/>
          <p:cNvSpPr txBox="1"/>
          <p:nvPr/>
        </p:nvSpPr>
        <p:spPr>
          <a:xfrm>
            <a:off x="2032418" y="2409136"/>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9" name="Picture 58" descr="lock.png"/>
          <p:cNvPicPr>
            <a:picLocks noChangeAspect="1"/>
          </p:cNvPicPr>
          <p:nvPr/>
        </p:nvPicPr>
        <p:blipFill>
          <a:blip r:embed="rId5"/>
          <a:stretch>
            <a:fillRect/>
          </a:stretch>
        </p:blipFill>
        <p:spPr>
          <a:xfrm>
            <a:off x="2358973" y="2400921"/>
            <a:ext cx="108107" cy="157246"/>
          </a:xfrm>
          <a:prstGeom prst="rect">
            <a:avLst/>
          </a:prstGeom>
        </p:spPr>
      </p:pic>
      <p:sp>
        <p:nvSpPr>
          <p:cNvPr id="60" name="TextBox 59"/>
          <p:cNvSpPr txBox="1"/>
          <p:nvPr/>
        </p:nvSpPr>
        <p:spPr>
          <a:xfrm>
            <a:off x="276225" y="5372100"/>
            <a:ext cx="808161" cy="194310"/>
          </a:xfrm>
          <a:prstGeom prst="rect">
            <a:avLst/>
          </a:prstGeom>
          <a:noFill/>
        </p:spPr>
        <p:txBody>
          <a:bodyPr wrap="none" lIns="0" rIns="0" tIns="0" bIns="0">
            <a:spAutoFit/>
          </a:bodyPr>
          <a:lstStyle/>
          <a:p>
            <a:r>
              <a:rPr sz="1150" b="0">
                <a:solidFill>
                  <a:srgbClr val="2E2E2E"/>
                </a:solidFill>
                <a:latin typeface="Calibri"/>
              </a:rPr>
              <a:t>▪ Optimistic:</a:t>
            </a:r>
          </a:p>
        </p:txBody>
      </p:sp>
      <p:pic>
        <p:nvPicPr>
          <p:cNvPr id="61" name="Picture 60" descr="lock.png"/>
          <p:cNvPicPr>
            <a:picLocks noChangeAspect="1"/>
          </p:cNvPicPr>
          <p:nvPr/>
        </p:nvPicPr>
        <p:blipFill>
          <a:blip r:embed="rId5"/>
          <a:stretch>
            <a:fillRect/>
          </a:stretch>
        </p:blipFill>
        <p:spPr>
          <a:xfrm>
            <a:off x="1033540" y="5361876"/>
            <a:ext cx="134549" cy="195707"/>
          </a:xfrm>
          <a:prstGeom prst="rect">
            <a:avLst/>
          </a:prstGeom>
        </p:spPr>
      </p:pic>
      <p:sp>
        <p:nvSpPr>
          <p:cNvPr id="62" name="TextBox 61"/>
          <p:cNvSpPr txBox="1"/>
          <p:nvPr/>
        </p:nvSpPr>
        <p:spPr>
          <a:xfrm>
            <a:off x="1208649" y="537210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3" name="Picture 62" descr="lock.png"/>
          <p:cNvPicPr>
            <a:picLocks noChangeAspect="1"/>
          </p:cNvPicPr>
          <p:nvPr/>
        </p:nvPicPr>
        <p:blipFill>
          <a:blip r:embed="rId5"/>
          <a:stretch>
            <a:fillRect/>
          </a:stretch>
        </p:blipFill>
        <p:spPr>
          <a:xfrm>
            <a:off x="2361612" y="5361876"/>
            <a:ext cx="134549" cy="195707"/>
          </a:xfrm>
          <a:prstGeom prst="rect">
            <a:avLst/>
          </a:prstGeom>
        </p:spPr>
      </p:pic>
      <p:sp>
        <p:nvSpPr>
          <p:cNvPr id="64" name="TextBox 63"/>
          <p:cNvSpPr txBox="1"/>
          <p:nvPr/>
        </p:nvSpPr>
        <p:spPr>
          <a:xfrm>
            <a:off x="2536721" y="537210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5" name="TextBox 64"/>
          <p:cNvSpPr txBox="1"/>
          <p:nvPr/>
        </p:nvSpPr>
        <p:spPr>
          <a:xfrm>
            <a:off x="276225" y="5599938"/>
            <a:ext cx="1448271" cy="194310"/>
          </a:xfrm>
          <a:prstGeom prst="rect">
            <a:avLst/>
          </a:prstGeom>
          <a:noFill/>
        </p:spPr>
        <p:txBody>
          <a:bodyPr wrap="none" lIns="0" rIns="0" tIns="0" bIns="0">
            <a:spAutoFit/>
          </a:bodyPr>
          <a:lstStyle/>
          <a:p>
            <a:r>
              <a:rPr sz="1150" b="0">
                <a:solidFill>
                  <a:srgbClr val="2E2E2E"/>
                </a:solidFill>
                <a:latin typeface="Calibri"/>
              </a:rPr>
              <a:t>▪ Likely (base forecast):</a:t>
            </a:r>
          </a:p>
        </p:txBody>
      </p:sp>
      <p:pic>
        <p:nvPicPr>
          <p:cNvPr id="66" name="Picture 65" descr="lock.png"/>
          <p:cNvPicPr>
            <a:picLocks noChangeAspect="1"/>
          </p:cNvPicPr>
          <p:nvPr/>
        </p:nvPicPr>
        <p:blipFill>
          <a:blip r:embed="rId5"/>
          <a:stretch>
            <a:fillRect/>
          </a:stretch>
        </p:blipFill>
        <p:spPr>
          <a:xfrm>
            <a:off x="1673650" y="5589714"/>
            <a:ext cx="134549" cy="195707"/>
          </a:xfrm>
          <a:prstGeom prst="rect">
            <a:avLst/>
          </a:prstGeom>
        </p:spPr>
      </p:pic>
      <p:sp>
        <p:nvSpPr>
          <p:cNvPr id="67" name="TextBox 66"/>
          <p:cNvSpPr txBox="1"/>
          <p:nvPr/>
        </p:nvSpPr>
        <p:spPr>
          <a:xfrm>
            <a:off x="1848759" y="5599938"/>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68" name="Picture 67" descr="lock.png"/>
          <p:cNvPicPr>
            <a:picLocks noChangeAspect="1"/>
          </p:cNvPicPr>
          <p:nvPr/>
        </p:nvPicPr>
        <p:blipFill>
          <a:blip r:embed="rId5"/>
          <a:stretch>
            <a:fillRect/>
          </a:stretch>
        </p:blipFill>
        <p:spPr>
          <a:xfrm>
            <a:off x="2495966" y="5589714"/>
            <a:ext cx="134549" cy="195707"/>
          </a:xfrm>
          <a:prstGeom prst="rect">
            <a:avLst/>
          </a:prstGeom>
        </p:spPr>
      </p:pic>
      <p:sp>
        <p:nvSpPr>
          <p:cNvPr id="69" name="TextBox 68"/>
          <p:cNvSpPr txBox="1"/>
          <p:nvPr/>
        </p:nvSpPr>
        <p:spPr>
          <a:xfrm>
            <a:off x="2671076" y="559993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0" name="TextBox 69"/>
          <p:cNvSpPr txBox="1"/>
          <p:nvPr/>
        </p:nvSpPr>
        <p:spPr>
          <a:xfrm>
            <a:off x="276225" y="5827775"/>
            <a:ext cx="969615" cy="194310"/>
          </a:xfrm>
          <a:prstGeom prst="rect">
            <a:avLst/>
          </a:prstGeom>
          <a:noFill/>
        </p:spPr>
        <p:txBody>
          <a:bodyPr wrap="none" lIns="0" rIns="0" tIns="0" bIns="0">
            <a:spAutoFit/>
          </a:bodyPr>
          <a:lstStyle/>
          <a:p>
            <a:r>
              <a:rPr sz="1150" b="0">
                <a:solidFill>
                  <a:srgbClr val="2E2E2E"/>
                </a:solidFill>
                <a:latin typeface="Calibri"/>
              </a:rPr>
              <a:t>▪ Conservative:</a:t>
            </a:r>
          </a:p>
        </p:txBody>
      </p:sp>
      <p:pic>
        <p:nvPicPr>
          <p:cNvPr id="71" name="Picture 70" descr="lock.png"/>
          <p:cNvPicPr>
            <a:picLocks noChangeAspect="1"/>
          </p:cNvPicPr>
          <p:nvPr/>
        </p:nvPicPr>
        <p:blipFill>
          <a:blip r:embed="rId5"/>
          <a:stretch>
            <a:fillRect/>
          </a:stretch>
        </p:blipFill>
        <p:spPr>
          <a:xfrm>
            <a:off x="1194994" y="5817552"/>
            <a:ext cx="134549" cy="195707"/>
          </a:xfrm>
          <a:prstGeom prst="rect">
            <a:avLst/>
          </a:prstGeom>
        </p:spPr>
      </p:pic>
      <p:sp>
        <p:nvSpPr>
          <p:cNvPr id="72" name="TextBox 71"/>
          <p:cNvSpPr txBox="1"/>
          <p:nvPr/>
        </p:nvSpPr>
        <p:spPr>
          <a:xfrm>
            <a:off x="1370103" y="5827775"/>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73" name="Picture 72" descr="lock.png"/>
          <p:cNvPicPr>
            <a:picLocks noChangeAspect="1"/>
          </p:cNvPicPr>
          <p:nvPr/>
        </p:nvPicPr>
        <p:blipFill>
          <a:blip r:embed="rId5"/>
          <a:stretch>
            <a:fillRect/>
          </a:stretch>
        </p:blipFill>
        <p:spPr>
          <a:xfrm>
            <a:off x="2017310" y="5817552"/>
            <a:ext cx="134549" cy="195707"/>
          </a:xfrm>
          <a:prstGeom prst="rect">
            <a:avLst/>
          </a:prstGeom>
        </p:spPr>
      </p:pic>
      <p:sp>
        <p:nvSpPr>
          <p:cNvPr id="74" name="TextBox 73"/>
          <p:cNvSpPr txBox="1"/>
          <p:nvPr/>
        </p:nvSpPr>
        <p:spPr>
          <a:xfrm>
            <a:off x="2192420" y="58277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5" name="TextBox 74"/>
          <p:cNvSpPr txBox="1"/>
          <p:nvPr/>
        </p:nvSpPr>
        <p:spPr>
          <a:xfrm>
            <a:off x="276225" y="6055613"/>
            <a:ext cx="3660130"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a:t>
            </a:r>
          </a:p>
        </p:txBody>
      </p:sp>
      <p:pic>
        <p:nvPicPr>
          <p:cNvPr id="76" name="Picture 75" descr="lock.png"/>
          <p:cNvPicPr>
            <a:picLocks noChangeAspect="1"/>
          </p:cNvPicPr>
          <p:nvPr/>
        </p:nvPicPr>
        <p:blipFill>
          <a:blip r:embed="rId5"/>
          <a:stretch>
            <a:fillRect/>
          </a:stretch>
        </p:blipFill>
        <p:spPr>
          <a:xfrm>
            <a:off x="3885509" y="6045390"/>
            <a:ext cx="134549" cy="195707"/>
          </a:xfrm>
          <a:prstGeom prst="rect">
            <a:avLst/>
          </a:prstGeom>
        </p:spPr>
      </p:pic>
      <p:sp>
        <p:nvSpPr>
          <p:cNvPr id="77" name="TextBox 76"/>
          <p:cNvSpPr txBox="1"/>
          <p:nvPr/>
        </p:nvSpPr>
        <p:spPr>
          <a:xfrm>
            <a:off x="4060618" y="6055613"/>
            <a:ext cx="1900683" cy="194310"/>
          </a:xfrm>
          <a:prstGeom prst="rect">
            <a:avLst/>
          </a:prstGeom>
          <a:noFill/>
        </p:spPr>
        <p:txBody>
          <a:bodyPr wrap="none" lIns="0" rIns="0" tIns="0" bIns="0">
            <a:spAutoFit/>
          </a:bodyPr>
          <a:lstStyle/>
          <a:p>
            <a:r>
              <a:rPr sz="1150" b="0">
                <a:solidFill>
                  <a:srgbClr val="2E2E2E"/>
                </a:solidFill>
                <a:latin typeface="Calibri"/>
              </a:rPr>
              <a:t>across the 2026–2036 horizon.</a:t>
            </a:r>
          </a:p>
        </p:txBody>
      </p:sp>
      <p:sp>
        <p:nvSpPr>
          <p:cNvPr id="78" name="lockshield_36"/>
          <p:cNvSpPr/>
          <p:nvPr/>
        </p:nvSpPr>
        <p:spPr>
          <a:xfrm>
            <a:off x="6267450" y="2266950"/>
            <a:ext cx="5686425" cy="2495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North America Market Analysis By Country</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North America Ear Wax Removal Products – Country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Country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Ear Wax Removal Products – Country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2 countries, highlighting where value concentrates,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Country view breaks the North America market down geographically. Each country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Country</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U.S.</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Canada</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Country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Country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Country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lock.png"/>
          <p:cNvPicPr>
            <a:picLocks noChangeAspect="1"/>
          </p:cNvPicPr>
          <p:nvPr/>
        </p:nvPicPr>
        <p:blipFill>
          <a:blip r:embed="rId4"/>
          <a:stretch>
            <a:fillRect/>
          </a:stretch>
        </p:blipFill>
        <p:spPr>
          <a:xfrm>
            <a:off x="4250888" y="2339922"/>
            <a:ext cx="175498" cy="255270"/>
          </a:xfrm>
          <a:prstGeom prst="rect">
            <a:avLst/>
          </a:prstGeom>
        </p:spPr>
      </p:pic>
      <p:pic>
        <p:nvPicPr>
          <p:cNvPr id="50" name="Picture 49" descr="lock.png"/>
          <p:cNvPicPr>
            <a:picLocks noChangeAspect="1"/>
          </p:cNvPicPr>
          <p:nvPr/>
        </p:nvPicPr>
        <p:blipFill>
          <a:blip r:embed="rId4"/>
          <a:stretch>
            <a:fillRect/>
          </a:stretch>
        </p:blipFill>
        <p:spPr>
          <a:xfrm>
            <a:off x="4250888" y="2832772"/>
            <a:ext cx="175498" cy="255270"/>
          </a:xfrm>
          <a:prstGeom prst="rect">
            <a:avLst/>
          </a:prstGeom>
        </p:spPr>
      </p:pic>
      <p:pic>
        <p:nvPicPr>
          <p:cNvPr id="51" name="Picture 50" descr="lock.png"/>
          <p:cNvPicPr>
            <a:picLocks noChangeAspect="1"/>
          </p:cNvPicPr>
          <p:nvPr/>
        </p:nvPicPr>
        <p:blipFill>
          <a:blip r:embed="rId4"/>
          <a:stretch>
            <a:fillRect/>
          </a:stretch>
        </p:blipFill>
        <p:spPr>
          <a:xfrm>
            <a:off x="4250888" y="3325622"/>
            <a:ext cx="175498" cy="255270"/>
          </a:xfrm>
          <a:prstGeom prst="rect">
            <a:avLst/>
          </a:prstGeom>
        </p:spPr>
      </p:pic>
      <p:pic>
        <p:nvPicPr>
          <p:cNvPr id="52" name="Picture 51" descr="lock.png"/>
          <p:cNvPicPr>
            <a:picLocks noChangeAspect="1"/>
          </p:cNvPicPr>
          <p:nvPr/>
        </p:nvPicPr>
        <p:blipFill>
          <a:blip r:embed="rId4"/>
          <a:stretch>
            <a:fillRect/>
          </a:stretch>
        </p:blipFill>
        <p:spPr>
          <a:xfrm>
            <a:off x="9308663" y="2339922"/>
            <a:ext cx="175498" cy="255270"/>
          </a:xfrm>
          <a:prstGeom prst="rect">
            <a:avLst/>
          </a:prstGeom>
        </p:spPr>
      </p:pic>
      <p:pic>
        <p:nvPicPr>
          <p:cNvPr id="53" name="Picture 52" descr="lock.png"/>
          <p:cNvPicPr>
            <a:picLocks noChangeAspect="1"/>
          </p:cNvPicPr>
          <p:nvPr/>
        </p:nvPicPr>
        <p:blipFill>
          <a:blip r:embed="rId4"/>
          <a:stretch>
            <a:fillRect/>
          </a:stretch>
        </p:blipFill>
        <p:spPr>
          <a:xfrm>
            <a:off x="9308663" y="2832772"/>
            <a:ext cx="175498" cy="255270"/>
          </a:xfrm>
          <a:prstGeom prst="rect">
            <a:avLst/>
          </a:prstGeom>
        </p:spPr>
      </p:pic>
      <p:pic>
        <p:nvPicPr>
          <p:cNvPr id="54" name="Picture 53" descr="lock.png"/>
          <p:cNvPicPr>
            <a:picLocks noChangeAspect="1"/>
          </p:cNvPicPr>
          <p:nvPr/>
        </p:nvPicPr>
        <p:blipFill>
          <a:blip r:embed="rId4"/>
          <a:stretch>
            <a:fillRect/>
          </a:stretch>
        </p:blipFill>
        <p:spPr>
          <a:xfrm>
            <a:off x="9308663" y="3325622"/>
            <a:ext cx="175498" cy="255270"/>
          </a:xfrm>
          <a:prstGeom prst="rect">
            <a:avLst/>
          </a:prstGeom>
        </p:spPr>
      </p:pic>
      <p:sp>
        <p:nvSpPr>
          <p:cNvPr id="55" name="TextBox 54"/>
          <p:cNvSpPr txBox="1"/>
          <p:nvPr/>
        </p:nvSpPr>
        <p:spPr>
          <a:xfrm>
            <a:off x="485775" y="4229437"/>
            <a:ext cx="2609081" cy="186689"/>
          </a:xfrm>
          <a:prstGeom prst="rect">
            <a:avLst/>
          </a:prstGeom>
          <a:noFill/>
        </p:spPr>
        <p:txBody>
          <a:bodyPr wrap="none" lIns="0" rIns="0" tIns="0" bIns="0">
            <a:spAutoFit/>
          </a:bodyPr>
          <a:lstStyle/>
          <a:p>
            <a:r>
              <a:rPr sz="1100" b="0">
                <a:solidFill>
                  <a:srgbClr val="2E2E2E"/>
                </a:solidFill>
                <a:latin typeface="Calibri"/>
              </a:rPr>
              <a:t>The U.S. ear wax removal products market is</a:t>
            </a:r>
          </a:p>
        </p:txBody>
      </p:sp>
      <p:sp>
        <p:nvSpPr>
          <p:cNvPr id="56" name="TextBox 55"/>
          <p:cNvSpPr txBox="1"/>
          <p:nvPr/>
        </p:nvSpPr>
        <p:spPr>
          <a:xfrm>
            <a:off x="485775" y="4397077"/>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57" name="Picture 56" descr="lock.png"/>
          <p:cNvPicPr>
            <a:picLocks noChangeAspect="1"/>
          </p:cNvPicPr>
          <p:nvPr/>
        </p:nvPicPr>
        <p:blipFill>
          <a:blip r:embed="rId4"/>
          <a:stretch>
            <a:fillRect/>
          </a:stretch>
        </p:blipFill>
        <p:spPr>
          <a:xfrm>
            <a:off x="1678376" y="4387298"/>
            <a:ext cx="128699" cy="187198"/>
          </a:xfrm>
          <a:prstGeom prst="rect">
            <a:avLst/>
          </a:prstGeom>
        </p:spPr>
      </p:pic>
      <p:sp>
        <p:nvSpPr>
          <p:cNvPr id="58" name="TextBox 57"/>
          <p:cNvSpPr txBox="1"/>
          <p:nvPr/>
        </p:nvSpPr>
        <p:spPr>
          <a:xfrm>
            <a:off x="1845872" y="4397077"/>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59" name="TextBox 58"/>
          <p:cNvSpPr txBox="1"/>
          <p:nvPr/>
        </p:nvSpPr>
        <p:spPr>
          <a:xfrm>
            <a:off x="485775" y="4564717"/>
            <a:ext cx="2914650" cy="186689"/>
          </a:xfrm>
          <a:prstGeom prst="rect">
            <a:avLst/>
          </a:prstGeom>
          <a:noFill/>
        </p:spPr>
        <p:txBody>
          <a:bodyPr wrap="none" lIns="0" rIns="0" tIns="0" bIns="0">
            <a:spAutoFit/>
          </a:bodyPr>
          <a:lstStyle/>
          <a:p>
            <a:r>
              <a:rPr sz="1100" b="0">
                <a:solidFill>
                  <a:srgbClr val="2E2E2E"/>
                </a:solidFill>
                <a:latin typeface="Calibri"/>
              </a:rPr>
              <a:t>Canada in 2036. Among ear wax removal products</a:t>
            </a:r>
          </a:p>
        </p:txBody>
      </p:sp>
      <p:sp>
        <p:nvSpPr>
          <p:cNvPr id="60" name="TextBox 59"/>
          <p:cNvSpPr txBox="1"/>
          <p:nvPr/>
        </p:nvSpPr>
        <p:spPr>
          <a:xfrm>
            <a:off x="485775" y="4732357"/>
            <a:ext cx="2680568" cy="186689"/>
          </a:xfrm>
          <a:prstGeom prst="rect">
            <a:avLst/>
          </a:prstGeom>
          <a:noFill/>
        </p:spPr>
        <p:txBody>
          <a:bodyPr wrap="none" lIns="0" rIns="0" tIns="0" bIns="0">
            <a:spAutoFit/>
          </a:bodyPr>
          <a:lstStyle/>
          <a:p>
            <a:r>
              <a:rPr sz="1100" b="0">
                <a:solidFill>
                  <a:srgbClr val="2E2E2E"/>
                </a:solidFill>
                <a:latin typeface="Calibri"/>
              </a:rPr>
              <a:t>by country, Canada is expected to witness the</a:t>
            </a:r>
          </a:p>
        </p:txBody>
      </p:sp>
      <p:sp>
        <p:nvSpPr>
          <p:cNvPr id="61" name="TextBox 60"/>
          <p:cNvSpPr txBox="1"/>
          <p:nvPr/>
        </p:nvSpPr>
        <p:spPr>
          <a:xfrm>
            <a:off x="485775" y="4899997"/>
            <a:ext cx="990781" cy="186689"/>
          </a:xfrm>
          <a:prstGeom prst="rect">
            <a:avLst/>
          </a:prstGeom>
          <a:noFill/>
        </p:spPr>
        <p:txBody>
          <a:bodyPr wrap="none" lIns="0" rIns="0" tIns="0" bIns="0">
            <a:spAutoFit/>
          </a:bodyPr>
          <a:lstStyle/>
          <a:p>
            <a:r>
              <a:rPr sz="1100" b="0">
                <a:solidFill>
                  <a:srgbClr val="2E2E2E"/>
                </a:solidFill>
                <a:latin typeface="Calibri"/>
              </a:rPr>
              <a:t>highest CAGR of</a:t>
            </a:r>
          </a:p>
        </p:txBody>
      </p:sp>
      <p:pic>
        <p:nvPicPr>
          <p:cNvPr id="62" name="Picture 61" descr="lock.png"/>
          <p:cNvPicPr>
            <a:picLocks noChangeAspect="1"/>
          </p:cNvPicPr>
          <p:nvPr/>
        </p:nvPicPr>
        <p:blipFill>
          <a:blip r:embed="rId4"/>
          <a:stretch>
            <a:fillRect/>
          </a:stretch>
        </p:blipFill>
        <p:spPr>
          <a:xfrm>
            <a:off x="1424607" y="4890217"/>
            <a:ext cx="128699" cy="187198"/>
          </a:xfrm>
          <a:prstGeom prst="rect">
            <a:avLst/>
          </a:prstGeom>
        </p:spPr>
      </p:pic>
      <p:sp>
        <p:nvSpPr>
          <p:cNvPr id="63" name="TextBox 62"/>
          <p:cNvSpPr txBox="1"/>
          <p:nvPr/>
        </p:nvSpPr>
        <p:spPr>
          <a:xfrm>
            <a:off x="1592103" y="489999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64" name="TextBox 63"/>
          <p:cNvSpPr txBox="1"/>
          <p:nvPr/>
        </p:nvSpPr>
        <p:spPr>
          <a:xfrm>
            <a:off x="485775" y="5117929"/>
            <a:ext cx="2914650" cy="186689"/>
          </a:xfrm>
          <a:prstGeom prst="rect">
            <a:avLst/>
          </a:prstGeom>
          <a:noFill/>
        </p:spPr>
        <p:txBody>
          <a:bodyPr wrap="none" lIns="0" rIns="0" tIns="0" bIns="0">
            <a:spAutoFit/>
          </a:bodyPr>
          <a:lstStyle/>
          <a:p>
            <a:r>
              <a:rPr sz="1100" b="0">
                <a:solidFill>
                  <a:srgbClr val="2E2E2E"/>
                </a:solidFill>
                <a:latin typeface="Calibri"/>
              </a:rPr>
              <a:t>In terms of value share by country, U.S. is expected</a:t>
            </a:r>
          </a:p>
        </p:txBody>
      </p:sp>
      <p:sp>
        <p:nvSpPr>
          <p:cNvPr id="65" name="TextBox 64"/>
          <p:cNvSpPr txBox="1"/>
          <p:nvPr/>
        </p:nvSpPr>
        <p:spPr>
          <a:xfrm>
            <a:off x="485775" y="5285569"/>
            <a:ext cx="1835001" cy="186689"/>
          </a:xfrm>
          <a:prstGeom prst="rect">
            <a:avLst/>
          </a:prstGeom>
          <a:noFill/>
        </p:spPr>
        <p:txBody>
          <a:bodyPr wrap="none" lIns="0" rIns="0" tIns="0" bIns="0">
            <a:spAutoFit/>
          </a:bodyPr>
          <a:lstStyle/>
          <a:p>
            <a:r>
              <a:rPr sz="1100" b="0">
                <a:solidFill>
                  <a:srgbClr val="2E2E2E"/>
                </a:solidFill>
                <a:latin typeface="Calibri"/>
              </a:rPr>
              <a:t>to dominate the market, losing</a:t>
            </a:r>
          </a:p>
        </p:txBody>
      </p:sp>
      <p:pic>
        <p:nvPicPr>
          <p:cNvPr id="66" name="Picture 65" descr="lock.png"/>
          <p:cNvPicPr>
            <a:picLocks noChangeAspect="1"/>
          </p:cNvPicPr>
          <p:nvPr/>
        </p:nvPicPr>
        <p:blipFill>
          <a:blip r:embed="rId4"/>
          <a:stretch>
            <a:fillRect/>
          </a:stretch>
        </p:blipFill>
        <p:spPr>
          <a:xfrm>
            <a:off x="2268827" y="5275790"/>
            <a:ext cx="128699" cy="187198"/>
          </a:xfrm>
          <a:prstGeom prst="rect">
            <a:avLst/>
          </a:prstGeom>
        </p:spPr>
      </p:pic>
      <p:sp>
        <p:nvSpPr>
          <p:cNvPr id="67" name="TextBox 66"/>
          <p:cNvSpPr txBox="1"/>
          <p:nvPr/>
        </p:nvSpPr>
        <p:spPr>
          <a:xfrm>
            <a:off x="2436323" y="5285569"/>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68" name="TextBox 67"/>
          <p:cNvSpPr txBox="1"/>
          <p:nvPr/>
        </p:nvSpPr>
        <p:spPr>
          <a:xfrm>
            <a:off x="485775" y="5453209"/>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69" name="Picture 68" descr="lock.png"/>
          <p:cNvPicPr>
            <a:picLocks noChangeAspect="1"/>
          </p:cNvPicPr>
          <p:nvPr/>
        </p:nvPicPr>
        <p:blipFill>
          <a:blip r:embed="rId4"/>
          <a:stretch>
            <a:fillRect/>
          </a:stretch>
        </p:blipFill>
        <p:spPr>
          <a:xfrm>
            <a:off x="1330764" y="5443430"/>
            <a:ext cx="128699" cy="187198"/>
          </a:xfrm>
          <a:prstGeom prst="rect">
            <a:avLst/>
          </a:prstGeom>
        </p:spPr>
      </p:pic>
      <p:sp>
        <p:nvSpPr>
          <p:cNvPr id="70" name="TextBox 69"/>
          <p:cNvSpPr txBox="1"/>
          <p:nvPr/>
        </p:nvSpPr>
        <p:spPr>
          <a:xfrm>
            <a:off x="1498259" y="545320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71" name="TextBox 70"/>
          <p:cNvSpPr txBox="1"/>
          <p:nvPr/>
        </p:nvSpPr>
        <p:spPr>
          <a:xfrm>
            <a:off x="3838575" y="4229437"/>
            <a:ext cx="453826" cy="186689"/>
          </a:xfrm>
          <a:prstGeom prst="rect">
            <a:avLst/>
          </a:prstGeom>
          <a:noFill/>
        </p:spPr>
        <p:txBody>
          <a:bodyPr wrap="none" lIns="0" rIns="0" tIns="0" bIns="0">
            <a:spAutoFit/>
          </a:bodyPr>
          <a:lstStyle/>
          <a:p>
            <a:r>
              <a:rPr sz="1100" b="0">
                <a:solidFill>
                  <a:srgbClr val="2E2E2E"/>
                </a:solidFill>
                <a:latin typeface="Calibri"/>
              </a:rPr>
              <a:t>● U.S.:</a:t>
            </a:r>
          </a:p>
        </p:txBody>
      </p:sp>
      <p:pic>
        <p:nvPicPr>
          <p:cNvPr id="72" name="Picture 71" descr="lock.png"/>
          <p:cNvPicPr>
            <a:picLocks noChangeAspect="1"/>
          </p:cNvPicPr>
          <p:nvPr/>
        </p:nvPicPr>
        <p:blipFill>
          <a:blip r:embed="rId4"/>
          <a:stretch>
            <a:fillRect/>
          </a:stretch>
        </p:blipFill>
        <p:spPr>
          <a:xfrm>
            <a:off x="4240453" y="4219658"/>
            <a:ext cx="128699" cy="187198"/>
          </a:xfrm>
          <a:prstGeom prst="rect">
            <a:avLst/>
          </a:prstGeom>
        </p:spPr>
      </p:pic>
      <p:sp>
        <p:nvSpPr>
          <p:cNvPr id="73" name="TextBox 72"/>
          <p:cNvSpPr txBox="1"/>
          <p:nvPr/>
        </p:nvSpPr>
        <p:spPr>
          <a:xfrm>
            <a:off x="440794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4" name="Picture 73" descr="lock.png"/>
          <p:cNvPicPr>
            <a:picLocks noChangeAspect="1"/>
          </p:cNvPicPr>
          <p:nvPr/>
        </p:nvPicPr>
        <p:blipFill>
          <a:blip r:embed="rId4"/>
          <a:stretch>
            <a:fillRect/>
          </a:stretch>
        </p:blipFill>
        <p:spPr>
          <a:xfrm>
            <a:off x="5267399" y="4219658"/>
            <a:ext cx="128699" cy="187198"/>
          </a:xfrm>
          <a:prstGeom prst="rect">
            <a:avLst/>
          </a:prstGeom>
        </p:spPr>
      </p:pic>
      <p:sp>
        <p:nvSpPr>
          <p:cNvPr id="75" name="TextBox 74"/>
          <p:cNvSpPr txBox="1"/>
          <p:nvPr/>
        </p:nvSpPr>
        <p:spPr>
          <a:xfrm>
            <a:off x="543489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76" name="TextBox 75"/>
          <p:cNvSpPr txBox="1"/>
          <p:nvPr/>
        </p:nvSpPr>
        <p:spPr>
          <a:xfrm>
            <a:off x="3838575" y="4447369"/>
            <a:ext cx="651371" cy="186689"/>
          </a:xfrm>
          <a:prstGeom prst="rect">
            <a:avLst/>
          </a:prstGeom>
          <a:noFill/>
        </p:spPr>
        <p:txBody>
          <a:bodyPr wrap="none" lIns="0" rIns="0" tIns="0" bIns="0">
            <a:spAutoFit/>
          </a:bodyPr>
          <a:lstStyle/>
          <a:p>
            <a:r>
              <a:rPr sz="1100" b="0">
                <a:solidFill>
                  <a:srgbClr val="2E2E2E"/>
                </a:solidFill>
                <a:latin typeface="Calibri"/>
              </a:rPr>
              <a:t>● Canada:</a:t>
            </a:r>
          </a:p>
        </p:txBody>
      </p:sp>
      <p:pic>
        <p:nvPicPr>
          <p:cNvPr id="77" name="Picture 76" descr="lock.png"/>
          <p:cNvPicPr>
            <a:picLocks noChangeAspect="1"/>
          </p:cNvPicPr>
          <p:nvPr/>
        </p:nvPicPr>
        <p:blipFill>
          <a:blip r:embed="rId4"/>
          <a:stretch>
            <a:fillRect/>
          </a:stretch>
        </p:blipFill>
        <p:spPr>
          <a:xfrm>
            <a:off x="4437997" y="4437590"/>
            <a:ext cx="128699" cy="187198"/>
          </a:xfrm>
          <a:prstGeom prst="rect">
            <a:avLst/>
          </a:prstGeom>
        </p:spPr>
      </p:pic>
      <p:sp>
        <p:nvSpPr>
          <p:cNvPr id="78" name="TextBox 77"/>
          <p:cNvSpPr txBox="1"/>
          <p:nvPr/>
        </p:nvSpPr>
        <p:spPr>
          <a:xfrm>
            <a:off x="460549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9" name="Picture 78" descr="lock.png"/>
          <p:cNvPicPr>
            <a:picLocks noChangeAspect="1"/>
          </p:cNvPicPr>
          <p:nvPr/>
        </p:nvPicPr>
        <p:blipFill>
          <a:blip r:embed="rId4"/>
          <a:stretch>
            <a:fillRect/>
          </a:stretch>
        </p:blipFill>
        <p:spPr>
          <a:xfrm>
            <a:off x="5464943" y="4437590"/>
            <a:ext cx="128699" cy="187198"/>
          </a:xfrm>
          <a:prstGeom prst="rect">
            <a:avLst/>
          </a:prstGeom>
        </p:spPr>
      </p:pic>
      <p:sp>
        <p:nvSpPr>
          <p:cNvPr id="80" name="TextBox 79"/>
          <p:cNvSpPr txBox="1"/>
          <p:nvPr/>
        </p:nvSpPr>
        <p:spPr>
          <a:xfrm>
            <a:off x="5632439"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81" name="TextBox 80"/>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North America market is projected to grow at a</a:t>
            </a:r>
          </a:p>
        </p:txBody>
      </p:sp>
      <p:sp>
        <p:nvSpPr>
          <p:cNvPr id="82" name="TextBox 81"/>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83" name="Picture 82" descr="lock.png"/>
          <p:cNvPicPr>
            <a:picLocks noChangeAspect="1"/>
          </p:cNvPicPr>
          <p:nvPr/>
        </p:nvPicPr>
        <p:blipFill>
          <a:blip r:embed="rId4"/>
          <a:stretch>
            <a:fillRect/>
          </a:stretch>
        </p:blipFill>
        <p:spPr>
          <a:xfrm>
            <a:off x="9048826" y="6007677"/>
            <a:ext cx="134549" cy="195707"/>
          </a:xfrm>
          <a:prstGeom prst="rect">
            <a:avLst/>
          </a:prstGeom>
        </p:spPr>
      </p:pic>
      <p:sp>
        <p:nvSpPr>
          <p:cNvPr id="84" name="TextBox 83"/>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Ear Wax Removal Products Market Analysis, By Country Volume (Mn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country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2032594"/>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712970" y="202783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95163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18" name="BPS Value 1"/>
          <p:cNvSpPr txBox="1"/>
          <p:nvPr/>
        </p:nvSpPr>
        <p:spPr>
          <a:xfrm>
            <a:off x="6305550" y="201354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551045" y="3866156"/>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4712970" y="386139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3785194"/>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22" name="BPS Value 2"/>
          <p:cNvSpPr txBox="1"/>
          <p:nvPr/>
        </p:nvSpPr>
        <p:spPr>
          <a:xfrm>
            <a:off x="6305550" y="384710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Rounded Rectangle 22"/>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25" name="Rectangle 24"/>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Rounded Rectangle 26"/>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(MN UNITS)</a:t>
            </a:r>
          </a:p>
          <a:p>
            <a:pPr algn="ctr">
              <a:lnSpc>
                <a:spcPct val="95000"/>
              </a:lnSpc>
            </a:pPr>
            <a:r>
              <a:rPr sz="2000" b="1">
                <a:solidFill>
                  <a:srgbClr val="0E72AE"/>
                </a:solidFill>
                <a:latin typeface="Calibri"/>
              </a:rPr>
              <a:t> </a:t>
            </a:r>
          </a:p>
        </p:txBody>
      </p:sp>
      <p:sp>
        <p:nvSpPr>
          <p:cNvPr id="28" name="Rounded Rectangle 27"/>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(MN UNITS)</a:t>
            </a:r>
          </a:p>
          <a:p>
            <a:pPr algn="ctr">
              <a:lnSpc>
                <a:spcPct val="95000"/>
              </a:lnSpc>
            </a:pPr>
            <a:r>
              <a:rPr sz="2000" b="1">
                <a:solidFill>
                  <a:srgbClr val="0E72AE"/>
                </a:solidFill>
                <a:latin typeface="Calibri"/>
              </a:rPr>
              <a:t> </a:t>
            </a:r>
          </a:p>
        </p:txBody>
      </p:sp>
      <p:sp>
        <p:nvSpPr>
          <p:cNvPr id="29" name="Rounded Rectangle 28"/>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2368867" y="3171825"/>
            <a:ext cx="275034" cy="400050"/>
          </a:xfrm>
          <a:prstGeom prst="rect">
            <a:avLst/>
          </a:prstGeom>
        </p:spPr>
      </p:pic>
      <p:pic>
        <p:nvPicPr>
          <p:cNvPr id="32" name="Picture 31" descr="lock.png"/>
          <p:cNvPicPr>
            <a:picLocks noChangeAspect="1"/>
          </p:cNvPicPr>
          <p:nvPr/>
        </p:nvPicPr>
        <p:blipFill>
          <a:blip r:embed="rId5"/>
          <a:stretch>
            <a:fillRect/>
          </a:stretch>
        </p:blipFill>
        <p:spPr>
          <a:xfrm>
            <a:off x="2009775" y="6070282"/>
            <a:ext cx="209550" cy="304800"/>
          </a:xfrm>
          <a:prstGeom prst="rect">
            <a:avLst/>
          </a:prstGeom>
        </p:spPr>
      </p:pic>
      <p:pic>
        <p:nvPicPr>
          <p:cNvPr id="33" name="Picture 32" descr="lock.png"/>
          <p:cNvPicPr>
            <a:picLocks noChangeAspect="1"/>
          </p:cNvPicPr>
          <p:nvPr/>
        </p:nvPicPr>
        <p:blipFill>
          <a:blip r:embed="rId5"/>
          <a:stretch>
            <a:fillRect/>
          </a:stretch>
        </p:blipFill>
        <p:spPr>
          <a:xfrm>
            <a:off x="6043612" y="6070282"/>
            <a:ext cx="209550" cy="304800"/>
          </a:xfrm>
          <a:prstGeom prst="rect">
            <a:avLst/>
          </a:prstGeom>
        </p:spPr>
      </p:pic>
      <p:pic>
        <p:nvPicPr>
          <p:cNvPr id="34" name="Picture 33" descr="lock.png"/>
          <p:cNvPicPr>
            <a:picLocks noChangeAspect="1"/>
          </p:cNvPicPr>
          <p:nvPr/>
        </p:nvPicPr>
        <p:blipFill>
          <a:blip r:embed="rId5"/>
          <a:stretch>
            <a:fillRect/>
          </a:stretch>
        </p:blipFill>
        <p:spPr>
          <a:xfrm>
            <a:off x="10015537" y="6070282"/>
            <a:ext cx="209550" cy="304800"/>
          </a:xfrm>
          <a:prstGeom prst="rect">
            <a:avLst/>
          </a:prstGeom>
        </p:spPr>
      </p:pic>
      <p:sp>
        <p:nvSpPr>
          <p:cNvPr id="35" name="TextBox 34"/>
          <p:cNvSpPr txBox="1"/>
          <p:nvPr/>
        </p:nvSpPr>
        <p:spPr>
          <a:xfrm>
            <a:off x="7239000" y="1400175"/>
            <a:ext cx="3978758" cy="194310"/>
          </a:xfrm>
          <a:prstGeom prst="rect">
            <a:avLst/>
          </a:prstGeom>
          <a:noFill/>
        </p:spPr>
        <p:txBody>
          <a:bodyPr wrap="none" lIns="0" rIns="0" tIns="0" bIns="0">
            <a:spAutoFit/>
          </a:bodyPr>
          <a:lstStyle/>
          <a:p>
            <a:r>
              <a:rPr sz="1150" b="0">
                <a:solidFill>
                  <a:srgbClr val="2E2E2E"/>
                </a:solidFill>
                <a:latin typeface="Calibri"/>
              </a:rPr>
              <a:t>The U.S. ear wax removal products market is projected to register</a:t>
            </a:r>
          </a:p>
        </p:txBody>
      </p:sp>
      <p:pic>
        <p:nvPicPr>
          <p:cNvPr id="36" name="Picture 35" descr="lock.png"/>
          <p:cNvPicPr>
            <a:picLocks noChangeAspect="1"/>
          </p:cNvPicPr>
          <p:nvPr/>
        </p:nvPicPr>
        <p:blipFill>
          <a:blip r:embed="rId5"/>
          <a:stretch>
            <a:fillRect/>
          </a:stretch>
        </p:blipFill>
        <p:spPr>
          <a:xfrm>
            <a:off x="11166912" y="1389951"/>
            <a:ext cx="134549" cy="195707"/>
          </a:xfrm>
          <a:prstGeom prst="rect">
            <a:avLst/>
          </a:prstGeom>
        </p:spPr>
      </p:pic>
      <p:sp>
        <p:nvSpPr>
          <p:cNvPr id="37" name="TextBox 36"/>
          <p:cNvSpPr txBox="1"/>
          <p:nvPr/>
        </p:nvSpPr>
        <p:spPr>
          <a:xfrm>
            <a:off x="11342021" y="1400175"/>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38" name="TextBox 37"/>
          <p:cNvSpPr txBox="1"/>
          <p:nvPr/>
        </p:nvSpPr>
        <p:spPr>
          <a:xfrm>
            <a:off x="7239000" y="1575435"/>
            <a:ext cx="4430886" cy="194310"/>
          </a:xfrm>
          <a:prstGeom prst="rect">
            <a:avLst/>
          </a:prstGeom>
          <a:noFill/>
        </p:spPr>
        <p:txBody>
          <a:bodyPr wrap="none" lIns="0" rIns="0" tIns="0" bIns="0">
            <a:spAutoFit/>
          </a:bodyPr>
          <a:lstStyle/>
          <a:p>
            <a:r>
              <a:rPr sz="1150" b="0">
                <a:solidFill>
                  <a:srgbClr val="2E2E2E"/>
                </a:solidFill>
                <a:latin typeface="Calibri"/>
              </a:rPr>
              <a:t>higher volume than Canada in 2036. Among ear wax removal products by</a:t>
            </a:r>
          </a:p>
        </p:txBody>
      </p:sp>
      <p:sp>
        <p:nvSpPr>
          <p:cNvPr id="39" name="TextBox 38"/>
          <p:cNvSpPr txBox="1"/>
          <p:nvPr/>
        </p:nvSpPr>
        <p:spPr>
          <a:xfrm>
            <a:off x="7239000" y="1750695"/>
            <a:ext cx="3612189" cy="194310"/>
          </a:xfrm>
          <a:prstGeom prst="rect">
            <a:avLst/>
          </a:prstGeom>
          <a:noFill/>
        </p:spPr>
        <p:txBody>
          <a:bodyPr wrap="none" lIns="0" rIns="0" tIns="0" bIns="0">
            <a:spAutoFit/>
          </a:bodyPr>
          <a:lstStyle/>
          <a:p>
            <a:r>
              <a:rPr sz="1150" b="0">
                <a:solidFill>
                  <a:srgbClr val="2E2E2E"/>
                </a:solidFill>
                <a:latin typeface="Calibri"/>
              </a:rPr>
              <a:t>country, Canada is expected to witness the highest CAGR of</a:t>
            </a:r>
          </a:p>
        </p:txBody>
      </p:sp>
      <p:pic>
        <p:nvPicPr>
          <p:cNvPr id="40" name="Picture 39" descr="lock.png"/>
          <p:cNvPicPr>
            <a:picLocks noChangeAspect="1"/>
          </p:cNvPicPr>
          <p:nvPr/>
        </p:nvPicPr>
        <p:blipFill>
          <a:blip r:embed="rId5"/>
          <a:stretch>
            <a:fillRect/>
          </a:stretch>
        </p:blipFill>
        <p:spPr>
          <a:xfrm>
            <a:off x="10800343" y="1740471"/>
            <a:ext cx="134549" cy="195707"/>
          </a:xfrm>
          <a:prstGeom prst="rect">
            <a:avLst/>
          </a:prstGeom>
        </p:spPr>
      </p:pic>
      <p:sp>
        <p:nvSpPr>
          <p:cNvPr id="41" name="TextBox 40"/>
          <p:cNvSpPr txBox="1"/>
          <p:nvPr/>
        </p:nvSpPr>
        <p:spPr>
          <a:xfrm>
            <a:off x="10975452" y="175069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42" name="TextBox 41"/>
          <p:cNvSpPr txBox="1"/>
          <p:nvPr/>
        </p:nvSpPr>
        <p:spPr>
          <a:xfrm>
            <a:off x="7239000" y="1925955"/>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43" name="TextBox 42"/>
          <p:cNvSpPr txBox="1"/>
          <p:nvPr/>
        </p:nvSpPr>
        <p:spPr>
          <a:xfrm>
            <a:off x="7239000" y="2153793"/>
            <a:ext cx="4231493"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a:t>
            </a:r>
          </a:p>
        </p:txBody>
      </p:sp>
      <p:sp>
        <p:nvSpPr>
          <p:cNvPr id="44" name="TextBox 43"/>
          <p:cNvSpPr txBox="1"/>
          <p:nvPr/>
        </p:nvSpPr>
        <p:spPr>
          <a:xfrm>
            <a:off x="7239000" y="232905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45" name="Picture 44" descr="lock.png"/>
          <p:cNvPicPr>
            <a:picLocks noChangeAspect="1"/>
          </p:cNvPicPr>
          <p:nvPr/>
        </p:nvPicPr>
        <p:blipFill>
          <a:blip r:embed="rId5"/>
          <a:stretch>
            <a:fillRect/>
          </a:stretch>
        </p:blipFill>
        <p:spPr>
          <a:xfrm>
            <a:off x="8106708" y="2318829"/>
            <a:ext cx="134549" cy="195707"/>
          </a:xfrm>
          <a:prstGeom prst="rect">
            <a:avLst/>
          </a:prstGeom>
        </p:spPr>
      </p:pic>
      <p:sp>
        <p:nvSpPr>
          <p:cNvPr id="46" name="TextBox 45"/>
          <p:cNvSpPr txBox="1"/>
          <p:nvPr/>
        </p:nvSpPr>
        <p:spPr>
          <a:xfrm>
            <a:off x="8281817"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7" name="Picture 46" descr="lock.png"/>
          <p:cNvPicPr>
            <a:picLocks noChangeAspect="1"/>
          </p:cNvPicPr>
          <p:nvPr/>
        </p:nvPicPr>
        <p:blipFill>
          <a:blip r:embed="rId5"/>
          <a:stretch>
            <a:fillRect/>
          </a:stretch>
        </p:blipFill>
        <p:spPr>
          <a:xfrm>
            <a:off x="9676961" y="2318829"/>
            <a:ext cx="134549" cy="195707"/>
          </a:xfrm>
          <a:prstGeom prst="rect">
            <a:avLst/>
          </a:prstGeom>
        </p:spPr>
      </p:pic>
      <p:sp>
        <p:nvSpPr>
          <p:cNvPr id="48" name="TextBox 47"/>
          <p:cNvSpPr txBox="1"/>
          <p:nvPr/>
        </p:nvSpPr>
        <p:spPr>
          <a:xfrm>
            <a:off x="985207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9"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Ear Wax Removal Products Market Analysis, By Country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country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2059364"/>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712970" y="205460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97840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18" name="BPS Value 1"/>
          <p:cNvSpPr txBox="1"/>
          <p:nvPr/>
        </p:nvSpPr>
        <p:spPr>
          <a:xfrm>
            <a:off x="6305550" y="204031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551045" y="3892927"/>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4712970" y="388816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3811964"/>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22" name="BPS Value 2"/>
          <p:cNvSpPr txBox="1"/>
          <p:nvPr/>
        </p:nvSpPr>
        <p:spPr>
          <a:xfrm>
            <a:off x="6305550" y="387387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Rounded Rectangle 22"/>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25" name="Rectangle 24"/>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Rounded Rectangle 26"/>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 </a:t>
            </a:r>
          </a:p>
        </p:txBody>
      </p:sp>
      <p:sp>
        <p:nvSpPr>
          <p:cNvPr id="28" name="Rounded Rectangle 27"/>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 </a:t>
            </a:r>
          </a:p>
        </p:txBody>
      </p:sp>
      <p:sp>
        <p:nvSpPr>
          <p:cNvPr id="29" name="Rounded Rectangle 28"/>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2368867" y="3171825"/>
            <a:ext cx="275034" cy="400050"/>
          </a:xfrm>
          <a:prstGeom prst="rect">
            <a:avLst/>
          </a:prstGeom>
        </p:spPr>
      </p:pic>
      <p:pic>
        <p:nvPicPr>
          <p:cNvPr id="32" name="Picture 31" descr="lock.png"/>
          <p:cNvPicPr>
            <a:picLocks noChangeAspect="1"/>
          </p:cNvPicPr>
          <p:nvPr/>
        </p:nvPicPr>
        <p:blipFill>
          <a:blip r:embed="rId5"/>
          <a:stretch>
            <a:fillRect/>
          </a:stretch>
        </p:blipFill>
        <p:spPr>
          <a:xfrm>
            <a:off x="2009775" y="6070282"/>
            <a:ext cx="209550" cy="304800"/>
          </a:xfrm>
          <a:prstGeom prst="rect">
            <a:avLst/>
          </a:prstGeom>
        </p:spPr>
      </p:pic>
      <p:pic>
        <p:nvPicPr>
          <p:cNvPr id="33" name="Picture 32" descr="lock.png"/>
          <p:cNvPicPr>
            <a:picLocks noChangeAspect="1"/>
          </p:cNvPicPr>
          <p:nvPr/>
        </p:nvPicPr>
        <p:blipFill>
          <a:blip r:embed="rId5"/>
          <a:stretch>
            <a:fillRect/>
          </a:stretch>
        </p:blipFill>
        <p:spPr>
          <a:xfrm>
            <a:off x="6043612" y="6070282"/>
            <a:ext cx="209550" cy="304800"/>
          </a:xfrm>
          <a:prstGeom prst="rect">
            <a:avLst/>
          </a:prstGeom>
        </p:spPr>
      </p:pic>
      <p:pic>
        <p:nvPicPr>
          <p:cNvPr id="34" name="Picture 33" descr="lock.png"/>
          <p:cNvPicPr>
            <a:picLocks noChangeAspect="1"/>
          </p:cNvPicPr>
          <p:nvPr/>
        </p:nvPicPr>
        <p:blipFill>
          <a:blip r:embed="rId5"/>
          <a:stretch>
            <a:fillRect/>
          </a:stretch>
        </p:blipFill>
        <p:spPr>
          <a:xfrm>
            <a:off x="10015537" y="6070282"/>
            <a:ext cx="209550" cy="304800"/>
          </a:xfrm>
          <a:prstGeom prst="rect">
            <a:avLst/>
          </a:prstGeom>
        </p:spPr>
      </p:pic>
      <p:sp>
        <p:nvSpPr>
          <p:cNvPr id="35" name="TextBox 34"/>
          <p:cNvSpPr txBox="1"/>
          <p:nvPr/>
        </p:nvSpPr>
        <p:spPr>
          <a:xfrm>
            <a:off x="7239000" y="1400175"/>
            <a:ext cx="3978758" cy="194310"/>
          </a:xfrm>
          <a:prstGeom prst="rect">
            <a:avLst/>
          </a:prstGeom>
          <a:noFill/>
        </p:spPr>
        <p:txBody>
          <a:bodyPr wrap="none" lIns="0" rIns="0" tIns="0" bIns="0">
            <a:spAutoFit/>
          </a:bodyPr>
          <a:lstStyle/>
          <a:p>
            <a:r>
              <a:rPr sz="1150" b="0">
                <a:solidFill>
                  <a:srgbClr val="2E2E2E"/>
                </a:solidFill>
                <a:latin typeface="Calibri"/>
              </a:rPr>
              <a:t>The U.S. ear wax removal products market is projected to register</a:t>
            </a:r>
          </a:p>
        </p:txBody>
      </p:sp>
      <p:pic>
        <p:nvPicPr>
          <p:cNvPr id="36" name="Picture 35" descr="lock.png"/>
          <p:cNvPicPr>
            <a:picLocks noChangeAspect="1"/>
          </p:cNvPicPr>
          <p:nvPr/>
        </p:nvPicPr>
        <p:blipFill>
          <a:blip r:embed="rId5"/>
          <a:stretch>
            <a:fillRect/>
          </a:stretch>
        </p:blipFill>
        <p:spPr>
          <a:xfrm>
            <a:off x="11166912" y="1389951"/>
            <a:ext cx="134549" cy="195707"/>
          </a:xfrm>
          <a:prstGeom prst="rect">
            <a:avLst/>
          </a:prstGeom>
        </p:spPr>
      </p:pic>
      <p:sp>
        <p:nvSpPr>
          <p:cNvPr id="37" name="TextBox 36"/>
          <p:cNvSpPr txBox="1"/>
          <p:nvPr/>
        </p:nvSpPr>
        <p:spPr>
          <a:xfrm>
            <a:off x="11342021" y="1400175"/>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38" name="TextBox 37"/>
          <p:cNvSpPr txBox="1"/>
          <p:nvPr/>
        </p:nvSpPr>
        <p:spPr>
          <a:xfrm>
            <a:off x="7239000" y="1575435"/>
            <a:ext cx="4307085" cy="194310"/>
          </a:xfrm>
          <a:prstGeom prst="rect">
            <a:avLst/>
          </a:prstGeom>
          <a:noFill/>
        </p:spPr>
        <p:txBody>
          <a:bodyPr wrap="none" lIns="0" rIns="0" tIns="0" bIns="0">
            <a:spAutoFit/>
          </a:bodyPr>
          <a:lstStyle/>
          <a:p>
            <a:r>
              <a:rPr sz="1150" b="0">
                <a:solidFill>
                  <a:srgbClr val="2E2E2E"/>
                </a:solidFill>
                <a:latin typeface="Calibri"/>
              </a:rPr>
              <a:t>higher value than Canada in 2036. Among ear wax removal products by</a:t>
            </a:r>
          </a:p>
        </p:txBody>
      </p:sp>
      <p:sp>
        <p:nvSpPr>
          <p:cNvPr id="39" name="TextBox 38"/>
          <p:cNvSpPr txBox="1"/>
          <p:nvPr/>
        </p:nvSpPr>
        <p:spPr>
          <a:xfrm>
            <a:off x="7239000" y="1750695"/>
            <a:ext cx="3612189" cy="194310"/>
          </a:xfrm>
          <a:prstGeom prst="rect">
            <a:avLst/>
          </a:prstGeom>
          <a:noFill/>
        </p:spPr>
        <p:txBody>
          <a:bodyPr wrap="none" lIns="0" rIns="0" tIns="0" bIns="0">
            <a:spAutoFit/>
          </a:bodyPr>
          <a:lstStyle/>
          <a:p>
            <a:r>
              <a:rPr sz="1150" b="0">
                <a:solidFill>
                  <a:srgbClr val="2E2E2E"/>
                </a:solidFill>
                <a:latin typeface="Calibri"/>
              </a:rPr>
              <a:t>country, Canada is expected to witness the highest CAGR of</a:t>
            </a:r>
          </a:p>
        </p:txBody>
      </p:sp>
      <p:pic>
        <p:nvPicPr>
          <p:cNvPr id="40" name="Picture 39" descr="lock.png"/>
          <p:cNvPicPr>
            <a:picLocks noChangeAspect="1"/>
          </p:cNvPicPr>
          <p:nvPr/>
        </p:nvPicPr>
        <p:blipFill>
          <a:blip r:embed="rId5"/>
          <a:stretch>
            <a:fillRect/>
          </a:stretch>
        </p:blipFill>
        <p:spPr>
          <a:xfrm>
            <a:off x="10800343" y="1740471"/>
            <a:ext cx="134549" cy="195707"/>
          </a:xfrm>
          <a:prstGeom prst="rect">
            <a:avLst/>
          </a:prstGeom>
        </p:spPr>
      </p:pic>
      <p:sp>
        <p:nvSpPr>
          <p:cNvPr id="41" name="TextBox 40"/>
          <p:cNvSpPr txBox="1"/>
          <p:nvPr/>
        </p:nvSpPr>
        <p:spPr>
          <a:xfrm>
            <a:off x="10975452" y="175069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42" name="TextBox 41"/>
          <p:cNvSpPr txBox="1"/>
          <p:nvPr/>
        </p:nvSpPr>
        <p:spPr>
          <a:xfrm>
            <a:off x="7239000" y="1925955"/>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43" name="TextBox 42"/>
          <p:cNvSpPr txBox="1"/>
          <p:nvPr/>
        </p:nvSpPr>
        <p:spPr>
          <a:xfrm>
            <a:off x="7239000" y="2153793"/>
            <a:ext cx="4603179"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a:t>
            </a:r>
          </a:p>
        </p:txBody>
      </p:sp>
      <p:sp>
        <p:nvSpPr>
          <p:cNvPr id="44" name="TextBox 43"/>
          <p:cNvSpPr txBox="1"/>
          <p:nvPr/>
        </p:nvSpPr>
        <p:spPr>
          <a:xfrm>
            <a:off x="7239000" y="2329053"/>
            <a:ext cx="423068" cy="194310"/>
          </a:xfrm>
          <a:prstGeom prst="rect">
            <a:avLst/>
          </a:prstGeom>
          <a:noFill/>
        </p:spPr>
        <p:txBody>
          <a:bodyPr wrap="none" lIns="0" rIns="0" tIns="0" bIns="0">
            <a:spAutoFit/>
          </a:bodyPr>
          <a:lstStyle/>
          <a:p>
            <a:r>
              <a:rPr sz="1150" b="0">
                <a:solidFill>
                  <a:srgbClr val="2E2E2E"/>
                </a:solidFill>
                <a:latin typeface="Calibri"/>
              </a:rPr>
              <a:t>losing</a:t>
            </a:r>
          </a:p>
        </p:txBody>
      </p:sp>
      <p:pic>
        <p:nvPicPr>
          <p:cNvPr id="45" name="Picture 44" descr="lock.png"/>
          <p:cNvPicPr>
            <a:picLocks noChangeAspect="1"/>
          </p:cNvPicPr>
          <p:nvPr/>
        </p:nvPicPr>
        <p:blipFill>
          <a:blip r:embed="rId5"/>
          <a:stretch>
            <a:fillRect/>
          </a:stretch>
        </p:blipFill>
        <p:spPr>
          <a:xfrm>
            <a:off x="7611222" y="2318829"/>
            <a:ext cx="134549" cy="195707"/>
          </a:xfrm>
          <a:prstGeom prst="rect">
            <a:avLst/>
          </a:prstGeom>
        </p:spPr>
      </p:pic>
      <p:sp>
        <p:nvSpPr>
          <p:cNvPr id="46" name="TextBox 45"/>
          <p:cNvSpPr txBox="1"/>
          <p:nvPr/>
        </p:nvSpPr>
        <p:spPr>
          <a:xfrm>
            <a:off x="7786331"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7" name="Picture 46" descr="lock.png"/>
          <p:cNvPicPr>
            <a:picLocks noChangeAspect="1"/>
          </p:cNvPicPr>
          <p:nvPr/>
        </p:nvPicPr>
        <p:blipFill>
          <a:blip r:embed="rId5"/>
          <a:stretch>
            <a:fillRect/>
          </a:stretch>
        </p:blipFill>
        <p:spPr>
          <a:xfrm>
            <a:off x="9181475" y="2318829"/>
            <a:ext cx="134549" cy="195707"/>
          </a:xfrm>
          <a:prstGeom prst="rect">
            <a:avLst/>
          </a:prstGeom>
        </p:spPr>
      </p:pic>
      <p:sp>
        <p:nvSpPr>
          <p:cNvPr id="48" name="TextBox 47"/>
          <p:cNvSpPr txBox="1"/>
          <p:nvPr/>
        </p:nvSpPr>
        <p:spPr>
          <a:xfrm>
            <a:off x="9356584"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9"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Ear Wax Removal Products Market Share Analysis, By Country Volume (Mn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country, 2021–2036, highlighting the geographies gaining and ceding ground</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(Mn Units)</a:t>
            </a:r>
          </a:p>
        </p:txBody>
      </p:sp>
      <p:graphicFrame>
        <p:nvGraphicFramePr>
          <p:cNvPr id="12" name="Table 11"/>
          <p:cNvGraphicFramePr>
            <a:graphicFrameLocks noGrp="1"/>
          </p:cNvGraphicFramePr>
          <p:nvPr/>
        </p:nvGraphicFramePr>
        <p:xfrm>
          <a:off x="152400" y="1238250"/>
          <a:ext cx="11887200" cy="990600"/>
        </p:xfrm>
        <a:graphic>
          <a:graphicData uri="http://schemas.openxmlformats.org/drawingml/2006/table">
            <a:tbl>
              <a:tblPr>
                <a:tableStyleId>{5C22544A-7EE6-4342-B048-85BDC9FD1C3A}</a:tableStyleId>
              </a:tblPr>
              <a:tblGrid>
                <a:gridCol w="696253"/>
                <a:gridCol w="658291"/>
                <a:gridCol w="658291"/>
                <a:gridCol w="658291"/>
                <a:gridCol w="658291"/>
                <a:gridCol w="658291"/>
                <a:gridCol w="658291"/>
                <a:gridCol w="658291"/>
                <a:gridCol w="658291"/>
                <a:gridCol w="658291"/>
                <a:gridCol w="658291"/>
                <a:gridCol w="658291"/>
                <a:gridCol w="658291"/>
                <a:gridCol w="658291"/>
                <a:gridCol w="658291"/>
                <a:gridCol w="658291"/>
                <a:gridCol w="658291"/>
                <a:gridCol w="65829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Share Read-out, By Country</a:t>
            </a:r>
          </a:p>
        </p:txBody>
      </p:sp>
      <p:sp>
        <p:nvSpPr>
          <p:cNvPr id="16" name="Rectangle 15"/>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257436" y="1589913"/>
            <a:ext cx="366712" cy="533400"/>
          </a:xfrm>
          <a:prstGeom prst="rect">
            <a:avLst/>
          </a:prstGeom>
        </p:spPr>
      </p:pic>
      <p:sp>
        <p:nvSpPr>
          <p:cNvPr id="20" name="TextBox 19"/>
          <p:cNvSpPr txBox="1"/>
          <p:nvPr/>
        </p:nvSpPr>
        <p:spPr>
          <a:xfrm>
            <a:off x="276225" y="2990850"/>
            <a:ext cx="3978758" cy="194310"/>
          </a:xfrm>
          <a:prstGeom prst="rect">
            <a:avLst/>
          </a:prstGeom>
          <a:noFill/>
        </p:spPr>
        <p:txBody>
          <a:bodyPr wrap="none" lIns="0" rIns="0" tIns="0" bIns="0">
            <a:spAutoFit/>
          </a:bodyPr>
          <a:lstStyle/>
          <a:p>
            <a:r>
              <a:rPr sz="1150" b="0">
                <a:solidFill>
                  <a:srgbClr val="2E2E2E"/>
                </a:solidFill>
                <a:latin typeface="Calibri"/>
              </a:rPr>
              <a:t>The U.S. ear wax removal products market is projected to register</a:t>
            </a:r>
          </a:p>
        </p:txBody>
      </p:sp>
      <p:pic>
        <p:nvPicPr>
          <p:cNvPr id="21" name="Picture 20" descr="lock.png"/>
          <p:cNvPicPr>
            <a:picLocks noChangeAspect="1"/>
          </p:cNvPicPr>
          <p:nvPr/>
        </p:nvPicPr>
        <p:blipFill>
          <a:blip r:embed="rId4"/>
          <a:stretch>
            <a:fillRect/>
          </a:stretch>
        </p:blipFill>
        <p:spPr>
          <a:xfrm>
            <a:off x="4204137" y="2980626"/>
            <a:ext cx="134549" cy="195707"/>
          </a:xfrm>
          <a:prstGeom prst="rect">
            <a:avLst/>
          </a:prstGeom>
        </p:spPr>
      </p:pic>
      <p:sp>
        <p:nvSpPr>
          <p:cNvPr id="22" name="TextBox 21"/>
          <p:cNvSpPr txBox="1"/>
          <p:nvPr/>
        </p:nvSpPr>
        <p:spPr>
          <a:xfrm>
            <a:off x="4379246" y="2990850"/>
            <a:ext cx="7119689" cy="194310"/>
          </a:xfrm>
          <a:prstGeom prst="rect">
            <a:avLst/>
          </a:prstGeom>
          <a:noFill/>
        </p:spPr>
        <p:txBody>
          <a:bodyPr wrap="none" lIns="0" rIns="0" tIns="0" bIns="0">
            <a:spAutoFit/>
          </a:bodyPr>
          <a:lstStyle/>
          <a:p>
            <a:r>
              <a:rPr sz="1150" b="0">
                <a:solidFill>
                  <a:srgbClr val="2E2E2E"/>
                </a:solidFill>
                <a:latin typeface="Calibri"/>
              </a:rPr>
              <a:t>X higher volume than Canada in 2036. Among ear wax removal products by country, Canada is expected to witness the</a:t>
            </a:r>
          </a:p>
        </p:txBody>
      </p:sp>
      <p:sp>
        <p:nvSpPr>
          <p:cNvPr id="23" name="TextBox 22"/>
          <p:cNvSpPr txBox="1"/>
          <p:nvPr/>
        </p:nvSpPr>
        <p:spPr>
          <a:xfrm>
            <a:off x="276225" y="3166110"/>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24" name="Picture 23" descr="lock.png"/>
          <p:cNvPicPr>
            <a:picLocks noChangeAspect="1"/>
          </p:cNvPicPr>
          <p:nvPr/>
        </p:nvPicPr>
        <p:blipFill>
          <a:blip r:embed="rId4"/>
          <a:stretch>
            <a:fillRect/>
          </a:stretch>
        </p:blipFill>
        <p:spPr>
          <a:xfrm>
            <a:off x="1257732" y="3155886"/>
            <a:ext cx="134549" cy="195707"/>
          </a:xfrm>
          <a:prstGeom prst="rect">
            <a:avLst/>
          </a:prstGeom>
        </p:spPr>
      </p:pic>
      <p:sp>
        <p:nvSpPr>
          <p:cNvPr id="25" name="TextBox 24"/>
          <p:cNvSpPr txBox="1"/>
          <p:nvPr/>
        </p:nvSpPr>
        <p:spPr>
          <a:xfrm>
            <a:off x="1432841"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393947"/>
            <a:ext cx="5106937"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 market, losing</a:t>
            </a:r>
          </a:p>
        </p:txBody>
      </p:sp>
      <p:pic>
        <p:nvPicPr>
          <p:cNvPr id="27" name="Picture 26" descr="lock.png"/>
          <p:cNvPicPr>
            <a:picLocks noChangeAspect="1"/>
          </p:cNvPicPr>
          <p:nvPr/>
        </p:nvPicPr>
        <p:blipFill>
          <a:blip r:embed="rId4"/>
          <a:stretch>
            <a:fillRect/>
          </a:stretch>
        </p:blipFill>
        <p:spPr>
          <a:xfrm>
            <a:off x="5332316" y="3383724"/>
            <a:ext cx="134549" cy="195707"/>
          </a:xfrm>
          <a:prstGeom prst="rect">
            <a:avLst/>
          </a:prstGeom>
        </p:spPr>
      </p:pic>
      <p:sp>
        <p:nvSpPr>
          <p:cNvPr id="28" name="TextBox 27"/>
          <p:cNvSpPr txBox="1"/>
          <p:nvPr/>
        </p:nvSpPr>
        <p:spPr>
          <a:xfrm>
            <a:off x="5507426"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6902569" y="3383724"/>
            <a:ext cx="134549" cy="195707"/>
          </a:xfrm>
          <a:prstGeom prst="rect">
            <a:avLst/>
          </a:prstGeom>
        </p:spPr>
      </p:pic>
      <p:sp>
        <p:nvSpPr>
          <p:cNvPr id="30" name="TextBox 29"/>
          <p:cNvSpPr txBox="1"/>
          <p:nvPr/>
        </p:nvSpPr>
        <p:spPr>
          <a:xfrm>
            <a:off x="7077678"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Ear Wax Removal Products Market Share Analysis, By Country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country, 2021–2036, highlighting the geographies gaining and ceding ground</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(US$ Mn)</a:t>
            </a:r>
          </a:p>
        </p:txBody>
      </p:sp>
      <p:graphicFrame>
        <p:nvGraphicFramePr>
          <p:cNvPr id="12" name="Table 11"/>
          <p:cNvGraphicFramePr>
            <a:graphicFrameLocks noGrp="1"/>
          </p:cNvGraphicFramePr>
          <p:nvPr/>
        </p:nvGraphicFramePr>
        <p:xfrm>
          <a:off x="152400" y="1238250"/>
          <a:ext cx="11887200" cy="990600"/>
        </p:xfrm>
        <a:graphic>
          <a:graphicData uri="http://schemas.openxmlformats.org/drawingml/2006/table">
            <a:tbl>
              <a:tblPr>
                <a:tableStyleId>{5C22544A-7EE6-4342-B048-85BDC9FD1C3A}</a:tableStyleId>
              </a:tblPr>
              <a:tblGrid>
                <a:gridCol w="696253"/>
                <a:gridCol w="658291"/>
                <a:gridCol w="658291"/>
                <a:gridCol w="658291"/>
                <a:gridCol w="658291"/>
                <a:gridCol w="658291"/>
                <a:gridCol w="658291"/>
                <a:gridCol w="658291"/>
                <a:gridCol w="658291"/>
                <a:gridCol w="658291"/>
                <a:gridCol w="658291"/>
                <a:gridCol w="658291"/>
                <a:gridCol w="658291"/>
                <a:gridCol w="658291"/>
                <a:gridCol w="658291"/>
                <a:gridCol w="658291"/>
                <a:gridCol w="658291"/>
                <a:gridCol w="65829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Share Read-out, By Country</a:t>
            </a:r>
          </a:p>
        </p:txBody>
      </p:sp>
      <p:sp>
        <p:nvSpPr>
          <p:cNvPr id="16" name="Rectangle 15"/>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257436" y="1589913"/>
            <a:ext cx="366712" cy="533400"/>
          </a:xfrm>
          <a:prstGeom prst="rect">
            <a:avLst/>
          </a:prstGeom>
        </p:spPr>
      </p:pic>
      <p:sp>
        <p:nvSpPr>
          <p:cNvPr id="20" name="TextBox 19"/>
          <p:cNvSpPr txBox="1"/>
          <p:nvPr/>
        </p:nvSpPr>
        <p:spPr>
          <a:xfrm>
            <a:off x="276225" y="2990850"/>
            <a:ext cx="3978758" cy="194310"/>
          </a:xfrm>
          <a:prstGeom prst="rect">
            <a:avLst/>
          </a:prstGeom>
          <a:noFill/>
        </p:spPr>
        <p:txBody>
          <a:bodyPr wrap="none" lIns="0" rIns="0" tIns="0" bIns="0">
            <a:spAutoFit/>
          </a:bodyPr>
          <a:lstStyle/>
          <a:p>
            <a:r>
              <a:rPr sz="1150" b="0">
                <a:solidFill>
                  <a:srgbClr val="2E2E2E"/>
                </a:solidFill>
                <a:latin typeface="Calibri"/>
              </a:rPr>
              <a:t>The U.S. ear wax removal products market is projected to register</a:t>
            </a:r>
          </a:p>
        </p:txBody>
      </p:sp>
      <p:pic>
        <p:nvPicPr>
          <p:cNvPr id="21" name="Picture 20" descr="lock.png"/>
          <p:cNvPicPr>
            <a:picLocks noChangeAspect="1"/>
          </p:cNvPicPr>
          <p:nvPr/>
        </p:nvPicPr>
        <p:blipFill>
          <a:blip r:embed="rId4"/>
          <a:stretch>
            <a:fillRect/>
          </a:stretch>
        </p:blipFill>
        <p:spPr>
          <a:xfrm>
            <a:off x="4204137" y="2980626"/>
            <a:ext cx="134549" cy="195707"/>
          </a:xfrm>
          <a:prstGeom prst="rect">
            <a:avLst/>
          </a:prstGeom>
        </p:spPr>
      </p:pic>
      <p:sp>
        <p:nvSpPr>
          <p:cNvPr id="22" name="TextBox 21"/>
          <p:cNvSpPr txBox="1"/>
          <p:nvPr/>
        </p:nvSpPr>
        <p:spPr>
          <a:xfrm>
            <a:off x="4379246" y="2990850"/>
            <a:ext cx="7463705" cy="194310"/>
          </a:xfrm>
          <a:prstGeom prst="rect">
            <a:avLst/>
          </a:prstGeom>
          <a:noFill/>
        </p:spPr>
        <p:txBody>
          <a:bodyPr wrap="none" lIns="0" rIns="0" tIns="0" bIns="0">
            <a:spAutoFit/>
          </a:bodyPr>
          <a:lstStyle/>
          <a:p>
            <a:r>
              <a:rPr sz="1150" b="0">
                <a:solidFill>
                  <a:srgbClr val="2E2E2E"/>
                </a:solidFill>
                <a:latin typeface="Calibri"/>
              </a:rPr>
              <a:t>X higher value than Canada in 2036. Among ear wax removal products by country, Canada is expected to witness the highest</a:t>
            </a:r>
          </a:p>
        </p:txBody>
      </p:sp>
      <p:sp>
        <p:nvSpPr>
          <p:cNvPr id="23" name="TextBox 22"/>
          <p:cNvSpPr txBox="1"/>
          <p:nvPr/>
        </p:nvSpPr>
        <p:spPr>
          <a:xfrm>
            <a:off x="276225" y="3166110"/>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24" name="Picture 23" descr="lock.png"/>
          <p:cNvPicPr>
            <a:picLocks noChangeAspect="1"/>
          </p:cNvPicPr>
          <p:nvPr/>
        </p:nvPicPr>
        <p:blipFill>
          <a:blip r:embed="rId4"/>
          <a:stretch>
            <a:fillRect/>
          </a:stretch>
        </p:blipFill>
        <p:spPr>
          <a:xfrm>
            <a:off x="789915" y="3155886"/>
            <a:ext cx="134549" cy="195707"/>
          </a:xfrm>
          <a:prstGeom prst="rect">
            <a:avLst/>
          </a:prstGeom>
        </p:spPr>
      </p:pic>
      <p:sp>
        <p:nvSpPr>
          <p:cNvPr id="25" name="TextBox 24"/>
          <p:cNvSpPr txBox="1"/>
          <p:nvPr/>
        </p:nvSpPr>
        <p:spPr>
          <a:xfrm>
            <a:off x="965025"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393947"/>
            <a:ext cx="4983137"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 losing</a:t>
            </a:r>
          </a:p>
        </p:txBody>
      </p:sp>
      <p:pic>
        <p:nvPicPr>
          <p:cNvPr id="27" name="Picture 26" descr="lock.png"/>
          <p:cNvPicPr>
            <a:picLocks noChangeAspect="1"/>
          </p:cNvPicPr>
          <p:nvPr/>
        </p:nvPicPr>
        <p:blipFill>
          <a:blip r:embed="rId4"/>
          <a:stretch>
            <a:fillRect/>
          </a:stretch>
        </p:blipFill>
        <p:spPr>
          <a:xfrm>
            <a:off x="5208516" y="3383724"/>
            <a:ext cx="134549" cy="195707"/>
          </a:xfrm>
          <a:prstGeom prst="rect">
            <a:avLst/>
          </a:prstGeom>
        </p:spPr>
      </p:pic>
      <p:sp>
        <p:nvSpPr>
          <p:cNvPr id="28" name="TextBox 27"/>
          <p:cNvSpPr txBox="1"/>
          <p:nvPr/>
        </p:nvSpPr>
        <p:spPr>
          <a:xfrm>
            <a:off x="5383625"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6778769" y="3383724"/>
            <a:ext cx="134549" cy="195707"/>
          </a:xfrm>
          <a:prstGeom prst="rect">
            <a:avLst/>
          </a:prstGeom>
        </p:spPr>
      </p:pic>
      <p:sp>
        <p:nvSpPr>
          <p:cNvPr id="30" name="TextBox 29"/>
          <p:cNvSpPr txBox="1"/>
          <p:nvPr/>
        </p:nvSpPr>
        <p:spPr>
          <a:xfrm>
            <a:off x="6953878"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Ear Wax Removal Products Market Trends, By Country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country volume and value shares shift over 2021–2036, highlighting who gains ground</a:t>
            </a:r>
          </a:p>
        </p:txBody>
      </p:sp>
      <p:sp>
        <p:nvSpPr>
          <p:cNvPr id="10" name="Rounded Rectangle 9"/>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By Country (Mn Units)</a:t>
            </a:r>
          </a:p>
        </p:txBody>
      </p:sp>
      <p:graphicFrame>
        <p:nvGraphicFramePr>
          <p:cNvPr id="12" name="Chart 11"/>
          <p:cNvGraphicFramePr>
            <a:graphicFrameLocks noGrp="1"/>
          </p:cNvGraphicFramePr>
          <p:nvPr/>
        </p:nvGraphicFramePr>
        <p:xfrm>
          <a:off x="238125" y="1266825"/>
          <a:ext cx="11715750"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Country (US$ Mn)</a:t>
            </a:r>
          </a:p>
        </p:txBody>
      </p:sp>
      <p:graphicFrame>
        <p:nvGraphicFramePr>
          <p:cNvPr id="15" name="Chart 14"/>
          <p:cNvGraphicFramePr>
            <a:graphicFrameLocks noGrp="1"/>
          </p:cNvGraphicFramePr>
          <p:nvPr/>
        </p:nvGraphicFramePr>
        <p:xfrm>
          <a:off x="238125" y="4152900"/>
          <a:ext cx="11715750" cy="240982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6058646" y="2026489"/>
            <a:ext cx="363375" cy="528545"/>
          </a:xfrm>
          <a:prstGeom prst="rect">
            <a:avLst/>
          </a:prstGeom>
        </p:spPr>
      </p:pic>
      <p:pic>
        <p:nvPicPr>
          <p:cNvPr id="18" name="Picture 17" descr="lock.png"/>
          <p:cNvPicPr>
            <a:picLocks noChangeAspect="1"/>
          </p:cNvPicPr>
          <p:nvPr/>
        </p:nvPicPr>
        <p:blipFill>
          <a:blip r:embed="rId6"/>
          <a:stretch>
            <a:fillRect/>
          </a:stretch>
        </p:blipFill>
        <p:spPr>
          <a:xfrm>
            <a:off x="6058646" y="4912564"/>
            <a:ext cx="363375" cy="528545"/>
          </a:xfrm>
          <a:prstGeom prst="rect">
            <a:avLst/>
          </a:prstGeom>
        </p:spPr>
      </p:pic>
      <p:sp>
        <p:nvSpPr>
          <p:cNvPr id="19" name="lockshield_12"/>
          <p:cNvSpPr/>
          <p:nvPr/>
        </p:nvSpPr>
        <p:spPr>
          <a:xfrm>
            <a:off x="238125" y="1266825"/>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238125" y="4152900"/>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Ear Wax Removal Products Market Top 2 Countries (2036)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North America market in 2036, highlighting the leading countries within each region by value</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by country  ·  2036 (US$ Mn)  ·  tile size = market value</a:t>
            </a:r>
          </a:p>
        </p:txBody>
      </p:sp>
      <p:sp>
        <p:nvSpPr>
          <p:cNvPr id="12" name="Rectangle 11"/>
          <p:cNvSpPr/>
          <p:nvPr/>
        </p:nvSpPr>
        <p:spPr>
          <a:xfrm>
            <a:off x="238125" y="1266825"/>
            <a:ext cx="7899385"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3" name="Rectangle 12"/>
          <p:cNvSpPr/>
          <p:nvPr/>
        </p:nvSpPr>
        <p:spPr>
          <a:xfrm>
            <a:off x="8137510" y="1266825"/>
            <a:ext cx="3816365" cy="5305425"/>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4130191" y="3919537"/>
            <a:ext cx="115252" cy="167639"/>
          </a:xfrm>
          <a:prstGeom prst="rect">
            <a:avLst/>
          </a:prstGeom>
        </p:spPr>
      </p:pic>
      <p:pic>
        <p:nvPicPr>
          <p:cNvPr id="16" name="Picture 15" descr="lock.png"/>
          <p:cNvPicPr>
            <a:picLocks noChangeAspect="1"/>
          </p:cNvPicPr>
          <p:nvPr/>
        </p:nvPicPr>
        <p:blipFill>
          <a:blip r:embed="rId4"/>
          <a:stretch>
            <a:fillRect/>
          </a:stretch>
        </p:blipFill>
        <p:spPr>
          <a:xfrm>
            <a:off x="9988066" y="3919537"/>
            <a:ext cx="115252" cy="167639"/>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North America Market Analysis By Segments</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 User</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Channel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Age Group</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Product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Type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7 sub-segments of Product Type,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Type segment categorizes the market by product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330779"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330779"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Irrigation Devices and Accessories</a:t>
            </a:r>
          </a:p>
        </p:txBody>
      </p:sp>
      <p:sp>
        <p:nvSpPr>
          <p:cNvPr id="22" name="Rectangle 21"/>
          <p:cNvSpPr/>
          <p:nvPr/>
        </p:nvSpPr>
        <p:spPr>
          <a:xfrm>
            <a:off x="1866900"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370364"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311979" y="1773916"/>
            <a:ext cx="1330779"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311979" y="1992961"/>
            <a:ext cx="1330779"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50079"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Drops</a:t>
            </a:r>
          </a:p>
        </p:txBody>
      </p:sp>
      <p:sp>
        <p:nvSpPr>
          <p:cNvPr id="29" name="Rectangle 28"/>
          <p:cNvSpPr/>
          <p:nvPr/>
        </p:nvSpPr>
        <p:spPr>
          <a:xfrm>
            <a:off x="3311979"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311979"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311979"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3815443"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4757057" y="1773916"/>
            <a:ext cx="1330779"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57057" y="1992961"/>
            <a:ext cx="1330779"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5157"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Sprays</a:t>
            </a:r>
          </a:p>
        </p:txBody>
      </p:sp>
      <p:sp>
        <p:nvSpPr>
          <p:cNvPr id="36" name="Rectangle 35"/>
          <p:cNvSpPr/>
          <p:nvPr/>
        </p:nvSpPr>
        <p:spPr>
          <a:xfrm>
            <a:off x="4757057"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4757057"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4757057"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260521"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202136" y="1773916"/>
            <a:ext cx="1330779"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02136" y="1992961"/>
            <a:ext cx="1330779"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40236"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Suction Devices and Accessories</a:t>
            </a:r>
          </a:p>
        </p:txBody>
      </p:sp>
      <p:sp>
        <p:nvSpPr>
          <p:cNvPr id="43" name="Rectangle 42"/>
          <p:cNvSpPr/>
          <p:nvPr/>
        </p:nvSpPr>
        <p:spPr>
          <a:xfrm>
            <a:off x="6202136"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202136"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202136"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670560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7647214" y="1773916"/>
            <a:ext cx="1330779"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647214" y="1992961"/>
            <a:ext cx="1330779"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85314"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Manual Removal Tools</a:t>
            </a:r>
          </a:p>
        </p:txBody>
      </p:sp>
      <p:sp>
        <p:nvSpPr>
          <p:cNvPr id="50" name="Rectangle 49"/>
          <p:cNvSpPr/>
          <p:nvPr/>
        </p:nvSpPr>
        <p:spPr>
          <a:xfrm>
            <a:off x="7647214"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7647214"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7647214"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8150679"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9092293" y="1773916"/>
            <a:ext cx="1330779"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092293" y="1992961"/>
            <a:ext cx="1330779"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30393"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Camera-Assisted Removal Devices</a:t>
            </a:r>
          </a:p>
        </p:txBody>
      </p:sp>
      <p:sp>
        <p:nvSpPr>
          <p:cNvPr id="57" name="Rectangle 56"/>
          <p:cNvSpPr/>
          <p:nvPr/>
        </p:nvSpPr>
        <p:spPr>
          <a:xfrm>
            <a:off x="9092293"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9092293"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9092293"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9595757"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10537371" y="1773916"/>
            <a:ext cx="1330779"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537371" y="1992961"/>
            <a:ext cx="1330779"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75471"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Combination Removal Kits</a:t>
            </a:r>
          </a:p>
        </p:txBody>
      </p:sp>
      <p:sp>
        <p:nvSpPr>
          <p:cNvPr id="64" name="Rectangle 63"/>
          <p:cNvSpPr/>
          <p:nvPr/>
        </p:nvSpPr>
        <p:spPr>
          <a:xfrm>
            <a:off x="10537371"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5" name="Rectangle 64"/>
          <p:cNvSpPr/>
          <p:nvPr/>
        </p:nvSpPr>
        <p:spPr>
          <a:xfrm>
            <a:off x="10537371"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6" name="Rectangle 65"/>
          <p:cNvSpPr/>
          <p:nvPr/>
        </p:nvSpPr>
        <p:spPr>
          <a:xfrm>
            <a:off x="10537371"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7" name="Oval 66"/>
          <p:cNvSpPr/>
          <p:nvPr/>
        </p:nvSpPr>
        <p:spPr>
          <a:xfrm>
            <a:off x="11040836"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68" name="Rounded Rectangle 6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70" name="Rectangle 69"/>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72" name="Rounded Rectangle 7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74" name="Rectangle 73"/>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810000" y="4219912"/>
            <a:ext cx="421005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p:txBody>
      </p:sp>
      <p:sp>
        <p:nvSpPr>
          <p:cNvPr id="76" name="Rounded Rectangle 7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8" name="Rectangle 77"/>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Product Type split shows how demand is distributed across product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80" name="Rectangle 7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82" name="TextBox 8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83" name="TextBox 8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4" name="Picture 83" descr="167_6_605E5C.png"/>
          <p:cNvPicPr>
            <a:picLocks noChangeAspect="1"/>
          </p:cNvPicPr>
          <p:nvPr/>
        </p:nvPicPr>
        <p:blipFill>
          <a:blip r:embed="rId4"/>
          <a:stretch>
            <a:fillRect/>
          </a:stretch>
        </p:blipFill>
        <p:spPr>
          <a:xfrm>
            <a:off x="1934425" y="2286582"/>
            <a:ext cx="1195728" cy="361950"/>
          </a:xfrm>
          <a:prstGeom prst="rect">
            <a:avLst/>
          </a:prstGeom>
        </p:spPr>
      </p:pic>
      <p:pic>
        <p:nvPicPr>
          <p:cNvPr id="85" name="Picture 84" descr="282_2_605E5C.png"/>
          <p:cNvPicPr>
            <a:picLocks noChangeAspect="1"/>
          </p:cNvPicPr>
          <p:nvPr/>
        </p:nvPicPr>
        <p:blipFill>
          <a:blip r:embed="rId5"/>
          <a:stretch>
            <a:fillRect/>
          </a:stretch>
        </p:blipFill>
        <p:spPr>
          <a:xfrm>
            <a:off x="1934425" y="2779432"/>
            <a:ext cx="1195728" cy="361950"/>
          </a:xfrm>
          <a:prstGeom prst="rect">
            <a:avLst/>
          </a:prstGeom>
        </p:spPr>
      </p:pic>
      <p:pic>
        <p:nvPicPr>
          <p:cNvPr id="86" name="Picture 85" descr="5_3__605E5C.png"/>
          <p:cNvPicPr>
            <a:picLocks noChangeAspect="1"/>
          </p:cNvPicPr>
          <p:nvPr/>
        </p:nvPicPr>
        <p:blipFill>
          <a:blip r:embed="rId6"/>
          <a:stretch>
            <a:fillRect/>
          </a:stretch>
        </p:blipFill>
        <p:spPr>
          <a:xfrm>
            <a:off x="2041071" y="3272281"/>
            <a:ext cx="982436" cy="361950"/>
          </a:xfrm>
          <a:prstGeom prst="rect">
            <a:avLst/>
          </a:prstGeom>
        </p:spPr>
      </p:pic>
      <p:pic>
        <p:nvPicPr>
          <p:cNvPr id="87" name="Picture 86" descr="139_3_605E5C.png"/>
          <p:cNvPicPr>
            <a:picLocks noChangeAspect="1"/>
          </p:cNvPicPr>
          <p:nvPr/>
        </p:nvPicPr>
        <p:blipFill>
          <a:blip r:embed="rId7"/>
          <a:stretch>
            <a:fillRect/>
          </a:stretch>
        </p:blipFill>
        <p:spPr>
          <a:xfrm>
            <a:off x="3379504" y="2286582"/>
            <a:ext cx="1195728" cy="361950"/>
          </a:xfrm>
          <a:prstGeom prst="rect">
            <a:avLst/>
          </a:prstGeom>
        </p:spPr>
      </p:pic>
      <p:pic>
        <p:nvPicPr>
          <p:cNvPr id="88" name="Picture 87" descr="247_6_605E5C.png"/>
          <p:cNvPicPr>
            <a:picLocks noChangeAspect="1"/>
          </p:cNvPicPr>
          <p:nvPr/>
        </p:nvPicPr>
        <p:blipFill>
          <a:blip r:embed="rId8"/>
          <a:stretch>
            <a:fillRect/>
          </a:stretch>
        </p:blipFill>
        <p:spPr>
          <a:xfrm>
            <a:off x="3379504" y="2779432"/>
            <a:ext cx="1195728" cy="361950"/>
          </a:xfrm>
          <a:prstGeom prst="rect">
            <a:avLst/>
          </a:prstGeom>
        </p:spPr>
      </p:pic>
      <p:pic>
        <p:nvPicPr>
          <p:cNvPr id="89" name="Picture 88" descr="5_9__605E5C.png"/>
          <p:cNvPicPr>
            <a:picLocks noChangeAspect="1"/>
          </p:cNvPicPr>
          <p:nvPr/>
        </p:nvPicPr>
        <p:blipFill>
          <a:blip r:embed="rId9"/>
          <a:stretch>
            <a:fillRect/>
          </a:stretch>
        </p:blipFill>
        <p:spPr>
          <a:xfrm>
            <a:off x="3486150" y="3272281"/>
            <a:ext cx="982436" cy="361950"/>
          </a:xfrm>
          <a:prstGeom prst="rect">
            <a:avLst/>
          </a:prstGeom>
        </p:spPr>
      </p:pic>
      <p:pic>
        <p:nvPicPr>
          <p:cNvPr id="90" name="Picture 89" descr="114_5_605E5C.png"/>
          <p:cNvPicPr>
            <a:picLocks noChangeAspect="1"/>
          </p:cNvPicPr>
          <p:nvPr/>
        </p:nvPicPr>
        <p:blipFill>
          <a:blip r:embed="rId10"/>
          <a:stretch>
            <a:fillRect/>
          </a:stretch>
        </p:blipFill>
        <p:spPr>
          <a:xfrm>
            <a:off x="4824582" y="2286582"/>
            <a:ext cx="1195728" cy="361950"/>
          </a:xfrm>
          <a:prstGeom prst="rect">
            <a:avLst/>
          </a:prstGeom>
        </p:spPr>
      </p:pic>
      <p:pic>
        <p:nvPicPr>
          <p:cNvPr id="91" name="Picture 90" descr="139_2_605E5C.png"/>
          <p:cNvPicPr>
            <a:picLocks noChangeAspect="1"/>
          </p:cNvPicPr>
          <p:nvPr/>
        </p:nvPicPr>
        <p:blipFill>
          <a:blip r:embed="rId11"/>
          <a:stretch>
            <a:fillRect/>
          </a:stretch>
        </p:blipFill>
        <p:spPr>
          <a:xfrm>
            <a:off x="4824582" y="2779432"/>
            <a:ext cx="1195728" cy="361950"/>
          </a:xfrm>
          <a:prstGeom prst="rect">
            <a:avLst/>
          </a:prstGeom>
        </p:spPr>
      </p:pic>
      <p:pic>
        <p:nvPicPr>
          <p:cNvPr id="92" name="Picture 91" descr="2_0__605E5C.png"/>
          <p:cNvPicPr>
            <a:picLocks noChangeAspect="1"/>
          </p:cNvPicPr>
          <p:nvPr/>
        </p:nvPicPr>
        <p:blipFill>
          <a:blip r:embed="rId12"/>
          <a:stretch>
            <a:fillRect/>
          </a:stretch>
        </p:blipFill>
        <p:spPr>
          <a:xfrm>
            <a:off x="4931228" y="3272281"/>
            <a:ext cx="982436" cy="361950"/>
          </a:xfrm>
          <a:prstGeom prst="rect">
            <a:avLst/>
          </a:prstGeom>
        </p:spPr>
      </p:pic>
      <p:pic>
        <p:nvPicPr>
          <p:cNvPr id="93" name="Picture 92" descr="89_7_605E5C.png"/>
          <p:cNvPicPr>
            <a:picLocks noChangeAspect="1"/>
          </p:cNvPicPr>
          <p:nvPr/>
        </p:nvPicPr>
        <p:blipFill>
          <a:blip r:embed="rId13"/>
          <a:stretch>
            <a:fillRect/>
          </a:stretch>
        </p:blipFill>
        <p:spPr>
          <a:xfrm>
            <a:off x="6376307" y="2286582"/>
            <a:ext cx="982436" cy="361950"/>
          </a:xfrm>
          <a:prstGeom prst="rect">
            <a:avLst/>
          </a:prstGeom>
        </p:spPr>
      </p:pic>
      <p:pic>
        <p:nvPicPr>
          <p:cNvPr id="94" name="Picture 93" descr="125_5_605E5C.png"/>
          <p:cNvPicPr>
            <a:picLocks noChangeAspect="1"/>
          </p:cNvPicPr>
          <p:nvPr/>
        </p:nvPicPr>
        <p:blipFill>
          <a:blip r:embed="rId14"/>
          <a:stretch>
            <a:fillRect/>
          </a:stretch>
        </p:blipFill>
        <p:spPr>
          <a:xfrm>
            <a:off x="6269661" y="2779432"/>
            <a:ext cx="1195728" cy="361950"/>
          </a:xfrm>
          <a:prstGeom prst="rect">
            <a:avLst/>
          </a:prstGeom>
        </p:spPr>
      </p:pic>
      <p:pic>
        <p:nvPicPr>
          <p:cNvPr id="95" name="Picture 94" descr="3_4__605E5C.png"/>
          <p:cNvPicPr>
            <a:picLocks noChangeAspect="1"/>
          </p:cNvPicPr>
          <p:nvPr/>
        </p:nvPicPr>
        <p:blipFill>
          <a:blip r:embed="rId15"/>
          <a:stretch>
            <a:fillRect/>
          </a:stretch>
        </p:blipFill>
        <p:spPr>
          <a:xfrm>
            <a:off x="6376307" y="3272281"/>
            <a:ext cx="982436" cy="361950"/>
          </a:xfrm>
          <a:prstGeom prst="rect">
            <a:avLst/>
          </a:prstGeom>
        </p:spPr>
      </p:pic>
      <p:pic>
        <p:nvPicPr>
          <p:cNvPr id="96" name="Picture 95" descr="78_6_605E5C.png"/>
          <p:cNvPicPr>
            <a:picLocks noChangeAspect="1"/>
          </p:cNvPicPr>
          <p:nvPr/>
        </p:nvPicPr>
        <p:blipFill>
          <a:blip r:embed="rId16"/>
          <a:stretch>
            <a:fillRect/>
          </a:stretch>
        </p:blipFill>
        <p:spPr>
          <a:xfrm>
            <a:off x="7821385" y="2286582"/>
            <a:ext cx="982436" cy="361950"/>
          </a:xfrm>
          <a:prstGeom prst="rect">
            <a:avLst/>
          </a:prstGeom>
        </p:spPr>
      </p:pic>
      <p:pic>
        <p:nvPicPr>
          <p:cNvPr id="97" name="Picture 96" descr="125_2_605E5C.png"/>
          <p:cNvPicPr>
            <a:picLocks noChangeAspect="1"/>
          </p:cNvPicPr>
          <p:nvPr/>
        </p:nvPicPr>
        <p:blipFill>
          <a:blip r:embed="rId17"/>
          <a:stretch>
            <a:fillRect/>
          </a:stretch>
        </p:blipFill>
        <p:spPr>
          <a:xfrm>
            <a:off x="7714739" y="2779432"/>
            <a:ext cx="1195728" cy="361950"/>
          </a:xfrm>
          <a:prstGeom prst="rect">
            <a:avLst/>
          </a:prstGeom>
        </p:spPr>
      </p:pic>
      <p:pic>
        <p:nvPicPr>
          <p:cNvPr id="98" name="Picture 97" descr="4_8__605E5C.png"/>
          <p:cNvPicPr>
            <a:picLocks noChangeAspect="1"/>
          </p:cNvPicPr>
          <p:nvPr/>
        </p:nvPicPr>
        <p:blipFill>
          <a:blip r:embed="rId18"/>
          <a:stretch>
            <a:fillRect/>
          </a:stretch>
        </p:blipFill>
        <p:spPr>
          <a:xfrm>
            <a:off x="7821385" y="3272281"/>
            <a:ext cx="982436" cy="361950"/>
          </a:xfrm>
          <a:prstGeom prst="rect">
            <a:avLst/>
          </a:prstGeom>
        </p:spPr>
      </p:pic>
      <p:pic>
        <p:nvPicPr>
          <p:cNvPr id="99" name="Picture 98" descr="58_9_605E5C.png"/>
          <p:cNvPicPr>
            <a:picLocks noChangeAspect="1"/>
          </p:cNvPicPr>
          <p:nvPr/>
        </p:nvPicPr>
        <p:blipFill>
          <a:blip r:embed="rId19"/>
          <a:stretch>
            <a:fillRect/>
          </a:stretch>
        </p:blipFill>
        <p:spPr>
          <a:xfrm>
            <a:off x="9266464" y="2286582"/>
            <a:ext cx="982436" cy="361950"/>
          </a:xfrm>
          <a:prstGeom prst="rect">
            <a:avLst/>
          </a:prstGeom>
        </p:spPr>
      </p:pic>
      <p:pic>
        <p:nvPicPr>
          <p:cNvPr id="100" name="Picture 99" descr="92_6_605E5C.png"/>
          <p:cNvPicPr>
            <a:picLocks noChangeAspect="1"/>
          </p:cNvPicPr>
          <p:nvPr/>
        </p:nvPicPr>
        <p:blipFill>
          <a:blip r:embed="rId20"/>
          <a:stretch>
            <a:fillRect/>
          </a:stretch>
        </p:blipFill>
        <p:spPr>
          <a:xfrm>
            <a:off x="9266464" y="2779432"/>
            <a:ext cx="982436" cy="361950"/>
          </a:xfrm>
          <a:prstGeom prst="rect">
            <a:avLst/>
          </a:prstGeom>
        </p:spPr>
      </p:pic>
      <p:pic>
        <p:nvPicPr>
          <p:cNvPr id="101" name="Picture 100" descr="4_6__605E5C.png"/>
          <p:cNvPicPr>
            <a:picLocks noChangeAspect="1"/>
          </p:cNvPicPr>
          <p:nvPr/>
        </p:nvPicPr>
        <p:blipFill>
          <a:blip r:embed="rId21"/>
          <a:stretch>
            <a:fillRect/>
          </a:stretch>
        </p:blipFill>
        <p:spPr>
          <a:xfrm>
            <a:off x="9266464" y="3272281"/>
            <a:ext cx="982436" cy="361950"/>
          </a:xfrm>
          <a:prstGeom prst="rect">
            <a:avLst/>
          </a:prstGeom>
        </p:spPr>
      </p:pic>
      <p:pic>
        <p:nvPicPr>
          <p:cNvPr id="102" name="Picture 101" descr="47_8_605E5C.png"/>
          <p:cNvPicPr>
            <a:picLocks noChangeAspect="1"/>
          </p:cNvPicPr>
          <p:nvPr/>
        </p:nvPicPr>
        <p:blipFill>
          <a:blip r:embed="rId22"/>
          <a:stretch>
            <a:fillRect/>
          </a:stretch>
        </p:blipFill>
        <p:spPr>
          <a:xfrm>
            <a:off x="10711542" y="2286582"/>
            <a:ext cx="982436" cy="361950"/>
          </a:xfrm>
          <a:prstGeom prst="rect">
            <a:avLst/>
          </a:prstGeom>
        </p:spPr>
      </p:pic>
      <p:pic>
        <p:nvPicPr>
          <p:cNvPr id="103" name="Picture 102" descr="78_7_605E5C.png"/>
          <p:cNvPicPr>
            <a:picLocks noChangeAspect="1"/>
          </p:cNvPicPr>
          <p:nvPr/>
        </p:nvPicPr>
        <p:blipFill>
          <a:blip r:embed="rId23"/>
          <a:stretch>
            <a:fillRect/>
          </a:stretch>
        </p:blipFill>
        <p:spPr>
          <a:xfrm>
            <a:off x="10711542" y="2779432"/>
            <a:ext cx="982436" cy="361950"/>
          </a:xfrm>
          <a:prstGeom prst="rect">
            <a:avLst/>
          </a:prstGeom>
        </p:spPr>
      </p:pic>
      <p:pic>
        <p:nvPicPr>
          <p:cNvPr id="104" name="Picture 103" descr="5_1__605E5C.png"/>
          <p:cNvPicPr>
            <a:picLocks noChangeAspect="1"/>
          </p:cNvPicPr>
          <p:nvPr/>
        </p:nvPicPr>
        <p:blipFill>
          <a:blip r:embed="rId24"/>
          <a:stretch>
            <a:fillRect/>
          </a:stretch>
        </p:blipFill>
        <p:spPr>
          <a:xfrm>
            <a:off x="10711542" y="3272281"/>
            <a:ext cx="982436" cy="361950"/>
          </a:xfrm>
          <a:prstGeom prst="rect">
            <a:avLst/>
          </a:prstGeom>
        </p:spPr>
      </p:pic>
      <p:pic>
        <p:nvPicPr>
          <p:cNvPr id="105" name="Picture 104" descr="lock.png"/>
          <p:cNvPicPr>
            <a:picLocks noChangeAspect="1"/>
          </p:cNvPicPr>
          <p:nvPr/>
        </p:nvPicPr>
        <p:blipFill>
          <a:blip r:embed="rId25"/>
          <a:stretch>
            <a:fillRect/>
          </a:stretch>
        </p:blipFill>
        <p:spPr>
          <a:xfrm>
            <a:off x="2438944" y="2827057"/>
            <a:ext cx="183356" cy="266700"/>
          </a:xfrm>
          <a:prstGeom prst="rect">
            <a:avLst/>
          </a:prstGeom>
        </p:spPr>
      </p:pic>
      <p:pic>
        <p:nvPicPr>
          <p:cNvPr id="106" name="Picture 105" descr="lock.png"/>
          <p:cNvPicPr>
            <a:picLocks noChangeAspect="1"/>
          </p:cNvPicPr>
          <p:nvPr/>
        </p:nvPicPr>
        <p:blipFill>
          <a:blip r:embed="rId25"/>
          <a:stretch>
            <a:fillRect/>
          </a:stretch>
        </p:blipFill>
        <p:spPr>
          <a:xfrm>
            <a:off x="3884023" y="2827057"/>
            <a:ext cx="183356" cy="266700"/>
          </a:xfrm>
          <a:prstGeom prst="rect">
            <a:avLst/>
          </a:prstGeom>
        </p:spPr>
      </p:pic>
      <p:pic>
        <p:nvPicPr>
          <p:cNvPr id="107" name="Picture 106" descr="lock.png"/>
          <p:cNvPicPr>
            <a:picLocks noChangeAspect="1"/>
          </p:cNvPicPr>
          <p:nvPr/>
        </p:nvPicPr>
        <p:blipFill>
          <a:blip r:embed="rId25"/>
          <a:stretch>
            <a:fillRect/>
          </a:stretch>
        </p:blipFill>
        <p:spPr>
          <a:xfrm>
            <a:off x="5329101" y="2827057"/>
            <a:ext cx="183356" cy="266700"/>
          </a:xfrm>
          <a:prstGeom prst="rect">
            <a:avLst/>
          </a:prstGeom>
        </p:spPr>
      </p:pic>
      <p:pic>
        <p:nvPicPr>
          <p:cNvPr id="108" name="Picture 107" descr="lock.png"/>
          <p:cNvPicPr>
            <a:picLocks noChangeAspect="1"/>
          </p:cNvPicPr>
          <p:nvPr/>
        </p:nvPicPr>
        <p:blipFill>
          <a:blip r:embed="rId25"/>
          <a:stretch>
            <a:fillRect/>
          </a:stretch>
        </p:blipFill>
        <p:spPr>
          <a:xfrm>
            <a:off x="6774180" y="2827057"/>
            <a:ext cx="183356" cy="266700"/>
          </a:xfrm>
          <a:prstGeom prst="rect">
            <a:avLst/>
          </a:prstGeom>
        </p:spPr>
      </p:pic>
      <p:pic>
        <p:nvPicPr>
          <p:cNvPr id="109" name="Picture 108" descr="lock.png"/>
          <p:cNvPicPr>
            <a:picLocks noChangeAspect="1"/>
          </p:cNvPicPr>
          <p:nvPr/>
        </p:nvPicPr>
        <p:blipFill>
          <a:blip r:embed="rId25"/>
          <a:stretch>
            <a:fillRect/>
          </a:stretch>
        </p:blipFill>
        <p:spPr>
          <a:xfrm>
            <a:off x="8219258" y="2827057"/>
            <a:ext cx="183356" cy="266700"/>
          </a:xfrm>
          <a:prstGeom prst="rect">
            <a:avLst/>
          </a:prstGeom>
        </p:spPr>
      </p:pic>
      <p:pic>
        <p:nvPicPr>
          <p:cNvPr id="110" name="Picture 109" descr="lock.png"/>
          <p:cNvPicPr>
            <a:picLocks noChangeAspect="1"/>
          </p:cNvPicPr>
          <p:nvPr/>
        </p:nvPicPr>
        <p:blipFill>
          <a:blip r:embed="rId25"/>
          <a:stretch>
            <a:fillRect/>
          </a:stretch>
        </p:blipFill>
        <p:spPr>
          <a:xfrm>
            <a:off x="9664337" y="2827057"/>
            <a:ext cx="183356" cy="266700"/>
          </a:xfrm>
          <a:prstGeom prst="rect">
            <a:avLst/>
          </a:prstGeom>
        </p:spPr>
      </p:pic>
      <p:pic>
        <p:nvPicPr>
          <p:cNvPr id="111" name="Picture 110" descr="lock.png"/>
          <p:cNvPicPr>
            <a:picLocks noChangeAspect="1"/>
          </p:cNvPicPr>
          <p:nvPr/>
        </p:nvPicPr>
        <p:blipFill>
          <a:blip r:embed="rId25"/>
          <a:stretch>
            <a:fillRect/>
          </a:stretch>
        </p:blipFill>
        <p:spPr>
          <a:xfrm>
            <a:off x="11109415" y="2827057"/>
            <a:ext cx="183356" cy="266700"/>
          </a:xfrm>
          <a:prstGeom prst="rect">
            <a:avLst/>
          </a:prstGeom>
        </p:spPr>
      </p:pic>
      <p:sp>
        <p:nvSpPr>
          <p:cNvPr id="112" name="TextBox 111"/>
          <p:cNvSpPr txBox="1"/>
          <p:nvPr/>
        </p:nvSpPr>
        <p:spPr>
          <a:xfrm>
            <a:off x="485775" y="4229437"/>
            <a:ext cx="2914650" cy="186689"/>
          </a:xfrm>
          <a:prstGeom prst="rect">
            <a:avLst/>
          </a:prstGeom>
          <a:noFill/>
        </p:spPr>
        <p:txBody>
          <a:bodyPr wrap="none" lIns="0" rIns="0" tIns="0" bIns="0">
            <a:spAutoFit/>
          </a:bodyPr>
          <a:lstStyle/>
          <a:p>
            <a:r>
              <a:rPr sz="1100" b="0">
                <a:solidFill>
                  <a:srgbClr val="2E2E2E"/>
                </a:solidFill>
                <a:latin typeface="Calibri"/>
              </a:rPr>
              <a:t>Among ear wax removal products by product type,</a:t>
            </a:r>
          </a:p>
        </p:txBody>
      </p:sp>
      <p:sp>
        <p:nvSpPr>
          <p:cNvPr id="113" name="TextBox 112"/>
          <p:cNvSpPr txBox="1"/>
          <p:nvPr/>
        </p:nvSpPr>
        <p:spPr>
          <a:xfrm>
            <a:off x="485775" y="4397077"/>
            <a:ext cx="2648917" cy="186689"/>
          </a:xfrm>
          <a:prstGeom prst="rect">
            <a:avLst/>
          </a:prstGeom>
          <a:noFill/>
        </p:spPr>
        <p:txBody>
          <a:bodyPr wrap="none" lIns="0" rIns="0" tIns="0" bIns="0">
            <a:spAutoFit/>
          </a:bodyPr>
          <a:lstStyle/>
          <a:p>
            <a:r>
              <a:rPr sz="1100" b="0">
                <a:solidFill>
                  <a:srgbClr val="2E2E2E"/>
                </a:solidFill>
                <a:latin typeface="Calibri"/>
              </a:rPr>
              <a:t>ear drops segment is expected to witness the</a:t>
            </a:r>
          </a:p>
        </p:txBody>
      </p:sp>
      <p:sp>
        <p:nvSpPr>
          <p:cNvPr id="114" name="TextBox 113"/>
          <p:cNvSpPr txBox="1"/>
          <p:nvPr/>
        </p:nvSpPr>
        <p:spPr>
          <a:xfrm>
            <a:off x="485775" y="4564717"/>
            <a:ext cx="990781" cy="186689"/>
          </a:xfrm>
          <a:prstGeom prst="rect">
            <a:avLst/>
          </a:prstGeom>
          <a:noFill/>
        </p:spPr>
        <p:txBody>
          <a:bodyPr wrap="none" lIns="0" rIns="0" tIns="0" bIns="0">
            <a:spAutoFit/>
          </a:bodyPr>
          <a:lstStyle/>
          <a:p>
            <a:r>
              <a:rPr sz="1100" b="0">
                <a:solidFill>
                  <a:srgbClr val="2E2E2E"/>
                </a:solidFill>
                <a:latin typeface="Calibri"/>
              </a:rPr>
              <a:t>highest CAGR of</a:t>
            </a:r>
          </a:p>
        </p:txBody>
      </p:sp>
      <p:pic>
        <p:nvPicPr>
          <p:cNvPr id="115" name="Picture 114" descr="lock.png"/>
          <p:cNvPicPr>
            <a:picLocks noChangeAspect="1"/>
          </p:cNvPicPr>
          <p:nvPr/>
        </p:nvPicPr>
        <p:blipFill>
          <a:blip r:embed="rId25"/>
          <a:stretch>
            <a:fillRect/>
          </a:stretch>
        </p:blipFill>
        <p:spPr>
          <a:xfrm>
            <a:off x="1424607" y="4554938"/>
            <a:ext cx="128699" cy="187198"/>
          </a:xfrm>
          <a:prstGeom prst="rect">
            <a:avLst/>
          </a:prstGeom>
        </p:spPr>
      </p:pic>
      <p:sp>
        <p:nvSpPr>
          <p:cNvPr id="116" name="TextBox 115"/>
          <p:cNvSpPr txBox="1"/>
          <p:nvPr/>
        </p:nvSpPr>
        <p:spPr>
          <a:xfrm>
            <a:off x="1592103" y="4564717"/>
            <a:ext cx="1624905" cy="186689"/>
          </a:xfrm>
          <a:prstGeom prst="rect">
            <a:avLst/>
          </a:prstGeom>
          <a:noFill/>
        </p:spPr>
        <p:txBody>
          <a:bodyPr wrap="none" lIns="0" rIns="0" tIns="0" bIns="0">
            <a:spAutoFit/>
          </a:bodyPr>
          <a:lstStyle/>
          <a:p>
            <a:r>
              <a:rPr sz="1100" b="0">
                <a:solidFill>
                  <a:srgbClr val="2E2E2E"/>
                </a:solidFill>
                <a:latin typeface="Calibri"/>
              </a:rPr>
              <a:t>over the forecast period. In</a:t>
            </a:r>
          </a:p>
        </p:txBody>
      </p:sp>
      <p:sp>
        <p:nvSpPr>
          <p:cNvPr id="117" name="TextBox 116"/>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terms of value share by product type, the irrigation</a:t>
            </a:r>
          </a:p>
        </p:txBody>
      </p:sp>
      <p:sp>
        <p:nvSpPr>
          <p:cNvPr id="118" name="TextBox 117"/>
          <p:cNvSpPr txBox="1"/>
          <p:nvPr/>
        </p:nvSpPr>
        <p:spPr>
          <a:xfrm>
            <a:off x="485775" y="4899997"/>
            <a:ext cx="2765152" cy="186689"/>
          </a:xfrm>
          <a:prstGeom prst="rect">
            <a:avLst/>
          </a:prstGeom>
          <a:noFill/>
        </p:spPr>
        <p:txBody>
          <a:bodyPr wrap="none" lIns="0" rIns="0" tIns="0" bIns="0">
            <a:spAutoFit/>
          </a:bodyPr>
          <a:lstStyle/>
          <a:p>
            <a:r>
              <a:rPr sz="1100" b="0">
                <a:solidFill>
                  <a:srgbClr val="2E2E2E"/>
                </a:solidFill>
                <a:latin typeface="Calibri"/>
              </a:rPr>
              <a:t>devices and accessories segment is expected to</a:t>
            </a:r>
          </a:p>
        </p:txBody>
      </p:sp>
      <p:sp>
        <p:nvSpPr>
          <p:cNvPr id="119" name="TextBox 118"/>
          <p:cNvSpPr txBox="1"/>
          <p:nvPr/>
        </p:nvSpPr>
        <p:spPr>
          <a:xfrm>
            <a:off x="485775" y="5067637"/>
            <a:ext cx="1760512" cy="186689"/>
          </a:xfrm>
          <a:prstGeom prst="rect">
            <a:avLst/>
          </a:prstGeom>
          <a:noFill/>
        </p:spPr>
        <p:txBody>
          <a:bodyPr wrap="none" lIns="0" rIns="0" tIns="0" bIns="0">
            <a:spAutoFit/>
          </a:bodyPr>
          <a:lstStyle/>
          <a:p>
            <a:r>
              <a:rPr sz="1100" b="0">
                <a:solidFill>
                  <a:srgbClr val="2E2E2E"/>
                </a:solidFill>
                <a:latin typeface="Calibri"/>
              </a:rPr>
              <a:t>dominate the market, gaining</a:t>
            </a:r>
          </a:p>
        </p:txBody>
      </p:sp>
      <p:pic>
        <p:nvPicPr>
          <p:cNvPr id="120" name="Picture 119" descr="lock.png"/>
          <p:cNvPicPr>
            <a:picLocks noChangeAspect="1"/>
          </p:cNvPicPr>
          <p:nvPr/>
        </p:nvPicPr>
        <p:blipFill>
          <a:blip r:embed="rId25"/>
          <a:stretch>
            <a:fillRect/>
          </a:stretch>
        </p:blipFill>
        <p:spPr>
          <a:xfrm>
            <a:off x="2194339" y="5057858"/>
            <a:ext cx="128699" cy="187198"/>
          </a:xfrm>
          <a:prstGeom prst="rect">
            <a:avLst/>
          </a:prstGeom>
        </p:spPr>
      </p:pic>
      <p:sp>
        <p:nvSpPr>
          <p:cNvPr id="121" name="TextBox 120"/>
          <p:cNvSpPr txBox="1"/>
          <p:nvPr/>
        </p:nvSpPr>
        <p:spPr>
          <a:xfrm>
            <a:off x="2361835"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122" name="TextBox 121"/>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123" name="Picture 122" descr="lock.png"/>
          <p:cNvPicPr>
            <a:picLocks noChangeAspect="1"/>
          </p:cNvPicPr>
          <p:nvPr/>
        </p:nvPicPr>
        <p:blipFill>
          <a:blip r:embed="rId25"/>
          <a:stretch>
            <a:fillRect/>
          </a:stretch>
        </p:blipFill>
        <p:spPr>
          <a:xfrm>
            <a:off x="1330764" y="5225498"/>
            <a:ext cx="128699" cy="187198"/>
          </a:xfrm>
          <a:prstGeom prst="rect">
            <a:avLst/>
          </a:prstGeom>
        </p:spPr>
      </p:pic>
      <p:sp>
        <p:nvSpPr>
          <p:cNvPr id="124" name="TextBox 123"/>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25" name="TextBox 124"/>
          <p:cNvSpPr txBox="1"/>
          <p:nvPr/>
        </p:nvSpPr>
        <p:spPr>
          <a:xfrm>
            <a:off x="485775" y="5453209"/>
            <a:ext cx="2614538" cy="186689"/>
          </a:xfrm>
          <a:prstGeom prst="rect">
            <a:avLst/>
          </a:prstGeom>
          <a:noFill/>
        </p:spPr>
        <p:txBody>
          <a:bodyPr wrap="none" lIns="0" rIns="0" tIns="0" bIns="0">
            <a:spAutoFit/>
          </a:bodyPr>
          <a:lstStyle/>
          <a:p>
            <a:r>
              <a:rPr sz="1100" b="0">
                <a:solidFill>
                  <a:srgbClr val="2E2E2E"/>
                </a:solidFill>
                <a:latin typeface="Calibri"/>
              </a:rPr>
              <a:t>Irrigation devices and accessories segment is</a:t>
            </a:r>
          </a:p>
        </p:txBody>
      </p:sp>
      <p:sp>
        <p:nvSpPr>
          <p:cNvPr id="126" name="TextBox 125"/>
          <p:cNvSpPr txBox="1"/>
          <p:nvPr/>
        </p:nvSpPr>
        <p:spPr>
          <a:xfrm>
            <a:off x="485775" y="562084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127" name="Picture 126" descr="lock.png"/>
          <p:cNvPicPr>
            <a:picLocks noChangeAspect="1"/>
          </p:cNvPicPr>
          <p:nvPr/>
        </p:nvPicPr>
        <p:blipFill>
          <a:blip r:embed="rId25"/>
          <a:stretch>
            <a:fillRect/>
          </a:stretch>
        </p:blipFill>
        <p:spPr>
          <a:xfrm>
            <a:off x="1678376" y="5611070"/>
            <a:ext cx="128699" cy="187198"/>
          </a:xfrm>
          <a:prstGeom prst="rect">
            <a:avLst/>
          </a:prstGeom>
        </p:spPr>
      </p:pic>
      <p:sp>
        <p:nvSpPr>
          <p:cNvPr id="128" name="TextBox 127"/>
          <p:cNvSpPr txBox="1"/>
          <p:nvPr/>
        </p:nvSpPr>
        <p:spPr>
          <a:xfrm>
            <a:off x="1845872" y="5620849"/>
            <a:ext cx="1389434" cy="186689"/>
          </a:xfrm>
          <a:prstGeom prst="rect">
            <a:avLst/>
          </a:prstGeom>
          <a:noFill/>
        </p:spPr>
        <p:txBody>
          <a:bodyPr wrap="none" lIns="0" rIns="0" tIns="0" bIns="0">
            <a:spAutoFit/>
          </a:bodyPr>
          <a:lstStyle/>
          <a:p>
            <a:r>
              <a:rPr sz="1100" b="0">
                <a:solidFill>
                  <a:srgbClr val="2E2E2E"/>
                </a:solidFill>
                <a:latin typeface="Calibri"/>
              </a:rPr>
              <a:t>X higher value than ear</a:t>
            </a:r>
          </a:p>
        </p:txBody>
      </p:sp>
      <p:sp>
        <p:nvSpPr>
          <p:cNvPr id="129" name="TextBox 128"/>
          <p:cNvSpPr txBox="1"/>
          <p:nvPr/>
        </p:nvSpPr>
        <p:spPr>
          <a:xfrm>
            <a:off x="485775" y="5788489"/>
            <a:ext cx="1410989" cy="186689"/>
          </a:xfrm>
          <a:prstGeom prst="rect">
            <a:avLst/>
          </a:prstGeom>
          <a:noFill/>
        </p:spPr>
        <p:txBody>
          <a:bodyPr wrap="none" lIns="0" rIns="0" tIns="0" bIns="0">
            <a:spAutoFit/>
          </a:bodyPr>
          <a:lstStyle/>
          <a:p>
            <a:r>
              <a:rPr sz="1100" b="0">
                <a:solidFill>
                  <a:srgbClr val="2E2E2E"/>
                </a:solidFill>
                <a:latin typeface="Calibri"/>
              </a:rPr>
              <a:t>drops segment in 2036.</a:t>
            </a:r>
          </a:p>
        </p:txBody>
      </p:sp>
      <p:sp>
        <p:nvSpPr>
          <p:cNvPr id="130" name="TextBox 129"/>
          <p:cNvSpPr txBox="1"/>
          <p:nvPr/>
        </p:nvSpPr>
        <p:spPr>
          <a:xfrm>
            <a:off x="3838575" y="4229437"/>
            <a:ext cx="2069806" cy="179984"/>
          </a:xfrm>
          <a:prstGeom prst="rect">
            <a:avLst/>
          </a:prstGeom>
          <a:noFill/>
        </p:spPr>
        <p:txBody>
          <a:bodyPr wrap="none" lIns="0" rIns="0" tIns="0" bIns="0">
            <a:spAutoFit/>
          </a:bodyPr>
          <a:lstStyle/>
          <a:p>
            <a:r>
              <a:rPr sz="1055" b="0">
                <a:solidFill>
                  <a:srgbClr val="2E2E2E"/>
                </a:solidFill>
                <a:latin typeface="Calibri"/>
              </a:rPr>
              <a:t>● Irrigation Devices and Accessories:</a:t>
            </a:r>
          </a:p>
        </p:txBody>
      </p:sp>
      <p:pic>
        <p:nvPicPr>
          <p:cNvPr id="131" name="Picture 130" descr="lock.png"/>
          <p:cNvPicPr>
            <a:picLocks noChangeAspect="1"/>
          </p:cNvPicPr>
          <p:nvPr/>
        </p:nvPicPr>
        <p:blipFill>
          <a:blip r:embed="rId25"/>
          <a:stretch>
            <a:fillRect/>
          </a:stretch>
        </p:blipFill>
        <p:spPr>
          <a:xfrm>
            <a:off x="5855462" y="4220049"/>
            <a:ext cx="123551" cy="179710"/>
          </a:xfrm>
          <a:prstGeom prst="rect">
            <a:avLst/>
          </a:prstGeom>
        </p:spPr>
      </p:pic>
      <p:sp>
        <p:nvSpPr>
          <p:cNvPr id="132" name="TextBox 131"/>
          <p:cNvSpPr txBox="1"/>
          <p:nvPr/>
        </p:nvSpPr>
        <p:spPr>
          <a:xfrm>
            <a:off x="6016258" y="4229437"/>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33" name="Picture 132" descr="lock.png"/>
          <p:cNvPicPr>
            <a:picLocks noChangeAspect="1"/>
          </p:cNvPicPr>
          <p:nvPr/>
        </p:nvPicPr>
        <p:blipFill>
          <a:blip r:embed="rId25"/>
          <a:stretch>
            <a:fillRect/>
          </a:stretch>
        </p:blipFill>
        <p:spPr>
          <a:xfrm>
            <a:off x="6841331" y="4220049"/>
            <a:ext cx="123551" cy="179710"/>
          </a:xfrm>
          <a:prstGeom prst="rect">
            <a:avLst/>
          </a:prstGeom>
        </p:spPr>
      </p:pic>
      <p:sp>
        <p:nvSpPr>
          <p:cNvPr id="134" name="TextBox 133"/>
          <p:cNvSpPr txBox="1"/>
          <p:nvPr/>
        </p:nvSpPr>
        <p:spPr>
          <a:xfrm>
            <a:off x="7002127" y="4229437"/>
            <a:ext cx="697761" cy="179984"/>
          </a:xfrm>
          <a:prstGeom prst="rect">
            <a:avLst/>
          </a:prstGeom>
          <a:noFill/>
        </p:spPr>
        <p:txBody>
          <a:bodyPr wrap="none" lIns="0" rIns="0" tIns="0" bIns="0">
            <a:spAutoFit/>
          </a:bodyPr>
          <a:lstStyle/>
          <a:p>
            <a:r>
              <a:rPr sz="1055" b="0">
                <a:solidFill>
                  <a:srgbClr val="2E2E2E"/>
                </a:solidFill>
                <a:latin typeface="Calibri"/>
              </a:rPr>
              <a:t>CAGR leads</a:t>
            </a:r>
          </a:p>
        </p:txBody>
      </p:sp>
      <p:sp>
        <p:nvSpPr>
          <p:cNvPr id="135" name="TextBox 134"/>
          <p:cNvSpPr txBox="1"/>
          <p:nvPr/>
        </p:nvSpPr>
        <p:spPr>
          <a:xfrm>
            <a:off x="3838575" y="4390371"/>
            <a:ext cx="794432" cy="179984"/>
          </a:xfrm>
          <a:prstGeom prst="rect">
            <a:avLst/>
          </a:prstGeom>
          <a:noFill/>
        </p:spPr>
        <p:txBody>
          <a:bodyPr wrap="none" lIns="0" rIns="0" tIns="0" bIns="0">
            <a:spAutoFit/>
          </a:bodyPr>
          <a:lstStyle/>
          <a:p>
            <a:r>
              <a:rPr sz="1055" b="0">
                <a:solidFill>
                  <a:srgbClr val="2E2E2E"/>
                </a:solidFill>
                <a:latin typeface="Calibri"/>
              </a:rPr>
              <a:t>the segment.</a:t>
            </a:r>
          </a:p>
        </p:txBody>
      </p:sp>
      <p:sp>
        <p:nvSpPr>
          <p:cNvPr id="136" name="TextBox 135"/>
          <p:cNvSpPr txBox="1"/>
          <p:nvPr/>
        </p:nvSpPr>
        <p:spPr>
          <a:xfrm>
            <a:off x="3838575" y="4599586"/>
            <a:ext cx="753275" cy="179984"/>
          </a:xfrm>
          <a:prstGeom prst="rect">
            <a:avLst/>
          </a:prstGeom>
          <a:noFill/>
        </p:spPr>
        <p:txBody>
          <a:bodyPr wrap="none" lIns="0" rIns="0" tIns="0" bIns="0">
            <a:spAutoFit/>
          </a:bodyPr>
          <a:lstStyle/>
          <a:p>
            <a:r>
              <a:rPr sz="1055" b="0">
                <a:solidFill>
                  <a:srgbClr val="2E2E2E"/>
                </a:solidFill>
                <a:latin typeface="Calibri"/>
              </a:rPr>
              <a:t>● Ear Drops:</a:t>
            </a:r>
          </a:p>
        </p:txBody>
      </p:sp>
      <p:pic>
        <p:nvPicPr>
          <p:cNvPr id="137" name="Picture 136" descr="lock.png"/>
          <p:cNvPicPr>
            <a:picLocks noChangeAspect="1"/>
          </p:cNvPicPr>
          <p:nvPr/>
        </p:nvPicPr>
        <p:blipFill>
          <a:blip r:embed="rId25"/>
          <a:stretch>
            <a:fillRect/>
          </a:stretch>
        </p:blipFill>
        <p:spPr>
          <a:xfrm>
            <a:off x="4538932" y="4590198"/>
            <a:ext cx="123551" cy="179710"/>
          </a:xfrm>
          <a:prstGeom prst="rect">
            <a:avLst/>
          </a:prstGeom>
        </p:spPr>
      </p:pic>
      <p:sp>
        <p:nvSpPr>
          <p:cNvPr id="138" name="TextBox 137"/>
          <p:cNvSpPr txBox="1"/>
          <p:nvPr/>
        </p:nvSpPr>
        <p:spPr>
          <a:xfrm>
            <a:off x="4699728" y="4599586"/>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39" name="Picture 138" descr="lock.png"/>
          <p:cNvPicPr>
            <a:picLocks noChangeAspect="1"/>
          </p:cNvPicPr>
          <p:nvPr/>
        </p:nvPicPr>
        <p:blipFill>
          <a:blip r:embed="rId25"/>
          <a:stretch>
            <a:fillRect/>
          </a:stretch>
        </p:blipFill>
        <p:spPr>
          <a:xfrm>
            <a:off x="5524800" y="4590198"/>
            <a:ext cx="123551" cy="179710"/>
          </a:xfrm>
          <a:prstGeom prst="rect">
            <a:avLst/>
          </a:prstGeom>
        </p:spPr>
      </p:pic>
      <p:sp>
        <p:nvSpPr>
          <p:cNvPr id="140" name="TextBox 139"/>
          <p:cNvSpPr txBox="1"/>
          <p:nvPr/>
        </p:nvSpPr>
        <p:spPr>
          <a:xfrm>
            <a:off x="5685596" y="4599586"/>
            <a:ext cx="1172915" cy="179984"/>
          </a:xfrm>
          <a:prstGeom prst="rect">
            <a:avLst/>
          </a:prstGeom>
          <a:noFill/>
        </p:spPr>
        <p:txBody>
          <a:bodyPr wrap="none" lIns="0" rIns="0" tIns="0" bIns="0">
            <a:spAutoFit/>
          </a:bodyPr>
          <a:lstStyle/>
          <a:p>
            <a:r>
              <a:rPr sz="1055" b="0">
                <a:solidFill>
                  <a:srgbClr val="2E2E2E"/>
                </a:solidFill>
                <a:latin typeface="Calibri"/>
              </a:rPr>
              <a:t>CAGR grows fastest.</a:t>
            </a:r>
          </a:p>
        </p:txBody>
      </p:sp>
      <p:sp>
        <p:nvSpPr>
          <p:cNvPr id="141" name="TextBox 140"/>
          <p:cNvSpPr txBox="1"/>
          <p:nvPr/>
        </p:nvSpPr>
        <p:spPr>
          <a:xfrm>
            <a:off x="3838575" y="4808800"/>
            <a:ext cx="786541" cy="179984"/>
          </a:xfrm>
          <a:prstGeom prst="rect">
            <a:avLst/>
          </a:prstGeom>
          <a:noFill/>
        </p:spPr>
        <p:txBody>
          <a:bodyPr wrap="none" lIns="0" rIns="0" tIns="0" bIns="0">
            <a:spAutoFit/>
          </a:bodyPr>
          <a:lstStyle/>
          <a:p>
            <a:r>
              <a:rPr sz="1055" b="0">
                <a:solidFill>
                  <a:srgbClr val="2E2E2E"/>
                </a:solidFill>
                <a:latin typeface="Calibri"/>
              </a:rPr>
              <a:t>● Ear Sprays:</a:t>
            </a:r>
          </a:p>
        </p:txBody>
      </p:sp>
      <p:pic>
        <p:nvPicPr>
          <p:cNvPr id="142" name="Picture 141" descr="lock.png"/>
          <p:cNvPicPr>
            <a:picLocks noChangeAspect="1"/>
          </p:cNvPicPr>
          <p:nvPr/>
        </p:nvPicPr>
        <p:blipFill>
          <a:blip r:embed="rId25"/>
          <a:stretch>
            <a:fillRect/>
          </a:stretch>
        </p:blipFill>
        <p:spPr>
          <a:xfrm>
            <a:off x="4572198" y="4799413"/>
            <a:ext cx="123551" cy="179710"/>
          </a:xfrm>
          <a:prstGeom prst="rect">
            <a:avLst/>
          </a:prstGeom>
        </p:spPr>
      </p:pic>
      <p:sp>
        <p:nvSpPr>
          <p:cNvPr id="143" name="TextBox 142"/>
          <p:cNvSpPr txBox="1"/>
          <p:nvPr/>
        </p:nvSpPr>
        <p:spPr>
          <a:xfrm>
            <a:off x="4732994" y="4808800"/>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44" name="Picture 143" descr="lock.png"/>
          <p:cNvPicPr>
            <a:picLocks noChangeAspect="1"/>
          </p:cNvPicPr>
          <p:nvPr/>
        </p:nvPicPr>
        <p:blipFill>
          <a:blip r:embed="rId25"/>
          <a:stretch>
            <a:fillRect/>
          </a:stretch>
        </p:blipFill>
        <p:spPr>
          <a:xfrm>
            <a:off x="5558066" y="4799413"/>
            <a:ext cx="123551" cy="179710"/>
          </a:xfrm>
          <a:prstGeom prst="rect">
            <a:avLst/>
          </a:prstGeom>
        </p:spPr>
      </p:pic>
      <p:sp>
        <p:nvSpPr>
          <p:cNvPr id="145" name="TextBox 144"/>
          <p:cNvSpPr txBox="1"/>
          <p:nvPr/>
        </p:nvSpPr>
        <p:spPr>
          <a:xfrm>
            <a:off x="5718862" y="4808800"/>
            <a:ext cx="1212992" cy="179984"/>
          </a:xfrm>
          <a:prstGeom prst="rect">
            <a:avLst/>
          </a:prstGeom>
          <a:noFill/>
        </p:spPr>
        <p:txBody>
          <a:bodyPr wrap="none" lIns="0" rIns="0" tIns="0" bIns="0">
            <a:spAutoFit/>
          </a:bodyPr>
          <a:lstStyle/>
          <a:p>
            <a:r>
              <a:rPr sz="1055" b="0">
                <a:solidFill>
                  <a:srgbClr val="2E2E2E"/>
                </a:solidFill>
                <a:latin typeface="Calibri"/>
              </a:rPr>
              <a:t>CAGR serves a niche.</a:t>
            </a:r>
          </a:p>
        </p:txBody>
      </p:sp>
      <p:sp>
        <p:nvSpPr>
          <p:cNvPr id="146" name="TextBox 145"/>
          <p:cNvSpPr txBox="1"/>
          <p:nvPr/>
        </p:nvSpPr>
        <p:spPr>
          <a:xfrm>
            <a:off x="3838575" y="5018015"/>
            <a:ext cx="1972889" cy="179984"/>
          </a:xfrm>
          <a:prstGeom prst="rect">
            <a:avLst/>
          </a:prstGeom>
          <a:noFill/>
        </p:spPr>
        <p:txBody>
          <a:bodyPr wrap="none" lIns="0" rIns="0" tIns="0" bIns="0">
            <a:spAutoFit/>
          </a:bodyPr>
          <a:lstStyle/>
          <a:p>
            <a:r>
              <a:rPr sz="1055" b="0">
                <a:solidFill>
                  <a:srgbClr val="2E2E2E"/>
                </a:solidFill>
                <a:latin typeface="Calibri"/>
              </a:rPr>
              <a:t>● Suction Devices and Accessories:</a:t>
            </a:r>
          </a:p>
        </p:txBody>
      </p:sp>
      <p:pic>
        <p:nvPicPr>
          <p:cNvPr id="147" name="Picture 146" descr="lock.png"/>
          <p:cNvPicPr>
            <a:picLocks noChangeAspect="1"/>
          </p:cNvPicPr>
          <p:nvPr/>
        </p:nvPicPr>
        <p:blipFill>
          <a:blip r:embed="rId25"/>
          <a:stretch>
            <a:fillRect/>
          </a:stretch>
        </p:blipFill>
        <p:spPr>
          <a:xfrm>
            <a:off x="5758545" y="5008627"/>
            <a:ext cx="123551" cy="179710"/>
          </a:xfrm>
          <a:prstGeom prst="rect">
            <a:avLst/>
          </a:prstGeom>
        </p:spPr>
      </p:pic>
      <p:sp>
        <p:nvSpPr>
          <p:cNvPr id="148" name="TextBox 147"/>
          <p:cNvSpPr txBox="1"/>
          <p:nvPr/>
        </p:nvSpPr>
        <p:spPr>
          <a:xfrm>
            <a:off x="5919341" y="5018015"/>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49" name="Picture 148" descr="lock.png"/>
          <p:cNvPicPr>
            <a:picLocks noChangeAspect="1"/>
          </p:cNvPicPr>
          <p:nvPr/>
        </p:nvPicPr>
        <p:blipFill>
          <a:blip r:embed="rId25"/>
          <a:stretch>
            <a:fillRect/>
          </a:stretch>
        </p:blipFill>
        <p:spPr>
          <a:xfrm>
            <a:off x="6744414" y="5008627"/>
            <a:ext cx="123551" cy="179710"/>
          </a:xfrm>
          <a:prstGeom prst="rect">
            <a:avLst/>
          </a:prstGeom>
        </p:spPr>
      </p:pic>
      <p:sp>
        <p:nvSpPr>
          <p:cNvPr id="150" name="TextBox 149"/>
          <p:cNvSpPr txBox="1"/>
          <p:nvPr/>
        </p:nvSpPr>
        <p:spPr>
          <a:xfrm>
            <a:off x="6905210" y="5018015"/>
            <a:ext cx="853352" cy="179984"/>
          </a:xfrm>
          <a:prstGeom prst="rect">
            <a:avLst/>
          </a:prstGeom>
          <a:noFill/>
        </p:spPr>
        <p:txBody>
          <a:bodyPr wrap="none" lIns="0" rIns="0" tIns="0" bIns="0">
            <a:spAutoFit/>
          </a:bodyPr>
          <a:lstStyle/>
          <a:p>
            <a:r>
              <a:rPr sz="1055" b="0">
                <a:solidFill>
                  <a:srgbClr val="2E2E2E"/>
                </a:solidFill>
                <a:latin typeface="Calibri"/>
              </a:rPr>
              <a:t>CAGR serves a</a:t>
            </a:r>
          </a:p>
        </p:txBody>
      </p:sp>
      <p:sp>
        <p:nvSpPr>
          <p:cNvPr id="151" name="TextBox 150"/>
          <p:cNvSpPr txBox="1"/>
          <p:nvPr/>
        </p:nvSpPr>
        <p:spPr>
          <a:xfrm>
            <a:off x="3838575" y="5178949"/>
            <a:ext cx="405455" cy="179984"/>
          </a:xfrm>
          <a:prstGeom prst="rect">
            <a:avLst/>
          </a:prstGeom>
          <a:noFill/>
        </p:spPr>
        <p:txBody>
          <a:bodyPr wrap="none" lIns="0" rIns="0" tIns="0" bIns="0">
            <a:spAutoFit/>
          </a:bodyPr>
          <a:lstStyle/>
          <a:p>
            <a:r>
              <a:rPr sz="1055" b="0">
                <a:solidFill>
                  <a:srgbClr val="2E2E2E"/>
                </a:solidFill>
                <a:latin typeface="Calibri"/>
              </a:rPr>
              <a:t>niche.</a:t>
            </a:r>
          </a:p>
        </p:txBody>
      </p:sp>
      <p:sp>
        <p:nvSpPr>
          <p:cNvPr id="152" name="TextBox 151"/>
          <p:cNvSpPr txBox="1"/>
          <p:nvPr/>
        </p:nvSpPr>
        <p:spPr>
          <a:xfrm>
            <a:off x="3838575" y="5388164"/>
            <a:ext cx="1462373" cy="179984"/>
          </a:xfrm>
          <a:prstGeom prst="rect">
            <a:avLst/>
          </a:prstGeom>
          <a:noFill/>
        </p:spPr>
        <p:txBody>
          <a:bodyPr wrap="none" lIns="0" rIns="0" tIns="0" bIns="0">
            <a:spAutoFit/>
          </a:bodyPr>
          <a:lstStyle/>
          <a:p>
            <a:r>
              <a:rPr sz="1055" b="0">
                <a:solidFill>
                  <a:srgbClr val="2E2E2E"/>
                </a:solidFill>
                <a:latin typeface="Calibri"/>
              </a:rPr>
              <a:t>● Manual Removal Tools:</a:t>
            </a:r>
          </a:p>
        </p:txBody>
      </p:sp>
      <p:pic>
        <p:nvPicPr>
          <p:cNvPr id="153" name="Picture 152" descr="lock.png"/>
          <p:cNvPicPr>
            <a:picLocks noChangeAspect="1"/>
          </p:cNvPicPr>
          <p:nvPr/>
        </p:nvPicPr>
        <p:blipFill>
          <a:blip r:embed="rId25"/>
          <a:stretch>
            <a:fillRect/>
          </a:stretch>
        </p:blipFill>
        <p:spPr>
          <a:xfrm>
            <a:off x="5248029" y="5378776"/>
            <a:ext cx="123551" cy="179710"/>
          </a:xfrm>
          <a:prstGeom prst="rect">
            <a:avLst/>
          </a:prstGeom>
        </p:spPr>
      </p:pic>
      <p:sp>
        <p:nvSpPr>
          <p:cNvPr id="154" name="TextBox 153"/>
          <p:cNvSpPr txBox="1"/>
          <p:nvPr/>
        </p:nvSpPr>
        <p:spPr>
          <a:xfrm>
            <a:off x="5408825" y="5388164"/>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55" name="Picture 154" descr="lock.png"/>
          <p:cNvPicPr>
            <a:picLocks noChangeAspect="1"/>
          </p:cNvPicPr>
          <p:nvPr/>
        </p:nvPicPr>
        <p:blipFill>
          <a:blip r:embed="rId25"/>
          <a:stretch>
            <a:fillRect/>
          </a:stretch>
        </p:blipFill>
        <p:spPr>
          <a:xfrm>
            <a:off x="6233897" y="5378776"/>
            <a:ext cx="123551" cy="179710"/>
          </a:xfrm>
          <a:prstGeom prst="rect">
            <a:avLst/>
          </a:prstGeom>
        </p:spPr>
      </p:pic>
      <p:sp>
        <p:nvSpPr>
          <p:cNvPr id="156" name="TextBox 155"/>
          <p:cNvSpPr txBox="1"/>
          <p:nvPr/>
        </p:nvSpPr>
        <p:spPr>
          <a:xfrm>
            <a:off x="6394693" y="5388164"/>
            <a:ext cx="1212992" cy="179984"/>
          </a:xfrm>
          <a:prstGeom prst="rect">
            <a:avLst/>
          </a:prstGeom>
          <a:noFill/>
        </p:spPr>
        <p:txBody>
          <a:bodyPr wrap="none" lIns="0" rIns="0" tIns="0" bIns="0">
            <a:spAutoFit/>
          </a:bodyPr>
          <a:lstStyle/>
          <a:p>
            <a:r>
              <a:rPr sz="1055" b="0">
                <a:solidFill>
                  <a:srgbClr val="2E2E2E"/>
                </a:solidFill>
                <a:latin typeface="Calibri"/>
              </a:rPr>
              <a:t>CAGR serves a niche.</a:t>
            </a:r>
          </a:p>
        </p:txBody>
      </p:sp>
      <p:sp>
        <p:nvSpPr>
          <p:cNvPr id="157" name="TextBox 156"/>
          <p:cNvSpPr txBox="1"/>
          <p:nvPr/>
        </p:nvSpPr>
        <p:spPr>
          <a:xfrm>
            <a:off x="3838575" y="5597379"/>
            <a:ext cx="2083688" cy="179984"/>
          </a:xfrm>
          <a:prstGeom prst="rect">
            <a:avLst/>
          </a:prstGeom>
          <a:noFill/>
        </p:spPr>
        <p:txBody>
          <a:bodyPr wrap="none" lIns="0" rIns="0" tIns="0" bIns="0">
            <a:spAutoFit/>
          </a:bodyPr>
          <a:lstStyle/>
          <a:p>
            <a:r>
              <a:rPr sz="1055" b="0">
                <a:solidFill>
                  <a:srgbClr val="2E2E2E"/>
                </a:solidFill>
                <a:latin typeface="Calibri"/>
              </a:rPr>
              <a:t>● Camera-Assisted Removal Devices:</a:t>
            </a:r>
          </a:p>
        </p:txBody>
      </p:sp>
      <p:pic>
        <p:nvPicPr>
          <p:cNvPr id="158" name="Picture 157" descr="lock.png"/>
          <p:cNvPicPr>
            <a:picLocks noChangeAspect="1"/>
          </p:cNvPicPr>
          <p:nvPr/>
        </p:nvPicPr>
        <p:blipFill>
          <a:blip r:embed="rId25"/>
          <a:stretch>
            <a:fillRect/>
          </a:stretch>
        </p:blipFill>
        <p:spPr>
          <a:xfrm>
            <a:off x="5869345" y="5587991"/>
            <a:ext cx="123551" cy="179710"/>
          </a:xfrm>
          <a:prstGeom prst="rect">
            <a:avLst/>
          </a:prstGeom>
        </p:spPr>
      </p:pic>
      <p:sp>
        <p:nvSpPr>
          <p:cNvPr id="159" name="TextBox 158"/>
          <p:cNvSpPr txBox="1"/>
          <p:nvPr/>
        </p:nvSpPr>
        <p:spPr>
          <a:xfrm>
            <a:off x="6030141" y="5597379"/>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60" name="Picture 159" descr="lock.png"/>
          <p:cNvPicPr>
            <a:picLocks noChangeAspect="1"/>
          </p:cNvPicPr>
          <p:nvPr/>
        </p:nvPicPr>
        <p:blipFill>
          <a:blip r:embed="rId25"/>
          <a:stretch>
            <a:fillRect/>
          </a:stretch>
        </p:blipFill>
        <p:spPr>
          <a:xfrm>
            <a:off x="6855213" y="5587991"/>
            <a:ext cx="123551" cy="179710"/>
          </a:xfrm>
          <a:prstGeom prst="rect">
            <a:avLst/>
          </a:prstGeom>
        </p:spPr>
      </p:pic>
      <p:sp>
        <p:nvSpPr>
          <p:cNvPr id="161" name="TextBox 160"/>
          <p:cNvSpPr txBox="1"/>
          <p:nvPr/>
        </p:nvSpPr>
        <p:spPr>
          <a:xfrm>
            <a:off x="7016009" y="5597379"/>
            <a:ext cx="758792" cy="179984"/>
          </a:xfrm>
          <a:prstGeom prst="rect">
            <a:avLst/>
          </a:prstGeom>
          <a:noFill/>
        </p:spPr>
        <p:txBody>
          <a:bodyPr wrap="none" lIns="0" rIns="0" tIns="0" bIns="0">
            <a:spAutoFit/>
          </a:bodyPr>
          <a:lstStyle/>
          <a:p>
            <a:r>
              <a:rPr sz="1055" b="0">
                <a:solidFill>
                  <a:srgbClr val="2E2E2E"/>
                </a:solidFill>
                <a:latin typeface="Calibri"/>
              </a:rPr>
              <a:t>CAGR serves</a:t>
            </a:r>
          </a:p>
        </p:txBody>
      </p:sp>
      <p:sp>
        <p:nvSpPr>
          <p:cNvPr id="162" name="TextBox 161"/>
          <p:cNvSpPr txBox="1"/>
          <p:nvPr/>
        </p:nvSpPr>
        <p:spPr>
          <a:xfrm>
            <a:off x="3838575" y="5758313"/>
            <a:ext cx="500014" cy="179984"/>
          </a:xfrm>
          <a:prstGeom prst="rect">
            <a:avLst/>
          </a:prstGeom>
          <a:noFill/>
        </p:spPr>
        <p:txBody>
          <a:bodyPr wrap="none" lIns="0" rIns="0" tIns="0" bIns="0">
            <a:spAutoFit/>
          </a:bodyPr>
          <a:lstStyle/>
          <a:p>
            <a:r>
              <a:rPr sz="1055" b="0">
                <a:solidFill>
                  <a:srgbClr val="2E2E2E"/>
                </a:solidFill>
                <a:latin typeface="Calibri"/>
              </a:rPr>
              <a:t>a niche.</a:t>
            </a:r>
          </a:p>
        </p:txBody>
      </p:sp>
      <p:sp>
        <p:nvSpPr>
          <p:cNvPr id="163" name="TextBox 162"/>
          <p:cNvSpPr txBox="1"/>
          <p:nvPr/>
        </p:nvSpPr>
        <p:spPr>
          <a:xfrm>
            <a:off x="3838575" y="5967528"/>
            <a:ext cx="1657778" cy="179984"/>
          </a:xfrm>
          <a:prstGeom prst="rect">
            <a:avLst/>
          </a:prstGeom>
          <a:noFill/>
        </p:spPr>
        <p:txBody>
          <a:bodyPr wrap="none" lIns="0" rIns="0" tIns="0" bIns="0">
            <a:spAutoFit/>
          </a:bodyPr>
          <a:lstStyle/>
          <a:p>
            <a:r>
              <a:rPr sz="1055" b="0">
                <a:solidFill>
                  <a:srgbClr val="2E2E2E"/>
                </a:solidFill>
                <a:latin typeface="Calibri"/>
              </a:rPr>
              <a:t>● Combination Removal Kits:</a:t>
            </a:r>
          </a:p>
        </p:txBody>
      </p:sp>
      <p:pic>
        <p:nvPicPr>
          <p:cNvPr id="164" name="Picture 163" descr="lock.png"/>
          <p:cNvPicPr>
            <a:picLocks noChangeAspect="1"/>
          </p:cNvPicPr>
          <p:nvPr/>
        </p:nvPicPr>
        <p:blipFill>
          <a:blip r:embed="rId25"/>
          <a:stretch>
            <a:fillRect/>
          </a:stretch>
        </p:blipFill>
        <p:spPr>
          <a:xfrm>
            <a:off x="5443435" y="5958140"/>
            <a:ext cx="123551" cy="179710"/>
          </a:xfrm>
          <a:prstGeom prst="rect">
            <a:avLst/>
          </a:prstGeom>
        </p:spPr>
      </p:pic>
      <p:sp>
        <p:nvSpPr>
          <p:cNvPr id="165" name="TextBox 164"/>
          <p:cNvSpPr txBox="1"/>
          <p:nvPr/>
        </p:nvSpPr>
        <p:spPr>
          <a:xfrm>
            <a:off x="5604231" y="5967528"/>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66" name="Picture 165" descr="lock.png"/>
          <p:cNvPicPr>
            <a:picLocks noChangeAspect="1"/>
          </p:cNvPicPr>
          <p:nvPr/>
        </p:nvPicPr>
        <p:blipFill>
          <a:blip r:embed="rId25"/>
          <a:stretch>
            <a:fillRect/>
          </a:stretch>
        </p:blipFill>
        <p:spPr>
          <a:xfrm>
            <a:off x="6429303" y="5958140"/>
            <a:ext cx="123551" cy="179710"/>
          </a:xfrm>
          <a:prstGeom prst="rect">
            <a:avLst/>
          </a:prstGeom>
        </p:spPr>
      </p:pic>
      <p:sp>
        <p:nvSpPr>
          <p:cNvPr id="167" name="TextBox 166"/>
          <p:cNvSpPr txBox="1"/>
          <p:nvPr/>
        </p:nvSpPr>
        <p:spPr>
          <a:xfrm>
            <a:off x="6590099" y="5967528"/>
            <a:ext cx="1212992" cy="179984"/>
          </a:xfrm>
          <a:prstGeom prst="rect">
            <a:avLst/>
          </a:prstGeom>
          <a:noFill/>
        </p:spPr>
        <p:txBody>
          <a:bodyPr wrap="none" lIns="0" rIns="0" tIns="0" bIns="0">
            <a:spAutoFit/>
          </a:bodyPr>
          <a:lstStyle/>
          <a:p>
            <a:r>
              <a:rPr sz="1055" b="0">
                <a:solidFill>
                  <a:srgbClr val="2E2E2E"/>
                </a:solidFill>
                <a:latin typeface="Calibri"/>
              </a:rPr>
              <a:t>CAGR serves a niche.</a:t>
            </a:r>
          </a:p>
        </p:txBody>
      </p:sp>
      <p:sp>
        <p:nvSpPr>
          <p:cNvPr id="168" name="TextBox 167"/>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Product Type segment is projected to grow at a</a:t>
            </a:r>
          </a:p>
        </p:txBody>
      </p:sp>
      <p:sp>
        <p:nvSpPr>
          <p:cNvPr id="169" name="TextBox 168"/>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70" name="Picture 169" descr="lock.png"/>
          <p:cNvPicPr>
            <a:picLocks noChangeAspect="1"/>
          </p:cNvPicPr>
          <p:nvPr/>
        </p:nvPicPr>
        <p:blipFill>
          <a:blip r:embed="rId25"/>
          <a:stretch>
            <a:fillRect/>
          </a:stretch>
        </p:blipFill>
        <p:spPr>
          <a:xfrm>
            <a:off x="9048826" y="6007677"/>
            <a:ext cx="134549" cy="195707"/>
          </a:xfrm>
          <a:prstGeom prst="rect">
            <a:avLst/>
          </a:prstGeom>
        </p:spPr>
      </p:pic>
      <p:sp>
        <p:nvSpPr>
          <p:cNvPr id="171" name="TextBox 170"/>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Product Type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Product Type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Type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Type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77650" cy="186689"/>
          </a:xfrm>
          <a:prstGeom prst="rect">
            <a:avLst/>
          </a:prstGeom>
          <a:noFill/>
        </p:spPr>
        <p:txBody>
          <a:bodyPr wrap="none" lIns="0" rIns="0" tIns="0" bIns="0">
            <a:spAutoFit/>
          </a:bodyPr>
          <a:lstStyle/>
          <a:p>
            <a:r>
              <a:rPr sz="1100" b="0">
                <a:solidFill>
                  <a:srgbClr val="2E2E2E"/>
                </a:solidFill>
                <a:latin typeface="Calibri"/>
              </a:rPr>
              <a:t>Irrigation devices and accessories followed by ear drops are expected to be the two most attractive product type segments in the North America ear wax removal products market in terms of value over the</a:t>
            </a:r>
          </a:p>
        </p:txBody>
      </p:sp>
      <p:sp>
        <p:nvSpPr>
          <p:cNvPr id="20" name="TextBox 19"/>
          <p:cNvSpPr txBox="1"/>
          <p:nvPr/>
        </p:nvSpPr>
        <p:spPr>
          <a:xfrm>
            <a:off x="257175" y="5861685"/>
            <a:ext cx="5080553" cy="186689"/>
          </a:xfrm>
          <a:prstGeom prst="rect">
            <a:avLst/>
          </a:prstGeom>
          <a:noFill/>
        </p:spPr>
        <p:txBody>
          <a:bodyPr wrap="none" lIns="0" rIns="0" tIns="0" bIns="0">
            <a:spAutoFit/>
          </a:bodyPr>
          <a:lstStyle/>
          <a:p>
            <a:r>
              <a:rPr sz="1100" b="0">
                <a:solidFill>
                  <a:srgbClr val="2E2E2E"/>
                </a:solidFill>
                <a:latin typeface="Calibri"/>
              </a:rPr>
              <a:t>forecast period. Irrigation devices and accessories and ear drops exhibit a CAGR index of</a:t>
            </a:r>
          </a:p>
        </p:txBody>
      </p:sp>
      <p:pic>
        <p:nvPicPr>
          <p:cNvPr id="21" name="Picture 20" descr="lock.png"/>
          <p:cNvPicPr>
            <a:picLocks noChangeAspect="1"/>
          </p:cNvPicPr>
          <p:nvPr/>
        </p:nvPicPr>
        <p:blipFill>
          <a:blip r:embed="rId6"/>
          <a:stretch>
            <a:fillRect/>
          </a:stretch>
        </p:blipFill>
        <p:spPr>
          <a:xfrm>
            <a:off x="5285780" y="5851905"/>
            <a:ext cx="128699" cy="187198"/>
          </a:xfrm>
          <a:prstGeom prst="rect">
            <a:avLst/>
          </a:prstGeom>
        </p:spPr>
      </p:pic>
      <p:sp>
        <p:nvSpPr>
          <p:cNvPr id="22" name="TextBox 21"/>
          <p:cNvSpPr txBox="1"/>
          <p:nvPr/>
        </p:nvSpPr>
        <p:spPr>
          <a:xfrm>
            <a:off x="5453275"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5691170" y="5851905"/>
            <a:ext cx="128699" cy="187198"/>
          </a:xfrm>
          <a:prstGeom prst="rect">
            <a:avLst/>
          </a:prstGeom>
        </p:spPr>
      </p:pic>
      <p:sp>
        <p:nvSpPr>
          <p:cNvPr id="24" name="TextBox 23"/>
          <p:cNvSpPr txBox="1"/>
          <p:nvPr/>
        </p:nvSpPr>
        <p:spPr>
          <a:xfrm>
            <a:off x="5858666"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7467639" y="5851905"/>
            <a:ext cx="128699" cy="187198"/>
          </a:xfrm>
          <a:prstGeom prst="rect">
            <a:avLst/>
          </a:prstGeom>
        </p:spPr>
      </p:pic>
      <p:sp>
        <p:nvSpPr>
          <p:cNvPr id="26" name="TextBox 25"/>
          <p:cNvSpPr txBox="1"/>
          <p:nvPr/>
        </p:nvSpPr>
        <p:spPr>
          <a:xfrm>
            <a:off x="7635135"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7873029" y="5851905"/>
            <a:ext cx="128699" cy="187198"/>
          </a:xfrm>
          <a:prstGeom prst="rect">
            <a:avLst/>
          </a:prstGeom>
        </p:spPr>
      </p:pic>
      <p:sp>
        <p:nvSpPr>
          <p:cNvPr id="28" name="TextBox 27"/>
          <p:cNvSpPr txBox="1"/>
          <p:nvPr/>
        </p:nvSpPr>
        <p:spPr>
          <a:xfrm>
            <a:off x="8040525"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10594929" y="5851905"/>
            <a:ext cx="128699" cy="187198"/>
          </a:xfrm>
          <a:prstGeom prst="rect">
            <a:avLst/>
          </a:prstGeom>
        </p:spPr>
      </p:pic>
      <p:sp>
        <p:nvSpPr>
          <p:cNvPr id="30" name="TextBox 29"/>
          <p:cNvSpPr txBox="1"/>
          <p:nvPr/>
        </p:nvSpPr>
        <p:spPr>
          <a:xfrm>
            <a:off x="10762425" y="5861685"/>
            <a:ext cx="571152" cy="186689"/>
          </a:xfrm>
          <a:prstGeom prst="rect">
            <a:avLst/>
          </a:prstGeom>
          <a:noFill/>
        </p:spPr>
        <p:txBody>
          <a:bodyPr wrap="none" lIns="0" rIns="0" tIns="0" bIns="0">
            <a:spAutoFit/>
          </a:bodyPr>
          <a:lstStyle/>
          <a:p>
            <a:r>
              <a:rPr sz="1100" b="0">
                <a:solidFill>
                  <a:srgbClr val="2E2E2E"/>
                </a:solidFill>
                <a:latin typeface="Calibri"/>
              </a:rPr>
              <a:t>. The ear</a:t>
            </a:r>
          </a:p>
        </p:txBody>
      </p:sp>
      <p:sp>
        <p:nvSpPr>
          <p:cNvPr id="31" name="TextBox 30"/>
          <p:cNvSpPr txBox="1"/>
          <p:nvPr/>
        </p:nvSpPr>
        <p:spPr>
          <a:xfrm>
            <a:off x="257175" y="6029325"/>
            <a:ext cx="11581224" cy="186689"/>
          </a:xfrm>
          <a:prstGeom prst="rect">
            <a:avLst/>
          </a:prstGeom>
          <a:noFill/>
        </p:spPr>
        <p:txBody>
          <a:bodyPr wrap="none" lIns="0" rIns="0" tIns="0" bIns="0">
            <a:spAutoFit/>
          </a:bodyPr>
          <a:lstStyle/>
          <a:p>
            <a:r>
              <a:rPr sz="1100" b="0">
                <a:solidFill>
                  <a:srgbClr val="2E2E2E"/>
                </a:solidFill>
                <a:latin typeface="Calibri"/>
              </a:rPr>
              <a:t>sprays segment is expected to be less attractive as compared to other segments over the forecast period, owing to its lower CAGR and incremental opportunity. Bubbles right of the CAGR-Index line grow</a:t>
            </a:r>
          </a:p>
        </p:txBody>
      </p:sp>
      <p:sp>
        <p:nvSpPr>
          <p:cNvPr id="32" name="TextBox 31"/>
          <p:cNvSpPr txBox="1"/>
          <p:nvPr/>
        </p:nvSpPr>
        <p:spPr>
          <a:xfrm>
            <a:off x="257175" y="6196965"/>
            <a:ext cx="1959694" cy="186689"/>
          </a:xfrm>
          <a:prstGeom prst="rect">
            <a:avLst/>
          </a:prstGeom>
          <a:noFill/>
        </p:spPr>
        <p:txBody>
          <a:bodyPr wrap="none" lIns="0" rIns="0" tIns="0" bIns="0">
            <a:spAutoFit/>
          </a:bodyPr>
          <a:lstStyle/>
          <a:p>
            <a:r>
              <a:rPr sz="1100" b="0">
                <a:solidFill>
                  <a:srgbClr val="2E2E2E"/>
                </a:solidFill>
                <a:latin typeface="Calibri"/>
              </a:rPr>
              <a:t>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Product Type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Ear Drops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Ear Sprays</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Irrigation Devices and Accessories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Manual Removal Tools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Product Type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Camera-Assisted Removal Devices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Suction Devices and Accessories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Combination Removal Kits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Product Type</a:t>
            </a:r>
          </a:p>
        </p:txBody>
      </p:sp>
      <p:sp>
        <p:nvSpPr>
          <p:cNvPr id="21" name="Rectangle 20"/>
          <p:cNvSpPr/>
          <p:nvPr/>
        </p:nvSpPr>
        <p:spPr>
          <a:xfrm>
            <a:off x="6305550" y="438907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7"/>
          <a:stretch>
            <a:fillRect/>
          </a:stretch>
        </p:blipFill>
        <p:spPr>
          <a:xfrm>
            <a:off x="3100230" y="2330679"/>
            <a:ext cx="252890" cy="367840"/>
          </a:xfrm>
          <a:prstGeom prst="rect">
            <a:avLst/>
          </a:prstGeom>
        </p:spPr>
      </p:pic>
      <p:pic>
        <p:nvPicPr>
          <p:cNvPr id="25" name="Picture 24" descr="lock.png"/>
          <p:cNvPicPr>
            <a:picLocks noChangeAspect="1"/>
          </p:cNvPicPr>
          <p:nvPr/>
        </p:nvPicPr>
        <p:blipFill>
          <a:blip r:embed="rId7"/>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3100230" y="5216754"/>
            <a:ext cx="252890" cy="367840"/>
          </a:xfrm>
          <a:prstGeom prst="rect">
            <a:avLst/>
          </a:prstGeom>
        </p:spPr>
      </p:pic>
      <p:sp>
        <p:nvSpPr>
          <p:cNvPr id="27" name="TextBox 26"/>
          <p:cNvSpPr txBox="1"/>
          <p:nvPr/>
        </p:nvSpPr>
        <p:spPr>
          <a:xfrm>
            <a:off x="6305550" y="4484320"/>
            <a:ext cx="5246170" cy="186689"/>
          </a:xfrm>
          <a:prstGeom prst="rect">
            <a:avLst/>
          </a:prstGeom>
          <a:noFill/>
        </p:spPr>
        <p:txBody>
          <a:bodyPr wrap="none" lIns="0" rIns="0" tIns="0" bIns="0">
            <a:spAutoFit/>
          </a:bodyPr>
          <a:lstStyle/>
          <a:p>
            <a:r>
              <a:rPr sz="1100" b="0">
                <a:solidFill>
                  <a:srgbClr val="2E2E2E"/>
                </a:solidFill>
                <a:latin typeface="Calibri"/>
              </a:rPr>
              <a:t>By 2036, irrigation devices and accessories segment is anticipated to witness an increase of</a:t>
            </a:r>
          </a:p>
        </p:txBody>
      </p:sp>
      <p:pic>
        <p:nvPicPr>
          <p:cNvPr id="28" name="Picture 27" descr="lock.png"/>
          <p:cNvPicPr>
            <a:picLocks noChangeAspect="1"/>
          </p:cNvPicPr>
          <p:nvPr/>
        </p:nvPicPr>
        <p:blipFill>
          <a:blip r:embed="rId7"/>
          <a:stretch>
            <a:fillRect/>
          </a:stretch>
        </p:blipFill>
        <p:spPr>
          <a:xfrm>
            <a:off x="11499771" y="4474541"/>
            <a:ext cx="128699" cy="187198"/>
          </a:xfrm>
          <a:prstGeom prst="rect">
            <a:avLst/>
          </a:prstGeom>
        </p:spPr>
      </p:pic>
      <p:sp>
        <p:nvSpPr>
          <p:cNvPr id="29" name="TextBox 28"/>
          <p:cNvSpPr txBox="1"/>
          <p:nvPr/>
        </p:nvSpPr>
        <p:spPr>
          <a:xfrm>
            <a:off x="11667267" y="4484320"/>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30" name="TextBox 29"/>
          <p:cNvSpPr txBox="1"/>
          <p:nvPr/>
        </p:nvSpPr>
        <p:spPr>
          <a:xfrm>
            <a:off x="6305550" y="4651960"/>
            <a:ext cx="5591175" cy="186689"/>
          </a:xfrm>
          <a:prstGeom prst="rect">
            <a:avLst/>
          </a:prstGeom>
          <a:noFill/>
        </p:spPr>
        <p:txBody>
          <a:bodyPr wrap="none" lIns="0" rIns="0" tIns="0" bIns="0">
            <a:spAutoFit/>
          </a:bodyPr>
          <a:lstStyle/>
          <a:p>
            <a:r>
              <a:rPr sz="1100" b="0">
                <a:solidFill>
                  <a:srgbClr val="2E2E2E"/>
                </a:solidFill>
                <a:latin typeface="Calibri"/>
              </a:rPr>
              <a:t>in terms of value as compared to 2026. The irrigation devices and accessories segment is expected</a:t>
            </a:r>
          </a:p>
        </p:txBody>
      </p:sp>
      <p:sp>
        <p:nvSpPr>
          <p:cNvPr id="31" name="TextBox 30"/>
          <p:cNvSpPr txBox="1"/>
          <p:nvPr/>
        </p:nvSpPr>
        <p:spPr>
          <a:xfrm>
            <a:off x="6305550" y="4819600"/>
            <a:ext cx="2591891" cy="186689"/>
          </a:xfrm>
          <a:prstGeom prst="rect">
            <a:avLst/>
          </a:prstGeom>
          <a:noFill/>
        </p:spPr>
        <p:txBody>
          <a:bodyPr wrap="none" lIns="0" rIns="0" tIns="0" bIns="0">
            <a:spAutoFit/>
          </a:bodyPr>
          <a:lstStyle/>
          <a:p>
            <a:r>
              <a:rPr sz="1100" b="0">
                <a:solidFill>
                  <a:srgbClr val="2E2E2E"/>
                </a:solidFill>
                <a:latin typeface="Calibri"/>
              </a:rPr>
              <a:t>to create an incremental opportunity of US$</a:t>
            </a:r>
          </a:p>
        </p:txBody>
      </p:sp>
      <p:pic>
        <p:nvPicPr>
          <p:cNvPr id="32" name="Picture 31" descr="lock.png"/>
          <p:cNvPicPr>
            <a:picLocks noChangeAspect="1"/>
          </p:cNvPicPr>
          <p:nvPr/>
        </p:nvPicPr>
        <p:blipFill>
          <a:blip r:embed="rId7"/>
          <a:stretch>
            <a:fillRect/>
          </a:stretch>
        </p:blipFill>
        <p:spPr>
          <a:xfrm>
            <a:off x="8845493" y="4809821"/>
            <a:ext cx="128699" cy="187198"/>
          </a:xfrm>
          <a:prstGeom prst="rect">
            <a:avLst/>
          </a:prstGeom>
        </p:spPr>
      </p:pic>
      <p:sp>
        <p:nvSpPr>
          <p:cNvPr id="33" name="TextBox 32"/>
          <p:cNvSpPr txBox="1"/>
          <p:nvPr/>
        </p:nvSpPr>
        <p:spPr>
          <a:xfrm>
            <a:off x="9012988" y="4819600"/>
            <a:ext cx="2613719" cy="186689"/>
          </a:xfrm>
          <a:prstGeom prst="rect">
            <a:avLst/>
          </a:prstGeom>
          <a:noFill/>
        </p:spPr>
        <p:txBody>
          <a:bodyPr wrap="none" lIns="0" rIns="0" tIns="0" bIns="0">
            <a:spAutoFit/>
          </a:bodyPr>
          <a:lstStyle/>
          <a:p>
            <a:r>
              <a:rPr sz="1100" b="0">
                <a:solidFill>
                  <a:srgbClr val="2E2E2E"/>
                </a:solidFill>
                <a:latin typeface="Calibri"/>
              </a:rPr>
              <a:t>Mn for the overall ear wax removal products</a:t>
            </a:r>
          </a:p>
        </p:txBody>
      </p:sp>
      <p:sp>
        <p:nvSpPr>
          <p:cNvPr id="34" name="TextBox 33"/>
          <p:cNvSpPr txBox="1"/>
          <p:nvPr/>
        </p:nvSpPr>
        <p:spPr>
          <a:xfrm>
            <a:off x="6305550" y="4987240"/>
            <a:ext cx="1610171" cy="186689"/>
          </a:xfrm>
          <a:prstGeom prst="rect">
            <a:avLst/>
          </a:prstGeom>
          <a:noFill/>
        </p:spPr>
        <p:txBody>
          <a:bodyPr wrap="none" lIns="0" rIns="0" tIns="0" bIns="0">
            <a:spAutoFit/>
          </a:bodyPr>
          <a:lstStyle/>
          <a:p>
            <a:r>
              <a:rPr sz="1100" b="0">
                <a:solidFill>
                  <a:srgbClr val="2E2E2E"/>
                </a:solidFill>
                <a:latin typeface="Calibri"/>
              </a:rPr>
              <a:t>market from 2026 to 2036.</a:t>
            </a:r>
          </a:p>
        </p:txBody>
      </p:sp>
      <p:sp>
        <p:nvSpPr>
          <p:cNvPr id="35" name="TextBox 34"/>
          <p:cNvSpPr txBox="1"/>
          <p:nvPr/>
        </p:nvSpPr>
        <p:spPr>
          <a:xfrm>
            <a:off x="6305550" y="5205172"/>
            <a:ext cx="4602534" cy="186689"/>
          </a:xfrm>
          <a:prstGeom prst="rect">
            <a:avLst/>
          </a:prstGeom>
          <a:noFill/>
        </p:spPr>
        <p:txBody>
          <a:bodyPr wrap="none" lIns="0" rIns="0" tIns="0" bIns="0">
            <a:spAutoFit/>
          </a:bodyPr>
          <a:lstStyle/>
          <a:p>
            <a:r>
              <a:rPr sz="1100" b="0">
                <a:solidFill>
                  <a:srgbClr val="2E2E2E"/>
                </a:solidFill>
                <a:latin typeface="Calibri"/>
              </a:rPr>
              <a:t>The ear drops segment is expected to create an incremental opportunity of US$</a:t>
            </a:r>
          </a:p>
        </p:txBody>
      </p:sp>
      <p:pic>
        <p:nvPicPr>
          <p:cNvPr id="36" name="Picture 35" descr="lock.png"/>
          <p:cNvPicPr>
            <a:picLocks noChangeAspect="1"/>
          </p:cNvPicPr>
          <p:nvPr/>
        </p:nvPicPr>
        <p:blipFill>
          <a:blip r:embed="rId7"/>
          <a:stretch>
            <a:fillRect/>
          </a:stretch>
        </p:blipFill>
        <p:spPr>
          <a:xfrm>
            <a:off x="10856136" y="5195392"/>
            <a:ext cx="128699" cy="187198"/>
          </a:xfrm>
          <a:prstGeom prst="rect">
            <a:avLst/>
          </a:prstGeom>
        </p:spPr>
      </p:pic>
      <p:sp>
        <p:nvSpPr>
          <p:cNvPr id="37" name="TextBox 36"/>
          <p:cNvSpPr txBox="1"/>
          <p:nvPr/>
        </p:nvSpPr>
        <p:spPr>
          <a:xfrm>
            <a:off x="11023631" y="5205172"/>
            <a:ext cx="687387" cy="186689"/>
          </a:xfrm>
          <a:prstGeom prst="rect">
            <a:avLst/>
          </a:prstGeom>
          <a:noFill/>
        </p:spPr>
        <p:txBody>
          <a:bodyPr wrap="none" lIns="0" rIns="0" tIns="0" bIns="0">
            <a:spAutoFit/>
          </a:bodyPr>
          <a:lstStyle/>
          <a:p>
            <a:r>
              <a:rPr sz="1100" b="0">
                <a:solidFill>
                  <a:srgbClr val="2E2E2E"/>
                </a:solidFill>
                <a:latin typeface="Calibri"/>
              </a:rPr>
              <a:t>Mn for the</a:t>
            </a:r>
          </a:p>
        </p:txBody>
      </p:sp>
      <p:sp>
        <p:nvSpPr>
          <p:cNvPr id="38" name="TextBox 37"/>
          <p:cNvSpPr txBox="1"/>
          <p:nvPr/>
        </p:nvSpPr>
        <p:spPr>
          <a:xfrm>
            <a:off x="6305550" y="5372812"/>
            <a:ext cx="5568429" cy="186689"/>
          </a:xfrm>
          <a:prstGeom prst="rect">
            <a:avLst/>
          </a:prstGeom>
          <a:noFill/>
        </p:spPr>
        <p:txBody>
          <a:bodyPr wrap="none" lIns="0" rIns="0" tIns="0" bIns="0">
            <a:spAutoFit/>
          </a:bodyPr>
          <a:lstStyle/>
          <a:p>
            <a:r>
              <a:rPr sz="1100" b="0">
                <a:solidFill>
                  <a:srgbClr val="2E2E2E"/>
                </a:solidFill>
                <a:latin typeface="Calibri"/>
              </a:rPr>
              <a:t>overall ear wax removal products market from 2026 to 2036. The manual removal tools segment</a:t>
            </a:r>
          </a:p>
        </p:txBody>
      </p:sp>
      <p:sp>
        <p:nvSpPr>
          <p:cNvPr id="39" name="TextBox 38"/>
          <p:cNvSpPr txBox="1"/>
          <p:nvPr/>
        </p:nvSpPr>
        <p:spPr>
          <a:xfrm>
            <a:off x="6305550" y="5540452"/>
            <a:ext cx="3264197" cy="186689"/>
          </a:xfrm>
          <a:prstGeom prst="rect">
            <a:avLst/>
          </a:prstGeom>
          <a:noFill/>
        </p:spPr>
        <p:txBody>
          <a:bodyPr wrap="none" lIns="0" rIns="0" tIns="0" bIns="0">
            <a:spAutoFit/>
          </a:bodyPr>
          <a:lstStyle/>
          <a:p>
            <a:r>
              <a:rPr sz="1100" b="0">
                <a:solidFill>
                  <a:srgbClr val="2E2E2E"/>
                </a:solidFill>
                <a:latin typeface="Calibri"/>
              </a:rPr>
              <a:t>is expected to create an incremental opportunity of US$</a:t>
            </a:r>
          </a:p>
        </p:txBody>
      </p:sp>
      <p:pic>
        <p:nvPicPr>
          <p:cNvPr id="40" name="Picture 39" descr="lock.png"/>
          <p:cNvPicPr>
            <a:picLocks noChangeAspect="1"/>
          </p:cNvPicPr>
          <p:nvPr/>
        </p:nvPicPr>
        <p:blipFill>
          <a:blip r:embed="rId7"/>
          <a:stretch>
            <a:fillRect/>
          </a:stretch>
        </p:blipFill>
        <p:spPr>
          <a:xfrm>
            <a:off x="9517799" y="5530673"/>
            <a:ext cx="128699" cy="187198"/>
          </a:xfrm>
          <a:prstGeom prst="rect">
            <a:avLst/>
          </a:prstGeom>
        </p:spPr>
      </p:pic>
      <p:sp>
        <p:nvSpPr>
          <p:cNvPr id="41" name="TextBox 40"/>
          <p:cNvSpPr txBox="1"/>
          <p:nvPr/>
        </p:nvSpPr>
        <p:spPr>
          <a:xfrm>
            <a:off x="9685295" y="5540452"/>
            <a:ext cx="2078657" cy="186689"/>
          </a:xfrm>
          <a:prstGeom prst="rect">
            <a:avLst/>
          </a:prstGeom>
          <a:noFill/>
        </p:spPr>
        <p:txBody>
          <a:bodyPr wrap="none" lIns="0" rIns="0" tIns="0" bIns="0">
            <a:spAutoFit/>
          </a:bodyPr>
          <a:lstStyle/>
          <a:p>
            <a:r>
              <a:rPr sz="1100" b="0">
                <a:solidFill>
                  <a:srgbClr val="2E2E2E"/>
                </a:solidFill>
                <a:latin typeface="Calibri"/>
              </a:rPr>
              <a:t>Mn for the overall ear wax removal</a:t>
            </a:r>
          </a:p>
        </p:txBody>
      </p:sp>
      <p:sp>
        <p:nvSpPr>
          <p:cNvPr id="42" name="TextBox 41"/>
          <p:cNvSpPr txBox="1"/>
          <p:nvPr/>
        </p:nvSpPr>
        <p:spPr>
          <a:xfrm>
            <a:off x="6305550" y="5708092"/>
            <a:ext cx="2145233" cy="186689"/>
          </a:xfrm>
          <a:prstGeom prst="rect">
            <a:avLst/>
          </a:prstGeom>
          <a:noFill/>
        </p:spPr>
        <p:txBody>
          <a:bodyPr wrap="none" lIns="0" rIns="0" tIns="0" bIns="0">
            <a:spAutoFit/>
          </a:bodyPr>
          <a:lstStyle/>
          <a:p>
            <a:r>
              <a:rPr sz="1100" b="0">
                <a:solidFill>
                  <a:srgbClr val="2E2E2E"/>
                </a:solidFill>
                <a:latin typeface="Calibri"/>
              </a:rPr>
              <a:t>products market from 2026 to 2036.</a:t>
            </a:r>
          </a:p>
        </p:txBody>
      </p:sp>
      <p:sp>
        <p:nvSpPr>
          <p:cNvPr id="43"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Product Type (US$ Mn)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Type, 2021–2036, highlighting the sub-segments driving growth</a:t>
            </a:r>
          </a:p>
        </p:txBody>
      </p:sp>
      <p:sp>
        <p:nvSpPr>
          <p:cNvPr id="10" name="Rounded Rectangle 9"/>
          <p:cNvSpPr/>
          <p:nvPr/>
        </p:nvSpPr>
        <p:spPr>
          <a:xfrm>
            <a:off x="142875" y="981075"/>
            <a:ext cx="11906250" cy="5638800"/>
          </a:xfrm>
          <a:prstGeom prst="roundRect">
            <a:avLst>
              <a:gd name="adj" fmla="val 13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Product Type (US$ Mn)</a:t>
            </a:r>
          </a:p>
        </p:txBody>
      </p:sp>
      <p:graphicFrame>
        <p:nvGraphicFramePr>
          <p:cNvPr id="12" name="Table 11"/>
          <p:cNvGraphicFramePr>
            <a:graphicFrameLocks noGrp="1"/>
          </p:cNvGraphicFramePr>
          <p:nvPr/>
        </p:nvGraphicFramePr>
        <p:xfrm>
          <a:off x="152400" y="1238250"/>
          <a:ext cx="11887204" cy="5172066"/>
        </p:xfrm>
        <a:graphic>
          <a:graphicData uri="http://schemas.openxmlformats.org/drawingml/2006/table">
            <a:tbl>
              <a:tblPr>
                <a:tableStyleId>{5C22544A-7EE6-4342-B048-85BDC9FD1C3A}</a:tableStyleId>
              </a:tblPr>
              <a:tblGrid>
                <a:gridCol w="3093384"/>
                <a:gridCol w="528231"/>
                <a:gridCol w="528231"/>
                <a:gridCol w="528231"/>
                <a:gridCol w="528231"/>
                <a:gridCol w="528231"/>
                <a:gridCol w="509624"/>
                <a:gridCol w="504308"/>
                <a:gridCol w="504308"/>
                <a:gridCol w="504308"/>
                <a:gridCol w="504308"/>
                <a:gridCol w="504308"/>
                <a:gridCol w="504308"/>
                <a:gridCol w="504308"/>
                <a:gridCol w="504308"/>
                <a:gridCol w="504308"/>
                <a:gridCol w="504308"/>
                <a:gridCol w="599961"/>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297">
                <a:tc>
                  <a:txBody>
                    <a:bodyPr wrap="none"/>
                    <a:lstStyle/>
                    <a:p>
                      <a:pPr algn="l"/>
                      <a:r>
                        <a:rPr sz="1100" b="1">
                          <a:solidFill>
                            <a:srgbClr val="2E2E2E"/>
                          </a:solidFill>
                          <a:latin typeface="Calibri"/>
                        </a:rPr>
                        <a:t>Ear Drops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Peroxide-Based Drops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Oil-Based Drops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Sodium Bicarbonate-Based Drops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Surfactant-Based Drops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Solvent-Containing Combination Drops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Other Wax-Dissolving Drops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Ear Sprays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Oil-Based Sprays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Saline/Seawater-Based Cleansing Sprays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Other Wax-Dispersing Sprays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Irrigation Devices and Accessories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Bulb Syringes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Manual Pump Irrigators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Powered Irrigation Systems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Irrigation Tips and Replacement Accessories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Manual Removal Tools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Flexible Ear Scoops and Cleaners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Ear Curettes, Loops, and Hooks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Lighted Manual Instruments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64198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456003" y="3680645"/>
            <a:ext cx="366712" cy="533400"/>
          </a:xfrm>
          <a:prstGeom prst="rect">
            <a:avLst/>
          </a:prstGeom>
        </p:spPr>
      </p:pic>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Product Type (US$ Mn)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Type, 2021–2036, highlighting the sub-segments driving growth</a:t>
            </a:r>
          </a:p>
        </p:txBody>
      </p:sp>
      <p:sp>
        <p:nvSpPr>
          <p:cNvPr id="10" name="Rounded Rectangle 9"/>
          <p:cNvSpPr/>
          <p:nvPr/>
        </p:nvSpPr>
        <p:spPr>
          <a:xfrm>
            <a:off x="142875" y="981075"/>
            <a:ext cx="1190625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Product Type (US$ Mn)</a:t>
            </a:r>
          </a:p>
        </p:txBody>
      </p:sp>
      <p:graphicFrame>
        <p:nvGraphicFramePr>
          <p:cNvPr id="12" name="Table 11"/>
          <p:cNvGraphicFramePr>
            <a:graphicFrameLocks noGrp="1"/>
          </p:cNvGraphicFramePr>
          <p:nvPr/>
        </p:nvGraphicFramePr>
        <p:xfrm>
          <a:off x="152400" y="1238250"/>
          <a:ext cx="11887202" cy="2714626"/>
        </p:xfrm>
        <a:graphic>
          <a:graphicData uri="http://schemas.openxmlformats.org/drawingml/2006/table">
            <a:tbl>
              <a:tblPr>
                <a:tableStyleId>{5C22544A-7EE6-4342-B048-85BDC9FD1C3A}</a:tableStyleId>
              </a:tblPr>
              <a:tblGrid>
                <a:gridCol w="3136434"/>
                <a:gridCol w="525645"/>
                <a:gridCol w="525645"/>
                <a:gridCol w="525645"/>
                <a:gridCol w="525645"/>
                <a:gridCol w="525645"/>
                <a:gridCol w="507129"/>
                <a:gridCol w="501839"/>
                <a:gridCol w="501839"/>
                <a:gridCol w="501839"/>
                <a:gridCol w="501839"/>
                <a:gridCol w="501839"/>
                <a:gridCol w="501839"/>
                <a:gridCol w="501839"/>
                <a:gridCol w="501839"/>
                <a:gridCol w="501839"/>
                <a:gridCol w="501839"/>
                <a:gridCol w="597024"/>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Camera-Assisted Removal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Smartphone-Connected Ear Cleaners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Replacement Extraction Tips and Accessories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Suction Devices and Accessories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Professional Microsuction Systems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Suction Tips and Consumables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Combination Removal Kits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Drops with Irrigation Tools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Drops with Manual Cleaning Tools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295775"/>
            <a:ext cx="11906250" cy="2333625"/>
          </a:xfrm>
          <a:prstGeom prst="roundRect">
            <a:avLst>
              <a:gd name="adj" fmla="val 32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3815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Product Type</a:t>
            </a:r>
          </a:p>
        </p:txBody>
      </p:sp>
      <p:sp>
        <p:nvSpPr>
          <p:cNvPr id="16" name="Rectangle 15"/>
          <p:cNvSpPr/>
          <p:nvPr/>
        </p:nvSpPr>
        <p:spPr>
          <a:xfrm>
            <a:off x="276225" y="46196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705350"/>
            <a:ext cx="11639550" cy="18478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477528" y="2451926"/>
            <a:ext cx="366712" cy="533400"/>
          </a:xfrm>
          <a:prstGeom prst="rect">
            <a:avLst/>
          </a:prstGeom>
        </p:spPr>
      </p:pic>
      <p:sp>
        <p:nvSpPr>
          <p:cNvPr id="20" name="TextBox 19"/>
          <p:cNvSpPr txBox="1"/>
          <p:nvPr/>
        </p:nvSpPr>
        <p:spPr>
          <a:xfrm>
            <a:off x="276225" y="4714875"/>
            <a:ext cx="3984463" cy="194310"/>
          </a:xfrm>
          <a:prstGeom prst="rect">
            <a:avLst/>
          </a:prstGeom>
          <a:noFill/>
        </p:spPr>
        <p:txBody>
          <a:bodyPr wrap="none" lIns="0" rIns="0" tIns="0" bIns="0">
            <a:spAutoFit/>
          </a:bodyPr>
          <a:lstStyle/>
          <a:p>
            <a:r>
              <a:rPr sz="1150" b="0">
                <a:solidFill>
                  <a:srgbClr val="2E2E2E"/>
                </a:solidFill>
                <a:latin typeface="Calibri"/>
              </a:rPr>
              <a:t>Irrigation devices and accessories segment is projected to register</a:t>
            </a:r>
          </a:p>
        </p:txBody>
      </p:sp>
      <p:pic>
        <p:nvPicPr>
          <p:cNvPr id="21" name="Picture 20" descr="lock.png"/>
          <p:cNvPicPr>
            <a:picLocks noChangeAspect="1"/>
          </p:cNvPicPr>
          <p:nvPr/>
        </p:nvPicPr>
        <p:blipFill>
          <a:blip r:embed="rId4"/>
          <a:stretch>
            <a:fillRect/>
          </a:stretch>
        </p:blipFill>
        <p:spPr>
          <a:xfrm>
            <a:off x="4209842" y="4704651"/>
            <a:ext cx="134549" cy="195707"/>
          </a:xfrm>
          <a:prstGeom prst="rect">
            <a:avLst/>
          </a:prstGeom>
        </p:spPr>
      </p:pic>
      <p:sp>
        <p:nvSpPr>
          <p:cNvPr id="22" name="TextBox 21"/>
          <p:cNvSpPr txBox="1"/>
          <p:nvPr/>
        </p:nvSpPr>
        <p:spPr>
          <a:xfrm>
            <a:off x="4384951" y="4714875"/>
            <a:ext cx="7192999" cy="194310"/>
          </a:xfrm>
          <a:prstGeom prst="rect">
            <a:avLst/>
          </a:prstGeom>
          <a:noFill/>
        </p:spPr>
        <p:txBody>
          <a:bodyPr wrap="none" lIns="0" rIns="0" tIns="0" bIns="0">
            <a:spAutoFit/>
          </a:bodyPr>
          <a:lstStyle/>
          <a:p>
            <a:r>
              <a:rPr sz="1150" b="0">
                <a:solidFill>
                  <a:srgbClr val="2E2E2E"/>
                </a:solidFill>
                <a:latin typeface="Calibri"/>
              </a:rPr>
              <a:t>X higher value than ear drops segment in 2036. Among ear wax removal products by product type, ear drops segment is</a:t>
            </a:r>
          </a:p>
        </p:txBody>
      </p:sp>
      <p:sp>
        <p:nvSpPr>
          <p:cNvPr id="23" name="TextBox 22"/>
          <p:cNvSpPr txBox="1"/>
          <p:nvPr/>
        </p:nvSpPr>
        <p:spPr>
          <a:xfrm>
            <a:off x="276225" y="489013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24" name="Picture 23" descr="lock.png"/>
          <p:cNvPicPr>
            <a:picLocks noChangeAspect="1"/>
          </p:cNvPicPr>
          <p:nvPr/>
        </p:nvPicPr>
        <p:blipFill>
          <a:blip r:embed="rId4"/>
          <a:stretch>
            <a:fillRect/>
          </a:stretch>
        </p:blipFill>
        <p:spPr>
          <a:xfrm>
            <a:off x="2711386" y="4879911"/>
            <a:ext cx="134549" cy="195707"/>
          </a:xfrm>
          <a:prstGeom prst="rect">
            <a:avLst/>
          </a:prstGeom>
        </p:spPr>
      </p:pic>
      <p:sp>
        <p:nvSpPr>
          <p:cNvPr id="25" name="TextBox 24"/>
          <p:cNvSpPr txBox="1"/>
          <p:nvPr/>
        </p:nvSpPr>
        <p:spPr>
          <a:xfrm>
            <a:off x="2886495" y="48901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5117972"/>
            <a:ext cx="7896721" cy="194310"/>
          </a:xfrm>
          <a:prstGeom prst="rect">
            <a:avLst/>
          </a:prstGeom>
          <a:noFill/>
        </p:spPr>
        <p:txBody>
          <a:bodyPr wrap="none" lIns="0" rIns="0" tIns="0" bIns="0">
            <a:spAutoFit/>
          </a:bodyPr>
          <a:lstStyle/>
          <a:p>
            <a:r>
              <a:rPr sz="1150" b="0">
                <a:solidFill>
                  <a:srgbClr val="2E2E2E"/>
                </a:solidFill>
                <a:latin typeface="Calibri"/>
              </a:rPr>
              <a:t>In terms of value share by product type, the irrigation devices and accessories segment is expected to dominate the market, gaining</a:t>
            </a:r>
          </a:p>
        </p:txBody>
      </p:sp>
      <p:pic>
        <p:nvPicPr>
          <p:cNvPr id="27" name="Picture 26" descr="lock.png"/>
          <p:cNvPicPr>
            <a:picLocks noChangeAspect="1"/>
          </p:cNvPicPr>
          <p:nvPr/>
        </p:nvPicPr>
        <p:blipFill>
          <a:blip r:embed="rId4"/>
          <a:stretch>
            <a:fillRect/>
          </a:stretch>
        </p:blipFill>
        <p:spPr>
          <a:xfrm>
            <a:off x="8122100" y="5107749"/>
            <a:ext cx="134549" cy="195707"/>
          </a:xfrm>
          <a:prstGeom prst="rect">
            <a:avLst/>
          </a:prstGeom>
        </p:spPr>
      </p:pic>
      <p:sp>
        <p:nvSpPr>
          <p:cNvPr id="28" name="TextBox 27"/>
          <p:cNvSpPr txBox="1"/>
          <p:nvPr/>
        </p:nvSpPr>
        <p:spPr>
          <a:xfrm>
            <a:off x="8297209" y="51179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692352" y="5107749"/>
            <a:ext cx="134549" cy="195707"/>
          </a:xfrm>
          <a:prstGeom prst="rect">
            <a:avLst/>
          </a:prstGeom>
        </p:spPr>
      </p:pic>
      <p:sp>
        <p:nvSpPr>
          <p:cNvPr id="30" name="TextBox 29"/>
          <p:cNvSpPr txBox="1"/>
          <p:nvPr/>
        </p:nvSpPr>
        <p:spPr>
          <a:xfrm>
            <a:off x="9867461" y="5117972"/>
            <a:ext cx="1837928" cy="194310"/>
          </a:xfrm>
          <a:prstGeom prst="rect">
            <a:avLst/>
          </a:prstGeom>
          <a:noFill/>
        </p:spPr>
        <p:txBody>
          <a:bodyPr wrap="none" lIns="0" rIns="0" tIns="0" bIns="0">
            <a:spAutoFit/>
          </a:bodyPr>
          <a:lstStyle/>
          <a:p>
            <a:r>
              <a:rPr sz="1150" b="0">
                <a:solidFill>
                  <a:srgbClr val="2E2E2E"/>
                </a:solidFill>
                <a:latin typeface="Calibri"/>
              </a:rPr>
              <a:t>share by 2036. The ear sprays</a:t>
            </a:r>
          </a:p>
        </p:txBody>
      </p:sp>
      <p:sp>
        <p:nvSpPr>
          <p:cNvPr id="31" name="TextBox 30"/>
          <p:cNvSpPr txBox="1"/>
          <p:nvPr/>
        </p:nvSpPr>
        <p:spPr>
          <a:xfrm>
            <a:off x="276225" y="5293232"/>
            <a:ext cx="1725538" cy="194310"/>
          </a:xfrm>
          <a:prstGeom prst="rect">
            <a:avLst/>
          </a:prstGeom>
          <a:noFill/>
        </p:spPr>
        <p:txBody>
          <a:bodyPr wrap="none" lIns="0" rIns="0" tIns="0" bIns="0">
            <a:spAutoFit/>
          </a:bodyPr>
          <a:lstStyle/>
          <a:p>
            <a:r>
              <a:rPr sz="1150" b="0">
                <a:solidFill>
                  <a:srgbClr val="2E2E2E"/>
                </a:solidFill>
                <a:latin typeface="Calibri"/>
              </a:rPr>
              <a:t>segment is expected to lose</a:t>
            </a:r>
          </a:p>
        </p:txBody>
      </p:sp>
      <p:pic>
        <p:nvPicPr>
          <p:cNvPr id="32" name="Picture 31" descr="lock.png"/>
          <p:cNvPicPr>
            <a:picLocks noChangeAspect="1"/>
          </p:cNvPicPr>
          <p:nvPr/>
        </p:nvPicPr>
        <p:blipFill>
          <a:blip r:embed="rId4"/>
          <a:stretch>
            <a:fillRect/>
          </a:stretch>
        </p:blipFill>
        <p:spPr>
          <a:xfrm>
            <a:off x="1950917" y="5283009"/>
            <a:ext cx="134549" cy="195707"/>
          </a:xfrm>
          <a:prstGeom prst="rect">
            <a:avLst/>
          </a:prstGeom>
        </p:spPr>
      </p:pic>
      <p:sp>
        <p:nvSpPr>
          <p:cNvPr id="33" name="TextBox 32"/>
          <p:cNvSpPr txBox="1"/>
          <p:nvPr/>
        </p:nvSpPr>
        <p:spPr>
          <a:xfrm>
            <a:off x="2126026" y="52932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4713530" y="5283009"/>
            <a:ext cx="134549" cy="195707"/>
          </a:xfrm>
          <a:prstGeom prst="rect">
            <a:avLst/>
          </a:prstGeom>
        </p:spPr>
      </p:pic>
      <p:sp>
        <p:nvSpPr>
          <p:cNvPr id="35" name="TextBox 34"/>
          <p:cNvSpPr txBox="1"/>
          <p:nvPr/>
        </p:nvSpPr>
        <p:spPr>
          <a:xfrm>
            <a:off x="4888640" y="52932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Product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Product Type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Product Type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836204"/>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183144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5524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Combination Removal Kits</a:t>
            </a:r>
          </a:p>
        </p:txBody>
      </p:sp>
      <p:sp>
        <p:nvSpPr>
          <p:cNvPr id="18" name="BPS Value 1"/>
          <p:cNvSpPr txBox="1"/>
          <p:nvPr/>
        </p:nvSpPr>
        <p:spPr>
          <a:xfrm>
            <a:off x="6896100" y="181715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2195221"/>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219045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11425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Camera-Assisted Removal Devices</a:t>
            </a:r>
          </a:p>
        </p:txBody>
      </p:sp>
      <p:sp>
        <p:nvSpPr>
          <p:cNvPr id="22" name="BPS Value 2"/>
          <p:cNvSpPr txBox="1"/>
          <p:nvPr/>
        </p:nvSpPr>
        <p:spPr>
          <a:xfrm>
            <a:off x="6896100" y="217617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2651612"/>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264684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57064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Manual Removal Tools</a:t>
            </a:r>
          </a:p>
        </p:txBody>
      </p:sp>
      <p:sp>
        <p:nvSpPr>
          <p:cNvPr id="26" name="BPS Value 3"/>
          <p:cNvSpPr txBox="1"/>
          <p:nvPr/>
        </p:nvSpPr>
        <p:spPr>
          <a:xfrm>
            <a:off x="6896100" y="263256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3176943"/>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317218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309598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Suction Devices and Accessories</a:t>
            </a:r>
          </a:p>
        </p:txBody>
      </p:sp>
      <p:sp>
        <p:nvSpPr>
          <p:cNvPr id="30" name="BPS Value 4"/>
          <p:cNvSpPr txBox="1"/>
          <p:nvPr/>
        </p:nvSpPr>
        <p:spPr>
          <a:xfrm>
            <a:off x="6896100" y="315789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928997" y="3731647"/>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5090922" y="372688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365068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Sprays</a:t>
            </a:r>
          </a:p>
        </p:txBody>
      </p:sp>
      <p:sp>
        <p:nvSpPr>
          <p:cNvPr id="34" name="BPS Value 5"/>
          <p:cNvSpPr txBox="1"/>
          <p:nvPr/>
        </p:nvSpPr>
        <p:spPr>
          <a:xfrm>
            <a:off x="6896100" y="371259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928997" y="4542166"/>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0922" y="453740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446120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Drops</a:t>
            </a:r>
          </a:p>
        </p:txBody>
      </p:sp>
      <p:sp>
        <p:nvSpPr>
          <p:cNvPr id="38" name="BPS Value 6"/>
          <p:cNvSpPr txBox="1"/>
          <p:nvPr/>
        </p:nvSpPr>
        <p:spPr>
          <a:xfrm>
            <a:off x="6896100" y="452311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FMI Legend Chip"/>
          <p:cNvSpPr/>
          <p:nvPr/>
        </p:nvSpPr>
        <p:spPr>
          <a:xfrm>
            <a:off x="4928997" y="5652314"/>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sosceles Triangle 39"/>
          <p:cNvSpPr/>
          <p:nvPr/>
        </p:nvSpPr>
        <p:spPr>
          <a:xfrm>
            <a:off x="5090922" y="564755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PS Name 7"/>
          <p:cNvSpPr txBox="1"/>
          <p:nvPr/>
        </p:nvSpPr>
        <p:spPr>
          <a:xfrm>
            <a:off x="5233797" y="557135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Irrigation Devices and Accessories</a:t>
            </a:r>
          </a:p>
        </p:txBody>
      </p:sp>
      <p:sp>
        <p:nvSpPr>
          <p:cNvPr id="42" name="BPS Value 7"/>
          <p:cNvSpPr txBox="1"/>
          <p:nvPr/>
        </p:nvSpPr>
        <p:spPr>
          <a:xfrm>
            <a:off x="6896100" y="563326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3" name="Rounded Rectangle 4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Product Type</a:t>
            </a:r>
          </a:p>
        </p:txBody>
      </p:sp>
      <p:sp>
        <p:nvSpPr>
          <p:cNvPr id="45" name="Rectangle 4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7" name="TextBox 4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8" name="Picture 47" descr="lock.png"/>
          <p:cNvPicPr>
            <a:picLocks noChangeAspect="1"/>
          </p:cNvPicPr>
          <p:nvPr/>
        </p:nvPicPr>
        <p:blipFill>
          <a:blip r:embed="rId5"/>
          <a:stretch>
            <a:fillRect/>
          </a:stretch>
        </p:blipFill>
        <p:spPr>
          <a:xfrm>
            <a:off x="2557843" y="3833622"/>
            <a:ext cx="275034" cy="400050"/>
          </a:xfrm>
          <a:prstGeom prst="rect">
            <a:avLst/>
          </a:prstGeom>
        </p:spPr>
      </p:pic>
      <p:sp>
        <p:nvSpPr>
          <p:cNvPr id="49" name="TextBox 48"/>
          <p:cNvSpPr txBox="1"/>
          <p:nvPr/>
        </p:nvSpPr>
        <p:spPr>
          <a:xfrm>
            <a:off x="7829550" y="1400175"/>
            <a:ext cx="3687799" cy="194310"/>
          </a:xfrm>
          <a:prstGeom prst="rect">
            <a:avLst/>
          </a:prstGeom>
          <a:noFill/>
        </p:spPr>
        <p:txBody>
          <a:bodyPr wrap="none" lIns="0" rIns="0" tIns="0" bIns="0">
            <a:spAutoFit/>
          </a:bodyPr>
          <a:lstStyle/>
          <a:p>
            <a:r>
              <a:rPr sz="1150" b="0">
                <a:solidFill>
                  <a:srgbClr val="2E2E2E"/>
                </a:solidFill>
                <a:latin typeface="Calibri"/>
              </a:rPr>
              <a:t>Among ear wax removal products by product type, ear drops</a:t>
            </a:r>
          </a:p>
        </p:txBody>
      </p:sp>
      <p:sp>
        <p:nvSpPr>
          <p:cNvPr id="50" name="TextBox 49"/>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51" name="Picture 50" descr="lock.png"/>
          <p:cNvPicPr>
            <a:picLocks noChangeAspect="1"/>
          </p:cNvPicPr>
          <p:nvPr/>
        </p:nvPicPr>
        <p:blipFill>
          <a:blip r:embed="rId5"/>
          <a:stretch>
            <a:fillRect/>
          </a:stretch>
        </p:blipFill>
        <p:spPr>
          <a:xfrm>
            <a:off x="10935343" y="1565211"/>
            <a:ext cx="134549" cy="195707"/>
          </a:xfrm>
          <a:prstGeom prst="rect">
            <a:avLst/>
          </a:prstGeom>
        </p:spPr>
      </p:pic>
      <p:sp>
        <p:nvSpPr>
          <p:cNvPr id="52" name="TextBox 51"/>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53" name="TextBox 52"/>
          <p:cNvSpPr txBox="1"/>
          <p:nvPr/>
        </p:nvSpPr>
        <p:spPr>
          <a:xfrm>
            <a:off x="7829550" y="1750695"/>
            <a:ext cx="3654995" cy="194310"/>
          </a:xfrm>
          <a:prstGeom prst="rect">
            <a:avLst/>
          </a:prstGeom>
          <a:noFill/>
        </p:spPr>
        <p:txBody>
          <a:bodyPr wrap="none" lIns="0" rIns="0" tIns="0" bIns="0">
            <a:spAutoFit/>
          </a:bodyPr>
          <a:lstStyle/>
          <a:p>
            <a:r>
              <a:rPr sz="1150" b="0">
                <a:solidFill>
                  <a:srgbClr val="2E2E2E"/>
                </a:solidFill>
                <a:latin typeface="Calibri"/>
              </a:rPr>
              <a:t>forecast period. In terms of value share by product type, the</a:t>
            </a:r>
          </a:p>
        </p:txBody>
      </p:sp>
      <p:sp>
        <p:nvSpPr>
          <p:cNvPr id="54" name="TextBox 53"/>
          <p:cNvSpPr txBox="1"/>
          <p:nvPr/>
        </p:nvSpPr>
        <p:spPr>
          <a:xfrm>
            <a:off x="7829550" y="1925955"/>
            <a:ext cx="4057650" cy="194310"/>
          </a:xfrm>
          <a:prstGeom prst="rect">
            <a:avLst/>
          </a:prstGeom>
          <a:noFill/>
        </p:spPr>
        <p:txBody>
          <a:bodyPr wrap="none" lIns="0" rIns="0" tIns="0" bIns="0">
            <a:spAutoFit/>
          </a:bodyPr>
          <a:lstStyle/>
          <a:p>
            <a:r>
              <a:rPr sz="1150" b="0">
                <a:solidFill>
                  <a:srgbClr val="2E2E2E"/>
                </a:solidFill>
                <a:latin typeface="Calibri"/>
              </a:rPr>
              <a:t>irrigation devices and accessories segment is expected to dominate</a:t>
            </a:r>
          </a:p>
        </p:txBody>
      </p:sp>
      <p:sp>
        <p:nvSpPr>
          <p:cNvPr id="55" name="TextBox 54"/>
          <p:cNvSpPr txBox="1"/>
          <p:nvPr/>
        </p:nvSpPr>
        <p:spPr>
          <a:xfrm>
            <a:off x="7829550" y="2101215"/>
            <a:ext cx="1231478" cy="194310"/>
          </a:xfrm>
          <a:prstGeom prst="rect">
            <a:avLst/>
          </a:prstGeom>
          <a:noFill/>
        </p:spPr>
        <p:txBody>
          <a:bodyPr wrap="none" lIns="0" rIns="0" tIns="0" bIns="0">
            <a:spAutoFit/>
          </a:bodyPr>
          <a:lstStyle/>
          <a:p>
            <a:r>
              <a:rPr sz="1150" b="0">
                <a:solidFill>
                  <a:srgbClr val="2E2E2E"/>
                </a:solidFill>
                <a:latin typeface="Calibri"/>
              </a:rPr>
              <a:t>the market, gaining</a:t>
            </a:r>
          </a:p>
        </p:txBody>
      </p:sp>
      <p:pic>
        <p:nvPicPr>
          <p:cNvPr id="56" name="Picture 55" descr="lock.png"/>
          <p:cNvPicPr>
            <a:picLocks noChangeAspect="1"/>
          </p:cNvPicPr>
          <p:nvPr/>
        </p:nvPicPr>
        <p:blipFill>
          <a:blip r:embed="rId5"/>
          <a:stretch>
            <a:fillRect/>
          </a:stretch>
        </p:blipFill>
        <p:spPr>
          <a:xfrm>
            <a:off x="9010182" y="2090991"/>
            <a:ext cx="134549" cy="195707"/>
          </a:xfrm>
          <a:prstGeom prst="rect">
            <a:avLst/>
          </a:prstGeom>
        </p:spPr>
      </p:pic>
      <p:sp>
        <p:nvSpPr>
          <p:cNvPr id="57" name="TextBox 56"/>
          <p:cNvSpPr txBox="1"/>
          <p:nvPr/>
        </p:nvSpPr>
        <p:spPr>
          <a:xfrm>
            <a:off x="9185291"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8" name="Picture 57" descr="lock.png"/>
          <p:cNvPicPr>
            <a:picLocks noChangeAspect="1"/>
          </p:cNvPicPr>
          <p:nvPr/>
        </p:nvPicPr>
        <p:blipFill>
          <a:blip r:embed="rId5"/>
          <a:stretch>
            <a:fillRect/>
          </a:stretch>
        </p:blipFill>
        <p:spPr>
          <a:xfrm>
            <a:off x="10580434" y="2090991"/>
            <a:ext cx="134549" cy="195707"/>
          </a:xfrm>
          <a:prstGeom prst="rect">
            <a:avLst/>
          </a:prstGeom>
        </p:spPr>
      </p:pic>
      <p:sp>
        <p:nvSpPr>
          <p:cNvPr id="59" name="TextBox 58"/>
          <p:cNvSpPr txBox="1"/>
          <p:nvPr/>
        </p:nvSpPr>
        <p:spPr>
          <a:xfrm>
            <a:off x="10755543"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0" name="TextBox 59"/>
          <p:cNvSpPr txBox="1"/>
          <p:nvPr/>
        </p:nvSpPr>
        <p:spPr>
          <a:xfrm>
            <a:off x="7829550" y="2329053"/>
            <a:ext cx="2617241" cy="194310"/>
          </a:xfrm>
          <a:prstGeom prst="rect">
            <a:avLst/>
          </a:prstGeom>
          <a:noFill/>
        </p:spPr>
        <p:txBody>
          <a:bodyPr wrap="none" lIns="0" rIns="0" tIns="0" bIns="0">
            <a:spAutoFit/>
          </a:bodyPr>
          <a:lstStyle/>
          <a:p>
            <a:r>
              <a:rPr sz="1150" b="0">
                <a:solidFill>
                  <a:srgbClr val="2E2E2E"/>
                </a:solidFill>
                <a:latin typeface="Calibri"/>
              </a:rPr>
              <a:t>The ear sprays segment is expected to lose</a:t>
            </a:r>
          </a:p>
        </p:txBody>
      </p:sp>
      <p:pic>
        <p:nvPicPr>
          <p:cNvPr id="61" name="Picture 60" descr="lock.png"/>
          <p:cNvPicPr>
            <a:picLocks noChangeAspect="1"/>
          </p:cNvPicPr>
          <p:nvPr/>
        </p:nvPicPr>
        <p:blipFill>
          <a:blip r:embed="rId5"/>
          <a:stretch>
            <a:fillRect/>
          </a:stretch>
        </p:blipFill>
        <p:spPr>
          <a:xfrm>
            <a:off x="10395945" y="2318829"/>
            <a:ext cx="134549" cy="195707"/>
          </a:xfrm>
          <a:prstGeom prst="rect">
            <a:avLst/>
          </a:prstGeom>
        </p:spPr>
      </p:pic>
      <p:sp>
        <p:nvSpPr>
          <p:cNvPr id="62" name="TextBox 61"/>
          <p:cNvSpPr txBox="1"/>
          <p:nvPr/>
        </p:nvSpPr>
        <p:spPr>
          <a:xfrm>
            <a:off x="10571055"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63" name="TextBox 62"/>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64" name="Picture 63" descr="lock.png"/>
          <p:cNvPicPr>
            <a:picLocks noChangeAspect="1"/>
          </p:cNvPicPr>
          <p:nvPr/>
        </p:nvPicPr>
        <p:blipFill>
          <a:blip r:embed="rId5"/>
          <a:stretch>
            <a:fillRect/>
          </a:stretch>
        </p:blipFill>
        <p:spPr>
          <a:xfrm>
            <a:off x="9630324" y="2494089"/>
            <a:ext cx="134549" cy="195707"/>
          </a:xfrm>
          <a:prstGeom prst="rect">
            <a:avLst/>
          </a:prstGeom>
        </p:spPr>
      </p:pic>
      <p:sp>
        <p:nvSpPr>
          <p:cNvPr id="65" name="TextBox 64"/>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6"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End User</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 User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End User Segment Outlook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9 sub-segments of End User,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End User segment categorizes the market by end user.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Audiologists</a:t>
            </a:r>
          </a:p>
        </p:txBody>
      </p:sp>
      <p:sp>
        <p:nvSpPr>
          <p:cNvPr id="22" name="Rectangle 21"/>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ENT specialists</a:t>
            </a:r>
          </a:p>
        </p:txBody>
      </p:sp>
      <p:sp>
        <p:nvSpPr>
          <p:cNvPr id="29" name="Rectangle 28"/>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Others</a:t>
            </a:r>
          </a:p>
        </p:txBody>
      </p:sp>
      <p:sp>
        <p:nvSpPr>
          <p:cNvPr id="36" name="Rectangle 35"/>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General practitioners</a:t>
            </a:r>
          </a:p>
        </p:txBody>
      </p:sp>
      <p:sp>
        <p:nvSpPr>
          <p:cNvPr id="43" name="Rectangle 42"/>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Healthcare professionals</a:t>
            </a:r>
          </a:p>
        </p:txBody>
      </p:sp>
      <p:sp>
        <p:nvSpPr>
          <p:cNvPr id="50" name="Rectangle 49"/>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6" name="Rectangle 55"/>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8" name="Rounded Rectangle 5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0" name="Rectangle 59"/>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62" name="Rounded Rectangle 6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4" name="Rectangle 63"/>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End User split shows how demand is distributed across end user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6" name="Rectangle 6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8" name="TextBox 6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9" name="TextBox 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0" name="Picture 69" descr="128_9_605E5C.png"/>
          <p:cNvPicPr>
            <a:picLocks noChangeAspect="1"/>
          </p:cNvPicPr>
          <p:nvPr/>
        </p:nvPicPr>
        <p:blipFill>
          <a:blip r:embed="rId4"/>
          <a:stretch>
            <a:fillRect/>
          </a:stretch>
        </p:blipFill>
        <p:spPr>
          <a:xfrm>
            <a:off x="2223441" y="2286582"/>
            <a:ext cx="1195728" cy="361950"/>
          </a:xfrm>
          <a:prstGeom prst="rect">
            <a:avLst/>
          </a:prstGeom>
        </p:spPr>
      </p:pic>
      <p:pic>
        <p:nvPicPr>
          <p:cNvPr id="71" name="Picture 70" descr="176_1_605E5C.png"/>
          <p:cNvPicPr>
            <a:picLocks noChangeAspect="1"/>
          </p:cNvPicPr>
          <p:nvPr/>
        </p:nvPicPr>
        <p:blipFill>
          <a:blip r:embed="rId5"/>
          <a:stretch>
            <a:fillRect/>
          </a:stretch>
        </p:blipFill>
        <p:spPr>
          <a:xfrm>
            <a:off x="2223441" y="2779432"/>
            <a:ext cx="1195728" cy="361950"/>
          </a:xfrm>
          <a:prstGeom prst="rect">
            <a:avLst/>
          </a:prstGeom>
        </p:spPr>
      </p:pic>
      <p:pic>
        <p:nvPicPr>
          <p:cNvPr id="72" name="Picture 71" descr="3_2__605E5C.png"/>
          <p:cNvPicPr>
            <a:picLocks noChangeAspect="1"/>
          </p:cNvPicPr>
          <p:nvPr/>
        </p:nvPicPr>
        <p:blipFill>
          <a:blip r:embed="rId6"/>
          <a:stretch>
            <a:fillRect/>
          </a:stretch>
        </p:blipFill>
        <p:spPr>
          <a:xfrm>
            <a:off x="2330087" y="3272281"/>
            <a:ext cx="982436" cy="361950"/>
          </a:xfrm>
          <a:prstGeom prst="rect">
            <a:avLst/>
          </a:prstGeom>
        </p:spPr>
      </p:pic>
      <p:pic>
        <p:nvPicPr>
          <p:cNvPr id="73" name="Picture 72" descr="112_8_605E5C.png"/>
          <p:cNvPicPr>
            <a:picLocks noChangeAspect="1"/>
          </p:cNvPicPr>
          <p:nvPr/>
        </p:nvPicPr>
        <p:blipFill>
          <a:blip r:embed="rId7"/>
          <a:stretch>
            <a:fillRect/>
          </a:stretch>
        </p:blipFill>
        <p:spPr>
          <a:xfrm>
            <a:off x="4246551" y="2286582"/>
            <a:ext cx="1195728" cy="361950"/>
          </a:xfrm>
          <a:prstGeom prst="rect">
            <a:avLst/>
          </a:prstGeom>
        </p:spPr>
      </p:pic>
      <p:pic>
        <p:nvPicPr>
          <p:cNvPr id="74" name="Picture 73" descr="138_6_605E5C.png"/>
          <p:cNvPicPr>
            <a:picLocks noChangeAspect="1"/>
          </p:cNvPicPr>
          <p:nvPr/>
        </p:nvPicPr>
        <p:blipFill>
          <a:blip r:embed="rId8"/>
          <a:stretch>
            <a:fillRect/>
          </a:stretch>
        </p:blipFill>
        <p:spPr>
          <a:xfrm>
            <a:off x="4246551" y="2779432"/>
            <a:ext cx="1195728" cy="361950"/>
          </a:xfrm>
          <a:prstGeom prst="rect">
            <a:avLst/>
          </a:prstGeom>
        </p:spPr>
      </p:pic>
      <p:pic>
        <p:nvPicPr>
          <p:cNvPr id="75" name="Picture 74" descr="2_1__605E5C.png"/>
          <p:cNvPicPr>
            <a:picLocks noChangeAspect="1"/>
          </p:cNvPicPr>
          <p:nvPr/>
        </p:nvPicPr>
        <p:blipFill>
          <a:blip r:embed="rId9"/>
          <a:stretch>
            <a:fillRect/>
          </a:stretch>
        </p:blipFill>
        <p:spPr>
          <a:xfrm>
            <a:off x="4353197" y="3272281"/>
            <a:ext cx="982436" cy="361950"/>
          </a:xfrm>
          <a:prstGeom prst="rect">
            <a:avLst/>
          </a:prstGeom>
        </p:spPr>
      </p:pic>
      <p:pic>
        <p:nvPicPr>
          <p:cNvPr id="76" name="Picture 75" descr="98_7_605E5C.png"/>
          <p:cNvPicPr>
            <a:picLocks noChangeAspect="1"/>
          </p:cNvPicPr>
          <p:nvPr/>
        </p:nvPicPr>
        <p:blipFill>
          <a:blip r:embed="rId10"/>
          <a:stretch>
            <a:fillRect/>
          </a:stretch>
        </p:blipFill>
        <p:spPr>
          <a:xfrm>
            <a:off x="6376307" y="2286582"/>
            <a:ext cx="982436" cy="361950"/>
          </a:xfrm>
          <a:prstGeom prst="rect">
            <a:avLst/>
          </a:prstGeom>
        </p:spPr>
      </p:pic>
      <p:pic>
        <p:nvPicPr>
          <p:cNvPr id="77" name="Picture 76" descr="171_4_605E5C.png"/>
          <p:cNvPicPr>
            <a:picLocks noChangeAspect="1"/>
          </p:cNvPicPr>
          <p:nvPr/>
        </p:nvPicPr>
        <p:blipFill>
          <a:blip r:embed="rId11"/>
          <a:stretch>
            <a:fillRect/>
          </a:stretch>
        </p:blipFill>
        <p:spPr>
          <a:xfrm>
            <a:off x="6269661" y="2779432"/>
            <a:ext cx="1195728" cy="361950"/>
          </a:xfrm>
          <a:prstGeom prst="rect">
            <a:avLst/>
          </a:prstGeom>
        </p:spPr>
      </p:pic>
      <p:pic>
        <p:nvPicPr>
          <p:cNvPr id="78" name="Picture 77" descr="5_7__605E5C.png"/>
          <p:cNvPicPr>
            <a:picLocks noChangeAspect="1"/>
          </p:cNvPicPr>
          <p:nvPr/>
        </p:nvPicPr>
        <p:blipFill>
          <a:blip r:embed="rId12"/>
          <a:stretch>
            <a:fillRect/>
          </a:stretch>
        </p:blipFill>
        <p:spPr>
          <a:xfrm>
            <a:off x="6376307" y="3272281"/>
            <a:ext cx="982436" cy="361950"/>
          </a:xfrm>
          <a:prstGeom prst="rect">
            <a:avLst/>
          </a:prstGeom>
        </p:spPr>
      </p:pic>
      <p:pic>
        <p:nvPicPr>
          <p:cNvPr id="79" name="Picture 78" descr="97_9_605E5C.png"/>
          <p:cNvPicPr>
            <a:picLocks noChangeAspect="1"/>
          </p:cNvPicPr>
          <p:nvPr/>
        </p:nvPicPr>
        <p:blipFill>
          <a:blip r:embed="rId13"/>
          <a:stretch>
            <a:fillRect/>
          </a:stretch>
        </p:blipFill>
        <p:spPr>
          <a:xfrm>
            <a:off x="8399417" y="2286582"/>
            <a:ext cx="982436" cy="361950"/>
          </a:xfrm>
          <a:prstGeom prst="rect">
            <a:avLst/>
          </a:prstGeom>
        </p:spPr>
      </p:pic>
      <p:pic>
        <p:nvPicPr>
          <p:cNvPr id="80" name="Picture 79" descr="132_4_605E5C.png"/>
          <p:cNvPicPr>
            <a:picLocks noChangeAspect="1"/>
          </p:cNvPicPr>
          <p:nvPr/>
        </p:nvPicPr>
        <p:blipFill>
          <a:blip r:embed="rId14"/>
          <a:stretch>
            <a:fillRect/>
          </a:stretch>
        </p:blipFill>
        <p:spPr>
          <a:xfrm>
            <a:off x="8292771" y="2779432"/>
            <a:ext cx="1195728" cy="361950"/>
          </a:xfrm>
          <a:prstGeom prst="rect">
            <a:avLst/>
          </a:prstGeom>
        </p:spPr>
      </p:pic>
      <p:pic>
        <p:nvPicPr>
          <p:cNvPr id="81" name="Picture 80" descr="3_1__605E5C.png"/>
          <p:cNvPicPr>
            <a:picLocks noChangeAspect="1"/>
          </p:cNvPicPr>
          <p:nvPr/>
        </p:nvPicPr>
        <p:blipFill>
          <a:blip r:embed="rId15"/>
          <a:stretch>
            <a:fillRect/>
          </a:stretch>
        </p:blipFill>
        <p:spPr>
          <a:xfrm>
            <a:off x="8399417" y="3272281"/>
            <a:ext cx="982436" cy="361950"/>
          </a:xfrm>
          <a:prstGeom prst="rect">
            <a:avLst/>
          </a:prstGeom>
        </p:spPr>
      </p:pic>
      <p:pic>
        <p:nvPicPr>
          <p:cNvPr id="82" name="Picture 81" descr="76_9_605E5C.png"/>
          <p:cNvPicPr>
            <a:picLocks noChangeAspect="1"/>
          </p:cNvPicPr>
          <p:nvPr/>
        </p:nvPicPr>
        <p:blipFill>
          <a:blip r:embed="rId16"/>
          <a:stretch>
            <a:fillRect/>
          </a:stretch>
        </p:blipFill>
        <p:spPr>
          <a:xfrm>
            <a:off x="10422527" y="2286582"/>
            <a:ext cx="982436" cy="361950"/>
          </a:xfrm>
          <a:prstGeom prst="rect">
            <a:avLst/>
          </a:prstGeom>
        </p:spPr>
      </p:pic>
      <p:pic>
        <p:nvPicPr>
          <p:cNvPr id="83" name="Picture 82" descr="142_4_605E5C.png"/>
          <p:cNvPicPr>
            <a:picLocks noChangeAspect="1"/>
          </p:cNvPicPr>
          <p:nvPr/>
        </p:nvPicPr>
        <p:blipFill>
          <a:blip r:embed="rId17"/>
          <a:stretch>
            <a:fillRect/>
          </a:stretch>
        </p:blipFill>
        <p:spPr>
          <a:xfrm>
            <a:off x="10315881" y="2779432"/>
            <a:ext cx="1195728" cy="361950"/>
          </a:xfrm>
          <a:prstGeom prst="rect">
            <a:avLst/>
          </a:prstGeom>
        </p:spPr>
      </p:pic>
      <p:pic>
        <p:nvPicPr>
          <p:cNvPr id="84" name="Picture 83" descr="6_4__605E5C.png"/>
          <p:cNvPicPr>
            <a:picLocks noChangeAspect="1"/>
          </p:cNvPicPr>
          <p:nvPr/>
        </p:nvPicPr>
        <p:blipFill>
          <a:blip r:embed="rId18"/>
          <a:stretch>
            <a:fillRect/>
          </a:stretch>
        </p:blipFill>
        <p:spPr>
          <a:xfrm>
            <a:off x="10422527" y="3272281"/>
            <a:ext cx="982436" cy="361950"/>
          </a:xfrm>
          <a:prstGeom prst="rect">
            <a:avLst/>
          </a:prstGeom>
        </p:spPr>
      </p:pic>
      <p:pic>
        <p:nvPicPr>
          <p:cNvPr id="85" name="Picture 84" descr="lock.png"/>
          <p:cNvPicPr>
            <a:picLocks noChangeAspect="1"/>
          </p:cNvPicPr>
          <p:nvPr/>
        </p:nvPicPr>
        <p:blipFill>
          <a:blip r:embed="rId19"/>
          <a:stretch>
            <a:fillRect/>
          </a:stretch>
        </p:blipFill>
        <p:spPr>
          <a:xfrm>
            <a:off x="2727960" y="2827057"/>
            <a:ext cx="183356" cy="266700"/>
          </a:xfrm>
          <a:prstGeom prst="rect">
            <a:avLst/>
          </a:prstGeom>
        </p:spPr>
      </p:pic>
      <p:pic>
        <p:nvPicPr>
          <p:cNvPr id="86" name="Picture 85" descr="lock.png"/>
          <p:cNvPicPr>
            <a:picLocks noChangeAspect="1"/>
          </p:cNvPicPr>
          <p:nvPr/>
        </p:nvPicPr>
        <p:blipFill>
          <a:blip r:embed="rId19"/>
          <a:stretch>
            <a:fillRect/>
          </a:stretch>
        </p:blipFill>
        <p:spPr>
          <a:xfrm>
            <a:off x="4751070" y="2827057"/>
            <a:ext cx="183356" cy="266700"/>
          </a:xfrm>
          <a:prstGeom prst="rect">
            <a:avLst/>
          </a:prstGeom>
        </p:spPr>
      </p:pic>
      <p:pic>
        <p:nvPicPr>
          <p:cNvPr id="87" name="Picture 86" descr="lock.png"/>
          <p:cNvPicPr>
            <a:picLocks noChangeAspect="1"/>
          </p:cNvPicPr>
          <p:nvPr/>
        </p:nvPicPr>
        <p:blipFill>
          <a:blip r:embed="rId19"/>
          <a:stretch>
            <a:fillRect/>
          </a:stretch>
        </p:blipFill>
        <p:spPr>
          <a:xfrm>
            <a:off x="6774180" y="2827057"/>
            <a:ext cx="183356" cy="266700"/>
          </a:xfrm>
          <a:prstGeom prst="rect">
            <a:avLst/>
          </a:prstGeom>
        </p:spPr>
      </p:pic>
      <p:pic>
        <p:nvPicPr>
          <p:cNvPr id="88" name="Picture 87" descr="lock.png"/>
          <p:cNvPicPr>
            <a:picLocks noChangeAspect="1"/>
          </p:cNvPicPr>
          <p:nvPr/>
        </p:nvPicPr>
        <p:blipFill>
          <a:blip r:embed="rId19"/>
          <a:stretch>
            <a:fillRect/>
          </a:stretch>
        </p:blipFill>
        <p:spPr>
          <a:xfrm>
            <a:off x="8797290" y="2827057"/>
            <a:ext cx="183356" cy="266700"/>
          </a:xfrm>
          <a:prstGeom prst="rect">
            <a:avLst/>
          </a:prstGeom>
        </p:spPr>
      </p:pic>
      <p:pic>
        <p:nvPicPr>
          <p:cNvPr id="89" name="Picture 88" descr="lock.png"/>
          <p:cNvPicPr>
            <a:picLocks noChangeAspect="1"/>
          </p:cNvPicPr>
          <p:nvPr/>
        </p:nvPicPr>
        <p:blipFill>
          <a:blip r:embed="rId19"/>
          <a:stretch>
            <a:fillRect/>
          </a:stretch>
        </p:blipFill>
        <p:spPr>
          <a:xfrm>
            <a:off x="10820400" y="2827057"/>
            <a:ext cx="183356" cy="266700"/>
          </a:xfrm>
          <a:prstGeom prst="rect">
            <a:avLst/>
          </a:prstGeom>
        </p:spPr>
      </p:pic>
      <p:sp>
        <p:nvSpPr>
          <p:cNvPr id="90" name="TextBox 89"/>
          <p:cNvSpPr txBox="1"/>
          <p:nvPr/>
        </p:nvSpPr>
        <p:spPr>
          <a:xfrm>
            <a:off x="485775" y="4229437"/>
            <a:ext cx="2719040" cy="186689"/>
          </a:xfrm>
          <a:prstGeom prst="rect">
            <a:avLst/>
          </a:prstGeom>
          <a:noFill/>
        </p:spPr>
        <p:txBody>
          <a:bodyPr wrap="none" lIns="0" rIns="0" tIns="0" bIns="0">
            <a:spAutoFit/>
          </a:bodyPr>
          <a:lstStyle/>
          <a:p>
            <a:r>
              <a:rPr sz="1100" b="0">
                <a:solidFill>
                  <a:srgbClr val="2E2E2E"/>
                </a:solidFill>
                <a:latin typeface="Calibri"/>
              </a:rPr>
              <a:t>Among ear wax removal products by end user,</a:t>
            </a:r>
          </a:p>
        </p:txBody>
      </p:sp>
      <p:sp>
        <p:nvSpPr>
          <p:cNvPr id="91" name="TextBox 90"/>
          <p:cNvSpPr txBox="1"/>
          <p:nvPr/>
        </p:nvSpPr>
        <p:spPr>
          <a:xfrm>
            <a:off x="485775" y="4397077"/>
            <a:ext cx="2551509" cy="186689"/>
          </a:xfrm>
          <a:prstGeom prst="rect">
            <a:avLst/>
          </a:prstGeom>
          <a:noFill/>
        </p:spPr>
        <p:txBody>
          <a:bodyPr wrap="none" lIns="0" rIns="0" tIns="0" bIns="0">
            <a:spAutoFit/>
          </a:bodyPr>
          <a:lstStyle/>
          <a:p>
            <a:r>
              <a:rPr sz="1100" b="0">
                <a:solidFill>
                  <a:srgbClr val="2E2E2E"/>
                </a:solidFill>
                <a:latin typeface="Calibri"/>
              </a:rPr>
              <a:t>hospitals and clinics segment is expected to</a:t>
            </a:r>
          </a:p>
        </p:txBody>
      </p:sp>
      <p:sp>
        <p:nvSpPr>
          <p:cNvPr id="92" name="TextBox 91"/>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93" name="Picture 92" descr="lock.png"/>
          <p:cNvPicPr>
            <a:picLocks noChangeAspect="1"/>
          </p:cNvPicPr>
          <p:nvPr/>
        </p:nvPicPr>
        <p:blipFill>
          <a:blip r:embed="rId19"/>
          <a:stretch>
            <a:fillRect/>
          </a:stretch>
        </p:blipFill>
        <p:spPr>
          <a:xfrm>
            <a:off x="2108919" y="4554938"/>
            <a:ext cx="128699" cy="187198"/>
          </a:xfrm>
          <a:prstGeom prst="rect">
            <a:avLst/>
          </a:prstGeom>
        </p:spPr>
      </p:pic>
      <p:sp>
        <p:nvSpPr>
          <p:cNvPr id="94" name="TextBox 93"/>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95" name="TextBox 94"/>
          <p:cNvSpPr txBox="1"/>
          <p:nvPr/>
        </p:nvSpPr>
        <p:spPr>
          <a:xfrm>
            <a:off x="485775" y="4732357"/>
            <a:ext cx="2766243" cy="186689"/>
          </a:xfrm>
          <a:prstGeom prst="rect">
            <a:avLst/>
          </a:prstGeom>
          <a:noFill/>
        </p:spPr>
        <p:txBody>
          <a:bodyPr wrap="none" lIns="0" rIns="0" tIns="0" bIns="0">
            <a:spAutoFit/>
          </a:bodyPr>
          <a:lstStyle/>
          <a:p>
            <a:r>
              <a:rPr sz="1100" b="0">
                <a:solidFill>
                  <a:srgbClr val="2E2E2E"/>
                </a:solidFill>
                <a:latin typeface="Calibri"/>
              </a:rPr>
              <a:t>period. In terms of value share by end user, the</a:t>
            </a:r>
          </a:p>
        </p:txBody>
      </p:sp>
      <p:sp>
        <p:nvSpPr>
          <p:cNvPr id="96" name="TextBox 95"/>
          <p:cNvSpPr txBox="1"/>
          <p:nvPr/>
        </p:nvSpPr>
        <p:spPr>
          <a:xfrm>
            <a:off x="485775" y="4899997"/>
            <a:ext cx="2904033" cy="186689"/>
          </a:xfrm>
          <a:prstGeom prst="rect">
            <a:avLst/>
          </a:prstGeom>
          <a:noFill/>
        </p:spPr>
        <p:txBody>
          <a:bodyPr wrap="none" lIns="0" rIns="0" tIns="0" bIns="0">
            <a:spAutoFit/>
          </a:bodyPr>
          <a:lstStyle/>
          <a:p>
            <a:r>
              <a:rPr sz="1100" b="0">
                <a:solidFill>
                  <a:srgbClr val="2E2E2E"/>
                </a:solidFill>
                <a:latin typeface="Calibri"/>
              </a:rPr>
              <a:t>audiologists segment is expected to dominate the</a:t>
            </a:r>
          </a:p>
        </p:txBody>
      </p:sp>
      <p:sp>
        <p:nvSpPr>
          <p:cNvPr id="97" name="TextBox 96"/>
          <p:cNvSpPr txBox="1"/>
          <p:nvPr/>
        </p:nvSpPr>
        <p:spPr>
          <a:xfrm>
            <a:off x="485775" y="5067637"/>
            <a:ext cx="881930" cy="186689"/>
          </a:xfrm>
          <a:prstGeom prst="rect">
            <a:avLst/>
          </a:prstGeom>
          <a:noFill/>
        </p:spPr>
        <p:txBody>
          <a:bodyPr wrap="none" lIns="0" rIns="0" tIns="0" bIns="0">
            <a:spAutoFit/>
          </a:bodyPr>
          <a:lstStyle/>
          <a:p>
            <a:r>
              <a:rPr sz="1100" b="0">
                <a:solidFill>
                  <a:srgbClr val="2E2E2E"/>
                </a:solidFill>
                <a:latin typeface="Calibri"/>
              </a:rPr>
              <a:t>market, losing</a:t>
            </a:r>
          </a:p>
        </p:txBody>
      </p:sp>
      <p:pic>
        <p:nvPicPr>
          <p:cNvPr id="98" name="Picture 97" descr="lock.png"/>
          <p:cNvPicPr>
            <a:picLocks noChangeAspect="1"/>
          </p:cNvPicPr>
          <p:nvPr/>
        </p:nvPicPr>
        <p:blipFill>
          <a:blip r:embed="rId19"/>
          <a:stretch>
            <a:fillRect/>
          </a:stretch>
        </p:blipFill>
        <p:spPr>
          <a:xfrm>
            <a:off x="1315757" y="5057858"/>
            <a:ext cx="128699" cy="187198"/>
          </a:xfrm>
          <a:prstGeom prst="rect">
            <a:avLst/>
          </a:prstGeom>
        </p:spPr>
      </p:pic>
      <p:sp>
        <p:nvSpPr>
          <p:cNvPr id="99" name="TextBox 98"/>
          <p:cNvSpPr txBox="1"/>
          <p:nvPr/>
        </p:nvSpPr>
        <p:spPr>
          <a:xfrm>
            <a:off x="1483253"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100" name="Picture 99" descr="lock.png"/>
          <p:cNvPicPr>
            <a:picLocks noChangeAspect="1"/>
          </p:cNvPicPr>
          <p:nvPr/>
        </p:nvPicPr>
        <p:blipFill>
          <a:blip r:embed="rId19"/>
          <a:stretch>
            <a:fillRect/>
          </a:stretch>
        </p:blipFill>
        <p:spPr>
          <a:xfrm>
            <a:off x="2817737" y="5057858"/>
            <a:ext cx="128699" cy="187198"/>
          </a:xfrm>
          <a:prstGeom prst="rect">
            <a:avLst/>
          </a:prstGeom>
        </p:spPr>
      </p:pic>
      <p:sp>
        <p:nvSpPr>
          <p:cNvPr id="101" name="TextBox 100"/>
          <p:cNvSpPr txBox="1"/>
          <p:nvPr/>
        </p:nvSpPr>
        <p:spPr>
          <a:xfrm>
            <a:off x="485775"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02" name="TextBox 101"/>
          <p:cNvSpPr txBox="1"/>
          <p:nvPr/>
        </p:nvSpPr>
        <p:spPr>
          <a:xfrm>
            <a:off x="485775" y="5453209"/>
            <a:ext cx="2610991" cy="186689"/>
          </a:xfrm>
          <a:prstGeom prst="rect">
            <a:avLst/>
          </a:prstGeom>
          <a:noFill/>
        </p:spPr>
        <p:txBody>
          <a:bodyPr wrap="none" lIns="0" rIns="0" tIns="0" bIns="0">
            <a:spAutoFit/>
          </a:bodyPr>
          <a:lstStyle/>
          <a:p>
            <a:r>
              <a:rPr sz="1100" b="0">
                <a:solidFill>
                  <a:srgbClr val="2E2E2E"/>
                </a:solidFill>
                <a:latin typeface="Calibri"/>
              </a:rPr>
              <a:t>Audiologists segment is projected to register</a:t>
            </a:r>
          </a:p>
        </p:txBody>
      </p:sp>
      <p:pic>
        <p:nvPicPr>
          <p:cNvPr id="103" name="Picture 102" descr="lock.png"/>
          <p:cNvPicPr>
            <a:picLocks noChangeAspect="1"/>
          </p:cNvPicPr>
          <p:nvPr/>
        </p:nvPicPr>
        <p:blipFill>
          <a:blip r:embed="rId19"/>
          <a:stretch>
            <a:fillRect/>
          </a:stretch>
        </p:blipFill>
        <p:spPr>
          <a:xfrm>
            <a:off x="3044817" y="5443430"/>
            <a:ext cx="128699" cy="187198"/>
          </a:xfrm>
          <a:prstGeom prst="rect">
            <a:avLst/>
          </a:prstGeom>
        </p:spPr>
      </p:pic>
      <p:sp>
        <p:nvSpPr>
          <p:cNvPr id="104" name="TextBox 103"/>
          <p:cNvSpPr txBox="1"/>
          <p:nvPr/>
        </p:nvSpPr>
        <p:spPr>
          <a:xfrm>
            <a:off x="3212313" y="545320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105" name="TextBox 104"/>
          <p:cNvSpPr txBox="1"/>
          <p:nvPr/>
        </p:nvSpPr>
        <p:spPr>
          <a:xfrm>
            <a:off x="485775" y="5620849"/>
            <a:ext cx="2477839" cy="186689"/>
          </a:xfrm>
          <a:prstGeom prst="rect">
            <a:avLst/>
          </a:prstGeom>
          <a:noFill/>
        </p:spPr>
        <p:txBody>
          <a:bodyPr wrap="none" lIns="0" rIns="0" tIns="0" bIns="0">
            <a:spAutoFit/>
          </a:bodyPr>
          <a:lstStyle/>
          <a:p>
            <a:r>
              <a:rPr sz="1100" b="0">
                <a:solidFill>
                  <a:srgbClr val="2E2E2E"/>
                </a:solidFill>
                <a:latin typeface="Calibri"/>
              </a:rPr>
              <a:t>higher value than others segment in 2036.</a:t>
            </a:r>
          </a:p>
        </p:txBody>
      </p:sp>
      <p:sp>
        <p:nvSpPr>
          <p:cNvPr id="106" name="TextBox 105"/>
          <p:cNvSpPr txBox="1"/>
          <p:nvPr/>
        </p:nvSpPr>
        <p:spPr>
          <a:xfrm>
            <a:off x="3838575" y="4229437"/>
            <a:ext cx="922858" cy="186689"/>
          </a:xfrm>
          <a:prstGeom prst="rect">
            <a:avLst/>
          </a:prstGeom>
          <a:noFill/>
        </p:spPr>
        <p:txBody>
          <a:bodyPr wrap="none" lIns="0" rIns="0" tIns="0" bIns="0">
            <a:spAutoFit/>
          </a:bodyPr>
          <a:lstStyle/>
          <a:p>
            <a:r>
              <a:rPr sz="1100" b="0">
                <a:solidFill>
                  <a:srgbClr val="2E2E2E"/>
                </a:solidFill>
                <a:latin typeface="Calibri"/>
              </a:rPr>
              <a:t>● Audiologists:</a:t>
            </a:r>
          </a:p>
        </p:txBody>
      </p:sp>
      <p:pic>
        <p:nvPicPr>
          <p:cNvPr id="107" name="Picture 106" descr="lock.png"/>
          <p:cNvPicPr>
            <a:picLocks noChangeAspect="1"/>
          </p:cNvPicPr>
          <p:nvPr/>
        </p:nvPicPr>
        <p:blipFill>
          <a:blip r:embed="rId19"/>
          <a:stretch>
            <a:fillRect/>
          </a:stretch>
        </p:blipFill>
        <p:spPr>
          <a:xfrm>
            <a:off x="4709484" y="4219658"/>
            <a:ext cx="128699" cy="187198"/>
          </a:xfrm>
          <a:prstGeom prst="rect">
            <a:avLst/>
          </a:prstGeom>
        </p:spPr>
      </p:pic>
      <p:sp>
        <p:nvSpPr>
          <p:cNvPr id="108" name="TextBox 107"/>
          <p:cNvSpPr txBox="1"/>
          <p:nvPr/>
        </p:nvSpPr>
        <p:spPr>
          <a:xfrm>
            <a:off x="487698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9" name="Picture 108" descr="lock.png"/>
          <p:cNvPicPr>
            <a:picLocks noChangeAspect="1"/>
          </p:cNvPicPr>
          <p:nvPr/>
        </p:nvPicPr>
        <p:blipFill>
          <a:blip r:embed="rId19"/>
          <a:stretch>
            <a:fillRect/>
          </a:stretch>
        </p:blipFill>
        <p:spPr>
          <a:xfrm>
            <a:off x="5736431" y="4219658"/>
            <a:ext cx="128699" cy="187198"/>
          </a:xfrm>
          <a:prstGeom prst="rect">
            <a:avLst/>
          </a:prstGeom>
        </p:spPr>
      </p:pic>
      <p:sp>
        <p:nvSpPr>
          <p:cNvPr id="110" name="TextBox 109"/>
          <p:cNvSpPr txBox="1"/>
          <p:nvPr/>
        </p:nvSpPr>
        <p:spPr>
          <a:xfrm>
            <a:off x="5903926"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11" name="TextBox 110"/>
          <p:cNvSpPr txBox="1"/>
          <p:nvPr/>
        </p:nvSpPr>
        <p:spPr>
          <a:xfrm>
            <a:off x="3838575" y="4447369"/>
            <a:ext cx="1064195" cy="186689"/>
          </a:xfrm>
          <a:prstGeom prst="rect">
            <a:avLst/>
          </a:prstGeom>
          <a:noFill/>
        </p:spPr>
        <p:txBody>
          <a:bodyPr wrap="none" lIns="0" rIns="0" tIns="0" bIns="0">
            <a:spAutoFit/>
          </a:bodyPr>
          <a:lstStyle/>
          <a:p>
            <a:r>
              <a:rPr sz="1100" b="0">
                <a:solidFill>
                  <a:srgbClr val="2E2E2E"/>
                </a:solidFill>
                <a:latin typeface="Calibri"/>
              </a:rPr>
              <a:t>● ENT specialists:</a:t>
            </a:r>
          </a:p>
        </p:txBody>
      </p:sp>
      <p:pic>
        <p:nvPicPr>
          <p:cNvPr id="112" name="Picture 111" descr="lock.png"/>
          <p:cNvPicPr>
            <a:picLocks noChangeAspect="1"/>
          </p:cNvPicPr>
          <p:nvPr/>
        </p:nvPicPr>
        <p:blipFill>
          <a:blip r:embed="rId19"/>
          <a:stretch>
            <a:fillRect/>
          </a:stretch>
        </p:blipFill>
        <p:spPr>
          <a:xfrm>
            <a:off x="4850822" y="4437590"/>
            <a:ext cx="128699" cy="187198"/>
          </a:xfrm>
          <a:prstGeom prst="rect">
            <a:avLst/>
          </a:prstGeom>
        </p:spPr>
      </p:pic>
      <p:sp>
        <p:nvSpPr>
          <p:cNvPr id="113" name="TextBox 112"/>
          <p:cNvSpPr txBox="1"/>
          <p:nvPr/>
        </p:nvSpPr>
        <p:spPr>
          <a:xfrm>
            <a:off x="5018317"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4" name="Picture 113" descr="lock.png"/>
          <p:cNvPicPr>
            <a:picLocks noChangeAspect="1"/>
          </p:cNvPicPr>
          <p:nvPr/>
        </p:nvPicPr>
        <p:blipFill>
          <a:blip r:embed="rId19"/>
          <a:stretch>
            <a:fillRect/>
          </a:stretch>
        </p:blipFill>
        <p:spPr>
          <a:xfrm>
            <a:off x="5877768" y="4437590"/>
            <a:ext cx="128699" cy="187198"/>
          </a:xfrm>
          <a:prstGeom prst="rect">
            <a:avLst/>
          </a:prstGeom>
        </p:spPr>
      </p:pic>
      <p:sp>
        <p:nvSpPr>
          <p:cNvPr id="115" name="TextBox 114"/>
          <p:cNvSpPr txBox="1"/>
          <p:nvPr/>
        </p:nvSpPr>
        <p:spPr>
          <a:xfrm>
            <a:off x="6045263"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6" name="TextBox 115"/>
          <p:cNvSpPr txBox="1"/>
          <p:nvPr/>
        </p:nvSpPr>
        <p:spPr>
          <a:xfrm>
            <a:off x="3838575" y="4665301"/>
            <a:ext cx="615354" cy="186689"/>
          </a:xfrm>
          <a:prstGeom prst="rect">
            <a:avLst/>
          </a:prstGeom>
          <a:noFill/>
        </p:spPr>
        <p:txBody>
          <a:bodyPr wrap="none" lIns="0" rIns="0" tIns="0" bIns="0">
            <a:spAutoFit/>
          </a:bodyPr>
          <a:lstStyle/>
          <a:p>
            <a:r>
              <a:rPr sz="1100" b="0">
                <a:solidFill>
                  <a:srgbClr val="2E2E2E"/>
                </a:solidFill>
                <a:latin typeface="Calibri"/>
              </a:rPr>
              <a:t>● Others:</a:t>
            </a:r>
          </a:p>
        </p:txBody>
      </p:sp>
      <p:pic>
        <p:nvPicPr>
          <p:cNvPr id="117" name="Picture 116" descr="lock.png"/>
          <p:cNvPicPr>
            <a:picLocks noChangeAspect="1"/>
          </p:cNvPicPr>
          <p:nvPr/>
        </p:nvPicPr>
        <p:blipFill>
          <a:blip r:embed="rId19"/>
          <a:stretch>
            <a:fillRect/>
          </a:stretch>
        </p:blipFill>
        <p:spPr>
          <a:xfrm>
            <a:off x="4401981" y="4655522"/>
            <a:ext cx="128699" cy="187198"/>
          </a:xfrm>
          <a:prstGeom prst="rect">
            <a:avLst/>
          </a:prstGeom>
        </p:spPr>
      </p:pic>
      <p:sp>
        <p:nvSpPr>
          <p:cNvPr id="118" name="TextBox 117"/>
          <p:cNvSpPr txBox="1"/>
          <p:nvPr/>
        </p:nvSpPr>
        <p:spPr>
          <a:xfrm>
            <a:off x="4569477"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9" name="Picture 118" descr="lock.png"/>
          <p:cNvPicPr>
            <a:picLocks noChangeAspect="1"/>
          </p:cNvPicPr>
          <p:nvPr/>
        </p:nvPicPr>
        <p:blipFill>
          <a:blip r:embed="rId19"/>
          <a:stretch>
            <a:fillRect/>
          </a:stretch>
        </p:blipFill>
        <p:spPr>
          <a:xfrm>
            <a:off x="5428927" y="4655522"/>
            <a:ext cx="128699" cy="187198"/>
          </a:xfrm>
          <a:prstGeom prst="rect">
            <a:avLst/>
          </a:prstGeom>
        </p:spPr>
      </p:pic>
      <p:sp>
        <p:nvSpPr>
          <p:cNvPr id="120" name="TextBox 119"/>
          <p:cNvSpPr txBox="1"/>
          <p:nvPr/>
        </p:nvSpPr>
        <p:spPr>
          <a:xfrm>
            <a:off x="5596423"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1" name="TextBox 120"/>
          <p:cNvSpPr txBox="1"/>
          <p:nvPr/>
        </p:nvSpPr>
        <p:spPr>
          <a:xfrm>
            <a:off x="3838575" y="4883233"/>
            <a:ext cx="1436365" cy="186689"/>
          </a:xfrm>
          <a:prstGeom prst="rect">
            <a:avLst/>
          </a:prstGeom>
          <a:noFill/>
        </p:spPr>
        <p:txBody>
          <a:bodyPr wrap="none" lIns="0" rIns="0" tIns="0" bIns="0">
            <a:spAutoFit/>
          </a:bodyPr>
          <a:lstStyle/>
          <a:p>
            <a:r>
              <a:rPr sz="1100" b="0">
                <a:solidFill>
                  <a:srgbClr val="2E2E2E"/>
                </a:solidFill>
                <a:latin typeface="Calibri"/>
              </a:rPr>
              <a:t>● General practitioners:</a:t>
            </a:r>
          </a:p>
        </p:txBody>
      </p:sp>
      <p:pic>
        <p:nvPicPr>
          <p:cNvPr id="122" name="Picture 121" descr="lock.png"/>
          <p:cNvPicPr>
            <a:picLocks noChangeAspect="1"/>
          </p:cNvPicPr>
          <p:nvPr/>
        </p:nvPicPr>
        <p:blipFill>
          <a:blip r:embed="rId19"/>
          <a:stretch>
            <a:fillRect/>
          </a:stretch>
        </p:blipFill>
        <p:spPr>
          <a:xfrm>
            <a:off x="5222991" y="4873454"/>
            <a:ext cx="128699" cy="187198"/>
          </a:xfrm>
          <a:prstGeom prst="rect">
            <a:avLst/>
          </a:prstGeom>
        </p:spPr>
      </p:pic>
      <p:sp>
        <p:nvSpPr>
          <p:cNvPr id="123" name="TextBox 122"/>
          <p:cNvSpPr txBox="1"/>
          <p:nvPr/>
        </p:nvSpPr>
        <p:spPr>
          <a:xfrm>
            <a:off x="5390487"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4" name="Picture 123" descr="lock.png"/>
          <p:cNvPicPr>
            <a:picLocks noChangeAspect="1"/>
          </p:cNvPicPr>
          <p:nvPr/>
        </p:nvPicPr>
        <p:blipFill>
          <a:blip r:embed="rId19"/>
          <a:stretch>
            <a:fillRect/>
          </a:stretch>
        </p:blipFill>
        <p:spPr>
          <a:xfrm>
            <a:off x="6249937" y="4873454"/>
            <a:ext cx="128699" cy="187198"/>
          </a:xfrm>
          <a:prstGeom prst="rect">
            <a:avLst/>
          </a:prstGeom>
        </p:spPr>
      </p:pic>
      <p:sp>
        <p:nvSpPr>
          <p:cNvPr id="125" name="TextBox 124"/>
          <p:cNvSpPr txBox="1"/>
          <p:nvPr/>
        </p:nvSpPr>
        <p:spPr>
          <a:xfrm>
            <a:off x="6417433"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6" name="TextBox 125"/>
          <p:cNvSpPr txBox="1"/>
          <p:nvPr/>
        </p:nvSpPr>
        <p:spPr>
          <a:xfrm>
            <a:off x="3838575" y="5101165"/>
            <a:ext cx="1631726" cy="186689"/>
          </a:xfrm>
          <a:prstGeom prst="rect">
            <a:avLst/>
          </a:prstGeom>
          <a:noFill/>
        </p:spPr>
        <p:txBody>
          <a:bodyPr wrap="none" lIns="0" rIns="0" tIns="0" bIns="0">
            <a:spAutoFit/>
          </a:bodyPr>
          <a:lstStyle/>
          <a:p>
            <a:r>
              <a:rPr sz="1100" b="0">
                <a:solidFill>
                  <a:srgbClr val="2E2E2E"/>
                </a:solidFill>
                <a:latin typeface="Calibri"/>
              </a:rPr>
              <a:t>● Healthcare professionals:</a:t>
            </a:r>
          </a:p>
        </p:txBody>
      </p:sp>
      <p:pic>
        <p:nvPicPr>
          <p:cNvPr id="127" name="Picture 126" descr="lock.png"/>
          <p:cNvPicPr>
            <a:picLocks noChangeAspect="1"/>
          </p:cNvPicPr>
          <p:nvPr/>
        </p:nvPicPr>
        <p:blipFill>
          <a:blip r:embed="rId19"/>
          <a:stretch>
            <a:fillRect/>
          </a:stretch>
        </p:blipFill>
        <p:spPr>
          <a:xfrm>
            <a:off x="5418353" y="5091385"/>
            <a:ext cx="128699" cy="187198"/>
          </a:xfrm>
          <a:prstGeom prst="rect">
            <a:avLst/>
          </a:prstGeom>
        </p:spPr>
      </p:pic>
      <p:sp>
        <p:nvSpPr>
          <p:cNvPr id="128" name="TextBox 127"/>
          <p:cNvSpPr txBox="1"/>
          <p:nvPr/>
        </p:nvSpPr>
        <p:spPr>
          <a:xfrm>
            <a:off x="5585849"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9" name="Picture 128" descr="lock.png"/>
          <p:cNvPicPr>
            <a:picLocks noChangeAspect="1"/>
          </p:cNvPicPr>
          <p:nvPr/>
        </p:nvPicPr>
        <p:blipFill>
          <a:blip r:embed="rId19"/>
          <a:stretch>
            <a:fillRect/>
          </a:stretch>
        </p:blipFill>
        <p:spPr>
          <a:xfrm>
            <a:off x="6445299" y="5091385"/>
            <a:ext cx="128699" cy="187198"/>
          </a:xfrm>
          <a:prstGeom prst="rect">
            <a:avLst/>
          </a:prstGeom>
        </p:spPr>
      </p:pic>
      <p:sp>
        <p:nvSpPr>
          <p:cNvPr id="130" name="TextBox 129"/>
          <p:cNvSpPr txBox="1"/>
          <p:nvPr/>
        </p:nvSpPr>
        <p:spPr>
          <a:xfrm>
            <a:off x="6612795" y="5101165"/>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31" name="TextBox 130"/>
          <p:cNvSpPr txBox="1"/>
          <p:nvPr/>
        </p:nvSpPr>
        <p:spPr>
          <a:xfrm>
            <a:off x="3838575" y="5268805"/>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32" name="TextBox 131"/>
          <p:cNvSpPr txBox="1"/>
          <p:nvPr/>
        </p:nvSpPr>
        <p:spPr>
          <a:xfrm>
            <a:off x="8524875" y="5842641"/>
            <a:ext cx="2939293" cy="194310"/>
          </a:xfrm>
          <a:prstGeom prst="rect">
            <a:avLst/>
          </a:prstGeom>
          <a:noFill/>
        </p:spPr>
        <p:txBody>
          <a:bodyPr wrap="none" lIns="0" rIns="0" tIns="0" bIns="0">
            <a:spAutoFit/>
          </a:bodyPr>
          <a:lstStyle/>
          <a:p>
            <a:r>
              <a:rPr sz="1150" b="1">
                <a:solidFill>
                  <a:srgbClr val="0B2E4A"/>
                </a:solidFill>
                <a:latin typeface="Calibri"/>
              </a:rPr>
              <a:t>The End User segment is projected to grow at a</a:t>
            </a:r>
          </a:p>
        </p:txBody>
      </p:sp>
      <p:sp>
        <p:nvSpPr>
          <p:cNvPr id="133" name="TextBox 132"/>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34" name="Picture 133" descr="lock.png"/>
          <p:cNvPicPr>
            <a:picLocks noChangeAspect="1"/>
          </p:cNvPicPr>
          <p:nvPr/>
        </p:nvPicPr>
        <p:blipFill>
          <a:blip r:embed="rId19"/>
          <a:stretch>
            <a:fillRect/>
          </a:stretch>
        </p:blipFill>
        <p:spPr>
          <a:xfrm>
            <a:off x="9048826" y="6007677"/>
            <a:ext cx="134549" cy="195707"/>
          </a:xfrm>
          <a:prstGeom prst="rect">
            <a:avLst/>
          </a:prstGeom>
        </p:spPr>
      </p:pic>
      <p:sp>
        <p:nvSpPr>
          <p:cNvPr id="135" name="TextBox 134"/>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End User Segment Outlook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9 sub-segments of End User,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End User segment categorizes the market by end user.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Individual consumers</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25" name="Oval 24"/>
          <p:cNvSpPr/>
          <p:nvPr/>
        </p:nvSpPr>
        <p:spPr>
          <a:xfrm>
            <a:off x="2912269"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26" name="Rounded Rectangle 25"/>
          <p:cNvSpPr/>
          <p:nvPr/>
        </p:nvSpPr>
        <p:spPr>
          <a:xfrm>
            <a:off x="4395788" y="1773916"/>
            <a:ext cx="2414588"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Hospitals and Clinics</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2" name="Oval 31"/>
          <p:cNvSpPr/>
          <p:nvPr/>
        </p:nvSpPr>
        <p:spPr>
          <a:xfrm>
            <a:off x="5441156"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33" name="Rounded Rectangle 32"/>
          <p:cNvSpPr/>
          <p:nvPr/>
        </p:nvSpPr>
        <p:spPr>
          <a:xfrm>
            <a:off x="6924675"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Nursing Homes</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39" name="Oval 38"/>
          <p:cNvSpPr/>
          <p:nvPr/>
        </p:nvSpPr>
        <p:spPr>
          <a:xfrm>
            <a:off x="7970044"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8</a:t>
            </a:r>
          </a:p>
        </p:txBody>
      </p:sp>
      <p:sp>
        <p:nvSpPr>
          <p:cNvPr id="40" name="Rounded Rectangle 39"/>
          <p:cNvSpPr/>
          <p:nvPr/>
        </p:nvSpPr>
        <p:spPr>
          <a:xfrm>
            <a:off x="9453562"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Assisted Living Facilities</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46" name="Oval 45"/>
          <p:cNvSpPr/>
          <p:nvPr/>
        </p:nvSpPr>
        <p:spPr>
          <a:xfrm>
            <a:off x="10498931"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9</a:t>
            </a:r>
          </a:p>
        </p:txBody>
      </p:sp>
      <p:sp>
        <p:nvSpPr>
          <p:cNvPr id="47" name="Rounded Rectangle 46"/>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9" name="Rectangle 48"/>
          <p:cNvSpPr/>
          <p:nvPr/>
        </p:nvSpPr>
        <p:spPr>
          <a:xfrm>
            <a:off x="457200" y="4146897"/>
            <a:ext cx="112776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51" name="TextBox 5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3" name="Picture 52" descr="73_0_605E5C.png"/>
          <p:cNvPicPr>
            <a:picLocks noChangeAspect="1"/>
          </p:cNvPicPr>
          <p:nvPr/>
        </p:nvPicPr>
        <p:blipFill>
          <a:blip r:embed="rId4"/>
          <a:stretch>
            <a:fillRect/>
          </a:stretch>
        </p:blipFill>
        <p:spPr>
          <a:xfrm>
            <a:off x="2582976" y="2286582"/>
            <a:ext cx="982436" cy="361950"/>
          </a:xfrm>
          <a:prstGeom prst="rect">
            <a:avLst/>
          </a:prstGeom>
        </p:spPr>
      </p:pic>
      <p:pic>
        <p:nvPicPr>
          <p:cNvPr id="54" name="Picture 53" descr="129_5_605E5C.png"/>
          <p:cNvPicPr>
            <a:picLocks noChangeAspect="1"/>
          </p:cNvPicPr>
          <p:nvPr/>
        </p:nvPicPr>
        <p:blipFill>
          <a:blip r:embed="rId5"/>
          <a:stretch>
            <a:fillRect/>
          </a:stretch>
        </p:blipFill>
        <p:spPr>
          <a:xfrm>
            <a:off x="2476330" y="2779432"/>
            <a:ext cx="1195728" cy="361950"/>
          </a:xfrm>
          <a:prstGeom prst="rect">
            <a:avLst/>
          </a:prstGeom>
        </p:spPr>
      </p:pic>
      <p:pic>
        <p:nvPicPr>
          <p:cNvPr id="55" name="Picture 54" descr="5_9__605E5C.png"/>
          <p:cNvPicPr>
            <a:picLocks noChangeAspect="1"/>
          </p:cNvPicPr>
          <p:nvPr/>
        </p:nvPicPr>
        <p:blipFill>
          <a:blip r:embed="rId6"/>
          <a:stretch>
            <a:fillRect/>
          </a:stretch>
        </p:blipFill>
        <p:spPr>
          <a:xfrm>
            <a:off x="2582976" y="3272281"/>
            <a:ext cx="982436" cy="361950"/>
          </a:xfrm>
          <a:prstGeom prst="rect">
            <a:avLst/>
          </a:prstGeom>
        </p:spPr>
      </p:pic>
      <p:pic>
        <p:nvPicPr>
          <p:cNvPr id="56" name="Picture 55" descr="49_4_605E5C.png"/>
          <p:cNvPicPr>
            <a:picLocks noChangeAspect="1"/>
          </p:cNvPicPr>
          <p:nvPr/>
        </p:nvPicPr>
        <p:blipFill>
          <a:blip r:embed="rId7"/>
          <a:stretch>
            <a:fillRect/>
          </a:stretch>
        </p:blipFill>
        <p:spPr>
          <a:xfrm>
            <a:off x="5111864" y="2286582"/>
            <a:ext cx="982436" cy="361950"/>
          </a:xfrm>
          <a:prstGeom prst="rect">
            <a:avLst/>
          </a:prstGeom>
        </p:spPr>
      </p:pic>
      <p:pic>
        <p:nvPicPr>
          <p:cNvPr id="57" name="Picture 56" descr="99_0_605E5C.png"/>
          <p:cNvPicPr>
            <a:picLocks noChangeAspect="1"/>
          </p:cNvPicPr>
          <p:nvPr/>
        </p:nvPicPr>
        <p:blipFill>
          <a:blip r:embed="rId8"/>
          <a:stretch>
            <a:fillRect/>
          </a:stretch>
        </p:blipFill>
        <p:spPr>
          <a:xfrm>
            <a:off x="5111864" y="2779432"/>
            <a:ext cx="982436" cy="361950"/>
          </a:xfrm>
          <a:prstGeom prst="rect">
            <a:avLst/>
          </a:prstGeom>
        </p:spPr>
      </p:pic>
      <p:pic>
        <p:nvPicPr>
          <p:cNvPr id="58" name="Picture 57" descr="7_2__605E5C.png"/>
          <p:cNvPicPr>
            <a:picLocks noChangeAspect="1"/>
          </p:cNvPicPr>
          <p:nvPr/>
        </p:nvPicPr>
        <p:blipFill>
          <a:blip r:embed="rId9"/>
          <a:stretch>
            <a:fillRect/>
          </a:stretch>
        </p:blipFill>
        <p:spPr>
          <a:xfrm>
            <a:off x="5111864" y="3272281"/>
            <a:ext cx="982436" cy="361950"/>
          </a:xfrm>
          <a:prstGeom prst="rect">
            <a:avLst/>
          </a:prstGeom>
        </p:spPr>
      </p:pic>
      <p:pic>
        <p:nvPicPr>
          <p:cNvPr id="59" name="Picture 58" descr="40_6_605E5C.png"/>
          <p:cNvPicPr>
            <a:picLocks noChangeAspect="1"/>
          </p:cNvPicPr>
          <p:nvPr/>
        </p:nvPicPr>
        <p:blipFill>
          <a:blip r:embed="rId10"/>
          <a:stretch>
            <a:fillRect/>
          </a:stretch>
        </p:blipFill>
        <p:spPr>
          <a:xfrm>
            <a:off x="7640751" y="2286582"/>
            <a:ext cx="982436" cy="361950"/>
          </a:xfrm>
          <a:prstGeom prst="rect">
            <a:avLst/>
          </a:prstGeom>
        </p:spPr>
      </p:pic>
      <p:pic>
        <p:nvPicPr>
          <p:cNvPr id="60" name="Picture 59" descr="78_0_605E5C.png"/>
          <p:cNvPicPr>
            <a:picLocks noChangeAspect="1"/>
          </p:cNvPicPr>
          <p:nvPr/>
        </p:nvPicPr>
        <p:blipFill>
          <a:blip r:embed="rId11"/>
          <a:stretch>
            <a:fillRect/>
          </a:stretch>
        </p:blipFill>
        <p:spPr>
          <a:xfrm>
            <a:off x="7640751" y="2779432"/>
            <a:ext cx="982436" cy="361950"/>
          </a:xfrm>
          <a:prstGeom prst="rect">
            <a:avLst/>
          </a:prstGeom>
        </p:spPr>
      </p:pic>
      <p:pic>
        <p:nvPicPr>
          <p:cNvPr id="61" name="Picture 60" descr="6_8__605E5C.png"/>
          <p:cNvPicPr>
            <a:picLocks noChangeAspect="1"/>
          </p:cNvPicPr>
          <p:nvPr/>
        </p:nvPicPr>
        <p:blipFill>
          <a:blip r:embed="rId12"/>
          <a:stretch>
            <a:fillRect/>
          </a:stretch>
        </p:blipFill>
        <p:spPr>
          <a:xfrm>
            <a:off x="7640751" y="3272281"/>
            <a:ext cx="982436" cy="361950"/>
          </a:xfrm>
          <a:prstGeom prst="rect">
            <a:avLst/>
          </a:prstGeom>
        </p:spPr>
      </p:pic>
      <p:pic>
        <p:nvPicPr>
          <p:cNvPr id="62" name="Picture 61" descr="18_2_605E5C.png"/>
          <p:cNvPicPr>
            <a:picLocks noChangeAspect="1"/>
          </p:cNvPicPr>
          <p:nvPr/>
        </p:nvPicPr>
        <p:blipFill>
          <a:blip r:embed="rId13"/>
          <a:stretch>
            <a:fillRect/>
          </a:stretch>
        </p:blipFill>
        <p:spPr>
          <a:xfrm>
            <a:off x="10169638" y="2286582"/>
            <a:ext cx="982436" cy="361950"/>
          </a:xfrm>
          <a:prstGeom prst="rect">
            <a:avLst/>
          </a:prstGeom>
        </p:spPr>
      </p:pic>
      <p:pic>
        <p:nvPicPr>
          <p:cNvPr id="63" name="Picture 62" descr="23_6_605E5C.png"/>
          <p:cNvPicPr>
            <a:picLocks noChangeAspect="1"/>
          </p:cNvPicPr>
          <p:nvPr/>
        </p:nvPicPr>
        <p:blipFill>
          <a:blip r:embed="rId14"/>
          <a:stretch>
            <a:fillRect/>
          </a:stretch>
        </p:blipFill>
        <p:spPr>
          <a:xfrm>
            <a:off x="10169638" y="2779432"/>
            <a:ext cx="982436" cy="361950"/>
          </a:xfrm>
          <a:prstGeom prst="rect">
            <a:avLst/>
          </a:prstGeom>
        </p:spPr>
      </p:pic>
      <p:pic>
        <p:nvPicPr>
          <p:cNvPr id="64" name="Picture 63" descr="2_6__605E5C.png"/>
          <p:cNvPicPr>
            <a:picLocks noChangeAspect="1"/>
          </p:cNvPicPr>
          <p:nvPr/>
        </p:nvPicPr>
        <p:blipFill>
          <a:blip r:embed="rId15"/>
          <a:stretch>
            <a:fillRect/>
          </a:stretch>
        </p:blipFill>
        <p:spPr>
          <a:xfrm>
            <a:off x="10169638" y="3272281"/>
            <a:ext cx="982436" cy="361950"/>
          </a:xfrm>
          <a:prstGeom prst="rect">
            <a:avLst/>
          </a:prstGeom>
        </p:spPr>
      </p:pic>
      <p:pic>
        <p:nvPicPr>
          <p:cNvPr id="65" name="Picture 64" descr="lock.png"/>
          <p:cNvPicPr>
            <a:picLocks noChangeAspect="1"/>
          </p:cNvPicPr>
          <p:nvPr/>
        </p:nvPicPr>
        <p:blipFill>
          <a:blip r:embed="rId16"/>
          <a:stretch>
            <a:fillRect/>
          </a:stretch>
        </p:blipFill>
        <p:spPr>
          <a:xfrm>
            <a:off x="2980848" y="2827057"/>
            <a:ext cx="183356" cy="266700"/>
          </a:xfrm>
          <a:prstGeom prst="rect">
            <a:avLst/>
          </a:prstGeom>
        </p:spPr>
      </p:pic>
      <p:pic>
        <p:nvPicPr>
          <p:cNvPr id="66" name="Picture 65" descr="lock.png"/>
          <p:cNvPicPr>
            <a:picLocks noChangeAspect="1"/>
          </p:cNvPicPr>
          <p:nvPr/>
        </p:nvPicPr>
        <p:blipFill>
          <a:blip r:embed="rId16"/>
          <a:stretch>
            <a:fillRect/>
          </a:stretch>
        </p:blipFill>
        <p:spPr>
          <a:xfrm>
            <a:off x="5509737" y="2827057"/>
            <a:ext cx="183356" cy="266700"/>
          </a:xfrm>
          <a:prstGeom prst="rect">
            <a:avLst/>
          </a:prstGeom>
        </p:spPr>
      </p:pic>
      <p:pic>
        <p:nvPicPr>
          <p:cNvPr id="67" name="Picture 66" descr="lock.png"/>
          <p:cNvPicPr>
            <a:picLocks noChangeAspect="1"/>
          </p:cNvPicPr>
          <p:nvPr/>
        </p:nvPicPr>
        <p:blipFill>
          <a:blip r:embed="rId16"/>
          <a:stretch>
            <a:fillRect/>
          </a:stretch>
        </p:blipFill>
        <p:spPr>
          <a:xfrm>
            <a:off x="8038624" y="2827057"/>
            <a:ext cx="183356" cy="266700"/>
          </a:xfrm>
          <a:prstGeom prst="rect">
            <a:avLst/>
          </a:prstGeom>
        </p:spPr>
      </p:pic>
      <p:pic>
        <p:nvPicPr>
          <p:cNvPr id="68" name="Picture 67" descr="lock.png"/>
          <p:cNvPicPr>
            <a:picLocks noChangeAspect="1"/>
          </p:cNvPicPr>
          <p:nvPr/>
        </p:nvPicPr>
        <p:blipFill>
          <a:blip r:embed="rId16"/>
          <a:stretch>
            <a:fillRect/>
          </a:stretch>
        </p:blipFill>
        <p:spPr>
          <a:xfrm>
            <a:off x="10567511" y="2827057"/>
            <a:ext cx="183356" cy="266700"/>
          </a:xfrm>
          <a:prstGeom prst="rect">
            <a:avLst/>
          </a:prstGeom>
        </p:spPr>
      </p:pic>
      <p:sp>
        <p:nvSpPr>
          <p:cNvPr id="69" name="TextBox 68"/>
          <p:cNvSpPr txBox="1"/>
          <p:nvPr/>
        </p:nvSpPr>
        <p:spPr>
          <a:xfrm>
            <a:off x="485775" y="4229437"/>
            <a:ext cx="1435273" cy="186689"/>
          </a:xfrm>
          <a:prstGeom prst="rect">
            <a:avLst/>
          </a:prstGeom>
          <a:noFill/>
        </p:spPr>
        <p:txBody>
          <a:bodyPr wrap="none" lIns="0" rIns="0" tIns="0" bIns="0">
            <a:spAutoFit/>
          </a:bodyPr>
          <a:lstStyle/>
          <a:p>
            <a:r>
              <a:rPr sz="1100" b="0">
                <a:solidFill>
                  <a:srgbClr val="2E2E2E"/>
                </a:solidFill>
                <a:latin typeface="Calibri"/>
              </a:rPr>
              <a:t>● Individual consumers:</a:t>
            </a:r>
          </a:p>
        </p:txBody>
      </p:sp>
      <p:pic>
        <p:nvPicPr>
          <p:cNvPr id="70" name="Picture 69" descr="lock.png"/>
          <p:cNvPicPr>
            <a:picLocks noChangeAspect="1"/>
          </p:cNvPicPr>
          <p:nvPr/>
        </p:nvPicPr>
        <p:blipFill>
          <a:blip r:embed="rId16"/>
          <a:stretch>
            <a:fillRect/>
          </a:stretch>
        </p:blipFill>
        <p:spPr>
          <a:xfrm>
            <a:off x="1869100" y="4219658"/>
            <a:ext cx="128699" cy="187198"/>
          </a:xfrm>
          <a:prstGeom prst="rect">
            <a:avLst/>
          </a:prstGeom>
        </p:spPr>
      </p:pic>
      <p:sp>
        <p:nvSpPr>
          <p:cNvPr id="71" name="TextBox 70"/>
          <p:cNvSpPr txBox="1"/>
          <p:nvPr/>
        </p:nvSpPr>
        <p:spPr>
          <a:xfrm>
            <a:off x="2036596"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2" name="Picture 71" descr="lock.png"/>
          <p:cNvPicPr>
            <a:picLocks noChangeAspect="1"/>
          </p:cNvPicPr>
          <p:nvPr/>
        </p:nvPicPr>
        <p:blipFill>
          <a:blip r:embed="rId16"/>
          <a:stretch>
            <a:fillRect/>
          </a:stretch>
        </p:blipFill>
        <p:spPr>
          <a:xfrm>
            <a:off x="2896046" y="4219658"/>
            <a:ext cx="128699" cy="187198"/>
          </a:xfrm>
          <a:prstGeom prst="rect">
            <a:avLst/>
          </a:prstGeom>
        </p:spPr>
      </p:pic>
      <p:sp>
        <p:nvSpPr>
          <p:cNvPr id="73" name="TextBox 72"/>
          <p:cNvSpPr txBox="1"/>
          <p:nvPr/>
        </p:nvSpPr>
        <p:spPr>
          <a:xfrm>
            <a:off x="3063542" y="422943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74" name="TextBox 73"/>
          <p:cNvSpPr txBox="1"/>
          <p:nvPr/>
        </p:nvSpPr>
        <p:spPr>
          <a:xfrm>
            <a:off x="485775" y="4447369"/>
            <a:ext cx="1386160" cy="186689"/>
          </a:xfrm>
          <a:prstGeom prst="rect">
            <a:avLst/>
          </a:prstGeom>
          <a:noFill/>
        </p:spPr>
        <p:txBody>
          <a:bodyPr wrap="none" lIns="0" rIns="0" tIns="0" bIns="0">
            <a:spAutoFit/>
          </a:bodyPr>
          <a:lstStyle/>
          <a:p>
            <a:r>
              <a:rPr sz="1100" b="0">
                <a:solidFill>
                  <a:srgbClr val="2E2E2E"/>
                </a:solidFill>
                <a:latin typeface="Calibri"/>
              </a:rPr>
              <a:t>● Hospitals and Clinics:</a:t>
            </a:r>
          </a:p>
        </p:txBody>
      </p:sp>
      <p:pic>
        <p:nvPicPr>
          <p:cNvPr id="75" name="Picture 74" descr="lock.png"/>
          <p:cNvPicPr>
            <a:picLocks noChangeAspect="1"/>
          </p:cNvPicPr>
          <p:nvPr/>
        </p:nvPicPr>
        <p:blipFill>
          <a:blip r:embed="rId16"/>
          <a:stretch>
            <a:fillRect/>
          </a:stretch>
        </p:blipFill>
        <p:spPr>
          <a:xfrm>
            <a:off x="1819986" y="4437590"/>
            <a:ext cx="128699" cy="187198"/>
          </a:xfrm>
          <a:prstGeom prst="rect">
            <a:avLst/>
          </a:prstGeom>
        </p:spPr>
      </p:pic>
      <p:sp>
        <p:nvSpPr>
          <p:cNvPr id="76" name="TextBox 75"/>
          <p:cNvSpPr txBox="1"/>
          <p:nvPr/>
        </p:nvSpPr>
        <p:spPr>
          <a:xfrm>
            <a:off x="1987482"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7" name="Picture 76" descr="lock.png"/>
          <p:cNvPicPr>
            <a:picLocks noChangeAspect="1"/>
          </p:cNvPicPr>
          <p:nvPr/>
        </p:nvPicPr>
        <p:blipFill>
          <a:blip r:embed="rId16"/>
          <a:stretch>
            <a:fillRect/>
          </a:stretch>
        </p:blipFill>
        <p:spPr>
          <a:xfrm>
            <a:off x="2846932" y="4437590"/>
            <a:ext cx="128699" cy="187198"/>
          </a:xfrm>
          <a:prstGeom prst="rect">
            <a:avLst/>
          </a:prstGeom>
        </p:spPr>
      </p:pic>
      <p:sp>
        <p:nvSpPr>
          <p:cNvPr id="78" name="TextBox 77"/>
          <p:cNvSpPr txBox="1"/>
          <p:nvPr/>
        </p:nvSpPr>
        <p:spPr>
          <a:xfrm>
            <a:off x="3014428"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79" name="TextBox 78"/>
          <p:cNvSpPr txBox="1"/>
          <p:nvPr/>
        </p:nvSpPr>
        <p:spPr>
          <a:xfrm>
            <a:off x="485775" y="4665301"/>
            <a:ext cx="1096119" cy="186689"/>
          </a:xfrm>
          <a:prstGeom prst="rect">
            <a:avLst/>
          </a:prstGeom>
          <a:noFill/>
        </p:spPr>
        <p:txBody>
          <a:bodyPr wrap="none" lIns="0" rIns="0" tIns="0" bIns="0">
            <a:spAutoFit/>
          </a:bodyPr>
          <a:lstStyle/>
          <a:p>
            <a:r>
              <a:rPr sz="1100" b="0">
                <a:solidFill>
                  <a:srgbClr val="2E2E2E"/>
                </a:solidFill>
                <a:latin typeface="Calibri"/>
              </a:rPr>
              <a:t>● Nursing Homes:</a:t>
            </a:r>
          </a:p>
        </p:txBody>
      </p:sp>
      <p:pic>
        <p:nvPicPr>
          <p:cNvPr id="80" name="Picture 79" descr="lock.png"/>
          <p:cNvPicPr>
            <a:picLocks noChangeAspect="1"/>
          </p:cNvPicPr>
          <p:nvPr/>
        </p:nvPicPr>
        <p:blipFill>
          <a:blip r:embed="rId16"/>
          <a:stretch>
            <a:fillRect/>
          </a:stretch>
        </p:blipFill>
        <p:spPr>
          <a:xfrm>
            <a:off x="1529945" y="4655522"/>
            <a:ext cx="128699" cy="187198"/>
          </a:xfrm>
          <a:prstGeom prst="rect">
            <a:avLst/>
          </a:prstGeom>
        </p:spPr>
      </p:pic>
      <p:sp>
        <p:nvSpPr>
          <p:cNvPr id="81" name="TextBox 80"/>
          <p:cNvSpPr txBox="1"/>
          <p:nvPr/>
        </p:nvSpPr>
        <p:spPr>
          <a:xfrm>
            <a:off x="1697441"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2" name="Picture 81" descr="lock.png"/>
          <p:cNvPicPr>
            <a:picLocks noChangeAspect="1"/>
          </p:cNvPicPr>
          <p:nvPr/>
        </p:nvPicPr>
        <p:blipFill>
          <a:blip r:embed="rId16"/>
          <a:stretch>
            <a:fillRect/>
          </a:stretch>
        </p:blipFill>
        <p:spPr>
          <a:xfrm>
            <a:off x="2556891" y="4655522"/>
            <a:ext cx="128699" cy="187198"/>
          </a:xfrm>
          <a:prstGeom prst="rect">
            <a:avLst/>
          </a:prstGeom>
        </p:spPr>
      </p:pic>
      <p:sp>
        <p:nvSpPr>
          <p:cNvPr id="83" name="TextBox 82"/>
          <p:cNvSpPr txBox="1"/>
          <p:nvPr/>
        </p:nvSpPr>
        <p:spPr>
          <a:xfrm>
            <a:off x="2724387"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84" name="TextBox 83"/>
          <p:cNvSpPr txBox="1"/>
          <p:nvPr/>
        </p:nvSpPr>
        <p:spPr>
          <a:xfrm>
            <a:off x="485775" y="4883233"/>
            <a:ext cx="1574641" cy="186689"/>
          </a:xfrm>
          <a:prstGeom prst="rect">
            <a:avLst/>
          </a:prstGeom>
          <a:noFill/>
        </p:spPr>
        <p:txBody>
          <a:bodyPr wrap="none" lIns="0" rIns="0" tIns="0" bIns="0">
            <a:spAutoFit/>
          </a:bodyPr>
          <a:lstStyle/>
          <a:p>
            <a:r>
              <a:rPr sz="1100" b="0">
                <a:solidFill>
                  <a:srgbClr val="2E2E2E"/>
                </a:solidFill>
                <a:latin typeface="Calibri"/>
              </a:rPr>
              <a:t>● Assisted Living Facilities:</a:t>
            </a:r>
          </a:p>
        </p:txBody>
      </p:sp>
      <p:pic>
        <p:nvPicPr>
          <p:cNvPr id="85" name="Picture 84" descr="lock.png"/>
          <p:cNvPicPr>
            <a:picLocks noChangeAspect="1"/>
          </p:cNvPicPr>
          <p:nvPr/>
        </p:nvPicPr>
        <p:blipFill>
          <a:blip r:embed="rId16"/>
          <a:stretch>
            <a:fillRect/>
          </a:stretch>
        </p:blipFill>
        <p:spPr>
          <a:xfrm>
            <a:off x="2008467" y="4873454"/>
            <a:ext cx="128699" cy="187198"/>
          </a:xfrm>
          <a:prstGeom prst="rect">
            <a:avLst/>
          </a:prstGeom>
        </p:spPr>
      </p:pic>
      <p:sp>
        <p:nvSpPr>
          <p:cNvPr id="86" name="TextBox 85"/>
          <p:cNvSpPr txBox="1"/>
          <p:nvPr/>
        </p:nvSpPr>
        <p:spPr>
          <a:xfrm>
            <a:off x="2175963"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7" name="Picture 86" descr="lock.png"/>
          <p:cNvPicPr>
            <a:picLocks noChangeAspect="1"/>
          </p:cNvPicPr>
          <p:nvPr/>
        </p:nvPicPr>
        <p:blipFill>
          <a:blip r:embed="rId16"/>
          <a:stretch>
            <a:fillRect/>
          </a:stretch>
        </p:blipFill>
        <p:spPr>
          <a:xfrm>
            <a:off x="3035413" y="4873454"/>
            <a:ext cx="128699" cy="187198"/>
          </a:xfrm>
          <a:prstGeom prst="rect">
            <a:avLst/>
          </a:prstGeom>
        </p:spPr>
      </p:pic>
      <p:sp>
        <p:nvSpPr>
          <p:cNvPr id="88" name="TextBox 87"/>
          <p:cNvSpPr txBox="1"/>
          <p:nvPr/>
        </p:nvSpPr>
        <p:spPr>
          <a:xfrm>
            <a:off x="3202909"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End User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End User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End User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End User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77650" cy="186689"/>
          </a:xfrm>
          <a:prstGeom prst="rect">
            <a:avLst/>
          </a:prstGeom>
          <a:noFill/>
        </p:spPr>
        <p:txBody>
          <a:bodyPr wrap="none" lIns="0" rIns="0" tIns="0" bIns="0">
            <a:spAutoFit/>
          </a:bodyPr>
          <a:lstStyle/>
          <a:p>
            <a:r>
              <a:rPr sz="1100" b="0">
                <a:solidFill>
                  <a:srgbClr val="2E2E2E"/>
                </a:solidFill>
                <a:latin typeface="Calibri"/>
              </a:rPr>
              <a:t>Others followed by healthcare professionals are expected to be the two most attractive end user segments in the North America ear wax removal products market in terms of value over the forecast period.</a:t>
            </a:r>
          </a:p>
        </p:txBody>
      </p:sp>
      <p:sp>
        <p:nvSpPr>
          <p:cNvPr id="20" name="TextBox 19"/>
          <p:cNvSpPr txBox="1"/>
          <p:nvPr/>
        </p:nvSpPr>
        <p:spPr>
          <a:xfrm>
            <a:off x="257175" y="5861685"/>
            <a:ext cx="3485463" cy="186689"/>
          </a:xfrm>
          <a:prstGeom prst="rect">
            <a:avLst/>
          </a:prstGeom>
          <a:noFill/>
        </p:spPr>
        <p:txBody>
          <a:bodyPr wrap="none" lIns="0" rIns="0" tIns="0" bIns="0">
            <a:spAutoFit/>
          </a:bodyPr>
          <a:lstStyle/>
          <a:p>
            <a:r>
              <a:rPr sz="1100" b="0">
                <a:solidFill>
                  <a:srgbClr val="2E2E2E"/>
                </a:solidFill>
                <a:latin typeface="Calibri"/>
              </a:rPr>
              <a:t>Others and healthcare professionals exhibit a CAGR index of</a:t>
            </a:r>
          </a:p>
        </p:txBody>
      </p:sp>
      <p:pic>
        <p:nvPicPr>
          <p:cNvPr id="21" name="Picture 20" descr="lock.png"/>
          <p:cNvPicPr>
            <a:picLocks noChangeAspect="1"/>
          </p:cNvPicPr>
          <p:nvPr/>
        </p:nvPicPr>
        <p:blipFill>
          <a:blip r:embed="rId6"/>
          <a:stretch>
            <a:fillRect/>
          </a:stretch>
        </p:blipFill>
        <p:spPr>
          <a:xfrm>
            <a:off x="3690689" y="5851905"/>
            <a:ext cx="128699" cy="187198"/>
          </a:xfrm>
          <a:prstGeom prst="rect">
            <a:avLst/>
          </a:prstGeom>
        </p:spPr>
      </p:pic>
      <p:sp>
        <p:nvSpPr>
          <p:cNvPr id="22" name="TextBox 21"/>
          <p:cNvSpPr txBox="1"/>
          <p:nvPr/>
        </p:nvSpPr>
        <p:spPr>
          <a:xfrm>
            <a:off x="3858185"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4096080" y="5851905"/>
            <a:ext cx="128699" cy="187198"/>
          </a:xfrm>
          <a:prstGeom prst="rect">
            <a:avLst/>
          </a:prstGeom>
        </p:spPr>
      </p:pic>
      <p:sp>
        <p:nvSpPr>
          <p:cNvPr id="24" name="TextBox 23"/>
          <p:cNvSpPr txBox="1"/>
          <p:nvPr/>
        </p:nvSpPr>
        <p:spPr>
          <a:xfrm>
            <a:off x="4263575"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5872549" y="5851905"/>
            <a:ext cx="128699" cy="187198"/>
          </a:xfrm>
          <a:prstGeom prst="rect">
            <a:avLst/>
          </a:prstGeom>
        </p:spPr>
      </p:pic>
      <p:sp>
        <p:nvSpPr>
          <p:cNvPr id="26" name="TextBox 25"/>
          <p:cNvSpPr txBox="1"/>
          <p:nvPr/>
        </p:nvSpPr>
        <p:spPr>
          <a:xfrm>
            <a:off x="6040045"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6277939" y="5851905"/>
            <a:ext cx="128699" cy="187198"/>
          </a:xfrm>
          <a:prstGeom prst="rect">
            <a:avLst/>
          </a:prstGeom>
        </p:spPr>
      </p:pic>
      <p:sp>
        <p:nvSpPr>
          <p:cNvPr id="28" name="TextBox 27"/>
          <p:cNvSpPr txBox="1"/>
          <p:nvPr/>
        </p:nvSpPr>
        <p:spPr>
          <a:xfrm>
            <a:off x="6445435"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8999839" y="5851905"/>
            <a:ext cx="128699" cy="187198"/>
          </a:xfrm>
          <a:prstGeom prst="rect">
            <a:avLst/>
          </a:prstGeom>
        </p:spPr>
      </p:pic>
      <p:sp>
        <p:nvSpPr>
          <p:cNvPr id="30" name="TextBox 29"/>
          <p:cNvSpPr txBox="1"/>
          <p:nvPr/>
        </p:nvSpPr>
        <p:spPr>
          <a:xfrm>
            <a:off x="9167335" y="5861685"/>
            <a:ext cx="2310581" cy="186689"/>
          </a:xfrm>
          <a:prstGeom prst="rect">
            <a:avLst/>
          </a:prstGeom>
          <a:noFill/>
        </p:spPr>
        <p:txBody>
          <a:bodyPr wrap="none" lIns="0" rIns="0" tIns="0" bIns="0">
            <a:spAutoFit/>
          </a:bodyPr>
          <a:lstStyle/>
          <a:p>
            <a:r>
              <a:rPr sz="1100" b="0">
                <a:solidFill>
                  <a:srgbClr val="2E2E2E"/>
                </a:solidFill>
                <a:latin typeface="Calibri"/>
              </a:rPr>
              <a:t>. The assisted living facilities segment is</a:t>
            </a:r>
          </a:p>
        </p:txBody>
      </p:sp>
      <p:sp>
        <p:nvSpPr>
          <p:cNvPr id="31" name="TextBox 30"/>
          <p:cNvSpPr txBox="1"/>
          <p:nvPr/>
        </p:nvSpPr>
        <p:spPr>
          <a:xfrm>
            <a:off x="257175" y="6029325"/>
            <a:ext cx="11421333" cy="186689"/>
          </a:xfrm>
          <a:prstGeom prst="rect">
            <a:avLst/>
          </a:prstGeom>
          <a:noFill/>
        </p:spPr>
        <p:txBody>
          <a:bodyPr wrap="none" lIns="0" rIns="0" tIns="0" bIns="0">
            <a:spAutoFit/>
          </a:bodyPr>
          <a:lstStyle/>
          <a:p>
            <a:r>
              <a:rPr sz="1100" b="0">
                <a:solidFill>
                  <a:srgbClr val="2E2E2E"/>
                </a:solidFill>
                <a:latin typeface="Calibri"/>
              </a:rPr>
              <a:t>expected to be less attractive as compared to other segments over the forecast period, owing to its lower CAGR and incremental opportunity. Bubbles right of the CAGR-Index line grow faster than the</a:t>
            </a:r>
          </a:p>
        </p:txBody>
      </p:sp>
      <p:sp>
        <p:nvSpPr>
          <p:cNvPr id="32" name="TextBox 31"/>
          <p:cNvSpPr txBox="1"/>
          <p:nvPr/>
        </p:nvSpPr>
        <p:spPr>
          <a:xfrm>
            <a:off x="257175" y="6196965"/>
            <a:ext cx="1084932" cy="186689"/>
          </a:xfrm>
          <a:prstGeom prst="rect">
            <a:avLst/>
          </a:prstGeom>
          <a:noFill/>
        </p:spPr>
        <p:txBody>
          <a:bodyPr wrap="none" lIns="0" rIns="0" tIns="0" bIns="0">
            <a:spAutoFit/>
          </a:bodyPr>
          <a:lstStyle/>
          <a:p>
            <a:r>
              <a:rPr sz="1100" b="0">
                <a:solidFill>
                  <a:srgbClr val="2E2E2E"/>
                </a:solidFill>
                <a:latin typeface="Calibri"/>
              </a:rPr>
              <a:t>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End User (1/3)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End User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Individual consumers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Healthcare professionals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ENT specialists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General practitioners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End User (2/3)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End User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Audiologists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Hospitals and Clinics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Nursing Homes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Assisted Living Facilities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End User (3/3)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End User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Others</a:t>
            </a:r>
          </a:p>
        </p:txBody>
      </p:sp>
      <p:graphicFrame>
        <p:nvGraphicFramePr>
          <p:cNvPr id="12" name="Chart 11"/>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End User</a:t>
            </a:r>
          </a:p>
        </p:txBody>
      </p:sp>
      <p:sp>
        <p:nvSpPr>
          <p:cNvPr id="15" name="Rectangle 14"/>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24059" y="3583939"/>
            <a:ext cx="402511" cy="585471"/>
          </a:xfrm>
          <a:prstGeom prst="rect">
            <a:avLst/>
          </a:prstGeom>
        </p:spPr>
      </p:pic>
      <p:sp>
        <p:nvSpPr>
          <p:cNvPr id="19" name="TextBox 18"/>
          <p:cNvSpPr txBox="1"/>
          <p:nvPr/>
        </p:nvSpPr>
        <p:spPr>
          <a:xfrm>
            <a:off x="6305550" y="1400175"/>
            <a:ext cx="3884887" cy="194310"/>
          </a:xfrm>
          <a:prstGeom prst="rect">
            <a:avLst/>
          </a:prstGeom>
          <a:noFill/>
        </p:spPr>
        <p:txBody>
          <a:bodyPr wrap="none" lIns="0" rIns="0" tIns="0" bIns="0">
            <a:spAutoFit/>
          </a:bodyPr>
          <a:lstStyle/>
          <a:p>
            <a:r>
              <a:rPr sz="1150" b="0">
                <a:solidFill>
                  <a:srgbClr val="2E2E2E"/>
                </a:solidFill>
                <a:latin typeface="Calibri"/>
              </a:rPr>
              <a:t>By 2036, others segment is anticipated to witness an increase of</a:t>
            </a:r>
          </a:p>
        </p:txBody>
      </p:sp>
      <p:pic>
        <p:nvPicPr>
          <p:cNvPr id="20" name="Picture 19" descr="lock.png"/>
          <p:cNvPicPr>
            <a:picLocks noChangeAspect="1"/>
          </p:cNvPicPr>
          <p:nvPr/>
        </p:nvPicPr>
        <p:blipFill>
          <a:blip r:embed="rId5"/>
          <a:stretch>
            <a:fillRect/>
          </a:stretch>
        </p:blipFill>
        <p:spPr>
          <a:xfrm>
            <a:off x="10139591" y="1389951"/>
            <a:ext cx="134549" cy="195707"/>
          </a:xfrm>
          <a:prstGeom prst="rect">
            <a:avLst/>
          </a:prstGeom>
        </p:spPr>
      </p:pic>
      <p:sp>
        <p:nvSpPr>
          <p:cNvPr id="21" name="TextBox 20"/>
          <p:cNvSpPr txBox="1"/>
          <p:nvPr/>
        </p:nvSpPr>
        <p:spPr>
          <a:xfrm>
            <a:off x="10314701" y="1400175"/>
            <a:ext cx="1341871" cy="194310"/>
          </a:xfrm>
          <a:prstGeom prst="rect">
            <a:avLst/>
          </a:prstGeom>
          <a:noFill/>
        </p:spPr>
        <p:txBody>
          <a:bodyPr wrap="none" lIns="0" rIns="0" tIns="0" bIns="0">
            <a:spAutoFit/>
          </a:bodyPr>
          <a:lstStyle/>
          <a:p>
            <a:r>
              <a:rPr sz="1150" b="0">
                <a:solidFill>
                  <a:srgbClr val="2E2E2E"/>
                </a:solidFill>
                <a:latin typeface="Calibri"/>
              </a:rPr>
              <a:t>X in terms of value as</a:t>
            </a:r>
          </a:p>
        </p:txBody>
      </p:sp>
      <p:sp>
        <p:nvSpPr>
          <p:cNvPr id="22" name="TextBox 21"/>
          <p:cNvSpPr txBox="1"/>
          <p:nvPr/>
        </p:nvSpPr>
        <p:spPr>
          <a:xfrm>
            <a:off x="6305550" y="1575435"/>
            <a:ext cx="5519985" cy="194310"/>
          </a:xfrm>
          <a:prstGeom prst="rect">
            <a:avLst/>
          </a:prstGeom>
          <a:noFill/>
        </p:spPr>
        <p:txBody>
          <a:bodyPr wrap="none" lIns="0" rIns="0" tIns="0" bIns="0">
            <a:spAutoFit/>
          </a:bodyPr>
          <a:lstStyle/>
          <a:p>
            <a:r>
              <a:rPr sz="1150" b="0">
                <a:solidFill>
                  <a:srgbClr val="2E2E2E"/>
                </a:solidFill>
                <a:latin typeface="Calibri"/>
              </a:rPr>
              <a:t>compared to 2026. The others segment is expected to create an incremental opportunity of</a:t>
            </a:r>
          </a:p>
        </p:txBody>
      </p:sp>
      <p:sp>
        <p:nvSpPr>
          <p:cNvPr id="23" name="TextBox 22"/>
          <p:cNvSpPr txBox="1"/>
          <p:nvPr/>
        </p:nvSpPr>
        <p:spPr>
          <a:xfrm>
            <a:off x="6305550" y="1750695"/>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24" name="Picture 23" descr="lock.png"/>
          <p:cNvPicPr>
            <a:picLocks noChangeAspect="1"/>
          </p:cNvPicPr>
          <p:nvPr/>
        </p:nvPicPr>
        <p:blipFill>
          <a:blip r:embed="rId5"/>
          <a:stretch>
            <a:fillRect/>
          </a:stretch>
        </p:blipFill>
        <p:spPr>
          <a:xfrm>
            <a:off x="6565953" y="1740471"/>
            <a:ext cx="134549" cy="195707"/>
          </a:xfrm>
          <a:prstGeom prst="rect">
            <a:avLst/>
          </a:prstGeom>
        </p:spPr>
      </p:pic>
      <p:sp>
        <p:nvSpPr>
          <p:cNvPr id="25" name="TextBox 24"/>
          <p:cNvSpPr txBox="1"/>
          <p:nvPr/>
        </p:nvSpPr>
        <p:spPr>
          <a:xfrm>
            <a:off x="6741062" y="1750695"/>
            <a:ext cx="4365848" cy="194310"/>
          </a:xfrm>
          <a:prstGeom prst="rect">
            <a:avLst/>
          </a:prstGeom>
          <a:noFill/>
        </p:spPr>
        <p:txBody>
          <a:bodyPr wrap="none" lIns="0" rIns="0" tIns="0" bIns="0">
            <a:spAutoFit/>
          </a:bodyPr>
          <a:lstStyle/>
          <a:p>
            <a:r>
              <a:rPr sz="1150" b="0">
                <a:solidFill>
                  <a:srgbClr val="2E2E2E"/>
                </a:solidFill>
                <a:latin typeface="Calibri"/>
              </a:rPr>
              <a:t>Mn for the overall ear wax removal products market from 2026 to 2036.</a:t>
            </a:r>
          </a:p>
        </p:txBody>
      </p:sp>
      <p:sp>
        <p:nvSpPr>
          <p:cNvPr id="26" name="TextBox 25"/>
          <p:cNvSpPr txBox="1"/>
          <p:nvPr/>
        </p:nvSpPr>
        <p:spPr>
          <a:xfrm>
            <a:off x="6305550" y="1978533"/>
            <a:ext cx="5426422" cy="194310"/>
          </a:xfrm>
          <a:prstGeom prst="rect">
            <a:avLst/>
          </a:prstGeom>
          <a:noFill/>
        </p:spPr>
        <p:txBody>
          <a:bodyPr wrap="none" lIns="0" rIns="0" tIns="0" bIns="0">
            <a:spAutoFit/>
          </a:bodyPr>
          <a:lstStyle/>
          <a:p>
            <a:r>
              <a:rPr sz="1150" b="0">
                <a:solidFill>
                  <a:srgbClr val="2E2E2E"/>
                </a:solidFill>
                <a:latin typeface="Calibri"/>
              </a:rPr>
              <a:t>The healthcare professionals segment is expected to create an incremental opportunity of</a:t>
            </a:r>
          </a:p>
        </p:txBody>
      </p:sp>
      <p:sp>
        <p:nvSpPr>
          <p:cNvPr id="27" name="TextBox 26"/>
          <p:cNvSpPr txBox="1"/>
          <p:nvPr/>
        </p:nvSpPr>
        <p:spPr>
          <a:xfrm>
            <a:off x="6305550" y="2153793"/>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28" name="Picture 27" descr="lock.png"/>
          <p:cNvPicPr>
            <a:picLocks noChangeAspect="1"/>
          </p:cNvPicPr>
          <p:nvPr/>
        </p:nvPicPr>
        <p:blipFill>
          <a:blip r:embed="rId5"/>
          <a:stretch>
            <a:fillRect/>
          </a:stretch>
        </p:blipFill>
        <p:spPr>
          <a:xfrm>
            <a:off x="6565953" y="2143569"/>
            <a:ext cx="134549" cy="195707"/>
          </a:xfrm>
          <a:prstGeom prst="rect">
            <a:avLst/>
          </a:prstGeom>
        </p:spPr>
      </p:pic>
      <p:sp>
        <p:nvSpPr>
          <p:cNvPr id="29" name="TextBox 28"/>
          <p:cNvSpPr txBox="1"/>
          <p:nvPr/>
        </p:nvSpPr>
        <p:spPr>
          <a:xfrm>
            <a:off x="6741062" y="2153793"/>
            <a:ext cx="4619724" cy="194310"/>
          </a:xfrm>
          <a:prstGeom prst="rect">
            <a:avLst/>
          </a:prstGeom>
          <a:noFill/>
        </p:spPr>
        <p:txBody>
          <a:bodyPr wrap="none" lIns="0" rIns="0" tIns="0" bIns="0">
            <a:spAutoFit/>
          </a:bodyPr>
          <a:lstStyle/>
          <a:p>
            <a:r>
              <a:rPr sz="1150" b="0">
                <a:solidFill>
                  <a:srgbClr val="2E2E2E"/>
                </a:solidFill>
                <a:latin typeface="Calibri"/>
              </a:rPr>
              <a:t>Mn for the overall ear wax removal products market from 2026 to 2036. The</a:t>
            </a:r>
          </a:p>
        </p:txBody>
      </p:sp>
      <p:sp>
        <p:nvSpPr>
          <p:cNvPr id="30" name="TextBox 29"/>
          <p:cNvSpPr txBox="1"/>
          <p:nvPr/>
        </p:nvSpPr>
        <p:spPr>
          <a:xfrm>
            <a:off x="6305550" y="2329053"/>
            <a:ext cx="5246427" cy="194310"/>
          </a:xfrm>
          <a:prstGeom prst="rect">
            <a:avLst/>
          </a:prstGeom>
          <a:noFill/>
        </p:spPr>
        <p:txBody>
          <a:bodyPr wrap="none" lIns="0" rIns="0" tIns="0" bIns="0">
            <a:spAutoFit/>
          </a:bodyPr>
          <a:lstStyle/>
          <a:p>
            <a:r>
              <a:rPr sz="1150" b="0">
                <a:solidFill>
                  <a:srgbClr val="2E2E2E"/>
                </a:solidFill>
                <a:latin typeface="Calibri"/>
              </a:rPr>
              <a:t>individual consumers segment is expected to create an incremental opportunity of US$</a:t>
            </a:r>
          </a:p>
        </p:txBody>
      </p:sp>
      <p:pic>
        <p:nvPicPr>
          <p:cNvPr id="31" name="Picture 30" descr="lock.png"/>
          <p:cNvPicPr>
            <a:picLocks noChangeAspect="1"/>
          </p:cNvPicPr>
          <p:nvPr/>
        </p:nvPicPr>
        <p:blipFill>
          <a:blip r:embed="rId5"/>
          <a:stretch>
            <a:fillRect/>
          </a:stretch>
        </p:blipFill>
        <p:spPr>
          <a:xfrm>
            <a:off x="6291470" y="2494089"/>
            <a:ext cx="134549" cy="195707"/>
          </a:xfrm>
          <a:prstGeom prst="rect">
            <a:avLst/>
          </a:prstGeom>
        </p:spPr>
      </p:pic>
      <p:sp>
        <p:nvSpPr>
          <p:cNvPr id="32" name="TextBox 31"/>
          <p:cNvSpPr txBox="1"/>
          <p:nvPr/>
        </p:nvSpPr>
        <p:spPr>
          <a:xfrm>
            <a:off x="6466579" y="2504313"/>
            <a:ext cx="4365848" cy="194310"/>
          </a:xfrm>
          <a:prstGeom prst="rect">
            <a:avLst/>
          </a:prstGeom>
          <a:noFill/>
        </p:spPr>
        <p:txBody>
          <a:bodyPr wrap="none" lIns="0" rIns="0" tIns="0" bIns="0">
            <a:spAutoFit/>
          </a:bodyPr>
          <a:lstStyle/>
          <a:p>
            <a:r>
              <a:rPr sz="1150" b="0">
                <a:solidFill>
                  <a:srgbClr val="2E2E2E"/>
                </a:solidFill>
                <a:latin typeface="Calibri"/>
              </a:rPr>
              <a:t>Mn for the overall ear wax removal products market from 2026 to 2036.</a:t>
            </a:r>
          </a:p>
        </p:txBody>
      </p:sp>
      <p:sp>
        <p:nvSpPr>
          <p:cNvPr id="33" name="lockshield_12"/>
          <p:cNvSpPr/>
          <p:nvPr/>
        </p:nvSpPr>
        <p:spPr>
          <a:xfrm>
            <a:off x="238125"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End User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End User, 2021–2036, highlighting the sub-segments driving growth</a:t>
            </a:r>
          </a:p>
        </p:txBody>
      </p:sp>
      <p:sp>
        <p:nvSpPr>
          <p:cNvPr id="10" name="Rounded Rectangle 9"/>
          <p:cNvSpPr/>
          <p:nvPr/>
        </p:nvSpPr>
        <p:spPr>
          <a:xfrm>
            <a:off x="142875" y="981075"/>
            <a:ext cx="1190625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End User (US$ Mn)</a:t>
            </a:r>
          </a:p>
        </p:txBody>
      </p:sp>
      <p:graphicFrame>
        <p:nvGraphicFramePr>
          <p:cNvPr id="12" name="Table 11"/>
          <p:cNvGraphicFramePr>
            <a:graphicFrameLocks noGrp="1"/>
          </p:cNvGraphicFramePr>
          <p:nvPr/>
        </p:nvGraphicFramePr>
        <p:xfrm>
          <a:off x="152400" y="1238250"/>
          <a:ext cx="11887193" cy="2714626"/>
        </p:xfrm>
        <a:graphic>
          <a:graphicData uri="http://schemas.openxmlformats.org/drawingml/2006/table">
            <a:tbl>
              <a:tblPr>
                <a:tableStyleId>{5C22544A-7EE6-4342-B048-85BDC9FD1C3A}</a:tableStyleId>
              </a:tblPr>
              <a:tblGrid>
                <a:gridCol w="1721397"/>
                <a:gridCol w="597988"/>
                <a:gridCol w="597988"/>
                <a:gridCol w="597988"/>
                <a:gridCol w="597988"/>
                <a:gridCol w="597988"/>
                <a:gridCol w="597988"/>
                <a:gridCol w="597988"/>
                <a:gridCol w="597988"/>
                <a:gridCol w="597988"/>
                <a:gridCol w="597988"/>
                <a:gridCol w="597988"/>
                <a:gridCol w="597988"/>
                <a:gridCol w="597988"/>
                <a:gridCol w="597988"/>
                <a:gridCol w="597988"/>
                <a:gridCol w="597988"/>
                <a:gridCol w="597988"/>
              </a:tblGrid>
              <a:tr h="246126">
                <a:tc>
                  <a:txBody>
                    <a:bodyPr wrap="none"/>
                    <a:lstStyle/>
                    <a:p>
                      <a:pPr algn="l"/>
                      <a:r>
                        <a:rPr sz="1100" b="1">
                          <a:solidFill>
                            <a:srgbClr val="0B2E4A"/>
                          </a:solidFill>
                          <a:latin typeface="Calibri"/>
                        </a:rPr>
                        <a:t>End User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Individual consumers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Healthcare professionals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ENT specialists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General practitioners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Audiologists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Hospitals and Clinics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Nursing Homes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Assisted Living Facilities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Others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295775"/>
            <a:ext cx="11906250" cy="2333625"/>
          </a:xfrm>
          <a:prstGeom prst="roundRect">
            <a:avLst>
              <a:gd name="adj" fmla="val 32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3815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End User</a:t>
            </a:r>
          </a:p>
        </p:txBody>
      </p:sp>
      <p:sp>
        <p:nvSpPr>
          <p:cNvPr id="16" name="Rectangle 15"/>
          <p:cNvSpPr/>
          <p:nvPr/>
        </p:nvSpPr>
        <p:spPr>
          <a:xfrm>
            <a:off x="276225" y="46196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705350"/>
            <a:ext cx="11639550" cy="18478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770004" y="2451926"/>
            <a:ext cx="366712" cy="533400"/>
          </a:xfrm>
          <a:prstGeom prst="rect">
            <a:avLst/>
          </a:prstGeom>
        </p:spPr>
      </p:pic>
      <p:sp>
        <p:nvSpPr>
          <p:cNvPr id="20" name="TextBox 19"/>
          <p:cNvSpPr txBox="1"/>
          <p:nvPr/>
        </p:nvSpPr>
        <p:spPr>
          <a:xfrm>
            <a:off x="276225" y="4714875"/>
            <a:ext cx="2726208" cy="194310"/>
          </a:xfrm>
          <a:prstGeom prst="rect">
            <a:avLst/>
          </a:prstGeom>
          <a:noFill/>
        </p:spPr>
        <p:txBody>
          <a:bodyPr wrap="none" lIns="0" rIns="0" tIns="0" bIns="0">
            <a:spAutoFit/>
          </a:bodyPr>
          <a:lstStyle/>
          <a:p>
            <a:r>
              <a:rPr sz="1150" b="0">
                <a:solidFill>
                  <a:srgbClr val="2E2E2E"/>
                </a:solidFill>
                <a:latin typeface="Calibri"/>
              </a:rPr>
              <a:t>Audiologists segment is projected to register</a:t>
            </a:r>
          </a:p>
        </p:txBody>
      </p:sp>
      <p:pic>
        <p:nvPicPr>
          <p:cNvPr id="21" name="Picture 20" descr="lock.png"/>
          <p:cNvPicPr>
            <a:picLocks noChangeAspect="1"/>
          </p:cNvPicPr>
          <p:nvPr/>
        </p:nvPicPr>
        <p:blipFill>
          <a:blip r:embed="rId4"/>
          <a:stretch>
            <a:fillRect/>
          </a:stretch>
        </p:blipFill>
        <p:spPr>
          <a:xfrm>
            <a:off x="2951587" y="4704651"/>
            <a:ext cx="134549" cy="195707"/>
          </a:xfrm>
          <a:prstGeom prst="rect">
            <a:avLst/>
          </a:prstGeom>
        </p:spPr>
      </p:pic>
      <p:sp>
        <p:nvSpPr>
          <p:cNvPr id="22" name="TextBox 21"/>
          <p:cNvSpPr txBox="1"/>
          <p:nvPr/>
        </p:nvSpPr>
        <p:spPr>
          <a:xfrm>
            <a:off x="3126696" y="4714875"/>
            <a:ext cx="8596734" cy="194310"/>
          </a:xfrm>
          <a:prstGeom prst="rect">
            <a:avLst/>
          </a:prstGeom>
          <a:noFill/>
        </p:spPr>
        <p:txBody>
          <a:bodyPr wrap="none" lIns="0" rIns="0" tIns="0" bIns="0">
            <a:spAutoFit/>
          </a:bodyPr>
          <a:lstStyle/>
          <a:p>
            <a:r>
              <a:rPr sz="1150" b="0">
                <a:solidFill>
                  <a:srgbClr val="2E2E2E"/>
                </a:solidFill>
                <a:latin typeface="Calibri"/>
              </a:rPr>
              <a:t>X higher value than others segment in 2036. Among ear wax removal products by end user, hospitals and clinics segment is expected to witness</a:t>
            </a:r>
          </a:p>
        </p:txBody>
      </p:sp>
      <p:sp>
        <p:nvSpPr>
          <p:cNvPr id="23" name="TextBox 22"/>
          <p:cNvSpPr txBox="1"/>
          <p:nvPr/>
        </p:nvSpPr>
        <p:spPr>
          <a:xfrm>
            <a:off x="276225" y="4890135"/>
            <a:ext cx="1263979" cy="194310"/>
          </a:xfrm>
          <a:prstGeom prst="rect">
            <a:avLst/>
          </a:prstGeom>
          <a:noFill/>
        </p:spPr>
        <p:txBody>
          <a:bodyPr wrap="none" lIns="0" rIns="0" tIns="0" bIns="0">
            <a:spAutoFit/>
          </a:bodyPr>
          <a:lstStyle/>
          <a:p>
            <a:r>
              <a:rPr sz="1150" b="0">
                <a:solidFill>
                  <a:srgbClr val="2E2E2E"/>
                </a:solidFill>
                <a:latin typeface="Calibri"/>
              </a:rPr>
              <a:t>the highest CAGR of</a:t>
            </a:r>
          </a:p>
        </p:txBody>
      </p:sp>
      <p:pic>
        <p:nvPicPr>
          <p:cNvPr id="24" name="Picture 23" descr="lock.png"/>
          <p:cNvPicPr>
            <a:picLocks noChangeAspect="1"/>
          </p:cNvPicPr>
          <p:nvPr/>
        </p:nvPicPr>
        <p:blipFill>
          <a:blip r:embed="rId4"/>
          <a:stretch>
            <a:fillRect/>
          </a:stretch>
        </p:blipFill>
        <p:spPr>
          <a:xfrm>
            <a:off x="1489358" y="4879911"/>
            <a:ext cx="134549" cy="195707"/>
          </a:xfrm>
          <a:prstGeom prst="rect">
            <a:avLst/>
          </a:prstGeom>
        </p:spPr>
      </p:pic>
      <p:sp>
        <p:nvSpPr>
          <p:cNvPr id="25" name="TextBox 24"/>
          <p:cNvSpPr txBox="1"/>
          <p:nvPr/>
        </p:nvSpPr>
        <p:spPr>
          <a:xfrm>
            <a:off x="1664467" y="48901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5117972"/>
            <a:ext cx="6295590" cy="194310"/>
          </a:xfrm>
          <a:prstGeom prst="rect">
            <a:avLst/>
          </a:prstGeom>
          <a:noFill/>
        </p:spPr>
        <p:txBody>
          <a:bodyPr wrap="none" lIns="0" rIns="0" tIns="0" bIns="0">
            <a:spAutoFit/>
          </a:bodyPr>
          <a:lstStyle/>
          <a:p>
            <a:r>
              <a:rPr sz="1150" b="0">
                <a:solidFill>
                  <a:srgbClr val="2E2E2E"/>
                </a:solidFill>
                <a:latin typeface="Calibri"/>
              </a:rPr>
              <a:t>In terms of value share by end user, the audiologists segment is expected to dominate the market, losing</a:t>
            </a:r>
          </a:p>
        </p:txBody>
      </p:sp>
      <p:pic>
        <p:nvPicPr>
          <p:cNvPr id="27" name="Picture 26" descr="lock.png"/>
          <p:cNvPicPr>
            <a:picLocks noChangeAspect="1"/>
          </p:cNvPicPr>
          <p:nvPr/>
        </p:nvPicPr>
        <p:blipFill>
          <a:blip r:embed="rId4"/>
          <a:stretch>
            <a:fillRect/>
          </a:stretch>
        </p:blipFill>
        <p:spPr>
          <a:xfrm>
            <a:off x="6520969" y="5107749"/>
            <a:ext cx="134549" cy="195707"/>
          </a:xfrm>
          <a:prstGeom prst="rect">
            <a:avLst/>
          </a:prstGeom>
        </p:spPr>
      </p:pic>
      <p:sp>
        <p:nvSpPr>
          <p:cNvPr id="28" name="TextBox 27"/>
          <p:cNvSpPr txBox="1"/>
          <p:nvPr/>
        </p:nvSpPr>
        <p:spPr>
          <a:xfrm>
            <a:off x="6696079" y="51179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091222" y="5107749"/>
            <a:ext cx="134549" cy="195707"/>
          </a:xfrm>
          <a:prstGeom prst="rect">
            <a:avLst/>
          </a:prstGeom>
        </p:spPr>
      </p:pic>
      <p:sp>
        <p:nvSpPr>
          <p:cNvPr id="30" name="TextBox 29"/>
          <p:cNvSpPr txBox="1"/>
          <p:nvPr/>
        </p:nvSpPr>
        <p:spPr>
          <a:xfrm>
            <a:off x="8266331" y="5117972"/>
            <a:ext cx="3355478" cy="194310"/>
          </a:xfrm>
          <a:prstGeom prst="rect">
            <a:avLst/>
          </a:prstGeom>
          <a:noFill/>
        </p:spPr>
        <p:txBody>
          <a:bodyPr wrap="none" lIns="0" rIns="0" tIns="0" bIns="0">
            <a:spAutoFit/>
          </a:bodyPr>
          <a:lstStyle/>
          <a:p>
            <a:r>
              <a:rPr sz="1150" b="0">
                <a:solidFill>
                  <a:srgbClr val="2E2E2E"/>
                </a:solidFill>
                <a:latin typeface="Calibri"/>
              </a:rPr>
              <a:t>share by 2036. The ENT specialists segment is expected</a:t>
            </a:r>
          </a:p>
        </p:txBody>
      </p:sp>
      <p:sp>
        <p:nvSpPr>
          <p:cNvPr id="31" name="TextBox 30"/>
          <p:cNvSpPr txBox="1"/>
          <p:nvPr/>
        </p:nvSpPr>
        <p:spPr>
          <a:xfrm>
            <a:off x="276225" y="5293232"/>
            <a:ext cx="475840" cy="194310"/>
          </a:xfrm>
          <a:prstGeom prst="rect">
            <a:avLst/>
          </a:prstGeom>
          <a:noFill/>
        </p:spPr>
        <p:txBody>
          <a:bodyPr wrap="none" lIns="0" rIns="0" tIns="0" bIns="0">
            <a:spAutoFit/>
          </a:bodyPr>
          <a:lstStyle/>
          <a:p>
            <a:r>
              <a:rPr sz="1150" b="0">
                <a:solidFill>
                  <a:srgbClr val="2E2E2E"/>
                </a:solidFill>
                <a:latin typeface="Calibri"/>
              </a:rPr>
              <a:t>to lose</a:t>
            </a:r>
          </a:p>
        </p:txBody>
      </p:sp>
      <p:pic>
        <p:nvPicPr>
          <p:cNvPr id="32" name="Picture 31" descr="lock.png"/>
          <p:cNvPicPr>
            <a:picLocks noChangeAspect="1"/>
          </p:cNvPicPr>
          <p:nvPr/>
        </p:nvPicPr>
        <p:blipFill>
          <a:blip r:embed="rId4"/>
          <a:stretch>
            <a:fillRect/>
          </a:stretch>
        </p:blipFill>
        <p:spPr>
          <a:xfrm>
            <a:off x="701219" y="5283009"/>
            <a:ext cx="134549" cy="195707"/>
          </a:xfrm>
          <a:prstGeom prst="rect">
            <a:avLst/>
          </a:prstGeom>
        </p:spPr>
      </p:pic>
      <p:sp>
        <p:nvSpPr>
          <p:cNvPr id="33" name="TextBox 32"/>
          <p:cNvSpPr txBox="1"/>
          <p:nvPr/>
        </p:nvSpPr>
        <p:spPr>
          <a:xfrm>
            <a:off x="876328" y="52932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3463833" y="5283009"/>
            <a:ext cx="134549" cy="195707"/>
          </a:xfrm>
          <a:prstGeom prst="rect">
            <a:avLst/>
          </a:prstGeom>
        </p:spPr>
      </p:pic>
      <p:sp>
        <p:nvSpPr>
          <p:cNvPr id="35" name="TextBox 34"/>
          <p:cNvSpPr txBox="1"/>
          <p:nvPr/>
        </p:nvSpPr>
        <p:spPr>
          <a:xfrm>
            <a:off x="3638942" y="52932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End User</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End User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End User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720710"/>
            <a:ext cx="85725" cy="85725"/>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71594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63974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Assisted Living Facilities</a:t>
            </a:r>
          </a:p>
        </p:txBody>
      </p:sp>
      <p:sp>
        <p:nvSpPr>
          <p:cNvPr id="18" name="BPS Value 1"/>
          <p:cNvSpPr txBox="1"/>
          <p:nvPr/>
        </p:nvSpPr>
        <p:spPr>
          <a:xfrm>
            <a:off x="6896100" y="170166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1933672"/>
            <a:ext cx="85725" cy="8572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192891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185271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Nursing Homes</a:t>
            </a:r>
          </a:p>
        </p:txBody>
      </p:sp>
      <p:sp>
        <p:nvSpPr>
          <p:cNvPr id="22" name="BPS Value 2"/>
          <p:cNvSpPr txBox="1"/>
          <p:nvPr/>
        </p:nvSpPr>
        <p:spPr>
          <a:xfrm>
            <a:off x="6896100" y="191462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2304540"/>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229977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22357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Hospitals and Clinics</a:t>
            </a:r>
          </a:p>
        </p:txBody>
      </p:sp>
      <p:sp>
        <p:nvSpPr>
          <p:cNvPr id="26" name="BPS Value 3"/>
          <p:cNvSpPr txBox="1"/>
          <p:nvPr/>
        </p:nvSpPr>
        <p:spPr>
          <a:xfrm>
            <a:off x="6896100" y="228549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2783322"/>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277855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270235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Individual consumers</a:t>
            </a:r>
          </a:p>
        </p:txBody>
      </p:sp>
      <p:sp>
        <p:nvSpPr>
          <p:cNvPr id="30" name="BPS Value 4"/>
          <p:cNvSpPr txBox="1"/>
          <p:nvPr/>
        </p:nvSpPr>
        <p:spPr>
          <a:xfrm>
            <a:off x="6896100" y="276427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928997" y="3332278"/>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5090922" y="332751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325131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General practitioners</a:t>
            </a:r>
          </a:p>
        </p:txBody>
      </p:sp>
      <p:sp>
        <p:nvSpPr>
          <p:cNvPr id="34" name="BPS Value 5"/>
          <p:cNvSpPr txBox="1"/>
          <p:nvPr/>
        </p:nvSpPr>
        <p:spPr>
          <a:xfrm>
            <a:off x="6896100" y="331322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928997" y="390019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rot="10800000">
            <a:off x="5090922" y="389543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381923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ENT specialists</a:t>
            </a:r>
          </a:p>
        </p:txBody>
      </p:sp>
      <p:sp>
        <p:nvSpPr>
          <p:cNvPr id="38" name="BPS Value 6"/>
          <p:cNvSpPr txBox="1"/>
          <p:nvPr/>
        </p:nvSpPr>
        <p:spPr>
          <a:xfrm>
            <a:off x="6896100" y="388114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9" name="FMI Legend Chip"/>
          <p:cNvSpPr/>
          <p:nvPr/>
        </p:nvSpPr>
        <p:spPr>
          <a:xfrm>
            <a:off x="4928997" y="4488939"/>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sosceles Triangle 39"/>
          <p:cNvSpPr/>
          <p:nvPr/>
        </p:nvSpPr>
        <p:spPr>
          <a:xfrm>
            <a:off x="5090922" y="448417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PS Name 7"/>
          <p:cNvSpPr txBox="1"/>
          <p:nvPr/>
        </p:nvSpPr>
        <p:spPr>
          <a:xfrm>
            <a:off x="5233797" y="440797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Healthcare professionals</a:t>
            </a:r>
          </a:p>
        </p:txBody>
      </p:sp>
      <p:sp>
        <p:nvSpPr>
          <p:cNvPr id="42" name="BPS Value 7"/>
          <p:cNvSpPr txBox="1"/>
          <p:nvPr/>
        </p:nvSpPr>
        <p:spPr>
          <a:xfrm>
            <a:off x="6896100" y="446988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3" name="FMI Legend Chip"/>
          <p:cNvSpPr/>
          <p:nvPr/>
        </p:nvSpPr>
        <p:spPr>
          <a:xfrm>
            <a:off x="4928997" y="514653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Isosceles Triangle 43"/>
          <p:cNvSpPr/>
          <p:nvPr/>
        </p:nvSpPr>
        <p:spPr>
          <a:xfrm>
            <a:off x="5090922" y="514176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PS Name 8"/>
          <p:cNvSpPr txBox="1"/>
          <p:nvPr/>
        </p:nvSpPr>
        <p:spPr>
          <a:xfrm>
            <a:off x="5233797" y="506556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Others</a:t>
            </a:r>
          </a:p>
        </p:txBody>
      </p:sp>
      <p:sp>
        <p:nvSpPr>
          <p:cNvPr id="46" name="BPS Value 8"/>
          <p:cNvSpPr txBox="1"/>
          <p:nvPr/>
        </p:nvSpPr>
        <p:spPr>
          <a:xfrm>
            <a:off x="6896100" y="512748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7" name="FMI Legend Chip"/>
          <p:cNvSpPr/>
          <p:nvPr/>
        </p:nvSpPr>
        <p:spPr>
          <a:xfrm>
            <a:off x="4928997" y="587469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Isosceles Triangle 47"/>
          <p:cNvSpPr/>
          <p:nvPr/>
        </p:nvSpPr>
        <p:spPr>
          <a:xfrm rot="10800000">
            <a:off x="5090922" y="586993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PS Name 9"/>
          <p:cNvSpPr txBox="1"/>
          <p:nvPr/>
        </p:nvSpPr>
        <p:spPr>
          <a:xfrm>
            <a:off x="5233797" y="579373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Audiologists</a:t>
            </a:r>
          </a:p>
        </p:txBody>
      </p:sp>
      <p:sp>
        <p:nvSpPr>
          <p:cNvPr id="50" name="BPS Value 9"/>
          <p:cNvSpPr txBox="1"/>
          <p:nvPr/>
        </p:nvSpPr>
        <p:spPr>
          <a:xfrm>
            <a:off x="6896100" y="585564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51" name="Rounded Rectangle 5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End User</a:t>
            </a:r>
          </a:p>
        </p:txBody>
      </p:sp>
      <p:sp>
        <p:nvSpPr>
          <p:cNvPr id="53" name="Rectangle 5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5" name="TextBox 5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6" name="Picture 55" descr="lock.png"/>
          <p:cNvPicPr>
            <a:picLocks noChangeAspect="1"/>
          </p:cNvPicPr>
          <p:nvPr/>
        </p:nvPicPr>
        <p:blipFill>
          <a:blip r:embed="rId5"/>
          <a:stretch>
            <a:fillRect/>
          </a:stretch>
        </p:blipFill>
        <p:spPr>
          <a:xfrm>
            <a:off x="2557843" y="3833622"/>
            <a:ext cx="275034" cy="400050"/>
          </a:xfrm>
          <a:prstGeom prst="rect">
            <a:avLst/>
          </a:prstGeom>
        </p:spPr>
      </p:pic>
      <p:sp>
        <p:nvSpPr>
          <p:cNvPr id="57" name="TextBox 56"/>
          <p:cNvSpPr txBox="1"/>
          <p:nvPr/>
        </p:nvSpPr>
        <p:spPr>
          <a:xfrm>
            <a:off x="7829550" y="1400175"/>
            <a:ext cx="4051213" cy="194310"/>
          </a:xfrm>
          <a:prstGeom prst="rect">
            <a:avLst/>
          </a:prstGeom>
          <a:noFill/>
        </p:spPr>
        <p:txBody>
          <a:bodyPr wrap="none" lIns="0" rIns="0" tIns="0" bIns="0">
            <a:spAutoFit/>
          </a:bodyPr>
          <a:lstStyle/>
          <a:p>
            <a:r>
              <a:rPr sz="1150" b="0">
                <a:solidFill>
                  <a:srgbClr val="2E2E2E"/>
                </a:solidFill>
                <a:latin typeface="Calibri"/>
              </a:rPr>
              <a:t>Among ear wax removal products by end user, hospitals and clinics</a:t>
            </a:r>
          </a:p>
        </p:txBody>
      </p:sp>
      <p:sp>
        <p:nvSpPr>
          <p:cNvPr id="58" name="TextBox 57"/>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59" name="Picture 58" descr="lock.png"/>
          <p:cNvPicPr>
            <a:picLocks noChangeAspect="1"/>
          </p:cNvPicPr>
          <p:nvPr/>
        </p:nvPicPr>
        <p:blipFill>
          <a:blip r:embed="rId5"/>
          <a:stretch>
            <a:fillRect/>
          </a:stretch>
        </p:blipFill>
        <p:spPr>
          <a:xfrm>
            <a:off x="10935343" y="1565211"/>
            <a:ext cx="134549" cy="195707"/>
          </a:xfrm>
          <a:prstGeom prst="rect">
            <a:avLst/>
          </a:prstGeom>
        </p:spPr>
      </p:pic>
      <p:sp>
        <p:nvSpPr>
          <p:cNvPr id="60" name="TextBox 59"/>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61" name="TextBox 60"/>
          <p:cNvSpPr txBox="1"/>
          <p:nvPr/>
        </p:nvSpPr>
        <p:spPr>
          <a:xfrm>
            <a:off x="7829550" y="1750695"/>
            <a:ext cx="3404827" cy="194310"/>
          </a:xfrm>
          <a:prstGeom prst="rect">
            <a:avLst/>
          </a:prstGeom>
          <a:noFill/>
        </p:spPr>
        <p:txBody>
          <a:bodyPr wrap="none" lIns="0" rIns="0" tIns="0" bIns="0">
            <a:spAutoFit/>
          </a:bodyPr>
          <a:lstStyle/>
          <a:p>
            <a:r>
              <a:rPr sz="1150" b="0">
                <a:solidFill>
                  <a:srgbClr val="2E2E2E"/>
                </a:solidFill>
                <a:latin typeface="Calibri"/>
              </a:rPr>
              <a:t>forecast period. In terms of value share by end user, the</a:t>
            </a:r>
          </a:p>
        </p:txBody>
      </p:sp>
      <p:sp>
        <p:nvSpPr>
          <p:cNvPr id="62" name="TextBox 61"/>
          <p:cNvSpPr txBox="1"/>
          <p:nvPr/>
        </p:nvSpPr>
        <p:spPr>
          <a:xfrm>
            <a:off x="7829550" y="1925955"/>
            <a:ext cx="3908015" cy="194310"/>
          </a:xfrm>
          <a:prstGeom prst="rect">
            <a:avLst/>
          </a:prstGeom>
          <a:noFill/>
        </p:spPr>
        <p:txBody>
          <a:bodyPr wrap="none" lIns="0" rIns="0" tIns="0" bIns="0">
            <a:spAutoFit/>
          </a:bodyPr>
          <a:lstStyle/>
          <a:p>
            <a:r>
              <a:rPr sz="1150" b="0">
                <a:solidFill>
                  <a:srgbClr val="2E2E2E"/>
                </a:solidFill>
                <a:latin typeface="Calibri"/>
              </a:rPr>
              <a:t>audiologists segment is expected to dominate the market, losing</a:t>
            </a:r>
          </a:p>
        </p:txBody>
      </p:sp>
      <p:pic>
        <p:nvPicPr>
          <p:cNvPr id="63" name="Picture 62" descr="lock.png"/>
          <p:cNvPicPr>
            <a:picLocks noChangeAspect="1"/>
          </p:cNvPicPr>
          <p:nvPr/>
        </p:nvPicPr>
        <p:blipFill>
          <a:blip r:embed="rId5"/>
          <a:stretch>
            <a:fillRect/>
          </a:stretch>
        </p:blipFill>
        <p:spPr>
          <a:xfrm>
            <a:off x="7815470" y="2090991"/>
            <a:ext cx="134549" cy="195707"/>
          </a:xfrm>
          <a:prstGeom prst="rect">
            <a:avLst/>
          </a:prstGeom>
        </p:spPr>
      </p:pic>
      <p:sp>
        <p:nvSpPr>
          <p:cNvPr id="64" name="TextBox 63"/>
          <p:cNvSpPr txBox="1"/>
          <p:nvPr/>
        </p:nvSpPr>
        <p:spPr>
          <a:xfrm>
            <a:off x="79905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5" name="Picture 64" descr="lock.png"/>
          <p:cNvPicPr>
            <a:picLocks noChangeAspect="1"/>
          </p:cNvPicPr>
          <p:nvPr/>
        </p:nvPicPr>
        <p:blipFill>
          <a:blip r:embed="rId5"/>
          <a:stretch>
            <a:fillRect/>
          </a:stretch>
        </p:blipFill>
        <p:spPr>
          <a:xfrm>
            <a:off x="9385722" y="2090991"/>
            <a:ext cx="134549" cy="195707"/>
          </a:xfrm>
          <a:prstGeom prst="rect">
            <a:avLst/>
          </a:prstGeom>
        </p:spPr>
      </p:pic>
      <p:sp>
        <p:nvSpPr>
          <p:cNvPr id="66" name="TextBox 65"/>
          <p:cNvSpPr txBox="1"/>
          <p:nvPr/>
        </p:nvSpPr>
        <p:spPr>
          <a:xfrm>
            <a:off x="9560832"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7" name="TextBox 66"/>
          <p:cNvSpPr txBox="1"/>
          <p:nvPr/>
        </p:nvSpPr>
        <p:spPr>
          <a:xfrm>
            <a:off x="7829550" y="2329053"/>
            <a:ext cx="2885095" cy="194310"/>
          </a:xfrm>
          <a:prstGeom prst="rect">
            <a:avLst/>
          </a:prstGeom>
          <a:noFill/>
        </p:spPr>
        <p:txBody>
          <a:bodyPr wrap="none" lIns="0" rIns="0" tIns="0" bIns="0">
            <a:spAutoFit/>
          </a:bodyPr>
          <a:lstStyle/>
          <a:p>
            <a:r>
              <a:rPr sz="1150" b="0">
                <a:solidFill>
                  <a:srgbClr val="2E2E2E"/>
                </a:solidFill>
                <a:latin typeface="Calibri"/>
              </a:rPr>
              <a:t>The ENT specialists segment is expected to lose</a:t>
            </a:r>
          </a:p>
        </p:txBody>
      </p:sp>
      <p:pic>
        <p:nvPicPr>
          <p:cNvPr id="68" name="Picture 67" descr="lock.png"/>
          <p:cNvPicPr>
            <a:picLocks noChangeAspect="1"/>
          </p:cNvPicPr>
          <p:nvPr/>
        </p:nvPicPr>
        <p:blipFill>
          <a:blip r:embed="rId5"/>
          <a:stretch>
            <a:fillRect/>
          </a:stretch>
        </p:blipFill>
        <p:spPr>
          <a:xfrm>
            <a:off x="10663799" y="2318829"/>
            <a:ext cx="134549" cy="195707"/>
          </a:xfrm>
          <a:prstGeom prst="rect">
            <a:avLst/>
          </a:prstGeom>
        </p:spPr>
      </p:pic>
      <p:sp>
        <p:nvSpPr>
          <p:cNvPr id="69" name="TextBox 68"/>
          <p:cNvSpPr txBox="1"/>
          <p:nvPr/>
        </p:nvSpPr>
        <p:spPr>
          <a:xfrm>
            <a:off x="10838908"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70" name="TextBox 69"/>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71" name="Picture 70" descr="lock.png"/>
          <p:cNvPicPr>
            <a:picLocks noChangeAspect="1"/>
          </p:cNvPicPr>
          <p:nvPr/>
        </p:nvPicPr>
        <p:blipFill>
          <a:blip r:embed="rId5"/>
          <a:stretch>
            <a:fillRect/>
          </a:stretch>
        </p:blipFill>
        <p:spPr>
          <a:xfrm>
            <a:off x="9630324" y="2494089"/>
            <a:ext cx="134549" cy="195707"/>
          </a:xfrm>
          <a:prstGeom prst="rect">
            <a:avLst/>
          </a:prstGeom>
        </p:spPr>
      </p:pic>
      <p:sp>
        <p:nvSpPr>
          <p:cNvPr id="72" name="TextBox 71"/>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73"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Sales Channel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Channel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Sales Channel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5 sub-segments of Sales Channel,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Sales Channel segment categorizes the market by sales channel.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Online Channels</a:t>
            </a:r>
          </a:p>
        </p:txBody>
      </p:sp>
      <p:sp>
        <p:nvSpPr>
          <p:cNvPr id="22" name="Rectangle 21"/>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Medical Distributors and Institut…</a:t>
            </a:r>
          </a:p>
        </p:txBody>
      </p:sp>
      <p:sp>
        <p:nvSpPr>
          <p:cNvPr id="29" name="Rectangle 28"/>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Retail Pharmacies and Drug Stores</a:t>
            </a:r>
          </a:p>
        </p:txBody>
      </p:sp>
      <p:sp>
        <p:nvSpPr>
          <p:cNvPr id="36" name="Rectangle 35"/>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Offline Channels</a:t>
            </a:r>
          </a:p>
        </p:txBody>
      </p:sp>
      <p:sp>
        <p:nvSpPr>
          <p:cNvPr id="43" name="Rectangle 42"/>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Supermarkets and Mass Retailers</a:t>
            </a:r>
          </a:p>
        </p:txBody>
      </p:sp>
      <p:sp>
        <p:nvSpPr>
          <p:cNvPr id="50" name="Rectangle 49"/>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6" name="Rectangle 55"/>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8" name="Rounded Rectangle 5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0" name="Rectangle 59"/>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62" name="Rounded Rectangle 6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4" name="Rectangle 63"/>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Sales Channel split shows how demand is distributed across sales channel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6" name="Rectangle 6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8" name="TextBox 6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9" name="TextBox 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0" name="Picture 69" descr="184_4_605E5C.png"/>
          <p:cNvPicPr>
            <a:picLocks noChangeAspect="1"/>
          </p:cNvPicPr>
          <p:nvPr/>
        </p:nvPicPr>
        <p:blipFill>
          <a:blip r:embed="rId4"/>
          <a:stretch>
            <a:fillRect/>
          </a:stretch>
        </p:blipFill>
        <p:spPr>
          <a:xfrm>
            <a:off x="2223441" y="2286582"/>
            <a:ext cx="1195728" cy="361950"/>
          </a:xfrm>
          <a:prstGeom prst="rect">
            <a:avLst/>
          </a:prstGeom>
        </p:spPr>
      </p:pic>
      <p:pic>
        <p:nvPicPr>
          <p:cNvPr id="71" name="Picture 70" descr="278_0_605E5C.png"/>
          <p:cNvPicPr>
            <a:picLocks noChangeAspect="1"/>
          </p:cNvPicPr>
          <p:nvPr/>
        </p:nvPicPr>
        <p:blipFill>
          <a:blip r:embed="rId5"/>
          <a:stretch>
            <a:fillRect/>
          </a:stretch>
        </p:blipFill>
        <p:spPr>
          <a:xfrm>
            <a:off x="2223441" y="2779432"/>
            <a:ext cx="1195728" cy="361950"/>
          </a:xfrm>
          <a:prstGeom prst="rect">
            <a:avLst/>
          </a:prstGeom>
        </p:spPr>
      </p:pic>
      <p:pic>
        <p:nvPicPr>
          <p:cNvPr id="72" name="Picture 71" descr="4_2__605E5C.png"/>
          <p:cNvPicPr>
            <a:picLocks noChangeAspect="1"/>
          </p:cNvPicPr>
          <p:nvPr/>
        </p:nvPicPr>
        <p:blipFill>
          <a:blip r:embed="rId6"/>
          <a:stretch>
            <a:fillRect/>
          </a:stretch>
        </p:blipFill>
        <p:spPr>
          <a:xfrm>
            <a:off x="2330087" y="3272281"/>
            <a:ext cx="982436" cy="361950"/>
          </a:xfrm>
          <a:prstGeom prst="rect">
            <a:avLst/>
          </a:prstGeom>
        </p:spPr>
      </p:pic>
      <p:pic>
        <p:nvPicPr>
          <p:cNvPr id="73" name="Picture 72" descr="154_7_605E5C.png"/>
          <p:cNvPicPr>
            <a:picLocks noChangeAspect="1"/>
          </p:cNvPicPr>
          <p:nvPr/>
        </p:nvPicPr>
        <p:blipFill>
          <a:blip r:embed="rId7"/>
          <a:stretch>
            <a:fillRect/>
          </a:stretch>
        </p:blipFill>
        <p:spPr>
          <a:xfrm>
            <a:off x="4246551" y="2286582"/>
            <a:ext cx="1195728" cy="361950"/>
          </a:xfrm>
          <a:prstGeom prst="rect">
            <a:avLst/>
          </a:prstGeom>
        </p:spPr>
      </p:pic>
      <p:pic>
        <p:nvPicPr>
          <p:cNvPr id="74" name="Picture 73" descr="197_9_605E5C.png"/>
          <p:cNvPicPr>
            <a:picLocks noChangeAspect="1"/>
          </p:cNvPicPr>
          <p:nvPr/>
        </p:nvPicPr>
        <p:blipFill>
          <a:blip r:embed="rId8"/>
          <a:stretch>
            <a:fillRect/>
          </a:stretch>
        </p:blipFill>
        <p:spPr>
          <a:xfrm>
            <a:off x="4246551" y="2779432"/>
            <a:ext cx="1195728" cy="361950"/>
          </a:xfrm>
          <a:prstGeom prst="rect">
            <a:avLst/>
          </a:prstGeom>
        </p:spPr>
      </p:pic>
      <p:pic>
        <p:nvPicPr>
          <p:cNvPr id="75" name="Picture 74" descr="2_5__605E5C.png"/>
          <p:cNvPicPr>
            <a:picLocks noChangeAspect="1"/>
          </p:cNvPicPr>
          <p:nvPr/>
        </p:nvPicPr>
        <p:blipFill>
          <a:blip r:embed="rId9"/>
          <a:stretch>
            <a:fillRect/>
          </a:stretch>
        </p:blipFill>
        <p:spPr>
          <a:xfrm>
            <a:off x="4353197" y="3272281"/>
            <a:ext cx="982436" cy="361950"/>
          </a:xfrm>
          <a:prstGeom prst="rect">
            <a:avLst/>
          </a:prstGeom>
        </p:spPr>
      </p:pic>
      <p:pic>
        <p:nvPicPr>
          <p:cNvPr id="76" name="Picture 75" descr="148_6_605E5C.png"/>
          <p:cNvPicPr>
            <a:picLocks noChangeAspect="1"/>
          </p:cNvPicPr>
          <p:nvPr/>
        </p:nvPicPr>
        <p:blipFill>
          <a:blip r:embed="rId10"/>
          <a:stretch>
            <a:fillRect/>
          </a:stretch>
        </p:blipFill>
        <p:spPr>
          <a:xfrm>
            <a:off x="6269661" y="2286582"/>
            <a:ext cx="1195728" cy="361950"/>
          </a:xfrm>
          <a:prstGeom prst="rect">
            <a:avLst/>
          </a:prstGeom>
        </p:spPr>
      </p:pic>
      <p:pic>
        <p:nvPicPr>
          <p:cNvPr id="77" name="Picture 76" descr="228_2_605E5C.png"/>
          <p:cNvPicPr>
            <a:picLocks noChangeAspect="1"/>
          </p:cNvPicPr>
          <p:nvPr/>
        </p:nvPicPr>
        <p:blipFill>
          <a:blip r:embed="rId11"/>
          <a:stretch>
            <a:fillRect/>
          </a:stretch>
        </p:blipFill>
        <p:spPr>
          <a:xfrm>
            <a:off x="6269661" y="2779432"/>
            <a:ext cx="1195728" cy="361950"/>
          </a:xfrm>
          <a:prstGeom prst="rect">
            <a:avLst/>
          </a:prstGeom>
        </p:spPr>
      </p:pic>
      <p:pic>
        <p:nvPicPr>
          <p:cNvPr id="78" name="Picture 77" descr="4_4__605E5C.png"/>
          <p:cNvPicPr>
            <a:picLocks noChangeAspect="1"/>
          </p:cNvPicPr>
          <p:nvPr/>
        </p:nvPicPr>
        <p:blipFill>
          <a:blip r:embed="rId12"/>
          <a:stretch>
            <a:fillRect/>
          </a:stretch>
        </p:blipFill>
        <p:spPr>
          <a:xfrm>
            <a:off x="6376307" y="3272281"/>
            <a:ext cx="982436" cy="361950"/>
          </a:xfrm>
          <a:prstGeom prst="rect">
            <a:avLst/>
          </a:prstGeom>
        </p:spPr>
      </p:pic>
      <p:pic>
        <p:nvPicPr>
          <p:cNvPr id="79" name="Picture 78" descr="145_0_605E5C.png"/>
          <p:cNvPicPr>
            <a:picLocks noChangeAspect="1"/>
          </p:cNvPicPr>
          <p:nvPr/>
        </p:nvPicPr>
        <p:blipFill>
          <a:blip r:embed="rId13"/>
          <a:stretch>
            <a:fillRect/>
          </a:stretch>
        </p:blipFill>
        <p:spPr>
          <a:xfrm>
            <a:off x="8292771" y="2286582"/>
            <a:ext cx="1195728" cy="361950"/>
          </a:xfrm>
          <a:prstGeom prst="rect">
            <a:avLst/>
          </a:prstGeom>
        </p:spPr>
      </p:pic>
      <p:pic>
        <p:nvPicPr>
          <p:cNvPr id="80" name="Picture 79" descr="275_3_605E5C.png"/>
          <p:cNvPicPr>
            <a:picLocks noChangeAspect="1"/>
          </p:cNvPicPr>
          <p:nvPr/>
        </p:nvPicPr>
        <p:blipFill>
          <a:blip r:embed="rId14"/>
          <a:stretch>
            <a:fillRect/>
          </a:stretch>
        </p:blipFill>
        <p:spPr>
          <a:xfrm>
            <a:off x="8292771" y="2779432"/>
            <a:ext cx="1195728" cy="361950"/>
          </a:xfrm>
          <a:prstGeom prst="rect">
            <a:avLst/>
          </a:prstGeom>
        </p:spPr>
      </p:pic>
      <p:pic>
        <p:nvPicPr>
          <p:cNvPr id="81" name="Picture 80" descr="6_6__605E5C.png"/>
          <p:cNvPicPr>
            <a:picLocks noChangeAspect="1"/>
          </p:cNvPicPr>
          <p:nvPr/>
        </p:nvPicPr>
        <p:blipFill>
          <a:blip r:embed="rId15"/>
          <a:stretch>
            <a:fillRect/>
          </a:stretch>
        </p:blipFill>
        <p:spPr>
          <a:xfrm>
            <a:off x="8399417" y="3272281"/>
            <a:ext cx="982436" cy="361950"/>
          </a:xfrm>
          <a:prstGeom prst="rect">
            <a:avLst/>
          </a:prstGeom>
        </p:spPr>
      </p:pic>
      <p:pic>
        <p:nvPicPr>
          <p:cNvPr id="82" name="Picture 81" descr="63_5_605E5C.png"/>
          <p:cNvPicPr>
            <a:picLocks noChangeAspect="1"/>
          </p:cNvPicPr>
          <p:nvPr/>
        </p:nvPicPr>
        <p:blipFill>
          <a:blip r:embed="rId16"/>
          <a:stretch>
            <a:fillRect/>
          </a:stretch>
        </p:blipFill>
        <p:spPr>
          <a:xfrm>
            <a:off x="10422527" y="2286582"/>
            <a:ext cx="982436" cy="361950"/>
          </a:xfrm>
          <a:prstGeom prst="rect">
            <a:avLst/>
          </a:prstGeom>
        </p:spPr>
      </p:pic>
      <p:pic>
        <p:nvPicPr>
          <p:cNvPr id="83" name="Picture 82" descr="111_6_605E5C.png"/>
          <p:cNvPicPr>
            <a:picLocks noChangeAspect="1"/>
          </p:cNvPicPr>
          <p:nvPr/>
        </p:nvPicPr>
        <p:blipFill>
          <a:blip r:embed="rId17"/>
          <a:stretch>
            <a:fillRect/>
          </a:stretch>
        </p:blipFill>
        <p:spPr>
          <a:xfrm>
            <a:off x="10315881" y="2779432"/>
            <a:ext cx="1195728" cy="361950"/>
          </a:xfrm>
          <a:prstGeom prst="rect">
            <a:avLst/>
          </a:prstGeom>
        </p:spPr>
      </p:pic>
      <p:pic>
        <p:nvPicPr>
          <p:cNvPr id="84" name="Picture 83" descr="5_8__605E5C.png"/>
          <p:cNvPicPr>
            <a:picLocks noChangeAspect="1"/>
          </p:cNvPicPr>
          <p:nvPr/>
        </p:nvPicPr>
        <p:blipFill>
          <a:blip r:embed="rId18"/>
          <a:stretch>
            <a:fillRect/>
          </a:stretch>
        </p:blipFill>
        <p:spPr>
          <a:xfrm>
            <a:off x="10422527" y="3272281"/>
            <a:ext cx="982436" cy="361950"/>
          </a:xfrm>
          <a:prstGeom prst="rect">
            <a:avLst/>
          </a:prstGeom>
        </p:spPr>
      </p:pic>
      <p:pic>
        <p:nvPicPr>
          <p:cNvPr id="85" name="Picture 84" descr="lock.png"/>
          <p:cNvPicPr>
            <a:picLocks noChangeAspect="1"/>
          </p:cNvPicPr>
          <p:nvPr/>
        </p:nvPicPr>
        <p:blipFill>
          <a:blip r:embed="rId19"/>
          <a:stretch>
            <a:fillRect/>
          </a:stretch>
        </p:blipFill>
        <p:spPr>
          <a:xfrm>
            <a:off x="2727960" y="2827057"/>
            <a:ext cx="183356" cy="266700"/>
          </a:xfrm>
          <a:prstGeom prst="rect">
            <a:avLst/>
          </a:prstGeom>
        </p:spPr>
      </p:pic>
      <p:pic>
        <p:nvPicPr>
          <p:cNvPr id="86" name="Picture 85" descr="lock.png"/>
          <p:cNvPicPr>
            <a:picLocks noChangeAspect="1"/>
          </p:cNvPicPr>
          <p:nvPr/>
        </p:nvPicPr>
        <p:blipFill>
          <a:blip r:embed="rId19"/>
          <a:stretch>
            <a:fillRect/>
          </a:stretch>
        </p:blipFill>
        <p:spPr>
          <a:xfrm>
            <a:off x="4751070" y="2827057"/>
            <a:ext cx="183356" cy="266700"/>
          </a:xfrm>
          <a:prstGeom prst="rect">
            <a:avLst/>
          </a:prstGeom>
        </p:spPr>
      </p:pic>
      <p:pic>
        <p:nvPicPr>
          <p:cNvPr id="87" name="Picture 86" descr="lock.png"/>
          <p:cNvPicPr>
            <a:picLocks noChangeAspect="1"/>
          </p:cNvPicPr>
          <p:nvPr/>
        </p:nvPicPr>
        <p:blipFill>
          <a:blip r:embed="rId19"/>
          <a:stretch>
            <a:fillRect/>
          </a:stretch>
        </p:blipFill>
        <p:spPr>
          <a:xfrm>
            <a:off x="6774180" y="2827057"/>
            <a:ext cx="183356" cy="266700"/>
          </a:xfrm>
          <a:prstGeom prst="rect">
            <a:avLst/>
          </a:prstGeom>
        </p:spPr>
      </p:pic>
      <p:pic>
        <p:nvPicPr>
          <p:cNvPr id="88" name="Picture 87" descr="lock.png"/>
          <p:cNvPicPr>
            <a:picLocks noChangeAspect="1"/>
          </p:cNvPicPr>
          <p:nvPr/>
        </p:nvPicPr>
        <p:blipFill>
          <a:blip r:embed="rId19"/>
          <a:stretch>
            <a:fillRect/>
          </a:stretch>
        </p:blipFill>
        <p:spPr>
          <a:xfrm>
            <a:off x="8797290" y="2827057"/>
            <a:ext cx="183356" cy="266700"/>
          </a:xfrm>
          <a:prstGeom prst="rect">
            <a:avLst/>
          </a:prstGeom>
        </p:spPr>
      </p:pic>
      <p:pic>
        <p:nvPicPr>
          <p:cNvPr id="89" name="Picture 88" descr="lock.png"/>
          <p:cNvPicPr>
            <a:picLocks noChangeAspect="1"/>
          </p:cNvPicPr>
          <p:nvPr/>
        </p:nvPicPr>
        <p:blipFill>
          <a:blip r:embed="rId19"/>
          <a:stretch>
            <a:fillRect/>
          </a:stretch>
        </p:blipFill>
        <p:spPr>
          <a:xfrm>
            <a:off x="10820400" y="2827057"/>
            <a:ext cx="183356" cy="266700"/>
          </a:xfrm>
          <a:prstGeom prst="rect">
            <a:avLst/>
          </a:prstGeom>
        </p:spPr>
      </p:pic>
      <p:sp>
        <p:nvSpPr>
          <p:cNvPr id="90" name="TextBox 89"/>
          <p:cNvSpPr txBox="1"/>
          <p:nvPr/>
        </p:nvSpPr>
        <p:spPr>
          <a:xfrm>
            <a:off x="485775" y="4229437"/>
            <a:ext cx="2914650" cy="186689"/>
          </a:xfrm>
          <a:prstGeom prst="rect">
            <a:avLst/>
          </a:prstGeom>
          <a:noFill/>
        </p:spPr>
        <p:txBody>
          <a:bodyPr wrap="none" lIns="0" rIns="0" tIns="0" bIns="0">
            <a:spAutoFit/>
          </a:bodyPr>
          <a:lstStyle/>
          <a:p>
            <a:r>
              <a:rPr sz="1100" b="0">
                <a:solidFill>
                  <a:srgbClr val="2E2E2E"/>
                </a:solidFill>
                <a:latin typeface="Calibri"/>
              </a:rPr>
              <a:t>Among ear wax removal products by sales channel,</a:t>
            </a:r>
          </a:p>
        </p:txBody>
      </p:sp>
      <p:sp>
        <p:nvSpPr>
          <p:cNvPr id="91" name="TextBox 90"/>
          <p:cNvSpPr txBox="1"/>
          <p:nvPr/>
        </p:nvSpPr>
        <p:spPr>
          <a:xfrm>
            <a:off x="485775" y="4397077"/>
            <a:ext cx="2668289" cy="186689"/>
          </a:xfrm>
          <a:prstGeom prst="rect">
            <a:avLst/>
          </a:prstGeom>
          <a:noFill/>
        </p:spPr>
        <p:txBody>
          <a:bodyPr wrap="none" lIns="0" rIns="0" tIns="0" bIns="0">
            <a:spAutoFit/>
          </a:bodyPr>
          <a:lstStyle/>
          <a:p>
            <a:r>
              <a:rPr sz="1100" b="0">
                <a:solidFill>
                  <a:srgbClr val="2E2E2E"/>
                </a:solidFill>
                <a:latin typeface="Calibri"/>
              </a:rPr>
              <a:t>other offline channels segment is expected to</a:t>
            </a:r>
          </a:p>
        </p:txBody>
      </p:sp>
      <p:sp>
        <p:nvSpPr>
          <p:cNvPr id="92" name="TextBox 91"/>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93" name="Picture 92" descr="lock.png"/>
          <p:cNvPicPr>
            <a:picLocks noChangeAspect="1"/>
          </p:cNvPicPr>
          <p:nvPr/>
        </p:nvPicPr>
        <p:blipFill>
          <a:blip r:embed="rId19"/>
          <a:stretch>
            <a:fillRect/>
          </a:stretch>
        </p:blipFill>
        <p:spPr>
          <a:xfrm>
            <a:off x="2108919" y="4554938"/>
            <a:ext cx="128699" cy="187198"/>
          </a:xfrm>
          <a:prstGeom prst="rect">
            <a:avLst/>
          </a:prstGeom>
        </p:spPr>
      </p:pic>
      <p:sp>
        <p:nvSpPr>
          <p:cNvPr id="94" name="TextBox 93"/>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95" name="TextBox 94"/>
          <p:cNvSpPr txBox="1"/>
          <p:nvPr/>
        </p:nvSpPr>
        <p:spPr>
          <a:xfrm>
            <a:off x="485775" y="4732357"/>
            <a:ext cx="2807716" cy="186689"/>
          </a:xfrm>
          <a:prstGeom prst="rect">
            <a:avLst/>
          </a:prstGeom>
          <a:noFill/>
        </p:spPr>
        <p:txBody>
          <a:bodyPr wrap="none" lIns="0" rIns="0" tIns="0" bIns="0">
            <a:spAutoFit/>
          </a:bodyPr>
          <a:lstStyle/>
          <a:p>
            <a:r>
              <a:rPr sz="1100" b="0">
                <a:solidFill>
                  <a:srgbClr val="2E2E2E"/>
                </a:solidFill>
                <a:latin typeface="Calibri"/>
              </a:rPr>
              <a:t>period. In terms of value share by sales channel,</a:t>
            </a:r>
          </a:p>
        </p:txBody>
      </p:sp>
      <p:sp>
        <p:nvSpPr>
          <p:cNvPr id="96" name="TextBox 95"/>
          <p:cNvSpPr txBox="1"/>
          <p:nvPr/>
        </p:nvSpPr>
        <p:spPr>
          <a:xfrm>
            <a:off x="485775" y="4899997"/>
            <a:ext cx="2534046" cy="186689"/>
          </a:xfrm>
          <a:prstGeom prst="rect">
            <a:avLst/>
          </a:prstGeom>
          <a:noFill/>
        </p:spPr>
        <p:txBody>
          <a:bodyPr wrap="none" lIns="0" rIns="0" tIns="0" bIns="0">
            <a:spAutoFit/>
          </a:bodyPr>
          <a:lstStyle/>
          <a:p>
            <a:r>
              <a:rPr sz="1100" b="0">
                <a:solidFill>
                  <a:srgbClr val="2E2E2E"/>
                </a:solidFill>
                <a:latin typeface="Calibri"/>
              </a:rPr>
              <a:t>the online channels segment is expected to</a:t>
            </a:r>
          </a:p>
        </p:txBody>
      </p:sp>
      <p:sp>
        <p:nvSpPr>
          <p:cNvPr id="97" name="TextBox 96"/>
          <p:cNvSpPr txBox="1"/>
          <p:nvPr/>
        </p:nvSpPr>
        <p:spPr>
          <a:xfrm>
            <a:off x="485775" y="5067637"/>
            <a:ext cx="1682750" cy="186689"/>
          </a:xfrm>
          <a:prstGeom prst="rect">
            <a:avLst/>
          </a:prstGeom>
          <a:noFill/>
        </p:spPr>
        <p:txBody>
          <a:bodyPr wrap="none" lIns="0" rIns="0" tIns="0" bIns="0">
            <a:spAutoFit/>
          </a:bodyPr>
          <a:lstStyle/>
          <a:p>
            <a:r>
              <a:rPr sz="1100" b="0">
                <a:solidFill>
                  <a:srgbClr val="2E2E2E"/>
                </a:solidFill>
                <a:latin typeface="Calibri"/>
              </a:rPr>
              <a:t>dominate the market, losing</a:t>
            </a:r>
          </a:p>
        </p:txBody>
      </p:sp>
      <p:pic>
        <p:nvPicPr>
          <p:cNvPr id="98" name="Picture 97" descr="lock.png"/>
          <p:cNvPicPr>
            <a:picLocks noChangeAspect="1"/>
          </p:cNvPicPr>
          <p:nvPr/>
        </p:nvPicPr>
        <p:blipFill>
          <a:blip r:embed="rId19"/>
          <a:stretch>
            <a:fillRect/>
          </a:stretch>
        </p:blipFill>
        <p:spPr>
          <a:xfrm>
            <a:off x="2116576" y="5057858"/>
            <a:ext cx="128699" cy="187198"/>
          </a:xfrm>
          <a:prstGeom prst="rect">
            <a:avLst/>
          </a:prstGeom>
        </p:spPr>
      </p:pic>
      <p:sp>
        <p:nvSpPr>
          <p:cNvPr id="99" name="TextBox 98"/>
          <p:cNvSpPr txBox="1"/>
          <p:nvPr/>
        </p:nvSpPr>
        <p:spPr>
          <a:xfrm>
            <a:off x="2284072"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100" name="TextBox 99"/>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101" name="Picture 100" descr="lock.png"/>
          <p:cNvPicPr>
            <a:picLocks noChangeAspect="1"/>
          </p:cNvPicPr>
          <p:nvPr/>
        </p:nvPicPr>
        <p:blipFill>
          <a:blip r:embed="rId19"/>
          <a:stretch>
            <a:fillRect/>
          </a:stretch>
        </p:blipFill>
        <p:spPr>
          <a:xfrm>
            <a:off x="1330764" y="5225498"/>
            <a:ext cx="128699" cy="187198"/>
          </a:xfrm>
          <a:prstGeom prst="rect">
            <a:avLst/>
          </a:prstGeom>
        </p:spPr>
      </p:pic>
      <p:sp>
        <p:nvSpPr>
          <p:cNvPr id="102" name="TextBox 101"/>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03" name="TextBox 102"/>
          <p:cNvSpPr txBox="1"/>
          <p:nvPr/>
        </p:nvSpPr>
        <p:spPr>
          <a:xfrm>
            <a:off x="485775" y="5453209"/>
            <a:ext cx="2825179" cy="186689"/>
          </a:xfrm>
          <a:prstGeom prst="rect">
            <a:avLst/>
          </a:prstGeom>
          <a:noFill/>
        </p:spPr>
        <p:txBody>
          <a:bodyPr wrap="none" lIns="0" rIns="0" tIns="0" bIns="0">
            <a:spAutoFit/>
          </a:bodyPr>
          <a:lstStyle/>
          <a:p>
            <a:r>
              <a:rPr sz="1100" b="0">
                <a:solidFill>
                  <a:srgbClr val="2E2E2E"/>
                </a:solidFill>
                <a:latin typeface="Calibri"/>
              </a:rPr>
              <a:t>Online channels segment is projected to register</a:t>
            </a:r>
          </a:p>
        </p:txBody>
      </p:sp>
      <p:pic>
        <p:nvPicPr>
          <p:cNvPr id="104" name="Picture 103" descr="lock.png"/>
          <p:cNvPicPr>
            <a:picLocks noChangeAspect="1"/>
          </p:cNvPicPr>
          <p:nvPr/>
        </p:nvPicPr>
        <p:blipFill>
          <a:blip r:embed="rId19"/>
          <a:stretch>
            <a:fillRect/>
          </a:stretch>
        </p:blipFill>
        <p:spPr>
          <a:xfrm>
            <a:off x="472307" y="5611070"/>
            <a:ext cx="128699" cy="187198"/>
          </a:xfrm>
          <a:prstGeom prst="rect">
            <a:avLst/>
          </a:prstGeom>
        </p:spPr>
      </p:pic>
      <p:sp>
        <p:nvSpPr>
          <p:cNvPr id="105" name="TextBox 104"/>
          <p:cNvSpPr txBox="1"/>
          <p:nvPr/>
        </p:nvSpPr>
        <p:spPr>
          <a:xfrm>
            <a:off x="639803" y="5620849"/>
            <a:ext cx="2448644" cy="186689"/>
          </a:xfrm>
          <a:prstGeom prst="rect">
            <a:avLst/>
          </a:prstGeom>
          <a:noFill/>
        </p:spPr>
        <p:txBody>
          <a:bodyPr wrap="none" lIns="0" rIns="0" tIns="0" bIns="0">
            <a:spAutoFit/>
          </a:bodyPr>
          <a:lstStyle/>
          <a:p>
            <a:r>
              <a:rPr sz="1100" b="0">
                <a:solidFill>
                  <a:srgbClr val="2E2E2E"/>
                </a:solidFill>
                <a:latin typeface="Calibri"/>
              </a:rPr>
              <a:t>X higher value than other offline channels</a:t>
            </a:r>
          </a:p>
        </p:txBody>
      </p:sp>
      <p:sp>
        <p:nvSpPr>
          <p:cNvPr id="106" name="TextBox 105"/>
          <p:cNvSpPr txBox="1"/>
          <p:nvPr/>
        </p:nvSpPr>
        <p:spPr>
          <a:xfrm>
            <a:off x="485775" y="578848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107" name="TextBox 106"/>
          <p:cNvSpPr txBox="1"/>
          <p:nvPr/>
        </p:nvSpPr>
        <p:spPr>
          <a:xfrm>
            <a:off x="3838575" y="4229437"/>
            <a:ext cx="1152326" cy="186689"/>
          </a:xfrm>
          <a:prstGeom prst="rect">
            <a:avLst/>
          </a:prstGeom>
          <a:noFill/>
        </p:spPr>
        <p:txBody>
          <a:bodyPr wrap="none" lIns="0" rIns="0" tIns="0" bIns="0">
            <a:spAutoFit/>
          </a:bodyPr>
          <a:lstStyle/>
          <a:p>
            <a:r>
              <a:rPr sz="1100" b="0">
                <a:solidFill>
                  <a:srgbClr val="2E2E2E"/>
                </a:solidFill>
                <a:latin typeface="Calibri"/>
              </a:rPr>
              <a:t>● Online Channels:</a:t>
            </a:r>
          </a:p>
        </p:txBody>
      </p:sp>
      <p:pic>
        <p:nvPicPr>
          <p:cNvPr id="108" name="Picture 107" descr="lock.png"/>
          <p:cNvPicPr>
            <a:picLocks noChangeAspect="1"/>
          </p:cNvPicPr>
          <p:nvPr/>
        </p:nvPicPr>
        <p:blipFill>
          <a:blip r:embed="rId19"/>
          <a:stretch>
            <a:fillRect/>
          </a:stretch>
        </p:blipFill>
        <p:spPr>
          <a:xfrm>
            <a:off x="4938953" y="4219658"/>
            <a:ext cx="128699" cy="187198"/>
          </a:xfrm>
          <a:prstGeom prst="rect">
            <a:avLst/>
          </a:prstGeom>
        </p:spPr>
      </p:pic>
      <p:sp>
        <p:nvSpPr>
          <p:cNvPr id="109" name="TextBox 108"/>
          <p:cNvSpPr txBox="1"/>
          <p:nvPr/>
        </p:nvSpPr>
        <p:spPr>
          <a:xfrm>
            <a:off x="510644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0" name="Picture 109" descr="lock.png"/>
          <p:cNvPicPr>
            <a:picLocks noChangeAspect="1"/>
          </p:cNvPicPr>
          <p:nvPr/>
        </p:nvPicPr>
        <p:blipFill>
          <a:blip r:embed="rId19"/>
          <a:stretch>
            <a:fillRect/>
          </a:stretch>
        </p:blipFill>
        <p:spPr>
          <a:xfrm>
            <a:off x="5965899" y="4219658"/>
            <a:ext cx="128699" cy="187198"/>
          </a:xfrm>
          <a:prstGeom prst="rect">
            <a:avLst/>
          </a:prstGeom>
        </p:spPr>
      </p:pic>
      <p:sp>
        <p:nvSpPr>
          <p:cNvPr id="111" name="TextBox 110"/>
          <p:cNvSpPr txBox="1"/>
          <p:nvPr/>
        </p:nvSpPr>
        <p:spPr>
          <a:xfrm>
            <a:off x="6133395"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12" name="TextBox 111"/>
          <p:cNvSpPr txBox="1"/>
          <p:nvPr/>
        </p:nvSpPr>
        <p:spPr>
          <a:xfrm>
            <a:off x="3838575" y="4447369"/>
            <a:ext cx="3201441" cy="186689"/>
          </a:xfrm>
          <a:prstGeom prst="rect">
            <a:avLst/>
          </a:prstGeom>
          <a:noFill/>
        </p:spPr>
        <p:txBody>
          <a:bodyPr wrap="none" lIns="0" rIns="0" tIns="0" bIns="0">
            <a:spAutoFit/>
          </a:bodyPr>
          <a:lstStyle/>
          <a:p>
            <a:r>
              <a:rPr sz="1100" b="1">
                <a:solidFill>
                  <a:srgbClr val="0E72AE"/>
                </a:solidFill>
                <a:latin typeface="Calibri"/>
              </a:rPr>
              <a:t>● Medical Distributors and Institutional Procurement:</a:t>
            </a:r>
          </a:p>
        </p:txBody>
      </p:sp>
      <p:pic>
        <p:nvPicPr>
          <p:cNvPr id="113" name="Picture 112" descr="lock.png"/>
          <p:cNvPicPr>
            <a:picLocks noChangeAspect="1"/>
          </p:cNvPicPr>
          <p:nvPr/>
        </p:nvPicPr>
        <p:blipFill>
          <a:blip r:embed="rId19"/>
          <a:stretch>
            <a:fillRect/>
          </a:stretch>
        </p:blipFill>
        <p:spPr>
          <a:xfrm>
            <a:off x="6988068" y="4437590"/>
            <a:ext cx="128699" cy="187198"/>
          </a:xfrm>
          <a:prstGeom prst="rect">
            <a:avLst/>
          </a:prstGeom>
        </p:spPr>
      </p:pic>
      <p:sp>
        <p:nvSpPr>
          <p:cNvPr id="114" name="TextBox 113"/>
          <p:cNvSpPr txBox="1"/>
          <p:nvPr/>
        </p:nvSpPr>
        <p:spPr>
          <a:xfrm>
            <a:off x="7155564" y="4447369"/>
            <a:ext cx="510852" cy="186689"/>
          </a:xfrm>
          <a:prstGeom prst="rect">
            <a:avLst/>
          </a:prstGeom>
          <a:noFill/>
        </p:spPr>
        <p:txBody>
          <a:bodyPr wrap="none" lIns="0" rIns="0" tIns="0" bIns="0">
            <a:spAutoFit/>
          </a:bodyPr>
          <a:lstStyle/>
          <a:p>
            <a:r>
              <a:rPr sz="1100" b="1">
                <a:solidFill>
                  <a:srgbClr val="0E72AE"/>
                </a:solidFill>
                <a:latin typeface="Calibri"/>
              </a:rPr>
              <a:t>of 2026</a:t>
            </a:r>
          </a:p>
        </p:txBody>
      </p:sp>
      <p:sp>
        <p:nvSpPr>
          <p:cNvPr id="115" name="TextBox 114"/>
          <p:cNvSpPr txBox="1"/>
          <p:nvPr/>
        </p:nvSpPr>
        <p:spPr>
          <a:xfrm>
            <a:off x="3838575" y="4615009"/>
            <a:ext cx="460102" cy="186689"/>
          </a:xfrm>
          <a:prstGeom prst="rect">
            <a:avLst/>
          </a:prstGeom>
          <a:noFill/>
        </p:spPr>
        <p:txBody>
          <a:bodyPr wrap="none" lIns="0" rIns="0" tIns="0" bIns="0">
            <a:spAutoFit/>
          </a:bodyPr>
          <a:lstStyle/>
          <a:p>
            <a:r>
              <a:rPr sz="1100" b="1">
                <a:solidFill>
                  <a:srgbClr val="0E72AE"/>
                </a:solidFill>
                <a:latin typeface="Calibri"/>
              </a:rPr>
              <a:t>value ·</a:t>
            </a:r>
          </a:p>
        </p:txBody>
      </p:sp>
      <p:pic>
        <p:nvPicPr>
          <p:cNvPr id="116" name="Picture 115" descr="lock.png"/>
          <p:cNvPicPr>
            <a:picLocks noChangeAspect="1"/>
          </p:cNvPicPr>
          <p:nvPr/>
        </p:nvPicPr>
        <p:blipFill>
          <a:blip r:embed="rId19"/>
          <a:stretch>
            <a:fillRect/>
          </a:stretch>
        </p:blipFill>
        <p:spPr>
          <a:xfrm>
            <a:off x="4246728" y="4605230"/>
            <a:ext cx="128699" cy="187198"/>
          </a:xfrm>
          <a:prstGeom prst="rect">
            <a:avLst/>
          </a:prstGeom>
        </p:spPr>
      </p:pic>
      <p:sp>
        <p:nvSpPr>
          <p:cNvPr id="117" name="TextBox 116"/>
          <p:cNvSpPr txBox="1"/>
          <p:nvPr/>
        </p:nvSpPr>
        <p:spPr>
          <a:xfrm>
            <a:off x="4414224" y="4615009"/>
            <a:ext cx="1284633" cy="186689"/>
          </a:xfrm>
          <a:prstGeom prst="rect">
            <a:avLst/>
          </a:prstGeom>
          <a:noFill/>
        </p:spPr>
        <p:txBody>
          <a:bodyPr wrap="none" lIns="0" rIns="0" tIns="0" bIns="0">
            <a:spAutoFit/>
          </a:bodyPr>
          <a:lstStyle/>
          <a:p>
            <a:r>
              <a:rPr sz="1100" b="1">
                <a:solidFill>
                  <a:srgbClr val="0E72AE"/>
                </a:solidFill>
                <a:latin typeface="Calibri"/>
              </a:rPr>
              <a:t>CAGR serves a niche.</a:t>
            </a:r>
          </a:p>
        </p:txBody>
      </p:sp>
      <p:sp>
        <p:nvSpPr>
          <p:cNvPr id="118" name="TextBox 117"/>
          <p:cNvSpPr txBox="1"/>
          <p:nvPr/>
        </p:nvSpPr>
        <p:spPr>
          <a:xfrm>
            <a:off x="3838575" y="4832941"/>
            <a:ext cx="2180431" cy="186689"/>
          </a:xfrm>
          <a:prstGeom prst="rect">
            <a:avLst/>
          </a:prstGeom>
          <a:noFill/>
        </p:spPr>
        <p:txBody>
          <a:bodyPr wrap="none" lIns="0" rIns="0" tIns="0" bIns="0">
            <a:spAutoFit/>
          </a:bodyPr>
          <a:lstStyle/>
          <a:p>
            <a:r>
              <a:rPr sz="1100" b="0">
                <a:solidFill>
                  <a:srgbClr val="2E2E2E"/>
                </a:solidFill>
                <a:latin typeface="Calibri"/>
              </a:rPr>
              <a:t>● Retail Pharmacies and Drug Stores:</a:t>
            </a:r>
          </a:p>
        </p:txBody>
      </p:sp>
      <p:pic>
        <p:nvPicPr>
          <p:cNvPr id="119" name="Picture 118" descr="lock.png"/>
          <p:cNvPicPr>
            <a:picLocks noChangeAspect="1"/>
          </p:cNvPicPr>
          <p:nvPr/>
        </p:nvPicPr>
        <p:blipFill>
          <a:blip r:embed="rId19"/>
          <a:stretch>
            <a:fillRect/>
          </a:stretch>
        </p:blipFill>
        <p:spPr>
          <a:xfrm>
            <a:off x="5967057" y="4823162"/>
            <a:ext cx="128699" cy="187198"/>
          </a:xfrm>
          <a:prstGeom prst="rect">
            <a:avLst/>
          </a:prstGeom>
        </p:spPr>
      </p:pic>
      <p:sp>
        <p:nvSpPr>
          <p:cNvPr id="120" name="TextBox 119"/>
          <p:cNvSpPr txBox="1"/>
          <p:nvPr/>
        </p:nvSpPr>
        <p:spPr>
          <a:xfrm>
            <a:off x="6134553"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1" name="Picture 120" descr="lock.png"/>
          <p:cNvPicPr>
            <a:picLocks noChangeAspect="1"/>
          </p:cNvPicPr>
          <p:nvPr/>
        </p:nvPicPr>
        <p:blipFill>
          <a:blip r:embed="rId19"/>
          <a:stretch>
            <a:fillRect/>
          </a:stretch>
        </p:blipFill>
        <p:spPr>
          <a:xfrm>
            <a:off x="6994003" y="4823162"/>
            <a:ext cx="128699" cy="187198"/>
          </a:xfrm>
          <a:prstGeom prst="rect">
            <a:avLst/>
          </a:prstGeom>
        </p:spPr>
      </p:pic>
      <p:sp>
        <p:nvSpPr>
          <p:cNvPr id="122" name="TextBox 121"/>
          <p:cNvSpPr txBox="1"/>
          <p:nvPr/>
        </p:nvSpPr>
        <p:spPr>
          <a:xfrm>
            <a:off x="7161499" y="4832941"/>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23" name="TextBox 122"/>
          <p:cNvSpPr txBox="1"/>
          <p:nvPr/>
        </p:nvSpPr>
        <p:spPr>
          <a:xfrm>
            <a:off x="3838575" y="5000581"/>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24" name="TextBox 123"/>
          <p:cNvSpPr txBox="1"/>
          <p:nvPr/>
        </p:nvSpPr>
        <p:spPr>
          <a:xfrm>
            <a:off x="3838575" y="5218513"/>
            <a:ext cx="1526951" cy="186689"/>
          </a:xfrm>
          <a:prstGeom prst="rect">
            <a:avLst/>
          </a:prstGeom>
          <a:noFill/>
        </p:spPr>
        <p:txBody>
          <a:bodyPr wrap="none" lIns="0" rIns="0" tIns="0" bIns="0">
            <a:spAutoFit/>
          </a:bodyPr>
          <a:lstStyle/>
          <a:p>
            <a:r>
              <a:rPr sz="1100" b="0">
                <a:solidFill>
                  <a:srgbClr val="2E2E2E"/>
                </a:solidFill>
                <a:latin typeface="Calibri"/>
              </a:rPr>
              <a:t>● Other Offline Channels:</a:t>
            </a:r>
          </a:p>
        </p:txBody>
      </p:sp>
      <p:pic>
        <p:nvPicPr>
          <p:cNvPr id="125" name="Picture 124" descr="lock.png"/>
          <p:cNvPicPr>
            <a:picLocks noChangeAspect="1"/>
          </p:cNvPicPr>
          <p:nvPr/>
        </p:nvPicPr>
        <p:blipFill>
          <a:blip r:embed="rId19"/>
          <a:stretch>
            <a:fillRect/>
          </a:stretch>
        </p:blipFill>
        <p:spPr>
          <a:xfrm>
            <a:off x="5313578" y="5208733"/>
            <a:ext cx="128699" cy="187198"/>
          </a:xfrm>
          <a:prstGeom prst="rect">
            <a:avLst/>
          </a:prstGeom>
        </p:spPr>
      </p:pic>
      <p:sp>
        <p:nvSpPr>
          <p:cNvPr id="126" name="TextBox 125"/>
          <p:cNvSpPr txBox="1"/>
          <p:nvPr/>
        </p:nvSpPr>
        <p:spPr>
          <a:xfrm>
            <a:off x="5481074" y="521851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7" name="Picture 126" descr="lock.png"/>
          <p:cNvPicPr>
            <a:picLocks noChangeAspect="1"/>
          </p:cNvPicPr>
          <p:nvPr/>
        </p:nvPicPr>
        <p:blipFill>
          <a:blip r:embed="rId19"/>
          <a:stretch>
            <a:fillRect/>
          </a:stretch>
        </p:blipFill>
        <p:spPr>
          <a:xfrm>
            <a:off x="6340524" y="5208733"/>
            <a:ext cx="128699" cy="187198"/>
          </a:xfrm>
          <a:prstGeom prst="rect">
            <a:avLst/>
          </a:prstGeom>
        </p:spPr>
      </p:pic>
      <p:sp>
        <p:nvSpPr>
          <p:cNvPr id="128" name="TextBox 127"/>
          <p:cNvSpPr txBox="1"/>
          <p:nvPr/>
        </p:nvSpPr>
        <p:spPr>
          <a:xfrm>
            <a:off x="6508020" y="521851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29" name="TextBox 128"/>
          <p:cNvSpPr txBox="1"/>
          <p:nvPr/>
        </p:nvSpPr>
        <p:spPr>
          <a:xfrm>
            <a:off x="3838575" y="5436445"/>
            <a:ext cx="2121495" cy="186689"/>
          </a:xfrm>
          <a:prstGeom prst="rect">
            <a:avLst/>
          </a:prstGeom>
          <a:noFill/>
        </p:spPr>
        <p:txBody>
          <a:bodyPr wrap="none" lIns="0" rIns="0" tIns="0" bIns="0">
            <a:spAutoFit/>
          </a:bodyPr>
          <a:lstStyle/>
          <a:p>
            <a:r>
              <a:rPr sz="1100" b="0">
                <a:solidFill>
                  <a:srgbClr val="2E2E2E"/>
                </a:solidFill>
                <a:latin typeface="Calibri"/>
              </a:rPr>
              <a:t>● Supermarkets and Mass Retailers:</a:t>
            </a:r>
          </a:p>
        </p:txBody>
      </p:sp>
      <p:pic>
        <p:nvPicPr>
          <p:cNvPr id="130" name="Picture 129" descr="lock.png"/>
          <p:cNvPicPr>
            <a:picLocks noChangeAspect="1"/>
          </p:cNvPicPr>
          <p:nvPr/>
        </p:nvPicPr>
        <p:blipFill>
          <a:blip r:embed="rId19"/>
          <a:stretch>
            <a:fillRect/>
          </a:stretch>
        </p:blipFill>
        <p:spPr>
          <a:xfrm>
            <a:off x="5908121" y="5426665"/>
            <a:ext cx="128699" cy="187198"/>
          </a:xfrm>
          <a:prstGeom prst="rect">
            <a:avLst/>
          </a:prstGeom>
        </p:spPr>
      </p:pic>
      <p:sp>
        <p:nvSpPr>
          <p:cNvPr id="131" name="TextBox 130"/>
          <p:cNvSpPr txBox="1"/>
          <p:nvPr/>
        </p:nvSpPr>
        <p:spPr>
          <a:xfrm>
            <a:off x="6075617" y="543644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2" name="Picture 131" descr="lock.png"/>
          <p:cNvPicPr>
            <a:picLocks noChangeAspect="1"/>
          </p:cNvPicPr>
          <p:nvPr/>
        </p:nvPicPr>
        <p:blipFill>
          <a:blip r:embed="rId19"/>
          <a:stretch>
            <a:fillRect/>
          </a:stretch>
        </p:blipFill>
        <p:spPr>
          <a:xfrm>
            <a:off x="6935067" y="5426665"/>
            <a:ext cx="128699" cy="187198"/>
          </a:xfrm>
          <a:prstGeom prst="rect">
            <a:avLst/>
          </a:prstGeom>
        </p:spPr>
      </p:pic>
      <p:sp>
        <p:nvSpPr>
          <p:cNvPr id="133" name="TextBox 132"/>
          <p:cNvSpPr txBox="1"/>
          <p:nvPr/>
        </p:nvSpPr>
        <p:spPr>
          <a:xfrm>
            <a:off x="7102563" y="5436445"/>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34" name="TextBox 133"/>
          <p:cNvSpPr txBox="1"/>
          <p:nvPr/>
        </p:nvSpPr>
        <p:spPr>
          <a:xfrm>
            <a:off x="3838575" y="5604085"/>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35" name="TextBox 134"/>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Sales Channel segment is projected to grow at a</a:t>
            </a:r>
          </a:p>
        </p:txBody>
      </p:sp>
      <p:sp>
        <p:nvSpPr>
          <p:cNvPr id="136" name="TextBox 135"/>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37" name="Picture 136" descr="lock.png"/>
          <p:cNvPicPr>
            <a:picLocks noChangeAspect="1"/>
          </p:cNvPicPr>
          <p:nvPr/>
        </p:nvPicPr>
        <p:blipFill>
          <a:blip r:embed="rId19"/>
          <a:stretch>
            <a:fillRect/>
          </a:stretch>
        </p:blipFill>
        <p:spPr>
          <a:xfrm>
            <a:off x="9048826" y="6007677"/>
            <a:ext cx="134549" cy="195707"/>
          </a:xfrm>
          <a:prstGeom prst="rect">
            <a:avLst/>
          </a:prstGeom>
        </p:spPr>
      </p:pic>
      <p:sp>
        <p:nvSpPr>
          <p:cNvPr id="138" name="TextBox 137"/>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Sales Channel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Sales Channel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Sales Channel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Sales Channel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457384" cy="186689"/>
          </a:xfrm>
          <a:prstGeom prst="rect">
            <a:avLst/>
          </a:prstGeom>
          <a:noFill/>
        </p:spPr>
        <p:txBody>
          <a:bodyPr wrap="none" lIns="0" rIns="0" tIns="0" bIns="0">
            <a:spAutoFit/>
          </a:bodyPr>
          <a:lstStyle/>
          <a:p>
            <a:r>
              <a:rPr sz="1100" b="0">
                <a:solidFill>
                  <a:srgbClr val="2E2E2E"/>
                </a:solidFill>
                <a:latin typeface="Calibri"/>
              </a:rPr>
              <a:t>Other offline channels followed by online channels are expected to be the two most attractive sales channel segments in the North America ear wax removal products market in terms of value over the</a:t>
            </a:r>
          </a:p>
        </p:txBody>
      </p:sp>
      <p:sp>
        <p:nvSpPr>
          <p:cNvPr id="20" name="TextBox 19"/>
          <p:cNvSpPr txBox="1"/>
          <p:nvPr/>
        </p:nvSpPr>
        <p:spPr>
          <a:xfrm>
            <a:off x="257175" y="5861685"/>
            <a:ext cx="4794877" cy="186689"/>
          </a:xfrm>
          <a:prstGeom prst="rect">
            <a:avLst/>
          </a:prstGeom>
          <a:noFill/>
        </p:spPr>
        <p:txBody>
          <a:bodyPr wrap="none" lIns="0" rIns="0" tIns="0" bIns="0">
            <a:spAutoFit/>
          </a:bodyPr>
          <a:lstStyle/>
          <a:p>
            <a:r>
              <a:rPr sz="1100" b="0">
                <a:solidFill>
                  <a:srgbClr val="2E2E2E"/>
                </a:solidFill>
                <a:latin typeface="Calibri"/>
              </a:rPr>
              <a:t>forecast period. Other offline channels and online channels exhibit a CAGR index of</a:t>
            </a:r>
          </a:p>
        </p:txBody>
      </p:sp>
      <p:pic>
        <p:nvPicPr>
          <p:cNvPr id="21" name="Picture 20" descr="lock.png"/>
          <p:cNvPicPr>
            <a:picLocks noChangeAspect="1"/>
          </p:cNvPicPr>
          <p:nvPr/>
        </p:nvPicPr>
        <p:blipFill>
          <a:blip r:embed="rId6"/>
          <a:stretch>
            <a:fillRect/>
          </a:stretch>
        </p:blipFill>
        <p:spPr>
          <a:xfrm>
            <a:off x="5000104" y="5851905"/>
            <a:ext cx="128699" cy="187198"/>
          </a:xfrm>
          <a:prstGeom prst="rect">
            <a:avLst/>
          </a:prstGeom>
        </p:spPr>
      </p:pic>
      <p:sp>
        <p:nvSpPr>
          <p:cNvPr id="22" name="TextBox 21"/>
          <p:cNvSpPr txBox="1"/>
          <p:nvPr/>
        </p:nvSpPr>
        <p:spPr>
          <a:xfrm>
            <a:off x="5167600"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5405494" y="5851905"/>
            <a:ext cx="128699" cy="187198"/>
          </a:xfrm>
          <a:prstGeom prst="rect">
            <a:avLst/>
          </a:prstGeom>
        </p:spPr>
      </p:pic>
      <p:sp>
        <p:nvSpPr>
          <p:cNvPr id="24" name="TextBox 23"/>
          <p:cNvSpPr txBox="1"/>
          <p:nvPr/>
        </p:nvSpPr>
        <p:spPr>
          <a:xfrm>
            <a:off x="5572990"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7181963" y="5851905"/>
            <a:ext cx="128699" cy="187198"/>
          </a:xfrm>
          <a:prstGeom prst="rect">
            <a:avLst/>
          </a:prstGeom>
        </p:spPr>
      </p:pic>
      <p:sp>
        <p:nvSpPr>
          <p:cNvPr id="26" name="TextBox 25"/>
          <p:cNvSpPr txBox="1"/>
          <p:nvPr/>
        </p:nvSpPr>
        <p:spPr>
          <a:xfrm>
            <a:off x="734945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7587354" y="5851905"/>
            <a:ext cx="128699" cy="187198"/>
          </a:xfrm>
          <a:prstGeom prst="rect">
            <a:avLst/>
          </a:prstGeom>
        </p:spPr>
      </p:pic>
      <p:sp>
        <p:nvSpPr>
          <p:cNvPr id="28" name="TextBox 27"/>
          <p:cNvSpPr txBox="1"/>
          <p:nvPr/>
        </p:nvSpPr>
        <p:spPr>
          <a:xfrm>
            <a:off x="7754849"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10309254" y="5851905"/>
            <a:ext cx="128699" cy="187198"/>
          </a:xfrm>
          <a:prstGeom prst="rect">
            <a:avLst/>
          </a:prstGeom>
        </p:spPr>
      </p:pic>
      <p:sp>
        <p:nvSpPr>
          <p:cNvPr id="30" name="TextBox 29"/>
          <p:cNvSpPr txBox="1"/>
          <p:nvPr/>
        </p:nvSpPr>
        <p:spPr>
          <a:xfrm>
            <a:off x="10476749" y="5861685"/>
            <a:ext cx="830907" cy="186689"/>
          </a:xfrm>
          <a:prstGeom prst="rect">
            <a:avLst/>
          </a:prstGeom>
          <a:noFill/>
        </p:spPr>
        <p:txBody>
          <a:bodyPr wrap="none" lIns="0" rIns="0" tIns="0" bIns="0">
            <a:spAutoFit/>
          </a:bodyPr>
          <a:lstStyle/>
          <a:p>
            <a:r>
              <a:rPr sz="1100" b="0">
                <a:solidFill>
                  <a:srgbClr val="2E2E2E"/>
                </a:solidFill>
                <a:latin typeface="Calibri"/>
              </a:rPr>
              <a:t>. The medical</a:t>
            </a:r>
          </a:p>
        </p:txBody>
      </p:sp>
      <p:sp>
        <p:nvSpPr>
          <p:cNvPr id="31" name="TextBox 30"/>
          <p:cNvSpPr txBox="1"/>
          <p:nvPr/>
        </p:nvSpPr>
        <p:spPr>
          <a:xfrm>
            <a:off x="257175" y="6029325"/>
            <a:ext cx="11677650" cy="186689"/>
          </a:xfrm>
          <a:prstGeom prst="rect">
            <a:avLst/>
          </a:prstGeom>
          <a:noFill/>
        </p:spPr>
        <p:txBody>
          <a:bodyPr wrap="none" lIns="0" rIns="0" tIns="0" bIns="0">
            <a:spAutoFit/>
          </a:bodyPr>
          <a:lstStyle/>
          <a:p>
            <a:r>
              <a:rPr sz="1100" b="0">
                <a:solidFill>
                  <a:srgbClr val="2E2E2E"/>
                </a:solidFill>
                <a:latin typeface="Calibri"/>
              </a:rPr>
              <a:t>distributors and institutional procurement segment is expected to be less attractive as compared to other segments over the forecast period, owing to its lower CAGR and incremental opportunity. Bubbles</a:t>
            </a:r>
          </a:p>
        </p:txBody>
      </p:sp>
      <p:sp>
        <p:nvSpPr>
          <p:cNvPr id="32" name="TextBox 31"/>
          <p:cNvSpPr txBox="1"/>
          <p:nvPr/>
        </p:nvSpPr>
        <p:spPr>
          <a:xfrm>
            <a:off x="257175" y="6196965"/>
            <a:ext cx="3892557" cy="186689"/>
          </a:xfrm>
          <a:prstGeom prst="rect">
            <a:avLst/>
          </a:prstGeom>
          <a:noFill/>
        </p:spPr>
        <p:txBody>
          <a:bodyPr wrap="none" lIns="0" rIns="0" tIns="0" bIns="0">
            <a:spAutoFit/>
          </a:bodyPr>
          <a:lstStyle/>
          <a:p>
            <a:r>
              <a:rPr sz="1100" b="0">
                <a:solidFill>
                  <a:srgbClr val="2E2E2E"/>
                </a:solidFill>
                <a:latin typeface="Calibri"/>
              </a:rPr>
              <a:t>right of the CAGR-Index line 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Sales Channel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Sales Channel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Retail Pharmacies and Drug Stores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Supermarkets and Mass Retailers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Online Channels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Medical Distributors and Institutional Procurement</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Sales Channel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Sales Channel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Other Offline Channels</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Sales Channel</a:t>
            </a:r>
          </a:p>
        </p:txBody>
      </p:sp>
      <p:sp>
        <p:nvSpPr>
          <p:cNvPr id="15" name="Rectangle 14"/>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27556" y="3674659"/>
            <a:ext cx="395643" cy="575481"/>
          </a:xfrm>
          <a:prstGeom prst="rect">
            <a:avLst/>
          </a:prstGeom>
        </p:spPr>
      </p:pic>
      <p:sp>
        <p:nvSpPr>
          <p:cNvPr id="19" name="TextBox 18"/>
          <p:cNvSpPr txBox="1"/>
          <p:nvPr/>
        </p:nvSpPr>
        <p:spPr>
          <a:xfrm>
            <a:off x="6305550" y="1598245"/>
            <a:ext cx="4802264" cy="194310"/>
          </a:xfrm>
          <a:prstGeom prst="rect">
            <a:avLst/>
          </a:prstGeom>
          <a:noFill/>
        </p:spPr>
        <p:txBody>
          <a:bodyPr wrap="none" lIns="0" rIns="0" tIns="0" bIns="0">
            <a:spAutoFit/>
          </a:bodyPr>
          <a:lstStyle/>
          <a:p>
            <a:r>
              <a:rPr sz="1150" b="0">
                <a:solidFill>
                  <a:srgbClr val="2E2E2E"/>
                </a:solidFill>
                <a:latin typeface="Calibri"/>
              </a:rPr>
              <a:t>By 2036, other offline channels segment is anticipated to witness an increase of</a:t>
            </a:r>
          </a:p>
        </p:txBody>
      </p:sp>
      <p:pic>
        <p:nvPicPr>
          <p:cNvPr id="20" name="Picture 19" descr="lock.png"/>
          <p:cNvPicPr>
            <a:picLocks noChangeAspect="1"/>
          </p:cNvPicPr>
          <p:nvPr/>
        </p:nvPicPr>
        <p:blipFill>
          <a:blip r:embed="rId5"/>
          <a:stretch>
            <a:fillRect/>
          </a:stretch>
        </p:blipFill>
        <p:spPr>
          <a:xfrm>
            <a:off x="11056968" y="1588021"/>
            <a:ext cx="134549" cy="195707"/>
          </a:xfrm>
          <a:prstGeom prst="rect">
            <a:avLst/>
          </a:prstGeom>
        </p:spPr>
      </p:pic>
      <p:sp>
        <p:nvSpPr>
          <p:cNvPr id="21" name="TextBox 20"/>
          <p:cNvSpPr txBox="1"/>
          <p:nvPr/>
        </p:nvSpPr>
        <p:spPr>
          <a:xfrm>
            <a:off x="11232077" y="1598245"/>
            <a:ext cx="295560" cy="194310"/>
          </a:xfrm>
          <a:prstGeom prst="rect">
            <a:avLst/>
          </a:prstGeom>
          <a:noFill/>
        </p:spPr>
        <p:txBody>
          <a:bodyPr wrap="none" lIns="0" rIns="0" tIns="0" bIns="0">
            <a:spAutoFit/>
          </a:bodyPr>
          <a:lstStyle/>
          <a:p>
            <a:r>
              <a:rPr sz="1150" b="0">
                <a:solidFill>
                  <a:srgbClr val="2E2E2E"/>
                </a:solidFill>
                <a:latin typeface="Calibri"/>
              </a:rPr>
              <a:t>X in</a:t>
            </a:r>
          </a:p>
        </p:txBody>
      </p:sp>
      <p:sp>
        <p:nvSpPr>
          <p:cNvPr id="22" name="TextBox 21"/>
          <p:cNvSpPr txBox="1"/>
          <p:nvPr/>
        </p:nvSpPr>
        <p:spPr>
          <a:xfrm>
            <a:off x="6305550" y="1773505"/>
            <a:ext cx="5591175" cy="194310"/>
          </a:xfrm>
          <a:prstGeom prst="rect">
            <a:avLst/>
          </a:prstGeom>
          <a:noFill/>
        </p:spPr>
        <p:txBody>
          <a:bodyPr wrap="none" lIns="0" rIns="0" tIns="0" bIns="0">
            <a:spAutoFit/>
          </a:bodyPr>
          <a:lstStyle/>
          <a:p>
            <a:r>
              <a:rPr sz="1150" b="0">
                <a:solidFill>
                  <a:srgbClr val="2E2E2E"/>
                </a:solidFill>
                <a:latin typeface="Calibri"/>
              </a:rPr>
              <a:t>terms of value as compared to 2026. The other offline channels segment is expected to create</a:t>
            </a:r>
          </a:p>
        </p:txBody>
      </p:sp>
      <p:sp>
        <p:nvSpPr>
          <p:cNvPr id="23" name="TextBox 22"/>
          <p:cNvSpPr txBox="1"/>
          <p:nvPr/>
        </p:nvSpPr>
        <p:spPr>
          <a:xfrm>
            <a:off x="6305550" y="1948765"/>
            <a:ext cx="2136588" cy="194310"/>
          </a:xfrm>
          <a:prstGeom prst="rect">
            <a:avLst/>
          </a:prstGeom>
          <a:noFill/>
        </p:spPr>
        <p:txBody>
          <a:bodyPr wrap="none" lIns="0" rIns="0" tIns="0" bIns="0">
            <a:spAutoFit/>
          </a:bodyPr>
          <a:lstStyle/>
          <a:p>
            <a:r>
              <a:rPr sz="1150" b="0">
                <a:solidFill>
                  <a:srgbClr val="2E2E2E"/>
                </a:solidFill>
                <a:latin typeface="Calibri"/>
              </a:rPr>
              <a:t>an incremental opportunity of US$</a:t>
            </a:r>
          </a:p>
        </p:txBody>
      </p:sp>
      <p:pic>
        <p:nvPicPr>
          <p:cNvPr id="24" name="Picture 23" descr="lock.png"/>
          <p:cNvPicPr>
            <a:picLocks noChangeAspect="1"/>
          </p:cNvPicPr>
          <p:nvPr/>
        </p:nvPicPr>
        <p:blipFill>
          <a:blip r:embed="rId5"/>
          <a:stretch>
            <a:fillRect/>
          </a:stretch>
        </p:blipFill>
        <p:spPr>
          <a:xfrm>
            <a:off x="8391292" y="1938541"/>
            <a:ext cx="134549" cy="195707"/>
          </a:xfrm>
          <a:prstGeom prst="rect">
            <a:avLst/>
          </a:prstGeom>
        </p:spPr>
      </p:pic>
      <p:sp>
        <p:nvSpPr>
          <p:cNvPr id="25" name="TextBox 24"/>
          <p:cNvSpPr txBox="1"/>
          <p:nvPr/>
        </p:nvSpPr>
        <p:spPr>
          <a:xfrm>
            <a:off x="8566402" y="1948765"/>
            <a:ext cx="3188034" cy="194310"/>
          </a:xfrm>
          <a:prstGeom prst="rect">
            <a:avLst/>
          </a:prstGeom>
          <a:noFill/>
        </p:spPr>
        <p:txBody>
          <a:bodyPr wrap="none" lIns="0" rIns="0" tIns="0" bIns="0">
            <a:spAutoFit/>
          </a:bodyPr>
          <a:lstStyle/>
          <a:p>
            <a:r>
              <a:rPr sz="1150" b="0">
                <a:solidFill>
                  <a:srgbClr val="2E2E2E"/>
                </a:solidFill>
                <a:latin typeface="Calibri"/>
              </a:rPr>
              <a:t>Mn for the overall ear wax removal products market</a:t>
            </a:r>
          </a:p>
        </p:txBody>
      </p:sp>
      <p:sp>
        <p:nvSpPr>
          <p:cNvPr id="26" name="TextBox 25"/>
          <p:cNvSpPr txBox="1"/>
          <p:nvPr/>
        </p:nvSpPr>
        <p:spPr>
          <a:xfrm>
            <a:off x="6305550" y="2124025"/>
            <a:ext cx="1220923" cy="194310"/>
          </a:xfrm>
          <a:prstGeom prst="rect">
            <a:avLst/>
          </a:prstGeom>
          <a:noFill/>
        </p:spPr>
        <p:txBody>
          <a:bodyPr wrap="none" lIns="0" rIns="0" tIns="0" bIns="0">
            <a:spAutoFit/>
          </a:bodyPr>
          <a:lstStyle/>
          <a:p>
            <a:r>
              <a:rPr sz="1150" b="0">
                <a:solidFill>
                  <a:srgbClr val="2E2E2E"/>
                </a:solidFill>
                <a:latin typeface="Calibri"/>
              </a:rPr>
              <a:t>from 2026 to 2036.</a:t>
            </a:r>
          </a:p>
        </p:txBody>
      </p:sp>
      <p:sp>
        <p:nvSpPr>
          <p:cNvPr id="27" name="TextBox 26"/>
          <p:cNvSpPr txBox="1"/>
          <p:nvPr/>
        </p:nvSpPr>
        <p:spPr>
          <a:xfrm>
            <a:off x="6305550" y="2351863"/>
            <a:ext cx="5171975" cy="194310"/>
          </a:xfrm>
          <a:prstGeom prst="rect">
            <a:avLst/>
          </a:prstGeom>
          <a:noFill/>
        </p:spPr>
        <p:txBody>
          <a:bodyPr wrap="none" lIns="0" rIns="0" tIns="0" bIns="0">
            <a:spAutoFit/>
          </a:bodyPr>
          <a:lstStyle/>
          <a:p>
            <a:r>
              <a:rPr sz="1150" b="0">
                <a:solidFill>
                  <a:srgbClr val="2E2E2E"/>
                </a:solidFill>
                <a:latin typeface="Calibri"/>
              </a:rPr>
              <a:t>The online channels segment is expected to create an incremental opportunity of US$</a:t>
            </a:r>
          </a:p>
        </p:txBody>
      </p:sp>
      <p:pic>
        <p:nvPicPr>
          <p:cNvPr id="28" name="Picture 27" descr="lock.png"/>
          <p:cNvPicPr>
            <a:picLocks noChangeAspect="1"/>
          </p:cNvPicPr>
          <p:nvPr/>
        </p:nvPicPr>
        <p:blipFill>
          <a:blip r:embed="rId5"/>
          <a:stretch>
            <a:fillRect/>
          </a:stretch>
        </p:blipFill>
        <p:spPr>
          <a:xfrm>
            <a:off x="11426679" y="2341639"/>
            <a:ext cx="134549" cy="195707"/>
          </a:xfrm>
          <a:prstGeom prst="rect">
            <a:avLst/>
          </a:prstGeom>
        </p:spPr>
      </p:pic>
      <p:sp>
        <p:nvSpPr>
          <p:cNvPr id="29" name="TextBox 28"/>
          <p:cNvSpPr txBox="1"/>
          <p:nvPr/>
        </p:nvSpPr>
        <p:spPr>
          <a:xfrm>
            <a:off x="11601788" y="2351863"/>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30" name="TextBox 29"/>
          <p:cNvSpPr txBox="1"/>
          <p:nvPr/>
        </p:nvSpPr>
        <p:spPr>
          <a:xfrm>
            <a:off x="6305550" y="2527123"/>
            <a:ext cx="5447531" cy="194310"/>
          </a:xfrm>
          <a:prstGeom prst="rect">
            <a:avLst/>
          </a:prstGeom>
          <a:noFill/>
        </p:spPr>
        <p:txBody>
          <a:bodyPr wrap="none" lIns="0" rIns="0" tIns="0" bIns="0">
            <a:spAutoFit/>
          </a:bodyPr>
          <a:lstStyle/>
          <a:p>
            <a:r>
              <a:rPr sz="1150" b="0">
                <a:solidFill>
                  <a:srgbClr val="2E2E2E"/>
                </a:solidFill>
                <a:latin typeface="Calibri"/>
              </a:rPr>
              <a:t>for the overall ear wax removal products market from 2026 to 2036. The retail pharmacies</a:t>
            </a:r>
          </a:p>
        </p:txBody>
      </p:sp>
      <p:sp>
        <p:nvSpPr>
          <p:cNvPr id="31" name="TextBox 30"/>
          <p:cNvSpPr txBox="1"/>
          <p:nvPr/>
        </p:nvSpPr>
        <p:spPr>
          <a:xfrm>
            <a:off x="6305550" y="2702383"/>
            <a:ext cx="4915817" cy="194310"/>
          </a:xfrm>
          <a:prstGeom prst="rect">
            <a:avLst/>
          </a:prstGeom>
          <a:noFill/>
        </p:spPr>
        <p:txBody>
          <a:bodyPr wrap="none" lIns="0" rIns="0" tIns="0" bIns="0">
            <a:spAutoFit/>
          </a:bodyPr>
          <a:lstStyle/>
          <a:p>
            <a:r>
              <a:rPr sz="1150" b="0">
                <a:solidFill>
                  <a:srgbClr val="2E2E2E"/>
                </a:solidFill>
                <a:latin typeface="Calibri"/>
              </a:rPr>
              <a:t>and drug stores segment is expected to create an incremental opportunity of US$</a:t>
            </a:r>
          </a:p>
        </p:txBody>
      </p:sp>
      <p:pic>
        <p:nvPicPr>
          <p:cNvPr id="32" name="Picture 31" descr="lock.png"/>
          <p:cNvPicPr>
            <a:picLocks noChangeAspect="1"/>
          </p:cNvPicPr>
          <p:nvPr/>
        </p:nvPicPr>
        <p:blipFill>
          <a:blip r:embed="rId5"/>
          <a:stretch>
            <a:fillRect/>
          </a:stretch>
        </p:blipFill>
        <p:spPr>
          <a:xfrm>
            <a:off x="11170521" y="2692159"/>
            <a:ext cx="134549" cy="195707"/>
          </a:xfrm>
          <a:prstGeom prst="rect">
            <a:avLst/>
          </a:prstGeom>
        </p:spPr>
      </p:pic>
      <p:sp>
        <p:nvSpPr>
          <p:cNvPr id="33" name="TextBox 32"/>
          <p:cNvSpPr txBox="1"/>
          <p:nvPr/>
        </p:nvSpPr>
        <p:spPr>
          <a:xfrm>
            <a:off x="11345630" y="2702383"/>
            <a:ext cx="483542" cy="194310"/>
          </a:xfrm>
          <a:prstGeom prst="rect">
            <a:avLst/>
          </a:prstGeom>
          <a:noFill/>
        </p:spPr>
        <p:txBody>
          <a:bodyPr wrap="none" lIns="0" rIns="0" tIns="0" bIns="0">
            <a:spAutoFit/>
          </a:bodyPr>
          <a:lstStyle/>
          <a:p>
            <a:r>
              <a:rPr sz="1150" b="0">
                <a:solidFill>
                  <a:srgbClr val="2E2E2E"/>
                </a:solidFill>
                <a:latin typeface="Calibri"/>
              </a:rPr>
              <a:t>Mn for</a:t>
            </a:r>
          </a:p>
        </p:txBody>
      </p:sp>
      <p:sp>
        <p:nvSpPr>
          <p:cNvPr id="34" name="TextBox 33"/>
          <p:cNvSpPr txBox="1"/>
          <p:nvPr/>
        </p:nvSpPr>
        <p:spPr>
          <a:xfrm>
            <a:off x="6305550" y="2877643"/>
            <a:ext cx="3925416" cy="194310"/>
          </a:xfrm>
          <a:prstGeom prst="rect">
            <a:avLst/>
          </a:prstGeom>
          <a:noFill/>
        </p:spPr>
        <p:txBody>
          <a:bodyPr wrap="none" lIns="0" rIns="0" tIns="0" bIns="0">
            <a:spAutoFit/>
          </a:bodyPr>
          <a:lstStyle/>
          <a:p>
            <a:r>
              <a:rPr sz="1150" b="0">
                <a:solidFill>
                  <a:srgbClr val="2E2E2E"/>
                </a:solidFill>
                <a:latin typeface="Calibri"/>
              </a:rPr>
              <a:t>the overall ear wax removal products market from 2026 to 2036.</a:t>
            </a:r>
          </a:p>
        </p:txBody>
      </p:sp>
      <p:sp>
        <p:nvSpPr>
          <p:cNvPr id="35"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Sales Channel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Sales Channel, 2021–2036, highlighting the sub-segments driving growth</a:t>
            </a:r>
          </a:p>
        </p:txBody>
      </p:sp>
      <p:sp>
        <p:nvSpPr>
          <p:cNvPr id="10" name="Rounded Rectangle 9"/>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Sales Channel (US$ Mn)</a:t>
            </a:r>
          </a:p>
        </p:txBody>
      </p:sp>
      <p:graphicFrame>
        <p:nvGraphicFramePr>
          <p:cNvPr id="12" name="Table 11"/>
          <p:cNvGraphicFramePr>
            <a:graphicFrameLocks noGrp="1"/>
          </p:cNvGraphicFramePr>
          <p:nvPr/>
        </p:nvGraphicFramePr>
        <p:xfrm>
          <a:off x="152400" y="1238250"/>
          <a:ext cx="11887194" cy="1724028"/>
        </p:xfrm>
        <a:graphic>
          <a:graphicData uri="http://schemas.openxmlformats.org/drawingml/2006/table">
            <a:tbl>
              <a:tblPr>
                <a:tableStyleId>{5C22544A-7EE6-4342-B048-85BDC9FD1C3A}</a:tableStyleId>
              </a:tblPr>
              <a:tblGrid>
                <a:gridCol w="3345513"/>
                <a:gridCol w="513086"/>
                <a:gridCol w="513086"/>
                <a:gridCol w="513086"/>
                <a:gridCol w="513086"/>
                <a:gridCol w="513086"/>
                <a:gridCol w="495012"/>
                <a:gridCol w="489848"/>
                <a:gridCol w="489848"/>
                <a:gridCol w="489848"/>
                <a:gridCol w="489848"/>
                <a:gridCol w="489848"/>
                <a:gridCol w="489848"/>
                <a:gridCol w="489848"/>
                <a:gridCol w="489848"/>
                <a:gridCol w="489848"/>
                <a:gridCol w="489848"/>
                <a:gridCol w="582759"/>
              </a:tblGrid>
              <a:tr h="246126">
                <a:tc>
                  <a:txBody>
                    <a:bodyPr wrap="none"/>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7">
                <a:tc>
                  <a:txBody>
                    <a:bodyPr wrap="none"/>
                    <a:lstStyle/>
                    <a:p>
                      <a:pPr algn="l"/>
                      <a:r>
                        <a:rPr sz="1100" b="1">
                          <a:solidFill>
                            <a:srgbClr val="2E2E2E"/>
                          </a:solidFill>
                          <a:latin typeface="Calibri"/>
                        </a:rPr>
                        <a:t>Retail Pharmacies and Drug Stores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Supermarkets and Mass 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Online Channels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Medical Distributors and Institutional Procurement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Other Offline Channels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Sales Channel</a:t>
            </a:r>
          </a:p>
        </p:txBody>
      </p:sp>
      <p:sp>
        <p:nvSpPr>
          <p:cNvPr id="16" name="Rectangle 15"/>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582063" y="1956627"/>
            <a:ext cx="366712" cy="533399"/>
          </a:xfrm>
          <a:prstGeom prst="rect">
            <a:avLst/>
          </a:prstGeom>
        </p:spPr>
      </p:pic>
      <p:sp>
        <p:nvSpPr>
          <p:cNvPr id="20" name="TextBox 19"/>
          <p:cNvSpPr txBox="1"/>
          <p:nvPr/>
        </p:nvSpPr>
        <p:spPr>
          <a:xfrm>
            <a:off x="276225" y="3724275"/>
            <a:ext cx="2950133" cy="194310"/>
          </a:xfrm>
          <a:prstGeom prst="rect">
            <a:avLst/>
          </a:prstGeom>
          <a:noFill/>
        </p:spPr>
        <p:txBody>
          <a:bodyPr wrap="none" lIns="0" rIns="0" tIns="0" bIns="0">
            <a:spAutoFit/>
          </a:bodyPr>
          <a:lstStyle/>
          <a:p>
            <a:r>
              <a:rPr sz="1150" b="0">
                <a:solidFill>
                  <a:srgbClr val="2E2E2E"/>
                </a:solidFill>
                <a:latin typeface="Calibri"/>
              </a:rPr>
              <a:t>Online channels segment is projected to register</a:t>
            </a:r>
          </a:p>
        </p:txBody>
      </p:sp>
      <p:pic>
        <p:nvPicPr>
          <p:cNvPr id="21" name="Picture 20" descr="lock.png"/>
          <p:cNvPicPr>
            <a:picLocks noChangeAspect="1"/>
          </p:cNvPicPr>
          <p:nvPr/>
        </p:nvPicPr>
        <p:blipFill>
          <a:blip r:embed="rId4"/>
          <a:stretch>
            <a:fillRect/>
          </a:stretch>
        </p:blipFill>
        <p:spPr>
          <a:xfrm>
            <a:off x="3175512" y="3714051"/>
            <a:ext cx="134549" cy="195707"/>
          </a:xfrm>
          <a:prstGeom prst="rect">
            <a:avLst/>
          </a:prstGeom>
        </p:spPr>
      </p:pic>
      <p:sp>
        <p:nvSpPr>
          <p:cNvPr id="22" name="TextBox 21"/>
          <p:cNvSpPr txBox="1"/>
          <p:nvPr/>
        </p:nvSpPr>
        <p:spPr>
          <a:xfrm>
            <a:off x="3350621" y="3724275"/>
            <a:ext cx="8018524" cy="194310"/>
          </a:xfrm>
          <a:prstGeom prst="rect">
            <a:avLst/>
          </a:prstGeom>
          <a:noFill/>
        </p:spPr>
        <p:txBody>
          <a:bodyPr wrap="none" lIns="0" rIns="0" tIns="0" bIns="0">
            <a:spAutoFit/>
          </a:bodyPr>
          <a:lstStyle/>
          <a:p>
            <a:r>
              <a:rPr sz="1150" b="0">
                <a:solidFill>
                  <a:srgbClr val="2E2E2E"/>
                </a:solidFill>
                <a:latin typeface="Calibri"/>
              </a:rPr>
              <a:t>X higher value than other offline channels segment in 2036. Among ear wax removal products by sales channel, other offline channels</a:t>
            </a:r>
          </a:p>
        </p:txBody>
      </p:sp>
      <p:sp>
        <p:nvSpPr>
          <p:cNvPr id="23" name="TextBox 22"/>
          <p:cNvSpPr txBox="1"/>
          <p:nvPr/>
        </p:nvSpPr>
        <p:spPr>
          <a:xfrm>
            <a:off x="276225" y="38995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24" name="Picture 23" descr="lock.png"/>
          <p:cNvPicPr>
            <a:picLocks noChangeAspect="1"/>
          </p:cNvPicPr>
          <p:nvPr/>
        </p:nvPicPr>
        <p:blipFill>
          <a:blip r:embed="rId4"/>
          <a:stretch>
            <a:fillRect/>
          </a:stretch>
        </p:blipFill>
        <p:spPr>
          <a:xfrm>
            <a:off x="3382018" y="3889311"/>
            <a:ext cx="134549" cy="195707"/>
          </a:xfrm>
          <a:prstGeom prst="rect">
            <a:avLst/>
          </a:prstGeom>
        </p:spPr>
      </p:pic>
      <p:sp>
        <p:nvSpPr>
          <p:cNvPr id="25" name="TextBox 24"/>
          <p:cNvSpPr txBox="1"/>
          <p:nvPr/>
        </p:nvSpPr>
        <p:spPr>
          <a:xfrm>
            <a:off x="3557127"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127372"/>
            <a:ext cx="6789365" cy="194310"/>
          </a:xfrm>
          <a:prstGeom prst="rect">
            <a:avLst/>
          </a:prstGeom>
          <a:noFill/>
        </p:spPr>
        <p:txBody>
          <a:bodyPr wrap="none" lIns="0" rIns="0" tIns="0" bIns="0">
            <a:spAutoFit/>
          </a:bodyPr>
          <a:lstStyle/>
          <a:p>
            <a:r>
              <a:rPr sz="1150" b="0">
                <a:solidFill>
                  <a:srgbClr val="2E2E2E"/>
                </a:solidFill>
                <a:latin typeface="Calibri"/>
              </a:rPr>
              <a:t>In terms of value share by sales channel, the online channels segment is expected to dominate the market, losing</a:t>
            </a:r>
          </a:p>
        </p:txBody>
      </p:sp>
      <p:pic>
        <p:nvPicPr>
          <p:cNvPr id="27" name="Picture 26" descr="lock.png"/>
          <p:cNvPicPr>
            <a:picLocks noChangeAspect="1"/>
          </p:cNvPicPr>
          <p:nvPr/>
        </p:nvPicPr>
        <p:blipFill>
          <a:blip r:embed="rId4"/>
          <a:stretch>
            <a:fillRect/>
          </a:stretch>
        </p:blipFill>
        <p:spPr>
          <a:xfrm>
            <a:off x="7014744" y="4117149"/>
            <a:ext cx="134549" cy="195707"/>
          </a:xfrm>
          <a:prstGeom prst="rect">
            <a:avLst/>
          </a:prstGeom>
        </p:spPr>
      </p:pic>
      <p:sp>
        <p:nvSpPr>
          <p:cNvPr id="28" name="TextBox 27"/>
          <p:cNvSpPr txBox="1"/>
          <p:nvPr/>
        </p:nvSpPr>
        <p:spPr>
          <a:xfrm>
            <a:off x="7189853"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584996" y="4117149"/>
            <a:ext cx="134549" cy="195707"/>
          </a:xfrm>
          <a:prstGeom prst="rect">
            <a:avLst/>
          </a:prstGeom>
        </p:spPr>
      </p:pic>
      <p:sp>
        <p:nvSpPr>
          <p:cNvPr id="30" name="TextBox 29"/>
          <p:cNvSpPr txBox="1"/>
          <p:nvPr/>
        </p:nvSpPr>
        <p:spPr>
          <a:xfrm>
            <a:off x="8760106" y="4127372"/>
            <a:ext cx="2676859" cy="194310"/>
          </a:xfrm>
          <a:prstGeom prst="rect">
            <a:avLst/>
          </a:prstGeom>
          <a:noFill/>
        </p:spPr>
        <p:txBody>
          <a:bodyPr wrap="none" lIns="0" rIns="0" tIns="0" bIns="0">
            <a:spAutoFit/>
          </a:bodyPr>
          <a:lstStyle/>
          <a:p>
            <a:r>
              <a:rPr sz="1150" b="0">
                <a:solidFill>
                  <a:srgbClr val="2E2E2E"/>
                </a:solidFill>
                <a:latin typeface="Calibri"/>
              </a:rPr>
              <a:t>share by 2036. The medical distributors and</a:t>
            </a:r>
          </a:p>
        </p:txBody>
      </p:sp>
      <p:sp>
        <p:nvSpPr>
          <p:cNvPr id="31" name="TextBox 30"/>
          <p:cNvSpPr txBox="1"/>
          <p:nvPr/>
        </p:nvSpPr>
        <p:spPr>
          <a:xfrm>
            <a:off x="276225" y="4302632"/>
            <a:ext cx="3290155" cy="194310"/>
          </a:xfrm>
          <a:prstGeom prst="rect">
            <a:avLst/>
          </a:prstGeom>
          <a:noFill/>
        </p:spPr>
        <p:txBody>
          <a:bodyPr wrap="none" lIns="0" rIns="0" tIns="0" bIns="0">
            <a:spAutoFit/>
          </a:bodyPr>
          <a:lstStyle/>
          <a:p>
            <a:r>
              <a:rPr sz="1150" b="0">
                <a:solidFill>
                  <a:srgbClr val="2E2E2E"/>
                </a:solidFill>
                <a:latin typeface="Calibri"/>
              </a:rPr>
              <a:t>institutional procurement segment is expected to lose</a:t>
            </a:r>
          </a:p>
        </p:txBody>
      </p:sp>
      <p:pic>
        <p:nvPicPr>
          <p:cNvPr id="32" name="Picture 31" descr="lock.png"/>
          <p:cNvPicPr>
            <a:picLocks noChangeAspect="1"/>
          </p:cNvPicPr>
          <p:nvPr/>
        </p:nvPicPr>
        <p:blipFill>
          <a:blip r:embed="rId4"/>
          <a:stretch>
            <a:fillRect/>
          </a:stretch>
        </p:blipFill>
        <p:spPr>
          <a:xfrm>
            <a:off x="3515534" y="4292409"/>
            <a:ext cx="134549" cy="195707"/>
          </a:xfrm>
          <a:prstGeom prst="rect">
            <a:avLst/>
          </a:prstGeom>
        </p:spPr>
      </p:pic>
      <p:sp>
        <p:nvSpPr>
          <p:cNvPr id="33" name="TextBox 32"/>
          <p:cNvSpPr txBox="1"/>
          <p:nvPr/>
        </p:nvSpPr>
        <p:spPr>
          <a:xfrm>
            <a:off x="3690643"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6278148" y="4292409"/>
            <a:ext cx="134549" cy="195707"/>
          </a:xfrm>
          <a:prstGeom prst="rect">
            <a:avLst/>
          </a:prstGeom>
        </p:spPr>
      </p:pic>
      <p:sp>
        <p:nvSpPr>
          <p:cNvPr id="35" name="TextBox 34"/>
          <p:cNvSpPr txBox="1"/>
          <p:nvPr/>
        </p:nvSpPr>
        <p:spPr>
          <a:xfrm>
            <a:off x="6453257"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Sales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Sales Channel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Sales Channel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905215"/>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190045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82425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Supermarkets and Mass Retailers</a:t>
            </a:r>
          </a:p>
        </p:txBody>
      </p:sp>
      <p:sp>
        <p:nvSpPr>
          <p:cNvPr id="18" name="BPS Value 1"/>
          <p:cNvSpPr txBox="1"/>
          <p:nvPr/>
        </p:nvSpPr>
        <p:spPr>
          <a:xfrm>
            <a:off x="6896100" y="188616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2553804"/>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54904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47284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Medical Distributors and Institutional Procurement</a:t>
            </a:r>
          </a:p>
        </p:txBody>
      </p:sp>
      <p:sp>
        <p:nvSpPr>
          <p:cNvPr id="22" name="BPS Value 2"/>
          <p:cNvSpPr txBox="1"/>
          <p:nvPr/>
        </p:nvSpPr>
        <p:spPr>
          <a:xfrm>
            <a:off x="6896100" y="253475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3446597"/>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344183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336563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Retail Pharmacies and Drug Stores</a:t>
            </a:r>
          </a:p>
        </p:txBody>
      </p:sp>
      <p:sp>
        <p:nvSpPr>
          <p:cNvPr id="26" name="BPS Value 3"/>
          <p:cNvSpPr txBox="1"/>
          <p:nvPr/>
        </p:nvSpPr>
        <p:spPr>
          <a:xfrm>
            <a:off x="6896100" y="342754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4501571"/>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449680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442060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Offline Channels</a:t>
            </a:r>
          </a:p>
        </p:txBody>
      </p:sp>
      <p:sp>
        <p:nvSpPr>
          <p:cNvPr id="30" name="BPS Value 4"/>
          <p:cNvSpPr txBox="1"/>
          <p:nvPr/>
        </p:nvSpPr>
        <p:spPr>
          <a:xfrm>
            <a:off x="6896100" y="448252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928997" y="5661010"/>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5090922" y="565624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558004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Online Channels</a:t>
            </a:r>
          </a:p>
        </p:txBody>
      </p:sp>
      <p:sp>
        <p:nvSpPr>
          <p:cNvPr id="34" name="BPS Value 5"/>
          <p:cNvSpPr txBox="1"/>
          <p:nvPr/>
        </p:nvSpPr>
        <p:spPr>
          <a:xfrm>
            <a:off x="6896100" y="564196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Rounded Rectangle 34"/>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Sales Channel</a:t>
            </a:r>
          </a:p>
        </p:txBody>
      </p:sp>
      <p:sp>
        <p:nvSpPr>
          <p:cNvPr id="37" name="Rectangle 36"/>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9" name="TextBox 3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0" name="Picture 39" descr="lock.png"/>
          <p:cNvPicPr>
            <a:picLocks noChangeAspect="1"/>
          </p:cNvPicPr>
          <p:nvPr/>
        </p:nvPicPr>
        <p:blipFill>
          <a:blip r:embed="rId5"/>
          <a:stretch>
            <a:fillRect/>
          </a:stretch>
        </p:blipFill>
        <p:spPr>
          <a:xfrm>
            <a:off x="2557843" y="3833622"/>
            <a:ext cx="275034" cy="400050"/>
          </a:xfrm>
          <a:prstGeom prst="rect">
            <a:avLst/>
          </a:prstGeom>
        </p:spPr>
      </p:pic>
      <p:sp>
        <p:nvSpPr>
          <p:cNvPr id="41" name="TextBox 40"/>
          <p:cNvSpPr txBox="1"/>
          <p:nvPr/>
        </p:nvSpPr>
        <p:spPr>
          <a:xfrm>
            <a:off x="7829550" y="1400175"/>
            <a:ext cx="3889759" cy="194310"/>
          </a:xfrm>
          <a:prstGeom prst="rect">
            <a:avLst/>
          </a:prstGeom>
          <a:noFill/>
        </p:spPr>
        <p:txBody>
          <a:bodyPr wrap="none" lIns="0" rIns="0" tIns="0" bIns="0">
            <a:spAutoFit/>
          </a:bodyPr>
          <a:lstStyle/>
          <a:p>
            <a:r>
              <a:rPr sz="1150" b="0">
                <a:solidFill>
                  <a:srgbClr val="2E2E2E"/>
                </a:solidFill>
                <a:latin typeface="Calibri"/>
              </a:rPr>
              <a:t>Among ear wax removal products by sales channel, other offline</a:t>
            </a:r>
          </a:p>
        </p:txBody>
      </p:sp>
      <p:sp>
        <p:nvSpPr>
          <p:cNvPr id="42" name="TextBox 41"/>
          <p:cNvSpPr txBox="1"/>
          <p:nvPr/>
        </p:nvSpPr>
        <p:spPr>
          <a:xfrm>
            <a:off x="7829550" y="1575435"/>
            <a:ext cx="3715166" cy="194310"/>
          </a:xfrm>
          <a:prstGeom prst="rect">
            <a:avLst/>
          </a:prstGeom>
          <a:noFill/>
        </p:spPr>
        <p:txBody>
          <a:bodyPr wrap="none" lIns="0" rIns="0" tIns="0" bIns="0">
            <a:spAutoFit/>
          </a:bodyPr>
          <a:lstStyle/>
          <a:p>
            <a:r>
              <a:rPr sz="1150" b="0">
                <a:solidFill>
                  <a:srgbClr val="2E2E2E"/>
                </a:solidFill>
                <a:latin typeface="Calibri"/>
              </a:rPr>
              <a:t>channels segment is expected to witness the highest CAGR of</a:t>
            </a:r>
          </a:p>
        </p:txBody>
      </p:sp>
      <p:pic>
        <p:nvPicPr>
          <p:cNvPr id="43" name="Picture 42" descr="lock.png"/>
          <p:cNvPicPr>
            <a:picLocks noChangeAspect="1"/>
          </p:cNvPicPr>
          <p:nvPr/>
        </p:nvPicPr>
        <p:blipFill>
          <a:blip r:embed="rId5"/>
          <a:stretch>
            <a:fillRect/>
          </a:stretch>
        </p:blipFill>
        <p:spPr>
          <a:xfrm>
            <a:off x="11493870" y="1565211"/>
            <a:ext cx="134549" cy="195707"/>
          </a:xfrm>
          <a:prstGeom prst="rect">
            <a:avLst/>
          </a:prstGeom>
        </p:spPr>
      </p:pic>
      <p:sp>
        <p:nvSpPr>
          <p:cNvPr id="44" name="TextBox 43"/>
          <p:cNvSpPr txBox="1"/>
          <p:nvPr/>
        </p:nvSpPr>
        <p:spPr>
          <a:xfrm>
            <a:off x="7829550" y="1750695"/>
            <a:ext cx="3979614"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sales channel,</a:t>
            </a:r>
          </a:p>
        </p:txBody>
      </p:sp>
      <p:sp>
        <p:nvSpPr>
          <p:cNvPr id="45" name="TextBox 44"/>
          <p:cNvSpPr txBox="1"/>
          <p:nvPr/>
        </p:nvSpPr>
        <p:spPr>
          <a:xfrm>
            <a:off x="7829550" y="1925955"/>
            <a:ext cx="3978473" cy="194310"/>
          </a:xfrm>
          <a:prstGeom prst="rect">
            <a:avLst/>
          </a:prstGeom>
          <a:noFill/>
        </p:spPr>
        <p:txBody>
          <a:bodyPr wrap="none" lIns="0" rIns="0" tIns="0" bIns="0">
            <a:spAutoFit/>
          </a:bodyPr>
          <a:lstStyle/>
          <a:p>
            <a:r>
              <a:rPr sz="1150" b="0">
                <a:solidFill>
                  <a:srgbClr val="2E2E2E"/>
                </a:solidFill>
                <a:latin typeface="Calibri"/>
              </a:rPr>
              <a:t>the online channels segment is expected to dominate the market,</a:t>
            </a:r>
          </a:p>
        </p:txBody>
      </p:sp>
      <p:sp>
        <p:nvSpPr>
          <p:cNvPr id="46" name="TextBox 45"/>
          <p:cNvSpPr txBox="1"/>
          <p:nvPr/>
        </p:nvSpPr>
        <p:spPr>
          <a:xfrm>
            <a:off x="7829550" y="2101215"/>
            <a:ext cx="423068" cy="194310"/>
          </a:xfrm>
          <a:prstGeom prst="rect">
            <a:avLst/>
          </a:prstGeom>
          <a:noFill/>
        </p:spPr>
        <p:txBody>
          <a:bodyPr wrap="none" lIns="0" rIns="0" tIns="0" bIns="0">
            <a:spAutoFit/>
          </a:bodyPr>
          <a:lstStyle/>
          <a:p>
            <a:r>
              <a:rPr sz="1150" b="0">
                <a:solidFill>
                  <a:srgbClr val="2E2E2E"/>
                </a:solidFill>
                <a:latin typeface="Calibri"/>
              </a:rPr>
              <a:t>losing</a:t>
            </a:r>
          </a:p>
        </p:txBody>
      </p:sp>
      <p:pic>
        <p:nvPicPr>
          <p:cNvPr id="47" name="Picture 46" descr="lock.png"/>
          <p:cNvPicPr>
            <a:picLocks noChangeAspect="1"/>
          </p:cNvPicPr>
          <p:nvPr/>
        </p:nvPicPr>
        <p:blipFill>
          <a:blip r:embed="rId5"/>
          <a:stretch>
            <a:fillRect/>
          </a:stretch>
        </p:blipFill>
        <p:spPr>
          <a:xfrm>
            <a:off x="8201772" y="2090991"/>
            <a:ext cx="134549" cy="195707"/>
          </a:xfrm>
          <a:prstGeom prst="rect">
            <a:avLst/>
          </a:prstGeom>
        </p:spPr>
      </p:pic>
      <p:sp>
        <p:nvSpPr>
          <p:cNvPr id="48" name="TextBox 47"/>
          <p:cNvSpPr txBox="1"/>
          <p:nvPr/>
        </p:nvSpPr>
        <p:spPr>
          <a:xfrm>
            <a:off x="8376881"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9" name="Picture 48" descr="lock.png"/>
          <p:cNvPicPr>
            <a:picLocks noChangeAspect="1"/>
          </p:cNvPicPr>
          <p:nvPr/>
        </p:nvPicPr>
        <p:blipFill>
          <a:blip r:embed="rId5"/>
          <a:stretch>
            <a:fillRect/>
          </a:stretch>
        </p:blipFill>
        <p:spPr>
          <a:xfrm>
            <a:off x="9772025" y="2090991"/>
            <a:ext cx="134549" cy="195707"/>
          </a:xfrm>
          <a:prstGeom prst="rect">
            <a:avLst/>
          </a:prstGeom>
        </p:spPr>
      </p:pic>
      <p:sp>
        <p:nvSpPr>
          <p:cNvPr id="50" name="TextBox 49"/>
          <p:cNvSpPr txBox="1"/>
          <p:nvPr/>
        </p:nvSpPr>
        <p:spPr>
          <a:xfrm>
            <a:off x="9947134"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1" name="TextBox 50"/>
          <p:cNvSpPr txBox="1"/>
          <p:nvPr/>
        </p:nvSpPr>
        <p:spPr>
          <a:xfrm>
            <a:off x="7829550" y="2329053"/>
            <a:ext cx="4008995" cy="194310"/>
          </a:xfrm>
          <a:prstGeom prst="rect">
            <a:avLst/>
          </a:prstGeom>
          <a:noFill/>
        </p:spPr>
        <p:txBody>
          <a:bodyPr wrap="none" lIns="0" rIns="0" tIns="0" bIns="0">
            <a:spAutoFit/>
          </a:bodyPr>
          <a:lstStyle/>
          <a:p>
            <a:r>
              <a:rPr sz="1150" b="0">
                <a:solidFill>
                  <a:srgbClr val="2E2E2E"/>
                </a:solidFill>
                <a:latin typeface="Calibri"/>
              </a:rPr>
              <a:t>The medical distributors and institutional procurement segment is</a:t>
            </a:r>
          </a:p>
        </p:txBody>
      </p:sp>
      <p:sp>
        <p:nvSpPr>
          <p:cNvPr id="52" name="TextBox 51"/>
          <p:cNvSpPr txBox="1"/>
          <p:nvPr/>
        </p:nvSpPr>
        <p:spPr>
          <a:xfrm>
            <a:off x="7829550" y="2504313"/>
            <a:ext cx="1054906" cy="194310"/>
          </a:xfrm>
          <a:prstGeom prst="rect">
            <a:avLst/>
          </a:prstGeom>
          <a:noFill/>
        </p:spPr>
        <p:txBody>
          <a:bodyPr wrap="none" lIns="0" rIns="0" tIns="0" bIns="0">
            <a:spAutoFit/>
          </a:bodyPr>
          <a:lstStyle/>
          <a:p>
            <a:r>
              <a:rPr sz="1150" b="0">
                <a:solidFill>
                  <a:srgbClr val="2E2E2E"/>
                </a:solidFill>
                <a:latin typeface="Calibri"/>
              </a:rPr>
              <a:t>expected to lose</a:t>
            </a:r>
          </a:p>
        </p:txBody>
      </p:sp>
      <p:pic>
        <p:nvPicPr>
          <p:cNvPr id="53" name="Picture 52" descr="lock.png"/>
          <p:cNvPicPr>
            <a:picLocks noChangeAspect="1"/>
          </p:cNvPicPr>
          <p:nvPr/>
        </p:nvPicPr>
        <p:blipFill>
          <a:blip r:embed="rId5"/>
          <a:stretch>
            <a:fillRect/>
          </a:stretch>
        </p:blipFill>
        <p:spPr>
          <a:xfrm>
            <a:off x="8833610" y="2494089"/>
            <a:ext cx="134549" cy="195707"/>
          </a:xfrm>
          <a:prstGeom prst="rect">
            <a:avLst/>
          </a:prstGeom>
        </p:spPr>
      </p:pic>
      <p:sp>
        <p:nvSpPr>
          <p:cNvPr id="54" name="TextBox 53"/>
          <p:cNvSpPr txBox="1"/>
          <p:nvPr/>
        </p:nvSpPr>
        <p:spPr>
          <a:xfrm>
            <a:off x="9008719" y="250431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55" name="Picture 54" descr="lock.png"/>
          <p:cNvPicPr>
            <a:picLocks noChangeAspect="1"/>
          </p:cNvPicPr>
          <p:nvPr/>
        </p:nvPicPr>
        <p:blipFill>
          <a:blip r:embed="rId5"/>
          <a:stretch>
            <a:fillRect/>
          </a:stretch>
        </p:blipFill>
        <p:spPr>
          <a:xfrm>
            <a:off x="7815470" y="2669349"/>
            <a:ext cx="134549" cy="195707"/>
          </a:xfrm>
          <a:prstGeom prst="rect">
            <a:avLst/>
          </a:prstGeom>
        </p:spPr>
      </p:pic>
      <p:sp>
        <p:nvSpPr>
          <p:cNvPr id="56" name="TextBox 55"/>
          <p:cNvSpPr txBox="1"/>
          <p:nvPr/>
        </p:nvSpPr>
        <p:spPr>
          <a:xfrm>
            <a:off x="7990579"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7"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Age Group</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Age Group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Age Group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Age Group,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Age Group segment categorizes the market by age group.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Paediatric</a:t>
            </a:r>
          </a:p>
        </p:txBody>
      </p:sp>
      <p:sp>
        <p:nvSpPr>
          <p:cNvPr id="22" name="Rectangle 21"/>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Adult</a:t>
            </a:r>
          </a:p>
        </p:txBody>
      </p:sp>
      <p:sp>
        <p:nvSpPr>
          <p:cNvPr id="29" name="Rectangle 28"/>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Geriatric</a:t>
            </a:r>
          </a:p>
        </p:txBody>
      </p:sp>
      <p:sp>
        <p:nvSpPr>
          <p:cNvPr id="36" name="Rectangle 35"/>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2" name="Rectangle 41"/>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4" name="Rounded Rectangle 4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6" name="Rectangle 45"/>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8" name="Rounded Rectangle 4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0" name="Rectangle 49"/>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Age Group split shows how demand is distributed across age group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2" name="Rectangle 5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4" name="TextBox 5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5" name="TextBox 5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6" name="Picture 55" descr="431_3_605E5C.png"/>
          <p:cNvPicPr>
            <a:picLocks noChangeAspect="1"/>
          </p:cNvPicPr>
          <p:nvPr/>
        </p:nvPicPr>
        <p:blipFill>
          <a:blip r:embed="rId4"/>
          <a:stretch>
            <a:fillRect/>
          </a:stretch>
        </p:blipFill>
        <p:spPr>
          <a:xfrm>
            <a:off x="2897811" y="2286582"/>
            <a:ext cx="1195728" cy="361950"/>
          </a:xfrm>
          <a:prstGeom prst="rect">
            <a:avLst/>
          </a:prstGeom>
        </p:spPr>
      </p:pic>
      <p:pic>
        <p:nvPicPr>
          <p:cNvPr id="57" name="Picture 56" descr="707_8_605E5C.png"/>
          <p:cNvPicPr>
            <a:picLocks noChangeAspect="1"/>
          </p:cNvPicPr>
          <p:nvPr/>
        </p:nvPicPr>
        <p:blipFill>
          <a:blip r:embed="rId5"/>
          <a:stretch>
            <a:fillRect/>
          </a:stretch>
        </p:blipFill>
        <p:spPr>
          <a:xfrm>
            <a:off x="2897811" y="2779432"/>
            <a:ext cx="1195728" cy="361950"/>
          </a:xfrm>
          <a:prstGeom prst="rect">
            <a:avLst/>
          </a:prstGeom>
        </p:spPr>
      </p:pic>
      <p:pic>
        <p:nvPicPr>
          <p:cNvPr id="58" name="Picture 57" descr="5_1__605E5C.png"/>
          <p:cNvPicPr>
            <a:picLocks noChangeAspect="1"/>
          </p:cNvPicPr>
          <p:nvPr/>
        </p:nvPicPr>
        <p:blipFill>
          <a:blip r:embed="rId6"/>
          <a:stretch>
            <a:fillRect/>
          </a:stretch>
        </p:blipFill>
        <p:spPr>
          <a:xfrm>
            <a:off x="3004457" y="3272281"/>
            <a:ext cx="982436" cy="361950"/>
          </a:xfrm>
          <a:prstGeom prst="rect">
            <a:avLst/>
          </a:prstGeom>
        </p:spPr>
      </p:pic>
      <p:pic>
        <p:nvPicPr>
          <p:cNvPr id="59" name="Picture 58" descr="140_7_605E5C.png"/>
          <p:cNvPicPr>
            <a:picLocks noChangeAspect="1"/>
          </p:cNvPicPr>
          <p:nvPr/>
        </p:nvPicPr>
        <p:blipFill>
          <a:blip r:embed="rId7"/>
          <a:stretch>
            <a:fillRect/>
          </a:stretch>
        </p:blipFill>
        <p:spPr>
          <a:xfrm>
            <a:off x="6269661" y="2286582"/>
            <a:ext cx="1195728" cy="361950"/>
          </a:xfrm>
          <a:prstGeom prst="rect">
            <a:avLst/>
          </a:prstGeom>
        </p:spPr>
      </p:pic>
      <p:pic>
        <p:nvPicPr>
          <p:cNvPr id="60" name="Picture 59" descr="231_2_605E5C.png"/>
          <p:cNvPicPr>
            <a:picLocks noChangeAspect="1"/>
          </p:cNvPicPr>
          <p:nvPr/>
        </p:nvPicPr>
        <p:blipFill>
          <a:blip r:embed="rId8"/>
          <a:stretch>
            <a:fillRect/>
          </a:stretch>
        </p:blipFill>
        <p:spPr>
          <a:xfrm>
            <a:off x="6269661" y="2779432"/>
            <a:ext cx="1195728" cy="361950"/>
          </a:xfrm>
          <a:prstGeom prst="rect">
            <a:avLst/>
          </a:prstGeom>
        </p:spPr>
      </p:pic>
      <p:pic>
        <p:nvPicPr>
          <p:cNvPr id="61" name="Picture 60" descr="5_1__605E5C.png"/>
          <p:cNvPicPr>
            <a:picLocks noChangeAspect="1"/>
          </p:cNvPicPr>
          <p:nvPr/>
        </p:nvPicPr>
        <p:blipFill>
          <a:blip r:embed="rId6"/>
          <a:stretch>
            <a:fillRect/>
          </a:stretch>
        </p:blipFill>
        <p:spPr>
          <a:xfrm>
            <a:off x="6376307" y="3272281"/>
            <a:ext cx="982436" cy="361950"/>
          </a:xfrm>
          <a:prstGeom prst="rect">
            <a:avLst/>
          </a:prstGeom>
        </p:spPr>
      </p:pic>
      <p:pic>
        <p:nvPicPr>
          <p:cNvPr id="62" name="Picture 61" descr="124_3_605E5C.png"/>
          <p:cNvPicPr>
            <a:picLocks noChangeAspect="1"/>
          </p:cNvPicPr>
          <p:nvPr/>
        </p:nvPicPr>
        <p:blipFill>
          <a:blip r:embed="rId9"/>
          <a:stretch>
            <a:fillRect/>
          </a:stretch>
        </p:blipFill>
        <p:spPr>
          <a:xfrm>
            <a:off x="9641511" y="2286582"/>
            <a:ext cx="1195728" cy="361950"/>
          </a:xfrm>
          <a:prstGeom prst="rect">
            <a:avLst/>
          </a:prstGeom>
        </p:spPr>
      </p:pic>
      <p:pic>
        <p:nvPicPr>
          <p:cNvPr id="63" name="Picture 62" descr="152_0_605E5C.png"/>
          <p:cNvPicPr>
            <a:picLocks noChangeAspect="1"/>
          </p:cNvPicPr>
          <p:nvPr/>
        </p:nvPicPr>
        <p:blipFill>
          <a:blip r:embed="rId10"/>
          <a:stretch>
            <a:fillRect/>
          </a:stretch>
        </p:blipFill>
        <p:spPr>
          <a:xfrm>
            <a:off x="9641511" y="2779432"/>
            <a:ext cx="1195728" cy="361950"/>
          </a:xfrm>
          <a:prstGeom prst="rect">
            <a:avLst/>
          </a:prstGeom>
        </p:spPr>
      </p:pic>
      <p:pic>
        <p:nvPicPr>
          <p:cNvPr id="64" name="Picture 63" descr="2_0__605E5C.png"/>
          <p:cNvPicPr>
            <a:picLocks noChangeAspect="1"/>
          </p:cNvPicPr>
          <p:nvPr/>
        </p:nvPicPr>
        <p:blipFill>
          <a:blip r:embed="rId11"/>
          <a:stretch>
            <a:fillRect/>
          </a:stretch>
        </p:blipFill>
        <p:spPr>
          <a:xfrm>
            <a:off x="9748157" y="3272281"/>
            <a:ext cx="982436" cy="361950"/>
          </a:xfrm>
          <a:prstGeom prst="rect">
            <a:avLst/>
          </a:prstGeom>
        </p:spPr>
      </p:pic>
      <p:pic>
        <p:nvPicPr>
          <p:cNvPr id="65" name="Picture 64" descr="lock.png"/>
          <p:cNvPicPr>
            <a:picLocks noChangeAspect="1"/>
          </p:cNvPicPr>
          <p:nvPr/>
        </p:nvPicPr>
        <p:blipFill>
          <a:blip r:embed="rId12"/>
          <a:stretch>
            <a:fillRect/>
          </a:stretch>
        </p:blipFill>
        <p:spPr>
          <a:xfrm>
            <a:off x="3402330" y="2827057"/>
            <a:ext cx="183356" cy="266700"/>
          </a:xfrm>
          <a:prstGeom prst="rect">
            <a:avLst/>
          </a:prstGeom>
        </p:spPr>
      </p:pic>
      <p:pic>
        <p:nvPicPr>
          <p:cNvPr id="66" name="Picture 65" descr="lock.png"/>
          <p:cNvPicPr>
            <a:picLocks noChangeAspect="1"/>
          </p:cNvPicPr>
          <p:nvPr/>
        </p:nvPicPr>
        <p:blipFill>
          <a:blip r:embed="rId12"/>
          <a:stretch>
            <a:fillRect/>
          </a:stretch>
        </p:blipFill>
        <p:spPr>
          <a:xfrm>
            <a:off x="6774180" y="2827057"/>
            <a:ext cx="183356" cy="266700"/>
          </a:xfrm>
          <a:prstGeom prst="rect">
            <a:avLst/>
          </a:prstGeom>
        </p:spPr>
      </p:pic>
      <p:pic>
        <p:nvPicPr>
          <p:cNvPr id="67" name="Picture 66" descr="lock.png"/>
          <p:cNvPicPr>
            <a:picLocks noChangeAspect="1"/>
          </p:cNvPicPr>
          <p:nvPr/>
        </p:nvPicPr>
        <p:blipFill>
          <a:blip r:embed="rId12"/>
          <a:stretch>
            <a:fillRect/>
          </a:stretch>
        </p:blipFill>
        <p:spPr>
          <a:xfrm>
            <a:off x="10146030" y="2827057"/>
            <a:ext cx="183356" cy="266700"/>
          </a:xfrm>
          <a:prstGeom prst="rect">
            <a:avLst/>
          </a:prstGeom>
        </p:spPr>
      </p:pic>
      <p:sp>
        <p:nvSpPr>
          <p:cNvPr id="68" name="TextBox 67"/>
          <p:cNvSpPr txBox="1"/>
          <p:nvPr/>
        </p:nvSpPr>
        <p:spPr>
          <a:xfrm>
            <a:off x="485775" y="4229437"/>
            <a:ext cx="2793528" cy="186689"/>
          </a:xfrm>
          <a:prstGeom prst="rect">
            <a:avLst/>
          </a:prstGeom>
          <a:noFill/>
        </p:spPr>
        <p:txBody>
          <a:bodyPr wrap="none" lIns="0" rIns="0" tIns="0" bIns="0">
            <a:spAutoFit/>
          </a:bodyPr>
          <a:lstStyle/>
          <a:p>
            <a:r>
              <a:rPr sz="1100" b="0">
                <a:solidFill>
                  <a:srgbClr val="2E2E2E"/>
                </a:solidFill>
                <a:latin typeface="Calibri"/>
              </a:rPr>
              <a:t>Among ear wax removal products by age group,</a:t>
            </a:r>
          </a:p>
        </p:txBody>
      </p:sp>
      <p:sp>
        <p:nvSpPr>
          <p:cNvPr id="69" name="TextBox 68"/>
          <p:cNvSpPr txBox="1"/>
          <p:nvPr/>
        </p:nvSpPr>
        <p:spPr>
          <a:xfrm>
            <a:off x="485775" y="4397077"/>
            <a:ext cx="2848371" cy="186689"/>
          </a:xfrm>
          <a:prstGeom prst="rect">
            <a:avLst/>
          </a:prstGeom>
          <a:noFill/>
        </p:spPr>
        <p:txBody>
          <a:bodyPr wrap="none" lIns="0" rIns="0" tIns="0" bIns="0">
            <a:spAutoFit/>
          </a:bodyPr>
          <a:lstStyle/>
          <a:p>
            <a:r>
              <a:rPr sz="1100" b="0">
                <a:solidFill>
                  <a:srgbClr val="2E2E2E"/>
                </a:solidFill>
                <a:latin typeface="Calibri"/>
              </a:rPr>
              <a:t>adult segment is expected to witness the highest</a:t>
            </a:r>
          </a:p>
        </p:txBody>
      </p:sp>
      <p:sp>
        <p:nvSpPr>
          <p:cNvPr id="70" name="TextBox 69"/>
          <p:cNvSpPr txBox="1"/>
          <p:nvPr/>
        </p:nvSpPr>
        <p:spPr>
          <a:xfrm>
            <a:off x="485775" y="4564717"/>
            <a:ext cx="543304" cy="186689"/>
          </a:xfrm>
          <a:prstGeom prst="rect">
            <a:avLst/>
          </a:prstGeom>
          <a:noFill/>
        </p:spPr>
        <p:txBody>
          <a:bodyPr wrap="none" lIns="0" rIns="0" tIns="0" bIns="0">
            <a:spAutoFit/>
          </a:bodyPr>
          <a:lstStyle/>
          <a:p>
            <a:r>
              <a:rPr sz="1100" b="0">
                <a:solidFill>
                  <a:srgbClr val="2E2E2E"/>
                </a:solidFill>
                <a:latin typeface="Calibri"/>
              </a:rPr>
              <a:t>CAGR of</a:t>
            </a:r>
          </a:p>
        </p:txBody>
      </p:sp>
      <p:pic>
        <p:nvPicPr>
          <p:cNvPr id="71" name="Picture 70" descr="lock.png"/>
          <p:cNvPicPr>
            <a:picLocks noChangeAspect="1"/>
          </p:cNvPicPr>
          <p:nvPr/>
        </p:nvPicPr>
        <p:blipFill>
          <a:blip r:embed="rId12"/>
          <a:stretch>
            <a:fillRect/>
          </a:stretch>
        </p:blipFill>
        <p:spPr>
          <a:xfrm>
            <a:off x="977131" y="4554938"/>
            <a:ext cx="128699" cy="187198"/>
          </a:xfrm>
          <a:prstGeom prst="rect">
            <a:avLst/>
          </a:prstGeom>
        </p:spPr>
      </p:pic>
      <p:sp>
        <p:nvSpPr>
          <p:cNvPr id="72" name="TextBox 71"/>
          <p:cNvSpPr txBox="1"/>
          <p:nvPr/>
        </p:nvSpPr>
        <p:spPr>
          <a:xfrm>
            <a:off x="1144627" y="4564717"/>
            <a:ext cx="2135956" cy="186689"/>
          </a:xfrm>
          <a:prstGeom prst="rect">
            <a:avLst/>
          </a:prstGeom>
          <a:noFill/>
        </p:spPr>
        <p:txBody>
          <a:bodyPr wrap="none" lIns="0" rIns="0" tIns="0" bIns="0">
            <a:spAutoFit/>
          </a:bodyPr>
          <a:lstStyle/>
          <a:p>
            <a:r>
              <a:rPr sz="1100" b="0">
                <a:solidFill>
                  <a:srgbClr val="2E2E2E"/>
                </a:solidFill>
                <a:latin typeface="Calibri"/>
              </a:rPr>
              <a:t>over the forecast period. In terms of</a:t>
            </a:r>
          </a:p>
        </p:txBody>
      </p:sp>
      <p:sp>
        <p:nvSpPr>
          <p:cNvPr id="73" name="TextBox 72"/>
          <p:cNvSpPr txBox="1"/>
          <p:nvPr/>
        </p:nvSpPr>
        <p:spPr>
          <a:xfrm>
            <a:off x="485775" y="4732357"/>
            <a:ext cx="2875657" cy="186689"/>
          </a:xfrm>
          <a:prstGeom prst="rect">
            <a:avLst/>
          </a:prstGeom>
          <a:noFill/>
        </p:spPr>
        <p:txBody>
          <a:bodyPr wrap="none" lIns="0" rIns="0" tIns="0" bIns="0">
            <a:spAutoFit/>
          </a:bodyPr>
          <a:lstStyle/>
          <a:p>
            <a:r>
              <a:rPr sz="1100" b="0">
                <a:solidFill>
                  <a:srgbClr val="2E2E2E"/>
                </a:solidFill>
                <a:latin typeface="Calibri"/>
              </a:rPr>
              <a:t>value share by age group, the paediatric segment</a:t>
            </a:r>
          </a:p>
        </p:txBody>
      </p:sp>
      <p:sp>
        <p:nvSpPr>
          <p:cNvPr id="74" name="TextBox 73"/>
          <p:cNvSpPr txBox="1"/>
          <p:nvPr/>
        </p:nvSpPr>
        <p:spPr>
          <a:xfrm>
            <a:off x="485775" y="4899997"/>
            <a:ext cx="2585070" cy="186689"/>
          </a:xfrm>
          <a:prstGeom prst="rect">
            <a:avLst/>
          </a:prstGeom>
          <a:noFill/>
        </p:spPr>
        <p:txBody>
          <a:bodyPr wrap="none" lIns="0" rIns="0" tIns="0" bIns="0">
            <a:spAutoFit/>
          </a:bodyPr>
          <a:lstStyle/>
          <a:p>
            <a:r>
              <a:rPr sz="1100" b="0">
                <a:solidFill>
                  <a:srgbClr val="2E2E2E"/>
                </a:solidFill>
                <a:latin typeface="Calibri"/>
              </a:rPr>
              <a:t>is expected to dominate the market, gaining</a:t>
            </a:r>
          </a:p>
        </p:txBody>
      </p:sp>
      <p:pic>
        <p:nvPicPr>
          <p:cNvPr id="75" name="Picture 74" descr="lock.png"/>
          <p:cNvPicPr>
            <a:picLocks noChangeAspect="1"/>
          </p:cNvPicPr>
          <p:nvPr/>
        </p:nvPicPr>
        <p:blipFill>
          <a:blip r:embed="rId12"/>
          <a:stretch>
            <a:fillRect/>
          </a:stretch>
        </p:blipFill>
        <p:spPr>
          <a:xfrm>
            <a:off x="3018896" y="4890217"/>
            <a:ext cx="128699" cy="187198"/>
          </a:xfrm>
          <a:prstGeom prst="rect">
            <a:avLst/>
          </a:prstGeom>
        </p:spPr>
      </p:pic>
      <p:sp>
        <p:nvSpPr>
          <p:cNvPr id="76" name="TextBox 75"/>
          <p:cNvSpPr txBox="1"/>
          <p:nvPr/>
        </p:nvSpPr>
        <p:spPr>
          <a:xfrm>
            <a:off x="485775"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77" name="Picture 76" descr="lock.png"/>
          <p:cNvPicPr>
            <a:picLocks noChangeAspect="1"/>
          </p:cNvPicPr>
          <p:nvPr/>
        </p:nvPicPr>
        <p:blipFill>
          <a:blip r:embed="rId12"/>
          <a:stretch>
            <a:fillRect/>
          </a:stretch>
        </p:blipFill>
        <p:spPr>
          <a:xfrm>
            <a:off x="1820259" y="5057858"/>
            <a:ext cx="128699" cy="187198"/>
          </a:xfrm>
          <a:prstGeom prst="rect">
            <a:avLst/>
          </a:prstGeom>
        </p:spPr>
      </p:pic>
      <p:sp>
        <p:nvSpPr>
          <p:cNvPr id="78" name="TextBox 77"/>
          <p:cNvSpPr txBox="1"/>
          <p:nvPr/>
        </p:nvSpPr>
        <p:spPr>
          <a:xfrm>
            <a:off x="1987755"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79" name="TextBox 78"/>
          <p:cNvSpPr txBox="1"/>
          <p:nvPr/>
        </p:nvSpPr>
        <p:spPr>
          <a:xfrm>
            <a:off x="485775" y="5285569"/>
            <a:ext cx="2486025" cy="186689"/>
          </a:xfrm>
          <a:prstGeom prst="rect">
            <a:avLst/>
          </a:prstGeom>
          <a:noFill/>
        </p:spPr>
        <p:txBody>
          <a:bodyPr wrap="none" lIns="0" rIns="0" tIns="0" bIns="0">
            <a:spAutoFit/>
          </a:bodyPr>
          <a:lstStyle/>
          <a:p>
            <a:r>
              <a:rPr sz="1100" b="0">
                <a:solidFill>
                  <a:srgbClr val="2E2E2E"/>
                </a:solidFill>
                <a:latin typeface="Calibri"/>
              </a:rPr>
              <a:t>Paediatric segment is projected to register</a:t>
            </a:r>
          </a:p>
        </p:txBody>
      </p:sp>
      <p:pic>
        <p:nvPicPr>
          <p:cNvPr id="80" name="Picture 79" descr="lock.png"/>
          <p:cNvPicPr>
            <a:picLocks noChangeAspect="1"/>
          </p:cNvPicPr>
          <p:nvPr/>
        </p:nvPicPr>
        <p:blipFill>
          <a:blip r:embed="rId12"/>
          <a:stretch>
            <a:fillRect/>
          </a:stretch>
        </p:blipFill>
        <p:spPr>
          <a:xfrm>
            <a:off x="2919851" y="5275790"/>
            <a:ext cx="128699" cy="187198"/>
          </a:xfrm>
          <a:prstGeom prst="rect">
            <a:avLst/>
          </a:prstGeom>
        </p:spPr>
      </p:pic>
      <p:sp>
        <p:nvSpPr>
          <p:cNvPr id="81" name="TextBox 80"/>
          <p:cNvSpPr txBox="1"/>
          <p:nvPr/>
        </p:nvSpPr>
        <p:spPr>
          <a:xfrm>
            <a:off x="3087347" y="528556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82" name="TextBox 81"/>
          <p:cNvSpPr txBox="1"/>
          <p:nvPr/>
        </p:nvSpPr>
        <p:spPr>
          <a:xfrm>
            <a:off x="485775" y="5453209"/>
            <a:ext cx="2403623" cy="186689"/>
          </a:xfrm>
          <a:prstGeom prst="rect">
            <a:avLst/>
          </a:prstGeom>
          <a:noFill/>
        </p:spPr>
        <p:txBody>
          <a:bodyPr wrap="none" lIns="0" rIns="0" tIns="0" bIns="0">
            <a:spAutoFit/>
          </a:bodyPr>
          <a:lstStyle/>
          <a:p>
            <a:r>
              <a:rPr sz="1100" b="0">
                <a:solidFill>
                  <a:srgbClr val="2E2E2E"/>
                </a:solidFill>
                <a:latin typeface="Calibri"/>
              </a:rPr>
              <a:t>higher value than adult segment in 2036.</a:t>
            </a:r>
          </a:p>
        </p:txBody>
      </p:sp>
      <p:sp>
        <p:nvSpPr>
          <p:cNvPr id="83" name="TextBox 82"/>
          <p:cNvSpPr txBox="1"/>
          <p:nvPr/>
        </p:nvSpPr>
        <p:spPr>
          <a:xfrm>
            <a:off x="3838575" y="4229437"/>
            <a:ext cx="797892" cy="186689"/>
          </a:xfrm>
          <a:prstGeom prst="rect">
            <a:avLst/>
          </a:prstGeom>
          <a:noFill/>
        </p:spPr>
        <p:txBody>
          <a:bodyPr wrap="none" lIns="0" rIns="0" tIns="0" bIns="0">
            <a:spAutoFit/>
          </a:bodyPr>
          <a:lstStyle/>
          <a:p>
            <a:r>
              <a:rPr sz="1100" b="0">
                <a:solidFill>
                  <a:srgbClr val="2E2E2E"/>
                </a:solidFill>
                <a:latin typeface="Calibri"/>
              </a:rPr>
              <a:t>● Paediatric:</a:t>
            </a:r>
          </a:p>
        </p:txBody>
      </p:sp>
      <p:pic>
        <p:nvPicPr>
          <p:cNvPr id="84" name="Picture 83" descr="lock.png"/>
          <p:cNvPicPr>
            <a:picLocks noChangeAspect="1"/>
          </p:cNvPicPr>
          <p:nvPr/>
        </p:nvPicPr>
        <p:blipFill>
          <a:blip r:embed="rId12"/>
          <a:stretch>
            <a:fillRect/>
          </a:stretch>
        </p:blipFill>
        <p:spPr>
          <a:xfrm>
            <a:off x="4584518" y="4219658"/>
            <a:ext cx="128699" cy="187198"/>
          </a:xfrm>
          <a:prstGeom prst="rect">
            <a:avLst/>
          </a:prstGeom>
        </p:spPr>
      </p:pic>
      <p:sp>
        <p:nvSpPr>
          <p:cNvPr id="85" name="TextBox 84"/>
          <p:cNvSpPr txBox="1"/>
          <p:nvPr/>
        </p:nvSpPr>
        <p:spPr>
          <a:xfrm>
            <a:off x="4752014"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6" name="Picture 85" descr="lock.png"/>
          <p:cNvPicPr>
            <a:picLocks noChangeAspect="1"/>
          </p:cNvPicPr>
          <p:nvPr/>
        </p:nvPicPr>
        <p:blipFill>
          <a:blip r:embed="rId12"/>
          <a:stretch>
            <a:fillRect/>
          </a:stretch>
        </p:blipFill>
        <p:spPr>
          <a:xfrm>
            <a:off x="5611465" y="4219658"/>
            <a:ext cx="128699" cy="187198"/>
          </a:xfrm>
          <a:prstGeom prst="rect">
            <a:avLst/>
          </a:prstGeom>
        </p:spPr>
      </p:pic>
      <p:sp>
        <p:nvSpPr>
          <p:cNvPr id="87" name="TextBox 86"/>
          <p:cNvSpPr txBox="1"/>
          <p:nvPr/>
        </p:nvSpPr>
        <p:spPr>
          <a:xfrm>
            <a:off x="5778960"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88" name="TextBox 87"/>
          <p:cNvSpPr txBox="1"/>
          <p:nvPr/>
        </p:nvSpPr>
        <p:spPr>
          <a:xfrm>
            <a:off x="3838575" y="4447369"/>
            <a:ext cx="536227" cy="186689"/>
          </a:xfrm>
          <a:prstGeom prst="rect">
            <a:avLst/>
          </a:prstGeom>
          <a:noFill/>
        </p:spPr>
        <p:txBody>
          <a:bodyPr wrap="none" lIns="0" rIns="0" tIns="0" bIns="0">
            <a:spAutoFit/>
          </a:bodyPr>
          <a:lstStyle/>
          <a:p>
            <a:r>
              <a:rPr sz="1100" b="0">
                <a:solidFill>
                  <a:srgbClr val="2E2E2E"/>
                </a:solidFill>
                <a:latin typeface="Calibri"/>
              </a:rPr>
              <a:t>● Adult:</a:t>
            </a:r>
          </a:p>
        </p:txBody>
      </p:sp>
      <p:pic>
        <p:nvPicPr>
          <p:cNvPr id="89" name="Picture 88" descr="lock.png"/>
          <p:cNvPicPr>
            <a:picLocks noChangeAspect="1"/>
          </p:cNvPicPr>
          <p:nvPr/>
        </p:nvPicPr>
        <p:blipFill>
          <a:blip r:embed="rId12"/>
          <a:stretch>
            <a:fillRect/>
          </a:stretch>
        </p:blipFill>
        <p:spPr>
          <a:xfrm>
            <a:off x="4322854" y="4437590"/>
            <a:ext cx="128699" cy="187198"/>
          </a:xfrm>
          <a:prstGeom prst="rect">
            <a:avLst/>
          </a:prstGeom>
        </p:spPr>
      </p:pic>
      <p:sp>
        <p:nvSpPr>
          <p:cNvPr id="90" name="TextBox 89"/>
          <p:cNvSpPr txBox="1"/>
          <p:nvPr/>
        </p:nvSpPr>
        <p:spPr>
          <a:xfrm>
            <a:off x="4490350"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1" name="Picture 90" descr="lock.png"/>
          <p:cNvPicPr>
            <a:picLocks noChangeAspect="1"/>
          </p:cNvPicPr>
          <p:nvPr/>
        </p:nvPicPr>
        <p:blipFill>
          <a:blip r:embed="rId12"/>
          <a:stretch>
            <a:fillRect/>
          </a:stretch>
        </p:blipFill>
        <p:spPr>
          <a:xfrm>
            <a:off x="5349800" y="4437590"/>
            <a:ext cx="128699" cy="187198"/>
          </a:xfrm>
          <a:prstGeom prst="rect">
            <a:avLst/>
          </a:prstGeom>
        </p:spPr>
      </p:pic>
      <p:sp>
        <p:nvSpPr>
          <p:cNvPr id="92" name="TextBox 91"/>
          <p:cNvSpPr txBox="1"/>
          <p:nvPr/>
        </p:nvSpPr>
        <p:spPr>
          <a:xfrm>
            <a:off x="5517296"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93" name="TextBox 92"/>
          <p:cNvSpPr txBox="1"/>
          <p:nvPr/>
        </p:nvSpPr>
        <p:spPr>
          <a:xfrm>
            <a:off x="3838575" y="4665301"/>
            <a:ext cx="722312" cy="186689"/>
          </a:xfrm>
          <a:prstGeom prst="rect">
            <a:avLst/>
          </a:prstGeom>
          <a:noFill/>
        </p:spPr>
        <p:txBody>
          <a:bodyPr wrap="none" lIns="0" rIns="0" tIns="0" bIns="0">
            <a:spAutoFit/>
          </a:bodyPr>
          <a:lstStyle/>
          <a:p>
            <a:r>
              <a:rPr sz="1100" b="0">
                <a:solidFill>
                  <a:srgbClr val="2E2E2E"/>
                </a:solidFill>
                <a:latin typeface="Calibri"/>
              </a:rPr>
              <a:t>● Geriatric:</a:t>
            </a:r>
          </a:p>
        </p:txBody>
      </p:sp>
      <p:pic>
        <p:nvPicPr>
          <p:cNvPr id="94" name="Picture 93" descr="lock.png"/>
          <p:cNvPicPr>
            <a:picLocks noChangeAspect="1"/>
          </p:cNvPicPr>
          <p:nvPr/>
        </p:nvPicPr>
        <p:blipFill>
          <a:blip r:embed="rId12"/>
          <a:stretch>
            <a:fillRect/>
          </a:stretch>
        </p:blipFill>
        <p:spPr>
          <a:xfrm>
            <a:off x="4508939" y="4655522"/>
            <a:ext cx="128699" cy="187198"/>
          </a:xfrm>
          <a:prstGeom prst="rect">
            <a:avLst/>
          </a:prstGeom>
        </p:spPr>
      </p:pic>
      <p:sp>
        <p:nvSpPr>
          <p:cNvPr id="95" name="TextBox 94"/>
          <p:cNvSpPr txBox="1"/>
          <p:nvPr/>
        </p:nvSpPr>
        <p:spPr>
          <a:xfrm>
            <a:off x="4676434"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6" name="Picture 95" descr="lock.png"/>
          <p:cNvPicPr>
            <a:picLocks noChangeAspect="1"/>
          </p:cNvPicPr>
          <p:nvPr/>
        </p:nvPicPr>
        <p:blipFill>
          <a:blip r:embed="rId12"/>
          <a:stretch>
            <a:fillRect/>
          </a:stretch>
        </p:blipFill>
        <p:spPr>
          <a:xfrm>
            <a:off x="5535885" y="4655522"/>
            <a:ext cx="128699" cy="187198"/>
          </a:xfrm>
          <a:prstGeom prst="rect">
            <a:avLst/>
          </a:prstGeom>
        </p:spPr>
      </p:pic>
      <p:sp>
        <p:nvSpPr>
          <p:cNvPr id="97" name="TextBox 96"/>
          <p:cNvSpPr txBox="1"/>
          <p:nvPr/>
        </p:nvSpPr>
        <p:spPr>
          <a:xfrm>
            <a:off x="5703380"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98" name="TextBox 97"/>
          <p:cNvSpPr txBox="1"/>
          <p:nvPr/>
        </p:nvSpPr>
        <p:spPr>
          <a:xfrm>
            <a:off x="8524875" y="5842641"/>
            <a:ext cx="3043696" cy="194310"/>
          </a:xfrm>
          <a:prstGeom prst="rect">
            <a:avLst/>
          </a:prstGeom>
          <a:noFill/>
        </p:spPr>
        <p:txBody>
          <a:bodyPr wrap="none" lIns="0" rIns="0" tIns="0" bIns="0">
            <a:spAutoFit/>
          </a:bodyPr>
          <a:lstStyle/>
          <a:p>
            <a:r>
              <a:rPr sz="1150" b="1">
                <a:solidFill>
                  <a:srgbClr val="0B2E4A"/>
                </a:solidFill>
                <a:latin typeface="Calibri"/>
              </a:rPr>
              <a:t>The Age Group segment is projected to grow at a</a:t>
            </a:r>
          </a:p>
        </p:txBody>
      </p:sp>
      <p:sp>
        <p:nvSpPr>
          <p:cNvPr id="99" name="TextBox 98"/>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00" name="Picture 99" descr="lock.png"/>
          <p:cNvPicPr>
            <a:picLocks noChangeAspect="1"/>
          </p:cNvPicPr>
          <p:nvPr/>
        </p:nvPicPr>
        <p:blipFill>
          <a:blip r:embed="rId12"/>
          <a:stretch>
            <a:fillRect/>
          </a:stretch>
        </p:blipFill>
        <p:spPr>
          <a:xfrm>
            <a:off x="9048826" y="6007677"/>
            <a:ext cx="134549" cy="195707"/>
          </a:xfrm>
          <a:prstGeom prst="rect">
            <a:avLst/>
          </a:prstGeom>
        </p:spPr>
      </p:pic>
      <p:sp>
        <p:nvSpPr>
          <p:cNvPr id="101" name="TextBox 100"/>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Age Group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Age Group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Age Group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Age Group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509771" cy="186689"/>
          </a:xfrm>
          <a:prstGeom prst="rect">
            <a:avLst/>
          </a:prstGeom>
          <a:noFill/>
        </p:spPr>
        <p:txBody>
          <a:bodyPr wrap="none" lIns="0" rIns="0" tIns="0" bIns="0">
            <a:spAutoFit/>
          </a:bodyPr>
          <a:lstStyle/>
          <a:p>
            <a:r>
              <a:rPr sz="1100" b="0">
                <a:solidFill>
                  <a:srgbClr val="2E2E2E"/>
                </a:solidFill>
                <a:latin typeface="Calibri"/>
              </a:rPr>
              <a:t>Paediatric followed by adult are expected to be the two most attractive age group segments in the North America ear wax removal products market in terms of value over the forecast period. Paediatric</a:t>
            </a:r>
          </a:p>
        </p:txBody>
      </p:sp>
      <p:sp>
        <p:nvSpPr>
          <p:cNvPr id="20" name="TextBox 19"/>
          <p:cNvSpPr txBox="1"/>
          <p:nvPr/>
        </p:nvSpPr>
        <p:spPr>
          <a:xfrm>
            <a:off x="257175" y="5945505"/>
            <a:ext cx="1972228" cy="186689"/>
          </a:xfrm>
          <a:prstGeom prst="rect">
            <a:avLst/>
          </a:prstGeom>
          <a:noFill/>
        </p:spPr>
        <p:txBody>
          <a:bodyPr wrap="none" lIns="0" rIns="0" tIns="0" bIns="0">
            <a:spAutoFit/>
          </a:bodyPr>
          <a:lstStyle/>
          <a:p>
            <a:r>
              <a:rPr sz="1100" b="0">
                <a:solidFill>
                  <a:srgbClr val="2E2E2E"/>
                </a:solidFill>
                <a:latin typeface="Calibri"/>
              </a:rPr>
              <a:t>and adult exhibit a CAGR index of</a:t>
            </a:r>
          </a:p>
        </p:txBody>
      </p:sp>
      <p:pic>
        <p:nvPicPr>
          <p:cNvPr id="21" name="Picture 20" descr="lock.png"/>
          <p:cNvPicPr>
            <a:picLocks noChangeAspect="1"/>
          </p:cNvPicPr>
          <p:nvPr/>
        </p:nvPicPr>
        <p:blipFill>
          <a:blip r:embed="rId6"/>
          <a:stretch>
            <a:fillRect/>
          </a:stretch>
        </p:blipFill>
        <p:spPr>
          <a:xfrm>
            <a:off x="2177455" y="5935726"/>
            <a:ext cx="128699" cy="187198"/>
          </a:xfrm>
          <a:prstGeom prst="rect">
            <a:avLst/>
          </a:prstGeom>
        </p:spPr>
      </p:pic>
      <p:sp>
        <p:nvSpPr>
          <p:cNvPr id="22" name="TextBox 21"/>
          <p:cNvSpPr txBox="1"/>
          <p:nvPr/>
        </p:nvSpPr>
        <p:spPr>
          <a:xfrm>
            <a:off x="2344950"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2582845" y="5935726"/>
            <a:ext cx="128699" cy="187198"/>
          </a:xfrm>
          <a:prstGeom prst="rect">
            <a:avLst/>
          </a:prstGeom>
        </p:spPr>
      </p:pic>
      <p:sp>
        <p:nvSpPr>
          <p:cNvPr id="24" name="TextBox 23"/>
          <p:cNvSpPr txBox="1"/>
          <p:nvPr/>
        </p:nvSpPr>
        <p:spPr>
          <a:xfrm>
            <a:off x="2750341"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4359314" y="5935726"/>
            <a:ext cx="128699" cy="187198"/>
          </a:xfrm>
          <a:prstGeom prst="rect">
            <a:avLst/>
          </a:prstGeom>
        </p:spPr>
      </p:pic>
      <p:sp>
        <p:nvSpPr>
          <p:cNvPr id="26" name="TextBox 25"/>
          <p:cNvSpPr txBox="1"/>
          <p:nvPr/>
        </p:nvSpPr>
        <p:spPr>
          <a:xfrm>
            <a:off x="4526810"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4764704" y="5935726"/>
            <a:ext cx="128699" cy="187198"/>
          </a:xfrm>
          <a:prstGeom prst="rect">
            <a:avLst/>
          </a:prstGeom>
        </p:spPr>
      </p:pic>
      <p:sp>
        <p:nvSpPr>
          <p:cNvPr id="28" name="TextBox 27"/>
          <p:cNvSpPr txBox="1"/>
          <p:nvPr/>
        </p:nvSpPr>
        <p:spPr>
          <a:xfrm>
            <a:off x="4932200"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7486604" y="5935726"/>
            <a:ext cx="128699" cy="187198"/>
          </a:xfrm>
          <a:prstGeom prst="rect">
            <a:avLst/>
          </a:prstGeom>
        </p:spPr>
      </p:pic>
      <p:sp>
        <p:nvSpPr>
          <p:cNvPr id="30" name="TextBox 29"/>
          <p:cNvSpPr txBox="1"/>
          <p:nvPr/>
        </p:nvSpPr>
        <p:spPr>
          <a:xfrm>
            <a:off x="7654100" y="5945505"/>
            <a:ext cx="3353147" cy="186689"/>
          </a:xfrm>
          <a:prstGeom prst="rect">
            <a:avLst/>
          </a:prstGeom>
          <a:noFill/>
        </p:spPr>
        <p:txBody>
          <a:bodyPr wrap="none" lIns="0" rIns="0" tIns="0" bIns="0">
            <a:spAutoFit/>
          </a:bodyPr>
          <a:lstStyle/>
          <a:p>
            <a:r>
              <a:rPr sz="1100" b="0">
                <a:solidFill>
                  <a:srgbClr val="2E2E2E"/>
                </a:solidFill>
                <a:latin typeface="Calibri"/>
              </a:rPr>
              <a:t>. The geriatric segment is expected to be less attractive as</a:t>
            </a:r>
          </a:p>
        </p:txBody>
      </p:sp>
      <p:sp>
        <p:nvSpPr>
          <p:cNvPr id="31" name="TextBox 30"/>
          <p:cNvSpPr txBox="1"/>
          <p:nvPr/>
        </p:nvSpPr>
        <p:spPr>
          <a:xfrm>
            <a:off x="257175" y="6113145"/>
            <a:ext cx="10606326" cy="186689"/>
          </a:xfrm>
          <a:prstGeom prst="rect">
            <a:avLst/>
          </a:prstGeom>
          <a:noFill/>
        </p:spPr>
        <p:txBody>
          <a:bodyPr wrap="none" lIns="0" rIns="0" tIns="0" bIns="0">
            <a:spAutoFit/>
          </a:bodyPr>
          <a:lstStyle/>
          <a:p>
            <a:r>
              <a:rPr sz="1100" b="0">
                <a:solidFill>
                  <a:srgbClr val="2E2E2E"/>
                </a:solidFill>
                <a:latin typeface="Calibri"/>
              </a:rPr>
              <a:t>compared to other segments over 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Age Group</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Age Group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Paediatric</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Adult</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Geriatric</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Age Group</a:t>
            </a:r>
          </a:p>
        </p:txBody>
      </p:sp>
      <p:sp>
        <p:nvSpPr>
          <p:cNvPr id="21" name="Rectangle 20"/>
          <p:cNvSpPr/>
          <p:nvPr/>
        </p:nvSpPr>
        <p:spPr>
          <a:xfrm>
            <a:off x="6305550" y="438907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7"/>
          <a:stretch>
            <a:fillRect/>
          </a:stretch>
        </p:blipFill>
        <p:spPr>
          <a:xfrm>
            <a:off x="3094826" y="2237234"/>
            <a:ext cx="263506" cy="383281"/>
          </a:xfrm>
          <a:prstGeom prst="rect">
            <a:avLst/>
          </a:prstGeom>
        </p:spPr>
      </p:pic>
      <p:pic>
        <p:nvPicPr>
          <p:cNvPr id="25" name="Picture 24" descr="lock.png"/>
          <p:cNvPicPr>
            <a:picLocks noChangeAspect="1"/>
          </p:cNvPicPr>
          <p:nvPr/>
        </p:nvPicPr>
        <p:blipFill>
          <a:blip r:embed="rId7"/>
          <a:stretch>
            <a:fillRect/>
          </a:stretch>
        </p:blipFill>
        <p:spPr>
          <a:xfrm>
            <a:off x="9124151" y="2237234"/>
            <a:ext cx="263506" cy="383281"/>
          </a:xfrm>
          <a:prstGeom prst="rect">
            <a:avLst/>
          </a:prstGeom>
        </p:spPr>
      </p:pic>
      <p:pic>
        <p:nvPicPr>
          <p:cNvPr id="26" name="Picture 25" descr="lock.png"/>
          <p:cNvPicPr>
            <a:picLocks noChangeAspect="1"/>
          </p:cNvPicPr>
          <p:nvPr/>
        </p:nvPicPr>
        <p:blipFill>
          <a:blip r:embed="rId7"/>
          <a:stretch>
            <a:fillRect/>
          </a:stretch>
        </p:blipFill>
        <p:spPr>
          <a:xfrm>
            <a:off x="3094826" y="5123309"/>
            <a:ext cx="263506" cy="383281"/>
          </a:xfrm>
          <a:prstGeom prst="rect">
            <a:avLst/>
          </a:prstGeom>
        </p:spPr>
      </p:pic>
      <p:sp>
        <p:nvSpPr>
          <p:cNvPr id="27" name="TextBox 26"/>
          <p:cNvSpPr txBox="1"/>
          <p:nvPr/>
        </p:nvSpPr>
        <p:spPr>
          <a:xfrm>
            <a:off x="6305550" y="4484320"/>
            <a:ext cx="4096546" cy="194310"/>
          </a:xfrm>
          <a:prstGeom prst="rect">
            <a:avLst/>
          </a:prstGeom>
          <a:noFill/>
        </p:spPr>
        <p:txBody>
          <a:bodyPr wrap="none" lIns="0" rIns="0" tIns="0" bIns="0">
            <a:spAutoFit/>
          </a:bodyPr>
          <a:lstStyle/>
          <a:p>
            <a:r>
              <a:rPr sz="1150" b="0">
                <a:solidFill>
                  <a:srgbClr val="2E2E2E"/>
                </a:solidFill>
                <a:latin typeface="Calibri"/>
              </a:rPr>
              <a:t>By 2036, paediatric segment is anticipated to witness an increase of</a:t>
            </a:r>
          </a:p>
        </p:txBody>
      </p:sp>
      <p:pic>
        <p:nvPicPr>
          <p:cNvPr id="28" name="Picture 27" descr="lock.png"/>
          <p:cNvPicPr>
            <a:picLocks noChangeAspect="1"/>
          </p:cNvPicPr>
          <p:nvPr/>
        </p:nvPicPr>
        <p:blipFill>
          <a:blip r:embed="rId7"/>
          <a:stretch>
            <a:fillRect/>
          </a:stretch>
        </p:blipFill>
        <p:spPr>
          <a:xfrm>
            <a:off x="10351250" y="4474096"/>
            <a:ext cx="134549" cy="195707"/>
          </a:xfrm>
          <a:prstGeom prst="rect">
            <a:avLst/>
          </a:prstGeom>
        </p:spPr>
      </p:pic>
      <p:sp>
        <p:nvSpPr>
          <p:cNvPr id="29" name="TextBox 28"/>
          <p:cNvSpPr txBox="1"/>
          <p:nvPr/>
        </p:nvSpPr>
        <p:spPr>
          <a:xfrm>
            <a:off x="10526359" y="4484320"/>
            <a:ext cx="1341871" cy="194310"/>
          </a:xfrm>
          <a:prstGeom prst="rect">
            <a:avLst/>
          </a:prstGeom>
          <a:noFill/>
        </p:spPr>
        <p:txBody>
          <a:bodyPr wrap="none" lIns="0" rIns="0" tIns="0" bIns="0">
            <a:spAutoFit/>
          </a:bodyPr>
          <a:lstStyle/>
          <a:p>
            <a:r>
              <a:rPr sz="1150" b="0">
                <a:solidFill>
                  <a:srgbClr val="2E2E2E"/>
                </a:solidFill>
                <a:latin typeface="Calibri"/>
              </a:rPr>
              <a:t>X in terms of value as</a:t>
            </a:r>
          </a:p>
        </p:txBody>
      </p:sp>
      <p:sp>
        <p:nvSpPr>
          <p:cNvPr id="30" name="TextBox 29"/>
          <p:cNvSpPr txBox="1"/>
          <p:nvPr/>
        </p:nvSpPr>
        <p:spPr>
          <a:xfrm>
            <a:off x="6305550" y="4659580"/>
            <a:ext cx="5577036" cy="194310"/>
          </a:xfrm>
          <a:prstGeom prst="rect">
            <a:avLst/>
          </a:prstGeom>
          <a:noFill/>
        </p:spPr>
        <p:txBody>
          <a:bodyPr wrap="none" lIns="0" rIns="0" tIns="0" bIns="0">
            <a:spAutoFit/>
          </a:bodyPr>
          <a:lstStyle/>
          <a:p>
            <a:r>
              <a:rPr sz="1150" b="0">
                <a:solidFill>
                  <a:srgbClr val="2E2E2E"/>
                </a:solidFill>
                <a:latin typeface="Calibri"/>
              </a:rPr>
              <a:t>compared to 2026. The paediatric segment is expected to create an incremental opportunity</a:t>
            </a:r>
          </a:p>
        </p:txBody>
      </p:sp>
      <p:sp>
        <p:nvSpPr>
          <p:cNvPr id="31" name="TextBox 30"/>
          <p:cNvSpPr txBox="1"/>
          <p:nvPr/>
        </p:nvSpPr>
        <p:spPr>
          <a:xfrm>
            <a:off x="6305550" y="4834840"/>
            <a:ext cx="465856" cy="194310"/>
          </a:xfrm>
          <a:prstGeom prst="rect">
            <a:avLst/>
          </a:prstGeom>
          <a:noFill/>
        </p:spPr>
        <p:txBody>
          <a:bodyPr wrap="none" lIns="0" rIns="0" tIns="0" bIns="0">
            <a:spAutoFit/>
          </a:bodyPr>
          <a:lstStyle/>
          <a:p>
            <a:r>
              <a:rPr sz="1150" b="0">
                <a:solidFill>
                  <a:srgbClr val="2E2E2E"/>
                </a:solidFill>
                <a:latin typeface="Calibri"/>
              </a:rPr>
              <a:t>of US$</a:t>
            </a:r>
          </a:p>
        </p:txBody>
      </p:sp>
      <p:pic>
        <p:nvPicPr>
          <p:cNvPr id="32" name="Picture 31" descr="lock.png"/>
          <p:cNvPicPr>
            <a:picLocks noChangeAspect="1"/>
          </p:cNvPicPr>
          <p:nvPr/>
        </p:nvPicPr>
        <p:blipFill>
          <a:blip r:embed="rId7"/>
          <a:stretch>
            <a:fillRect/>
          </a:stretch>
        </p:blipFill>
        <p:spPr>
          <a:xfrm>
            <a:off x="6720560" y="4824616"/>
            <a:ext cx="134549" cy="195707"/>
          </a:xfrm>
          <a:prstGeom prst="rect">
            <a:avLst/>
          </a:prstGeom>
        </p:spPr>
      </p:pic>
      <p:sp>
        <p:nvSpPr>
          <p:cNvPr id="33" name="TextBox 32"/>
          <p:cNvSpPr txBox="1"/>
          <p:nvPr/>
        </p:nvSpPr>
        <p:spPr>
          <a:xfrm>
            <a:off x="6895670" y="4834840"/>
            <a:ext cx="4365848" cy="194310"/>
          </a:xfrm>
          <a:prstGeom prst="rect">
            <a:avLst/>
          </a:prstGeom>
          <a:noFill/>
        </p:spPr>
        <p:txBody>
          <a:bodyPr wrap="none" lIns="0" rIns="0" tIns="0" bIns="0">
            <a:spAutoFit/>
          </a:bodyPr>
          <a:lstStyle/>
          <a:p>
            <a:r>
              <a:rPr sz="1150" b="0">
                <a:solidFill>
                  <a:srgbClr val="2E2E2E"/>
                </a:solidFill>
                <a:latin typeface="Calibri"/>
              </a:rPr>
              <a:t>Mn for the overall ear wax removal products market from 2026 to 2036.</a:t>
            </a:r>
          </a:p>
        </p:txBody>
      </p:sp>
      <p:sp>
        <p:nvSpPr>
          <p:cNvPr id="34" name="TextBox 33"/>
          <p:cNvSpPr txBox="1"/>
          <p:nvPr/>
        </p:nvSpPr>
        <p:spPr>
          <a:xfrm>
            <a:off x="6305550" y="5062678"/>
            <a:ext cx="4548981" cy="194310"/>
          </a:xfrm>
          <a:prstGeom prst="rect">
            <a:avLst/>
          </a:prstGeom>
          <a:noFill/>
        </p:spPr>
        <p:txBody>
          <a:bodyPr wrap="none" lIns="0" rIns="0" tIns="0" bIns="0">
            <a:spAutoFit/>
          </a:bodyPr>
          <a:lstStyle/>
          <a:p>
            <a:r>
              <a:rPr sz="1150" b="0">
                <a:solidFill>
                  <a:srgbClr val="2E2E2E"/>
                </a:solidFill>
                <a:latin typeface="Calibri"/>
              </a:rPr>
              <a:t>The adult segment is expected to create an incremental opportunity of US$</a:t>
            </a:r>
          </a:p>
        </p:txBody>
      </p:sp>
      <p:pic>
        <p:nvPicPr>
          <p:cNvPr id="35" name="Picture 34" descr="lock.png"/>
          <p:cNvPicPr>
            <a:picLocks noChangeAspect="1"/>
          </p:cNvPicPr>
          <p:nvPr/>
        </p:nvPicPr>
        <p:blipFill>
          <a:blip r:embed="rId7"/>
          <a:stretch>
            <a:fillRect/>
          </a:stretch>
        </p:blipFill>
        <p:spPr>
          <a:xfrm>
            <a:off x="10803685" y="5052454"/>
            <a:ext cx="134549" cy="195707"/>
          </a:xfrm>
          <a:prstGeom prst="rect">
            <a:avLst/>
          </a:prstGeom>
        </p:spPr>
      </p:pic>
      <p:sp>
        <p:nvSpPr>
          <p:cNvPr id="36" name="TextBox 35"/>
          <p:cNvSpPr txBox="1"/>
          <p:nvPr/>
        </p:nvSpPr>
        <p:spPr>
          <a:xfrm>
            <a:off x="10978794" y="5062678"/>
            <a:ext cx="715168" cy="194310"/>
          </a:xfrm>
          <a:prstGeom prst="rect">
            <a:avLst/>
          </a:prstGeom>
          <a:noFill/>
        </p:spPr>
        <p:txBody>
          <a:bodyPr wrap="none" lIns="0" rIns="0" tIns="0" bIns="0">
            <a:spAutoFit/>
          </a:bodyPr>
          <a:lstStyle/>
          <a:p>
            <a:r>
              <a:rPr sz="1150" b="0">
                <a:solidFill>
                  <a:srgbClr val="2E2E2E"/>
                </a:solidFill>
                <a:latin typeface="Calibri"/>
              </a:rPr>
              <a:t>Mn for the</a:t>
            </a:r>
          </a:p>
        </p:txBody>
      </p:sp>
      <p:sp>
        <p:nvSpPr>
          <p:cNvPr id="37" name="TextBox 36"/>
          <p:cNvSpPr txBox="1"/>
          <p:nvPr/>
        </p:nvSpPr>
        <p:spPr>
          <a:xfrm>
            <a:off x="6305550" y="5237938"/>
            <a:ext cx="5143165" cy="194310"/>
          </a:xfrm>
          <a:prstGeom prst="rect">
            <a:avLst/>
          </a:prstGeom>
          <a:noFill/>
        </p:spPr>
        <p:txBody>
          <a:bodyPr wrap="none" lIns="0" rIns="0" tIns="0" bIns="0">
            <a:spAutoFit/>
          </a:bodyPr>
          <a:lstStyle/>
          <a:p>
            <a:r>
              <a:rPr sz="1150" b="0">
                <a:solidFill>
                  <a:srgbClr val="2E2E2E"/>
                </a:solidFill>
                <a:latin typeface="Calibri"/>
              </a:rPr>
              <a:t>overall ear wax removal products market from 2026 to 2036. The geriatric segment is</a:t>
            </a:r>
          </a:p>
        </p:txBody>
      </p:sp>
      <p:sp>
        <p:nvSpPr>
          <p:cNvPr id="38" name="TextBox 37"/>
          <p:cNvSpPr txBox="1"/>
          <p:nvPr/>
        </p:nvSpPr>
        <p:spPr>
          <a:xfrm>
            <a:off x="6305550" y="5413197"/>
            <a:ext cx="3285306" cy="194310"/>
          </a:xfrm>
          <a:prstGeom prst="rect">
            <a:avLst/>
          </a:prstGeom>
          <a:noFill/>
        </p:spPr>
        <p:txBody>
          <a:bodyPr wrap="none" lIns="0" rIns="0" tIns="0" bIns="0">
            <a:spAutoFit/>
          </a:bodyPr>
          <a:lstStyle/>
          <a:p>
            <a:r>
              <a:rPr sz="1150" b="0">
                <a:solidFill>
                  <a:srgbClr val="2E2E2E"/>
                </a:solidFill>
                <a:latin typeface="Calibri"/>
              </a:rPr>
              <a:t>expected to create an incremental opportunity of US$</a:t>
            </a:r>
          </a:p>
        </p:txBody>
      </p:sp>
      <p:pic>
        <p:nvPicPr>
          <p:cNvPr id="39" name="Picture 38" descr="lock.png"/>
          <p:cNvPicPr>
            <a:picLocks noChangeAspect="1"/>
          </p:cNvPicPr>
          <p:nvPr/>
        </p:nvPicPr>
        <p:blipFill>
          <a:blip r:embed="rId7"/>
          <a:stretch>
            <a:fillRect/>
          </a:stretch>
        </p:blipFill>
        <p:spPr>
          <a:xfrm>
            <a:off x="9540010" y="5402974"/>
            <a:ext cx="134549" cy="195707"/>
          </a:xfrm>
          <a:prstGeom prst="rect">
            <a:avLst/>
          </a:prstGeom>
        </p:spPr>
      </p:pic>
      <p:sp>
        <p:nvSpPr>
          <p:cNvPr id="40" name="TextBox 39"/>
          <p:cNvSpPr txBox="1"/>
          <p:nvPr/>
        </p:nvSpPr>
        <p:spPr>
          <a:xfrm>
            <a:off x="9715119" y="5413197"/>
            <a:ext cx="2169678" cy="194310"/>
          </a:xfrm>
          <a:prstGeom prst="rect">
            <a:avLst/>
          </a:prstGeom>
          <a:noFill/>
        </p:spPr>
        <p:txBody>
          <a:bodyPr wrap="none" lIns="0" rIns="0" tIns="0" bIns="0">
            <a:spAutoFit/>
          </a:bodyPr>
          <a:lstStyle/>
          <a:p>
            <a:r>
              <a:rPr sz="1150" b="0">
                <a:solidFill>
                  <a:srgbClr val="2E2E2E"/>
                </a:solidFill>
                <a:latin typeface="Calibri"/>
              </a:rPr>
              <a:t>Mn for the overall ear wax removal</a:t>
            </a:r>
          </a:p>
        </p:txBody>
      </p:sp>
      <p:sp>
        <p:nvSpPr>
          <p:cNvPr id="41" name="TextBox 40"/>
          <p:cNvSpPr txBox="1"/>
          <p:nvPr/>
        </p:nvSpPr>
        <p:spPr>
          <a:xfrm>
            <a:off x="6305550" y="5588457"/>
            <a:ext cx="2239280" cy="194310"/>
          </a:xfrm>
          <a:prstGeom prst="rect">
            <a:avLst/>
          </a:prstGeom>
          <a:noFill/>
        </p:spPr>
        <p:txBody>
          <a:bodyPr wrap="none" lIns="0" rIns="0" tIns="0" bIns="0">
            <a:spAutoFit/>
          </a:bodyPr>
          <a:lstStyle/>
          <a:p>
            <a:r>
              <a:rPr sz="1150" b="0">
                <a:solidFill>
                  <a:srgbClr val="2E2E2E"/>
                </a:solidFill>
                <a:latin typeface="Calibri"/>
              </a:rPr>
              <a:t>products market from 2026 to 2036.</a:t>
            </a:r>
          </a:p>
        </p:txBody>
      </p:sp>
      <p:sp>
        <p:nvSpPr>
          <p:cNvPr id="42"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Age Group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Age Group, 2021–2036, highlighting the sub-segments driving growth</a:t>
            </a:r>
          </a:p>
        </p:txBody>
      </p:sp>
      <p:sp>
        <p:nvSpPr>
          <p:cNvPr id="10" name="Rounded Rectangle 9"/>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Age Group (US$ Mn)</a:t>
            </a:r>
          </a:p>
        </p:txBody>
      </p:sp>
      <p:graphicFrame>
        <p:nvGraphicFramePr>
          <p:cNvPr id="12" name="Table 11"/>
          <p:cNvGraphicFramePr>
            <a:graphicFrameLocks noGrp="1"/>
          </p:cNvGraphicFramePr>
          <p:nvPr/>
        </p:nvGraphicFramePr>
        <p:xfrm>
          <a:off x="152400" y="1238250"/>
          <a:ext cx="11887204" cy="1238250"/>
        </p:xfrm>
        <a:graphic>
          <a:graphicData uri="http://schemas.openxmlformats.org/drawingml/2006/table">
            <a:tbl>
              <a:tblPr>
                <a:tableStyleId>{5C22544A-7EE6-4342-B048-85BDC9FD1C3A}</a:tableStyleId>
              </a:tblPr>
              <a:tblGrid>
                <a:gridCol w="874587"/>
                <a:gridCol w="647801"/>
                <a:gridCol w="647801"/>
                <a:gridCol w="647801"/>
                <a:gridCol w="647801"/>
                <a:gridCol w="647801"/>
                <a:gridCol w="647801"/>
                <a:gridCol w="647801"/>
                <a:gridCol w="647801"/>
                <a:gridCol w="647801"/>
                <a:gridCol w="647801"/>
                <a:gridCol w="647801"/>
                <a:gridCol w="647801"/>
                <a:gridCol w="647801"/>
                <a:gridCol w="647801"/>
                <a:gridCol w="647801"/>
                <a:gridCol w="647801"/>
                <a:gridCol w="647801"/>
              </a:tblGrid>
              <a:tr h="246126">
                <a:tc>
                  <a:txBody>
                    <a:bodyPr wrap="none"/>
                    <a:lstStyle/>
                    <a:p>
                      <a:pPr algn="l"/>
                      <a:r>
                        <a:rPr sz="1100" b="1">
                          <a:solidFill>
                            <a:srgbClr val="0B2E4A"/>
                          </a:solidFill>
                          <a:latin typeface="Calibri"/>
                        </a:rPr>
                        <a:t>Age Group</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Paediatric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Adult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Geriatric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819400"/>
            <a:ext cx="1190625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Age Group</a:t>
            </a:r>
          </a:p>
        </p:txBody>
      </p:sp>
      <p:sp>
        <p:nvSpPr>
          <p:cNvPr id="16" name="Rectangle 15"/>
          <p:cNvSpPr/>
          <p:nvPr/>
        </p:nvSpPr>
        <p:spPr>
          <a:xfrm>
            <a:off x="276225" y="31432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346605" y="1713738"/>
            <a:ext cx="366712" cy="533400"/>
          </a:xfrm>
          <a:prstGeom prst="rect">
            <a:avLst/>
          </a:prstGeom>
        </p:spPr>
      </p:pic>
      <p:sp>
        <p:nvSpPr>
          <p:cNvPr id="20" name="TextBox 19"/>
          <p:cNvSpPr txBox="1"/>
          <p:nvPr/>
        </p:nvSpPr>
        <p:spPr>
          <a:xfrm>
            <a:off x="276225" y="3238500"/>
            <a:ext cx="2595562" cy="194310"/>
          </a:xfrm>
          <a:prstGeom prst="rect">
            <a:avLst/>
          </a:prstGeom>
          <a:noFill/>
        </p:spPr>
        <p:txBody>
          <a:bodyPr wrap="none" lIns="0" rIns="0" tIns="0" bIns="0">
            <a:spAutoFit/>
          </a:bodyPr>
          <a:lstStyle/>
          <a:p>
            <a:r>
              <a:rPr sz="1150" b="0">
                <a:solidFill>
                  <a:srgbClr val="2E2E2E"/>
                </a:solidFill>
                <a:latin typeface="Calibri"/>
              </a:rPr>
              <a:t>Paediatric segment is projected to register</a:t>
            </a:r>
          </a:p>
        </p:txBody>
      </p:sp>
      <p:pic>
        <p:nvPicPr>
          <p:cNvPr id="21" name="Picture 20" descr="lock.png"/>
          <p:cNvPicPr>
            <a:picLocks noChangeAspect="1"/>
          </p:cNvPicPr>
          <p:nvPr/>
        </p:nvPicPr>
        <p:blipFill>
          <a:blip r:embed="rId4"/>
          <a:stretch>
            <a:fillRect/>
          </a:stretch>
        </p:blipFill>
        <p:spPr>
          <a:xfrm>
            <a:off x="2820941" y="3228276"/>
            <a:ext cx="134549" cy="195707"/>
          </a:xfrm>
          <a:prstGeom prst="rect">
            <a:avLst/>
          </a:prstGeom>
        </p:spPr>
      </p:pic>
      <p:sp>
        <p:nvSpPr>
          <p:cNvPr id="22" name="TextBox 21"/>
          <p:cNvSpPr txBox="1"/>
          <p:nvPr/>
        </p:nvSpPr>
        <p:spPr>
          <a:xfrm>
            <a:off x="2996050" y="3238500"/>
            <a:ext cx="8790403" cy="194310"/>
          </a:xfrm>
          <a:prstGeom prst="rect">
            <a:avLst/>
          </a:prstGeom>
          <a:noFill/>
        </p:spPr>
        <p:txBody>
          <a:bodyPr wrap="none" lIns="0" rIns="0" tIns="0" bIns="0">
            <a:spAutoFit/>
          </a:bodyPr>
          <a:lstStyle/>
          <a:p>
            <a:r>
              <a:rPr sz="1150" b="0">
                <a:solidFill>
                  <a:srgbClr val="2E2E2E"/>
                </a:solidFill>
                <a:latin typeface="Calibri"/>
              </a:rPr>
              <a:t>X higher value than adult segment in 2036. Among ear wax removal products by age group, adult segment is expected to witness the highest CAGR</a:t>
            </a:r>
          </a:p>
        </p:txBody>
      </p:sp>
      <p:sp>
        <p:nvSpPr>
          <p:cNvPr id="23" name="TextBox 22"/>
          <p:cNvSpPr txBox="1"/>
          <p:nvPr/>
        </p:nvSpPr>
        <p:spPr>
          <a:xfrm>
            <a:off x="276225" y="3413760"/>
            <a:ext cx="197718" cy="194310"/>
          </a:xfrm>
          <a:prstGeom prst="rect">
            <a:avLst/>
          </a:prstGeom>
          <a:noFill/>
        </p:spPr>
        <p:txBody>
          <a:bodyPr wrap="none" lIns="0" rIns="0" tIns="0" bIns="0">
            <a:spAutoFit/>
          </a:bodyPr>
          <a:lstStyle/>
          <a:p>
            <a:r>
              <a:rPr sz="1150" b="0">
                <a:solidFill>
                  <a:srgbClr val="2E2E2E"/>
                </a:solidFill>
                <a:latin typeface="Calibri"/>
              </a:rPr>
              <a:t>of</a:t>
            </a:r>
          </a:p>
        </p:txBody>
      </p:sp>
      <p:pic>
        <p:nvPicPr>
          <p:cNvPr id="24" name="Picture 23" descr="lock.png"/>
          <p:cNvPicPr>
            <a:picLocks noChangeAspect="1"/>
          </p:cNvPicPr>
          <p:nvPr/>
        </p:nvPicPr>
        <p:blipFill>
          <a:blip r:embed="rId4"/>
          <a:stretch>
            <a:fillRect/>
          </a:stretch>
        </p:blipFill>
        <p:spPr>
          <a:xfrm>
            <a:off x="423097" y="3403536"/>
            <a:ext cx="134549" cy="195707"/>
          </a:xfrm>
          <a:prstGeom prst="rect">
            <a:avLst/>
          </a:prstGeom>
        </p:spPr>
      </p:pic>
      <p:sp>
        <p:nvSpPr>
          <p:cNvPr id="25" name="TextBox 24"/>
          <p:cNvSpPr txBox="1"/>
          <p:nvPr/>
        </p:nvSpPr>
        <p:spPr>
          <a:xfrm>
            <a:off x="598206" y="34137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641597"/>
            <a:ext cx="6339805" cy="194310"/>
          </a:xfrm>
          <a:prstGeom prst="rect">
            <a:avLst/>
          </a:prstGeom>
          <a:noFill/>
        </p:spPr>
        <p:txBody>
          <a:bodyPr wrap="none" lIns="0" rIns="0" tIns="0" bIns="0">
            <a:spAutoFit/>
          </a:bodyPr>
          <a:lstStyle/>
          <a:p>
            <a:r>
              <a:rPr sz="1150" b="0">
                <a:solidFill>
                  <a:srgbClr val="2E2E2E"/>
                </a:solidFill>
                <a:latin typeface="Calibri"/>
              </a:rPr>
              <a:t>In terms of value share by age group, the paediatric segment is expected to dominate the market, gaining</a:t>
            </a:r>
          </a:p>
        </p:txBody>
      </p:sp>
      <p:pic>
        <p:nvPicPr>
          <p:cNvPr id="27" name="Picture 26" descr="lock.png"/>
          <p:cNvPicPr>
            <a:picLocks noChangeAspect="1"/>
          </p:cNvPicPr>
          <p:nvPr/>
        </p:nvPicPr>
        <p:blipFill>
          <a:blip r:embed="rId4"/>
          <a:stretch>
            <a:fillRect/>
          </a:stretch>
        </p:blipFill>
        <p:spPr>
          <a:xfrm>
            <a:off x="6565184" y="3631374"/>
            <a:ext cx="134549" cy="195707"/>
          </a:xfrm>
          <a:prstGeom prst="rect">
            <a:avLst/>
          </a:prstGeom>
        </p:spPr>
      </p:pic>
      <p:sp>
        <p:nvSpPr>
          <p:cNvPr id="28" name="TextBox 27"/>
          <p:cNvSpPr txBox="1"/>
          <p:nvPr/>
        </p:nvSpPr>
        <p:spPr>
          <a:xfrm>
            <a:off x="6740293" y="36415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135436" y="3631374"/>
            <a:ext cx="134549" cy="195707"/>
          </a:xfrm>
          <a:prstGeom prst="rect">
            <a:avLst/>
          </a:prstGeom>
        </p:spPr>
      </p:pic>
      <p:sp>
        <p:nvSpPr>
          <p:cNvPr id="30" name="TextBox 29"/>
          <p:cNvSpPr txBox="1"/>
          <p:nvPr/>
        </p:nvSpPr>
        <p:spPr>
          <a:xfrm>
            <a:off x="8310545" y="3641597"/>
            <a:ext cx="3407395" cy="194310"/>
          </a:xfrm>
          <a:prstGeom prst="rect">
            <a:avLst/>
          </a:prstGeom>
          <a:noFill/>
        </p:spPr>
        <p:txBody>
          <a:bodyPr wrap="none" lIns="0" rIns="0" tIns="0" bIns="0">
            <a:spAutoFit/>
          </a:bodyPr>
          <a:lstStyle/>
          <a:p>
            <a:r>
              <a:rPr sz="1150" b="0">
                <a:solidFill>
                  <a:srgbClr val="2E2E2E"/>
                </a:solidFill>
                <a:latin typeface="Calibri"/>
              </a:rPr>
              <a:t>share by 2036. The geriatric segment is expected to lose</a:t>
            </a:r>
          </a:p>
        </p:txBody>
      </p:sp>
      <p:pic>
        <p:nvPicPr>
          <p:cNvPr id="31" name="Picture 30" descr="lock.png"/>
          <p:cNvPicPr>
            <a:picLocks noChangeAspect="1"/>
          </p:cNvPicPr>
          <p:nvPr/>
        </p:nvPicPr>
        <p:blipFill>
          <a:blip r:embed="rId4"/>
          <a:stretch>
            <a:fillRect/>
          </a:stretch>
        </p:blipFill>
        <p:spPr>
          <a:xfrm>
            <a:off x="262145" y="3806634"/>
            <a:ext cx="134549" cy="195707"/>
          </a:xfrm>
          <a:prstGeom prst="rect">
            <a:avLst/>
          </a:prstGeom>
        </p:spPr>
      </p:pic>
      <p:sp>
        <p:nvSpPr>
          <p:cNvPr id="32" name="TextBox 31"/>
          <p:cNvSpPr txBox="1"/>
          <p:nvPr/>
        </p:nvSpPr>
        <p:spPr>
          <a:xfrm>
            <a:off x="437254" y="381685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3" name="Picture 32" descr="lock.png"/>
          <p:cNvPicPr>
            <a:picLocks noChangeAspect="1"/>
          </p:cNvPicPr>
          <p:nvPr/>
        </p:nvPicPr>
        <p:blipFill>
          <a:blip r:embed="rId4"/>
          <a:stretch>
            <a:fillRect/>
          </a:stretch>
        </p:blipFill>
        <p:spPr>
          <a:xfrm>
            <a:off x="3024759" y="3806634"/>
            <a:ext cx="134549" cy="195707"/>
          </a:xfrm>
          <a:prstGeom prst="rect">
            <a:avLst/>
          </a:prstGeom>
        </p:spPr>
      </p:pic>
      <p:sp>
        <p:nvSpPr>
          <p:cNvPr id="34" name="TextBox 33"/>
          <p:cNvSpPr txBox="1"/>
          <p:nvPr/>
        </p:nvSpPr>
        <p:spPr>
          <a:xfrm>
            <a:off x="3199868" y="381685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Age Group</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Age Group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Age Group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989760"/>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98499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90879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Geriatric</a:t>
            </a:r>
          </a:p>
        </p:txBody>
      </p:sp>
      <p:sp>
        <p:nvSpPr>
          <p:cNvPr id="18" name="BPS Value 1"/>
          <p:cNvSpPr txBox="1"/>
          <p:nvPr/>
        </p:nvSpPr>
        <p:spPr>
          <a:xfrm>
            <a:off x="6896100" y="197071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792743"/>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278798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71178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Adult</a:t>
            </a:r>
          </a:p>
        </p:txBody>
      </p:sp>
      <p:sp>
        <p:nvSpPr>
          <p:cNvPr id="22" name="BPS Value 2"/>
          <p:cNvSpPr txBox="1"/>
          <p:nvPr/>
        </p:nvSpPr>
        <p:spPr>
          <a:xfrm>
            <a:off x="6896100" y="277369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4760430"/>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475566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467946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Paediatric</a:t>
            </a:r>
          </a:p>
        </p:txBody>
      </p:sp>
      <p:sp>
        <p:nvSpPr>
          <p:cNvPr id="26" name="BPS Value 3"/>
          <p:cNvSpPr txBox="1"/>
          <p:nvPr/>
        </p:nvSpPr>
        <p:spPr>
          <a:xfrm>
            <a:off x="6896100" y="474138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Rounded Rectangle 26"/>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Age Group</a:t>
            </a:r>
          </a:p>
        </p:txBody>
      </p:sp>
      <p:sp>
        <p:nvSpPr>
          <p:cNvPr id="29" name="Rectangle 28"/>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2557843" y="3833622"/>
            <a:ext cx="275034" cy="400050"/>
          </a:xfrm>
          <a:prstGeom prst="rect">
            <a:avLst/>
          </a:prstGeom>
        </p:spPr>
      </p:pic>
      <p:sp>
        <p:nvSpPr>
          <p:cNvPr id="33" name="TextBox 32"/>
          <p:cNvSpPr txBox="1"/>
          <p:nvPr/>
        </p:nvSpPr>
        <p:spPr>
          <a:xfrm>
            <a:off x="7829550" y="1400175"/>
            <a:ext cx="3926842" cy="194310"/>
          </a:xfrm>
          <a:prstGeom prst="rect">
            <a:avLst/>
          </a:prstGeom>
          <a:noFill/>
        </p:spPr>
        <p:txBody>
          <a:bodyPr wrap="none" lIns="0" rIns="0" tIns="0" bIns="0">
            <a:spAutoFit/>
          </a:bodyPr>
          <a:lstStyle/>
          <a:p>
            <a:r>
              <a:rPr sz="1150" b="0">
                <a:solidFill>
                  <a:srgbClr val="2E2E2E"/>
                </a:solidFill>
                <a:latin typeface="Calibri"/>
              </a:rPr>
              <a:t>Among ear wax removal products by age group, adult segment is</a:t>
            </a:r>
          </a:p>
        </p:txBody>
      </p:sp>
      <p:sp>
        <p:nvSpPr>
          <p:cNvPr id="34" name="TextBox 33"/>
          <p:cNvSpPr txBox="1"/>
          <p:nvPr/>
        </p:nvSpPr>
        <p:spPr>
          <a:xfrm>
            <a:off x="7829550" y="157543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35" name="Picture 34" descr="lock.png"/>
          <p:cNvPicPr>
            <a:picLocks noChangeAspect="1"/>
          </p:cNvPicPr>
          <p:nvPr/>
        </p:nvPicPr>
        <p:blipFill>
          <a:blip r:embed="rId5"/>
          <a:stretch>
            <a:fillRect/>
          </a:stretch>
        </p:blipFill>
        <p:spPr>
          <a:xfrm>
            <a:off x="10264711" y="1565211"/>
            <a:ext cx="134549" cy="195707"/>
          </a:xfrm>
          <a:prstGeom prst="rect">
            <a:avLst/>
          </a:prstGeom>
        </p:spPr>
      </p:pic>
      <p:sp>
        <p:nvSpPr>
          <p:cNvPr id="36" name="TextBox 35"/>
          <p:cNvSpPr txBox="1"/>
          <p:nvPr/>
        </p:nvSpPr>
        <p:spPr>
          <a:xfrm>
            <a:off x="10439820" y="157543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37" name="TextBox 36"/>
          <p:cNvSpPr txBox="1"/>
          <p:nvPr/>
        </p:nvSpPr>
        <p:spPr>
          <a:xfrm>
            <a:off x="7829550" y="1750695"/>
            <a:ext cx="3594806" cy="194310"/>
          </a:xfrm>
          <a:prstGeom prst="rect">
            <a:avLst/>
          </a:prstGeom>
          <a:noFill/>
        </p:spPr>
        <p:txBody>
          <a:bodyPr wrap="none" lIns="0" rIns="0" tIns="0" bIns="0">
            <a:spAutoFit/>
          </a:bodyPr>
          <a:lstStyle/>
          <a:p>
            <a:r>
              <a:rPr sz="1150" b="0">
                <a:solidFill>
                  <a:srgbClr val="2E2E2E"/>
                </a:solidFill>
                <a:latin typeface="Calibri"/>
              </a:rPr>
              <a:t>period. In terms of value share by age group, the paediatric</a:t>
            </a:r>
          </a:p>
        </p:txBody>
      </p:sp>
      <p:sp>
        <p:nvSpPr>
          <p:cNvPr id="38" name="TextBox 37"/>
          <p:cNvSpPr txBox="1"/>
          <p:nvPr/>
        </p:nvSpPr>
        <p:spPr>
          <a:xfrm>
            <a:off x="7829550" y="1925955"/>
            <a:ext cx="3245941" cy="194310"/>
          </a:xfrm>
          <a:prstGeom prst="rect">
            <a:avLst/>
          </a:prstGeom>
          <a:noFill/>
        </p:spPr>
        <p:txBody>
          <a:bodyPr wrap="none" lIns="0" rIns="0" tIns="0" bIns="0">
            <a:spAutoFit/>
          </a:bodyPr>
          <a:lstStyle/>
          <a:p>
            <a:r>
              <a:rPr sz="1150" b="0">
                <a:solidFill>
                  <a:srgbClr val="2E2E2E"/>
                </a:solidFill>
                <a:latin typeface="Calibri"/>
              </a:rPr>
              <a:t>segment is expected to dominate the market, gaining</a:t>
            </a:r>
          </a:p>
        </p:txBody>
      </p:sp>
      <p:pic>
        <p:nvPicPr>
          <p:cNvPr id="39" name="Picture 38" descr="lock.png"/>
          <p:cNvPicPr>
            <a:picLocks noChangeAspect="1"/>
          </p:cNvPicPr>
          <p:nvPr/>
        </p:nvPicPr>
        <p:blipFill>
          <a:blip r:embed="rId5"/>
          <a:stretch>
            <a:fillRect/>
          </a:stretch>
        </p:blipFill>
        <p:spPr>
          <a:xfrm>
            <a:off x="11024645" y="1915731"/>
            <a:ext cx="134549" cy="195707"/>
          </a:xfrm>
          <a:prstGeom prst="rect">
            <a:avLst/>
          </a:prstGeom>
        </p:spPr>
      </p:pic>
      <p:sp>
        <p:nvSpPr>
          <p:cNvPr id="40" name="TextBox 39"/>
          <p:cNvSpPr txBox="1"/>
          <p:nvPr/>
        </p:nvSpPr>
        <p:spPr>
          <a:xfrm>
            <a:off x="11199754" y="1925955"/>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41" name="TextBox 40"/>
          <p:cNvSpPr txBox="1"/>
          <p:nvPr/>
        </p:nvSpPr>
        <p:spPr>
          <a:xfrm>
            <a:off x="7829550" y="2101215"/>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42" name="Picture 41" descr="lock.png"/>
          <p:cNvPicPr>
            <a:picLocks noChangeAspect="1"/>
          </p:cNvPicPr>
          <p:nvPr/>
        </p:nvPicPr>
        <p:blipFill>
          <a:blip r:embed="rId5"/>
          <a:stretch>
            <a:fillRect/>
          </a:stretch>
        </p:blipFill>
        <p:spPr>
          <a:xfrm>
            <a:off x="8712947" y="2090991"/>
            <a:ext cx="134549" cy="195707"/>
          </a:xfrm>
          <a:prstGeom prst="rect">
            <a:avLst/>
          </a:prstGeom>
        </p:spPr>
      </p:pic>
      <p:sp>
        <p:nvSpPr>
          <p:cNvPr id="43" name="TextBox 42"/>
          <p:cNvSpPr txBox="1"/>
          <p:nvPr/>
        </p:nvSpPr>
        <p:spPr>
          <a:xfrm>
            <a:off x="8888056"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4" name="TextBox 43"/>
          <p:cNvSpPr txBox="1"/>
          <p:nvPr/>
        </p:nvSpPr>
        <p:spPr>
          <a:xfrm>
            <a:off x="7829550" y="2329053"/>
            <a:ext cx="2504281" cy="194310"/>
          </a:xfrm>
          <a:prstGeom prst="rect">
            <a:avLst/>
          </a:prstGeom>
          <a:noFill/>
        </p:spPr>
        <p:txBody>
          <a:bodyPr wrap="none" lIns="0" rIns="0" tIns="0" bIns="0">
            <a:spAutoFit/>
          </a:bodyPr>
          <a:lstStyle/>
          <a:p>
            <a:r>
              <a:rPr sz="1150" b="0">
                <a:solidFill>
                  <a:srgbClr val="2E2E2E"/>
                </a:solidFill>
                <a:latin typeface="Calibri"/>
              </a:rPr>
              <a:t>The geriatric segment is expected to lose</a:t>
            </a:r>
          </a:p>
        </p:txBody>
      </p:sp>
      <p:pic>
        <p:nvPicPr>
          <p:cNvPr id="45" name="Picture 44" descr="lock.png"/>
          <p:cNvPicPr>
            <a:picLocks noChangeAspect="1"/>
          </p:cNvPicPr>
          <p:nvPr/>
        </p:nvPicPr>
        <p:blipFill>
          <a:blip r:embed="rId5"/>
          <a:stretch>
            <a:fillRect/>
          </a:stretch>
        </p:blipFill>
        <p:spPr>
          <a:xfrm>
            <a:off x="10282985" y="2318829"/>
            <a:ext cx="134549" cy="195707"/>
          </a:xfrm>
          <a:prstGeom prst="rect">
            <a:avLst/>
          </a:prstGeom>
        </p:spPr>
      </p:pic>
      <p:sp>
        <p:nvSpPr>
          <p:cNvPr id="46" name="TextBox 45"/>
          <p:cNvSpPr txBox="1"/>
          <p:nvPr/>
        </p:nvSpPr>
        <p:spPr>
          <a:xfrm>
            <a:off x="10458094" y="2329053"/>
            <a:ext cx="1346150" cy="194310"/>
          </a:xfrm>
          <a:prstGeom prst="rect">
            <a:avLst/>
          </a:prstGeom>
          <a:noFill/>
        </p:spPr>
        <p:txBody>
          <a:bodyPr wrap="none" lIns="0" rIns="0" tIns="0" bIns="0">
            <a:spAutoFit/>
          </a:bodyPr>
          <a:lstStyle/>
          <a:p>
            <a:r>
              <a:rPr sz="1150" b="0">
                <a:solidFill>
                  <a:srgbClr val="2E2E2E"/>
                </a:solidFill>
                <a:latin typeface="Calibri"/>
              </a:rPr>
              <a:t>BPS over the forecast</a:t>
            </a:r>
          </a:p>
        </p:txBody>
      </p:sp>
      <p:sp>
        <p:nvSpPr>
          <p:cNvPr id="47" name="TextBox 46"/>
          <p:cNvSpPr txBox="1"/>
          <p:nvPr/>
        </p:nvSpPr>
        <p:spPr>
          <a:xfrm>
            <a:off x="7829550" y="2504313"/>
            <a:ext cx="1335310" cy="194310"/>
          </a:xfrm>
          <a:prstGeom prst="rect">
            <a:avLst/>
          </a:prstGeom>
          <a:noFill/>
        </p:spPr>
        <p:txBody>
          <a:bodyPr wrap="none" lIns="0" rIns="0" tIns="0" bIns="0">
            <a:spAutoFit/>
          </a:bodyPr>
          <a:lstStyle/>
          <a:p>
            <a:r>
              <a:rPr sz="1150" b="0">
                <a:solidFill>
                  <a:srgbClr val="2E2E2E"/>
                </a:solidFill>
                <a:latin typeface="Calibri"/>
              </a:rPr>
              <a:t>period to account for</a:t>
            </a:r>
          </a:p>
        </p:txBody>
      </p:sp>
      <p:pic>
        <p:nvPicPr>
          <p:cNvPr id="48" name="Picture 47" descr="lock.png"/>
          <p:cNvPicPr>
            <a:picLocks noChangeAspect="1"/>
          </p:cNvPicPr>
          <p:nvPr/>
        </p:nvPicPr>
        <p:blipFill>
          <a:blip r:embed="rId5"/>
          <a:stretch>
            <a:fillRect/>
          </a:stretch>
        </p:blipFill>
        <p:spPr>
          <a:xfrm>
            <a:off x="9114014" y="2494089"/>
            <a:ext cx="134549" cy="195707"/>
          </a:xfrm>
          <a:prstGeom prst="rect">
            <a:avLst/>
          </a:prstGeom>
        </p:spPr>
      </p:pic>
      <p:sp>
        <p:nvSpPr>
          <p:cNvPr id="49" name="TextBox 48"/>
          <p:cNvSpPr txBox="1"/>
          <p:nvPr/>
        </p:nvSpPr>
        <p:spPr>
          <a:xfrm>
            <a:off x="928912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0"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646045"/>
            <a:ext cx="7239000" cy="247650"/>
          </a:xfrm>
          <a:prstGeom prst="rect">
            <a:avLst/>
          </a:prstGeom>
          <a:noFill/>
        </p:spPr>
        <p:txBody>
          <a:bodyPr wrap="none" lIns="0" tIns="0">
            <a:spAutoFit/>
          </a:bodyPr>
          <a:lstStyle/>
          <a:p>
            <a:r>
              <a:rPr sz="1400" b="0">
                <a:solidFill>
                  <a:srgbClr val="8FC8F2"/>
                </a:solidFill>
                <a:latin typeface="Calibri"/>
              </a:rPr>
              <a:t>Ear Wax Removal Products Market</a:t>
            </a:r>
          </a:p>
        </p:txBody>
      </p:sp>
      <p:sp>
        <p:nvSpPr>
          <p:cNvPr id="6" name="FMI Breaker Title"/>
          <p:cNvSpPr txBox="1"/>
          <p:nvPr/>
        </p:nvSpPr>
        <p:spPr>
          <a:xfrm>
            <a:off x="914400" y="2950845"/>
            <a:ext cx="7239000" cy="514350"/>
          </a:xfrm>
          <a:prstGeom prst="rect">
            <a:avLst/>
          </a:prstGeom>
          <a:noFill/>
        </p:spPr>
        <p:txBody>
          <a:bodyPr wrap="square" lIns="0" rIns="0" tIns="0">
            <a:spAutoFit/>
          </a:bodyPr>
          <a:lstStyle/>
          <a:p>
            <a:r>
              <a:rPr sz="3000" b="1" cap="all" spc="400">
                <a:solidFill>
                  <a:srgbClr val="FFFFFF"/>
                </a:solidFill>
                <a:latin typeface="Calibri"/>
              </a:rPr>
              <a:t>Country Market Outlook</a:t>
            </a:r>
          </a:p>
        </p:txBody>
      </p:sp>
      <p:sp>
        <p:nvSpPr>
          <p:cNvPr id="7" name="TextBox 6"/>
          <p:cNvSpPr txBox="1"/>
          <p:nvPr/>
        </p:nvSpPr>
        <p:spPr>
          <a:xfrm>
            <a:off x="914400" y="3655695"/>
            <a:ext cx="7124700" cy="198501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Overview (Volume &amp; Value)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Segment Overview (Volume &amp; Value)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Product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End User</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Sales Channel</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Age Group</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Overview (Volume &amp; Value)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Segments (Value)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Ear Wax Removal Products Market Volume Overview (Mn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volume: size, growth, YoY momentum and gap to the Global benchmark</a:t>
            </a:r>
          </a:p>
        </p:txBody>
      </p:sp>
      <p:sp>
        <p:nvSpPr>
          <p:cNvPr id="10" name="Rounded Rectangle 9"/>
          <p:cNvSpPr/>
          <p:nvPr/>
        </p:nvSpPr>
        <p:spPr>
          <a:xfrm>
            <a:off x="1428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(MN UNITS)</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estimate year</a:t>
            </a:r>
          </a:p>
        </p:txBody>
      </p:sp>
      <p:sp>
        <p:nvSpPr>
          <p:cNvPr id="11" name="Rounded Rectangle 10"/>
          <p:cNvSpPr/>
          <p:nvPr/>
        </p:nvSpPr>
        <p:spPr>
          <a:xfrm>
            <a:off x="31527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(MN UNITS)</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forecast horizon</a:t>
            </a:r>
          </a:p>
        </p:txBody>
      </p:sp>
      <p:sp>
        <p:nvSpPr>
          <p:cNvPr id="12" name="Rounded Rectangle 11"/>
          <p:cNvSpPr/>
          <p:nvPr/>
        </p:nvSpPr>
        <p:spPr>
          <a:xfrm>
            <a:off x="61626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0E72AE"/>
                </a:solidFill>
                <a:latin typeface="Calibri"/>
              </a:rPr>
              <a:t> </a:t>
            </a:r>
          </a:p>
        </p:txBody>
      </p:sp>
      <p:sp>
        <p:nvSpPr>
          <p:cNvPr id="13" name="Rounded Rectangle 12"/>
          <p:cNvSpPr/>
          <p:nvPr/>
        </p:nvSpPr>
        <p:spPr>
          <a:xfrm>
            <a:off x="91725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819275"/>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Volume (Mn Units), 2021–2036</a:t>
            </a:r>
          </a:p>
        </p:txBody>
      </p:sp>
      <p:graphicFrame>
        <p:nvGraphicFramePr>
          <p:cNvPr id="16" name="Chart 15"/>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7" name="Rounded Rectangle 16"/>
          <p:cNvSpPr/>
          <p:nvPr/>
        </p:nvSpPr>
        <p:spPr>
          <a:xfrm>
            <a:off x="4991100" y="1819275"/>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9" name="Chart 18"/>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20" name="TextBox 19"/>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44D3A"/>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21" name="TextBox 20"/>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22" name="Rounded Rectangle 21"/>
          <p:cNvSpPr/>
          <p:nvPr/>
        </p:nvSpPr>
        <p:spPr>
          <a:xfrm>
            <a:off x="142875" y="3733800"/>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(Mn Units)</a:t>
            </a:r>
          </a:p>
        </p:txBody>
      </p:sp>
      <p:graphicFrame>
        <p:nvGraphicFramePr>
          <p:cNvPr id="24" name="Chart 23"/>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5" name="Rounded Rectangle 24"/>
          <p:cNvSpPr/>
          <p:nvPr/>
        </p:nvSpPr>
        <p:spPr>
          <a:xfrm>
            <a:off x="4991100" y="3733800"/>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7" name="Chart 26"/>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8" name="Rounded Rectangle 27"/>
          <p:cNvSpPr/>
          <p:nvPr/>
        </p:nvSpPr>
        <p:spPr>
          <a:xfrm>
            <a:off x="142875"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9" name="Rounded Rectangle 28"/>
          <p:cNvSpPr/>
          <p:nvPr/>
        </p:nvSpPr>
        <p:spPr>
          <a:xfrm>
            <a:off x="6172200"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8"/>
          <a:stretch>
            <a:fillRect/>
          </a:stretch>
        </p:blipFill>
        <p:spPr>
          <a:xfrm>
            <a:off x="1493044" y="1219200"/>
            <a:ext cx="157162" cy="228600"/>
          </a:xfrm>
          <a:prstGeom prst="rect">
            <a:avLst/>
          </a:prstGeom>
        </p:spPr>
      </p:pic>
      <p:pic>
        <p:nvPicPr>
          <p:cNvPr id="32" name="Picture 31" descr="lock.png"/>
          <p:cNvPicPr>
            <a:picLocks noChangeAspect="1"/>
          </p:cNvPicPr>
          <p:nvPr/>
        </p:nvPicPr>
        <p:blipFill>
          <a:blip r:embed="rId8"/>
          <a:stretch>
            <a:fillRect/>
          </a:stretch>
        </p:blipFill>
        <p:spPr>
          <a:xfrm>
            <a:off x="4502944" y="1219200"/>
            <a:ext cx="157162" cy="228600"/>
          </a:xfrm>
          <a:prstGeom prst="rect">
            <a:avLst/>
          </a:prstGeom>
        </p:spPr>
      </p:pic>
      <p:pic>
        <p:nvPicPr>
          <p:cNvPr id="33" name="Picture 32" descr="lock.png"/>
          <p:cNvPicPr>
            <a:picLocks noChangeAspect="1"/>
          </p:cNvPicPr>
          <p:nvPr/>
        </p:nvPicPr>
        <p:blipFill>
          <a:blip r:embed="rId8"/>
          <a:stretch>
            <a:fillRect/>
          </a:stretch>
        </p:blipFill>
        <p:spPr>
          <a:xfrm>
            <a:off x="7512844" y="1303020"/>
            <a:ext cx="157162" cy="228600"/>
          </a:xfrm>
          <a:prstGeom prst="rect">
            <a:avLst/>
          </a:prstGeom>
        </p:spPr>
      </p:pic>
      <p:pic>
        <p:nvPicPr>
          <p:cNvPr id="34" name="Picture 33" descr="lock.png"/>
          <p:cNvPicPr>
            <a:picLocks noChangeAspect="1"/>
          </p:cNvPicPr>
          <p:nvPr/>
        </p:nvPicPr>
        <p:blipFill>
          <a:blip r:embed="rId8"/>
          <a:stretch>
            <a:fillRect/>
          </a:stretch>
        </p:blipFill>
        <p:spPr>
          <a:xfrm>
            <a:off x="10522744" y="1303020"/>
            <a:ext cx="157162" cy="228600"/>
          </a:xfrm>
          <a:prstGeom prst="rect">
            <a:avLst/>
          </a:prstGeom>
        </p:spPr>
      </p:pic>
      <p:pic>
        <p:nvPicPr>
          <p:cNvPr id="35" name="Picture 34" descr="lock.png"/>
          <p:cNvPicPr>
            <a:picLocks noChangeAspect="1"/>
          </p:cNvPicPr>
          <p:nvPr/>
        </p:nvPicPr>
        <p:blipFill>
          <a:blip r:embed="rId8"/>
          <a:stretch>
            <a:fillRect/>
          </a:stretch>
        </p:blipFill>
        <p:spPr>
          <a:xfrm>
            <a:off x="2554414" y="2661285"/>
            <a:ext cx="165021" cy="240030"/>
          </a:xfrm>
          <a:prstGeom prst="rect">
            <a:avLst/>
          </a:prstGeom>
        </p:spPr>
      </p:pic>
      <p:pic>
        <p:nvPicPr>
          <p:cNvPr id="36" name="Picture 35" descr="lock.png"/>
          <p:cNvPicPr>
            <a:picLocks noChangeAspect="1"/>
          </p:cNvPicPr>
          <p:nvPr/>
        </p:nvPicPr>
        <p:blipFill>
          <a:blip r:embed="rId8"/>
          <a:stretch>
            <a:fillRect/>
          </a:stretch>
        </p:blipFill>
        <p:spPr>
          <a:xfrm>
            <a:off x="6762365" y="2599095"/>
            <a:ext cx="191595" cy="278683"/>
          </a:xfrm>
          <a:prstGeom prst="rect">
            <a:avLst/>
          </a:prstGeom>
        </p:spPr>
      </p:pic>
      <p:pic>
        <p:nvPicPr>
          <p:cNvPr id="37" name="Picture 36" descr="lock.png"/>
          <p:cNvPicPr>
            <a:picLocks noChangeAspect="1"/>
          </p:cNvPicPr>
          <p:nvPr/>
        </p:nvPicPr>
        <p:blipFill>
          <a:blip r:embed="rId8"/>
          <a:stretch>
            <a:fillRect/>
          </a:stretch>
        </p:blipFill>
        <p:spPr>
          <a:xfrm>
            <a:off x="9878378" y="2141220"/>
            <a:ext cx="230504" cy="335279"/>
          </a:xfrm>
          <a:prstGeom prst="rect">
            <a:avLst/>
          </a:prstGeom>
        </p:spPr>
      </p:pic>
      <p:pic>
        <p:nvPicPr>
          <p:cNvPr id="38" name="Picture 37" descr="lock.png"/>
          <p:cNvPicPr>
            <a:picLocks noChangeAspect="1"/>
          </p:cNvPicPr>
          <p:nvPr/>
        </p:nvPicPr>
        <p:blipFill>
          <a:blip r:embed="rId8"/>
          <a:stretch>
            <a:fillRect/>
          </a:stretch>
        </p:blipFill>
        <p:spPr>
          <a:xfrm>
            <a:off x="2554414" y="4575810"/>
            <a:ext cx="165021" cy="240030"/>
          </a:xfrm>
          <a:prstGeom prst="rect">
            <a:avLst/>
          </a:prstGeom>
        </p:spPr>
      </p:pic>
      <p:pic>
        <p:nvPicPr>
          <p:cNvPr id="39" name="Picture 38" descr="lock.png"/>
          <p:cNvPicPr>
            <a:picLocks noChangeAspect="1"/>
          </p:cNvPicPr>
          <p:nvPr/>
        </p:nvPicPr>
        <p:blipFill>
          <a:blip r:embed="rId8"/>
          <a:stretch>
            <a:fillRect/>
          </a:stretch>
        </p:blipFill>
        <p:spPr>
          <a:xfrm>
            <a:off x="8715708" y="4462938"/>
            <a:ext cx="261282" cy="380047"/>
          </a:xfrm>
          <a:prstGeom prst="rect">
            <a:avLst/>
          </a:prstGeom>
        </p:spPr>
      </p:pic>
      <p:sp>
        <p:nvSpPr>
          <p:cNvPr id="40" name="TextBox 39"/>
          <p:cNvSpPr txBox="1"/>
          <p:nvPr/>
        </p:nvSpPr>
        <p:spPr>
          <a:xfrm>
            <a:off x="8071485" y="2876550"/>
            <a:ext cx="2982069" cy="186689"/>
          </a:xfrm>
          <a:prstGeom prst="rect">
            <a:avLst/>
          </a:prstGeom>
          <a:noFill/>
        </p:spPr>
        <p:txBody>
          <a:bodyPr wrap="none" lIns="0" rIns="0" tIns="0" bIns="0">
            <a:spAutoFit/>
          </a:bodyPr>
          <a:lstStyle/>
          <a:p>
            <a:r>
              <a:rPr sz="1100" b="0">
                <a:solidFill>
                  <a:srgbClr val="2E2E2E"/>
                </a:solidFill>
                <a:latin typeface="Calibri"/>
              </a:rPr>
              <a:t>U.S.'s ear wax removal products market expands at</a:t>
            </a:r>
          </a:p>
        </p:txBody>
      </p:sp>
      <p:pic>
        <p:nvPicPr>
          <p:cNvPr id="41" name="Picture 40" descr="lock.png"/>
          <p:cNvPicPr>
            <a:picLocks noChangeAspect="1"/>
          </p:cNvPicPr>
          <p:nvPr/>
        </p:nvPicPr>
        <p:blipFill>
          <a:blip r:embed="rId8"/>
          <a:stretch>
            <a:fillRect/>
          </a:stretch>
        </p:blipFill>
        <p:spPr>
          <a:xfrm>
            <a:off x="11001605" y="2866771"/>
            <a:ext cx="128699" cy="187198"/>
          </a:xfrm>
          <a:prstGeom prst="rect">
            <a:avLst/>
          </a:prstGeom>
        </p:spPr>
      </p:pic>
      <p:sp>
        <p:nvSpPr>
          <p:cNvPr id="42" name="TextBox 41"/>
          <p:cNvSpPr txBox="1"/>
          <p:nvPr/>
        </p:nvSpPr>
        <p:spPr>
          <a:xfrm>
            <a:off x="11169101" y="2876550"/>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43" name="TextBox 42"/>
          <p:cNvSpPr txBox="1"/>
          <p:nvPr/>
        </p:nvSpPr>
        <p:spPr>
          <a:xfrm>
            <a:off x="8071485" y="3044190"/>
            <a:ext cx="3218358" cy="186689"/>
          </a:xfrm>
          <a:prstGeom prst="rect">
            <a:avLst/>
          </a:prstGeom>
          <a:noFill/>
        </p:spPr>
        <p:txBody>
          <a:bodyPr wrap="none" lIns="0" rIns="0" tIns="0" bIns="0">
            <a:spAutoFit/>
          </a:bodyPr>
          <a:lstStyle/>
          <a:p>
            <a:r>
              <a:rPr sz="1100" b="0">
                <a:solidFill>
                  <a:srgbClr val="2E2E2E"/>
                </a:solidFill>
                <a:latin typeface="Calibri"/>
              </a:rPr>
              <a:t>through 2036, trailing the North America benchmark of</a:t>
            </a:r>
          </a:p>
        </p:txBody>
      </p:sp>
      <p:pic>
        <p:nvPicPr>
          <p:cNvPr id="44" name="Picture 43" descr="lock.png"/>
          <p:cNvPicPr>
            <a:picLocks noChangeAspect="1"/>
          </p:cNvPicPr>
          <p:nvPr/>
        </p:nvPicPr>
        <p:blipFill>
          <a:blip r:embed="rId8"/>
          <a:stretch>
            <a:fillRect/>
          </a:stretch>
        </p:blipFill>
        <p:spPr>
          <a:xfrm>
            <a:off x="11237895" y="3034411"/>
            <a:ext cx="128699" cy="187198"/>
          </a:xfrm>
          <a:prstGeom prst="rect">
            <a:avLst/>
          </a:prstGeom>
        </p:spPr>
      </p:pic>
      <p:sp>
        <p:nvSpPr>
          <p:cNvPr id="45" name="TextBox 44"/>
          <p:cNvSpPr txBox="1"/>
          <p:nvPr/>
        </p:nvSpPr>
        <p:spPr>
          <a:xfrm>
            <a:off x="11405391"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6" name="Picture 45" descr="lock.png"/>
          <p:cNvPicPr>
            <a:picLocks noChangeAspect="1"/>
          </p:cNvPicPr>
          <p:nvPr/>
        </p:nvPicPr>
        <p:blipFill>
          <a:blip r:embed="rId8"/>
          <a:stretch>
            <a:fillRect/>
          </a:stretch>
        </p:blipFill>
        <p:spPr>
          <a:xfrm>
            <a:off x="8058017" y="3202051"/>
            <a:ext cx="128699" cy="187198"/>
          </a:xfrm>
          <a:prstGeom prst="rect">
            <a:avLst/>
          </a:prstGeom>
        </p:spPr>
      </p:pic>
      <p:sp>
        <p:nvSpPr>
          <p:cNvPr id="47" name="TextBox 46"/>
          <p:cNvSpPr txBox="1"/>
          <p:nvPr/>
        </p:nvSpPr>
        <p:spPr>
          <a:xfrm>
            <a:off x="8225513" y="321183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8" name="TextBox 47"/>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49" name="Picture 48" descr="lock.png"/>
          <p:cNvPicPr>
            <a:picLocks noChangeAspect="1"/>
          </p:cNvPicPr>
          <p:nvPr/>
        </p:nvPicPr>
        <p:blipFill>
          <a:blip r:embed="rId8"/>
          <a:stretch>
            <a:fillRect/>
          </a:stretch>
        </p:blipFill>
        <p:spPr>
          <a:xfrm>
            <a:off x="844592" y="5956680"/>
            <a:ext cx="128699" cy="187198"/>
          </a:xfrm>
          <a:prstGeom prst="rect">
            <a:avLst/>
          </a:prstGeom>
        </p:spPr>
      </p:pic>
      <p:sp>
        <p:nvSpPr>
          <p:cNvPr id="50" name="TextBox 49"/>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51" name="Picture 50" descr="lock.png"/>
          <p:cNvPicPr>
            <a:picLocks noChangeAspect="1"/>
          </p:cNvPicPr>
          <p:nvPr/>
        </p:nvPicPr>
        <p:blipFill>
          <a:blip r:embed="rId8"/>
          <a:stretch>
            <a:fillRect/>
          </a:stretch>
        </p:blipFill>
        <p:spPr>
          <a:xfrm>
            <a:off x="1995140" y="5956680"/>
            <a:ext cx="128699" cy="187198"/>
          </a:xfrm>
          <a:prstGeom prst="rect">
            <a:avLst/>
          </a:prstGeom>
        </p:spPr>
      </p:pic>
      <p:sp>
        <p:nvSpPr>
          <p:cNvPr id="52" name="TextBox 51"/>
          <p:cNvSpPr txBox="1"/>
          <p:nvPr/>
        </p:nvSpPr>
        <p:spPr>
          <a:xfrm>
            <a:off x="2162635" y="5966460"/>
            <a:ext cx="3364061" cy="186689"/>
          </a:xfrm>
          <a:prstGeom prst="rect">
            <a:avLst/>
          </a:prstGeom>
          <a:noFill/>
        </p:spPr>
        <p:txBody>
          <a:bodyPr wrap="none" lIns="0" rIns="0" tIns="0" bIns="0">
            <a:spAutoFit/>
          </a:bodyPr>
          <a:lstStyle/>
          <a:p>
            <a:r>
              <a:rPr sz="1100" b="0">
                <a:solidFill>
                  <a:srgbClr val="2E2E2E"/>
                </a:solidFill>
                <a:latin typeface="Calibri"/>
              </a:rPr>
              <a:t>of the North America ear wax removal products market in</a:t>
            </a:r>
          </a:p>
        </p:txBody>
      </p:sp>
      <p:sp>
        <p:nvSpPr>
          <p:cNvPr id="53" name="TextBox 52"/>
          <p:cNvSpPr txBox="1"/>
          <p:nvPr/>
        </p:nvSpPr>
        <p:spPr>
          <a:xfrm>
            <a:off x="257175" y="6134100"/>
            <a:ext cx="2132136" cy="186689"/>
          </a:xfrm>
          <a:prstGeom prst="rect">
            <a:avLst/>
          </a:prstGeom>
          <a:noFill/>
        </p:spPr>
        <p:txBody>
          <a:bodyPr wrap="none" lIns="0" rIns="0" tIns="0" bIns="0">
            <a:spAutoFit/>
          </a:bodyPr>
          <a:lstStyle/>
          <a:p>
            <a:r>
              <a:rPr sz="1100" b="0">
                <a:solidFill>
                  <a:srgbClr val="2E2E2E"/>
                </a:solidFill>
                <a:latin typeface="Calibri"/>
              </a:rPr>
              <a:t>2026; by 2036 those shares move to</a:t>
            </a:r>
          </a:p>
        </p:txBody>
      </p:sp>
      <p:pic>
        <p:nvPicPr>
          <p:cNvPr id="54" name="Picture 53" descr="lock.png"/>
          <p:cNvPicPr>
            <a:picLocks noChangeAspect="1"/>
          </p:cNvPicPr>
          <p:nvPr/>
        </p:nvPicPr>
        <p:blipFill>
          <a:blip r:embed="rId8"/>
          <a:stretch>
            <a:fillRect/>
          </a:stretch>
        </p:blipFill>
        <p:spPr>
          <a:xfrm>
            <a:off x="2337363" y="6124320"/>
            <a:ext cx="128699" cy="187198"/>
          </a:xfrm>
          <a:prstGeom prst="rect">
            <a:avLst/>
          </a:prstGeom>
        </p:spPr>
      </p:pic>
      <p:sp>
        <p:nvSpPr>
          <p:cNvPr id="55" name="TextBox 54"/>
          <p:cNvSpPr txBox="1"/>
          <p:nvPr/>
        </p:nvSpPr>
        <p:spPr>
          <a:xfrm>
            <a:off x="2504858"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6" name="Picture 55" descr="lock.png"/>
          <p:cNvPicPr>
            <a:picLocks noChangeAspect="1"/>
          </p:cNvPicPr>
          <p:nvPr/>
        </p:nvPicPr>
        <p:blipFill>
          <a:blip r:embed="rId8"/>
          <a:stretch>
            <a:fillRect/>
          </a:stretch>
        </p:blipFill>
        <p:spPr>
          <a:xfrm>
            <a:off x="2742753" y="6124320"/>
            <a:ext cx="128699" cy="187198"/>
          </a:xfrm>
          <a:prstGeom prst="rect">
            <a:avLst/>
          </a:prstGeom>
        </p:spPr>
      </p:pic>
      <p:sp>
        <p:nvSpPr>
          <p:cNvPr id="57" name="TextBox 56"/>
          <p:cNvSpPr txBox="1"/>
          <p:nvPr/>
        </p:nvSpPr>
        <p:spPr>
          <a:xfrm>
            <a:off x="2910249"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8" name="TextBox 57"/>
          <p:cNvSpPr txBox="1"/>
          <p:nvPr/>
        </p:nvSpPr>
        <p:spPr>
          <a:xfrm>
            <a:off x="6286500" y="5966460"/>
            <a:ext cx="1586979" cy="186689"/>
          </a:xfrm>
          <a:prstGeom prst="rect">
            <a:avLst/>
          </a:prstGeom>
          <a:noFill/>
        </p:spPr>
        <p:txBody>
          <a:bodyPr wrap="none" lIns="0" rIns="0" tIns="0" bIns="0">
            <a:spAutoFit/>
          </a:bodyPr>
          <a:lstStyle/>
          <a:p>
            <a:r>
              <a:rPr sz="1100" b="0">
                <a:solidFill>
                  <a:srgbClr val="2E2E2E"/>
                </a:solidFill>
                <a:latin typeface="Calibri"/>
              </a:rPr>
              <a:t>The forecast build-up adds</a:t>
            </a:r>
          </a:p>
        </p:txBody>
      </p:sp>
      <p:pic>
        <p:nvPicPr>
          <p:cNvPr id="59" name="Picture 58" descr="lock.png"/>
          <p:cNvPicPr>
            <a:picLocks noChangeAspect="1"/>
          </p:cNvPicPr>
          <p:nvPr/>
        </p:nvPicPr>
        <p:blipFill>
          <a:blip r:embed="rId8"/>
          <a:stretch>
            <a:fillRect/>
          </a:stretch>
        </p:blipFill>
        <p:spPr>
          <a:xfrm>
            <a:off x="7821530" y="5956680"/>
            <a:ext cx="128699" cy="187198"/>
          </a:xfrm>
          <a:prstGeom prst="rect">
            <a:avLst/>
          </a:prstGeom>
        </p:spPr>
      </p:pic>
      <p:sp>
        <p:nvSpPr>
          <p:cNvPr id="60" name="TextBox 59"/>
          <p:cNvSpPr txBox="1"/>
          <p:nvPr/>
        </p:nvSpPr>
        <p:spPr>
          <a:xfrm>
            <a:off x="7989026" y="5966460"/>
            <a:ext cx="3450828" cy="186689"/>
          </a:xfrm>
          <a:prstGeom prst="rect">
            <a:avLst/>
          </a:prstGeom>
          <a:noFill/>
        </p:spPr>
        <p:txBody>
          <a:bodyPr wrap="none" lIns="0" rIns="0" tIns="0" bIns="0">
            <a:spAutoFit/>
          </a:bodyPr>
          <a:lstStyle/>
          <a:p>
            <a:r>
              <a:rPr sz="1100" b="0">
                <a:solidFill>
                  <a:srgbClr val="2E2E2E"/>
                </a:solidFill>
                <a:latin typeface="Calibri"/>
              </a:rPr>
              <a:t>Mn Units between 2026 and 2036 the U.S. market grows to</a:t>
            </a:r>
          </a:p>
        </p:txBody>
      </p:sp>
      <p:pic>
        <p:nvPicPr>
          <p:cNvPr id="61" name="Picture 60" descr="lock.png"/>
          <p:cNvPicPr>
            <a:picLocks noChangeAspect="1"/>
          </p:cNvPicPr>
          <p:nvPr/>
        </p:nvPicPr>
        <p:blipFill>
          <a:blip r:embed="rId8"/>
          <a:stretch>
            <a:fillRect/>
          </a:stretch>
        </p:blipFill>
        <p:spPr>
          <a:xfrm>
            <a:off x="11387906" y="5956680"/>
            <a:ext cx="128699" cy="187198"/>
          </a:xfrm>
          <a:prstGeom prst="rect">
            <a:avLst/>
          </a:prstGeom>
        </p:spPr>
      </p:pic>
      <p:sp>
        <p:nvSpPr>
          <p:cNvPr id="62" name="TextBox 61"/>
          <p:cNvSpPr txBox="1"/>
          <p:nvPr/>
        </p:nvSpPr>
        <p:spPr>
          <a:xfrm>
            <a:off x="11555402" y="5966460"/>
            <a:ext cx="145777" cy="186689"/>
          </a:xfrm>
          <a:prstGeom prst="rect">
            <a:avLst/>
          </a:prstGeom>
          <a:noFill/>
        </p:spPr>
        <p:txBody>
          <a:bodyPr wrap="none" lIns="0" rIns="0" tIns="0" bIns="0">
            <a:spAutoFit/>
          </a:bodyPr>
          <a:lstStyle/>
          <a:p>
            <a:r>
              <a:rPr sz="1100" b="0">
                <a:solidFill>
                  <a:srgbClr val="2E2E2E"/>
                </a:solidFill>
                <a:latin typeface="Calibri"/>
              </a:rPr>
              <a:t>×</a:t>
            </a:r>
          </a:p>
        </p:txBody>
      </p:sp>
      <p:sp>
        <p:nvSpPr>
          <p:cNvPr id="63" name="TextBox 62"/>
          <p:cNvSpPr txBox="1"/>
          <p:nvPr/>
        </p:nvSpPr>
        <p:spPr>
          <a:xfrm>
            <a:off x="6286500" y="6134100"/>
            <a:ext cx="1755601" cy="186689"/>
          </a:xfrm>
          <a:prstGeom prst="rect">
            <a:avLst/>
          </a:prstGeom>
          <a:noFill/>
        </p:spPr>
        <p:txBody>
          <a:bodyPr wrap="none" lIns="0" rIns="0" tIns="0" bIns="0">
            <a:spAutoFit/>
          </a:bodyPr>
          <a:lstStyle/>
          <a:p>
            <a:r>
              <a:rPr sz="1100" b="0">
                <a:solidFill>
                  <a:srgbClr val="2E2E2E"/>
                </a:solidFill>
                <a:latin typeface="Calibri"/>
              </a:rPr>
              <a:t>its 2026 size over the decade.</a:t>
            </a:r>
          </a:p>
        </p:txBody>
      </p:sp>
      <p:sp>
        <p:nvSpPr>
          <p:cNvPr id="64" name="lockshield_16"/>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ockshield_19"/>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ockshield_24"/>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ockshield_27"/>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Ear Wax Removal Products Market Value Overview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value: size, growth, YoY momentum and gap to the Global benchmark</a:t>
            </a:r>
          </a:p>
        </p:txBody>
      </p:sp>
      <p:sp>
        <p:nvSpPr>
          <p:cNvPr id="10" name="Rounded Rectangle 9"/>
          <p:cNvSpPr/>
          <p:nvPr/>
        </p:nvSpPr>
        <p:spPr>
          <a:xfrm>
            <a:off x="1428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estimate year</a:t>
            </a:r>
          </a:p>
        </p:txBody>
      </p:sp>
      <p:sp>
        <p:nvSpPr>
          <p:cNvPr id="11" name="Rounded Rectangle 10"/>
          <p:cNvSpPr/>
          <p:nvPr/>
        </p:nvSpPr>
        <p:spPr>
          <a:xfrm>
            <a:off x="31527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forecast horizon</a:t>
            </a:r>
          </a:p>
        </p:txBody>
      </p:sp>
      <p:sp>
        <p:nvSpPr>
          <p:cNvPr id="12" name="Rounded Rectangle 11"/>
          <p:cNvSpPr/>
          <p:nvPr/>
        </p:nvSpPr>
        <p:spPr>
          <a:xfrm>
            <a:off x="61626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0E72AE"/>
                </a:solidFill>
                <a:latin typeface="Calibri"/>
              </a:rPr>
              <a:t> </a:t>
            </a:r>
          </a:p>
        </p:txBody>
      </p:sp>
      <p:sp>
        <p:nvSpPr>
          <p:cNvPr id="13" name="Rounded Rectangle 12"/>
          <p:cNvSpPr/>
          <p:nvPr/>
        </p:nvSpPr>
        <p:spPr>
          <a:xfrm>
            <a:off x="91725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819275"/>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(US$ Mn), 2021–2036</a:t>
            </a:r>
          </a:p>
        </p:txBody>
      </p:sp>
      <p:graphicFrame>
        <p:nvGraphicFramePr>
          <p:cNvPr id="16" name="Chart 15"/>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7" name="Rounded Rectangle 16"/>
          <p:cNvSpPr/>
          <p:nvPr/>
        </p:nvSpPr>
        <p:spPr>
          <a:xfrm>
            <a:off x="4991100" y="1819275"/>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9" name="Chart 18"/>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20" name="TextBox 19"/>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44D3A"/>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21" name="TextBox 20"/>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22" name="Rounded Rectangle 21"/>
          <p:cNvSpPr/>
          <p:nvPr/>
        </p:nvSpPr>
        <p:spPr>
          <a:xfrm>
            <a:off x="142875" y="3733800"/>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(US$ Mn)</a:t>
            </a:r>
          </a:p>
        </p:txBody>
      </p:sp>
      <p:graphicFrame>
        <p:nvGraphicFramePr>
          <p:cNvPr id="24" name="Chart 23"/>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5" name="Rounded Rectangle 24"/>
          <p:cNvSpPr/>
          <p:nvPr/>
        </p:nvSpPr>
        <p:spPr>
          <a:xfrm>
            <a:off x="4991100" y="3733800"/>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7" name="Chart 26"/>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8" name="Rounded Rectangle 27"/>
          <p:cNvSpPr/>
          <p:nvPr/>
        </p:nvSpPr>
        <p:spPr>
          <a:xfrm>
            <a:off x="142875"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9" name="Rounded Rectangle 28"/>
          <p:cNvSpPr/>
          <p:nvPr/>
        </p:nvSpPr>
        <p:spPr>
          <a:xfrm>
            <a:off x="6172200"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8"/>
          <a:stretch>
            <a:fillRect/>
          </a:stretch>
        </p:blipFill>
        <p:spPr>
          <a:xfrm>
            <a:off x="1493044" y="1219200"/>
            <a:ext cx="157162" cy="228600"/>
          </a:xfrm>
          <a:prstGeom prst="rect">
            <a:avLst/>
          </a:prstGeom>
        </p:spPr>
      </p:pic>
      <p:pic>
        <p:nvPicPr>
          <p:cNvPr id="32" name="Picture 31" descr="lock.png"/>
          <p:cNvPicPr>
            <a:picLocks noChangeAspect="1"/>
          </p:cNvPicPr>
          <p:nvPr/>
        </p:nvPicPr>
        <p:blipFill>
          <a:blip r:embed="rId8"/>
          <a:stretch>
            <a:fillRect/>
          </a:stretch>
        </p:blipFill>
        <p:spPr>
          <a:xfrm>
            <a:off x="4502944" y="1219200"/>
            <a:ext cx="157162" cy="228600"/>
          </a:xfrm>
          <a:prstGeom prst="rect">
            <a:avLst/>
          </a:prstGeom>
        </p:spPr>
      </p:pic>
      <p:pic>
        <p:nvPicPr>
          <p:cNvPr id="33" name="Picture 32" descr="lock.png"/>
          <p:cNvPicPr>
            <a:picLocks noChangeAspect="1"/>
          </p:cNvPicPr>
          <p:nvPr/>
        </p:nvPicPr>
        <p:blipFill>
          <a:blip r:embed="rId8"/>
          <a:stretch>
            <a:fillRect/>
          </a:stretch>
        </p:blipFill>
        <p:spPr>
          <a:xfrm>
            <a:off x="7512844" y="1303020"/>
            <a:ext cx="157162" cy="228600"/>
          </a:xfrm>
          <a:prstGeom prst="rect">
            <a:avLst/>
          </a:prstGeom>
        </p:spPr>
      </p:pic>
      <p:pic>
        <p:nvPicPr>
          <p:cNvPr id="34" name="Picture 33" descr="lock.png"/>
          <p:cNvPicPr>
            <a:picLocks noChangeAspect="1"/>
          </p:cNvPicPr>
          <p:nvPr/>
        </p:nvPicPr>
        <p:blipFill>
          <a:blip r:embed="rId8"/>
          <a:stretch>
            <a:fillRect/>
          </a:stretch>
        </p:blipFill>
        <p:spPr>
          <a:xfrm>
            <a:off x="10522744" y="1303020"/>
            <a:ext cx="157162" cy="228600"/>
          </a:xfrm>
          <a:prstGeom prst="rect">
            <a:avLst/>
          </a:prstGeom>
        </p:spPr>
      </p:pic>
      <p:pic>
        <p:nvPicPr>
          <p:cNvPr id="35" name="Picture 34" descr="lock.png"/>
          <p:cNvPicPr>
            <a:picLocks noChangeAspect="1"/>
          </p:cNvPicPr>
          <p:nvPr/>
        </p:nvPicPr>
        <p:blipFill>
          <a:blip r:embed="rId8"/>
          <a:stretch>
            <a:fillRect/>
          </a:stretch>
        </p:blipFill>
        <p:spPr>
          <a:xfrm>
            <a:off x="2554414" y="2661285"/>
            <a:ext cx="165021" cy="240030"/>
          </a:xfrm>
          <a:prstGeom prst="rect">
            <a:avLst/>
          </a:prstGeom>
        </p:spPr>
      </p:pic>
      <p:pic>
        <p:nvPicPr>
          <p:cNvPr id="36" name="Picture 35" descr="lock.png"/>
          <p:cNvPicPr>
            <a:picLocks noChangeAspect="1"/>
          </p:cNvPicPr>
          <p:nvPr/>
        </p:nvPicPr>
        <p:blipFill>
          <a:blip r:embed="rId8"/>
          <a:stretch>
            <a:fillRect/>
          </a:stretch>
        </p:blipFill>
        <p:spPr>
          <a:xfrm>
            <a:off x="6762365" y="2599095"/>
            <a:ext cx="191595" cy="278683"/>
          </a:xfrm>
          <a:prstGeom prst="rect">
            <a:avLst/>
          </a:prstGeom>
        </p:spPr>
      </p:pic>
      <p:pic>
        <p:nvPicPr>
          <p:cNvPr id="37" name="Picture 36" descr="lock.png"/>
          <p:cNvPicPr>
            <a:picLocks noChangeAspect="1"/>
          </p:cNvPicPr>
          <p:nvPr/>
        </p:nvPicPr>
        <p:blipFill>
          <a:blip r:embed="rId8"/>
          <a:stretch>
            <a:fillRect/>
          </a:stretch>
        </p:blipFill>
        <p:spPr>
          <a:xfrm>
            <a:off x="9878378" y="2141220"/>
            <a:ext cx="230504" cy="335279"/>
          </a:xfrm>
          <a:prstGeom prst="rect">
            <a:avLst/>
          </a:prstGeom>
        </p:spPr>
      </p:pic>
      <p:pic>
        <p:nvPicPr>
          <p:cNvPr id="38" name="Picture 37" descr="lock.png"/>
          <p:cNvPicPr>
            <a:picLocks noChangeAspect="1"/>
          </p:cNvPicPr>
          <p:nvPr/>
        </p:nvPicPr>
        <p:blipFill>
          <a:blip r:embed="rId8"/>
          <a:stretch>
            <a:fillRect/>
          </a:stretch>
        </p:blipFill>
        <p:spPr>
          <a:xfrm>
            <a:off x="2554414" y="4575810"/>
            <a:ext cx="165021" cy="240030"/>
          </a:xfrm>
          <a:prstGeom prst="rect">
            <a:avLst/>
          </a:prstGeom>
        </p:spPr>
      </p:pic>
      <p:pic>
        <p:nvPicPr>
          <p:cNvPr id="39" name="Picture 38" descr="lock.png"/>
          <p:cNvPicPr>
            <a:picLocks noChangeAspect="1"/>
          </p:cNvPicPr>
          <p:nvPr/>
        </p:nvPicPr>
        <p:blipFill>
          <a:blip r:embed="rId8"/>
          <a:stretch>
            <a:fillRect/>
          </a:stretch>
        </p:blipFill>
        <p:spPr>
          <a:xfrm>
            <a:off x="8715708" y="4462938"/>
            <a:ext cx="261282" cy="380047"/>
          </a:xfrm>
          <a:prstGeom prst="rect">
            <a:avLst/>
          </a:prstGeom>
        </p:spPr>
      </p:pic>
      <p:sp>
        <p:nvSpPr>
          <p:cNvPr id="40" name="TextBox 39"/>
          <p:cNvSpPr txBox="1"/>
          <p:nvPr/>
        </p:nvSpPr>
        <p:spPr>
          <a:xfrm>
            <a:off x="8071485" y="2876550"/>
            <a:ext cx="2982069" cy="186689"/>
          </a:xfrm>
          <a:prstGeom prst="rect">
            <a:avLst/>
          </a:prstGeom>
          <a:noFill/>
        </p:spPr>
        <p:txBody>
          <a:bodyPr wrap="none" lIns="0" rIns="0" tIns="0" bIns="0">
            <a:spAutoFit/>
          </a:bodyPr>
          <a:lstStyle/>
          <a:p>
            <a:r>
              <a:rPr sz="1100" b="0">
                <a:solidFill>
                  <a:srgbClr val="2E2E2E"/>
                </a:solidFill>
                <a:latin typeface="Calibri"/>
              </a:rPr>
              <a:t>U.S.'s ear wax removal products market expands at</a:t>
            </a:r>
          </a:p>
        </p:txBody>
      </p:sp>
      <p:pic>
        <p:nvPicPr>
          <p:cNvPr id="41" name="Picture 40" descr="lock.png"/>
          <p:cNvPicPr>
            <a:picLocks noChangeAspect="1"/>
          </p:cNvPicPr>
          <p:nvPr/>
        </p:nvPicPr>
        <p:blipFill>
          <a:blip r:embed="rId8"/>
          <a:stretch>
            <a:fillRect/>
          </a:stretch>
        </p:blipFill>
        <p:spPr>
          <a:xfrm>
            <a:off x="11001605" y="2866771"/>
            <a:ext cx="128699" cy="187198"/>
          </a:xfrm>
          <a:prstGeom prst="rect">
            <a:avLst/>
          </a:prstGeom>
        </p:spPr>
      </p:pic>
      <p:sp>
        <p:nvSpPr>
          <p:cNvPr id="42" name="TextBox 41"/>
          <p:cNvSpPr txBox="1"/>
          <p:nvPr/>
        </p:nvSpPr>
        <p:spPr>
          <a:xfrm>
            <a:off x="11169101" y="2876550"/>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43" name="TextBox 42"/>
          <p:cNvSpPr txBox="1"/>
          <p:nvPr/>
        </p:nvSpPr>
        <p:spPr>
          <a:xfrm>
            <a:off x="8071485" y="3044190"/>
            <a:ext cx="3218358" cy="186689"/>
          </a:xfrm>
          <a:prstGeom prst="rect">
            <a:avLst/>
          </a:prstGeom>
          <a:noFill/>
        </p:spPr>
        <p:txBody>
          <a:bodyPr wrap="none" lIns="0" rIns="0" tIns="0" bIns="0">
            <a:spAutoFit/>
          </a:bodyPr>
          <a:lstStyle/>
          <a:p>
            <a:r>
              <a:rPr sz="1100" b="0">
                <a:solidFill>
                  <a:srgbClr val="2E2E2E"/>
                </a:solidFill>
                <a:latin typeface="Calibri"/>
              </a:rPr>
              <a:t>through 2036, trailing the North America benchmark of</a:t>
            </a:r>
          </a:p>
        </p:txBody>
      </p:sp>
      <p:pic>
        <p:nvPicPr>
          <p:cNvPr id="44" name="Picture 43" descr="lock.png"/>
          <p:cNvPicPr>
            <a:picLocks noChangeAspect="1"/>
          </p:cNvPicPr>
          <p:nvPr/>
        </p:nvPicPr>
        <p:blipFill>
          <a:blip r:embed="rId8"/>
          <a:stretch>
            <a:fillRect/>
          </a:stretch>
        </p:blipFill>
        <p:spPr>
          <a:xfrm>
            <a:off x="11237895" y="3034411"/>
            <a:ext cx="128699" cy="187198"/>
          </a:xfrm>
          <a:prstGeom prst="rect">
            <a:avLst/>
          </a:prstGeom>
        </p:spPr>
      </p:pic>
      <p:sp>
        <p:nvSpPr>
          <p:cNvPr id="45" name="TextBox 44"/>
          <p:cNvSpPr txBox="1"/>
          <p:nvPr/>
        </p:nvSpPr>
        <p:spPr>
          <a:xfrm>
            <a:off x="11405391"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6" name="Picture 45" descr="lock.png"/>
          <p:cNvPicPr>
            <a:picLocks noChangeAspect="1"/>
          </p:cNvPicPr>
          <p:nvPr/>
        </p:nvPicPr>
        <p:blipFill>
          <a:blip r:embed="rId8"/>
          <a:stretch>
            <a:fillRect/>
          </a:stretch>
        </p:blipFill>
        <p:spPr>
          <a:xfrm>
            <a:off x="8058017" y="3202051"/>
            <a:ext cx="128699" cy="187198"/>
          </a:xfrm>
          <a:prstGeom prst="rect">
            <a:avLst/>
          </a:prstGeom>
        </p:spPr>
      </p:pic>
      <p:sp>
        <p:nvSpPr>
          <p:cNvPr id="47" name="TextBox 46"/>
          <p:cNvSpPr txBox="1"/>
          <p:nvPr/>
        </p:nvSpPr>
        <p:spPr>
          <a:xfrm>
            <a:off x="8225513" y="321183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8" name="TextBox 47"/>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49" name="Picture 48" descr="lock.png"/>
          <p:cNvPicPr>
            <a:picLocks noChangeAspect="1"/>
          </p:cNvPicPr>
          <p:nvPr/>
        </p:nvPicPr>
        <p:blipFill>
          <a:blip r:embed="rId8"/>
          <a:stretch>
            <a:fillRect/>
          </a:stretch>
        </p:blipFill>
        <p:spPr>
          <a:xfrm>
            <a:off x="844592" y="5956680"/>
            <a:ext cx="128699" cy="187198"/>
          </a:xfrm>
          <a:prstGeom prst="rect">
            <a:avLst/>
          </a:prstGeom>
        </p:spPr>
      </p:pic>
      <p:sp>
        <p:nvSpPr>
          <p:cNvPr id="50" name="TextBox 49"/>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51" name="Picture 50" descr="lock.png"/>
          <p:cNvPicPr>
            <a:picLocks noChangeAspect="1"/>
          </p:cNvPicPr>
          <p:nvPr/>
        </p:nvPicPr>
        <p:blipFill>
          <a:blip r:embed="rId8"/>
          <a:stretch>
            <a:fillRect/>
          </a:stretch>
        </p:blipFill>
        <p:spPr>
          <a:xfrm>
            <a:off x="1995140" y="5956680"/>
            <a:ext cx="128699" cy="187198"/>
          </a:xfrm>
          <a:prstGeom prst="rect">
            <a:avLst/>
          </a:prstGeom>
        </p:spPr>
      </p:pic>
      <p:sp>
        <p:nvSpPr>
          <p:cNvPr id="52" name="TextBox 51"/>
          <p:cNvSpPr txBox="1"/>
          <p:nvPr/>
        </p:nvSpPr>
        <p:spPr>
          <a:xfrm>
            <a:off x="2162635" y="5966460"/>
            <a:ext cx="3364061" cy="186689"/>
          </a:xfrm>
          <a:prstGeom prst="rect">
            <a:avLst/>
          </a:prstGeom>
          <a:noFill/>
        </p:spPr>
        <p:txBody>
          <a:bodyPr wrap="none" lIns="0" rIns="0" tIns="0" bIns="0">
            <a:spAutoFit/>
          </a:bodyPr>
          <a:lstStyle/>
          <a:p>
            <a:r>
              <a:rPr sz="1100" b="0">
                <a:solidFill>
                  <a:srgbClr val="2E2E2E"/>
                </a:solidFill>
                <a:latin typeface="Calibri"/>
              </a:rPr>
              <a:t>of the North America ear wax removal products market in</a:t>
            </a:r>
          </a:p>
        </p:txBody>
      </p:sp>
      <p:sp>
        <p:nvSpPr>
          <p:cNvPr id="53" name="TextBox 52"/>
          <p:cNvSpPr txBox="1"/>
          <p:nvPr/>
        </p:nvSpPr>
        <p:spPr>
          <a:xfrm>
            <a:off x="257175" y="6134100"/>
            <a:ext cx="2132136" cy="186689"/>
          </a:xfrm>
          <a:prstGeom prst="rect">
            <a:avLst/>
          </a:prstGeom>
          <a:noFill/>
        </p:spPr>
        <p:txBody>
          <a:bodyPr wrap="none" lIns="0" rIns="0" tIns="0" bIns="0">
            <a:spAutoFit/>
          </a:bodyPr>
          <a:lstStyle/>
          <a:p>
            <a:r>
              <a:rPr sz="1100" b="0">
                <a:solidFill>
                  <a:srgbClr val="2E2E2E"/>
                </a:solidFill>
                <a:latin typeface="Calibri"/>
              </a:rPr>
              <a:t>2026; by 2036 those shares move to</a:t>
            </a:r>
          </a:p>
        </p:txBody>
      </p:sp>
      <p:pic>
        <p:nvPicPr>
          <p:cNvPr id="54" name="Picture 53" descr="lock.png"/>
          <p:cNvPicPr>
            <a:picLocks noChangeAspect="1"/>
          </p:cNvPicPr>
          <p:nvPr/>
        </p:nvPicPr>
        <p:blipFill>
          <a:blip r:embed="rId8"/>
          <a:stretch>
            <a:fillRect/>
          </a:stretch>
        </p:blipFill>
        <p:spPr>
          <a:xfrm>
            <a:off x="2337363" y="6124320"/>
            <a:ext cx="128699" cy="187198"/>
          </a:xfrm>
          <a:prstGeom prst="rect">
            <a:avLst/>
          </a:prstGeom>
        </p:spPr>
      </p:pic>
      <p:sp>
        <p:nvSpPr>
          <p:cNvPr id="55" name="TextBox 54"/>
          <p:cNvSpPr txBox="1"/>
          <p:nvPr/>
        </p:nvSpPr>
        <p:spPr>
          <a:xfrm>
            <a:off x="2504858"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6" name="Picture 55" descr="lock.png"/>
          <p:cNvPicPr>
            <a:picLocks noChangeAspect="1"/>
          </p:cNvPicPr>
          <p:nvPr/>
        </p:nvPicPr>
        <p:blipFill>
          <a:blip r:embed="rId8"/>
          <a:stretch>
            <a:fillRect/>
          </a:stretch>
        </p:blipFill>
        <p:spPr>
          <a:xfrm>
            <a:off x="2742753" y="6124320"/>
            <a:ext cx="128699" cy="187198"/>
          </a:xfrm>
          <a:prstGeom prst="rect">
            <a:avLst/>
          </a:prstGeom>
        </p:spPr>
      </p:pic>
      <p:sp>
        <p:nvSpPr>
          <p:cNvPr id="57" name="TextBox 56"/>
          <p:cNvSpPr txBox="1"/>
          <p:nvPr/>
        </p:nvSpPr>
        <p:spPr>
          <a:xfrm>
            <a:off x="2910249"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8" name="TextBox 57"/>
          <p:cNvSpPr txBox="1"/>
          <p:nvPr/>
        </p:nvSpPr>
        <p:spPr>
          <a:xfrm>
            <a:off x="6286500" y="5882640"/>
            <a:ext cx="3103215" cy="186689"/>
          </a:xfrm>
          <a:prstGeom prst="rect">
            <a:avLst/>
          </a:prstGeom>
          <a:noFill/>
        </p:spPr>
        <p:txBody>
          <a:bodyPr wrap="none" lIns="0" rIns="0" tIns="0" bIns="0">
            <a:spAutoFit/>
          </a:bodyPr>
          <a:lstStyle/>
          <a:p>
            <a:r>
              <a:rPr sz="1100" b="0">
                <a:solidFill>
                  <a:srgbClr val="2E2E2E"/>
                </a:solidFill>
                <a:latin typeface="Calibri"/>
              </a:rPr>
              <a:t>The market in the U.S. is expected to account for US$</a:t>
            </a:r>
          </a:p>
        </p:txBody>
      </p:sp>
      <p:pic>
        <p:nvPicPr>
          <p:cNvPr id="59" name="Picture 58" descr="lock.png"/>
          <p:cNvPicPr>
            <a:picLocks noChangeAspect="1"/>
          </p:cNvPicPr>
          <p:nvPr/>
        </p:nvPicPr>
        <p:blipFill>
          <a:blip r:embed="rId8"/>
          <a:stretch>
            <a:fillRect/>
          </a:stretch>
        </p:blipFill>
        <p:spPr>
          <a:xfrm>
            <a:off x="9337766" y="5872860"/>
            <a:ext cx="128699" cy="187198"/>
          </a:xfrm>
          <a:prstGeom prst="rect">
            <a:avLst/>
          </a:prstGeom>
        </p:spPr>
      </p:pic>
      <p:sp>
        <p:nvSpPr>
          <p:cNvPr id="60" name="TextBox 59"/>
          <p:cNvSpPr txBox="1"/>
          <p:nvPr/>
        </p:nvSpPr>
        <p:spPr>
          <a:xfrm>
            <a:off x="9505262" y="5882640"/>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61" name="Picture 60" descr="lock.png"/>
          <p:cNvPicPr>
            <a:picLocks noChangeAspect="1"/>
          </p:cNvPicPr>
          <p:nvPr/>
        </p:nvPicPr>
        <p:blipFill>
          <a:blip r:embed="rId8"/>
          <a:stretch>
            <a:fillRect/>
          </a:stretch>
        </p:blipFill>
        <p:spPr>
          <a:xfrm>
            <a:off x="10948871" y="5872860"/>
            <a:ext cx="128699" cy="187198"/>
          </a:xfrm>
          <a:prstGeom prst="rect">
            <a:avLst/>
          </a:prstGeom>
        </p:spPr>
      </p:pic>
      <p:sp>
        <p:nvSpPr>
          <p:cNvPr id="62" name="TextBox 61"/>
          <p:cNvSpPr txBox="1"/>
          <p:nvPr/>
        </p:nvSpPr>
        <p:spPr>
          <a:xfrm>
            <a:off x="11116366" y="5882640"/>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63" name="TextBox 62"/>
          <p:cNvSpPr txBox="1"/>
          <p:nvPr/>
        </p:nvSpPr>
        <p:spPr>
          <a:xfrm>
            <a:off x="6286500" y="6050280"/>
            <a:ext cx="4694758" cy="186689"/>
          </a:xfrm>
          <a:prstGeom prst="rect">
            <a:avLst/>
          </a:prstGeom>
          <a:noFill/>
        </p:spPr>
        <p:txBody>
          <a:bodyPr wrap="none" lIns="0" rIns="0" tIns="0" bIns="0">
            <a:spAutoFit/>
          </a:bodyPr>
          <a:lstStyle/>
          <a:p>
            <a:r>
              <a:rPr sz="1100" b="0">
                <a:solidFill>
                  <a:srgbClr val="2E2E2E"/>
                </a:solidFill>
                <a:latin typeface="Calibri"/>
              </a:rPr>
              <a:t>forecast period. The U.S. is expected to create an incremental opportunity of US$</a:t>
            </a:r>
          </a:p>
        </p:txBody>
      </p:sp>
      <p:pic>
        <p:nvPicPr>
          <p:cNvPr id="64" name="Picture 63" descr="lock.png"/>
          <p:cNvPicPr>
            <a:picLocks noChangeAspect="1"/>
          </p:cNvPicPr>
          <p:nvPr/>
        </p:nvPicPr>
        <p:blipFill>
          <a:blip r:embed="rId8"/>
          <a:stretch>
            <a:fillRect/>
          </a:stretch>
        </p:blipFill>
        <p:spPr>
          <a:xfrm>
            <a:off x="10929309" y="6040501"/>
            <a:ext cx="128699" cy="187198"/>
          </a:xfrm>
          <a:prstGeom prst="rect">
            <a:avLst/>
          </a:prstGeom>
        </p:spPr>
      </p:pic>
      <p:sp>
        <p:nvSpPr>
          <p:cNvPr id="65" name="TextBox 64"/>
          <p:cNvSpPr txBox="1"/>
          <p:nvPr/>
        </p:nvSpPr>
        <p:spPr>
          <a:xfrm>
            <a:off x="11096805" y="6050280"/>
            <a:ext cx="687387" cy="186689"/>
          </a:xfrm>
          <a:prstGeom prst="rect">
            <a:avLst/>
          </a:prstGeom>
          <a:noFill/>
        </p:spPr>
        <p:txBody>
          <a:bodyPr wrap="none" lIns="0" rIns="0" tIns="0" bIns="0">
            <a:spAutoFit/>
          </a:bodyPr>
          <a:lstStyle/>
          <a:p>
            <a:r>
              <a:rPr sz="1100" b="0">
                <a:solidFill>
                  <a:srgbClr val="2E2E2E"/>
                </a:solidFill>
                <a:latin typeface="Calibri"/>
              </a:rPr>
              <a:t>Mn for the</a:t>
            </a:r>
          </a:p>
        </p:txBody>
      </p:sp>
      <p:sp>
        <p:nvSpPr>
          <p:cNvPr id="66" name="TextBox 65"/>
          <p:cNvSpPr txBox="1"/>
          <p:nvPr/>
        </p:nvSpPr>
        <p:spPr>
          <a:xfrm>
            <a:off x="6286500" y="6217920"/>
            <a:ext cx="3536503" cy="186689"/>
          </a:xfrm>
          <a:prstGeom prst="rect">
            <a:avLst/>
          </a:prstGeom>
          <a:noFill/>
        </p:spPr>
        <p:txBody>
          <a:bodyPr wrap="none" lIns="0" rIns="0" tIns="0" bIns="0">
            <a:spAutoFit/>
          </a:bodyPr>
          <a:lstStyle/>
          <a:p>
            <a:r>
              <a:rPr sz="1100" b="0">
                <a:solidFill>
                  <a:srgbClr val="2E2E2E"/>
                </a:solidFill>
                <a:latin typeface="Calibri"/>
              </a:rPr>
              <a:t>overall ear wax removal products market from 2025 to 2036.</a:t>
            </a:r>
          </a:p>
        </p:txBody>
      </p:sp>
      <p:sp>
        <p:nvSpPr>
          <p:cNvPr id="67" name="lockshield_16"/>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ockshield_19"/>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lockshield_24"/>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lockshield_27"/>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Ear Wax Removal Products Market Key Segments Overview, By Value (2026)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U.S.'s key segments by value, highlighting the leading sub-segment of every segmentation</a:t>
            </a:r>
          </a:p>
        </p:txBody>
      </p:sp>
      <p:sp>
        <p:nvSpPr>
          <p:cNvPr id="10" name="Rounded Rectangle 9"/>
          <p:cNvSpPr/>
          <p:nvPr/>
        </p:nvSpPr>
        <p:spPr>
          <a:xfrm>
            <a:off x="142875" y="981075"/>
            <a:ext cx="2857500" cy="3790950"/>
          </a:xfrm>
          <a:prstGeom prst="roundRect">
            <a:avLst>
              <a:gd name="adj" fmla="val 2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Type  (US$ Mn)</a:t>
            </a:r>
          </a:p>
        </p:txBody>
      </p:sp>
      <p:graphicFrame>
        <p:nvGraphicFramePr>
          <p:cNvPr id="12" name="Chart 11"/>
          <p:cNvGraphicFramePr>
            <a:graphicFrameLocks noGrp="1"/>
          </p:cNvGraphicFramePr>
          <p:nvPr/>
        </p:nvGraphicFramePr>
        <p:xfrm>
          <a:off x="238125" y="1266825"/>
          <a:ext cx="2667000" cy="3448050"/>
        </p:xfrm>
        <a:graphic>
          <a:graphicData uri="http://schemas.openxmlformats.org/drawingml/2006/chart">
            <c:chart xmlns:c="http://schemas.openxmlformats.org/drawingml/2006/chart" r:id="rId3"/>
          </a:graphicData>
        </a:graphic>
      </p:graphicFrame>
      <p:sp>
        <p:nvSpPr>
          <p:cNvPr id="13" name="Rounded Rectangle 12"/>
          <p:cNvSpPr/>
          <p:nvPr/>
        </p:nvSpPr>
        <p:spPr>
          <a:xfrm>
            <a:off x="3152775" y="981075"/>
            <a:ext cx="2857500" cy="3790950"/>
          </a:xfrm>
          <a:prstGeom prst="roundRect">
            <a:avLst>
              <a:gd name="adj" fmla="val 2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80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End User  (US$ Mn)</a:t>
            </a:r>
          </a:p>
        </p:txBody>
      </p:sp>
      <p:graphicFrame>
        <p:nvGraphicFramePr>
          <p:cNvPr id="15" name="Chart 14"/>
          <p:cNvGraphicFramePr>
            <a:graphicFrameLocks noGrp="1"/>
          </p:cNvGraphicFramePr>
          <p:nvPr/>
        </p:nvGraphicFramePr>
        <p:xfrm>
          <a:off x="3248025" y="1266825"/>
          <a:ext cx="2667000" cy="3448050"/>
        </p:xfrm>
        <a:graphic>
          <a:graphicData uri="http://schemas.openxmlformats.org/drawingml/2006/chart">
            <c:chart xmlns:c="http://schemas.openxmlformats.org/drawingml/2006/chart" r:id="rId4"/>
          </a:graphicData>
        </a:graphic>
      </p:graphicFrame>
      <p:sp>
        <p:nvSpPr>
          <p:cNvPr id="16" name="Rounded Rectangle 15"/>
          <p:cNvSpPr/>
          <p:nvPr/>
        </p:nvSpPr>
        <p:spPr>
          <a:xfrm>
            <a:off x="6162675" y="981075"/>
            <a:ext cx="2857500" cy="3790950"/>
          </a:xfrm>
          <a:prstGeom prst="roundRect">
            <a:avLst>
              <a:gd name="adj" fmla="val 2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579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Sales Channel  (US$ Mn)</a:t>
            </a:r>
          </a:p>
        </p:txBody>
      </p:sp>
      <p:graphicFrame>
        <p:nvGraphicFramePr>
          <p:cNvPr id="18" name="Chart 17"/>
          <p:cNvGraphicFramePr>
            <a:graphicFrameLocks noGrp="1"/>
          </p:cNvGraphicFramePr>
          <p:nvPr/>
        </p:nvGraphicFramePr>
        <p:xfrm>
          <a:off x="6257925" y="1266825"/>
          <a:ext cx="2667000" cy="3448050"/>
        </p:xfrm>
        <a:graphic>
          <a:graphicData uri="http://schemas.openxmlformats.org/drawingml/2006/chart">
            <c:chart xmlns:c="http://schemas.openxmlformats.org/drawingml/2006/chart" r:id="rId5"/>
          </a:graphicData>
        </a:graphic>
      </p:graphicFrame>
      <p:sp>
        <p:nvSpPr>
          <p:cNvPr id="19" name="Rounded Rectangle 18"/>
          <p:cNvSpPr/>
          <p:nvPr/>
        </p:nvSpPr>
        <p:spPr>
          <a:xfrm>
            <a:off x="9172575" y="981075"/>
            <a:ext cx="2857500" cy="3790950"/>
          </a:xfrm>
          <a:prstGeom prst="roundRect">
            <a:avLst>
              <a:gd name="adj" fmla="val 2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678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Age Group  (US$ Mn)</a:t>
            </a:r>
          </a:p>
        </p:txBody>
      </p:sp>
      <p:graphicFrame>
        <p:nvGraphicFramePr>
          <p:cNvPr id="21" name="Chart 20"/>
          <p:cNvGraphicFramePr>
            <a:graphicFrameLocks noGrp="1"/>
          </p:cNvGraphicFramePr>
          <p:nvPr/>
        </p:nvGraphicFramePr>
        <p:xfrm>
          <a:off x="9267825" y="1266825"/>
          <a:ext cx="2667000" cy="3448050"/>
        </p:xfrm>
        <a:graphic>
          <a:graphicData uri="http://schemas.openxmlformats.org/drawingml/2006/chart">
            <c:chart xmlns:c="http://schemas.openxmlformats.org/drawingml/2006/chart" r:id="rId6"/>
          </a:graphicData>
        </a:graphic>
      </p:graphicFrame>
      <p:sp>
        <p:nvSpPr>
          <p:cNvPr id="22" name="Rounded Rectangle 21"/>
          <p:cNvSpPr/>
          <p:nvPr/>
        </p:nvSpPr>
        <p:spPr>
          <a:xfrm>
            <a:off x="142875" y="4905375"/>
            <a:ext cx="11906250" cy="1714500"/>
          </a:xfrm>
          <a:prstGeom prst="roundRect">
            <a:avLst>
              <a:gd name="adj" fmla="val 444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991100"/>
            <a:ext cx="11639550" cy="209550"/>
          </a:xfrm>
          <a:prstGeom prst="rect">
            <a:avLst/>
          </a:prstGeom>
          <a:noFill/>
        </p:spPr>
        <p:txBody>
          <a:bodyPr wrap="square" lIns="0" rIns="19050" tIns="9525" bIns="9525">
            <a:spAutoFit/>
          </a:bodyPr>
          <a:lstStyle/>
          <a:p>
            <a:pPr algn="l"/>
            <a:r>
              <a:rPr sz="1300" b="1">
                <a:solidFill>
                  <a:srgbClr val="0B2E4A"/>
                </a:solidFill>
                <a:latin typeface="Calibri"/>
              </a:rPr>
              <a:t/>
            </a:r>
          </a:p>
        </p:txBody>
      </p:sp>
      <p:sp>
        <p:nvSpPr>
          <p:cNvPr id="24" name="Rectangle 23"/>
          <p:cNvSpPr/>
          <p:nvPr/>
        </p:nvSpPr>
        <p:spPr>
          <a:xfrm>
            <a:off x="276225" y="52292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225" y="5314950"/>
            <a:ext cx="11639550" cy="12287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7" name="Picture 26" descr="lock.png"/>
          <p:cNvPicPr>
            <a:picLocks noChangeAspect="1"/>
          </p:cNvPicPr>
          <p:nvPr/>
        </p:nvPicPr>
        <p:blipFill>
          <a:blip r:embed="rId8"/>
          <a:stretch>
            <a:fillRect/>
          </a:stretch>
        </p:blipFill>
        <p:spPr>
          <a:xfrm>
            <a:off x="1811655" y="2771775"/>
            <a:ext cx="183356" cy="266700"/>
          </a:xfrm>
          <a:prstGeom prst="rect">
            <a:avLst/>
          </a:prstGeom>
        </p:spPr>
      </p:pic>
      <p:pic>
        <p:nvPicPr>
          <p:cNvPr id="28" name="Picture 27" descr="lock.png"/>
          <p:cNvPicPr>
            <a:picLocks noChangeAspect="1"/>
          </p:cNvPicPr>
          <p:nvPr/>
        </p:nvPicPr>
        <p:blipFill>
          <a:blip r:embed="rId8"/>
          <a:stretch>
            <a:fillRect/>
          </a:stretch>
        </p:blipFill>
        <p:spPr>
          <a:xfrm>
            <a:off x="4821555" y="2771775"/>
            <a:ext cx="183356" cy="266700"/>
          </a:xfrm>
          <a:prstGeom prst="rect">
            <a:avLst/>
          </a:prstGeom>
        </p:spPr>
      </p:pic>
      <p:pic>
        <p:nvPicPr>
          <p:cNvPr id="29" name="Picture 28" descr="lock.png"/>
          <p:cNvPicPr>
            <a:picLocks noChangeAspect="1"/>
          </p:cNvPicPr>
          <p:nvPr/>
        </p:nvPicPr>
        <p:blipFill>
          <a:blip r:embed="rId8"/>
          <a:stretch>
            <a:fillRect/>
          </a:stretch>
        </p:blipFill>
        <p:spPr>
          <a:xfrm>
            <a:off x="7831455" y="2771775"/>
            <a:ext cx="183356" cy="266700"/>
          </a:xfrm>
          <a:prstGeom prst="rect">
            <a:avLst/>
          </a:prstGeom>
        </p:spPr>
      </p:pic>
      <p:pic>
        <p:nvPicPr>
          <p:cNvPr id="30" name="Picture 29" descr="lock.png"/>
          <p:cNvPicPr>
            <a:picLocks noChangeAspect="1"/>
          </p:cNvPicPr>
          <p:nvPr/>
        </p:nvPicPr>
        <p:blipFill>
          <a:blip r:embed="rId8"/>
          <a:stretch>
            <a:fillRect/>
          </a:stretch>
        </p:blipFill>
        <p:spPr>
          <a:xfrm>
            <a:off x="10841355" y="2771775"/>
            <a:ext cx="183356" cy="266700"/>
          </a:xfrm>
          <a:prstGeom prst="rect">
            <a:avLst/>
          </a:prstGeom>
        </p:spPr>
      </p:pic>
      <p:sp>
        <p:nvSpPr>
          <p:cNvPr id="31" name="TextBox 30"/>
          <p:cNvSpPr txBox="1"/>
          <p:nvPr/>
        </p:nvSpPr>
        <p:spPr>
          <a:xfrm>
            <a:off x="276225" y="5000625"/>
            <a:ext cx="1468037" cy="161696"/>
          </a:xfrm>
          <a:prstGeom prst="rect">
            <a:avLst/>
          </a:prstGeom>
          <a:noFill/>
        </p:spPr>
        <p:txBody>
          <a:bodyPr wrap="none" lIns="0" rIns="0" tIns="0" bIns="0">
            <a:spAutoFit/>
          </a:bodyPr>
          <a:lstStyle/>
          <a:p>
            <a:r>
              <a:rPr sz="935" b="1">
                <a:solidFill>
                  <a:srgbClr val="0B2E4A"/>
                </a:solidFill>
                <a:latin typeface="Calibri"/>
              </a:rPr>
              <a:t>Key Takeaways · 2026 Total:</a:t>
            </a:r>
          </a:p>
        </p:txBody>
      </p:sp>
      <p:pic>
        <p:nvPicPr>
          <p:cNvPr id="32" name="Picture 31" descr="lock.png"/>
          <p:cNvPicPr>
            <a:picLocks noChangeAspect="1"/>
          </p:cNvPicPr>
          <p:nvPr/>
        </p:nvPicPr>
        <p:blipFill>
          <a:blip r:embed="rId8"/>
          <a:stretch>
            <a:fillRect/>
          </a:stretch>
        </p:blipFill>
        <p:spPr>
          <a:xfrm>
            <a:off x="1688698" y="4992303"/>
            <a:ext cx="109510" cy="159288"/>
          </a:xfrm>
          <a:prstGeom prst="rect">
            <a:avLst/>
          </a:prstGeom>
        </p:spPr>
      </p:pic>
      <p:sp>
        <p:nvSpPr>
          <p:cNvPr id="33" name="TextBox 32"/>
          <p:cNvSpPr txBox="1"/>
          <p:nvPr/>
        </p:nvSpPr>
        <p:spPr>
          <a:xfrm>
            <a:off x="1831222" y="5000625"/>
            <a:ext cx="465087" cy="161696"/>
          </a:xfrm>
          <a:prstGeom prst="rect">
            <a:avLst/>
          </a:prstGeom>
          <a:noFill/>
        </p:spPr>
        <p:txBody>
          <a:bodyPr wrap="none" lIns="0" rIns="0" tIns="0" bIns="0">
            <a:spAutoFit/>
          </a:bodyPr>
          <a:lstStyle/>
          <a:p>
            <a:r>
              <a:rPr sz="935" b="1">
                <a:solidFill>
                  <a:srgbClr val="0B2E4A"/>
                </a:solidFill>
                <a:latin typeface="Calibri"/>
              </a:rPr>
              <a:t>US$ Mn</a:t>
            </a:r>
          </a:p>
        </p:txBody>
      </p:sp>
      <p:sp>
        <p:nvSpPr>
          <p:cNvPr id="34" name="TextBox 33"/>
          <p:cNvSpPr txBox="1"/>
          <p:nvPr/>
        </p:nvSpPr>
        <p:spPr>
          <a:xfrm>
            <a:off x="276225" y="5324475"/>
            <a:ext cx="3607423" cy="186689"/>
          </a:xfrm>
          <a:prstGeom prst="rect">
            <a:avLst/>
          </a:prstGeom>
          <a:noFill/>
        </p:spPr>
        <p:txBody>
          <a:bodyPr wrap="none" lIns="0" rIns="0" tIns="0" bIns="0">
            <a:spAutoFit/>
          </a:bodyPr>
          <a:lstStyle/>
          <a:p>
            <a:r>
              <a:rPr sz="1100" b="0">
                <a:solidFill>
                  <a:srgbClr val="2E2E2E"/>
                </a:solidFill>
                <a:latin typeface="Calibri"/>
              </a:rPr>
              <a:t>▪ By Product Type, 'Irrigation Devices and Accessories' leads at</a:t>
            </a:r>
          </a:p>
        </p:txBody>
      </p:sp>
      <p:pic>
        <p:nvPicPr>
          <p:cNvPr id="35" name="Picture 34" descr="lock.png"/>
          <p:cNvPicPr>
            <a:picLocks noChangeAspect="1"/>
          </p:cNvPicPr>
          <p:nvPr/>
        </p:nvPicPr>
        <p:blipFill>
          <a:blip r:embed="rId8"/>
          <a:stretch>
            <a:fillRect/>
          </a:stretch>
        </p:blipFill>
        <p:spPr>
          <a:xfrm>
            <a:off x="3831700" y="5314695"/>
            <a:ext cx="128699" cy="187198"/>
          </a:xfrm>
          <a:prstGeom prst="rect">
            <a:avLst/>
          </a:prstGeom>
        </p:spPr>
      </p:pic>
      <p:sp>
        <p:nvSpPr>
          <p:cNvPr id="36" name="TextBox 35"/>
          <p:cNvSpPr txBox="1"/>
          <p:nvPr/>
        </p:nvSpPr>
        <p:spPr>
          <a:xfrm>
            <a:off x="3999196" y="5324475"/>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37" name="Picture 36" descr="lock.png"/>
          <p:cNvPicPr>
            <a:picLocks noChangeAspect="1"/>
          </p:cNvPicPr>
          <p:nvPr/>
        </p:nvPicPr>
        <p:blipFill>
          <a:blip r:embed="rId8"/>
          <a:stretch>
            <a:fillRect/>
          </a:stretch>
        </p:blipFill>
        <p:spPr>
          <a:xfrm>
            <a:off x="4546776" y="5314695"/>
            <a:ext cx="128699" cy="187198"/>
          </a:xfrm>
          <a:prstGeom prst="rect">
            <a:avLst/>
          </a:prstGeom>
        </p:spPr>
      </p:pic>
      <p:sp>
        <p:nvSpPr>
          <p:cNvPr id="38" name="TextBox 37"/>
          <p:cNvSpPr txBox="1"/>
          <p:nvPr/>
        </p:nvSpPr>
        <p:spPr>
          <a:xfrm>
            <a:off x="4714272" y="5324475"/>
            <a:ext cx="1715458" cy="186689"/>
          </a:xfrm>
          <a:prstGeom prst="rect">
            <a:avLst/>
          </a:prstGeom>
          <a:noFill/>
        </p:spPr>
        <p:txBody>
          <a:bodyPr wrap="none" lIns="0" rIns="0" tIns="0" bIns="0">
            <a:spAutoFit/>
          </a:bodyPr>
          <a:lstStyle/>
          <a:p>
            <a:r>
              <a:rPr sz="1100" b="0">
                <a:solidFill>
                  <a:srgbClr val="2E2E2E"/>
                </a:solidFill>
                <a:latin typeface="Calibri"/>
              </a:rPr>
              <a:t>share), ahead of 'Ear Drops' (</a:t>
            </a:r>
          </a:p>
        </p:txBody>
      </p:sp>
      <p:pic>
        <p:nvPicPr>
          <p:cNvPr id="39" name="Picture 38" descr="lock.png"/>
          <p:cNvPicPr>
            <a:picLocks noChangeAspect="1"/>
          </p:cNvPicPr>
          <p:nvPr/>
        </p:nvPicPr>
        <p:blipFill>
          <a:blip r:embed="rId8"/>
          <a:stretch>
            <a:fillRect/>
          </a:stretch>
        </p:blipFill>
        <p:spPr>
          <a:xfrm>
            <a:off x="6377782" y="5314695"/>
            <a:ext cx="128699" cy="187198"/>
          </a:xfrm>
          <a:prstGeom prst="rect">
            <a:avLst/>
          </a:prstGeom>
        </p:spPr>
      </p:pic>
      <p:sp>
        <p:nvSpPr>
          <p:cNvPr id="40" name="TextBox 39"/>
          <p:cNvSpPr txBox="1"/>
          <p:nvPr/>
        </p:nvSpPr>
        <p:spPr>
          <a:xfrm>
            <a:off x="6545278" y="5324475"/>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1" name="TextBox 40"/>
          <p:cNvSpPr txBox="1"/>
          <p:nvPr/>
        </p:nvSpPr>
        <p:spPr>
          <a:xfrm>
            <a:off x="276225" y="5542407"/>
            <a:ext cx="2132933" cy="186689"/>
          </a:xfrm>
          <a:prstGeom prst="rect">
            <a:avLst/>
          </a:prstGeom>
          <a:noFill/>
        </p:spPr>
        <p:txBody>
          <a:bodyPr wrap="none" lIns="0" rIns="0" tIns="0" bIns="0">
            <a:spAutoFit/>
          </a:bodyPr>
          <a:lstStyle/>
          <a:p>
            <a:r>
              <a:rPr sz="1100" b="0">
                <a:solidFill>
                  <a:srgbClr val="2E2E2E"/>
                </a:solidFill>
                <a:latin typeface="Calibri"/>
              </a:rPr>
              <a:t>▪ By End User, 'Audiologists' leads at</a:t>
            </a:r>
          </a:p>
        </p:txBody>
      </p:sp>
      <p:pic>
        <p:nvPicPr>
          <p:cNvPr id="42" name="Picture 41" descr="lock.png"/>
          <p:cNvPicPr>
            <a:picLocks noChangeAspect="1"/>
          </p:cNvPicPr>
          <p:nvPr/>
        </p:nvPicPr>
        <p:blipFill>
          <a:blip r:embed="rId8"/>
          <a:stretch>
            <a:fillRect/>
          </a:stretch>
        </p:blipFill>
        <p:spPr>
          <a:xfrm>
            <a:off x="2357210" y="5532627"/>
            <a:ext cx="128699" cy="187198"/>
          </a:xfrm>
          <a:prstGeom prst="rect">
            <a:avLst/>
          </a:prstGeom>
        </p:spPr>
      </p:pic>
      <p:sp>
        <p:nvSpPr>
          <p:cNvPr id="43" name="TextBox 42"/>
          <p:cNvSpPr txBox="1"/>
          <p:nvPr/>
        </p:nvSpPr>
        <p:spPr>
          <a:xfrm>
            <a:off x="2524706" y="5542407"/>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44" name="Picture 43" descr="lock.png"/>
          <p:cNvPicPr>
            <a:picLocks noChangeAspect="1"/>
          </p:cNvPicPr>
          <p:nvPr/>
        </p:nvPicPr>
        <p:blipFill>
          <a:blip r:embed="rId8"/>
          <a:stretch>
            <a:fillRect/>
          </a:stretch>
        </p:blipFill>
        <p:spPr>
          <a:xfrm>
            <a:off x="3072287" y="5532627"/>
            <a:ext cx="128699" cy="187198"/>
          </a:xfrm>
          <a:prstGeom prst="rect">
            <a:avLst/>
          </a:prstGeom>
        </p:spPr>
      </p:pic>
      <p:sp>
        <p:nvSpPr>
          <p:cNvPr id="45" name="TextBox 44"/>
          <p:cNvSpPr txBox="1"/>
          <p:nvPr/>
        </p:nvSpPr>
        <p:spPr>
          <a:xfrm>
            <a:off x="3239782" y="5542407"/>
            <a:ext cx="1998166" cy="186689"/>
          </a:xfrm>
          <a:prstGeom prst="rect">
            <a:avLst/>
          </a:prstGeom>
          <a:noFill/>
        </p:spPr>
        <p:txBody>
          <a:bodyPr wrap="none" lIns="0" rIns="0" tIns="0" bIns="0">
            <a:spAutoFit/>
          </a:bodyPr>
          <a:lstStyle/>
          <a:p>
            <a:r>
              <a:rPr sz="1100" b="0">
                <a:solidFill>
                  <a:srgbClr val="2E2E2E"/>
                </a:solidFill>
                <a:latin typeface="Calibri"/>
              </a:rPr>
              <a:t>share), ahead of 'ENT specialists' (</a:t>
            </a:r>
          </a:p>
        </p:txBody>
      </p:sp>
      <p:pic>
        <p:nvPicPr>
          <p:cNvPr id="46" name="Picture 45" descr="lock.png"/>
          <p:cNvPicPr>
            <a:picLocks noChangeAspect="1"/>
          </p:cNvPicPr>
          <p:nvPr/>
        </p:nvPicPr>
        <p:blipFill>
          <a:blip r:embed="rId8"/>
          <a:stretch>
            <a:fillRect/>
          </a:stretch>
        </p:blipFill>
        <p:spPr>
          <a:xfrm>
            <a:off x="5186000" y="5532627"/>
            <a:ext cx="128699" cy="187198"/>
          </a:xfrm>
          <a:prstGeom prst="rect">
            <a:avLst/>
          </a:prstGeom>
        </p:spPr>
      </p:pic>
      <p:sp>
        <p:nvSpPr>
          <p:cNvPr id="47" name="TextBox 46"/>
          <p:cNvSpPr txBox="1"/>
          <p:nvPr/>
        </p:nvSpPr>
        <p:spPr>
          <a:xfrm>
            <a:off x="5353496" y="5542407"/>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8" name="TextBox 47"/>
          <p:cNvSpPr txBox="1"/>
          <p:nvPr/>
        </p:nvSpPr>
        <p:spPr>
          <a:xfrm>
            <a:off x="276225" y="5760339"/>
            <a:ext cx="2635253" cy="186689"/>
          </a:xfrm>
          <a:prstGeom prst="rect">
            <a:avLst/>
          </a:prstGeom>
          <a:noFill/>
        </p:spPr>
        <p:txBody>
          <a:bodyPr wrap="none" lIns="0" rIns="0" tIns="0" bIns="0">
            <a:spAutoFit/>
          </a:bodyPr>
          <a:lstStyle/>
          <a:p>
            <a:r>
              <a:rPr sz="1100" b="0">
                <a:solidFill>
                  <a:srgbClr val="2E2E2E"/>
                </a:solidFill>
                <a:latin typeface="Calibri"/>
              </a:rPr>
              <a:t>▪ By Sales Channel, 'Online Channels' leads at</a:t>
            </a:r>
          </a:p>
        </p:txBody>
      </p:sp>
      <p:pic>
        <p:nvPicPr>
          <p:cNvPr id="49" name="Picture 48" descr="lock.png"/>
          <p:cNvPicPr>
            <a:picLocks noChangeAspect="1"/>
          </p:cNvPicPr>
          <p:nvPr/>
        </p:nvPicPr>
        <p:blipFill>
          <a:blip r:embed="rId8"/>
          <a:stretch>
            <a:fillRect/>
          </a:stretch>
        </p:blipFill>
        <p:spPr>
          <a:xfrm>
            <a:off x="2859530" y="5750559"/>
            <a:ext cx="128699" cy="187198"/>
          </a:xfrm>
          <a:prstGeom prst="rect">
            <a:avLst/>
          </a:prstGeom>
        </p:spPr>
      </p:pic>
      <p:sp>
        <p:nvSpPr>
          <p:cNvPr id="50" name="TextBox 49"/>
          <p:cNvSpPr txBox="1"/>
          <p:nvPr/>
        </p:nvSpPr>
        <p:spPr>
          <a:xfrm>
            <a:off x="3027025" y="5760339"/>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51" name="Picture 50" descr="lock.png"/>
          <p:cNvPicPr>
            <a:picLocks noChangeAspect="1"/>
          </p:cNvPicPr>
          <p:nvPr/>
        </p:nvPicPr>
        <p:blipFill>
          <a:blip r:embed="rId8"/>
          <a:stretch>
            <a:fillRect/>
          </a:stretch>
        </p:blipFill>
        <p:spPr>
          <a:xfrm>
            <a:off x="3574606" y="5750559"/>
            <a:ext cx="128699" cy="187198"/>
          </a:xfrm>
          <a:prstGeom prst="rect">
            <a:avLst/>
          </a:prstGeom>
        </p:spPr>
      </p:pic>
      <p:sp>
        <p:nvSpPr>
          <p:cNvPr id="52" name="TextBox 51"/>
          <p:cNvSpPr txBox="1"/>
          <p:nvPr/>
        </p:nvSpPr>
        <p:spPr>
          <a:xfrm>
            <a:off x="3742102" y="5760339"/>
            <a:ext cx="3114402" cy="186689"/>
          </a:xfrm>
          <a:prstGeom prst="rect">
            <a:avLst/>
          </a:prstGeom>
          <a:noFill/>
        </p:spPr>
        <p:txBody>
          <a:bodyPr wrap="none" lIns="0" rIns="0" tIns="0" bIns="0">
            <a:spAutoFit/>
          </a:bodyPr>
          <a:lstStyle/>
          <a:p>
            <a:r>
              <a:rPr sz="1100" b="0">
                <a:solidFill>
                  <a:srgbClr val="2E2E2E"/>
                </a:solidFill>
                <a:latin typeface="Calibri"/>
              </a:rPr>
              <a:t>share), ahead of 'Retail Pharmacies and Drug Stores' (</a:t>
            </a:r>
          </a:p>
        </p:txBody>
      </p:sp>
      <p:pic>
        <p:nvPicPr>
          <p:cNvPr id="53" name="Picture 52" descr="lock.png"/>
          <p:cNvPicPr>
            <a:picLocks noChangeAspect="1"/>
          </p:cNvPicPr>
          <p:nvPr/>
        </p:nvPicPr>
        <p:blipFill>
          <a:blip r:embed="rId8"/>
          <a:stretch>
            <a:fillRect/>
          </a:stretch>
        </p:blipFill>
        <p:spPr>
          <a:xfrm>
            <a:off x="6804556" y="5750559"/>
            <a:ext cx="128699" cy="187198"/>
          </a:xfrm>
          <a:prstGeom prst="rect">
            <a:avLst/>
          </a:prstGeom>
        </p:spPr>
      </p:pic>
      <p:sp>
        <p:nvSpPr>
          <p:cNvPr id="54" name="TextBox 53"/>
          <p:cNvSpPr txBox="1"/>
          <p:nvPr/>
        </p:nvSpPr>
        <p:spPr>
          <a:xfrm>
            <a:off x="6972052" y="5760339"/>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55" name="TextBox 54"/>
          <p:cNvSpPr txBox="1"/>
          <p:nvPr/>
        </p:nvSpPr>
        <p:spPr>
          <a:xfrm>
            <a:off x="276225" y="5978271"/>
            <a:ext cx="2103738" cy="186689"/>
          </a:xfrm>
          <a:prstGeom prst="rect">
            <a:avLst/>
          </a:prstGeom>
          <a:noFill/>
        </p:spPr>
        <p:txBody>
          <a:bodyPr wrap="none" lIns="0" rIns="0" tIns="0" bIns="0">
            <a:spAutoFit/>
          </a:bodyPr>
          <a:lstStyle/>
          <a:p>
            <a:r>
              <a:rPr sz="1100" b="0">
                <a:solidFill>
                  <a:srgbClr val="2E2E2E"/>
                </a:solidFill>
                <a:latin typeface="Calibri"/>
              </a:rPr>
              <a:t>▪ By Age Group, 'Paediatric' leads at</a:t>
            </a:r>
          </a:p>
        </p:txBody>
      </p:sp>
      <p:pic>
        <p:nvPicPr>
          <p:cNvPr id="56" name="Picture 55" descr="lock.png"/>
          <p:cNvPicPr>
            <a:picLocks noChangeAspect="1"/>
          </p:cNvPicPr>
          <p:nvPr/>
        </p:nvPicPr>
        <p:blipFill>
          <a:blip r:embed="rId8"/>
          <a:stretch>
            <a:fillRect/>
          </a:stretch>
        </p:blipFill>
        <p:spPr>
          <a:xfrm>
            <a:off x="2328015" y="5968491"/>
            <a:ext cx="128699" cy="187198"/>
          </a:xfrm>
          <a:prstGeom prst="rect">
            <a:avLst/>
          </a:prstGeom>
        </p:spPr>
      </p:pic>
      <p:sp>
        <p:nvSpPr>
          <p:cNvPr id="57" name="TextBox 56"/>
          <p:cNvSpPr txBox="1"/>
          <p:nvPr/>
        </p:nvSpPr>
        <p:spPr>
          <a:xfrm>
            <a:off x="2495511" y="5978271"/>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58" name="Picture 57" descr="lock.png"/>
          <p:cNvPicPr>
            <a:picLocks noChangeAspect="1"/>
          </p:cNvPicPr>
          <p:nvPr/>
        </p:nvPicPr>
        <p:blipFill>
          <a:blip r:embed="rId8"/>
          <a:stretch>
            <a:fillRect/>
          </a:stretch>
        </p:blipFill>
        <p:spPr>
          <a:xfrm>
            <a:off x="3043091" y="5968491"/>
            <a:ext cx="128699" cy="187198"/>
          </a:xfrm>
          <a:prstGeom prst="rect">
            <a:avLst/>
          </a:prstGeom>
        </p:spPr>
      </p:pic>
      <p:sp>
        <p:nvSpPr>
          <p:cNvPr id="59" name="TextBox 58"/>
          <p:cNvSpPr txBox="1"/>
          <p:nvPr/>
        </p:nvSpPr>
        <p:spPr>
          <a:xfrm>
            <a:off x="3210587" y="5978271"/>
            <a:ext cx="1470198" cy="186689"/>
          </a:xfrm>
          <a:prstGeom prst="rect">
            <a:avLst/>
          </a:prstGeom>
          <a:noFill/>
        </p:spPr>
        <p:txBody>
          <a:bodyPr wrap="none" lIns="0" rIns="0" tIns="0" bIns="0">
            <a:spAutoFit/>
          </a:bodyPr>
          <a:lstStyle/>
          <a:p>
            <a:r>
              <a:rPr sz="1100" b="0">
                <a:solidFill>
                  <a:srgbClr val="2E2E2E"/>
                </a:solidFill>
                <a:latin typeface="Calibri"/>
              </a:rPr>
              <a:t>share), ahead of 'Adult' (</a:t>
            </a:r>
          </a:p>
        </p:txBody>
      </p:sp>
      <p:pic>
        <p:nvPicPr>
          <p:cNvPr id="60" name="Picture 59" descr="lock.png"/>
          <p:cNvPicPr>
            <a:picLocks noChangeAspect="1"/>
          </p:cNvPicPr>
          <p:nvPr/>
        </p:nvPicPr>
        <p:blipFill>
          <a:blip r:embed="rId8"/>
          <a:stretch>
            <a:fillRect/>
          </a:stretch>
        </p:blipFill>
        <p:spPr>
          <a:xfrm>
            <a:off x="4628838" y="5968491"/>
            <a:ext cx="128699" cy="187198"/>
          </a:xfrm>
          <a:prstGeom prst="rect">
            <a:avLst/>
          </a:prstGeom>
        </p:spPr>
      </p:pic>
      <p:sp>
        <p:nvSpPr>
          <p:cNvPr id="61" name="TextBox 60"/>
          <p:cNvSpPr txBox="1"/>
          <p:nvPr/>
        </p:nvSpPr>
        <p:spPr>
          <a:xfrm>
            <a:off x="4796333" y="5978271"/>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62" name="TextBox 61"/>
          <p:cNvSpPr txBox="1"/>
          <p:nvPr/>
        </p:nvSpPr>
        <p:spPr>
          <a:xfrm>
            <a:off x="276225" y="6196203"/>
            <a:ext cx="6677843" cy="186689"/>
          </a:xfrm>
          <a:prstGeom prst="rect">
            <a:avLst/>
          </a:prstGeom>
          <a:noFill/>
        </p:spPr>
        <p:txBody>
          <a:bodyPr wrap="none" lIns="0" rIns="0" tIns="0" bIns="0">
            <a:spAutoFit/>
          </a:bodyPr>
          <a:lstStyle/>
          <a:p>
            <a:r>
              <a:rPr sz="1100" b="0">
                <a:solidFill>
                  <a:srgbClr val="2E2E2E"/>
                </a:solidFill>
                <a:latin typeface="Calibri"/>
              </a:rPr>
              <a:t>▪ Use the Country slicer in the top band to switch country the selection stays synced across every page of the report.</a:t>
            </a:r>
          </a:p>
        </p:txBody>
      </p:sp>
      <p:sp>
        <p:nvSpPr>
          <p:cNvPr id="63" name="lockshield_12"/>
          <p:cNvSpPr/>
          <p:nvPr/>
        </p:nvSpPr>
        <p:spPr>
          <a:xfrm>
            <a:off x="238125" y="1266825"/>
            <a:ext cx="2667000" cy="34480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lockshield_15"/>
          <p:cNvSpPr/>
          <p:nvPr/>
        </p:nvSpPr>
        <p:spPr>
          <a:xfrm>
            <a:off x="3248025" y="1266825"/>
            <a:ext cx="2667000" cy="34480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ockshield_18"/>
          <p:cNvSpPr/>
          <p:nvPr/>
        </p:nvSpPr>
        <p:spPr>
          <a:xfrm>
            <a:off x="6257925" y="1266825"/>
            <a:ext cx="2667000" cy="34480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ockshield_21"/>
          <p:cNvSpPr/>
          <p:nvPr/>
        </p:nvSpPr>
        <p:spPr>
          <a:xfrm>
            <a:off x="9267825" y="1266825"/>
            <a:ext cx="2667000" cy="34480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Segment Overview (Volume &amp; Value)</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End User</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Sales Channel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Age Group</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Product Type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Ear Wax Removal Products Market Segmental Analysis Product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Product Type: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Product Type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Product Type</a:t>
            </a:r>
          </a:p>
        </p:txBody>
      </p:sp>
      <p:graphicFrame>
        <p:nvGraphicFramePr>
          <p:cNvPr id="15" name="Table 14"/>
          <p:cNvGraphicFramePr>
            <a:graphicFrameLocks noGrp="1"/>
          </p:cNvGraphicFramePr>
          <p:nvPr/>
        </p:nvGraphicFramePr>
        <p:xfrm>
          <a:off x="6181725" y="1238250"/>
          <a:ext cx="5857876" cy="2286003"/>
        </p:xfrm>
        <a:graphic>
          <a:graphicData uri="http://schemas.openxmlformats.org/drawingml/2006/table">
            <a:tbl>
              <a:tblPr>
                <a:tableStyleId>{5C22544A-7EE6-4342-B048-85BDC9FD1C3A}</a:tableStyleId>
              </a:tblPr>
              <a:tblGrid>
                <a:gridCol w="2414675"/>
                <a:gridCol w="865609"/>
                <a:gridCol w="865609"/>
                <a:gridCol w="1093171"/>
                <a:gridCol w="618812"/>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91411">
                <a:tc>
                  <a:txBody>
                    <a:bodyPr wrap="none"/>
                    <a:lstStyle/>
                    <a:p>
                      <a:pPr algn="l"/>
                      <a:r>
                        <a:rPr sz="1100" b="1">
                          <a:solidFill>
                            <a:srgbClr val="2E2E2E"/>
                          </a:solidFill>
                          <a:latin typeface="Calibri"/>
                        </a:rPr>
                        <a:t>Ear Drops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91411">
                <a:tc>
                  <a:txBody>
                    <a:bodyPr wrap="none"/>
                    <a:lstStyle/>
                    <a:p>
                      <a:pPr algn="l"/>
                      <a:r>
                        <a:rPr sz="1100" b="1">
                          <a:solidFill>
                            <a:srgbClr val="2E2E2E"/>
                          </a:solidFill>
                          <a:latin typeface="Calibri"/>
                        </a:rPr>
                        <a:t>Ear Sprays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91411">
                <a:tc>
                  <a:txBody>
                    <a:bodyPr wrap="none"/>
                    <a:lstStyle/>
                    <a:p>
                      <a:pPr algn="l"/>
                      <a:r>
                        <a:rPr sz="1100" b="1">
                          <a:solidFill>
                            <a:srgbClr val="2E2E2E"/>
                          </a:solidFill>
                          <a:latin typeface="Calibri"/>
                        </a:rPr>
                        <a:t>Irrigation Devices and Accessories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91411">
                <a:tc>
                  <a:txBody>
                    <a:bodyPr wrap="none"/>
                    <a:lstStyle/>
                    <a:p>
                      <a:pPr algn="l"/>
                      <a:r>
                        <a:rPr sz="1100" b="1">
                          <a:solidFill>
                            <a:srgbClr val="2E2E2E"/>
                          </a:solidFill>
                          <a:latin typeface="Calibri"/>
                        </a:rPr>
                        <a:t>Manual Removal Tools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91411">
                <a:tc>
                  <a:txBody>
                    <a:bodyPr wrap="none"/>
                    <a:lstStyle/>
                    <a:p>
                      <a:pPr algn="l"/>
                      <a:r>
                        <a:rPr sz="1100" b="1">
                          <a:solidFill>
                            <a:srgbClr val="2E2E2E"/>
                          </a:solidFill>
                          <a:latin typeface="Calibri"/>
                        </a:rPr>
                        <a:t>Camera-Assisted Removal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91411">
                <a:tc>
                  <a:txBody>
                    <a:bodyPr wrap="none"/>
                    <a:lstStyle/>
                    <a:p>
                      <a:pPr algn="l"/>
                      <a:r>
                        <a:rPr sz="1100" b="1">
                          <a:solidFill>
                            <a:srgbClr val="2E2E2E"/>
                          </a:solidFill>
                          <a:latin typeface="Calibri"/>
                        </a:rPr>
                        <a:t>Suction Devices and Accessories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91411">
                <a:tc>
                  <a:txBody>
                    <a:bodyPr wrap="none"/>
                    <a:lstStyle/>
                    <a:p>
                      <a:pPr algn="l"/>
                      <a:r>
                        <a:rPr sz="1100" b="1">
                          <a:solidFill>
                            <a:srgbClr val="2E2E2E"/>
                          </a:solidFill>
                          <a:latin typeface="Calibri"/>
                        </a:rPr>
                        <a:t>Combination Removal Kits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Product Type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10131310" y="2237614"/>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Ear Wax Removal Products Market Tables Product Type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Product Type, 2021–2036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Ear Wax Removal Products Market Tables Product Type (2/4)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Product Type, 2021–2036</a:t>
            </a:r>
          </a:p>
        </p:txBody>
      </p:sp>
      <p:sp>
        <p:nvSpPr>
          <p:cNvPr id="14" name="Rounded Rectangle 13"/>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Product Type (US$ Mn)</a:t>
            </a:r>
          </a:p>
        </p:txBody>
      </p:sp>
      <p:graphicFrame>
        <p:nvGraphicFramePr>
          <p:cNvPr id="16" name="Table 15"/>
          <p:cNvGraphicFramePr>
            <a:graphicFrameLocks noGrp="1"/>
          </p:cNvGraphicFramePr>
          <p:nvPr/>
        </p:nvGraphicFramePr>
        <p:xfrm>
          <a:off x="152400" y="1238250"/>
          <a:ext cx="11887196" cy="1724028"/>
        </p:xfrm>
        <a:graphic>
          <a:graphicData uri="http://schemas.openxmlformats.org/drawingml/2006/table">
            <a:tbl>
              <a:tblPr>
                <a:tableStyleId>{5C22544A-7EE6-4342-B048-85BDC9FD1C3A}</a:tableStyleId>
              </a:tblPr>
              <a:tblGrid>
                <a:gridCol w="2840509"/>
                <a:gridCol w="543421"/>
                <a:gridCol w="543421"/>
                <a:gridCol w="543421"/>
                <a:gridCol w="543421"/>
                <a:gridCol w="543421"/>
                <a:gridCol w="524279"/>
                <a:gridCol w="518809"/>
                <a:gridCol w="518809"/>
                <a:gridCol w="518809"/>
                <a:gridCol w="518809"/>
                <a:gridCol w="518809"/>
                <a:gridCol w="518809"/>
                <a:gridCol w="518809"/>
                <a:gridCol w="518809"/>
                <a:gridCol w="518809"/>
                <a:gridCol w="518809"/>
                <a:gridCol w="617213"/>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7">
                <a:tc>
                  <a:txBody>
                    <a:bodyPr wrap="none"/>
                    <a:lstStyle/>
                    <a:p>
                      <a:pPr algn="l"/>
                      <a:r>
                        <a:rPr sz="1100" b="1">
                          <a:solidFill>
                            <a:srgbClr val="2E2E2E"/>
                          </a:solidFill>
                          <a:latin typeface="Calibri"/>
                        </a:rPr>
                        <a:t>Ear Drops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 Peroxide-Based Drops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 Oil-Based Drops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 Sodium Bicarbonate-Based Drops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 Surfactant-Based Drops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 Solvent-Containing Combination Drops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7" name="TextBox 16"/>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329562" y="1956627"/>
            <a:ext cx="366712" cy="533400"/>
          </a:xfrm>
          <a:prstGeom prst="rect">
            <a:avLst/>
          </a:prstGeom>
        </p:spPr>
      </p:pic>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Ear Wax Removal Products Market Tables Product Type (3/4)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value of the U.S. market by Product Type, 2021–2036</a:t>
            </a:r>
          </a:p>
        </p:txBody>
      </p:sp>
      <p:sp>
        <p:nvSpPr>
          <p:cNvPr id="10" name="Rounded Rectangle 9"/>
          <p:cNvSpPr/>
          <p:nvPr/>
        </p:nvSpPr>
        <p:spPr>
          <a:xfrm>
            <a:off x="142875" y="981075"/>
            <a:ext cx="11906250" cy="5143500"/>
          </a:xfrm>
          <a:prstGeom prst="roundRect">
            <a:avLst>
              <a:gd name="adj" fmla="val 14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Product Type (US$ Mn)</a:t>
            </a:r>
          </a:p>
        </p:txBody>
      </p:sp>
      <p:graphicFrame>
        <p:nvGraphicFramePr>
          <p:cNvPr id="12" name="Table 11"/>
          <p:cNvGraphicFramePr>
            <a:graphicFrameLocks noGrp="1"/>
          </p:cNvGraphicFramePr>
          <p:nvPr/>
        </p:nvGraphicFramePr>
        <p:xfrm>
          <a:off x="152400" y="1238250"/>
          <a:ext cx="11887202" cy="4676772"/>
        </p:xfrm>
        <a:graphic>
          <a:graphicData uri="http://schemas.openxmlformats.org/drawingml/2006/table">
            <a:tbl>
              <a:tblPr>
                <a:tableStyleId>{5C22544A-7EE6-4342-B048-85BDC9FD1C3A}</a:tableStyleId>
              </a:tblPr>
              <a:tblGrid>
                <a:gridCol w="3136434"/>
                <a:gridCol w="525645"/>
                <a:gridCol w="525645"/>
                <a:gridCol w="525645"/>
                <a:gridCol w="525645"/>
                <a:gridCol w="525645"/>
                <a:gridCol w="507129"/>
                <a:gridCol w="501839"/>
                <a:gridCol w="501839"/>
                <a:gridCol w="501839"/>
                <a:gridCol w="501839"/>
                <a:gridCol w="501839"/>
                <a:gridCol w="501839"/>
                <a:gridCol w="501839"/>
                <a:gridCol w="501839"/>
                <a:gridCol w="501839"/>
                <a:gridCol w="501839"/>
                <a:gridCol w="597024"/>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147">
                <a:tc>
                  <a:txBody>
                    <a:bodyPr wrap="none"/>
                    <a:lstStyle/>
                    <a:p>
                      <a:pPr algn="l"/>
                      <a:r>
                        <a:rPr sz="1100" b="1">
                          <a:solidFill>
                            <a:srgbClr val="2E2E2E"/>
                          </a:solidFill>
                          <a:latin typeface="Calibri"/>
                        </a:rPr>
                        <a:t>– Other Wax-Dissolving Drops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Ear Sprays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 Oil-Based Sprays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Saline/Seawater-Based Cleansing Sprays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 Other Wax-Dispersing Sprays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Irrigation Devices and Accessories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 Bulb Syringes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Manual Pump Irrigators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 Powered Irrigation Systems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Irrigation Tips and Replacement Accessories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Manual Removal Tools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Flexible Ear Scoops and Cleaners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 Ear Curettes, Loops, and Hooks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Lighted Manual Instruments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Camera-Assisted Removal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Smartphone-Connected Ear Cleaners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 Replacement Extraction Tips and Accessories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Suction Devices and Accessories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59245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477528" y="3432998"/>
            <a:ext cx="366712" cy="533400"/>
          </a:xfrm>
          <a:prstGeom prst="rect">
            <a:avLst/>
          </a:prstGeom>
        </p:spPr>
      </p:pic>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Ear Wax Removal Products Market Tables Product Type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value of the U.S. market by Product Type, 2021–2036</a:t>
            </a:r>
          </a:p>
        </p:txBody>
      </p:sp>
      <p:sp>
        <p:nvSpPr>
          <p:cNvPr id="10" name="Rounded Rectangle 9"/>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Product Type (US$ Mn)</a:t>
            </a:r>
          </a:p>
        </p:txBody>
      </p:sp>
      <p:graphicFrame>
        <p:nvGraphicFramePr>
          <p:cNvPr id="12" name="Table 11"/>
          <p:cNvGraphicFramePr>
            <a:graphicFrameLocks noGrp="1"/>
          </p:cNvGraphicFramePr>
          <p:nvPr/>
        </p:nvGraphicFramePr>
        <p:xfrm>
          <a:off x="152400" y="1238250"/>
          <a:ext cx="11887204" cy="1724028"/>
        </p:xfrm>
        <a:graphic>
          <a:graphicData uri="http://schemas.openxmlformats.org/drawingml/2006/table">
            <a:tbl>
              <a:tblPr>
                <a:tableStyleId>{5C22544A-7EE6-4342-B048-85BDC9FD1C3A}</a:tableStyleId>
              </a:tblPr>
              <a:tblGrid>
                <a:gridCol w="2334581"/>
                <a:gridCol w="561919"/>
                <a:gridCol w="561919"/>
                <a:gridCol w="561919"/>
                <a:gridCol w="561919"/>
                <a:gridCol w="561919"/>
                <a:gridCol w="561919"/>
                <a:gridCol w="561919"/>
                <a:gridCol w="561919"/>
                <a:gridCol w="561919"/>
                <a:gridCol w="561919"/>
                <a:gridCol w="561919"/>
                <a:gridCol w="561919"/>
                <a:gridCol w="561919"/>
                <a:gridCol w="561919"/>
                <a:gridCol w="561919"/>
                <a:gridCol w="561919"/>
                <a:gridCol w="561919"/>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7">
                <a:tc>
                  <a:txBody>
                    <a:bodyPr wrap="none"/>
                    <a:lstStyle/>
                    <a:p>
                      <a:pPr algn="l"/>
                      <a:r>
                        <a:rPr sz="1100" b="1">
                          <a:solidFill>
                            <a:srgbClr val="2E2E2E"/>
                          </a:solidFill>
                          <a:latin typeface="Calibri"/>
                        </a:rPr>
                        <a:t>– Professional Microsuction Systems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 Suction Tips and Consumables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Combination Removal Kits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 Drops with Irrigation Tools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 Drops with Manual Cleaning Tools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076602" y="1956627"/>
            <a:ext cx="366712" cy="533400"/>
          </a:xfrm>
          <a:prstGeom prst="rect">
            <a:avLst/>
          </a:prstGeom>
        </p:spPr>
      </p:pic>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End User</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Ear Wax Removal Products Market Segmental Analysis End User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End User: growth contribution, share variance and absolute $ opportunity</a:t>
            </a:r>
          </a:p>
        </p:txBody>
      </p:sp>
      <p:sp>
        <p:nvSpPr>
          <p:cNvPr id="10" name="Rounded Rectangle 9"/>
          <p:cNvSpPr/>
          <p:nvPr/>
        </p:nvSpPr>
        <p:spPr>
          <a:xfrm>
            <a:off x="142875" y="981075"/>
            <a:ext cx="5876925"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End User (US$ Mn)</a:t>
            </a:r>
          </a:p>
        </p:txBody>
      </p:sp>
      <p:graphicFrame>
        <p:nvGraphicFramePr>
          <p:cNvPr id="12" name="Chart 11"/>
          <p:cNvGraphicFramePr>
            <a:graphicFrameLocks noGrp="1"/>
          </p:cNvGraphicFramePr>
          <p:nvPr/>
        </p:nvGraphicFramePr>
        <p:xfrm>
          <a:off x="238125" y="1266825"/>
          <a:ext cx="5686425" cy="2590800"/>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End User</a:t>
            </a:r>
          </a:p>
        </p:txBody>
      </p:sp>
      <p:graphicFrame>
        <p:nvGraphicFramePr>
          <p:cNvPr id="15" name="Table 14"/>
          <p:cNvGraphicFramePr>
            <a:graphicFrameLocks noGrp="1"/>
          </p:cNvGraphicFramePr>
          <p:nvPr/>
        </p:nvGraphicFramePr>
        <p:xfrm>
          <a:off x="6181725" y="1238250"/>
          <a:ext cx="5857873" cy="2466975"/>
        </p:xfrm>
        <a:graphic>
          <a:graphicData uri="http://schemas.openxmlformats.org/drawingml/2006/table">
            <a:tbl>
              <a:tblPr>
                <a:tableStyleId>{5C22544A-7EE6-4342-B048-85BDC9FD1C3A}</a:tableStyleId>
              </a:tblPr>
              <a:tblGrid>
                <a:gridCol w="1695617"/>
                <a:gridCol w="1040564"/>
                <a:gridCol w="1040564"/>
                <a:gridCol w="1040564"/>
                <a:gridCol w="1040564"/>
              </a:tblGrid>
              <a:tr h="246126">
                <a:tc>
                  <a:txBody>
                    <a:bodyPr wrap="none"/>
                    <a:lstStyle/>
                    <a:p>
                      <a:pPr algn="l"/>
                      <a:r>
                        <a:rPr sz="1100" b="1">
                          <a:solidFill>
                            <a:srgbClr val="0B2E4A"/>
                          </a:solidFill>
                          <a:latin typeface="Calibri"/>
                        </a:rPr>
                        <a:t>End User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Individual consumers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Healthcare professionals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ENT specialists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General practitioners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Audiologists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Hospitals and Clinics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Nursing Homes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Assisted Living Facilities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Others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6" name="TextBox 15"/>
          <p:cNvSpPr txBox="1"/>
          <p:nvPr/>
        </p:nvSpPr>
        <p:spPr>
          <a:xfrm>
            <a:off x="6248400" y="3714750"/>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89348" y="2319896"/>
            <a:ext cx="274265" cy="398931"/>
          </a:xfrm>
          <a:prstGeom prst="rect">
            <a:avLst/>
          </a:prstGeom>
        </p:spPr>
      </p:pic>
      <p:pic>
        <p:nvPicPr>
          <p:cNvPr id="19" name="Picture 18" descr="lock.png"/>
          <p:cNvPicPr>
            <a:picLocks noChangeAspect="1"/>
          </p:cNvPicPr>
          <p:nvPr/>
        </p:nvPicPr>
        <p:blipFill>
          <a:blip r:embed="rId5"/>
          <a:stretch>
            <a:fillRect/>
          </a:stretch>
        </p:blipFill>
        <p:spPr>
          <a:xfrm>
            <a:off x="9771780" y="2328100"/>
            <a:ext cx="366712" cy="533400"/>
          </a:xfrm>
          <a:prstGeom prst="rect">
            <a:avLst/>
          </a:prstGeom>
        </p:spPr>
      </p:pic>
      <p:sp>
        <p:nvSpPr>
          <p:cNvPr id="20" name="lockshield_12"/>
          <p:cNvSpPr/>
          <p:nvPr/>
        </p:nvSpPr>
        <p:spPr>
          <a:xfrm>
            <a:off x="238125" y="1266825"/>
            <a:ext cx="5686425" cy="25908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Ear Wax Removal Products Market Segmental Analysis End User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End User: growth contribution, share variance and absolute $ opportunity</a:t>
            </a:r>
          </a:p>
        </p:txBody>
      </p:sp>
      <p:sp>
        <p:nvSpPr>
          <p:cNvPr id="10" name="Rounded Rectangle 9"/>
          <p:cNvSpPr/>
          <p:nvPr/>
        </p:nvSpPr>
        <p:spPr>
          <a:xfrm>
            <a:off x="142875" y="981075"/>
            <a:ext cx="5876925"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End User (US$ Mn), between 2026–2036</a:t>
            </a:r>
          </a:p>
        </p:txBody>
      </p:sp>
      <p:graphicFrame>
        <p:nvGraphicFramePr>
          <p:cNvPr id="12" name="Chart 11"/>
          <p:cNvGraphicFramePr>
            <a:graphicFrameLocks noGrp="1"/>
          </p:cNvGraphicFramePr>
          <p:nvPr/>
        </p:nvGraphicFramePr>
        <p:xfrm>
          <a:off x="238125" y="1266825"/>
          <a:ext cx="5686425" cy="2590800"/>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Volume Shares &amp; Variance, By End User</a:t>
            </a:r>
          </a:p>
        </p:txBody>
      </p:sp>
      <p:graphicFrame>
        <p:nvGraphicFramePr>
          <p:cNvPr id="15" name="Table 14"/>
          <p:cNvGraphicFramePr>
            <a:graphicFrameLocks noGrp="1"/>
          </p:cNvGraphicFramePr>
          <p:nvPr/>
        </p:nvGraphicFramePr>
        <p:xfrm>
          <a:off x="6181725" y="1238250"/>
          <a:ext cx="5857873" cy="2466975"/>
        </p:xfrm>
        <a:graphic>
          <a:graphicData uri="http://schemas.openxmlformats.org/drawingml/2006/table">
            <a:tbl>
              <a:tblPr>
                <a:tableStyleId>{5C22544A-7EE6-4342-B048-85BDC9FD1C3A}</a:tableStyleId>
              </a:tblPr>
              <a:tblGrid>
                <a:gridCol w="1695617"/>
                <a:gridCol w="1040564"/>
                <a:gridCol w="1040564"/>
                <a:gridCol w="1040564"/>
                <a:gridCol w="1040564"/>
              </a:tblGrid>
              <a:tr h="246126">
                <a:tc>
                  <a:txBody>
                    <a:bodyPr wrap="none"/>
                    <a:lstStyle/>
                    <a:p>
                      <a:pPr algn="l"/>
                      <a:r>
                        <a:rPr sz="1100" b="1">
                          <a:solidFill>
                            <a:srgbClr val="0B2E4A"/>
                          </a:solidFill>
                          <a:latin typeface="Calibri"/>
                        </a:rPr>
                        <a:t>End User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Individual consumers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Healthcare professionals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ENT specialists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General practitioners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Audiologists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Hospitals and Clinics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Nursing Homes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Assisted Living Facilities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Others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6" name="TextBox 15"/>
          <p:cNvSpPr txBox="1"/>
          <p:nvPr/>
        </p:nvSpPr>
        <p:spPr>
          <a:xfrm>
            <a:off x="6248400" y="3714750"/>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89348" y="2319896"/>
            <a:ext cx="274265" cy="398931"/>
          </a:xfrm>
          <a:prstGeom prst="rect">
            <a:avLst/>
          </a:prstGeom>
        </p:spPr>
      </p:pic>
      <p:pic>
        <p:nvPicPr>
          <p:cNvPr id="19" name="Picture 18" descr="lock.png"/>
          <p:cNvPicPr>
            <a:picLocks noChangeAspect="1"/>
          </p:cNvPicPr>
          <p:nvPr/>
        </p:nvPicPr>
        <p:blipFill>
          <a:blip r:embed="rId5"/>
          <a:stretch>
            <a:fillRect/>
          </a:stretch>
        </p:blipFill>
        <p:spPr>
          <a:xfrm>
            <a:off x="9771780" y="2328100"/>
            <a:ext cx="366712" cy="533400"/>
          </a:xfrm>
          <a:prstGeom prst="rect">
            <a:avLst/>
          </a:prstGeom>
        </p:spPr>
      </p:pic>
      <p:sp>
        <p:nvSpPr>
          <p:cNvPr id="20" name="lockshield_12"/>
          <p:cNvSpPr/>
          <p:nvPr/>
        </p:nvSpPr>
        <p:spPr>
          <a:xfrm>
            <a:off x="238125" y="1266825"/>
            <a:ext cx="5686425" cy="25908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Ear Wax Removal Products Market Tables End User</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End User, 2021–2036</a:t>
            </a:r>
          </a:p>
        </p:txBody>
      </p:sp>
      <p:sp>
        <p:nvSpPr>
          <p:cNvPr id="10" name="Rounded Rectangle 9"/>
          <p:cNvSpPr/>
          <p:nvPr/>
        </p:nvSpPr>
        <p:spPr>
          <a:xfrm>
            <a:off x="142875" y="981075"/>
            <a:ext cx="1190625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End User (US$ Mn)</a:t>
            </a:r>
          </a:p>
        </p:txBody>
      </p:sp>
      <p:graphicFrame>
        <p:nvGraphicFramePr>
          <p:cNvPr id="12" name="Table 11"/>
          <p:cNvGraphicFramePr>
            <a:graphicFrameLocks noGrp="1"/>
          </p:cNvGraphicFramePr>
          <p:nvPr/>
        </p:nvGraphicFramePr>
        <p:xfrm>
          <a:off x="152400" y="1238250"/>
          <a:ext cx="11887193" cy="2714626"/>
        </p:xfrm>
        <a:graphic>
          <a:graphicData uri="http://schemas.openxmlformats.org/drawingml/2006/table">
            <a:tbl>
              <a:tblPr>
                <a:tableStyleId>{5C22544A-7EE6-4342-B048-85BDC9FD1C3A}</a:tableStyleId>
              </a:tblPr>
              <a:tblGrid>
                <a:gridCol w="1721397"/>
                <a:gridCol w="597988"/>
                <a:gridCol w="597988"/>
                <a:gridCol w="597988"/>
                <a:gridCol w="597988"/>
                <a:gridCol w="597988"/>
                <a:gridCol w="597988"/>
                <a:gridCol w="597988"/>
                <a:gridCol w="597988"/>
                <a:gridCol w="597988"/>
                <a:gridCol w="597988"/>
                <a:gridCol w="597988"/>
                <a:gridCol w="597988"/>
                <a:gridCol w="597988"/>
                <a:gridCol w="597988"/>
                <a:gridCol w="597988"/>
                <a:gridCol w="597988"/>
                <a:gridCol w="597988"/>
              </a:tblGrid>
              <a:tr h="246126">
                <a:tc>
                  <a:txBody>
                    <a:bodyPr wrap="none"/>
                    <a:lstStyle/>
                    <a:p>
                      <a:pPr algn="l"/>
                      <a:r>
                        <a:rPr sz="1100" b="1">
                          <a:solidFill>
                            <a:srgbClr val="0B2E4A"/>
                          </a:solidFill>
                          <a:latin typeface="Calibri"/>
                        </a:rPr>
                        <a:t>End User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Individual consumers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Healthcare professionals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ENT specialists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General practitioners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Audiologists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Hospitals and Clinics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Nursing Homes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Assisted Living Facilities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Others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6770004" y="2451926"/>
            <a:ext cx="366712" cy="533400"/>
          </a:xfrm>
          <a:prstGeom prst="rect">
            <a:avLst/>
          </a:prstGeom>
        </p:spPr>
      </p:pic>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Sales Channel</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Ear Wax Removal Products Market Segmental Analysis Sales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Sales Channel: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Sales Channel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Sales Channel</a:t>
            </a:r>
          </a:p>
        </p:txBody>
      </p:sp>
      <p:graphicFrame>
        <p:nvGraphicFramePr>
          <p:cNvPr id="15" name="Table 14"/>
          <p:cNvGraphicFramePr>
            <a:graphicFrameLocks noGrp="1"/>
          </p:cNvGraphicFramePr>
          <p:nvPr/>
        </p:nvGraphicFramePr>
        <p:xfrm>
          <a:off x="6181725" y="1238250"/>
          <a:ext cx="5857875" cy="2286002"/>
        </p:xfrm>
        <a:graphic>
          <a:graphicData uri="http://schemas.openxmlformats.org/drawingml/2006/table">
            <a:tbl>
              <a:tblPr>
                <a:tableStyleId>{5C22544A-7EE6-4342-B048-85BDC9FD1C3A}</a:tableStyleId>
              </a:tblPr>
              <a:tblGrid>
                <a:gridCol w="3177992"/>
                <a:gridCol w="659191"/>
                <a:gridCol w="659191"/>
                <a:gridCol w="849054"/>
                <a:gridCol w="512447"/>
              </a:tblGrid>
              <a:tr h="438912">
                <a:tc>
                  <a:txBody>
                    <a:bodyPr wrap="none"/>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F-CAGR</a:t>
                      </a:r>
                      <a:endParaRPr sz="1100"/>
                    </a:p>
                  </a:txBody>
                  <a:tcPr marL="47625" marR="38100" marT="19050" marB="19050" anchor="ctr">
                    <a:solidFill>
                      <a:srgbClr val="E0E8EF"/>
                    </a:solidFill>
                  </a:tcPr>
                </a:tc>
              </a:tr>
              <a:tr h="369418">
                <a:tc>
                  <a:txBody>
                    <a:bodyPr wrap="none"/>
                    <a:lstStyle/>
                    <a:p>
                      <a:pPr algn="l"/>
                      <a:r>
                        <a:rPr sz="1100" b="1">
                          <a:solidFill>
                            <a:srgbClr val="2E2E2E"/>
                          </a:solidFill>
                          <a:latin typeface="Calibri"/>
                        </a:rPr>
                        <a:t>Retail Pharmacies and Drug Stores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69418">
                <a:tc>
                  <a:txBody>
                    <a:bodyPr wrap="none"/>
                    <a:lstStyle/>
                    <a:p>
                      <a:pPr algn="l"/>
                      <a:r>
                        <a:rPr sz="1100" b="1">
                          <a:solidFill>
                            <a:srgbClr val="2E2E2E"/>
                          </a:solidFill>
                          <a:latin typeface="Calibri"/>
                        </a:rPr>
                        <a:t>Supermarkets and Mass 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69418">
                <a:tc>
                  <a:txBody>
                    <a:bodyPr wrap="none"/>
                    <a:lstStyle/>
                    <a:p>
                      <a:pPr algn="l"/>
                      <a:r>
                        <a:rPr sz="1100" b="1">
                          <a:solidFill>
                            <a:srgbClr val="2E2E2E"/>
                          </a:solidFill>
                          <a:latin typeface="Calibri"/>
                        </a:rPr>
                        <a:t>Online Channels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69418">
                <a:tc>
                  <a:txBody>
                    <a:bodyPr wrap="none"/>
                    <a:lstStyle/>
                    <a:p>
                      <a:pPr algn="l"/>
                      <a:r>
                        <a:rPr sz="1100" b="1">
                          <a:solidFill>
                            <a:srgbClr val="2E2E2E"/>
                          </a:solidFill>
                          <a:latin typeface="Calibri"/>
                        </a:rPr>
                        <a:t>Medical Distributors and Institutional Procurement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69418">
                <a:tc>
                  <a:txBody>
                    <a:bodyPr wrap="none"/>
                    <a:lstStyle/>
                    <a:p>
                      <a:pPr algn="l"/>
                      <a:r>
                        <a:rPr sz="1100" b="1">
                          <a:solidFill>
                            <a:srgbClr val="2E2E2E"/>
                          </a:solidFill>
                          <a:latin typeface="Calibri"/>
                        </a:rPr>
                        <a:t>Other Offline Channels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Sales Channel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10531637" y="2360676"/>
            <a:ext cx="330041" cy="48006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Ear Wax Removal Products Market Tables Sales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Sales Channel, 2021–2036</a:t>
            </a:r>
          </a:p>
        </p:txBody>
      </p:sp>
      <p:sp>
        <p:nvSpPr>
          <p:cNvPr id="14" name="Rounded Rectangle 13"/>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Sales Channel (US$ Mn)</a:t>
            </a:r>
          </a:p>
        </p:txBody>
      </p:sp>
      <p:graphicFrame>
        <p:nvGraphicFramePr>
          <p:cNvPr id="16" name="Table 15"/>
          <p:cNvGraphicFramePr>
            <a:graphicFrameLocks noGrp="1"/>
          </p:cNvGraphicFramePr>
          <p:nvPr/>
        </p:nvGraphicFramePr>
        <p:xfrm>
          <a:off x="152400" y="1238250"/>
          <a:ext cx="11887194" cy="1724028"/>
        </p:xfrm>
        <a:graphic>
          <a:graphicData uri="http://schemas.openxmlformats.org/drawingml/2006/table">
            <a:tbl>
              <a:tblPr>
                <a:tableStyleId>{5C22544A-7EE6-4342-B048-85BDC9FD1C3A}</a:tableStyleId>
              </a:tblPr>
              <a:tblGrid>
                <a:gridCol w="3345513"/>
                <a:gridCol w="513086"/>
                <a:gridCol w="513086"/>
                <a:gridCol w="513086"/>
                <a:gridCol w="513086"/>
                <a:gridCol w="513086"/>
                <a:gridCol w="495012"/>
                <a:gridCol w="489848"/>
                <a:gridCol w="489848"/>
                <a:gridCol w="489848"/>
                <a:gridCol w="489848"/>
                <a:gridCol w="489848"/>
                <a:gridCol w="489848"/>
                <a:gridCol w="489848"/>
                <a:gridCol w="489848"/>
                <a:gridCol w="489848"/>
                <a:gridCol w="489848"/>
                <a:gridCol w="582759"/>
              </a:tblGrid>
              <a:tr h="246126">
                <a:tc>
                  <a:txBody>
                    <a:bodyPr wrap="none"/>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7">
                <a:tc>
                  <a:txBody>
                    <a:bodyPr wrap="none"/>
                    <a:lstStyle/>
                    <a:p>
                      <a:pPr algn="l"/>
                      <a:r>
                        <a:rPr sz="1100" b="1">
                          <a:solidFill>
                            <a:srgbClr val="2E2E2E"/>
                          </a:solidFill>
                          <a:latin typeface="Calibri"/>
                        </a:rPr>
                        <a:t>Retail Pharmacies and Drug Stores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Supermarkets and Mass 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Online Channels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Medical Distributors and Institutional Procurement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Other Offline Channels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582063" y="1956627"/>
            <a:ext cx="366712" cy="533399"/>
          </a:xfrm>
          <a:prstGeom prst="rect">
            <a:avLst/>
          </a:prstGeom>
        </p:spPr>
      </p:pic>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Age Group</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Ear Wax Removal Products Market Segmental Analysis Age Group</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Age Group: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Age Group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Age Group</a:t>
            </a:r>
          </a:p>
        </p:txBody>
      </p:sp>
      <p:graphicFrame>
        <p:nvGraphicFramePr>
          <p:cNvPr id="15" name="Table 14"/>
          <p:cNvGraphicFramePr>
            <a:graphicFrameLocks noGrp="1"/>
          </p:cNvGraphicFramePr>
          <p:nvPr/>
        </p:nvGraphicFramePr>
        <p:xfrm>
          <a:off x="6181725" y="1238250"/>
          <a:ext cx="5857877" cy="2286000"/>
        </p:xfrm>
        <a:graphic>
          <a:graphicData uri="http://schemas.openxmlformats.org/drawingml/2006/table">
            <a:tbl>
              <a:tblPr>
                <a:tableStyleId>{5C22544A-7EE6-4342-B048-85BDC9FD1C3A}</a:tableStyleId>
              </a:tblPr>
              <a:tblGrid>
                <a:gridCol w="939677"/>
                <a:gridCol w="1229550"/>
                <a:gridCol w="1229550"/>
                <a:gridCol w="1229550"/>
                <a:gridCol w="1229550"/>
              </a:tblGrid>
              <a:tr h="246126">
                <a:tc>
                  <a:txBody>
                    <a:bodyPr wrap="none"/>
                    <a:lstStyle/>
                    <a:p>
                      <a:pPr algn="l"/>
                      <a:r>
                        <a:rPr sz="1100" b="1">
                          <a:solidFill>
                            <a:srgbClr val="0B2E4A"/>
                          </a:solidFill>
                          <a:latin typeface="Calibri"/>
                        </a:rPr>
                        <a:t>Age Group</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679958">
                <a:tc>
                  <a:txBody>
                    <a:bodyPr wrap="none"/>
                    <a:lstStyle/>
                    <a:p>
                      <a:pPr algn="l"/>
                      <a:r>
                        <a:rPr sz="1100" b="1">
                          <a:solidFill>
                            <a:srgbClr val="2E2E2E"/>
                          </a:solidFill>
                          <a:latin typeface="Calibri"/>
                        </a:rPr>
                        <a:t>Paediatric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79958">
                <a:tc>
                  <a:txBody>
                    <a:bodyPr wrap="none"/>
                    <a:lstStyle/>
                    <a:p>
                      <a:pPr algn="l"/>
                      <a:r>
                        <a:rPr sz="1100" b="1">
                          <a:solidFill>
                            <a:srgbClr val="2E2E2E"/>
                          </a:solidFill>
                          <a:latin typeface="Calibri"/>
                        </a:rPr>
                        <a:t>Adult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679958">
                <a:tc>
                  <a:txBody>
                    <a:bodyPr wrap="none"/>
                    <a:lstStyle/>
                    <a:p>
                      <a:pPr algn="l"/>
                      <a:r>
                        <a:rPr sz="1100" b="1">
                          <a:solidFill>
                            <a:srgbClr val="2E2E2E"/>
                          </a:solidFill>
                          <a:latin typeface="Calibri"/>
                        </a:rPr>
                        <a:t>Geriatric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Age Group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393812"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Ear Wax Removal Products Market Tables Age Group</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Age Group, 2021–2036</a:t>
            </a:r>
          </a:p>
        </p:txBody>
      </p:sp>
      <p:sp>
        <p:nvSpPr>
          <p:cNvPr id="14" name="Rounded Rectangle 13"/>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Age Group (US$ Mn)</a:t>
            </a:r>
          </a:p>
        </p:txBody>
      </p:sp>
      <p:graphicFrame>
        <p:nvGraphicFramePr>
          <p:cNvPr id="16" name="Table 15"/>
          <p:cNvGraphicFramePr>
            <a:graphicFrameLocks noGrp="1"/>
          </p:cNvGraphicFramePr>
          <p:nvPr/>
        </p:nvGraphicFramePr>
        <p:xfrm>
          <a:off x="152400" y="1238250"/>
          <a:ext cx="11887204" cy="1238250"/>
        </p:xfrm>
        <a:graphic>
          <a:graphicData uri="http://schemas.openxmlformats.org/drawingml/2006/table">
            <a:tbl>
              <a:tblPr>
                <a:tableStyleId>{5C22544A-7EE6-4342-B048-85BDC9FD1C3A}</a:tableStyleId>
              </a:tblPr>
              <a:tblGrid>
                <a:gridCol w="874587"/>
                <a:gridCol w="647801"/>
                <a:gridCol w="647801"/>
                <a:gridCol w="647801"/>
                <a:gridCol w="647801"/>
                <a:gridCol w="647801"/>
                <a:gridCol w="647801"/>
                <a:gridCol w="647801"/>
                <a:gridCol w="647801"/>
                <a:gridCol w="647801"/>
                <a:gridCol w="647801"/>
                <a:gridCol w="647801"/>
                <a:gridCol w="647801"/>
                <a:gridCol w="647801"/>
                <a:gridCol w="647801"/>
                <a:gridCol w="647801"/>
                <a:gridCol w="647801"/>
                <a:gridCol w="647801"/>
              </a:tblGrid>
              <a:tr h="246126">
                <a:tc>
                  <a:txBody>
                    <a:bodyPr wrap="none"/>
                    <a:lstStyle/>
                    <a:p>
                      <a:pPr algn="l"/>
                      <a:r>
                        <a:rPr sz="1100" b="1">
                          <a:solidFill>
                            <a:srgbClr val="0B2E4A"/>
                          </a:solidFill>
                          <a:latin typeface="Calibri"/>
                        </a:rPr>
                        <a:t>Age Group</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Paediatric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Adult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Geriatric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346605" y="1713737"/>
            <a:ext cx="366712" cy="533400"/>
          </a:xfrm>
          <a:prstGeom prst="rect">
            <a:avLst/>
          </a:prstGeom>
        </p:spPr>
      </p:pic>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Ear Wax Removal Products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Pricing Assessment</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Pricing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Pricing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Pricing &amp; Regional Price Index Trends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Pricing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Price Positioning &amp; Key Findings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Pricing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Factors Impacting Pricing</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Product Pricing &amp; Regional Price Index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range by sub-segment and indexed regional price movement, highlighting dispersion and structural shifts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average USD pricing by product type and indexed regional price movement with base-year inflation adjustments.</a:t>
            </a:r>
          </a:p>
        </p:txBody>
      </p:sp>
      <p:sp>
        <p:nvSpPr>
          <p:cNvPr id="11" name="Rounded Rectangle 10"/>
          <p:cNvSpPr/>
          <p:nvPr/>
        </p:nvSpPr>
        <p:spPr>
          <a:xfrm>
            <a:off x="142875" y="1317574"/>
            <a:ext cx="7696200"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Pricing by Product Type</a:t>
            </a:r>
          </a:p>
        </p:txBody>
      </p:sp>
      <p:sp>
        <p:nvSpPr>
          <p:cNvPr id="13" name="TextBox 12"/>
          <p:cNvSpPr txBox="1"/>
          <p:nvPr/>
        </p:nvSpPr>
        <p:spPr>
          <a:xfrm>
            <a:off x="219075" y="3471051"/>
            <a:ext cx="381000" cy="133350"/>
          </a:xfrm>
          <a:prstGeom prst="rect">
            <a:avLst/>
          </a:prstGeom>
          <a:noFill/>
        </p:spPr>
        <p:txBody>
          <a:bodyPr wrap="none" lIns="0" rIns="0" tIns="0" bIns="0" anchor="ctr">
            <a:spAutoFit/>
          </a:bodyPr>
          <a:lstStyle/>
          <a:p>
            <a:pPr algn="r"/>
            <a:r>
              <a:rPr sz="1100" b="0">
                <a:solidFill>
                  <a:srgbClr val="6C7A89"/>
                </a:solidFill>
                <a:latin typeface="Calibri"/>
              </a:rPr>
              <a:t> </a:t>
            </a:r>
          </a:p>
        </p:txBody>
      </p:sp>
      <p:sp>
        <p:nvSpPr>
          <p:cNvPr id="14" name="TextBox 13"/>
          <p:cNvSpPr txBox="1"/>
          <p:nvPr/>
        </p:nvSpPr>
        <p:spPr>
          <a:xfrm>
            <a:off x="219075" y="2561000"/>
            <a:ext cx="381000" cy="133350"/>
          </a:xfrm>
          <a:prstGeom prst="rect">
            <a:avLst/>
          </a:prstGeom>
          <a:noFill/>
        </p:spPr>
        <p:txBody>
          <a:bodyPr wrap="none" lIns="0" rIns="0" tIns="0" bIns="0" anchor="ctr">
            <a:spAutoFit/>
          </a:bodyPr>
          <a:lstStyle/>
          <a:p>
            <a:pPr algn="r"/>
            <a:r>
              <a:rPr sz="1100" b="0">
                <a:solidFill>
                  <a:srgbClr val="6C7A89"/>
                </a:solidFill>
                <a:latin typeface="Calibri"/>
              </a:rPr>
              <a:t> </a:t>
            </a:r>
          </a:p>
        </p:txBody>
      </p:sp>
      <p:sp>
        <p:nvSpPr>
          <p:cNvPr id="15" name="TextBox 14"/>
          <p:cNvSpPr txBox="1"/>
          <p:nvPr/>
        </p:nvSpPr>
        <p:spPr>
          <a:xfrm>
            <a:off x="219075" y="1650949"/>
            <a:ext cx="381000" cy="133350"/>
          </a:xfrm>
          <a:prstGeom prst="rect">
            <a:avLst/>
          </a:prstGeom>
          <a:noFill/>
        </p:spPr>
        <p:txBody>
          <a:bodyPr wrap="none" lIns="0" rIns="0" tIns="0" bIns="0" anchor="ctr">
            <a:spAutoFit/>
          </a:bodyPr>
          <a:lstStyle/>
          <a:p>
            <a:pPr algn="r"/>
            <a:r>
              <a:rPr sz="1100" b="0">
                <a:solidFill>
                  <a:srgbClr val="6C7A89"/>
                </a:solidFill>
                <a:latin typeface="Calibri"/>
              </a:rPr>
              <a:t> </a:t>
            </a:r>
          </a:p>
        </p:txBody>
      </p:sp>
      <p:cxnSp>
        <p:nvCxnSpPr>
          <p:cNvPr id="16" name="Connector 15"/>
          <p:cNvCxnSpPr/>
          <p:nvPr/>
        </p:nvCxnSpPr>
        <p:spPr>
          <a:xfrm>
            <a:off x="1157968" y="3142499"/>
            <a:ext cx="0" cy="185215"/>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938893" y="3142499"/>
            <a:ext cx="438150" cy="185215"/>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7225" y="2990099"/>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19" name="TextBox 18"/>
          <p:cNvSpPr txBox="1"/>
          <p:nvPr/>
        </p:nvSpPr>
        <p:spPr>
          <a:xfrm>
            <a:off x="657225" y="3566301"/>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Drops</a:t>
            </a:r>
          </a:p>
        </p:txBody>
      </p:sp>
      <p:cxnSp>
        <p:nvCxnSpPr>
          <p:cNvPr id="20" name="Connector 19"/>
          <p:cNvCxnSpPr/>
          <p:nvPr/>
        </p:nvCxnSpPr>
        <p:spPr>
          <a:xfrm>
            <a:off x="2159454" y="2945630"/>
            <a:ext cx="0" cy="346926"/>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1940379" y="2945630"/>
            <a:ext cx="438150" cy="346926"/>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58711" y="2793230"/>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23" name="TextBox 22"/>
          <p:cNvSpPr txBox="1"/>
          <p:nvPr/>
        </p:nvSpPr>
        <p:spPr>
          <a:xfrm>
            <a:off x="1658711" y="3566301"/>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Sprays</a:t>
            </a:r>
          </a:p>
        </p:txBody>
      </p:sp>
      <p:cxnSp>
        <p:nvCxnSpPr>
          <p:cNvPr id="24" name="Connector 23"/>
          <p:cNvCxnSpPr/>
          <p:nvPr/>
        </p:nvCxnSpPr>
        <p:spPr>
          <a:xfrm>
            <a:off x="3160939" y="2811529"/>
            <a:ext cx="0" cy="261071"/>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2941864" y="2811529"/>
            <a:ext cx="438150" cy="261071"/>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60196" y="2659129"/>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27" name="TextBox 26"/>
          <p:cNvSpPr txBox="1"/>
          <p:nvPr/>
        </p:nvSpPr>
        <p:spPr>
          <a:xfrm>
            <a:off x="2660196" y="3566301"/>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Irrigation Devices an…</a:t>
            </a:r>
          </a:p>
        </p:txBody>
      </p:sp>
      <p:cxnSp>
        <p:nvCxnSpPr>
          <p:cNvPr id="28" name="Connector 27"/>
          <p:cNvCxnSpPr/>
          <p:nvPr/>
        </p:nvCxnSpPr>
        <p:spPr>
          <a:xfrm>
            <a:off x="4162425" y="2734788"/>
            <a:ext cx="0" cy="316526"/>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3943350" y="2734788"/>
            <a:ext cx="438150" cy="316526"/>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61682" y="2582388"/>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31" name="TextBox 30"/>
          <p:cNvSpPr txBox="1"/>
          <p:nvPr/>
        </p:nvSpPr>
        <p:spPr>
          <a:xfrm>
            <a:off x="3661682" y="3566301"/>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Manual Removal Tools</a:t>
            </a:r>
          </a:p>
        </p:txBody>
      </p:sp>
      <p:cxnSp>
        <p:nvCxnSpPr>
          <p:cNvPr id="32" name="Connector 31"/>
          <p:cNvCxnSpPr/>
          <p:nvPr/>
        </p:nvCxnSpPr>
        <p:spPr>
          <a:xfrm>
            <a:off x="5163911" y="1927636"/>
            <a:ext cx="0" cy="396598"/>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944836" y="1927636"/>
            <a:ext cx="438150" cy="396598"/>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63168" y="1775236"/>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35" name="TextBox 34"/>
          <p:cNvSpPr txBox="1"/>
          <p:nvPr/>
        </p:nvSpPr>
        <p:spPr>
          <a:xfrm>
            <a:off x="4663168" y="3566301"/>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Camera-Assisted Remov…</a:t>
            </a:r>
          </a:p>
        </p:txBody>
      </p:sp>
      <p:cxnSp>
        <p:nvCxnSpPr>
          <p:cNvPr id="36" name="Connector 35"/>
          <p:cNvCxnSpPr/>
          <p:nvPr/>
        </p:nvCxnSpPr>
        <p:spPr>
          <a:xfrm>
            <a:off x="6165396" y="2656656"/>
            <a:ext cx="0" cy="261733"/>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946321" y="2656656"/>
            <a:ext cx="438150" cy="261732"/>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64654" y="2504256"/>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39" name="TextBox 38"/>
          <p:cNvSpPr txBox="1"/>
          <p:nvPr/>
        </p:nvSpPr>
        <p:spPr>
          <a:xfrm>
            <a:off x="5664654" y="3566301"/>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Suction Devices and A…</a:t>
            </a:r>
          </a:p>
        </p:txBody>
      </p:sp>
      <p:cxnSp>
        <p:nvCxnSpPr>
          <p:cNvPr id="40" name="Connector 39"/>
          <p:cNvCxnSpPr/>
          <p:nvPr/>
        </p:nvCxnSpPr>
        <p:spPr>
          <a:xfrm>
            <a:off x="7166882" y="2210452"/>
            <a:ext cx="0" cy="441312"/>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6947807" y="2210452"/>
            <a:ext cx="438150" cy="441312"/>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66139" y="2058052"/>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43" name="TextBox 42"/>
          <p:cNvSpPr txBox="1"/>
          <p:nvPr/>
        </p:nvSpPr>
        <p:spPr>
          <a:xfrm>
            <a:off x="6666139" y="3566301"/>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Combination Removal K…</a:t>
            </a:r>
          </a:p>
        </p:txBody>
      </p:sp>
      <p:sp>
        <p:nvSpPr>
          <p:cNvPr id="44" name="Rounded Rectangle 43"/>
          <p:cNvSpPr/>
          <p:nvPr/>
        </p:nvSpPr>
        <p:spPr>
          <a:xfrm>
            <a:off x="142875" y="3991741"/>
            <a:ext cx="7696200" cy="2564645"/>
          </a:xfrm>
          <a:prstGeom prst="roundRect">
            <a:avLst>
              <a:gd name="adj" fmla="val 29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38125" y="4048891"/>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Price Trend (2026–2036)</a:t>
            </a:r>
          </a:p>
        </p:txBody>
      </p:sp>
      <p:cxnSp>
        <p:nvCxnSpPr>
          <p:cNvPr id="46" name="Connector 45"/>
          <p:cNvCxnSpPr/>
          <p:nvPr/>
        </p:nvCxnSpPr>
        <p:spPr>
          <a:xfrm>
            <a:off x="619125" y="452013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19125" y="488471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19125" y="524929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19125" y="561388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19125" y="5978462"/>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19125" y="4520134"/>
            <a:ext cx="0" cy="1458328"/>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90550" y="4520134"/>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590550" y="488471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590550" y="52492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90550" y="561388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90550" y="5978462"/>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57" name="FMI Scale tick"/>
          <p:cNvSpPr txBox="1"/>
          <p:nvPr/>
        </p:nvSpPr>
        <p:spPr>
          <a:xfrm>
            <a:off x="219075" y="4453459"/>
            <a:ext cx="361950" cy="133350"/>
          </a:xfrm>
          <a:prstGeom prst="rect">
            <a:avLst/>
          </a:prstGeom>
          <a:noFill/>
        </p:spPr>
        <p:txBody>
          <a:bodyPr wrap="none" lIns="0" rIns="0" tIns="0" bIns="0" anchor="ctr">
            <a:spAutoFit/>
          </a:bodyPr>
          <a:lstStyle/>
          <a:p>
            <a:pPr algn="r"/>
            <a:r>
              <a:rPr sz="1100" b="0">
                <a:solidFill>
                  <a:srgbClr val="6C7A89"/>
                </a:solidFill>
                <a:latin typeface="Calibri"/>
              </a:rPr>
              <a:t>+11%</a:t>
            </a:r>
          </a:p>
        </p:txBody>
      </p:sp>
      <p:sp>
        <p:nvSpPr>
          <p:cNvPr id="58" name="FMI Scale tick"/>
          <p:cNvSpPr txBox="1"/>
          <p:nvPr/>
        </p:nvSpPr>
        <p:spPr>
          <a:xfrm>
            <a:off x="219075" y="4818041"/>
            <a:ext cx="361950" cy="133350"/>
          </a:xfrm>
          <a:prstGeom prst="rect">
            <a:avLst/>
          </a:prstGeom>
          <a:noFill/>
        </p:spPr>
        <p:txBody>
          <a:bodyPr wrap="none" lIns="0" rIns="0" tIns="0" bIns="0" anchor="ctr">
            <a:spAutoFit/>
          </a:bodyPr>
          <a:lstStyle/>
          <a:p>
            <a:pPr algn="r"/>
            <a:r>
              <a:rPr sz="1100" b="0">
                <a:solidFill>
                  <a:srgbClr val="6C7A89"/>
                </a:solidFill>
                <a:latin typeface="Calibri"/>
              </a:rPr>
              <a:t>+5%</a:t>
            </a:r>
          </a:p>
        </p:txBody>
      </p:sp>
      <p:sp>
        <p:nvSpPr>
          <p:cNvPr id="59" name="FMI Scale tick"/>
          <p:cNvSpPr txBox="1"/>
          <p:nvPr/>
        </p:nvSpPr>
        <p:spPr>
          <a:xfrm>
            <a:off x="219075" y="5182623"/>
            <a:ext cx="361950" cy="13335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60" name="FMI Scale tick"/>
          <p:cNvSpPr txBox="1"/>
          <p:nvPr/>
        </p:nvSpPr>
        <p:spPr>
          <a:xfrm>
            <a:off x="219075" y="5547205"/>
            <a:ext cx="361950" cy="133350"/>
          </a:xfrm>
          <a:prstGeom prst="rect">
            <a:avLst/>
          </a:prstGeom>
          <a:noFill/>
        </p:spPr>
        <p:txBody>
          <a:bodyPr wrap="none" lIns="0" rIns="0" tIns="0" bIns="0" anchor="ctr">
            <a:spAutoFit/>
          </a:bodyPr>
          <a:lstStyle/>
          <a:p>
            <a:pPr algn="r"/>
            <a:r>
              <a:rPr sz="1100" b="0">
                <a:solidFill>
                  <a:srgbClr val="6C7A89"/>
                </a:solidFill>
                <a:latin typeface="Calibri"/>
              </a:rPr>
              <a:t>-5%</a:t>
            </a:r>
          </a:p>
        </p:txBody>
      </p:sp>
      <p:sp>
        <p:nvSpPr>
          <p:cNvPr id="61" name="FMI Scale tick"/>
          <p:cNvSpPr txBox="1"/>
          <p:nvPr/>
        </p:nvSpPr>
        <p:spPr>
          <a:xfrm>
            <a:off x="219075" y="5911787"/>
            <a:ext cx="361950" cy="133350"/>
          </a:xfrm>
          <a:prstGeom prst="rect">
            <a:avLst/>
          </a:prstGeom>
          <a:noFill/>
        </p:spPr>
        <p:txBody>
          <a:bodyPr wrap="none" lIns="0" rIns="0" tIns="0" bIns="0" anchor="ctr">
            <a:spAutoFit/>
          </a:bodyPr>
          <a:lstStyle/>
          <a:p>
            <a:pPr algn="r"/>
            <a:r>
              <a:rPr sz="1100" b="0">
                <a:solidFill>
                  <a:srgbClr val="6C7A89"/>
                </a:solidFill>
                <a:latin typeface="Calibri"/>
              </a:rPr>
              <a:t>-11%</a:t>
            </a:r>
          </a:p>
        </p:txBody>
      </p:sp>
      <p:cxnSp>
        <p:nvCxnSpPr>
          <p:cNvPr id="62" name="Connector 61"/>
          <p:cNvCxnSpPr/>
          <p:nvPr/>
        </p:nvCxnSpPr>
        <p:spPr>
          <a:xfrm>
            <a:off x="619125" y="5249298"/>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977900" y="4614107"/>
            <a:ext cx="457200" cy="63519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MI Data Label"/>
          <p:cNvSpPr txBox="1"/>
          <p:nvPr/>
        </p:nvSpPr>
        <p:spPr>
          <a:xfrm>
            <a:off x="619125" y="4471232"/>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5" name="Rectangle 64"/>
          <p:cNvSpPr/>
          <p:nvPr/>
        </p:nvSpPr>
        <p:spPr>
          <a:xfrm>
            <a:off x="2152650" y="5205427"/>
            <a:ext cx="457200" cy="4387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MI Data Label"/>
          <p:cNvSpPr txBox="1"/>
          <p:nvPr/>
        </p:nvSpPr>
        <p:spPr>
          <a:xfrm>
            <a:off x="1793875" y="5062552"/>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7" name="Rectangle 66"/>
          <p:cNvSpPr/>
          <p:nvPr/>
        </p:nvSpPr>
        <p:spPr>
          <a:xfrm>
            <a:off x="3327400" y="4770226"/>
            <a:ext cx="457200" cy="479072"/>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MI Data Label"/>
          <p:cNvSpPr txBox="1"/>
          <p:nvPr/>
        </p:nvSpPr>
        <p:spPr>
          <a:xfrm>
            <a:off x="2968625" y="4627351"/>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9" name="Rectangle 68"/>
          <p:cNvSpPr/>
          <p:nvPr/>
        </p:nvSpPr>
        <p:spPr>
          <a:xfrm>
            <a:off x="4502150" y="5249298"/>
            <a:ext cx="457200" cy="383587"/>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MI Data Label"/>
          <p:cNvSpPr txBox="1"/>
          <p:nvPr/>
        </p:nvSpPr>
        <p:spPr>
          <a:xfrm>
            <a:off x="4143375" y="5642410"/>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1" name="Rectangle 70"/>
          <p:cNvSpPr/>
          <p:nvPr/>
        </p:nvSpPr>
        <p:spPr>
          <a:xfrm>
            <a:off x="5676900" y="5249298"/>
            <a:ext cx="457200" cy="387507"/>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MI Data Label"/>
          <p:cNvSpPr txBox="1"/>
          <p:nvPr/>
        </p:nvSpPr>
        <p:spPr>
          <a:xfrm>
            <a:off x="5318125" y="5646330"/>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3" name="Rectangle 72"/>
          <p:cNvSpPr/>
          <p:nvPr/>
        </p:nvSpPr>
        <p:spPr>
          <a:xfrm>
            <a:off x="6851650" y="5249298"/>
            <a:ext cx="457200" cy="78495"/>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MI Data Label"/>
          <p:cNvSpPr txBox="1"/>
          <p:nvPr/>
        </p:nvSpPr>
        <p:spPr>
          <a:xfrm>
            <a:off x="6492875" y="5337318"/>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5" name="TextBox 74"/>
          <p:cNvSpPr txBox="1"/>
          <p:nvPr/>
        </p:nvSpPr>
        <p:spPr>
          <a:xfrm>
            <a:off x="619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76" name="TextBox 75"/>
          <p:cNvSpPr txBox="1"/>
          <p:nvPr/>
        </p:nvSpPr>
        <p:spPr>
          <a:xfrm>
            <a:off x="1793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77" name="TextBox 76"/>
          <p:cNvSpPr txBox="1"/>
          <p:nvPr/>
        </p:nvSpPr>
        <p:spPr>
          <a:xfrm>
            <a:off x="29686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Europe</a:t>
            </a:r>
          </a:p>
        </p:txBody>
      </p:sp>
      <p:sp>
        <p:nvSpPr>
          <p:cNvPr id="78" name="TextBox 77"/>
          <p:cNvSpPr txBox="1"/>
          <p:nvPr/>
        </p:nvSpPr>
        <p:spPr>
          <a:xfrm>
            <a:off x="41433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79" name="TextBox 78"/>
          <p:cNvSpPr txBox="1"/>
          <p:nvPr/>
        </p:nvSpPr>
        <p:spPr>
          <a:xfrm>
            <a:off x="5318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80" name="TextBox 79"/>
          <p:cNvSpPr txBox="1"/>
          <p:nvPr/>
        </p:nvSpPr>
        <p:spPr>
          <a:xfrm>
            <a:off x="6492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81" name="Rounded Rectangle 80"/>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83" name="Rectangle 82"/>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85" name="TextBox 8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6" name="Picture 85" descr="lock.png"/>
          <p:cNvPicPr>
            <a:picLocks noChangeAspect="1"/>
          </p:cNvPicPr>
          <p:nvPr/>
        </p:nvPicPr>
        <p:blipFill>
          <a:blip r:embed="rId4"/>
          <a:stretch>
            <a:fillRect/>
          </a:stretch>
        </p:blipFill>
        <p:spPr>
          <a:xfrm>
            <a:off x="345225" y="3444127"/>
            <a:ext cx="128699" cy="187198"/>
          </a:xfrm>
          <a:prstGeom prst="rect">
            <a:avLst/>
          </a:prstGeom>
        </p:spPr>
      </p:pic>
      <p:pic>
        <p:nvPicPr>
          <p:cNvPr id="87" name="Picture 86" descr="lock.png"/>
          <p:cNvPicPr>
            <a:picLocks noChangeAspect="1"/>
          </p:cNvPicPr>
          <p:nvPr/>
        </p:nvPicPr>
        <p:blipFill>
          <a:blip r:embed="rId4"/>
          <a:stretch>
            <a:fillRect/>
          </a:stretch>
        </p:blipFill>
        <p:spPr>
          <a:xfrm>
            <a:off x="345225" y="2534076"/>
            <a:ext cx="128699" cy="187198"/>
          </a:xfrm>
          <a:prstGeom prst="rect">
            <a:avLst/>
          </a:prstGeom>
        </p:spPr>
      </p:pic>
      <p:pic>
        <p:nvPicPr>
          <p:cNvPr id="88" name="Picture 87" descr="lock.png"/>
          <p:cNvPicPr>
            <a:picLocks noChangeAspect="1"/>
          </p:cNvPicPr>
          <p:nvPr/>
        </p:nvPicPr>
        <p:blipFill>
          <a:blip r:embed="rId4"/>
          <a:stretch>
            <a:fillRect/>
          </a:stretch>
        </p:blipFill>
        <p:spPr>
          <a:xfrm>
            <a:off x="345225" y="1624025"/>
            <a:ext cx="128699" cy="187198"/>
          </a:xfrm>
          <a:prstGeom prst="rect">
            <a:avLst/>
          </a:prstGeom>
        </p:spPr>
      </p:pic>
      <p:pic>
        <p:nvPicPr>
          <p:cNvPr id="89" name="Picture 88" descr="lock.png"/>
          <p:cNvPicPr>
            <a:picLocks noChangeAspect="1"/>
          </p:cNvPicPr>
          <p:nvPr/>
        </p:nvPicPr>
        <p:blipFill>
          <a:blip r:embed="rId4"/>
          <a:stretch>
            <a:fillRect/>
          </a:stretch>
        </p:blipFill>
        <p:spPr>
          <a:xfrm>
            <a:off x="1093618" y="2963175"/>
            <a:ext cx="128699" cy="187198"/>
          </a:xfrm>
          <a:prstGeom prst="rect">
            <a:avLst/>
          </a:prstGeom>
        </p:spPr>
      </p:pic>
      <p:pic>
        <p:nvPicPr>
          <p:cNvPr id="90" name="Picture 89" descr="lock.png"/>
          <p:cNvPicPr>
            <a:picLocks noChangeAspect="1"/>
          </p:cNvPicPr>
          <p:nvPr/>
        </p:nvPicPr>
        <p:blipFill>
          <a:blip r:embed="rId4"/>
          <a:stretch>
            <a:fillRect/>
          </a:stretch>
        </p:blipFill>
        <p:spPr>
          <a:xfrm>
            <a:off x="2095104" y="2766306"/>
            <a:ext cx="128699" cy="187198"/>
          </a:xfrm>
          <a:prstGeom prst="rect">
            <a:avLst/>
          </a:prstGeom>
        </p:spPr>
      </p:pic>
      <p:pic>
        <p:nvPicPr>
          <p:cNvPr id="91" name="Picture 90" descr="lock.png"/>
          <p:cNvPicPr>
            <a:picLocks noChangeAspect="1"/>
          </p:cNvPicPr>
          <p:nvPr/>
        </p:nvPicPr>
        <p:blipFill>
          <a:blip r:embed="rId4"/>
          <a:stretch>
            <a:fillRect/>
          </a:stretch>
        </p:blipFill>
        <p:spPr>
          <a:xfrm>
            <a:off x="3096589" y="2632205"/>
            <a:ext cx="128699" cy="187198"/>
          </a:xfrm>
          <a:prstGeom prst="rect">
            <a:avLst/>
          </a:prstGeom>
        </p:spPr>
      </p:pic>
      <p:pic>
        <p:nvPicPr>
          <p:cNvPr id="92" name="Picture 91" descr="lock.png"/>
          <p:cNvPicPr>
            <a:picLocks noChangeAspect="1"/>
          </p:cNvPicPr>
          <p:nvPr/>
        </p:nvPicPr>
        <p:blipFill>
          <a:blip r:embed="rId4"/>
          <a:stretch>
            <a:fillRect/>
          </a:stretch>
        </p:blipFill>
        <p:spPr>
          <a:xfrm>
            <a:off x="4098075" y="2555464"/>
            <a:ext cx="128699" cy="187198"/>
          </a:xfrm>
          <a:prstGeom prst="rect">
            <a:avLst/>
          </a:prstGeom>
        </p:spPr>
      </p:pic>
      <p:pic>
        <p:nvPicPr>
          <p:cNvPr id="93" name="Picture 92" descr="lock.png"/>
          <p:cNvPicPr>
            <a:picLocks noChangeAspect="1"/>
          </p:cNvPicPr>
          <p:nvPr/>
        </p:nvPicPr>
        <p:blipFill>
          <a:blip r:embed="rId4"/>
          <a:stretch>
            <a:fillRect/>
          </a:stretch>
        </p:blipFill>
        <p:spPr>
          <a:xfrm>
            <a:off x="5099561" y="1748312"/>
            <a:ext cx="128699" cy="187198"/>
          </a:xfrm>
          <a:prstGeom prst="rect">
            <a:avLst/>
          </a:prstGeom>
        </p:spPr>
      </p:pic>
      <p:pic>
        <p:nvPicPr>
          <p:cNvPr id="94" name="Picture 93" descr="lock.png"/>
          <p:cNvPicPr>
            <a:picLocks noChangeAspect="1"/>
          </p:cNvPicPr>
          <p:nvPr/>
        </p:nvPicPr>
        <p:blipFill>
          <a:blip r:embed="rId4"/>
          <a:stretch>
            <a:fillRect/>
          </a:stretch>
        </p:blipFill>
        <p:spPr>
          <a:xfrm>
            <a:off x="6101047" y="2477332"/>
            <a:ext cx="128699" cy="187198"/>
          </a:xfrm>
          <a:prstGeom prst="rect">
            <a:avLst/>
          </a:prstGeom>
        </p:spPr>
      </p:pic>
      <p:pic>
        <p:nvPicPr>
          <p:cNvPr id="95" name="Picture 94" descr="lock.png"/>
          <p:cNvPicPr>
            <a:picLocks noChangeAspect="1"/>
          </p:cNvPicPr>
          <p:nvPr/>
        </p:nvPicPr>
        <p:blipFill>
          <a:blip r:embed="rId4"/>
          <a:stretch>
            <a:fillRect/>
          </a:stretch>
        </p:blipFill>
        <p:spPr>
          <a:xfrm>
            <a:off x="7102532" y="2031128"/>
            <a:ext cx="128699" cy="187198"/>
          </a:xfrm>
          <a:prstGeom prst="rect">
            <a:avLst/>
          </a:prstGeom>
        </p:spPr>
      </p:pic>
      <p:pic>
        <p:nvPicPr>
          <p:cNvPr id="96" name="Picture 95" descr="lock.png"/>
          <p:cNvPicPr>
            <a:picLocks noChangeAspect="1"/>
          </p:cNvPicPr>
          <p:nvPr/>
        </p:nvPicPr>
        <p:blipFill>
          <a:blip r:embed="rId4"/>
          <a:stretch>
            <a:fillRect/>
          </a:stretch>
        </p:blipFill>
        <p:spPr>
          <a:xfrm>
            <a:off x="1142150" y="4444308"/>
            <a:ext cx="128699" cy="187198"/>
          </a:xfrm>
          <a:prstGeom prst="rect">
            <a:avLst/>
          </a:prstGeom>
        </p:spPr>
      </p:pic>
      <p:pic>
        <p:nvPicPr>
          <p:cNvPr id="97" name="Picture 96" descr="lock.png"/>
          <p:cNvPicPr>
            <a:picLocks noChangeAspect="1"/>
          </p:cNvPicPr>
          <p:nvPr/>
        </p:nvPicPr>
        <p:blipFill>
          <a:blip r:embed="rId4"/>
          <a:stretch>
            <a:fillRect/>
          </a:stretch>
        </p:blipFill>
        <p:spPr>
          <a:xfrm>
            <a:off x="2316900" y="5035627"/>
            <a:ext cx="128699" cy="187198"/>
          </a:xfrm>
          <a:prstGeom prst="rect">
            <a:avLst/>
          </a:prstGeom>
        </p:spPr>
      </p:pic>
      <p:pic>
        <p:nvPicPr>
          <p:cNvPr id="98" name="Picture 97" descr="lock.png"/>
          <p:cNvPicPr>
            <a:picLocks noChangeAspect="1"/>
          </p:cNvPicPr>
          <p:nvPr/>
        </p:nvPicPr>
        <p:blipFill>
          <a:blip r:embed="rId4"/>
          <a:stretch>
            <a:fillRect/>
          </a:stretch>
        </p:blipFill>
        <p:spPr>
          <a:xfrm>
            <a:off x="3491650" y="4600427"/>
            <a:ext cx="128699" cy="187198"/>
          </a:xfrm>
          <a:prstGeom prst="rect">
            <a:avLst/>
          </a:prstGeom>
        </p:spPr>
      </p:pic>
      <p:pic>
        <p:nvPicPr>
          <p:cNvPr id="99" name="Picture 98" descr="lock.png"/>
          <p:cNvPicPr>
            <a:picLocks noChangeAspect="1"/>
          </p:cNvPicPr>
          <p:nvPr/>
        </p:nvPicPr>
        <p:blipFill>
          <a:blip r:embed="rId4"/>
          <a:stretch>
            <a:fillRect/>
          </a:stretch>
        </p:blipFill>
        <p:spPr>
          <a:xfrm>
            <a:off x="4666400" y="5615485"/>
            <a:ext cx="128699" cy="187198"/>
          </a:xfrm>
          <a:prstGeom prst="rect">
            <a:avLst/>
          </a:prstGeom>
        </p:spPr>
      </p:pic>
      <p:pic>
        <p:nvPicPr>
          <p:cNvPr id="100" name="Picture 99" descr="lock.png"/>
          <p:cNvPicPr>
            <a:picLocks noChangeAspect="1"/>
          </p:cNvPicPr>
          <p:nvPr/>
        </p:nvPicPr>
        <p:blipFill>
          <a:blip r:embed="rId4"/>
          <a:stretch>
            <a:fillRect/>
          </a:stretch>
        </p:blipFill>
        <p:spPr>
          <a:xfrm>
            <a:off x="5841150" y="5619406"/>
            <a:ext cx="128699" cy="187198"/>
          </a:xfrm>
          <a:prstGeom prst="rect">
            <a:avLst/>
          </a:prstGeom>
        </p:spPr>
      </p:pic>
      <p:pic>
        <p:nvPicPr>
          <p:cNvPr id="101" name="Picture 100" descr="lock.png"/>
          <p:cNvPicPr>
            <a:picLocks noChangeAspect="1"/>
          </p:cNvPicPr>
          <p:nvPr/>
        </p:nvPicPr>
        <p:blipFill>
          <a:blip r:embed="rId4"/>
          <a:stretch>
            <a:fillRect/>
          </a:stretch>
        </p:blipFill>
        <p:spPr>
          <a:xfrm>
            <a:off x="7015900" y="5310393"/>
            <a:ext cx="128699" cy="187198"/>
          </a:xfrm>
          <a:prstGeom prst="rect">
            <a:avLst/>
          </a:prstGeom>
        </p:spPr>
      </p:pic>
      <p:sp>
        <p:nvSpPr>
          <p:cNvPr id="102" name="TextBox 101"/>
          <p:cNvSpPr txBox="1"/>
          <p:nvPr/>
        </p:nvSpPr>
        <p:spPr>
          <a:xfrm>
            <a:off x="8048625" y="1736673"/>
            <a:ext cx="3654424" cy="194310"/>
          </a:xfrm>
          <a:prstGeom prst="rect">
            <a:avLst/>
          </a:prstGeom>
          <a:noFill/>
        </p:spPr>
        <p:txBody>
          <a:bodyPr wrap="none" lIns="0" rIns="0" tIns="0" bIns="0">
            <a:spAutoFit/>
          </a:bodyPr>
          <a:lstStyle/>
          <a:p>
            <a:r>
              <a:rPr sz="1150" b="0">
                <a:solidFill>
                  <a:srgbClr val="2E2E2E"/>
                </a:solidFill>
                <a:latin typeface="Calibri"/>
              </a:rPr>
              <a:t>▪ The chart shows global average pricing of key product type</a:t>
            </a:r>
          </a:p>
        </p:txBody>
      </p:sp>
      <p:sp>
        <p:nvSpPr>
          <p:cNvPr id="103" name="TextBox 102"/>
          <p:cNvSpPr txBox="1"/>
          <p:nvPr/>
        </p:nvSpPr>
        <p:spPr>
          <a:xfrm>
            <a:off x="8048625" y="1911934"/>
            <a:ext cx="3848100" cy="194310"/>
          </a:xfrm>
          <a:prstGeom prst="rect">
            <a:avLst/>
          </a:prstGeom>
          <a:noFill/>
        </p:spPr>
        <p:txBody>
          <a:bodyPr wrap="none" lIns="0" rIns="0" tIns="0" bIns="0">
            <a:spAutoFit/>
          </a:bodyPr>
          <a:lstStyle/>
          <a:p>
            <a:r>
              <a:rPr sz="1150" b="0">
                <a:solidFill>
                  <a:srgbClr val="2E2E2E"/>
                </a:solidFill>
                <a:latin typeface="Calibri"/>
              </a:rPr>
              <a:t>types in USD, harmonised across regions. Each candlestick spans</a:t>
            </a:r>
          </a:p>
        </p:txBody>
      </p:sp>
      <p:sp>
        <p:nvSpPr>
          <p:cNvPr id="104" name="TextBox 103"/>
          <p:cNvSpPr txBox="1"/>
          <p:nvPr/>
        </p:nvSpPr>
        <p:spPr>
          <a:xfrm>
            <a:off x="8048625" y="2087194"/>
            <a:ext cx="3848100" cy="194310"/>
          </a:xfrm>
          <a:prstGeom prst="rect">
            <a:avLst/>
          </a:prstGeom>
          <a:noFill/>
        </p:spPr>
        <p:txBody>
          <a:bodyPr wrap="none" lIns="0" rIns="0" tIns="0" bIns="0">
            <a:spAutoFit/>
          </a:bodyPr>
          <a:lstStyle/>
          <a:p>
            <a:r>
              <a:rPr sz="1150" b="0">
                <a:solidFill>
                  <a:srgbClr val="2E2E2E"/>
                </a:solidFill>
                <a:latin typeface="Calibri"/>
              </a:rPr>
              <a:t>the minimum-to-maximum observed price within the base year,</a:t>
            </a:r>
          </a:p>
        </p:txBody>
      </p:sp>
      <p:sp>
        <p:nvSpPr>
          <p:cNvPr id="105" name="TextBox 104"/>
          <p:cNvSpPr txBox="1"/>
          <p:nvPr/>
        </p:nvSpPr>
        <p:spPr>
          <a:xfrm>
            <a:off x="8048625" y="2262454"/>
            <a:ext cx="3406254" cy="194310"/>
          </a:xfrm>
          <a:prstGeom prst="rect">
            <a:avLst/>
          </a:prstGeom>
          <a:noFill/>
        </p:spPr>
        <p:txBody>
          <a:bodyPr wrap="none" lIns="0" rIns="0" tIns="0" bIns="0">
            <a:spAutoFit/>
          </a:bodyPr>
          <a:lstStyle/>
          <a:p>
            <a:r>
              <a:rPr sz="1150" b="0">
                <a:solidFill>
                  <a:srgbClr val="2E2E2E"/>
                </a:solidFill>
                <a:latin typeface="Calibri"/>
              </a:rPr>
              <a:t>giving a clear read of price range and market dispersion.</a:t>
            </a:r>
          </a:p>
        </p:txBody>
      </p:sp>
      <p:sp>
        <p:nvSpPr>
          <p:cNvPr id="106" name="TextBox 105"/>
          <p:cNvSpPr txBox="1"/>
          <p:nvPr/>
        </p:nvSpPr>
        <p:spPr>
          <a:xfrm>
            <a:off x="8048625" y="2490292"/>
            <a:ext cx="3793058" cy="194310"/>
          </a:xfrm>
          <a:prstGeom prst="rect">
            <a:avLst/>
          </a:prstGeom>
          <a:noFill/>
        </p:spPr>
        <p:txBody>
          <a:bodyPr wrap="none" lIns="0" rIns="0" tIns="0" bIns="0">
            <a:spAutoFit/>
          </a:bodyPr>
          <a:lstStyle/>
          <a:p>
            <a:r>
              <a:rPr sz="1150" b="0">
                <a:solidFill>
                  <a:srgbClr val="2E2E2E"/>
                </a:solidFill>
                <a:latin typeface="Calibri"/>
              </a:rPr>
              <a:t>▪ Wider bodies mark a larger gap between opening and closing</a:t>
            </a:r>
          </a:p>
        </p:txBody>
      </p:sp>
      <p:sp>
        <p:nvSpPr>
          <p:cNvPr id="107" name="TextBox 106"/>
          <p:cNvSpPr txBox="1"/>
          <p:nvPr/>
        </p:nvSpPr>
        <p:spPr>
          <a:xfrm>
            <a:off x="8048625" y="2665551"/>
            <a:ext cx="3370597" cy="194310"/>
          </a:xfrm>
          <a:prstGeom prst="rect">
            <a:avLst/>
          </a:prstGeom>
          <a:noFill/>
        </p:spPr>
        <p:txBody>
          <a:bodyPr wrap="none" lIns="0" rIns="0" tIns="0" bIns="0">
            <a:spAutoFit/>
          </a:bodyPr>
          <a:lstStyle/>
          <a:p>
            <a:r>
              <a:rPr sz="1150" b="0">
                <a:solidFill>
                  <a:srgbClr val="2E2E2E"/>
                </a:solidFill>
                <a:latin typeface="Calibri"/>
              </a:rPr>
              <a:t>price levels 'Combination Removal Kits' shows the most</a:t>
            </a:r>
          </a:p>
        </p:txBody>
      </p:sp>
      <p:sp>
        <p:nvSpPr>
          <p:cNvPr id="108" name="TextBox 107"/>
          <p:cNvSpPr txBox="1"/>
          <p:nvPr/>
        </p:nvSpPr>
        <p:spPr>
          <a:xfrm>
            <a:off x="8048625" y="2840811"/>
            <a:ext cx="873769" cy="194310"/>
          </a:xfrm>
          <a:prstGeom prst="rect">
            <a:avLst/>
          </a:prstGeom>
          <a:noFill/>
        </p:spPr>
        <p:txBody>
          <a:bodyPr wrap="none" lIns="0" rIns="0" tIns="0" bIns="0">
            <a:spAutoFit/>
          </a:bodyPr>
          <a:lstStyle/>
          <a:p>
            <a:r>
              <a:rPr sz="1150" b="0">
                <a:solidFill>
                  <a:srgbClr val="2E2E2E"/>
                </a:solidFill>
                <a:latin typeface="Calibri"/>
              </a:rPr>
              <a:t>movement (+</a:t>
            </a:r>
          </a:p>
        </p:txBody>
      </p:sp>
      <p:pic>
        <p:nvPicPr>
          <p:cNvPr id="109" name="Picture 108" descr="lock.png"/>
          <p:cNvPicPr>
            <a:picLocks noChangeAspect="1"/>
          </p:cNvPicPr>
          <p:nvPr/>
        </p:nvPicPr>
        <p:blipFill>
          <a:blip r:embed="rId4"/>
          <a:stretch>
            <a:fillRect/>
          </a:stretch>
        </p:blipFill>
        <p:spPr>
          <a:xfrm>
            <a:off x="8871548" y="2830588"/>
            <a:ext cx="134549" cy="195707"/>
          </a:xfrm>
          <a:prstGeom prst="rect">
            <a:avLst/>
          </a:prstGeom>
        </p:spPr>
      </p:pic>
      <p:sp>
        <p:nvSpPr>
          <p:cNvPr id="110" name="TextBox 109"/>
          <p:cNvSpPr txBox="1"/>
          <p:nvPr/>
        </p:nvSpPr>
        <p:spPr>
          <a:xfrm>
            <a:off x="9046658" y="2840811"/>
            <a:ext cx="1748607" cy="194310"/>
          </a:xfrm>
          <a:prstGeom prst="rect">
            <a:avLst/>
          </a:prstGeom>
          <a:noFill/>
        </p:spPr>
        <p:txBody>
          <a:bodyPr wrap="none" lIns="0" rIns="0" tIns="0" bIns="0">
            <a:spAutoFit/>
          </a:bodyPr>
          <a:lstStyle/>
          <a:p>
            <a:r>
              <a:rPr sz="1150" b="0">
                <a:solidFill>
                  <a:srgbClr val="2E2E2E"/>
                </a:solidFill>
                <a:latin typeface="Calibri"/>
              </a:rPr>
              <a:t>) and 'Ear Drops' the least (+</a:t>
            </a:r>
          </a:p>
        </p:txBody>
      </p:sp>
      <p:pic>
        <p:nvPicPr>
          <p:cNvPr id="111" name="Picture 110" descr="lock.png"/>
          <p:cNvPicPr>
            <a:picLocks noChangeAspect="1"/>
          </p:cNvPicPr>
          <p:nvPr/>
        </p:nvPicPr>
        <p:blipFill>
          <a:blip r:embed="rId4"/>
          <a:stretch>
            <a:fillRect/>
          </a:stretch>
        </p:blipFill>
        <p:spPr>
          <a:xfrm>
            <a:off x="10744420" y="2830588"/>
            <a:ext cx="134549" cy="195707"/>
          </a:xfrm>
          <a:prstGeom prst="rect">
            <a:avLst/>
          </a:prstGeom>
        </p:spPr>
      </p:pic>
      <p:sp>
        <p:nvSpPr>
          <p:cNvPr id="112" name="TextBox 111"/>
          <p:cNvSpPr txBox="1"/>
          <p:nvPr/>
        </p:nvSpPr>
        <p:spPr>
          <a:xfrm>
            <a:off x="10919529" y="2840811"/>
            <a:ext cx="736848" cy="194310"/>
          </a:xfrm>
          <a:prstGeom prst="rect">
            <a:avLst/>
          </a:prstGeom>
          <a:noFill/>
        </p:spPr>
        <p:txBody>
          <a:bodyPr wrap="none" lIns="0" rIns="0" tIns="0" bIns="0">
            <a:spAutoFit/>
          </a:bodyPr>
          <a:lstStyle/>
          <a:p>
            <a:r>
              <a:rPr sz="1150" b="0">
                <a:solidFill>
                  <a:srgbClr val="2E2E2E"/>
                </a:solidFill>
                <a:latin typeface="Calibri"/>
              </a:rPr>
              <a:t>) variability</a:t>
            </a:r>
          </a:p>
        </p:txBody>
      </p:sp>
      <p:sp>
        <p:nvSpPr>
          <p:cNvPr id="113" name="TextBox 112"/>
          <p:cNvSpPr txBox="1"/>
          <p:nvPr/>
        </p:nvSpPr>
        <p:spPr>
          <a:xfrm>
            <a:off x="8048625" y="3016071"/>
            <a:ext cx="3668117" cy="194310"/>
          </a:xfrm>
          <a:prstGeom prst="rect">
            <a:avLst/>
          </a:prstGeom>
          <a:noFill/>
        </p:spPr>
        <p:txBody>
          <a:bodyPr wrap="none" lIns="0" rIns="0" tIns="0" bIns="0">
            <a:spAutoFit/>
          </a:bodyPr>
          <a:lstStyle/>
          <a:p>
            <a:r>
              <a:rPr sz="1150" b="0">
                <a:solidFill>
                  <a:srgbClr val="2E2E2E"/>
                </a:solidFill>
                <a:latin typeface="Calibri"/>
              </a:rPr>
              <a:t>stakeholders should monitor when planning procurement or</a:t>
            </a:r>
          </a:p>
        </p:txBody>
      </p:sp>
      <p:sp>
        <p:nvSpPr>
          <p:cNvPr id="114" name="TextBox 113"/>
          <p:cNvSpPr txBox="1"/>
          <p:nvPr/>
        </p:nvSpPr>
        <p:spPr>
          <a:xfrm>
            <a:off x="8048625" y="3191331"/>
            <a:ext cx="515491" cy="194310"/>
          </a:xfrm>
          <a:prstGeom prst="rect">
            <a:avLst/>
          </a:prstGeom>
          <a:noFill/>
        </p:spPr>
        <p:txBody>
          <a:bodyPr wrap="none" lIns="0" rIns="0" tIns="0" bIns="0">
            <a:spAutoFit/>
          </a:bodyPr>
          <a:lstStyle/>
          <a:p>
            <a:r>
              <a:rPr sz="1150" b="0">
                <a:solidFill>
                  <a:srgbClr val="2E2E2E"/>
                </a:solidFill>
                <a:latin typeface="Calibri"/>
              </a:rPr>
              <a:t>pricing.</a:t>
            </a:r>
          </a:p>
        </p:txBody>
      </p:sp>
      <p:sp>
        <p:nvSpPr>
          <p:cNvPr id="115" name="TextBox 114"/>
          <p:cNvSpPr txBox="1"/>
          <p:nvPr/>
        </p:nvSpPr>
        <p:spPr>
          <a:xfrm>
            <a:off x="8048625" y="3419169"/>
            <a:ext cx="3718607" cy="194310"/>
          </a:xfrm>
          <a:prstGeom prst="rect">
            <a:avLst/>
          </a:prstGeom>
          <a:noFill/>
        </p:spPr>
        <p:txBody>
          <a:bodyPr wrap="none" lIns="0" rIns="0" tIns="0" bIns="0">
            <a:spAutoFit/>
          </a:bodyPr>
          <a:lstStyle/>
          <a:p>
            <a:r>
              <a:rPr sz="1150" b="0">
                <a:solidFill>
                  <a:srgbClr val="2E2E2E"/>
                </a:solidFill>
                <a:latin typeface="Calibri"/>
              </a:rPr>
              <a:t>▪ The lower chart indexes region-level price movement to the</a:t>
            </a:r>
          </a:p>
        </p:txBody>
      </p:sp>
      <p:sp>
        <p:nvSpPr>
          <p:cNvPr id="116" name="TextBox 115"/>
          <p:cNvSpPr txBox="1"/>
          <p:nvPr/>
        </p:nvSpPr>
        <p:spPr>
          <a:xfrm>
            <a:off x="8048625" y="3594429"/>
            <a:ext cx="3716610" cy="194310"/>
          </a:xfrm>
          <a:prstGeom prst="rect">
            <a:avLst/>
          </a:prstGeom>
          <a:noFill/>
        </p:spPr>
        <p:txBody>
          <a:bodyPr wrap="none" lIns="0" rIns="0" tIns="0" bIns="0">
            <a:spAutoFit/>
          </a:bodyPr>
          <a:lstStyle/>
          <a:p>
            <a:r>
              <a:rPr sz="1150" b="0">
                <a:solidFill>
                  <a:srgbClr val="2E2E2E"/>
                </a:solidFill>
                <a:latin typeface="Calibri"/>
              </a:rPr>
              <a:t>base year, applied consistently across the horizon to strip out</a:t>
            </a:r>
          </a:p>
        </p:txBody>
      </p:sp>
      <p:sp>
        <p:nvSpPr>
          <p:cNvPr id="117" name="TextBox 116"/>
          <p:cNvSpPr txBox="1"/>
          <p:nvPr/>
        </p:nvSpPr>
        <p:spPr>
          <a:xfrm>
            <a:off x="8048625" y="3769689"/>
            <a:ext cx="3693219" cy="194310"/>
          </a:xfrm>
          <a:prstGeom prst="rect">
            <a:avLst/>
          </a:prstGeom>
          <a:noFill/>
        </p:spPr>
        <p:txBody>
          <a:bodyPr wrap="none" lIns="0" rIns="0" tIns="0" bIns="0">
            <a:spAutoFit/>
          </a:bodyPr>
          <a:lstStyle/>
          <a:p>
            <a:r>
              <a:rPr sz="1150" b="0">
                <a:solidFill>
                  <a:srgbClr val="2E2E2E"/>
                </a:solidFill>
                <a:latin typeface="Calibri"/>
              </a:rPr>
              <a:t>year-on-year inflationary volatility and reveal structural price</a:t>
            </a:r>
          </a:p>
        </p:txBody>
      </p:sp>
      <p:sp>
        <p:nvSpPr>
          <p:cNvPr id="118" name="TextBox 117"/>
          <p:cNvSpPr txBox="1"/>
          <p:nvPr/>
        </p:nvSpPr>
        <p:spPr>
          <a:xfrm>
            <a:off x="8048625" y="3944949"/>
            <a:ext cx="431055" cy="194310"/>
          </a:xfrm>
          <a:prstGeom prst="rect">
            <a:avLst/>
          </a:prstGeom>
          <a:noFill/>
        </p:spPr>
        <p:txBody>
          <a:bodyPr wrap="none" lIns="0" rIns="0" tIns="0" bIns="0">
            <a:spAutoFit/>
          </a:bodyPr>
          <a:lstStyle/>
          <a:p>
            <a:r>
              <a:rPr sz="1150" b="0">
                <a:solidFill>
                  <a:srgbClr val="2E2E2E"/>
                </a:solidFill>
                <a:latin typeface="Calibri"/>
              </a:rPr>
              <a:t>shifts.</a:t>
            </a:r>
          </a:p>
        </p:txBody>
      </p:sp>
      <p:sp>
        <p:nvSpPr>
          <p:cNvPr id="119" name="TextBox 118"/>
          <p:cNvSpPr txBox="1"/>
          <p:nvPr/>
        </p:nvSpPr>
        <p:spPr>
          <a:xfrm>
            <a:off x="8048625" y="4172787"/>
            <a:ext cx="2340260" cy="194310"/>
          </a:xfrm>
          <a:prstGeom prst="rect">
            <a:avLst/>
          </a:prstGeom>
          <a:noFill/>
        </p:spPr>
        <p:txBody>
          <a:bodyPr wrap="none" lIns="0" rIns="0" tIns="0" bIns="0">
            <a:spAutoFit/>
          </a:bodyPr>
          <a:lstStyle/>
          <a:p>
            <a:r>
              <a:rPr sz="1150" b="0">
                <a:solidFill>
                  <a:srgbClr val="2E2E2E"/>
                </a:solidFill>
                <a:latin typeface="Calibri"/>
              </a:rPr>
              <a:t>▪ Region price indices diverge by up to</a:t>
            </a:r>
          </a:p>
        </p:txBody>
      </p:sp>
      <p:pic>
        <p:nvPicPr>
          <p:cNvPr id="120" name="Picture 119" descr="lock.png"/>
          <p:cNvPicPr>
            <a:picLocks noChangeAspect="1"/>
          </p:cNvPicPr>
          <p:nvPr/>
        </p:nvPicPr>
        <p:blipFill>
          <a:blip r:embed="rId4"/>
          <a:stretch>
            <a:fillRect/>
          </a:stretch>
        </p:blipFill>
        <p:spPr>
          <a:xfrm>
            <a:off x="10338039" y="4162564"/>
            <a:ext cx="134549" cy="195707"/>
          </a:xfrm>
          <a:prstGeom prst="rect">
            <a:avLst/>
          </a:prstGeom>
        </p:spPr>
      </p:pic>
      <p:sp>
        <p:nvSpPr>
          <p:cNvPr id="121" name="TextBox 120"/>
          <p:cNvSpPr txBox="1"/>
          <p:nvPr/>
        </p:nvSpPr>
        <p:spPr>
          <a:xfrm>
            <a:off x="10513148" y="4172787"/>
            <a:ext cx="1187549" cy="194310"/>
          </a:xfrm>
          <a:prstGeom prst="rect">
            <a:avLst/>
          </a:prstGeom>
          <a:noFill/>
        </p:spPr>
        <p:txBody>
          <a:bodyPr wrap="none" lIns="0" rIns="0" tIns="0" bIns="0">
            <a:spAutoFit/>
          </a:bodyPr>
          <a:lstStyle/>
          <a:p>
            <a:r>
              <a:rPr sz="1150" b="0">
                <a:solidFill>
                  <a:srgbClr val="2E2E2E"/>
                </a:solidFill>
                <a:latin typeface="Calibri"/>
              </a:rPr>
              <a:t>between 2026 and</a:t>
            </a:r>
          </a:p>
        </p:txBody>
      </p:sp>
      <p:sp>
        <p:nvSpPr>
          <p:cNvPr id="122" name="TextBox 121"/>
          <p:cNvSpPr txBox="1"/>
          <p:nvPr/>
        </p:nvSpPr>
        <p:spPr>
          <a:xfrm>
            <a:off x="8048625" y="4348047"/>
            <a:ext cx="3848100" cy="194310"/>
          </a:xfrm>
          <a:prstGeom prst="rect">
            <a:avLst/>
          </a:prstGeom>
          <a:noFill/>
        </p:spPr>
        <p:txBody>
          <a:bodyPr wrap="none" lIns="0" rIns="0" tIns="0" bIns="0">
            <a:spAutoFit/>
          </a:bodyPr>
          <a:lstStyle/>
          <a:p>
            <a:r>
              <a:rPr sz="1150" b="0">
                <a:solidFill>
                  <a:srgbClr val="2E2E2E"/>
                </a:solidFill>
                <a:latin typeface="Calibri"/>
              </a:rPr>
              <a:t>2036: higher-priced regions start higher and grow steadily, while</a:t>
            </a:r>
          </a:p>
        </p:txBody>
      </p:sp>
      <p:sp>
        <p:nvSpPr>
          <p:cNvPr id="123" name="TextBox 122"/>
          <p:cNvSpPr txBox="1"/>
          <p:nvPr/>
        </p:nvSpPr>
        <p:spPr>
          <a:xfrm>
            <a:off x="8048625" y="4523307"/>
            <a:ext cx="3454747" cy="194310"/>
          </a:xfrm>
          <a:prstGeom prst="rect">
            <a:avLst/>
          </a:prstGeom>
          <a:noFill/>
        </p:spPr>
        <p:txBody>
          <a:bodyPr wrap="none" lIns="0" rIns="0" tIns="0" bIns="0">
            <a:spAutoFit/>
          </a:bodyPr>
          <a:lstStyle/>
          <a:p>
            <a:r>
              <a:rPr sz="1150" b="0">
                <a:solidFill>
                  <a:srgbClr val="2E2E2E"/>
                </a:solidFill>
                <a:latin typeface="Calibri"/>
              </a:rPr>
              <a:t>lower-priced regions start lower and converge, reflecting</a:t>
            </a:r>
          </a:p>
        </p:txBody>
      </p:sp>
      <p:sp>
        <p:nvSpPr>
          <p:cNvPr id="124" name="TextBox 123"/>
          <p:cNvSpPr txBox="1"/>
          <p:nvPr/>
        </p:nvSpPr>
        <p:spPr>
          <a:xfrm>
            <a:off x="8048625" y="4698567"/>
            <a:ext cx="1090848" cy="194310"/>
          </a:xfrm>
          <a:prstGeom prst="rect">
            <a:avLst/>
          </a:prstGeom>
          <a:noFill/>
        </p:spPr>
        <p:txBody>
          <a:bodyPr wrap="none" lIns="0" rIns="0" tIns="0" bIns="0">
            <a:spAutoFit/>
          </a:bodyPr>
          <a:lstStyle/>
          <a:p>
            <a:r>
              <a:rPr sz="1150" b="0">
                <a:solidFill>
                  <a:srgbClr val="2E2E2E"/>
                </a:solidFill>
                <a:latin typeface="Calibri"/>
              </a:rPr>
              <a:t>catch-up growth.</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Ear Wax Removal Products Market Pricing Assessment: By Product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Average price (US$/Units) by product type, 2021 to 2036, with 2026 price index and growth outlook</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644652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621792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Trend by Product Type, 2021 to 2036 (US$/Units)</a:t>
            </a:r>
          </a:p>
        </p:txBody>
      </p:sp>
      <p:graphicFrame>
        <p:nvGraphicFramePr>
          <p:cNvPr id="13" name="FMI Price Chart"/>
          <p:cNvGraphicFramePr>
            <a:graphicFrameLocks noGrp="1"/>
          </p:cNvGraphicFramePr>
          <p:nvPr/>
        </p:nvGraphicFramePr>
        <p:xfrm>
          <a:off x="347472" y="1831467"/>
          <a:ext cx="6309360" cy="3182112"/>
        </p:xfrm>
        <a:graphic>
          <a:graphicData uri="http://schemas.openxmlformats.org/drawingml/2006/chart">
            <c:chart xmlns:c="http://schemas.openxmlformats.org/drawingml/2006/chart" r:id="rId3"/>
          </a:graphicData>
        </a:graphic>
      </p:graphicFrame>
      <p:sp>
        <p:nvSpPr>
          <p:cNvPr id="14" name="TextBox 13"/>
          <p:cNvSpPr txBox="1"/>
          <p:nvPr/>
        </p:nvSpPr>
        <p:spPr>
          <a:xfrm>
            <a:off x="4572000" y="1593723"/>
            <a:ext cx="2103120" cy="228600"/>
          </a:xfrm>
          <a:prstGeom prst="rect">
            <a:avLst/>
          </a:prstGeom>
          <a:noFill/>
        </p:spPr>
        <p:txBody>
          <a:bodyPr wrap="square" anchor="t" lIns="27432" rIns="27432" tIns="27432" bIns="27432">
            <a:spAutoFit/>
          </a:bodyPr>
          <a:lstStyle/>
          <a:p>
            <a:pPr algn="r"/>
            <a:r>
              <a:rPr sz="850" b="0" i="1">
                <a:solidFill>
                  <a:srgbClr val="59636E"/>
                </a:solidFill>
                <a:latin typeface="Calibri"/>
              </a:rPr>
              <a:t>Forecast period: 2026 to 2036</a:t>
            </a:r>
          </a:p>
        </p:txBody>
      </p:sp>
      <p:sp>
        <p:nvSpPr>
          <p:cNvPr id="15" name="Rectangle 14"/>
          <p:cNvSpPr/>
          <p:nvPr/>
        </p:nvSpPr>
        <p:spPr>
          <a:xfrm>
            <a:off x="6858000" y="1529715"/>
            <a:ext cx="5056632" cy="1600200"/>
          </a:xfrm>
          <a:prstGeom prst="rect">
            <a:avLst/>
          </a:prstGeom>
          <a:solidFill>
            <a:srgbClr val="F3F6F9"/>
          </a:solidFill>
          <a:ln>
            <a:noFill/>
          </a:ln>
          <a:effectLst/>
        </p:spPr>
        <p:txBody>
          <a:bodyPr rtlCol="0" anchor="ctr"/>
          <a:lstStyle/>
          <a:p>
            <a:pPr algn="ctr"/>
          </a:p>
        </p:txBody>
      </p:sp>
      <p:sp>
        <p:nvSpPr>
          <p:cNvPr id="16" name="TextBox 15"/>
          <p:cNvSpPr txBox="1"/>
          <p:nvPr/>
        </p:nvSpPr>
        <p:spPr>
          <a:xfrm>
            <a:off x="6967728" y="1575435"/>
            <a:ext cx="4846320" cy="257175"/>
          </a:xfrm>
          <a:prstGeom prst="rect">
            <a:avLst/>
          </a:prstGeom>
          <a:noFill/>
        </p:spPr>
        <p:txBody>
          <a:bodyPr wrap="square" anchor="t" lIns="27432" rIns="27432" tIns="27432" bIns="27432">
            <a:spAutoFit/>
          </a:bodyPr>
          <a:lstStyle/>
          <a:p>
            <a:pPr algn="l"/>
            <a:r>
              <a:rPr sz="1150" b="1" i="0">
                <a:solidFill>
                  <a:srgbClr val="0B2E4A"/>
                </a:solidFill>
                <a:latin typeface="Calibri"/>
              </a:rPr>
              <a:t/>
            </a:r>
          </a:p>
        </p:txBody>
      </p:sp>
      <p:graphicFrame>
        <p:nvGraphicFramePr>
          <p:cNvPr id="17" name="FMI Open Chart"/>
          <p:cNvGraphicFramePr>
            <a:graphicFrameLocks noGrp="1"/>
          </p:cNvGraphicFramePr>
          <p:nvPr/>
        </p:nvGraphicFramePr>
        <p:xfrm>
          <a:off x="6903720" y="1785747"/>
          <a:ext cx="4965192" cy="1325880"/>
        </p:xfrm>
        <a:graphic>
          <a:graphicData uri="http://schemas.openxmlformats.org/drawingml/2006/chart">
            <c:chart xmlns:c="http://schemas.openxmlformats.org/drawingml/2006/chart" r:id="rId4"/>
          </a:graphicData>
        </a:graphic>
      </p:graphicFrame>
      <p:graphicFrame>
        <p:nvGraphicFramePr>
          <p:cNvPr id="18" name="Table 17"/>
          <p:cNvGraphicFramePr>
            <a:graphicFrameLocks noGrp="1"/>
          </p:cNvGraphicFramePr>
          <p:nvPr/>
        </p:nvGraphicFramePr>
        <p:xfrm>
          <a:off x="6858000" y="3203067"/>
          <a:ext cx="5056632" cy="1847088"/>
        </p:xfrm>
        <a:graphic>
          <a:graphicData uri="http://schemas.openxmlformats.org/drawingml/2006/table">
            <a:tbl>
              <a:tblPr firstRow="1" bandRow="1">
                <a:tableStyleId>{5C22544A-7EE6-4342-B048-85BDC9FD1C3A}</a:tableStyleId>
              </a:tblPr>
              <a:tblGrid>
                <a:gridCol w="2130552"/>
                <a:gridCol w="548640"/>
                <a:gridCol w="548640"/>
                <a:gridCol w="548640"/>
                <a:gridCol w="777240"/>
                <a:gridCol w="502920"/>
              </a:tblGrid>
              <a:tr h="205232">
                <a:tc>
                  <a:txBody>
                    <a:bodyPr wrap="square"/>
                    <a:lstStyle/>
                    <a:p>
                      <a:pPr algn="l"/>
                      <a:r>
                        <a:rPr sz="850" b="1">
                          <a:solidFill>
                            <a:srgbClr val="FFFFFF"/>
                          </a:solidFill>
                          <a:latin typeface="Calibri"/>
                        </a:rPr>
                        <a:t>Product Type</a:t>
                      </a:r>
                    </a:p>
                  </a:txBody>
                  <a:tcPr marL="36576" marR="36576" marT="9144" marB="9144" anchor="ctr">
                    <a:solidFill>
                      <a:srgbClr val="0B2E4A"/>
                    </a:solidFill>
                  </a:tcPr>
                </a:tc>
                <a:tc>
                  <a:txBody>
                    <a:bodyPr wrap="square"/>
                    <a:lstStyle/>
                    <a:p>
                      <a:pPr algn="ctr"/>
                      <a:r>
                        <a:rPr sz="850" b="1">
                          <a:solidFill>
                            <a:srgbClr val="FFFFFF"/>
                          </a:solidFill>
                          <a:latin typeface="Calibri"/>
                        </a:rPr>
                        <a:t>2021</a:t>
                      </a:r>
                    </a:p>
                  </a:txBody>
                  <a:tcPr marL="36576" marR="36576" marT="9144" marB="9144" anchor="ctr">
                    <a:solidFill>
                      <a:srgbClr val="0B2E4A"/>
                    </a:solidFill>
                  </a:tcPr>
                </a:tc>
                <a:tc>
                  <a:txBody>
                    <a:bodyPr wrap="square"/>
                    <a:lstStyle/>
                    <a:p>
                      <a:pPr algn="ctr"/>
                      <a:r>
                        <a:rPr sz="850" b="1">
                          <a:solidFill>
                            <a:srgbClr val="FFFFFF"/>
                          </a:solidFill>
                          <a:latin typeface="Calibri"/>
                        </a:rPr>
                        <a:t>2026</a:t>
                      </a:r>
                    </a:p>
                  </a:txBody>
                  <a:tcPr marL="36576" marR="36576" marT="9144" marB="9144" anchor="ctr">
                    <a:solidFill>
                      <a:srgbClr val="0B2E4A"/>
                    </a:solidFill>
                  </a:tcPr>
                </a:tc>
                <a:tc>
                  <a:txBody>
                    <a:bodyPr wrap="square"/>
                    <a:lstStyle/>
                    <a:p>
                      <a:pPr algn="ctr"/>
                      <a:r>
                        <a:rPr sz="850" b="1">
                          <a:solidFill>
                            <a:srgbClr val="FFFFFF"/>
                          </a:solidFill>
                          <a:latin typeface="Calibri"/>
                        </a:rPr>
                        <a:t>2036</a:t>
                      </a:r>
                    </a:p>
                  </a:txBody>
                  <a:tcPr marL="36576" marR="36576" marT="9144" marB="9144" anchor="ctr">
                    <a:solidFill>
                      <a:srgbClr val="0B2E4A"/>
                    </a:solidFill>
                  </a:tcPr>
                </a:tc>
                <a:tc>
                  <a:txBody>
                    <a:bodyPr wrap="square"/>
                    <a:lstStyle/>
                    <a:p>
                      <a:pPr algn="ctr"/>
                      <a:r>
                        <a:rPr sz="850" b="1">
                          <a:solidFill>
                            <a:srgbClr val="FFFFFF"/>
                          </a:solidFill>
                          <a:latin typeface="Calibri"/>
                        </a:rPr>
                        <a:t>CAGR 2026 to 2036</a:t>
                      </a:r>
                    </a:p>
                  </a:txBody>
                  <a:tcPr marL="36576" marR="36576" marT="9144" marB="9144" anchor="ctr">
                    <a:solidFill>
                      <a:srgbClr val="0B2E4A"/>
                    </a:solidFill>
                  </a:tcPr>
                </a:tc>
                <a:tc>
                  <a:txBody>
                    <a:bodyPr wrap="square"/>
                    <a:lstStyle/>
                    <a:p>
                      <a:pPr algn="ctr"/>
                      <a:r>
                        <a:rPr sz="850" b="1">
                          <a:solidFill>
                            <a:srgbClr val="FFFFFF"/>
                          </a:solidFill>
                          <a:latin typeface="Calibri"/>
                        </a:rPr>
                        <a:t>Index</a:t>
                      </a:r>
                    </a:p>
                  </a:txBody>
                  <a:tcPr marL="36576" marR="36576" marT="9144" marB="9144" anchor="ctr">
                    <a:solidFill>
                      <a:srgbClr val="0B2E4A"/>
                    </a:solidFill>
                  </a:tcPr>
                </a:tc>
              </a:tr>
              <a:tr h="205232">
                <a:tc>
                  <a:txBody>
                    <a:bodyPr wrap="square"/>
                    <a:lstStyle/>
                    <a:p>
                      <a:pPr algn="l"/>
                      <a:r>
                        <a:rPr sz="850" b="1">
                          <a:solidFill>
                            <a:srgbClr val="1F1F1F"/>
                          </a:solidFill>
                          <a:latin typeface="Calibri"/>
                        </a:rPr>
                        <a:t>Camera-Assisted Removal Devices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205232">
                <a:tc>
                  <a:txBody>
                    <a:bodyPr wrap="square"/>
                    <a:lstStyle/>
                    <a:p>
                      <a:pPr algn="l"/>
                      <a:r>
                        <a:rPr sz="850" b="1">
                          <a:solidFill>
                            <a:srgbClr val="1F1F1F"/>
                          </a:solidFill>
                          <a:latin typeface="Calibri"/>
                        </a:rPr>
                        <a:t>Combination Removal Kits</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4B183"/>
                    </a:solidFill>
                  </a:tcPr>
                </a:tc>
              </a:tr>
              <a:tr h="205232">
                <a:tc>
                  <a:txBody>
                    <a:bodyPr wrap="square"/>
                    <a:lstStyle/>
                    <a:p>
                      <a:pPr algn="l"/>
                      <a:r>
                        <a:rPr sz="850" b="1">
                          <a:solidFill>
                            <a:srgbClr val="1F1F1F"/>
                          </a:solidFill>
                          <a:latin typeface="Calibri"/>
                        </a:rPr>
                        <a:t>Suction Devices and Accessories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205232">
                <a:tc>
                  <a:txBody>
                    <a:bodyPr wrap="square"/>
                    <a:lstStyle/>
                    <a:p>
                      <a:pPr algn="l"/>
                      <a:r>
                        <a:rPr sz="850" b="1">
                          <a:solidFill>
                            <a:srgbClr val="1F1F1F"/>
                          </a:solidFill>
                          <a:latin typeface="Calibri"/>
                        </a:rPr>
                        <a:t>Manual Removal Tools</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7F7F7"/>
                    </a:solidFill>
                  </a:tcPr>
                </a:tc>
              </a:tr>
              <a:tr h="205232">
                <a:tc>
                  <a:txBody>
                    <a:bodyPr wrap="square"/>
                    <a:lstStyle/>
                    <a:p>
                      <a:pPr algn="l"/>
                      <a:r>
                        <a:rPr sz="850" b="1">
                          <a:solidFill>
                            <a:srgbClr val="1F1F1F"/>
                          </a:solidFill>
                          <a:latin typeface="Calibri"/>
                        </a:rPr>
                        <a:t>Irrigation Devices and Accessories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7F7F7"/>
                    </a:solidFill>
                  </a:tcPr>
                </a:tc>
              </a:tr>
              <a:tr h="205232">
                <a:tc>
                  <a:txBody>
                    <a:bodyPr wrap="square"/>
                    <a:lstStyle/>
                    <a:p>
                      <a:pPr algn="l"/>
                      <a:r>
                        <a:rPr sz="850" b="1">
                          <a:solidFill>
                            <a:srgbClr val="1F1F1F"/>
                          </a:solidFill>
                          <a:latin typeface="Calibri"/>
                        </a:rPr>
                        <a:t>Ear Sprays</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9DC0E0"/>
                    </a:solidFill>
                  </a:tcPr>
                </a:tc>
              </a:tr>
              <a:tr h="205232">
                <a:tc>
                  <a:txBody>
                    <a:bodyPr wrap="square"/>
                    <a:lstStyle/>
                    <a:p>
                      <a:pPr algn="l"/>
                      <a:r>
                        <a:rPr sz="850" b="1">
                          <a:solidFill>
                            <a:srgbClr val="1F1F1F"/>
                          </a:solidFill>
                          <a:latin typeface="Calibri"/>
                        </a:rPr>
                        <a:t>Ear Drops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9DC0E0"/>
                    </a:solidFill>
                  </a:tcPr>
                </a:tc>
              </a:tr>
              <a:tr h="205232">
                <a:tc>
                  <a:txBody>
                    <a:bodyPr wrap="square"/>
                    <a:lstStyle/>
                    <a:p>
                      <a:pPr algn="l"/>
                      <a:r>
                        <a:rPr sz="850" b="1">
                          <a:solidFill>
                            <a:srgbClr val="1F1F1F"/>
                          </a:solidFill>
                          <a:latin typeface="Calibri"/>
                        </a:rPr>
                        <a:t>Global Average</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r>
            </a:tbl>
          </a:graphicData>
        </a:graphic>
      </p:graphicFrame>
      <p:sp>
        <p:nvSpPr>
          <p:cNvPr id="19" name="Rectangle 18"/>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20" name="Oval 19"/>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1" name="TextBox 20"/>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Hierarchy</a:t>
            </a:r>
          </a:p>
        </p:txBody>
      </p:sp>
      <p:sp>
        <p:nvSpPr>
          <p:cNvPr id="22" name="TextBox 21"/>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3" name="Rectangle 22"/>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4" name="Oval 23"/>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5" name="TextBox 24"/>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Momentum</a:t>
            </a:r>
          </a:p>
        </p:txBody>
      </p:sp>
      <p:sp>
        <p:nvSpPr>
          <p:cNvPr id="26" name="TextBox 25"/>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7" name="Rectangle 26"/>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8" name="Oval 27"/>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9" name="TextBox 28"/>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Outlook</a:t>
            </a:r>
          </a:p>
        </p:txBody>
      </p:sp>
      <p:sp>
        <p:nvSpPr>
          <p:cNvPr id="30" name="TextBox 29"/>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1" name="TextBox 30"/>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Average price = market value (US$) / market volume (Units). 2021 to 2025 historical, 2026 to 2036 forecast.</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6"/>
          <a:stretch>
            <a:fillRect/>
          </a:stretch>
        </p:blipFill>
        <p:spPr>
          <a:xfrm>
            <a:off x="10283571" y="3989197"/>
            <a:ext cx="330041" cy="480060"/>
          </a:xfrm>
          <a:prstGeom prst="rect">
            <a:avLst/>
          </a:prstGeom>
        </p:spPr>
      </p:pic>
      <p:sp>
        <p:nvSpPr>
          <p:cNvPr id="34" name="TextBox 33"/>
          <p:cNvSpPr txBox="1"/>
          <p:nvPr/>
        </p:nvSpPr>
        <p:spPr>
          <a:xfrm>
            <a:off x="411480" y="1110615"/>
            <a:ext cx="6381923" cy="217169"/>
          </a:xfrm>
          <a:prstGeom prst="rect">
            <a:avLst/>
          </a:prstGeom>
          <a:noFill/>
        </p:spPr>
        <p:txBody>
          <a:bodyPr wrap="none" lIns="0" rIns="0" tIns="0" bIns="0">
            <a:spAutoFit/>
          </a:bodyPr>
          <a:lstStyle/>
          <a:p>
            <a:r>
              <a:rPr sz="1300" b="1">
                <a:solidFill>
                  <a:srgbClr val="FFFFFF"/>
                </a:solidFill>
                <a:latin typeface="Calibri"/>
              </a:rPr>
              <a:t>Camera-Assisted Removal Devices command the highest 2026 price point at US$ 12/Units, a</a:t>
            </a:r>
          </a:p>
        </p:txBody>
      </p:sp>
      <p:pic>
        <p:nvPicPr>
          <p:cNvPr id="35" name="Picture 34" descr="lock.png"/>
          <p:cNvPicPr>
            <a:picLocks noChangeAspect="1"/>
          </p:cNvPicPr>
          <p:nvPr/>
        </p:nvPicPr>
        <p:blipFill>
          <a:blip r:embed="rId6"/>
          <a:stretch>
            <a:fillRect/>
          </a:stretch>
        </p:blipFill>
        <p:spPr>
          <a:xfrm>
            <a:off x="6745864" y="1099058"/>
            <a:ext cx="152098" cy="221234"/>
          </a:xfrm>
          <a:prstGeom prst="rect">
            <a:avLst/>
          </a:prstGeom>
        </p:spPr>
      </p:pic>
      <p:sp>
        <p:nvSpPr>
          <p:cNvPr id="36" name="TextBox 35"/>
          <p:cNvSpPr txBox="1"/>
          <p:nvPr/>
        </p:nvSpPr>
        <p:spPr>
          <a:xfrm>
            <a:off x="6943814" y="1110615"/>
            <a:ext cx="1796816" cy="217169"/>
          </a:xfrm>
          <a:prstGeom prst="rect">
            <a:avLst/>
          </a:prstGeom>
          <a:noFill/>
        </p:spPr>
        <p:txBody>
          <a:bodyPr wrap="none" lIns="0" rIns="0" tIns="0" bIns="0">
            <a:spAutoFit/>
          </a:bodyPr>
          <a:lstStyle/>
          <a:p>
            <a:r>
              <a:rPr sz="1300" b="1">
                <a:solidFill>
                  <a:srgbClr val="FFFFFF"/>
                </a:solidFill>
                <a:latin typeface="Calibri"/>
              </a:rPr>
              <a:t>premium over Ear Drops.</a:t>
            </a:r>
          </a:p>
        </p:txBody>
      </p:sp>
      <p:sp>
        <p:nvSpPr>
          <p:cNvPr id="37" name="TextBox 36"/>
          <p:cNvSpPr txBox="1"/>
          <p:nvPr/>
        </p:nvSpPr>
        <p:spPr>
          <a:xfrm>
            <a:off x="6995160" y="1602867"/>
            <a:ext cx="2164334" cy="180289"/>
          </a:xfrm>
          <a:prstGeom prst="rect">
            <a:avLst/>
          </a:prstGeom>
          <a:noFill/>
        </p:spPr>
        <p:txBody>
          <a:bodyPr wrap="none" lIns="0" rIns="0" tIns="0" bIns="0">
            <a:spAutoFit/>
          </a:bodyPr>
          <a:lstStyle/>
          <a:p>
            <a:r>
              <a:rPr sz="1057" b="1">
                <a:solidFill>
                  <a:srgbClr val="0B2E4A"/>
                </a:solidFill>
                <a:latin typeface="Calibri"/>
              </a:rPr>
              <a:t>2026 Price Index vs Global Average (=</a:t>
            </a:r>
          </a:p>
        </p:txBody>
      </p:sp>
      <p:pic>
        <p:nvPicPr>
          <p:cNvPr id="38" name="Picture 37" descr="lock.png"/>
          <p:cNvPicPr>
            <a:picLocks noChangeAspect="1"/>
          </p:cNvPicPr>
          <p:nvPr/>
        </p:nvPicPr>
        <p:blipFill>
          <a:blip r:embed="rId6"/>
          <a:stretch>
            <a:fillRect/>
          </a:stretch>
        </p:blipFill>
        <p:spPr>
          <a:xfrm>
            <a:off x="9106620" y="1593461"/>
            <a:ext cx="123784" cy="180050"/>
          </a:xfrm>
          <a:prstGeom prst="rect">
            <a:avLst/>
          </a:prstGeom>
        </p:spPr>
      </p:pic>
      <p:sp>
        <p:nvSpPr>
          <p:cNvPr id="39" name="TextBox 38"/>
          <p:cNvSpPr txBox="1"/>
          <p:nvPr/>
        </p:nvSpPr>
        <p:spPr>
          <a:xfrm>
            <a:off x="9267721" y="1602867"/>
            <a:ext cx="118189" cy="180289"/>
          </a:xfrm>
          <a:prstGeom prst="rect">
            <a:avLst/>
          </a:prstGeom>
          <a:noFill/>
        </p:spPr>
        <p:txBody>
          <a:bodyPr wrap="none" lIns="0" rIns="0" tIns="0" bIns="0">
            <a:spAutoFit/>
          </a:bodyPr>
          <a:lstStyle/>
          <a:p>
            <a:r>
              <a:rPr sz="1057" b="1">
                <a:solidFill>
                  <a:srgbClr val="0B2E4A"/>
                </a:solidFill>
                <a:latin typeface="Calibri"/>
              </a:rPr>
              <a:t>)</a:t>
            </a:r>
          </a:p>
        </p:txBody>
      </p:sp>
      <p:sp>
        <p:nvSpPr>
          <p:cNvPr id="40" name="TextBox 39"/>
          <p:cNvSpPr txBox="1"/>
          <p:nvPr/>
        </p:nvSpPr>
        <p:spPr>
          <a:xfrm>
            <a:off x="806576" y="5530976"/>
            <a:ext cx="3002086" cy="179069"/>
          </a:xfrm>
          <a:prstGeom prst="rect">
            <a:avLst/>
          </a:prstGeom>
          <a:noFill/>
        </p:spPr>
        <p:txBody>
          <a:bodyPr wrap="none" lIns="0" rIns="0" tIns="0" bIns="0">
            <a:spAutoFit/>
          </a:bodyPr>
          <a:lstStyle/>
          <a:p>
            <a:r>
              <a:rPr sz="1050" b="0">
                <a:solidFill>
                  <a:srgbClr val="1F1F1F"/>
                </a:solidFill>
                <a:latin typeface="Calibri"/>
              </a:rPr>
              <a:t>Camera-Assisted Removal Devices sit at the top of the</a:t>
            </a:r>
          </a:p>
        </p:txBody>
      </p:sp>
      <p:sp>
        <p:nvSpPr>
          <p:cNvPr id="41" name="TextBox 40"/>
          <p:cNvSpPr txBox="1"/>
          <p:nvPr/>
        </p:nvSpPr>
        <p:spPr>
          <a:xfrm>
            <a:off x="806576" y="5690996"/>
            <a:ext cx="1794904" cy="179069"/>
          </a:xfrm>
          <a:prstGeom prst="rect">
            <a:avLst/>
          </a:prstGeom>
          <a:noFill/>
        </p:spPr>
        <p:txBody>
          <a:bodyPr wrap="none" lIns="0" rIns="0" tIns="0" bIns="0">
            <a:spAutoFit/>
          </a:bodyPr>
          <a:lstStyle/>
          <a:p>
            <a:r>
              <a:rPr sz="1050" b="0">
                <a:solidFill>
                  <a:srgbClr val="1F1F1F"/>
                </a:solidFill>
                <a:latin typeface="Calibri"/>
              </a:rPr>
              <a:t>2026 price ladder at an index of</a:t>
            </a:r>
          </a:p>
        </p:txBody>
      </p:sp>
      <p:pic>
        <p:nvPicPr>
          <p:cNvPr id="42" name="Picture 41" descr="lock.png"/>
          <p:cNvPicPr>
            <a:picLocks noChangeAspect="1"/>
          </p:cNvPicPr>
          <p:nvPr/>
        </p:nvPicPr>
        <p:blipFill>
          <a:blip r:embed="rId6"/>
          <a:stretch>
            <a:fillRect/>
          </a:stretch>
        </p:blipFill>
        <p:spPr>
          <a:xfrm>
            <a:off x="2548430" y="5681662"/>
            <a:ext cx="122849" cy="178689"/>
          </a:xfrm>
          <a:prstGeom prst="rect">
            <a:avLst/>
          </a:prstGeom>
        </p:spPr>
      </p:pic>
      <p:sp>
        <p:nvSpPr>
          <p:cNvPr id="43" name="TextBox 42"/>
          <p:cNvSpPr txBox="1"/>
          <p:nvPr/>
        </p:nvSpPr>
        <p:spPr>
          <a:xfrm>
            <a:off x="2708313" y="5690996"/>
            <a:ext cx="990083" cy="179069"/>
          </a:xfrm>
          <a:prstGeom prst="rect">
            <a:avLst/>
          </a:prstGeom>
          <a:noFill/>
        </p:spPr>
        <p:txBody>
          <a:bodyPr wrap="none" lIns="0" rIns="0" tIns="0" bIns="0">
            <a:spAutoFit/>
          </a:bodyPr>
          <a:lstStyle/>
          <a:p>
            <a:r>
              <a:rPr sz="1050" b="0">
                <a:solidFill>
                  <a:srgbClr val="1F1F1F"/>
                </a:solidFill>
                <a:latin typeface="Calibri"/>
              </a:rPr>
              <a:t>, while Ear Drops</a:t>
            </a:r>
          </a:p>
        </p:txBody>
      </p:sp>
      <p:sp>
        <p:nvSpPr>
          <p:cNvPr id="44" name="TextBox 43"/>
          <p:cNvSpPr txBox="1"/>
          <p:nvPr/>
        </p:nvSpPr>
        <p:spPr>
          <a:xfrm>
            <a:off x="806576" y="5851016"/>
            <a:ext cx="506722" cy="179069"/>
          </a:xfrm>
          <a:prstGeom prst="rect">
            <a:avLst/>
          </a:prstGeom>
          <a:noFill/>
        </p:spPr>
        <p:txBody>
          <a:bodyPr wrap="none" lIns="0" rIns="0" tIns="0" bIns="0">
            <a:spAutoFit/>
          </a:bodyPr>
          <a:lstStyle/>
          <a:p>
            <a:r>
              <a:rPr sz="1050" b="0">
                <a:solidFill>
                  <a:srgbClr val="1F1F1F"/>
                </a:solidFill>
                <a:latin typeface="Calibri"/>
              </a:rPr>
              <a:t>trade at</a:t>
            </a:r>
          </a:p>
        </p:txBody>
      </p:sp>
      <p:pic>
        <p:nvPicPr>
          <p:cNvPr id="45" name="Picture 44" descr="lock.png"/>
          <p:cNvPicPr>
            <a:picLocks noChangeAspect="1"/>
          </p:cNvPicPr>
          <p:nvPr/>
        </p:nvPicPr>
        <p:blipFill>
          <a:blip r:embed="rId6"/>
          <a:stretch>
            <a:fillRect/>
          </a:stretch>
        </p:blipFill>
        <p:spPr>
          <a:xfrm>
            <a:off x="1260248" y="5841682"/>
            <a:ext cx="122849" cy="178689"/>
          </a:xfrm>
          <a:prstGeom prst="rect">
            <a:avLst/>
          </a:prstGeom>
        </p:spPr>
      </p:pic>
      <p:sp>
        <p:nvSpPr>
          <p:cNvPr id="46" name="TextBox 45"/>
          <p:cNvSpPr txBox="1"/>
          <p:nvPr/>
        </p:nvSpPr>
        <p:spPr>
          <a:xfrm>
            <a:off x="1420131" y="5851016"/>
            <a:ext cx="2352005" cy="179069"/>
          </a:xfrm>
          <a:prstGeom prst="rect">
            <a:avLst/>
          </a:prstGeom>
          <a:noFill/>
        </p:spPr>
        <p:txBody>
          <a:bodyPr wrap="none" lIns="0" rIns="0" tIns="0" bIns="0">
            <a:spAutoFit/>
          </a:bodyPr>
          <a:lstStyle/>
          <a:p>
            <a:r>
              <a:rPr sz="1050" b="0">
                <a:solidFill>
                  <a:srgbClr val="1F1F1F"/>
                </a:solidFill>
                <a:latin typeface="Calibri"/>
              </a:rPr>
              <a:t>, which keeps the full product type spread</a:t>
            </a:r>
          </a:p>
        </p:txBody>
      </p:sp>
      <p:sp>
        <p:nvSpPr>
          <p:cNvPr id="47" name="TextBox 46"/>
          <p:cNvSpPr txBox="1"/>
          <p:nvPr/>
        </p:nvSpPr>
        <p:spPr>
          <a:xfrm>
            <a:off x="806576" y="6011036"/>
            <a:ext cx="417909" cy="179069"/>
          </a:xfrm>
          <a:prstGeom prst="rect">
            <a:avLst/>
          </a:prstGeom>
          <a:noFill/>
        </p:spPr>
        <p:txBody>
          <a:bodyPr wrap="none" lIns="0" rIns="0" tIns="0" bIns="0">
            <a:spAutoFit/>
          </a:bodyPr>
          <a:lstStyle/>
          <a:p>
            <a:r>
              <a:rPr sz="1050" b="0">
                <a:solidFill>
                  <a:srgbClr val="1F1F1F"/>
                </a:solidFill>
                <a:latin typeface="Calibri"/>
              </a:rPr>
              <a:t>within</a:t>
            </a:r>
          </a:p>
        </p:txBody>
      </p:sp>
      <p:pic>
        <p:nvPicPr>
          <p:cNvPr id="48" name="Picture 47" descr="lock.png"/>
          <p:cNvPicPr>
            <a:picLocks noChangeAspect="1"/>
          </p:cNvPicPr>
          <p:nvPr/>
        </p:nvPicPr>
        <p:blipFill>
          <a:blip r:embed="rId6"/>
          <a:stretch>
            <a:fillRect/>
          </a:stretch>
        </p:blipFill>
        <p:spPr>
          <a:xfrm>
            <a:off x="1171435" y="6001702"/>
            <a:ext cx="122849" cy="178689"/>
          </a:xfrm>
          <a:prstGeom prst="rect">
            <a:avLst/>
          </a:prstGeom>
        </p:spPr>
      </p:pic>
      <p:sp>
        <p:nvSpPr>
          <p:cNvPr id="49" name="TextBox 48"/>
          <p:cNvSpPr txBox="1"/>
          <p:nvPr/>
        </p:nvSpPr>
        <p:spPr>
          <a:xfrm>
            <a:off x="1331317" y="6011036"/>
            <a:ext cx="109797" cy="179069"/>
          </a:xfrm>
          <a:prstGeom prst="rect">
            <a:avLst/>
          </a:prstGeom>
          <a:noFill/>
        </p:spPr>
        <p:txBody>
          <a:bodyPr wrap="none" lIns="0" rIns="0" tIns="0" bIns="0">
            <a:spAutoFit/>
          </a:bodyPr>
          <a:lstStyle/>
          <a:p>
            <a:r>
              <a:rPr sz="1050" b="0">
                <a:solidFill>
                  <a:srgbClr val="1F1F1F"/>
                </a:solidFill>
                <a:latin typeface="Calibri"/>
              </a:rPr>
              <a:t>.</a:t>
            </a:r>
          </a:p>
        </p:txBody>
      </p:sp>
      <p:sp>
        <p:nvSpPr>
          <p:cNvPr id="50" name="TextBox 49"/>
          <p:cNvSpPr txBox="1"/>
          <p:nvPr/>
        </p:nvSpPr>
        <p:spPr>
          <a:xfrm>
            <a:off x="4732401" y="5530976"/>
            <a:ext cx="3096890" cy="179069"/>
          </a:xfrm>
          <a:prstGeom prst="rect">
            <a:avLst/>
          </a:prstGeom>
          <a:noFill/>
        </p:spPr>
        <p:txBody>
          <a:bodyPr wrap="none" lIns="0" rIns="0" tIns="0" bIns="0">
            <a:spAutoFit/>
          </a:bodyPr>
          <a:lstStyle/>
          <a:p>
            <a:r>
              <a:rPr sz="1050" b="0">
                <a:solidFill>
                  <a:srgbClr val="1F1F1F"/>
                </a:solidFill>
                <a:latin typeface="Calibri"/>
              </a:rPr>
              <a:t>Combination Removal Kits post the fastest price growth</a:t>
            </a:r>
          </a:p>
        </p:txBody>
      </p:sp>
      <p:sp>
        <p:nvSpPr>
          <p:cNvPr id="51" name="TextBox 50"/>
          <p:cNvSpPr txBox="1"/>
          <p:nvPr/>
        </p:nvSpPr>
        <p:spPr>
          <a:xfrm>
            <a:off x="4732401" y="5690996"/>
            <a:ext cx="278829" cy="179069"/>
          </a:xfrm>
          <a:prstGeom prst="rect">
            <a:avLst/>
          </a:prstGeom>
          <a:noFill/>
        </p:spPr>
        <p:txBody>
          <a:bodyPr wrap="none" lIns="0" rIns="0" tIns="0" bIns="0">
            <a:spAutoFit/>
          </a:bodyPr>
          <a:lstStyle/>
          <a:p>
            <a:r>
              <a:rPr sz="1050" b="0">
                <a:solidFill>
                  <a:srgbClr val="1F1F1F"/>
                </a:solidFill>
                <a:latin typeface="Calibri"/>
              </a:rPr>
              <a:t>at a</a:t>
            </a:r>
          </a:p>
        </p:txBody>
      </p:sp>
      <p:pic>
        <p:nvPicPr>
          <p:cNvPr id="52" name="Picture 51" descr="lock.png"/>
          <p:cNvPicPr>
            <a:picLocks noChangeAspect="1"/>
          </p:cNvPicPr>
          <p:nvPr/>
        </p:nvPicPr>
        <p:blipFill>
          <a:blip r:embed="rId6"/>
          <a:stretch>
            <a:fillRect/>
          </a:stretch>
        </p:blipFill>
        <p:spPr>
          <a:xfrm>
            <a:off x="4958179" y="5681662"/>
            <a:ext cx="122849" cy="178689"/>
          </a:xfrm>
          <a:prstGeom prst="rect">
            <a:avLst/>
          </a:prstGeom>
        </p:spPr>
      </p:pic>
      <p:sp>
        <p:nvSpPr>
          <p:cNvPr id="53" name="TextBox 52"/>
          <p:cNvSpPr txBox="1"/>
          <p:nvPr/>
        </p:nvSpPr>
        <p:spPr>
          <a:xfrm>
            <a:off x="5118062" y="5690996"/>
            <a:ext cx="2611917" cy="179069"/>
          </a:xfrm>
          <a:prstGeom prst="rect">
            <a:avLst/>
          </a:prstGeom>
          <a:noFill/>
        </p:spPr>
        <p:txBody>
          <a:bodyPr wrap="none" lIns="0" rIns="0" tIns="0" bIns="0">
            <a:spAutoFit/>
          </a:bodyPr>
          <a:lstStyle/>
          <a:p>
            <a:r>
              <a:rPr sz="1050" b="0">
                <a:solidFill>
                  <a:srgbClr val="1F1F1F"/>
                </a:solidFill>
                <a:latin typeface="Calibri"/>
              </a:rPr>
              <a:t>CAGR between 2026 and 2036, compared with</a:t>
            </a:r>
          </a:p>
        </p:txBody>
      </p:sp>
      <p:pic>
        <p:nvPicPr>
          <p:cNvPr id="54" name="Picture 53" descr="lock.png"/>
          <p:cNvPicPr>
            <a:picLocks noChangeAspect="1"/>
          </p:cNvPicPr>
          <p:nvPr/>
        </p:nvPicPr>
        <p:blipFill>
          <a:blip r:embed="rId6"/>
          <a:stretch>
            <a:fillRect/>
          </a:stretch>
        </p:blipFill>
        <p:spPr>
          <a:xfrm>
            <a:off x="4719545" y="5841682"/>
            <a:ext cx="122849" cy="178689"/>
          </a:xfrm>
          <a:prstGeom prst="rect">
            <a:avLst/>
          </a:prstGeom>
        </p:spPr>
      </p:pic>
      <p:sp>
        <p:nvSpPr>
          <p:cNvPr id="55" name="TextBox 54"/>
          <p:cNvSpPr txBox="1"/>
          <p:nvPr/>
        </p:nvSpPr>
        <p:spPr>
          <a:xfrm>
            <a:off x="4879428" y="5851016"/>
            <a:ext cx="824438" cy="179069"/>
          </a:xfrm>
          <a:prstGeom prst="rect">
            <a:avLst/>
          </a:prstGeom>
          <a:noFill/>
        </p:spPr>
        <p:txBody>
          <a:bodyPr wrap="none" lIns="0" rIns="0" tIns="0" bIns="0">
            <a:spAutoFit/>
          </a:bodyPr>
          <a:lstStyle/>
          <a:p>
            <a:r>
              <a:rPr sz="1050" b="0">
                <a:solidFill>
                  <a:srgbClr val="1F1F1F"/>
                </a:solidFill>
                <a:latin typeface="Calibri"/>
              </a:rPr>
              <a:t>for Ear Drops.</a:t>
            </a:r>
          </a:p>
        </p:txBody>
      </p:sp>
      <p:sp>
        <p:nvSpPr>
          <p:cNvPr id="56" name="TextBox 55"/>
          <p:cNvSpPr txBox="1"/>
          <p:nvPr/>
        </p:nvSpPr>
        <p:spPr>
          <a:xfrm>
            <a:off x="8658225" y="5530976"/>
            <a:ext cx="3143250" cy="179069"/>
          </a:xfrm>
          <a:prstGeom prst="rect">
            <a:avLst/>
          </a:prstGeom>
          <a:noFill/>
        </p:spPr>
        <p:txBody>
          <a:bodyPr wrap="none" lIns="0" rIns="0" tIns="0" bIns="0">
            <a:spAutoFit/>
          </a:bodyPr>
          <a:lstStyle/>
          <a:p>
            <a:r>
              <a:rPr sz="1050" b="0">
                <a:solidFill>
                  <a:srgbClr val="1F1F1F"/>
                </a:solidFill>
                <a:latin typeface="Calibri"/>
              </a:rPr>
              <a:t>The Global average price rises from US$ 10/Units in 2026</a:t>
            </a:r>
          </a:p>
        </p:txBody>
      </p:sp>
      <p:sp>
        <p:nvSpPr>
          <p:cNvPr id="57" name="TextBox 56"/>
          <p:cNvSpPr txBox="1"/>
          <p:nvPr/>
        </p:nvSpPr>
        <p:spPr>
          <a:xfrm>
            <a:off x="8658225" y="5690996"/>
            <a:ext cx="2795810" cy="179069"/>
          </a:xfrm>
          <a:prstGeom prst="rect">
            <a:avLst/>
          </a:prstGeom>
          <a:noFill/>
        </p:spPr>
        <p:txBody>
          <a:bodyPr wrap="none" lIns="0" rIns="0" tIns="0" bIns="0">
            <a:spAutoFit/>
          </a:bodyPr>
          <a:lstStyle/>
          <a:p>
            <a:r>
              <a:rPr sz="1050" b="0">
                <a:solidFill>
                  <a:srgbClr val="1F1F1F"/>
                </a:solidFill>
                <a:latin typeface="Calibri"/>
              </a:rPr>
              <a:t>to US$ 11/Units in 2036, and the gap between the</a:t>
            </a:r>
          </a:p>
        </p:txBody>
      </p:sp>
      <p:sp>
        <p:nvSpPr>
          <p:cNvPr id="58" name="TextBox 57"/>
          <p:cNvSpPr txBox="1"/>
          <p:nvPr/>
        </p:nvSpPr>
        <p:spPr>
          <a:xfrm>
            <a:off x="8658225" y="5851016"/>
            <a:ext cx="2878373" cy="179069"/>
          </a:xfrm>
          <a:prstGeom prst="rect">
            <a:avLst/>
          </a:prstGeom>
          <a:noFill/>
        </p:spPr>
        <p:txBody>
          <a:bodyPr wrap="none" lIns="0" rIns="0" tIns="0" bIns="0">
            <a:spAutoFit/>
          </a:bodyPr>
          <a:lstStyle/>
          <a:p>
            <a:r>
              <a:rPr sz="1050" b="0">
                <a:solidFill>
                  <a:srgbClr val="1F1F1F"/>
                </a:solidFill>
                <a:latin typeface="Calibri"/>
              </a:rPr>
              <a:t>highest and lowest priced product type moves from</a:t>
            </a:r>
          </a:p>
        </p:txBody>
      </p:sp>
      <p:pic>
        <p:nvPicPr>
          <p:cNvPr id="59" name="Picture 58" descr="lock.png"/>
          <p:cNvPicPr>
            <a:picLocks noChangeAspect="1"/>
          </p:cNvPicPr>
          <p:nvPr/>
        </p:nvPicPr>
        <p:blipFill>
          <a:blip r:embed="rId6"/>
          <a:stretch>
            <a:fillRect/>
          </a:stretch>
        </p:blipFill>
        <p:spPr>
          <a:xfrm>
            <a:off x="11483547" y="5841682"/>
            <a:ext cx="122849" cy="178689"/>
          </a:xfrm>
          <a:prstGeom prst="rect">
            <a:avLst/>
          </a:prstGeom>
        </p:spPr>
      </p:pic>
      <p:sp>
        <p:nvSpPr>
          <p:cNvPr id="60" name="TextBox 59"/>
          <p:cNvSpPr txBox="1"/>
          <p:nvPr/>
        </p:nvSpPr>
        <p:spPr>
          <a:xfrm>
            <a:off x="8658225" y="6011036"/>
            <a:ext cx="623403" cy="179069"/>
          </a:xfrm>
          <a:prstGeom prst="rect">
            <a:avLst/>
          </a:prstGeom>
          <a:noFill/>
        </p:spPr>
        <p:txBody>
          <a:bodyPr wrap="none" lIns="0" rIns="0" tIns="0" bIns="0">
            <a:spAutoFit/>
          </a:bodyPr>
          <a:lstStyle/>
          <a:p>
            <a:r>
              <a:rPr sz="1050" b="0">
                <a:solidFill>
                  <a:srgbClr val="1F1F1F"/>
                </a:solidFill>
                <a:latin typeface="Calibri"/>
              </a:rPr>
              <a:t>in 2021 to</a:t>
            </a:r>
          </a:p>
        </p:txBody>
      </p:sp>
      <p:pic>
        <p:nvPicPr>
          <p:cNvPr id="61" name="Picture 60" descr="lock.png"/>
          <p:cNvPicPr>
            <a:picLocks noChangeAspect="1"/>
          </p:cNvPicPr>
          <p:nvPr/>
        </p:nvPicPr>
        <p:blipFill>
          <a:blip r:embed="rId6"/>
          <a:stretch>
            <a:fillRect/>
          </a:stretch>
        </p:blipFill>
        <p:spPr>
          <a:xfrm>
            <a:off x="9228578" y="6001702"/>
            <a:ext cx="122849" cy="178689"/>
          </a:xfrm>
          <a:prstGeom prst="rect">
            <a:avLst/>
          </a:prstGeom>
        </p:spPr>
      </p:pic>
      <p:sp>
        <p:nvSpPr>
          <p:cNvPr id="62" name="TextBox 61"/>
          <p:cNvSpPr txBox="1"/>
          <p:nvPr/>
        </p:nvSpPr>
        <p:spPr>
          <a:xfrm>
            <a:off x="9388460" y="6011036"/>
            <a:ext cx="511671" cy="179069"/>
          </a:xfrm>
          <a:prstGeom prst="rect">
            <a:avLst/>
          </a:prstGeom>
          <a:noFill/>
        </p:spPr>
        <p:txBody>
          <a:bodyPr wrap="none" lIns="0" rIns="0" tIns="0" bIns="0">
            <a:spAutoFit/>
          </a:bodyPr>
          <a:lstStyle/>
          <a:p>
            <a:r>
              <a:rPr sz="1050" b="0">
                <a:solidFill>
                  <a:srgbClr val="1F1F1F"/>
                </a:solidFill>
                <a:latin typeface="Calibri"/>
              </a:rPr>
              <a:t>in 2036.</a:t>
            </a:r>
          </a:p>
        </p:txBody>
      </p:sp>
      <p:pic>
        <p:nvPicPr>
          <p:cNvPr id="63" name="Picture 62" descr="lock.png"/>
          <p:cNvPicPr>
            <a:picLocks noChangeAspect="1"/>
          </p:cNvPicPr>
          <p:nvPr/>
        </p:nvPicPr>
        <p:blipFill>
          <a:blip r:embed="rId6"/>
          <a:stretch>
            <a:fillRect/>
          </a:stretch>
        </p:blipFill>
        <p:spPr>
          <a:xfrm>
            <a:off x="3418190" y="3048804"/>
            <a:ext cx="454926" cy="661711"/>
          </a:xfrm>
          <a:prstGeom prst="rect">
            <a:avLst/>
          </a:prstGeom>
        </p:spPr>
      </p:pic>
      <p:pic>
        <p:nvPicPr>
          <p:cNvPr id="64" name="Picture 63" descr="lock.png"/>
          <p:cNvPicPr>
            <a:picLocks noChangeAspect="1"/>
          </p:cNvPicPr>
          <p:nvPr/>
        </p:nvPicPr>
        <p:blipFill>
          <a:blip r:embed="rId6"/>
          <a:stretch>
            <a:fillRect/>
          </a:stretch>
        </p:blipFill>
        <p:spPr>
          <a:xfrm>
            <a:off x="9403270" y="2219134"/>
            <a:ext cx="256698" cy="373379"/>
          </a:xfrm>
          <a:prstGeom prst="rect">
            <a:avLst/>
          </a:prstGeom>
        </p:spPr>
      </p:pic>
      <p:sp>
        <p:nvSpPr>
          <p:cNvPr id="65" name="lockshield_13"/>
          <p:cNvSpPr/>
          <p:nvPr/>
        </p:nvSpPr>
        <p:spPr>
          <a:xfrm>
            <a:off x="347472" y="1831467"/>
            <a:ext cx="6309360" cy="3182112"/>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ockshield_17"/>
          <p:cNvSpPr/>
          <p:nvPr/>
        </p:nvSpPr>
        <p:spPr>
          <a:xfrm>
            <a:off x="6903720" y="1785747"/>
            <a:ext cx="4965192" cy="132588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Ear Wax Removal Products Market Pricing Assessment: Region Benchmarking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 average price and price range across product types, 2026 (US$/Units)</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Range Across Product Types by Region (US$/Units), Ranked by Average</a:t>
            </a:r>
          </a:p>
        </p:txBody>
      </p:sp>
      <p:graphicFrame>
        <p:nvGraphicFramePr>
          <p:cNvPr id="13" name="FMI Open Chart"/>
          <p:cNvGraphicFramePr>
            <a:graphicFrameLocks noGrp="1"/>
          </p:cNvGraphicFramePr>
          <p:nvPr/>
        </p:nvGraphicFramePr>
        <p:xfrm>
          <a:off x="347472" y="2014347"/>
          <a:ext cx="7406640" cy="3017520"/>
        </p:xfrm>
        <a:graphic>
          <a:graphicData uri="http://schemas.openxmlformats.org/drawingml/2006/chart">
            <c:chart xmlns:c="http://schemas.openxmlformats.org/drawingml/2006/chart" r:id="rId3"/>
          </a:graphicData>
        </a:graphic>
      </p:graphicFrame>
      <p:sp>
        <p:nvSpPr>
          <p:cNvPr id="14" name="TextBox 13"/>
          <p:cNvSpPr txBox="1"/>
          <p:nvPr/>
        </p:nvSpPr>
        <p:spPr>
          <a:xfrm>
            <a:off x="384048" y="1804035"/>
            <a:ext cx="7223760" cy="219075"/>
          </a:xfrm>
          <a:prstGeom prst="rect">
            <a:avLst/>
          </a:prstGeom>
          <a:noFill/>
        </p:spPr>
        <p:txBody>
          <a:bodyPr wrap="square" anchor="t" lIns="27432" rIns="27432" tIns="27432" bIns="27432">
            <a:spAutoFit/>
          </a:bodyPr>
          <a:lstStyle/>
          <a:p>
            <a:pPr algn="l"/>
            <a:r>
              <a:rPr sz="850" b="0" i="1">
                <a:solidFill>
                  <a:srgbClr val="59636E"/>
                </a:solidFill>
                <a:latin typeface="Calibri"/>
              </a:rPr>
              <a:t/>
            </a:r>
          </a:p>
        </p:txBody>
      </p:sp>
      <p:sp>
        <p:nvSpPr>
          <p:cNvPr id="15" name="Rectangle 14"/>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16" name="TextBox 15"/>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Premium and Discount Markets</a:t>
            </a:r>
          </a:p>
        </p:txBody>
      </p:sp>
      <p:graphicFrame>
        <p:nvGraphicFramePr>
          <p:cNvPr id="17" name="Table 16"/>
          <p:cNvGraphicFramePr>
            <a:graphicFrameLocks noGrp="1"/>
          </p:cNvGraphicFramePr>
          <p:nvPr/>
        </p:nvGraphicFramePr>
        <p:xfrm>
          <a:off x="8046720" y="1868043"/>
          <a:ext cx="3776472" cy="3090675"/>
        </p:xfrm>
        <a:graphic>
          <a:graphicData uri="http://schemas.openxmlformats.org/drawingml/2006/table">
            <a:tbl>
              <a:tblPr firstRow="1" bandRow="1">
                <a:tableStyleId>{5C22544A-7EE6-4342-B048-85BDC9FD1C3A}</a:tableStyleId>
              </a:tblPr>
              <a:tblGrid>
                <a:gridCol w="1417320"/>
                <a:gridCol w="786384"/>
                <a:gridCol w="658368"/>
                <a:gridCol w="914400"/>
              </a:tblGrid>
              <a:tr h="441525">
                <a:tc>
                  <a:txBody>
                    <a:bodyPr wrap="square"/>
                    <a:lstStyle/>
                    <a:p>
                      <a:pPr algn="l"/>
                      <a:r>
                        <a:rPr sz="900" b="1">
                          <a:solidFill>
                            <a:srgbClr val="FFFFFF"/>
                          </a:solidFill>
                          <a:latin typeface="Calibri"/>
                        </a:rPr>
                        <a:t>Region</a:t>
                      </a:r>
                    </a:p>
                  </a:txBody>
                  <a:tcPr marL="36576" marR="36576" marT="9144" marB="9144" anchor="ctr">
                    <a:solidFill>
                      <a:srgbClr val="0B2E4A"/>
                    </a:solidFill>
                  </a:tcPr>
                </a:tc>
                <a:tc>
                  <a:txBody>
                    <a:bodyPr wrap="square"/>
                    <a:lstStyle/>
                    <a:p>
                      <a:pPr algn="ctr"/>
                      <a:r>
                        <a:rPr sz="900" b="1">
                          <a:solidFill>
                            <a:srgbClr val="FFFFFF"/>
                          </a:solidFill>
                          <a:latin typeface="Calibri"/>
                        </a:rPr>
                        <a:t>Avg. 2026</a:t>
                      </a:r>
                    </a:p>
                  </a:txBody>
                  <a:tcPr marL="36576" marR="36576" marT="9144" marB="9144" anchor="ctr">
                    <a:solidFill>
                      <a:srgbClr val="0B2E4A"/>
                    </a:solidFill>
                  </a:tcPr>
                </a:tc>
                <a:tc>
                  <a:txBody>
                    <a:bodyPr wrap="square"/>
                    <a:lstStyle/>
                    <a:p>
                      <a:pPr algn="ctr"/>
                      <a:r>
                        <a:rPr sz="900" b="1">
                          <a:solidFill>
                            <a:srgbClr val="FFFFFF"/>
                          </a:solidFill>
                          <a:latin typeface="Calibri"/>
                        </a:rPr>
                        <a:t>Index</a:t>
                      </a:r>
                    </a:p>
                  </a:txBody>
                  <a:tcPr marL="36576" marR="36576" marT="9144" marB="9144" anchor="ctr">
                    <a:solidFill>
                      <a:srgbClr val="0B2E4A"/>
                    </a:solidFill>
                  </a:tcPr>
                </a:tc>
                <a:tc>
                  <a:txBody>
                    <a:bodyPr wrap="square"/>
                    <a:lstStyle/>
                    <a:p>
                      <a:pPr algn="ctr"/>
                      <a:r>
                        <a:rPr sz="900" b="1">
                          <a:solidFill>
                            <a:srgbClr val="FFFFFF"/>
                          </a:solidFill>
                          <a:latin typeface="Calibri"/>
                        </a:rPr>
                        <a:t>CAGR 2026 to 2036</a:t>
                      </a:r>
                    </a:p>
                  </a:txBody>
                  <a:tcPr marL="36576" marR="36576" marT="9144" marB="9144" anchor="ctr">
                    <a:solidFill>
                      <a:srgbClr val="0B2E4A"/>
                    </a:solidFill>
                  </a:tcPr>
                </a:tc>
              </a:tr>
              <a:tr h="441525">
                <a:tc>
                  <a:txBody>
                    <a:bodyPr wrap="square"/>
                    <a:lstStyle/>
                    <a:p>
                      <a:pPr algn="l"/>
                      <a:r>
                        <a:rPr sz="900" b="1">
                          <a:solidFill>
                            <a:srgbClr val="1F1F1F"/>
                          </a:solidFill>
                          <a:latin typeface="Calibri"/>
                        </a:rPr>
                        <a:t>North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Europe</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Latin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Middle East &amp; Africa</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 Asia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South Asia &amp; Pacific</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bl>
          </a:graphicData>
        </a:graphic>
      </p:graphicFrame>
      <p:sp>
        <p:nvSpPr>
          <p:cNvPr id="18" name="Rectangle 17"/>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9" name="Oval 18"/>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0" name="TextBox 19"/>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Region Spread</a:t>
            </a:r>
          </a:p>
        </p:txBody>
      </p:sp>
      <p:sp>
        <p:nvSpPr>
          <p:cNvPr id="21" name="TextBox 20"/>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2" name="Rectangle 21"/>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3" name="Oval 22"/>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4" name="TextBox 23"/>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Growth Leader</a:t>
            </a:r>
          </a:p>
        </p:txBody>
      </p:sp>
      <p:sp>
        <p:nvSpPr>
          <p:cNvPr id="25" name="TextBox 24"/>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6" name="Rectangle 25"/>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7" name="Oval 26"/>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8" name="TextBox 27"/>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Mix Exposure</a:t>
            </a:r>
          </a:p>
        </p:txBody>
      </p:sp>
      <p:sp>
        <p:nvSpPr>
          <p:cNvPr id="29" name="TextBox 28"/>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0" name="TextBox 29"/>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Range = lowest to highest product type price in each region; ranked by average price. Other geographies grouped as 'Other' are excluded from the ranking.</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10462494" y="3375398"/>
            <a:ext cx="355774" cy="517489"/>
          </a:xfrm>
          <a:prstGeom prst="rect">
            <a:avLst/>
          </a:prstGeom>
        </p:spPr>
      </p:pic>
      <p:sp>
        <p:nvSpPr>
          <p:cNvPr id="33" name="TextBox 32"/>
          <p:cNvSpPr txBox="1"/>
          <p:nvPr/>
        </p:nvSpPr>
        <p:spPr>
          <a:xfrm>
            <a:off x="411480" y="1110615"/>
            <a:ext cx="5323284" cy="217169"/>
          </a:xfrm>
          <a:prstGeom prst="rect">
            <a:avLst/>
          </a:prstGeom>
          <a:noFill/>
        </p:spPr>
        <p:txBody>
          <a:bodyPr wrap="none" lIns="0" rIns="0" tIns="0" bIns="0">
            <a:spAutoFit/>
          </a:bodyPr>
          <a:lstStyle/>
          <a:p>
            <a:r>
              <a:rPr sz="1300" b="1">
                <a:solidFill>
                  <a:srgbClr val="FFFFFF"/>
                </a:solidFill>
                <a:latin typeface="Calibri"/>
              </a:rPr>
              <a:t>North America is the most premium Global region at US$ 14/Units in 2026, +</a:t>
            </a:r>
          </a:p>
        </p:txBody>
      </p:sp>
      <p:pic>
        <p:nvPicPr>
          <p:cNvPr id="34" name="Picture 33" descr="lock.png"/>
          <p:cNvPicPr>
            <a:picLocks noChangeAspect="1"/>
          </p:cNvPicPr>
          <p:nvPr/>
        </p:nvPicPr>
        <p:blipFill>
          <a:blip r:embed="rId5"/>
          <a:stretch>
            <a:fillRect/>
          </a:stretch>
        </p:blipFill>
        <p:spPr>
          <a:xfrm>
            <a:off x="5687225" y="1099058"/>
            <a:ext cx="152098" cy="221234"/>
          </a:xfrm>
          <a:prstGeom prst="rect">
            <a:avLst/>
          </a:prstGeom>
        </p:spPr>
      </p:pic>
      <p:sp>
        <p:nvSpPr>
          <p:cNvPr id="35" name="TextBox 34"/>
          <p:cNvSpPr txBox="1"/>
          <p:nvPr/>
        </p:nvSpPr>
        <p:spPr>
          <a:xfrm>
            <a:off x="5885174" y="1110615"/>
            <a:ext cx="5071119" cy="217169"/>
          </a:xfrm>
          <a:prstGeom prst="rect">
            <a:avLst/>
          </a:prstGeom>
          <a:noFill/>
        </p:spPr>
        <p:txBody>
          <a:bodyPr wrap="none" lIns="0" rIns="0" tIns="0" bIns="0">
            <a:spAutoFit/>
          </a:bodyPr>
          <a:lstStyle/>
          <a:p>
            <a:r>
              <a:rPr sz="1300" b="1">
                <a:solidFill>
                  <a:srgbClr val="FFFFFF"/>
                </a:solidFill>
                <a:latin typeface="Calibri"/>
              </a:rPr>
              <a:t>above the global average, while South Asia &amp; Pacific is the lowest priced.</a:t>
            </a:r>
          </a:p>
        </p:txBody>
      </p:sp>
      <p:sp>
        <p:nvSpPr>
          <p:cNvPr id="36" name="TextBox 35"/>
          <p:cNvSpPr txBox="1"/>
          <p:nvPr/>
        </p:nvSpPr>
        <p:spPr>
          <a:xfrm>
            <a:off x="411480" y="1831467"/>
            <a:ext cx="4975274" cy="148589"/>
          </a:xfrm>
          <a:prstGeom prst="rect">
            <a:avLst/>
          </a:prstGeom>
          <a:noFill/>
        </p:spPr>
        <p:txBody>
          <a:bodyPr wrap="none" lIns="0" rIns="0" tIns="0" bIns="0">
            <a:spAutoFit/>
          </a:bodyPr>
          <a:lstStyle/>
          <a:p>
            <a:r>
              <a:rPr sz="850" b="0">
                <a:solidFill>
                  <a:srgbClr val="59636E"/>
                </a:solidFill>
                <a:latin typeface="Calibri"/>
              </a:rPr>
              <a:t>Bar spans the lowest to highest product type price in each region, read on the price index axis (Global average =</a:t>
            </a:r>
          </a:p>
        </p:txBody>
      </p:sp>
      <p:pic>
        <p:nvPicPr>
          <p:cNvPr id="37" name="Picture 36" descr="lock.png"/>
          <p:cNvPicPr>
            <a:picLocks noChangeAspect="1"/>
          </p:cNvPicPr>
          <p:nvPr/>
        </p:nvPicPr>
        <p:blipFill>
          <a:blip r:embed="rId5"/>
          <a:stretch>
            <a:fillRect/>
          </a:stretch>
        </p:blipFill>
        <p:spPr>
          <a:xfrm>
            <a:off x="5329294" y="1823910"/>
            <a:ext cx="99449" cy="144653"/>
          </a:xfrm>
          <a:prstGeom prst="rect">
            <a:avLst/>
          </a:prstGeom>
        </p:spPr>
      </p:pic>
      <p:sp>
        <p:nvSpPr>
          <p:cNvPr id="38" name="TextBox 37"/>
          <p:cNvSpPr txBox="1"/>
          <p:nvPr/>
        </p:nvSpPr>
        <p:spPr>
          <a:xfrm>
            <a:off x="5458723" y="1831467"/>
            <a:ext cx="2037010" cy="148589"/>
          </a:xfrm>
          <a:prstGeom prst="rect">
            <a:avLst/>
          </a:prstGeom>
          <a:noFill/>
        </p:spPr>
        <p:txBody>
          <a:bodyPr wrap="none" lIns="0" rIns="0" tIns="0" bIns="0">
            <a:spAutoFit/>
          </a:bodyPr>
          <a:lstStyle/>
          <a:p>
            <a:r>
              <a:rPr sz="850" b="0">
                <a:solidFill>
                  <a:srgbClr val="59636E"/>
                </a:solidFill>
                <a:latin typeface="Calibri"/>
              </a:rPr>
              <a:t>). Teal = above Global average, blue = below.</a:t>
            </a:r>
          </a:p>
        </p:txBody>
      </p:sp>
      <p:sp>
        <p:nvSpPr>
          <p:cNvPr id="39" name="TextBox 38"/>
          <p:cNvSpPr txBox="1"/>
          <p:nvPr/>
        </p:nvSpPr>
        <p:spPr>
          <a:xfrm>
            <a:off x="806576" y="5530976"/>
            <a:ext cx="2778324" cy="179069"/>
          </a:xfrm>
          <a:prstGeom prst="rect">
            <a:avLst/>
          </a:prstGeom>
          <a:noFill/>
        </p:spPr>
        <p:txBody>
          <a:bodyPr wrap="none" lIns="0" rIns="0" tIns="0" bIns="0">
            <a:spAutoFit/>
          </a:bodyPr>
          <a:lstStyle/>
          <a:p>
            <a:r>
              <a:rPr sz="1050" b="0">
                <a:solidFill>
                  <a:srgbClr val="1F1F1F"/>
                </a:solidFill>
                <a:latin typeface="Calibri"/>
              </a:rPr>
              <a:t>Average prices across the ranked regions differ by</a:t>
            </a:r>
          </a:p>
        </p:txBody>
      </p:sp>
      <p:pic>
        <p:nvPicPr>
          <p:cNvPr id="40" name="Picture 39" descr="lock.png"/>
          <p:cNvPicPr>
            <a:picLocks noChangeAspect="1"/>
          </p:cNvPicPr>
          <p:nvPr/>
        </p:nvPicPr>
        <p:blipFill>
          <a:blip r:embed="rId5"/>
          <a:stretch>
            <a:fillRect/>
          </a:stretch>
        </p:blipFill>
        <p:spPr>
          <a:xfrm>
            <a:off x="3531850" y="5521642"/>
            <a:ext cx="122849" cy="178689"/>
          </a:xfrm>
          <a:prstGeom prst="rect">
            <a:avLst/>
          </a:prstGeom>
        </p:spPr>
      </p:pic>
      <p:sp>
        <p:nvSpPr>
          <p:cNvPr id="41" name="TextBox 40"/>
          <p:cNvSpPr txBox="1"/>
          <p:nvPr/>
        </p:nvSpPr>
        <p:spPr>
          <a:xfrm>
            <a:off x="3691732" y="5530976"/>
            <a:ext cx="176993" cy="179069"/>
          </a:xfrm>
          <a:prstGeom prst="rect">
            <a:avLst/>
          </a:prstGeom>
          <a:noFill/>
        </p:spPr>
        <p:txBody>
          <a:bodyPr wrap="none" lIns="0" rIns="0" tIns="0" bIns="0">
            <a:spAutoFit/>
          </a:bodyPr>
          <a:lstStyle/>
          <a:p>
            <a:r>
              <a:rPr sz="1050" b="0">
                <a:solidFill>
                  <a:srgbClr val="1F1F1F"/>
                </a:solidFill>
                <a:latin typeface="Calibri"/>
              </a:rPr>
              <a:t>in</a:t>
            </a:r>
          </a:p>
        </p:txBody>
      </p:sp>
      <p:sp>
        <p:nvSpPr>
          <p:cNvPr id="42" name="TextBox 41"/>
          <p:cNvSpPr txBox="1"/>
          <p:nvPr/>
        </p:nvSpPr>
        <p:spPr>
          <a:xfrm>
            <a:off x="806576" y="5690996"/>
            <a:ext cx="2973437" cy="179069"/>
          </a:xfrm>
          <a:prstGeom prst="rect">
            <a:avLst/>
          </a:prstGeom>
          <a:noFill/>
        </p:spPr>
        <p:txBody>
          <a:bodyPr wrap="none" lIns="0" rIns="0" tIns="0" bIns="0">
            <a:spAutoFit/>
          </a:bodyPr>
          <a:lstStyle/>
          <a:p>
            <a:r>
              <a:rPr sz="1050" b="0">
                <a:solidFill>
                  <a:srgbClr val="1F1F1F"/>
                </a:solidFill>
                <a:latin typeface="Calibri"/>
              </a:rPr>
              <a:t>2026, from US$ 6/Units in South Asia &amp; Pacific to US$</a:t>
            </a:r>
          </a:p>
        </p:txBody>
      </p:sp>
      <p:sp>
        <p:nvSpPr>
          <p:cNvPr id="43" name="TextBox 42"/>
          <p:cNvSpPr txBox="1"/>
          <p:nvPr/>
        </p:nvSpPr>
        <p:spPr>
          <a:xfrm>
            <a:off x="806576" y="5851016"/>
            <a:ext cx="1537320" cy="179069"/>
          </a:xfrm>
          <a:prstGeom prst="rect">
            <a:avLst/>
          </a:prstGeom>
          <a:noFill/>
        </p:spPr>
        <p:txBody>
          <a:bodyPr wrap="none" lIns="0" rIns="0" tIns="0" bIns="0">
            <a:spAutoFit/>
          </a:bodyPr>
          <a:lstStyle/>
          <a:p>
            <a:r>
              <a:rPr sz="1050" b="0">
                <a:solidFill>
                  <a:srgbClr val="1F1F1F"/>
                </a:solidFill>
                <a:latin typeface="Calibri"/>
              </a:rPr>
              <a:t>14/Units in North America.</a:t>
            </a:r>
          </a:p>
        </p:txBody>
      </p:sp>
      <p:sp>
        <p:nvSpPr>
          <p:cNvPr id="44" name="TextBox 43"/>
          <p:cNvSpPr txBox="1"/>
          <p:nvPr/>
        </p:nvSpPr>
        <p:spPr>
          <a:xfrm>
            <a:off x="4732401" y="5530976"/>
            <a:ext cx="3098192" cy="179069"/>
          </a:xfrm>
          <a:prstGeom prst="rect">
            <a:avLst/>
          </a:prstGeom>
          <a:noFill/>
        </p:spPr>
        <p:txBody>
          <a:bodyPr wrap="none" lIns="0" rIns="0" tIns="0" bIns="0">
            <a:spAutoFit/>
          </a:bodyPr>
          <a:lstStyle/>
          <a:p>
            <a:r>
              <a:rPr sz="1050" b="0">
                <a:solidFill>
                  <a:srgbClr val="1F1F1F"/>
                </a:solidFill>
                <a:latin typeface="Calibri"/>
              </a:rPr>
              <a:t>North America records the fastest average price growth</a:t>
            </a:r>
          </a:p>
        </p:txBody>
      </p:sp>
      <p:sp>
        <p:nvSpPr>
          <p:cNvPr id="45" name="TextBox 44"/>
          <p:cNvSpPr txBox="1"/>
          <p:nvPr/>
        </p:nvSpPr>
        <p:spPr>
          <a:xfrm>
            <a:off x="4732401" y="5690996"/>
            <a:ext cx="278829" cy="179069"/>
          </a:xfrm>
          <a:prstGeom prst="rect">
            <a:avLst/>
          </a:prstGeom>
          <a:noFill/>
        </p:spPr>
        <p:txBody>
          <a:bodyPr wrap="none" lIns="0" rIns="0" tIns="0" bIns="0">
            <a:spAutoFit/>
          </a:bodyPr>
          <a:lstStyle/>
          <a:p>
            <a:r>
              <a:rPr sz="1050" b="0">
                <a:solidFill>
                  <a:srgbClr val="1F1F1F"/>
                </a:solidFill>
                <a:latin typeface="Calibri"/>
              </a:rPr>
              <a:t>at a</a:t>
            </a:r>
          </a:p>
        </p:txBody>
      </p:sp>
      <p:pic>
        <p:nvPicPr>
          <p:cNvPr id="46" name="Picture 45" descr="lock.png"/>
          <p:cNvPicPr>
            <a:picLocks noChangeAspect="1"/>
          </p:cNvPicPr>
          <p:nvPr/>
        </p:nvPicPr>
        <p:blipFill>
          <a:blip r:embed="rId5"/>
          <a:stretch>
            <a:fillRect/>
          </a:stretch>
        </p:blipFill>
        <p:spPr>
          <a:xfrm>
            <a:off x="4958179" y="5681662"/>
            <a:ext cx="122849" cy="178689"/>
          </a:xfrm>
          <a:prstGeom prst="rect">
            <a:avLst/>
          </a:prstGeom>
        </p:spPr>
      </p:pic>
      <p:sp>
        <p:nvSpPr>
          <p:cNvPr id="47" name="TextBox 46"/>
          <p:cNvSpPr txBox="1"/>
          <p:nvPr/>
        </p:nvSpPr>
        <p:spPr>
          <a:xfrm>
            <a:off x="5118062" y="5690996"/>
            <a:ext cx="2178529" cy="179069"/>
          </a:xfrm>
          <a:prstGeom prst="rect">
            <a:avLst/>
          </a:prstGeom>
          <a:noFill/>
        </p:spPr>
        <p:txBody>
          <a:bodyPr wrap="none" lIns="0" rIns="0" tIns="0" bIns="0">
            <a:spAutoFit/>
          </a:bodyPr>
          <a:lstStyle/>
          <a:p>
            <a:r>
              <a:rPr sz="1050" b="0">
                <a:solidFill>
                  <a:srgbClr val="1F1F1F"/>
                </a:solidFill>
                <a:latin typeface="Calibri"/>
              </a:rPr>
              <a:t>CAGR between 2026 and 2036, against</a:t>
            </a:r>
          </a:p>
        </p:txBody>
      </p:sp>
      <p:pic>
        <p:nvPicPr>
          <p:cNvPr id="48" name="Picture 47" descr="lock.png"/>
          <p:cNvPicPr>
            <a:picLocks noChangeAspect="1"/>
          </p:cNvPicPr>
          <p:nvPr/>
        </p:nvPicPr>
        <p:blipFill>
          <a:blip r:embed="rId5"/>
          <a:stretch>
            <a:fillRect/>
          </a:stretch>
        </p:blipFill>
        <p:spPr>
          <a:xfrm>
            <a:off x="7243541" y="5681662"/>
            <a:ext cx="122849" cy="178689"/>
          </a:xfrm>
          <a:prstGeom prst="rect">
            <a:avLst/>
          </a:prstGeom>
        </p:spPr>
      </p:pic>
      <p:sp>
        <p:nvSpPr>
          <p:cNvPr id="49" name="TextBox 48"/>
          <p:cNvSpPr txBox="1"/>
          <p:nvPr/>
        </p:nvSpPr>
        <p:spPr>
          <a:xfrm>
            <a:off x="7403423" y="5690996"/>
            <a:ext cx="233771" cy="179069"/>
          </a:xfrm>
          <a:prstGeom prst="rect">
            <a:avLst/>
          </a:prstGeom>
          <a:noFill/>
        </p:spPr>
        <p:txBody>
          <a:bodyPr wrap="none" lIns="0" rIns="0" tIns="0" bIns="0">
            <a:spAutoFit/>
          </a:bodyPr>
          <a:lstStyle/>
          <a:p>
            <a:r>
              <a:rPr sz="1050" b="0">
                <a:solidFill>
                  <a:srgbClr val="1F1F1F"/>
                </a:solidFill>
                <a:latin typeface="Calibri"/>
              </a:rPr>
              <a:t>for</a:t>
            </a:r>
          </a:p>
        </p:txBody>
      </p:sp>
      <p:sp>
        <p:nvSpPr>
          <p:cNvPr id="50" name="TextBox 49"/>
          <p:cNvSpPr txBox="1"/>
          <p:nvPr/>
        </p:nvSpPr>
        <p:spPr>
          <a:xfrm>
            <a:off x="4732401" y="5851016"/>
            <a:ext cx="1062781" cy="179069"/>
          </a:xfrm>
          <a:prstGeom prst="rect">
            <a:avLst/>
          </a:prstGeom>
          <a:noFill/>
        </p:spPr>
        <p:txBody>
          <a:bodyPr wrap="none" lIns="0" rIns="0" tIns="0" bIns="0">
            <a:spAutoFit/>
          </a:bodyPr>
          <a:lstStyle/>
          <a:p>
            <a:r>
              <a:rPr sz="1050" b="0">
                <a:solidFill>
                  <a:srgbClr val="1F1F1F"/>
                </a:solidFill>
                <a:latin typeface="Calibri"/>
              </a:rPr>
              <a:t>Global as a whole.</a:t>
            </a:r>
          </a:p>
        </p:txBody>
      </p:sp>
      <p:sp>
        <p:nvSpPr>
          <p:cNvPr id="51" name="TextBox 50"/>
          <p:cNvSpPr txBox="1"/>
          <p:nvPr/>
        </p:nvSpPr>
        <p:spPr>
          <a:xfrm>
            <a:off x="8658225" y="5530976"/>
            <a:ext cx="3143250" cy="179069"/>
          </a:xfrm>
          <a:prstGeom prst="rect">
            <a:avLst/>
          </a:prstGeom>
          <a:noFill/>
        </p:spPr>
        <p:txBody>
          <a:bodyPr wrap="none" lIns="0" rIns="0" tIns="0" bIns="0">
            <a:spAutoFit/>
          </a:bodyPr>
          <a:lstStyle/>
          <a:p>
            <a:r>
              <a:rPr sz="1050" b="0">
                <a:solidFill>
                  <a:srgbClr val="1F1F1F"/>
                </a:solidFill>
                <a:latin typeface="Calibri"/>
              </a:rPr>
              <a:t>East Asia shows the widest gap between its cheapest and</a:t>
            </a:r>
          </a:p>
        </p:txBody>
      </p:sp>
      <p:sp>
        <p:nvSpPr>
          <p:cNvPr id="52" name="TextBox 51"/>
          <p:cNvSpPr txBox="1"/>
          <p:nvPr/>
        </p:nvSpPr>
        <p:spPr>
          <a:xfrm>
            <a:off x="8658225" y="5690996"/>
            <a:ext cx="1789695" cy="179069"/>
          </a:xfrm>
          <a:prstGeom prst="rect">
            <a:avLst/>
          </a:prstGeom>
          <a:noFill/>
        </p:spPr>
        <p:txBody>
          <a:bodyPr wrap="none" lIns="0" rIns="0" tIns="0" bIns="0">
            <a:spAutoFit/>
          </a:bodyPr>
          <a:lstStyle/>
          <a:p>
            <a:r>
              <a:rPr sz="1050" b="0">
                <a:solidFill>
                  <a:srgbClr val="1F1F1F"/>
                </a:solidFill>
                <a:latin typeface="Calibri"/>
              </a:rPr>
              <a:t>most expensive product type at</a:t>
            </a:r>
          </a:p>
        </p:txBody>
      </p:sp>
      <p:pic>
        <p:nvPicPr>
          <p:cNvPr id="53" name="Picture 52" descr="lock.png"/>
          <p:cNvPicPr>
            <a:picLocks noChangeAspect="1"/>
          </p:cNvPicPr>
          <p:nvPr/>
        </p:nvPicPr>
        <p:blipFill>
          <a:blip r:embed="rId5"/>
          <a:stretch>
            <a:fillRect/>
          </a:stretch>
        </p:blipFill>
        <p:spPr>
          <a:xfrm>
            <a:off x="10394869" y="5681662"/>
            <a:ext cx="122849" cy="178689"/>
          </a:xfrm>
          <a:prstGeom prst="rect">
            <a:avLst/>
          </a:prstGeom>
        </p:spPr>
      </p:pic>
      <p:sp>
        <p:nvSpPr>
          <p:cNvPr id="54" name="TextBox 53"/>
          <p:cNvSpPr txBox="1"/>
          <p:nvPr/>
        </p:nvSpPr>
        <p:spPr>
          <a:xfrm>
            <a:off x="10554752" y="5690996"/>
            <a:ext cx="946100" cy="179069"/>
          </a:xfrm>
          <a:prstGeom prst="rect">
            <a:avLst/>
          </a:prstGeom>
          <a:noFill/>
        </p:spPr>
        <p:txBody>
          <a:bodyPr wrap="none" lIns="0" rIns="0" tIns="0" bIns="0">
            <a:spAutoFit/>
          </a:bodyPr>
          <a:lstStyle/>
          <a:p>
            <a:r>
              <a:rPr sz="1050" b="0">
                <a:solidFill>
                  <a:srgbClr val="1F1F1F"/>
                </a:solidFill>
                <a:latin typeface="Calibri"/>
              </a:rPr>
              <a:t>, so product mix</a:t>
            </a:r>
          </a:p>
        </p:txBody>
      </p:sp>
      <p:sp>
        <p:nvSpPr>
          <p:cNvPr id="55" name="TextBox 54"/>
          <p:cNvSpPr txBox="1"/>
          <p:nvPr/>
        </p:nvSpPr>
        <p:spPr>
          <a:xfrm>
            <a:off x="8658225" y="5851016"/>
            <a:ext cx="2167867" cy="179069"/>
          </a:xfrm>
          <a:prstGeom prst="rect">
            <a:avLst/>
          </a:prstGeom>
          <a:noFill/>
        </p:spPr>
        <p:txBody>
          <a:bodyPr wrap="none" lIns="0" rIns="0" tIns="0" bIns="0">
            <a:spAutoFit/>
          </a:bodyPr>
          <a:lstStyle/>
          <a:p>
            <a:r>
              <a:rPr sz="1050" b="0">
                <a:solidFill>
                  <a:srgbClr val="1F1F1F"/>
                </a:solidFill>
                <a:latin typeface="Calibri"/>
              </a:rPr>
              <a:t>shifts move its average price the most.</a:t>
            </a:r>
          </a:p>
        </p:txBody>
      </p:sp>
      <p:pic>
        <p:nvPicPr>
          <p:cNvPr id="56" name="Picture 55" descr="lock.png"/>
          <p:cNvPicPr>
            <a:picLocks noChangeAspect="1"/>
          </p:cNvPicPr>
          <p:nvPr/>
        </p:nvPicPr>
        <p:blipFill>
          <a:blip r:embed="rId5"/>
          <a:stretch>
            <a:fillRect/>
          </a:stretch>
        </p:blipFill>
        <p:spPr>
          <a:xfrm>
            <a:off x="3952821" y="3129375"/>
            <a:ext cx="482444" cy="701737"/>
          </a:xfrm>
          <a:prstGeom prst="rect">
            <a:avLst/>
          </a:prstGeom>
        </p:spPr>
      </p:pic>
      <p:sp>
        <p:nvSpPr>
          <p:cNvPr id="57" name="lockshield_13"/>
          <p:cNvSpPr/>
          <p:nvPr/>
        </p:nvSpPr>
        <p:spPr>
          <a:xfrm>
            <a:off x="347472" y="2014347"/>
            <a:ext cx="7406640" cy="301752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Price Positioning &amp; Key Findings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positioning of each region on a common axis with FMI's key findings on where premiums and discounts sit</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Average selling price and price range by region on a shared price scale (US$/Units).</a:t>
            </a:r>
          </a:p>
        </p:txBody>
      </p:sp>
      <p:sp>
        <p:nvSpPr>
          <p:cNvPr id="11" name="Rounded Rectangle 10"/>
          <p:cNvSpPr/>
          <p:nvPr/>
        </p:nvSpPr>
        <p:spPr>
          <a:xfrm>
            <a:off x="142875" y="1317574"/>
            <a:ext cx="769620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&amp; Range by Region</a:t>
            </a:r>
          </a:p>
        </p:txBody>
      </p:sp>
      <p:cxnSp>
        <p:nvCxnSpPr>
          <p:cNvPr id="13" name="Connector 12"/>
          <p:cNvCxnSpPr/>
          <p:nvPr/>
        </p:nvCxnSpPr>
        <p:spPr>
          <a:xfrm>
            <a:off x="13620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14425" y="6289685"/>
            <a:ext cx="495300" cy="114300"/>
          </a:xfrm>
          <a:prstGeom prst="rect">
            <a:avLst/>
          </a:prstGeom>
          <a:noFill/>
        </p:spPr>
        <p:txBody>
          <a:bodyPr wrap="none" lIns="0" rIns="0" tIns="0" bIns="0">
            <a:spAutoFit/>
          </a:bodyPr>
          <a:lstStyle/>
          <a:p>
            <a:pPr algn="ctr"/>
            <a:r>
              <a:rPr sz="1100" b="0">
                <a:solidFill>
                  <a:srgbClr val="6C7A89"/>
                </a:solidFill>
                <a:latin typeface="Calibri"/>
              </a:rPr>
              <a:t> </a:t>
            </a:r>
          </a:p>
        </p:txBody>
      </p:sp>
      <p:cxnSp>
        <p:nvCxnSpPr>
          <p:cNvPr id="15" name="Connector 14"/>
          <p:cNvCxnSpPr/>
          <p:nvPr/>
        </p:nvCxnSpPr>
        <p:spPr>
          <a:xfrm>
            <a:off x="261175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364105" y="6289685"/>
            <a:ext cx="495300" cy="114300"/>
          </a:xfrm>
          <a:prstGeom prst="rect">
            <a:avLst/>
          </a:prstGeom>
          <a:noFill/>
        </p:spPr>
        <p:txBody>
          <a:bodyPr wrap="none" lIns="0" rIns="0" tIns="0" bIns="0">
            <a:spAutoFit/>
          </a:bodyPr>
          <a:lstStyle/>
          <a:p>
            <a:pPr algn="ctr"/>
            <a:r>
              <a:rPr sz="1100" b="0">
                <a:solidFill>
                  <a:srgbClr val="6C7A89"/>
                </a:solidFill>
                <a:latin typeface="Calibri"/>
              </a:rPr>
              <a:t> </a:t>
            </a:r>
          </a:p>
        </p:txBody>
      </p:sp>
      <p:cxnSp>
        <p:nvCxnSpPr>
          <p:cNvPr id="17" name="Connector 16"/>
          <p:cNvCxnSpPr/>
          <p:nvPr/>
        </p:nvCxnSpPr>
        <p:spPr>
          <a:xfrm>
            <a:off x="386143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13785" y="6289685"/>
            <a:ext cx="495300" cy="114300"/>
          </a:xfrm>
          <a:prstGeom prst="rect">
            <a:avLst/>
          </a:prstGeom>
          <a:noFill/>
        </p:spPr>
        <p:txBody>
          <a:bodyPr wrap="none" lIns="0" rIns="0" tIns="0" bIns="0">
            <a:spAutoFit/>
          </a:bodyPr>
          <a:lstStyle/>
          <a:p>
            <a:pPr algn="ctr"/>
            <a:r>
              <a:rPr sz="1100" b="0">
                <a:solidFill>
                  <a:srgbClr val="6C7A89"/>
                </a:solidFill>
                <a:latin typeface="Calibri"/>
              </a:rPr>
              <a:t> </a:t>
            </a:r>
          </a:p>
        </p:txBody>
      </p:sp>
      <p:cxnSp>
        <p:nvCxnSpPr>
          <p:cNvPr id="19" name="Connector 18"/>
          <p:cNvCxnSpPr/>
          <p:nvPr/>
        </p:nvCxnSpPr>
        <p:spPr>
          <a:xfrm>
            <a:off x="511111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863465" y="6289685"/>
            <a:ext cx="495300" cy="114300"/>
          </a:xfrm>
          <a:prstGeom prst="rect">
            <a:avLst/>
          </a:prstGeom>
          <a:noFill/>
        </p:spPr>
        <p:txBody>
          <a:bodyPr wrap="none" lIns="0" rIns="0" tIns="0" bIns="0">
            <a:spAutoFit/>
          </a:bodyPr>
          <a:lstStyle/>
          <a:p>
            <a:pPr algn="ctr"/>
            <a:r>
              <a:rPr sz="1100" b="0">
                <a:solidFill>
                  <a:srgbClr val="6C7A89"/>
                </a:solidFill>
                <a:latin typeface="Calibri"/>
              </a:rPr>
              <a:t> </a:t>
            </a:r>
          </a:p>
        </p:txBody>
      </p:sp>
      <p:cxnSp>
        <p:nvCxnSpPr>
          <p:cNvPr id="21" name="Connector 20"/>
          <p:cNvCxnSpPr/>
          <p:nvPr/>
        </p:nvCxnSpPr>
        <p:spPr>
          <a:xfrm>
            <a:off x="636079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13145" y="6289685"/>
            <a:ext cx="495300" cy="114300"/>
          </a:xfrm>
          <a:prstGeom prst="rect">
            <a:avLst/>
          </a:prstGeom>
          <a:noFill/>
        </p:spPr>
        <p:txBody>
          <a:bodyPr wrap="none" lIns="0" rIns="0" tIns="0" bIns="0">
            <a:spAutoFit/>
          </a:bodyPr>
          <a:lstStyle/>
          <a:p>
            <a:pPr algn="ctr"/>
            <a:r>
              <a:rPr sz="1100" b="0">
                <a:solidFill>
                  <a:srgbClr val="6C7A89"/>
                </a:solidFill>
                <a:latin typeface="Calibri"/>
              </a:rPr>
              <a:t> </a:t>
            </a:r>
          </a:p>
        </p:txBody>
      </p:sp>
      <p:cxnSp>
        <p:nvCxnSpPr>
          <p:cNvPr id="23" name="Connector 22"/>
          <p:cNvCxnSpPr/>
          <p:nvPr/>
        </p:nvCxnSpPr>
        <p:spPr>
          <a:xfrm>
            <a:off x="76104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362825" y="6289685"/>
            <a:ext cx="495300" cy="114300"/>
          </a:xfrm>
          <a:prstGeom prst="rect">
            <a:avLst/>
          </a:prstGeom>
          <a:noFill/>
        </p:spPr>
        <p:txBody>
          <a:bodyPr wrap="none" lIns="0" rIns="0" tIns="0" bIns="0">
            <a:spAutoFit/>
          </a:bodyPr>
          <a:lstStyle/>
          <a:p>
            <a:pPr algn="ctr"/>
            <a:r>
              <a:rPr sz="1100" b="0">
                <a:solidFill>
                  <a:srgbClr val="6C7A89"/>
                </a:solidFill>
                <a:latin typeface="Calibri"/>
              </a:rPr>
              <a:t> </a:t>
            </a:r>
          </a:p>
        </p:txBody>
      </p:sp>
      <p:sp>
        <p:nvSpPr>
          <p:cNvPr id="25" name="TextBox 24"/>
          <p:cNvSpPr txBox="1"/>
          <p:nvPr/>
        </p:nvSpPr>
        <p:spPr>
          <a:xfrm>
            <a:off x="238125" y="220340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North America</a:t>
            </a:r>
          </a:p>
        </p:txBody>
      </p:sp>
      <p:sp>
        <p:nvSpPr>
          <p:cNvPr id="26" name="Rectangle 25"/>
          <p:cNvSpPr/>
          <p:nvPr/>
        </p:nvSpPr>
        <p:spPr>
          <a:xfrm>
            <a:off x="5021705" y="2100912"/>
            <a:ext cx="1905351"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715111" y="222721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 y="292731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Latin America</a:t>
            </a:r>
          </a:p>
        </p:txBody>
      </p:sp>
      <p:sp>
        <p:nvSpPr>
          <p:cNvPr id="29" name="Rectangle 28"/>
          <p:cNvSpPr/>
          <p:nvPr/>
        </p:nvSpPr>
        <p:spPr>
          <a:xfrm>
            <a:off x="3378638" y="2824823"/>
            <a:ext cx="1347250"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860927" y="295112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5122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Europe</a:t>
            </a:r>
          </a:p>
        </p:txBody>
      </p:sp>
      <p:sp>
        <p:nvSpPr>
          <p:cNvPr id="32" name="Rectangle 31"/>
          <p:cNvSpPr/>
          <p:nvPr/>
        </p:nvSpPr>
        <p:spPr>
          <a:xfrm>
            <a:off x="4395470" y="3548733"/>
            <a:ext cx="1713458"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042342" y="367503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8125" y="437513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East Asia</a:t>
            </a:r>
          </a:p>
        </p:txBody>
      </p:sp>
      <p:sp>
        <p:nvSpPr>
          <p:cNvPr id="35" name="Rectangle 34"/>
          <p:cNvSpPr/>
          <p:nvPr/>
        </p:nvSpPr>
        <p:spPr>
          <a:xfrm>
            <a:off x="2346646" y="4272643"/>
            <a:ext cx="1052653"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755960" y="439894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8125" y="509904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South Asia &amp; Pacific</a:t>
            </a:r>
          </a:p>
        </p:txBody>
      </p:sp>
      <p:sp>
        <p:nvSpPr>
          <p:cNvPr id="38" name="Rectangle 37"/>
          <p:cNvSpPr/>
          <p:nvPr/>
        </p:nvSpPr>
        <p:spPr>
          <a:xfrm>
            <a:off x="2045494" y="4996553"/>
            <a:ext cx="887255"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340797" y="512285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125" y="582295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Middle East &amp; Africa</a:t>
            </a:r>
          </a:p>
        </p:txBody>
      </p:sp>
      <p:sp>
        <p:nvSpPr>
          <p:cNvPr id="41" name="Rectangle 40"/>
          <p:cNvSpPr/>
          <p:nvPr/>
        </p:nvSpPr>
        <p:spPr>
          <a:xfrm>
            <a:off x="3265977" y="5720463"/>
            <a:ext cx="1275606"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701007" y="584676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362075" y="1727149"/>
            <a:ext cx="114300" cy="114300"/>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495425" y="1717624"/>
            <a:ext cx="838200" cy="133350"/>
          </a:xfrm>
          <a:prstGeom prst="rect">
            <a:avLst/>
          </a:prstGeom>
          <a:noFill/>
        </p:spPr>
        <p:txBody>
          <a:bodyPr wrap="square" lIns="28575" rIns="28575" tIns="9525" bIns="9525">
            <a:spAutoFit/>
          </a:bodyPr>
          <a:lstStyle/>
          <a:p>
            <a:pPr algn="l"/>
            <a:r>
              <a:rPr sz="1100" b="0">
                <a:solidFill>
                  <a:srgbClr val="2E2E2E"/>
                </a:solidFill>
                <a:latin typeface="Calibri"/>
              </a:rPr>
              <a:t>Average Price</a:t>
            </a:r>
          </a:p>
        </p:txBody>
      </p:sp>
      <p:sp>
        <p:nvSpPr>
          <p:cNvPr id="45" name="Rectangle 44"/>
          <p:cNvSpPr/>
          <p:nvPr/>
        </p:nvSpPr>
        <p:spPr>
          <a:xfrm>
            <a:off x="2390775" y="1736674"/>
            <a:ext cx="190500" cy="11430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19375" y="1717624"/>
            <a:ext cx="800100" cy="133350"/>
          </a:xfrm>
          <a:prstGeom prst="rect">
            <a:avLst/>
          </a:prstGeom>
          <a:noFill/>
        </p:spPr>
        <p:txBody>
          <a:bodyPr wrap="square" lIns="28575" rIns="28575" tIns="9525" bIns="9525">
            <a:spAutoFit/>
          </a:bodyPr>
          <a:lstStyle/>
          <a:p>
            <a:pPr algn="l"/>
            <a:r>
              <a:rPr sz="1100" b="0">
                <a:solidFill>
                  <a:srgbClr val="2E2E2E"/>
                </a:solidFill>
                <a:latin typeface="Calibri"/>
              </a:rPr>
              <a:t>Price Range</a:t>
            </a:r>
          </a:p>
        </p:txBody>
      </p:sp>
      <p:sp>
        <p:nvSpPr>
          <p:cNvPr id="47" name="Rounded Rectangle 46"/>
          <p:cNvSpPr/>
          <p:nvPr/>
        </p:nvSpPr>
        <p:spPr>
          <a:xfrm>
            <a:off x="7915275" y="1317574"/>
            <a:ext cx="413385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49" name="Rectangle 48"/>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48625" y="1727149"/>
            <a:ext cx="3867150" cy="343877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1" name="Rounded Rectangle 50"/>
          <p:cNvSpPr/>
          <p:nvPr/>
        </p:nvSpPr>
        <p:spPr>
          <a:xfrm>
            <a:off x="7915275" y="5351641"/>
            <a:ext cx="4133850" cy="1204744"/>
          </a:xfrm>
          <a:prstGeom prst="roundRect">
            <a:avLst>
              <a:gd name="adj" fmla="val 63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the above information is indicative in nature and does not constitute any form of analysis.</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3" name="Picture 52" descr="lock.png"/>
          <p:cNvPicPr>
            <a:picLocks noChangeAspect="1"/>
          </p:cNvPicPr>
          <p:nvPr/>
        </p:nvPicPr>
        <p:blipFill>
          <a:blip r:embed="rId4"/>
          <a:stretch>
            <a:fillRect/>
          </a:stretch>
        </p:blipFill>
        <p:spPr>
          <a:xfrm>
            <a:off x="1297725" y="6253235"/>
            <a:ext cx="128699" cy="187198"/>
          </a:xfrm>
          <a:prstGeom prst="rect">
            <a:avLst/>
          </a:prstGeom>
        </p:spPr>
      </p:pic>
      <p:pic>
        <p:nvPicPr>
          <p:cNvPr id="54" name="Picture 53" descr="lock.png"/>
          <p:cNvPicPr>
            <a:picLocks noChangeAspect="1"/>
          </p:cNvPicPr>
          <p:nvPr/>
        </p:nvPicPr>
        <p:blipFill>
          <a:blip r:embed="rId4"/>
          <a:stretch>
            <a:fillRect/>
          </a:stretch>
        </p:blipFill>
        <p:spPr>
          <a:xfrm>
            <a:off x="2547405" y="6253235"/>
            <a:ext cx="128699" cy="187198"/>
          </a:xfrm>
          <a:prstGeom prst="rect">
            <a:avLst/>
          </a:prstGeom>
        </p:spPr>
      </p:pic>
      <p:pic>
        <p:nvPicPr>
          <p:cNvPr id="55" name="Picture 54" descr="lock.png"/>
          <p:cNvPicPr>
            <a:picLocks noChangeAspect="1"/>
          </p:cNvPicPr>
          <p:nvPr/>
        </p:nvPicPr>
        <p:blipFill>
          <a:blip r:embed="rId4"/>
          <a:stretch>
            <a:fillRect/>
          </a:stretch>
        </p:blipFill>
        <p:spPr>
          <a:xfrm>
            <a:off x="3797085" y="6253235"/>
            <a:ext cx="128699" cy="187198"/>
          </a:xfrm>
          <a:prstGeom prst="rect">
            <a:avLst/>
          </a:prstGeom>
        </p:spPr>
      </p:pic>
      <p:pic>
        <p:nvPicPr>
          <p:cNvPr id="56" name="Picture 55" descr="lock.png"/>
          <p:cNvPicPr>
            <a:picLocks noChangeAspect="1"/>
          </p:cNvPicPr>
          <p:nvPr/>
        </p:nvPicPr>
        <p:blipFill>
          <a:blip r:embed="rId4"/>
          <a:stretch>
            <a:fillRect/>
          </a:stretch>
        </p:blipFill>
        <p:spPr>
          <a:xfrm>
            <a:off x="5046765" y="6253235"/>
            <a:ext cx="128699" cy="187198"/>
          </a:xfrm>
          <a:prstGeom prst="rect">
            <a:avLst/>
          </a:prstGeom>
        </p:spPr>
      </p:pic>
      <p:pic>
        <p:nvPicPr>
          <p:cNvPr id="57" name="Picture 56" descr="lock.png"/>
          <p:cNvPicPr>
            <a:picLocks noChangeAspect="1"/>
          </p:cNvPicPr>
          <p:nvPr/>
        </p:nvPicPr>
        <p:blipFill>
          <a:blip r:embed="rId4"/>
          <a:stretch>
            <a:fillRect/>
          </a:stretch>
        </p:blipFill>
        <p:spPr>
          <a:xfrm>
            <a:off x="6296445" y="6253235"/>
            <a:ext cx="128699" cy="187198"/>
          </a:xfrm>
          <a:prstGeom prst="rect">
            <a:avLst/>
          </a:prstGeom>
        </p:spPr>
      </p:pic>
      <p:pic>
        <p:nvPicPr>
          <p:cNvPr id="58" name="Picture 57" descr="lock.png"/>
          <p:cNvPicPr>
            <a:picLocks noChangeAspect="1"/>
          </p:cNvPicPr>
          <p:nvPr/>
        </p:nvPicPr>
        <p:blipFill>
          <a:blip r:embed="rId4"/>
          <a:stretch>
            <a:fillRect/>
          </a:stretch>
        </p:blipFill>
        <p:spPr>
          <a:xfrm>
            <a:off x="7546125" y="6253235"/>
            <a:ext cx="128699" cy="187198"/>
          </a:xfrm>
          <a:prstGeom prst="rect">
            <a:avLst/>
          </a:prstGeom>
        </p:spPr>
      </p:pic>
      <p:sp>
        <p:nvSpPr>
          <p:cNvPr id="59" name="TextBox 58"/>
          <p:cNvSpPr txBox="1"/>
          <p:nvPr/>
        </p:nvSpPr>
        <p:spPr>
          <a:xfrm>
            <a:off x="8048625" y="1736673"/>
            <a:ext cx="3455032" cy="194310"/>
          </a:xfrm>
          <a:prstGeom prst="rect">
            <a:avLst/>
          </a:prstGeom>
          <a:noFill/>
        </p:spPr>
        <p:txBody>
          <a:bodyPr wrap="none" lIns="0" rIns="0" tIns="0" bIns="0">
            <a:spAutoFit/>
          </a:bodyPr>
          <a:lstStyle/>
          <a:p>
            <a:r>
              <a:rPr sz="1150" b="0">
                <a:solidFill>
                  <a:srgbClr val="2E2E2E"/>
                </a:solidFill>
                <a:latin typeface="Calibri"/>
              </a:rPr>
              <a:t>Camera-assisted removal devices segment is expected to</a:t>
            </a:r>
          </a:p>
        </p:txBody>
      </p:sp>
      <p:sp>
        <p:nvSpPr>
          <p:cNvPr id="60" name="TextBox 59"/>
          <p:cNvSpPr txBox="1"/>
          <p:nvPr/>
        </p:nvSpPr>
        <p:spPr>
          <a:xfrm>
            <a:off x="8048625" y="1911934"/>
            <a:ext cx="2627225" cy="194310"/>
          </a:xfrm>
          <a:prstGeom prst="rect">
            <a:avLst/>
          </a:prstGeom>
          <a:noFill/>
        </p:spPr>
        <p:txBody>
          <a:bodyPr wrap="none" lIns="0" rIns="0" tIns="0" bIns="0">
            <a:spAutoFit/>
          </a:bodyPr>
          <a:lstStyle/>
          <a:p>
            <a:r>
              <a:rPr sz="1150" b="0">
                <a:solidFill>
                  <a:srgbClr val="2E2E2E"/>
                </a:solidFill>
                <a:latin typeface="Calibri"/>
              </a:rPr>
              <a:t>command the highest average price of US$</a:t>
            </a:r>
          </a:p>
        </p:txBody>
      </p:sp>
      <p:pic>
        <p:nvPicPr>
          <p:cNvPr id="61" name="Picture 60" descr="lock.png"/>
          <p:cNvPicPr>
            <a:picLocks noChangeAspect="1"/>
          </p:cNvPicPr>
          <p:nvPr/>
        </p:nvPicPr>
        <p:blipFill>
          <a:blip r:embed="rId4"/>
          <a:stretch>
            <a:fillRect/>
          </a:stretch>
        </p:blipFill>
        <p:spPr>
          <a:xfrm>
            <a:off x="10625004" y="1901710"/>
            <a:ext cx="134549" cy="195707"/>
          </a:xfrm>
          <a:prstGeom prst="rect">
            <a:avLst/>
          </a:prstGeom>
        </p:spPr>
      </p:pic>
      <p:sp>
        <p:nvSpPr>
          <p:cNvPr id="62" name="TextBox 61"/>
          <p:cNvSpPr txBox="1"/>
          <p:nvPr/>
        </p:nvSpPr>
        <p:spPr>
          <a:xfrm>
            <a:off x="10800113" y="1911934"/>
            <a:ext cx="706611" cy="194310"/>
          </a:xfrm>
          <a:prstGeom prst="rect">
            <a:avLst/>
          </a:prstGeom>
          <a:noFill/>
        </p:spPr>
        <p:txBody>
          <a:bodyPr wrap="none" lIns="0" rIns="0" tIns="0" bIns="0">
            <a:spAutoFit/>
          </a:bodyPr>
          <a:lstStyle/>
          <a:p>
            <a:r>
              <a:rPr sz="1150" b="0">
                <a:solidFill>
                  <a:srgbClr val="2E2E2E"/>
                </a:solidFill>
                <a:latin typeface="Calibri"/>
              </a:rPr>
              <a:t>per Unit in</a:t>
            </a:r>
          </a:p>
        </p:txBody>
      </p:sp>
      <p:sp>
        <p:nvSpPr>
          <p:cNvPr id="63" name="TextBox 62"/>
          <p:cNvSpPr txBox="1"/>
          <p:nvPr/>
        </p:nvSpPr>
        <p:spPr>
          <a:xfrm>
            <a:off x="8048625" y="2087194"/>
            <a:ext cx="3522027" cy="194310"/>
          </a:xfrm>
          <a:prstGeom prst="rect">
            <a:avLst/>
          </a:prstGeom>
          <a:noFill/>
        </p:spPr>
        <p:txBody>
          <a:bodyPr wrap="none" lIns="0" rIns="0" tIns="0" bIns="0">
            <a:spAutoFit/>
          </a:bodyPr>
          <a:lstStyle/>
          <a:p>
            <a:r>
              <a:rPr sz="1150" b="0">
                <a:solidFill>
                  <a:srgbClr val="2E2E2E"/>
                </a:solidFill>
                <a:latin typeface="Calibri"/>
              </a:rPr>
              <a:t>2036. Average selling price of ear wax removal products is</a:t>
            </a:r>
          </a:p>
        </p:txBody>
      </p:sp>
      <p:sp>
        <p:nvSpPr>
          <p:cNvPr id="64" name="TextBox 63"/>
          <p:cNvSpPr txBox="1"/>
          <p:nvPr/>
        </p:nvSpPr>
        <p:spPr>
          <a:xfrm>
            <a:off x="8048625" y="2262454"/>
            <a:ext cx="1093985" cy="194310"/>
          </a:xfrm>
          <a:prstGeom prst="rect">
            <a:avLst/>
          </a:prstGeom>
          <a:noFill/>
        </p:spPr>
        <p:txBody>
          <a:bodyPr wrap="none" lIns="0" rIns="0" tIns="0" bIns="0">
            <a:spAutoFit/>
          </a:bodyPr>
          <a:lstStyle/>
          <a:p>
            <a:r>
              <a:rPr sz="1150" b="0">
                <a:solidFill>
                  <a:srgbClr val="2E2E2E"/>
                </a:solidFill>
                <a:latin typeface="Calibri"/>
              </a:rPr>
              <a:t>estimated at US$</a:t>
            </a:r>
          </a:p>
        </p:txBody>
      </p:sp>
      <p:pic>
        <p:nvPicPr>
          <p:cNvPr id="65" name="Picture 64" descr="lock.png"/>
          <p:cNvPicPr>
            <a:picLocks noChangeAspect="1"/>
          </p:cNvPicPr>
          <p:nvPr/>
        </p:nvPicPr>
        <p:blipFill>
          <a:blip r:embed="rId4"/>
          <a:stretch>
            <a:fillRect/>
          </a:stretch>
        </p:blipFill>
        <p:spPr>
          <a:xfrm>
            <a:off x="9091764" y="2252230"/>
            <a:ext cx="134549" cy="195707"/>
          </a:xfrm>
          <a:prstGeom prst="rect">
            <a:avLst/>
          </a:prstGeom>
        </p:spPr>
      </p:pic>
      <p:sp>
        <p:nvSpPr>
          <p:cNvPr id="66" name="TextBox 65"/>
          <p:cNvSpPr txBox="1"/>
          <p:nvPr/>
        </p:nvSpPr>
        <p:spPr>
          <a:xfrm>
            <a:off x="9266874" y="2262454"/>
            <a:ext cx="2181944" cy="194310"/>
          </a:xfrm>
          <a:prstGeom prst="rect">
            <a:avLst/>
          </a:prstGeom>
          <a:noFill/>
        </p:spPr>
        <p:txBody>
          <a:bodyPr wrap="none" lIns="0" rIns="0" tIns="0" bIns="0">
            <a:spAutoFit/>
          </a:bodyPr>
          <a:lstStyle/>
          <a:p>
            <a:r>
              <a:rPr sz="1150" b="0">
                <a:solidFill>
                  <a:srgbClr val="2E2E2E"/>
                </a:solidFill>
                <a:latin typeface="Calibri"/>
              </a:rPr>
              <a:t>per Unit in 2025 and is projected to</a:t>
            </a:r>
          </a:p>
        </p:txBody>
      </p:sp>
      <p:sp>
        <p:nvSpPr>
          <p:cNvPr id="67" name="TextBox 66"/>
          <p:cNvSpPr txBox="1"/>
          <p:nvPr/>
        </p:nvSpPr>
        <p:spPr>
          <a:xfrm>
            <a:off x="8048625" y="2437714"/>
            <a:ext cx="999281" cy="194310"/>
          </a:xfrm>
          <a:prstGeom prst="rect">
            <a:avLst/>
          </a:prstGeom>
          <a:noFill/>
        </p:spPr>
        <p:txBody>
          <a:bodyPr wrap="none" lIns="0" rIns="0" tIns="0" bIns="0">
            <a:spAutoFit/>
          </a:bodyPr>
          <a:lstStyle/>
          <a:p>
            <a:r>
              <a:rPr sz="1150" b="0">
                <a:solidFill>
                  <a:srgbClr val="2E2E2E"/>
                </a:solidFill>
                <a:latin typeface="Calibri"/>
              </a:rPr>
              <a:t>increase to US$</a:t>
            </a:r>
          </a:p>
        </p:txBody>
      </p:sp>
      <p:pic>
        <p:nvPicPr>
          <p:cNvPr id="68" name="Picture 67" descr="lock.png"/>
          <p:cNvPicPr>
            <a:picLocks noChangeAspect="1"/>
          </p:cNvPicPr>
          <p:nvPr/>
        </p:nvPicPr>
        <p:blipFill>
          <a:blip r:embed="rId4"/>
          <a:stretch>
            <a:fillRect/>
          </a:stretch>
        </p:blipFill>
        <p:spPr>
          <a:xfrm>
            <a:off x="8997060" y="2427490"/>
            <a:ext cx="134549" cy="195707"/>
          </a:xfrm>
          <a:prstGeom prst="rect">
            <a:avLst/>
          </a:prstGeom>
        </p:spPr>
      </p:pic>
      <p:sp>
        <p:nvSpPr>
          <p:cNvPr id="69" name="TextBox 68"/>
          <p:cNvSpPr txBox="1"/>
          <p:nvPr/>
        </p:nvSpPr>
        <p:spPr>
          <a:xfrm>
            <a:off x="9172169" y="2437714"/>
            <a:ext cx="1105681" cy="194310"/>
          </a:xfrm>
          <a:prstGeom prst="rect">
            <a:avLst/>
          </a:prstGeom>
          <a:noFill/>
        </p:spPr>
        <p:txBody>
          <a:bodyPr wrap="none" lIns="0" rIns="0" tIns="0" bIns="0">
            <a:spAutoFit/>
          </a:bodyPr>
          <a:lstStyle/>
          <a:p>
            <a:r>
              <a:rPr sz="1150" b="0">
                <a:solidFill>
                  <a:srgbClr val="2E2E2E"/>
                </a:solidFill>
                <a:latin typeface="Calibri"/>
              </a:rPr>
              <a:t>per Unit by 2036.</a:t>
            </a:r>
          </a:p>
        </p:txBody>
      </p:sp>
      <p:sp>
        <p:nvSpPr>
          <p:cNvPr id="70" name="TextBox 69"/>
          <p:cNvSpPr txBox="1"/>
          <p:nvPr/>
        </p:nvSpPr>
        <p:spPr>
          <a:xfrm>
            <a:off x="8048625" y="2665551"/>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71" name="TextBox 70"/>
          <p:cNvSpPr txBox="1"/>
          <p:nvPr/>
        </p:nvSpPr>
        <p:spPr>
          <a:xfrm>
            <a:off x="8048625" y="2840811"/>
            <a:ext cx="378735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The orange dot is</a:t>
            </a:r>
          </a:p>
        </p:txBody>
      </p:sp>
      <p:sp>
        <p:nvSpPr>
          <p:cNvPr id="72" name="TextBox 71"/>
          <p:cNvSpPr txBox="1"/>
          <p:nvPr/>
        </p:nvSpPr>
        <p:spPr>
          <a:xfrm>
            <a:off x="8048625" y="3016071"/>
            <a:ext cx="3517503" cy="194310"/>
          </a:xfrm>
          <a:prstGeom prst="rect">
            <a:avLst/>
          </a:prstGeom>
          <a:noFill/>
        </p:spPr>
        <p:txBody>
          <a:bodyPr wrap="none" lIns="0" rIns="0" tIns="0" bIns="0">
            <a:spAutoFit/>
          </a:bodyPr>
          <a:lstStyle/>
          <a:p>
            <a:r>
              <a:rPr sz="1150" b="0">
                <a:solidFill>
                  <a:srgbClr val="2E2E2E"/>
                </a:solidFill>
                <a:latin typeface="Calibri"/>
              </a:rPr>
              <a:t>each region's average selling price; the blue band is its full</a:t>
            </a:r>
          </a:p>
        </p:txBody>
      </p:sp>
      <p:sp>
        <p:nvSpPr>
          <p:cNvPr id="73" name="TextBox 72"/>
          <p:cNvSpPr txBox="1"/>
          <p:nvPr/>
        </p:nvSpPr>
        <p:spPr>
          <a:xfrm>
            <a:off x="8048625" y="3191331"/>
            <a:ext cx="3318395" cy="194310"/>
          </a:xfrm>
          <a:prstGeom prst="rect">
            <a:avLst/>
          </a:prstGeom>
          <a:noFill/>
        </p:spPr>
        <p:txBody>
          <a:bodyPr wrap="none" lIns="0" rIns="0" tIns="0" bIns="0">
            <a:spAutoFit/>
          </a:bodyPr>
          <a:lstStyle/>
          <a:p>
            <a:r>
              <a:rPr sz="1150" b="0">
                <a:solidFill>
                  <a:srgbClr val="2E2E2E"/>
                </a:solidFill>
                <a:latin typeface="Calibri"/>
              </a:rPr>
              <a:t>low-to-high price range, all derived as Value ÷ Volume.</a:t>
            </a:r>
          </a:p>
        </p:txBody>
      </p:sp>
      <p:sp>
        <p:nvSpPr>
          <p:cNvPr id="74" name="TextBox 73"/>
          <p:cNvSpPr txBox="1"/>
          <p:nvPr/>
        </p:nvSpPr>
        <p:spPr>
          <a:xfrm>
            <a:off x="8048625" y="3419169"/>
            <a:ext cx="3691793" cy="194310"/>
          </a:xfrm>
          <a:prstGeom prst="rect">
            <a:avLst/>
          </a:prstGeom>
          <a:noFill/>
        </p:spPr>
        <p:txBody>
          <a:bodyPr wrap="none" lIns="0" rIns="0" tIns="0" bIns="0">
            <a:spAutoFit/>
          </a:bodyPr>
          <a:lstStyle/>
          <a:p>
            <a:r>
              <a:rPr sz="1150" b="0">
                <a:solidFill>
                  <a:srgbClr val="2E2E2E"/>
                </a:solidFill>
                <a:latin typeface="Calibri"/>
              </a:rPr>
              <a:t>Narrow bands point to commoditised, price-led competition;</a:t>
            </a:r>
          </a:p>
        </p:txBody>
      </p:sp>
      <p:sp>
        <p:nvSpPr>
          <p:cNvPr id="75" name="TextBox 74"/>
          <p:cNvSpPr txBox="1"/>
          <p:nvPr/>
        </p:nvSpPr>
        <p:spPr>
          <a:xfrm>
            <a:off x="8048625" y="3594429"/>
            <a:ext cx="3812170" cy="194310"/>
          </a:xfrm>
          <a:prstGeom prst="rect">
            <a:avLst/>
          </a:prstGeom>
          <a:noFill/>
        </p:spPr>
        <p:txBody>
          <a:bodyPr wrap="none" lIns="0" rIns="0" tIns="0" bIns="0">
            <a:spAutoFit/>
          </a:bodyPr>
          <a:lstStyle/>
          <a:p>
            <a:r>
              <a:rPr sz="1150" b="0">
                <a:solidFill>
                  <a:srgbClr val="2E2E2E"/>
                </a:solidFill>
                <a:latin typeface="Calibri"/>
              </a:rPr>
              <a:t>wider bands flag premiumisation headroom to trade buyers up</a:t>
            </a:r>
          </a:p>
        </p:txBody>
      </p:sp>
      <p:sp>
        <p:nvSpPr>
          <p:cNvPr id="76" name="TextBox 75"/>
          <p:cNvSpPr txBox="1"/>
          <p:nvPr/>
        </p:nvSpPr>
        <p:spPr>
          <a:xfrm>
            <a:off x="8048625" y="3769689"/>
            <a:ext cx="558279" cy="194310"/>
          </a:xfrm>
          <a:prstGeom prst="rect">
            <a:avLst/>
          </a:prstGeom>
          <a:noFill/>
        </p:spPr>
        <p:txBody>
          <a:bodyPr wrap="none" lIns="0" rIns="0" tIns="0" bIns="0">
            <a:spAutoFit/>
          </a:bodyPr>
          <a:lstStyle/>
          <a:p>
            <a:r>
              <a:rPr sz="1150" b="0">
                <a:solidFill>
                  <a:srgbClr val="2E2E2E"/>
                </a:solidFill>
                <a:latin typeface="Calibri"/>
              </a:rPr>
              <a:t>the mix.</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Key Pricing Drivers Influencing Ear Wax Removal Products Market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input costs, market conditions and competitive forces shaping pricing strategies and profitability</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input costs, market conditions, and competitive forces shaping pricing strategies and profitability across the value chain</a:t>
            </a:r>
          </a:p>
        </p:txBody>
      </p:sp>
      <p:sp>
        <p:nvSpPr>
          <p:cNvPr id="11" name="Rounded Rectangle 10"/>
          <p:cNvSpPr/>
          <p:nvPr/>
        </p:nvSpPr>
        <p:spPr>
          <a:xfrm>
            <a:off x="142875" y="1354081"/>
            <a:ext cx="702945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6838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Impacting Factors</a:t>
            </a:r>
          </a:p>
        </p:txBody>
      </p:sp>
      <p:sp>
        <p:nvSpPr>
          <p:cNvPr id="13" name="Freeform 12"/>
          <p:cNvSpPr/>
          <p:nvPr/>
        </p:nvSpPr>
        <p:spPr>
          <a:xfrm>
            <a:off x="3295650" y="3705225"/>
            <a:ext cx="723900" cy="752475"/>
          </a:xfrm>
          <a:custGeom>
            <a:avLst/>
            <a:gdLst/>
            <a:ahLst/>
            <a:cxnLst/>
            <a:rect l="l" t="t" r="r" b="b"/>
            <a:pathLst>
              <a:path w="76" h="79">
                <a:moveTo>
                  <a:pt x="38" y="0"/>
                </a:moveTo>
                <a:lnTo>
                  <a:pt x="61" y="7"/>
                </a:lnTo>
                <a:lnTo>
                  <a:pt x="76" y="27"/>
                </a:lnTo>
                <a:lnTo>
                  <a:pt x="76" y="51"/>
                </a:lnTo>
                <a:lnTo>
                  <a:pt x="61" y="71"/>
                </a:lnTo>
                <a:lnTo>
                  <a:pt x="38" y="79"/>
                </a:lnTo>
                <a:lnTo>
                  <a:pt x="15" y="71"/>
                </a:lnTo>
                <a:lnTo>
                  <a:pt x="0" y="51"/>
                </a:lnTo>
                <a:lnTo>
                  <a:pt x="0" y="27"/>
                </a:lnTo>
                <a:lnTo>
                  <a:pt x="15" y="7"/>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943225" y="3324225"/>
            <a:ext cx="1428750" cy="1504950"/>
          </a:xfrm>
          <a:custGeom>
            <a:avLst/>
            <a:gdLst/>
            <a:ahLst/>
            <a:cxnLst/>
            <a:rect l="l" t="t" r="r" b="b"/>
            <a:pathLst>
              <a:path w="150" h="158">
                <a:moveTo>
                  <a:pt x="75" y="0"/>
                </a:moveTo>
                <a:lnTo>
                  <a:pt x="122" y="15"/>
                </a:lnTo>
                <a:lnTo>
                  <a:pt x="150" y="55"/>
                </a:lnTo>
                <a:lnTo>
                  <a:pt x="150" y="104"/>
                </a:lnTo>
                <a:lnTo>
                  <a:pt x="122" y="143"/>
                </a:lnTo>
                <a:lnTo>
                  <a:pt x="75" y="158"/>
                </a:lnTo>
                <a:lnTo>
                  <a:pt x="28" y="143"/>
                </a:lnTo>
                <a:lnTo>
                  <a:pt x="0" y="104"/>
                </a:lnTo>
                <a:lnTo>
                  <a:pt x="0" y="55"/>
                </a:lnTo>
                <a:lnTo>
                  <a:pt x="28" y="15"/>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581275" y="2943225"/>
            <a:ext cx="2152650" cy="2266950"/>
          </a:xfrm>
          <a:custGeom>
            <a:avLst/>
            <a:gdLst/>
            <a:ahLst/>
            <a:cxnLst/>
            <a:rect l="l" t="t" r="r" b="b"/>
            <a:pathLst>
              <a:path w="226" h="238">
                <a:moveTo>
                  <a:pt x="113" y="0"/>
                </a:moveTo>
                <a:lnTo>
                  <a:pt x="183" y="23"/>
                </a:lnTo>
                <a:lnTo>
                  <a:pt x="226" y="82"/>
                </a:lnTo>
                <a:lnTo>
                  <a:pt x="226" y="156"/>
                </a:lnTo>
                <a:lnTo>
                  <a:pt x="183" y="215"/>
                </a:lnTo>
                <a:lnTo>
                  <a:pt x="113" y="238"/>
                </a:lnTo>
                <a:lnTo>
                  <a:pt x="43" y="215"/>
                </a:lnTo>
                <a:lnTo>
                  <a:pt x="0" y="156"/>
                </a:lnTo>
                <a:lnTo>
                  <a:pt x="0" y="82"/>
                </a:lnTo>
                <a:lnTo>
                  <a:pt x="43" y="23"/>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219325" y="2571750"/>
            <a:ext cx="2876550" cy="3019425"/>
          </a:xfrm>
          <a:custGeom>
            <a:avLst/>
            <a:gdLst/>
            <a:ahLst/>
            <a:cxnLst/>
            <a:rect l="l" t="t" r="r" b="b"/>
            <a:pathLst>
              <a:path w="302" h="317">
                <a:moveTo>
                  <a:pt x="151" y="0"/>
                </a:moveTo>
                <a:lnTo>
                  <a:pt x="244" y="30"/>
                </a:lnTo>
                <a:lnTo>
                  <a:pt x="302" y="109"/>
                </a:lnTo>
                <a:lnTo>
                  <a:pt x="302" y="207"/>
                </a:lnTo>
                <a:lnTo>
                  <a:pt x="244" y="286"/>
                </a:lnTo>
                <a:lnTo>
                  <a:pt x="151" y="317"/>
                </a:lnTo>
                <a:lnTo>
                  <a:pt x="58" y="286"/>
                </a:lnTo>
                <a:lnTo>
                  <a:pt x="0" y="207"/>
                </a:lnTo>
                <a:lnTo>
                  <a:pt x="0" y="109"/>
                </a:lnTo>
                <a:lnTo>
                  <a:pt x="58" y="3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866900" y="2190750"/>
            <a:ext cx="3581400" cy="3771900"/>
          </a:xfrm>
          <a:custGeom>
            <a:avLst/>
            <a:gdLst/>
            <a:ahLst/>
            <a:cxnLst/>
            <a:rect l="l" t="t" r="r" b="b"/>
            <a:pathLst>
              <a:path w="376" h="396">
                <a:moveTo>
                  <a:pt x="188" y="0"/>
                </a:moveTo>
                <a:lnTo>
                  <a:pt x="304" y="38"/>
                </a:lnTo>
                <a:lnTo>
                  <a:pt x="376" y="137"/>
                </a:lnTo>
                <a:lnTo>
                  <a:pt x="376" y="259"/>
                </a:lnTo>
                <a:lnTo>
                  <a:pt x="304" y="358"/>
                </a:lnTo>
                <a:lnTo>
                  <a:pt x="188" y="396"/>
                </a:lnTo>
                <a:lnTo>
                  <a:pt x="72" y="358"/>
                </a:lnTo>
                <a:lnTo>
                  <a:pt x="0" y="259"/>
                </a:lnTo>
                <a:lnTo>
                  <a:pt x="0" y="137"/>
                </a:lnTo>
                <a:lnTo>
                  <a:pt x="72" y="38"/>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3657600" y="2192281"/>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657600"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657600"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657600"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657600"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657600" y="4078660"/>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548814"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863547"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1863547"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548814"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2495550" y="2381250"/>
            <a:ext cx="2505075" cy="3209925"/>
          </a:xfrm>
          <a:custGeom>
            <a:avLst/>
            <a:gdLst/>
            <a:ahLst/>
            <a:cxnLst/>
            <a:rect l="l" t="t" r="r" b="b"/>
            <a:pathLst>
              <a:path w="263" h="337">
                <a:moveTo>
                  <a:pt x="122" y="0"/>
                </a:moveTo>
                <a:lnTo>
                  <a:pt x="203" y="66"/>
                </a:lnTo>
                <a:lnTo>
                  <a:pt x="244" y="138"/>
                </a:lnTo>
                <a:lnTo>
                  <a:pt x="263" y="224"/>
                </a:lnTo>
                <a:lnTo>
                  <a:pt x="221" y="314"/>
                </a:lnTo>
                <a:lnTo>
                  <a:pt x="122" y="337"/>
                </a:lnTo>
                <a:lnTo>
                  <a:pt x="52" y="274"/>
                </a:lnTo>
                <a:lnTo>
                  <a:pt x="18" y="212"/>
                </a:lnTo>
                <a:lnTo>
                  <a:pt x="0" y="138"/>
                </a:lnTo>
                <a:lnTo>
                  <a:pt x="70" y="106"/>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624262" y="234758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400412" y="297704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790397"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969802" y="4482515"/>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566730" y="534251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24262" y="555442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958991" y="496099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637533" y="436593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458128"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125309" y="335857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86175" y="3634709"/>
            <a:ext cx="285750" cy="123825"/>
          </a:xfrm>
          <a:prstGeom prst="rect">
            <a:avLst/>
          </a:prstGeom>
          <a:noFill/>
        </p:spPr>
        <p:txBody>
          <a:bodyPr wrap="none" lIns="0" rIns="0" tIns="0" bIns="0" anchor="ctr">
            <a:spAutoFit/>
          </a:bodyPr>
          <a:lstStyle/>
          <a:p>
            <a:pPr algn="l"/>
            <a:r>
              <a:rPr sz="1100" b="0">
                <a:solidFill>
                  <a:srgbClr val="6C7A89"/>
                </a:solidFill>
                <a:latin typeface="Calibri"/>
              </a:rPr>
              <a:t>2</a:t>
            </a:r>
          </a:p>
        </p:txBody>
      </p:sp>
      <p:sp>
        <p:nvSpPr>
          <p:cNvPr id="40" name="TextBox 39"/>
          <p:cNvSpPr txBox="1"/>
          <p:nvPr/>
        </p:nvSpPr>
        <p:spPr>
          <a:xfrm>
            <a:off x="3686175" y="3257434"/>
            <a:ext cx="285750" cy="123825"/>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41" name="TextBox 40"/>
          <p:cNvSpPr txBox="1"/>
          <p:nvPr/>
        </p:nvSpPr>
        <p:spPr>
          <a:xfrm>
            <a:off x="3686175" y="2880158"/>
            <a:ext cx="285750" cy="123825"/>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42" name="TextBox 41"/>
          <p:cNvSpPr txBox="1"/>
          <p:nvPr/>
        </p:nvSpPr>
        <p:spPr>
          <a:xfrm>
            <a:off x="3686175" y="2502882"/>
            <a:ext cx="285750" cy="123825"/>
          </a:xfrm>
          <a:prstGeom prst="rect">
            <a:avLst/>
          </a:prstGeom>
          <a:noFill/>
        </p:spPr>
        <p:txBody>
          <a:bodyPr wrap="none" lIns="0" rIns="0" tIns="0" bIns="0" anchor="ctr">
            <a:spAutoFit/>
          </a:bodyPr>
          <a:lstStyle/>
          <a:p>
            <a:pPr algn="l"/>
            <a:r>
              <a:rPr sz="1100" b="0">
                <a:solidFill>
                  <a:srgbClr val="6C7A89"/>
                </a:solidFill>
                <a:latin typeface="Calibri"/>
              </a:rPr>
              <a:t>8</a:t>
            </a:r>
          </a:p>
        </p:txBody>
      </p:sp>
      <p:sp>
        <p:nvSpPr>
          <p:cNvPr id="43" name="TextBox 42"/>
          <p:cNvSpPr txBox="1"/>
          <p:nvPr/>
        </p:nvSpPr>
        <p:spPr>
          <a:xfrm>
            <a:off x="3686175" y="2125606"/>
            <a:ext cx="285750" cy="123825"/>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4" name="TextBox 43"/>
          <p:cNvSpPr txBox="1"/>
          <p:nvPr/>
        </p:nvSpPr>
        <p:spPr>
          <a:xfrm>
            <a:off x="3000375" y="1839856"/>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5" name="TextBox 44"/>
          <p:cNvSpPr txBox="1"/>
          <p:nvPr/>
        </p:nvSpPr>
        <p:spPr>
          <a:xfrm>
            <a:off x="4232331"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6" name="TextBox 45"/>
          <p:cNvSpPr txBox="1"/>
          <p:nvPr/>
        </p:nvSpPr>
        <p:spPr>
          <a:xfrm>
            <a:off x="4993722"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7" name="TextBox 46"/>
          <p:cNvSpPr txBox="1"/>
          <p:nvPr/>
        </p:nvSpPr>
        <p:spPr>
          <a:xfrm>
            <a:off x="4993722"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8" name="TextBox 47"/>
          <p:cNvSpPr txBox="1"/>
          <p:nvPr/>
        </p:nvSpPr>
        <p:spPr>
          <a:xfrm>
            <a:off x="4232331"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9" name="TextBox 48"/>
          <p:cNvSpPr txBox="1"/>
          <p:nvPr/>
        </p:nvSpPr>
        <p:spPr>
          <a:xfrm>
            <a:off x="3000375" y="6031714"/>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0" name="TextBox 49"/>
          <p:cNvSpPr txBox="1"/>
          <p:nvPr/>
        </p:nvSpPr>
        <p:spPr>
          <a:xfrm>
            <a:off x="1768419"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1" name="TextBox 50"/>
          <p:cNvSpPr txBox="1"/>
          <p:nvPr/>
        </p:nvSpPr>
        <p:spPr>
          <a:xfrm>
            <a:off x="1007028"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2" name="TextBox 51"/>
          <p:cNvSpPr txBox="1"/>
          <p:nvPr/>
        </p:nvSpPr>
        <p:spPr>
          <a:xfrm>
            <a:off x="1007028"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3" name="TextBox 52"/>
          <p:cNvSpPr txBox="1"/>
          <p:nvPr/>
        </p:nvSpPr>
        <p:spPr>
          <a:xfrm>
            <a:off x="1768419"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4" name="Rounded Rectangle 53"/>
          <p:cNvSpPr/>
          <p:nvPr/>
        </p:nvSpPr>
        <p:spPr>
          <a:xfrm>
            <a:off x="7248525" y="1354081"/>
            <a:ext cx="4800600" cy="3479443"/>
          </a:xfrm>
          <a:prstGeom prst="roundRect">
            <a:avLst>
              <a:gd name="adj" fmla="val 219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381875" y="1439806"/>
            <a:ext cx="453390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6" name="Rectangle 55"/>
          <p:cNvSpPr/>
          <p:nvPr/>
        </p:nvSpPr>
        <p:spPr>
          <a:xfrm>
            <a:off x="7381875" y="1677931"/>
            <a:ext cx="45339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81875" y="1763656"/>
            <a:ext cx="4533900" cy="2993668"/>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Pricing across the Ear Wax Removal Products Market is shaped by a mix of input costs, operational efficiency and market dynamics with raw-material and input costs carrying the single heaviest weight on selling prices today.</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Raw-material and input costs and demand and broader market conditions are the dominant cost pressures; as they fluctuate they feed directly into prices and squeeze margins along the value chain.</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Competitive intensity and supply-chain and logistics conditions are the next most influential forces helping offset cost inflation and setting how aggressively players can price without ceding share.</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Demand strength, competitive intensity and supply-chain reliability together define the ceiling on pricing power across the Ear Wax Removal Products Market.</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Regulatory, currency and brand factors add second-order effects while aftermarket and service costs exert the least pressure collectively creating a pricing balance that must be monitored to stay competitive and profitable.</a:t>
            </a:r>
          </a:p>
        </p:txBody>
      </p:sp>
      <p:sp>
        <p:nvSpPr>
          <p:cNvPr id="58" name="Rounded Rectangle 57"/>
          <p:cNvSpPr/>
          <p:nvPr/>
        </p:nvSpPr>
        <p:spPr>
          <a:xfrm>
            <a:off x="7248525" y="4943046"/>
            <a:ext cx="4800600" cy="1686354"/>
          </a:xfrm>
          <a:prstGeom prst="roundRect">
            <a:avLst>
              <a:gd name="adj" fmla="val 45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381875" y="5028771"/>
            <a:ext cx="4533900" cy="209550"/>
          </a:xfrm>
          <a:prstGeom prst="rect">
            <a:avLst/>
          </a:prstGeom>
          <a:noFill/>
        </p:spPr>
        <p:txBody>
          <a:bodyPr wrap="square" lIns="0" rIns="19050" tIns="9525" bIns="9525">
            <a:spAutoFit/>
          </a:bodyPr>
          <a:lstStyle/>
          <a:p>
            <a:pPr algn="l"/>
            <a:r>
              <a:rPr sz="1300" b="1">
                <a:solidFill>
                  <a:srgbClr val="0B2E4A"/>
                </a:solidFill>
                <a:latin typeface="Calibri"/>
              </a:rPr>
              <a:t>Highest-Impact Drivers</a:t>
            </a:r>
          </a:p>
        </p:txBody>
      </p:sp>
      <p:sp>
        <p:nvSpPr>
          <p:cNvPr id="60" name="Rectangle 59"/>
          <p:cNvSpPr/>
          <p:nvPr/>
        </p:nvSpPr>
        <p:spPr>
          <a:xfrm>
            <a:off x="7381875" y="5266896"/>
            <a:ext cx="45339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381875" y="5352621"/>
            <a:ext cx="4533900" cy="1200579"/>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3288771" y="1898910"/>
            <a:ext cx="659829" cy="186689"/>
          </a:xfrm>
          <a:prstGeom prst="rect">
            <a:avLst/>
          </a:prstGeom>
          <a:noFill/>
        </p:spPr>
        <p:txBody>
          <a:bodyPr wrap="none" lIns="0" rIns="0" tIns="0" bIns="0">
            <a:spAutoFit/>
          </a:bodyPr>
          <a:lstStyle/>
          <a:p>
            <a:r>
              <a:rPr sz="1100" b="0">
                <a:solidFill>
                  <a:srgbClr val="2E2E2E"/>
                </a:solidFill>
                <a:latin typeface="Calibri"/>
              </a:rPr>
              <a:t>Input Cost</a:t>
            </a:r>
          </a:p>
        </p:txBody>
      </p:sp>
      <p:pic>
        <p:nvPicPr>
          <p:cNvPr id="64" name="Picture 63" descr="lock.png"/>
          <p:cNvPicPr>
            <a:picLocks noChangeAspect="1"/>
          </p:cNvPicPr>
          <p:nvPr/>
        </p:nvPicPr>
        <p:blipFill>
          <a:blip r:embed="rId4"/>
          <a:stretch>
            <a:fillRect/>
          </a:stretch>
        </p:blipFill>
        <p:spPr>
          <a:xfrm>
            <a:off x="3896652" y="1889132"/>
            <a:ext cx="128699" cy="187198"/>
          </a:xfrm>
          <a:prstGeom prst="rect">
            <a:avLst/>
          </a:prstGeom>
        </p:spPr>
      </p:pic>
      <p:sp>
        <p:nvSpPr>
          <p:cNvPr id="65" name="TextBox 64"/>
          <p:cNvSpPr txBox="1"/>
          <p:nvPr/>
        </p:nvSpPr>
        <p:spPr>
          <a:xfrm>
            <a:off x="4314683" y="2322667"/>
            <a:ext cx="1115044" cy="139750"/>
          </a:xfrm>
          <a:prstGeom prst="rect">
            <a:avLst/>
          </a:prstGeom>
          <a:noFill/>
        </p:spPr>
        <p:txBody>
          <a:bodyPr wrap="none" lIns="0" rIns="0" tIns="0" bIns="0">
            <a:spAutoFit/>
          </a:bodyPr>
          <a:lstStyle/>
          <a:p>
            <a:r>
              <a:rPr sz="791" b="0">
                <a:solidFill>
                  <a:srgbClr val="2E2E2E"/>
                </a:solidFill>
                <a:latin typeface="Calibri"/>
              </a:rPr>
              <a:t>Labor &amp; Production Costs</a:t>
            </a:r>
          </a:p>
        </p:txBody>
      </p:sp>
      <p:pic>
        <p:nvPicPr>
          <p:cNvPr id="66" name="Picture 65" descr="lock.png"/>
          <p:cNvPicPr>
            <a:picLocks noChangeAspect="1"/>
          </p:cNvPicPr>
          <p:nvPr/>
        </p:nvPicPr>
        <p:blipFill>
          <a:blip r:embed="rId4"/>
          <a:stretch>
            <a:fillRect/>
          </a:stretch>
        </p:blipFill>
        <p:spPr>
          <a:xfrm>
            <a:off x="5370988" y="2315626"/>
            <a:ext cx="92663" cy="134782"/>
          </a:xfrm>
          <a:prstGeom prst="rect">
            <a:avLst/>
          </a:prstGeom>
        </p:spPr>
      </p:pic>
      <p:sp>
        <p:nvSpPr>
          <p:cNvPr id="67" name="TextBox 66"/>
          <p:cNvSpPr txBox="1"/>
          <p:nvPr/>
        </p:nvSpPr>
        <p:spPr>
          <a:xfrm>
            <a:off x="5083343" y="3370632"/>
            <a:ext cx="1100506" cy="139750"/>
          </a:xfrm>
          <a:prstGeom prst="rect">
            <a:avLst/>
          </a:prstGeom>
          <a:noFill/>
        </p:spPr>
        <p:txBody>
          <a:bodyPr wrap="none" lIns="0" rIns="0" tIns="0" bIns="0">
            <a:spAutoFit/>
          </a:bodyPr>
          <a:lstStyle/>
          <a:p>
            <a:r>
              <a:rPr sz="791" b="0">
                <a:solidFill>
                  <a:srgbClr val="2E2E2E"/>
                </a:solidFill>
                <a:latin typeface="Calibri"/>
              </a:rPr>
              <a:t>Technology &amp; Innovation</a:t>
            </a:r>
          </a:p>
        </p:txBody>
      </p:sp>
      <p:pic>
        <p:nvPicPr>
          <p:cNvPr id="68" name="Picture 67" descr="lock.png"/>
          <p:cNvPicPr>
            <a:picLocks noChangeAspect="1"/>
          </p:cNvPicPr>
          <p:nvPr/>
        </p:nvPicPr>
        <p:blipFill>
          <a:blip r:embed="rId4"/>
          <a:stretch>
            <a:fillRect/>
          </a:stretch>
        </p:blipFill>
        <p:spPr>
          <a:xfrm>
            <a:off x="6125111" y="3363591"/>
            <a:ext cx="92663" cy="134782"/>
          </a:xfrm>
          <a:prstGeom prst="rect">
            <a:avLst/>
          </a:prstGeom>
        </p:spPr>
      </p:pic>
      <p:sp>
        <p:nvSpPr>
          <p:cNvPr id="69" name="TextBox 68"/>
          <p:cNvSpPr txBox="1"/>
          <p:nvPr/>
        </p:nvSpPr>
        <p:spPr>
          <a:xfrm>
            <a:off x="5072546" y="4662634"/>
            <a:ext cx="1115939" cy="146456"/>
          </a:xfrm>
          <a:prstGeom prst="rect">
            <a:avLst/>
          </a:prstGeom>
          <a:noFill/>
        </p:spPr>
        <p:txBody>
          <a:bodyPr wrap="none" lIns="0" rIns="0" tIns="0" bIns="0">
            <a:spAutoFit/>
          </a:bodyPr>
          <a:lstStyle/>
          <a:p>
            <a:r>
              <a:rPr sz="835" b="0">
                <a:solidFill>
                  <a:srgbClr val="2E2E2E"/>
                </a:solidFill>
                <a:latin typeface="Calibri"/>
              </a:rPr>
              <a:t>Supply Chain &amp; Logistics</a:t>
            </a:r>
          </a:p>
        </p:txBody>
      </p:sp>
      <p:pic>
        <p:nvPicPr>
          <p:cNvPr id="70" name="Picture 69" descr="lock.png"/>
          <p:cNvPicPr>
            <a:picLocks noChangeAspect="1"/>
          </p:cNvPicPr>
          <p:nvPr/>
        </p:nvPicPr>
        <p:blipFill>
          <a:blip r:embed="rId4"/>
          <a:stretch>
            <a:fillRect/>
          </a:stretch>
        </p:blipFill>
        <p:spPr>
          <a:xfrm>
            <a:off x="6130716" y="4655202"/>
            <a:ext cx="97811" cy="142270"/>
          </a:xfrm>
          <a:prstGeom prst="rect">
            <a:avLst/>
          </a:prstGeom>
        </p:spPr>
      </p:pic>
      <p:sp>
        <p:nvSpPr>
          <p:cNvPr id="71" name="TextBox 70"/>
          <p:cNvSpPr txBox="1"/>
          <p:nvPr/>
        </p:nvSpPr>
        <p:spPr>
          <a:xfrm>
            <a:off x="4279667" y="5653601"/>
            <a:ext cx="1238538" cy="139750"/>
          </a:xfrm>
          <a:prstGeom prst="rect">
            <a:avLst/>
          </a:prstGeom>
          <a:noFill/>
        </p:spPr>
        <p:txBody>
          <a:bodyPr wrap="none" lIns="0" rIns="0" tIns="0" bIns="0">
            <a:spAutoFit/>
          </a:bodyPr>
          <a:lstStyle/>
          <a:p>
            <a:r>
              <a:rPr sz="791" b="0">
                <a:solidFill>
                  <a:srgbClr val="2E2E2E"/>
                </a:solidFill>
                <a:latin typeface="Calibri"/>
              </a:rPr>
              <a:t>Demand &amp; Market Conditions</a:t>
            </a:r>
          </a:p>
        </p:txBody>
      </p:sp>
      <p:pic>
        <p:nvPicPr>
          <p:cNvPr id="72" name="Picture 71" descr="lock.png"/>
          <p:cNvPicPr>
            <a:picLocks noChangeAspect="1"/>
          </p:cNvPicPr>
          <p:nvPr/>
        </p:nvPicPr>
        <p:blipFill>
          <a:blip r:embed="rId4"/>
          <a:stretch>
            <a:fillRect/>
          </a:stretch>
        </p:blipFill>
        <p:spPr>
          <a:xfrm>
            <a:off x="4837988" y="5767261"/>
            <a:ext cx="92663" cy="134782"/>
          </a:xfrm>
          <a:prstGeom prst="rect">
            <a:avLst/>
          </a:prstGeom>
        </p:spPr>
      </p:pic>
      <p:sp>
        <p:nvSpPr>
          <p:cNvPr id="73" name="TextBox 72"/>
          <p:cNvSpPr txBox="1"/>
          <p:nvPr/>
        </p:nvSpPr>
        <p:spPr>
          <a:xfrm>
            <a:off x="3097033" y="6110885"/>
            <a:ext cx="1080271" cy="146456"/>
          </a:xfrm>
          <a:prstGeom prst="rect">
            <a:avLst/>
          </a:prstGeom>
          <a:noFill/>
        </p:spPr>
        <p:txBody>
          <a:bodyPr wrap="none" lIns="0" rIns="0" tIns="0" bIns="0">
            <a:spAutoFit/>
          </a:bodyPr>
          <a:lstStyle/>
          <a:p>
            <a:r>
              <a:rPr sz="835" b="0">
                <a:solidFill>
                  <a:srgbClr val="2E2E2E"/>
                </a:solidFill>
                <a:latin typeface="Calibri"/>
              </a:rPr>
              <a:t>Competitive Landscape</a:t>
            </a:r>
          </a:p>
        </p:txBody>
      </p:sp>
      <p:pic>
        <p:nvPicPr>
          <p:cNvPr id="74" name="Picture 73" descr="lock.png"/>
          <p:cNvPicPr>
            <a:picLocks noChangeAspect="1"/>
          </p:cNvPicPr>
          <p:nvPr/>
        </p:nvPicPr>
        <p:blipFill>
          <a:blip r:embed="rId4"/>
          <a:stretch>
            <a:fillRect/>
          </a:stretch>
        </p:blipFill>
        <p:spPr>
          <a:xfrm>
            <a:off x="4119536" y="6103453"/>
            <a:ext cx="97811" cy="142270"/>
          </a:xfrm>
          <a:prstGeom prst="rect">
            <a:avLst/>
          </a:prstGeom>
        </p:spPr>
      </p:pic>
      <p:sp>
        <p:nvSpPr>
          <p:cNvPr id="75" name="TextBox 74"/>
          <p:cNvSpPr txBox="1"/>
          <p:nvPr/>
        </p:nvSpPr>
        <p:spPr>
          <a:xfrm>
            <a:off x="1906713" y="5653601"/>
            <a:ext cx="1114061" cy="139750"/>
          </a:xfrm>
          <a:prstGeom prst="rect">
            <a:avLst/>
          </a:prstGeom>
          <a:noFill/>
        </p:spPr>
        <p:txBody>
          <a:bodyPr wrap="none" lIns="0" rIns="0" tIns="0" bIns="0">
            <a:spAutoFit/>
          </a:bodyPr>
          <a:lstStyle/>
          <a:p>
            <a:r>
              <a:rPr sz="791" b="0">
                <a:solidFill>
                  <a:srgbClr val="2E2E2E"/>
                </a:solidFill>
                <a:latin typeface="Calibri"/>
              </a:rPr>
              <a:t>Regulatory &amp; Compliance</a:t>
            </a:r>
          </a:p>
        </p:txBody>
      </p:sp>
      <p:sp>
        <p:nvSpPr>
          <p:cNvPr id="76" name="TextBox 75"/>
          <p:cNvSpPr txBox="1"/>
          <p:nvPr/>
        </p:nvSpPr>
        <p:spPr>
          <a:xfrm>
            <a:off x="2260671" y="5774302"/>
            <a:ext cx="295245" cy="139750"/>
          </a:xfrm>
          <a:prstGeom prst="rect">
            <a:avLst/>
          </a:prstGeom>
          <a:noFill/>
        </p:spPr>
        <p:txBody>
          <a:bodyPr wrap="none" lIns="0" rIns="0" tIns="0" bIns="0">
            <a:spAutoFit/>
          </a:bodyPr>
          <a:lstStyle/>
          <a:p>
            <a:r>
              <a:rPr sz="791" b="0">
                <a:solidFill>
                  <a:srgbClr val="2E2E2E"/>
                </a:solidFill>
                <a:latin typeface="Calibri"/>
              </a:rPr>
              <a:t>Costs</a:t>
            </a:r>
          </a:p>
        </p:txBody>
      </p:sp>
      <p:pic>
        <p:nvPicPr>
          <p:cNvPr id="77" name="Picture 76" descr="lock.png"/>
          <p:cNvPicPr>
            <a:picLocks noChangeAspect="1"/>
          </p:cNvPicPr>
          <p:nvPr/>
        </p:nvPicPr>
        <p:blipFill>
          <a:blip r:embed="rId4"/>
          <a:stretch>
            <a:fillRect/>
          </a:stretch>
        </p:blipFill>
        <p:spPr>
          <a:xfrm>
            <a:off x="2497177" y="5767261"/>
            <a:ext cx="92663" cy="134782"/>
          </a:xfrm>
          <a:prstGeom prst="rect">
            <a:avLst/>
          </a:prstGeom>
        </p:spPr>
      </p:pic>
      <p:sp>
        <p:nvSpPr>
          <p:cNvPr id="78" name="TextBox 77"/>
          <p:cNvSpPr txBox="1"/>
          <p:nvPr/>
        </p:nvSpPr>
        <p:spPr>
          <a:xfrm>
            <a:off x="1097191" y="4605637"/>
            <a:ext cx="1195711" cy="139750"/>
          </a:xfrm>
          <a:prstGeom prst="rect">
            <a:avLst/>
          </a:prstGeom>
          <a:noFill/>
        </p:spPr>
        <p:txBody>
          <a:bodyPr wrap="none" lIns="0" rIns="0" tIns="0" bIns="0">
            <a:spAutoFit/>
          </a:bodyPr>
          <a:lstStyle/>
          <a:p>
            <a:r>
              <a:rPr sz="791" b="0">
                <a:solidFill>
                  <a:srgbClr val="2E2E2E"/>
                </a:solidFill>
                <a:latin typeface="Calibri"/>
              </a:rPr>
              <a:t>Currency &amp; Trade Dynamics</a:t>
            </a:r>
          </a:p>
        </p:txBody>
      </p:sp>
      <p:pic>
        <p:nvPicPr>
          <p:cNvPr id="79" name="Picture 78" descr="lock.png"/>
          <p:cNvPicPr>
            <a:picLocks noChangeAspect="1"/>
          </p:cNvPicPr>
          <p:nvPr/>
        </p:nvPicPr>
        <p:blipFill>
          <a:blip r:embed="rId4"/>
          <a:stretch>
            <a:fillRect/>
          </a:stretch>
        </p:blipFill>
        <p:spPr>
          <a:xfrm>
            <a:off x="1612685" y="4719297"/>
            <a:ext cx="92663" cy="134782"/>
          </a:xfrm>
          <a:prstGeom prst="rect">
            <a:avLst/>
          </a:prstGeom>
        </p:spPr>
      </p:pic>
      <p:sp>
        <p:nvSpPr>
          <p:cNvPr id="80" name="TextBox 79"/>
          <p:cNvSpPr txBox="1"/>
          <p:nvPr/>
        </p:nvSpPr>
        <p:spPr>
          <a:xfrm>
            <a:off x="1079852" y="3370632"/>
            <a:ext cx="1134100" cy="139750"/>
          </a:xfrm>
          <a:prstGeom prst="rect">
            <a:avLst/>
          </a:prstGeom>
          <a:noFill/>
        </p:spPr>
        <p:txBody>
          <a:bodyPr wrap="none" lIns="0" rIns="0" tIns="0" bIns="0">
            <a:spAutoFit/>
          </a:bodyPr>
          <a:lstStyle/>
          <a:p>
            <a:r>
              <a:rPr sz="791" b="0">
                <a:solidFill>
                  <a:srgbClr val="2E2E2E"/>
                </a:solidFill>
                <a:latin typeface="Calibri"/>
              </a:rPr>
              <a:t>Brand &amp; Value Perception</a:t>
            </a:r>
          </a:p>
        </p:txBody>
      </p:sp>
      <p:pic>
        <p:nvPicPr>
          <p:cNvPr id="81" name="Picture 80" descr="lock.png"/>
          <p:cNvPicPr>
            <a:picLocks noChangeAspect="1"/>
          </p:cNvPicPr>
          <p:nvPr/>
        </p:nvPicPr>
        <p:blipFill>
          <a:blip r:embed="rId4"/>
          <a:stretch>
            <a:fillRect/>
          </a:stretch>
        </p:blipFill>
        <p:spPr>
          <a:xfrm>
            <a:off x="2155213" y="3363591"/>
            <a:ext cx="92663" cy="134782"/>
          </a:xfrm>
          <a:prstGeom prst="rect">
            <a:avLst/>
          </a:prstGeom>
        </p:spPr>
      </p:pic>
      <p:sp>
        <p:nvSpPr>
          <p:cNvPr id="82" name="TextBox 81"/>
          <p:cNvSpPr txBox="1"/>
          <p:nvPr/>
        </p:nvSpPr>
        <p:spPr>
          <a:xfrm>
            <a:off x="1850723" y="2262317"/>
            <a:ext cx="1203570" cy="139750"/>
          </a:xfrm>
          <a:prstGeom prst="rect">
            <a:avLst/>
          </a:prstGeom>
          <a:noFill/>
        </p:spPr>
        <p:txBody>
          <a:bodyPr wrap="none" lIns="0" rIns="0" tIns="0" bIns="0">
            <a:spAutoFit/>
          </a:bodyPr>
          <a:lstStyle/>
          <a:p>
            <a:r>
              <a:rPr sz="791" b="0">
                <a:solidFill>
                  <a:srgbClr val="2E2E2E"/>
                </a:solidFill>
                <a:latin typeface="Calibri"/>
              </a:rPr>
              <a:t>Aftermarket &amp; Service Costs</a:t>
            </a:r>
          </a:p>
        </p:txBody>
      </p:sp>
      <p:pic>
        <p:nvPicPr>
          <p:cNvPr id="83" name="Picture 82" descr="lock.png"/>
          <p:cNvPicPr>
            <a:picLocks noChangeAspect="1"/>
          </p:cNvPicPr>
          <p:nvPr/>
        </p:nvPicPr>
        <p:blipFill>
          <a:blip r:embed="rId4"/>
          <a:stretch>
            <a:fillRect/>
          </a:stretch>
        </p:blipFill>
        <p:spPr>
          <a:xfrm>
            <a:off x="2374076" y="2375977"/>
            <a:ext cx="92663" cy="134782"/>
          </a:xfrm>
          <a:prstGeom prst="rect">
            <a:avLst/>
          </a:prstGeom>
        </p:spPr>
      </p:pic>
      <p:sp>
        <p:nvSpPr>
          <p:cNvPr id="84" name="TextBox 83"/>
          <p:cNvSpPr txBox="1"/>
          <p:nvPr/>
        </p:nvSpPr>
        <p:spPr>
          <a:xfrm>
            <a:off x="7381875" y="5362146"/>
            <a:ext cx="740866" cy="186689"/>
          </a:xfrm>
          <a:prstGeom prst="rect">
            <a:avLst/>
          </a:prstGeom>
          <a:noFill/>
        </p:spPr>
        <p:txBody>
          <a:bodyPr wrap="none" lIns="0" rIns="0" tIns="0" bIns="0">
            <a:spAutoFit/>
          </a:bodyPr>
          <a:lstStyle/>
          <a:p>
            <a:r>
              <a:rPr sz="1100" b="0">
                <a:solidFill>
                  <a:srgbClr val="2E2E2E"/>
                </a:solidFill>
                <a:latin typeface="Calibri"/>
              </a:rPr>
              <a:t>▪ Input Cost</a:t>
            </a:r>
          </a:p>
        </p:txBody>
      </p:sp>
      <p:pic>
        <p:nvPicPr>
          <p:cNvPr id="85" name="Picture 84" descr="lock.png"/>
          <p:cNvPicPr>
            <a:picLocks noChangeAspect="1"/>
          </p:cNvPicPr>
          <p:nvPr/>
        </p:nvPicPr>
        <p:blipFill>
          <a:blip r:embed="rId4"/>
          <a:stretch>
            <a:fillRect/>
          </a:stretch>
        </p:blipFill>
        <p:spPr>
          <a:xfrm>
            <a:off x="8070793" y="5352366"/>
            <a:ext cx="128699" cy="187198"/>
          </a:xfrm>
          <a:prstGeom prst="rect">
            <a:avLst/>
          </a:prstGeom>
        </p:spPr>
      </p:pic>
      <p:sp>
        <p:nvSpPr>
          <p:cNvPr id="86" name="TextBox 85"/>
          <p:cNvSpPr txBox="1"/>
          <p:nvPr/>
        </p:nvSpPr>
        <p:spPr>
          <a:xfrm>
            <a:off x="8238288" y="5362146"/>
            <a:ext cx="1744141" cy="186689"/>
          </a:xfrm>
          <a:prstGeom prst="rect">
            <a:avLst/>
          </a:prstGeom>
          <a:noFill/>
        </p:spPr>
        <p:txBody>
          <a:bodyPr wrap="none" lIns="0" rIns="0" tIns="0" bIns="0">
            <a:spAutoFit/>
          </a:bodyPr>
          <a:lstStyle/>
          <a:p>
            <a:r>
              <a:rPr sz="1100" b="0">
                <a:solidFill>
                  <a:srgbClr val="2E2E2E"/>
                </a:solidFill>
                <a:latin typeface="Calibri"/>
              </a:rPr>
              <a:t>/ 10 · dominant cost pressure</a:t>
            </a:r>
          </a:p>
        </p:txBody>
      </p:sp>
      <p:sp>
        <p:nvSpPr>
          <p:cNvPr id="87" name="TextBox 86"/>
          <p:cNvSpPr txBox="1"/>
          <p:nvPr/>
        </p:nvSpPr>
        <p:spPr>
          <a:xfrm>
            <a:off x="7381875" y="5580078"/>
            <a:ext cx="1851372" cy="186689"/>
          </a:xfrm>
          <a:prstGeom prst="rect">
            <a:avLst/>
          </a:prstGeom>
          <a:noFill/>
        </p:spPr>
        <p:txBody>
          <a:bodyPr wrap="none" lIns="0" rIns="0" tIns="0" bIns="0">
            <a:spAutoFit/>
          </a:bodyPr>
          <a:lstStyle/>
          <a:p>
            <a:r>
              <a:rPr sz="1100" b="0">
                <a:solidFill>
                  <a:srgbClr val="2E2E2E"/>
                </a:solidFill>
                <a:latin typeface="Calibri"/>
              </a:rPr>
              <a:t>▪ Demand &amp; Market Conditions</a:t>
            </a:r>
          </a:p>
        </p:txBody>
      </p:sp>
      <p:pic>
        <p:nvPicPr>
          <p:cNvPr id="88" name="Picture 87" descr="lock.png"/>
          <p:cNvPicPr>
            <a:picLocks noChangeAspect="1"/>
          </p:cNvPicPr>
          <p:nvPr/>
        </p:nvPicPr>
        <p:blipFill>
          <a:blip r:embed="rId4"/>
          <a:stretch>
            <a:fillRect/>
          </a:stretch>
        </p:blipFill>
        <p:spPr>
          <a:xfrm>
            <a:off x="9181298" y="5570298"/>
            <a:ext cx="128699" cy="187198"/>
          </a:xfrm>
          <a:prstGeom prst="rect">
            <a:avLst/>
          </a:prstGeom>
        </p:spPr>
      </p:pic>
      <p:sp>
        <p:nvSpPr>
          <p:cNvPr id="89" name="TextBox 88"/>
          <p:cNvSpPr txBox="1"/>
          <p:nvPr/>
        </p:nvSpPr>
        <p:spPr>
          <a:xfrm>
            <a:off x="9348794" y="5580078"/>
            <a:ext cx="1527224" cy="186689"/>
          </a:xfrm>
          <a:prstGeom prst="rect">
            <a:avLst/>
          </a:prstGeom>
          <a:noFill/>
        </p:spPr>
        <p:txBody>
          <a:bodyPr wrap="none" lIns="0" rIns="0" tIns="0" bIns="0">
            <a:spAutoFit/>
          </a:bodyPr>
          <a:lstStyle/>
          <a:p>
            <a:r>
              <a:rPr sz="1100" b="0">
                <a:solidFill>
                  <a:srgbClr val="2E2E2E"/>
                </a:solidFill>
                <a:latin typeface="Calibri"/>
              </a:rPr>
              <a:t>/ 10 · major cost pressure</a:t>
            </a:r>
          </a:p>
        </p:txBody>
      </p:sp>
      <p:sp>
        <p:nvSpPr>
          <p:cNvPr id="90" name="TextBox 89"/>
          <p:cNvSpPr txBox="1"/>
          <p:nvPr/>
        </p:nvSpPr>
        <p:spPr>
          <a:xfrm>
            <a:off x="7381875" y="5798010"/>
            <a:ext cx="1478384" cy="186689"/>
          </a:xfrm>
          <a:prstGeom prst="rect">
            <a:avLst/>
          </a:prstGeom>
          <a:noFill/>
        </p:spPr>
        <p:txBody>
          <a:bodyPr wrap="none" lIns="0" rIns="0" tIns="0" bIns="0">
            <a:spAutoFit/>
          </a:bodyPr>
          <a:lstStyle/>
          <a:p>
            <a:r>
              <a:rPr sz="1100" b="0">
                <a:solidFill>
                  <a:srgbClr val="2E2E2E"/>
                </a:solidFill>
                <a:latin typeface="Calibri"/>
              </a:rPr>
              <a:t>▪ Competitive Landscape</a:t>
            </a:r>
          </a:p>
        </p:txBody>
      </p:sp>
      <p:pic>
        <p:nvPicPr>
          <p:cNvPr id="91" name="Picture 90" descr="lock.png"/>
          <p:cNvPicPr>
            <a:picLocks noChangeAspect="1"/>
          </p:cNvPicPr>
          <p:nvPr/>
        </p:nvPicPr>
        <p:blipFill>
          <a:blip r:embed="rId4"/>
          <a:stretch>
            <a:fillRect/>
          </a:stretch>
        </p:blipFill>
        <p:spPr>
          <a:xfrm>
            <a:off x="8808310" y="5788230"/>
            <a:ext cx="128699" cy="187198"/>
          </a:xfrm>
          <a:prstGeom prst="rect">
            <a:avLst/>
          </a:prstGeom>
        </p:spPr>
      </p:pic>
      <p:sp>
        <p:nvSpPr>
          <p:cNvPr id="92" name="TextBox 91"/>
          <p:cNvSpPr txBox="1"/>
          <p:nvPr/>
        </p:nvSpPr>
        <p:spPr>
          <a:xfrm>
            <a:off x="8975806" y="5798010"/>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3" name="TextBox 92"/>
          <p:cNvSpPr txBox="1"/>
          <p:nvPr/>
        </p:nvSpPr>
        <p:spPr>
          <a:xfrm>
            <a:off x="7381875" y="6015942"/>
            <a:ext cx="1525314" cy="186689"/>
          </a:xfrm>
          <a:prstGeom prst="rect">
            <a:avLst/>
          </a:prstGeom>
          <a:noFill/>
        </p:spPr>
        <p:txBody>
          <a:bodyPr wrap="none" lIns="0" rIns="0" tIns="0" bIns="0">
            <a:spAutoFit/>
          </a:bodyPr>
          <a:lstStyle/>
          <a:p>
            <a:r>
              <a:rPr sz="1100" b="0">
                <a:solidFill>
                  <a:srgbClr val="2E2E2E"/>
                </a:solidFill>
                <a:latin typeface="Calibri"/>
              </a:rPr>
              <a:t>▪ Supply Chain &amp; Logistics</a:t>
            </a:r>
          </a:p>
        </p:txBody>
      </p:sp>
      <p:pic>
        <p:nvPicPr>
          <p:cNvPr id="94" name="Picture 93" descr="lock.png"/>
          <p:cNvPicPr>
            <a:picLocks noChangeAspect="1"/>
          </p:cNvPicPr>
          <p:nvPr/>
        </p:nvPicPr>
        <p:blipFill>
          <a:blip r:embed="rId4"/>
          <a:stretch>
            <a:fillRect/>
          </a:stretch>
        </p:blipFill>
        <p:spPr>
          <a:xfrm>
            <a:off x="8855241" y="6006162"/>
            <a:ext cx="128699" cy="187198"/>
          </a:xfrm>
          <a:prstGeom prst="rect">
            <a:avLst/>
          </a:prstGeom>
        </p:spPr>
      </p:pic>
      <p:sp>
        <p:nvSpPr>
          <p:cNvPr id="95" name="TextBox 94"/>
          <p:cNvSpPr txBox="1"/>
          <p:nvPr/>
        </p:nvSpPr>
        <p:spPr>
          <a:xfrm>
            <a:off x="9022737" y="6015942"/>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6" name="TextBox 95"/>
          <p:cNvSpPr txBox="1"/>
          <p:nvPr/>
        </p:nvSpPr>
        <p:spPr>
          <a:xfrm>
            <a:off x="7381875" y="6233874"/>
            <a:ext cx="1600075" cy="186689"/>
          </a:xfrm>
          <a:prstGeom prst="rect">
            <a:avLst/>
          </a:prstGeom>
          <a:noFill/>
        </p:spPr>
        <p:txBody>
          <a:bodyPr wrap="none" lIns="0" rIns="0" tIns="0" bIns="0">
            <a:spAutoFit/>
          </a:bodyPr>
          <a:lstStyle/>
          <a:p>
            <a:r>
              <a:rPr sz="1100" b="0">
                <a:solidFill>
                  <a:srgbClr val="2E2E2E"/>
                </a:solidFill>
                <a:latin typeface="Calibri"/>
              </a:rPr>
              <a:t>▪ Labor &amp; Production Costs</a:t>
            </a:r>
          </a:p>
        </p:txBody>
      </p:sp>
      <p:pic>
        <p:nvPicPr>
          <p:cNvPr id="97" name="Picture 96" descr="lock.png"/>
          <p:cNvPicPr>
            <a:picLocks noChangeAspect="1"/>
          </p:cNvPicPr>
          <p:nvPr/>
        </p:nvPicPr>
        <p:blipFill>
          <a:blip r:embed="rId4"/>
          <a:stretch>
            <a:fillRect/>
          </a:stretch>
        </p:blipFill>
        <p:spPr>
          <a:xfrm>
            <a:off x="8930002" y="6224094"/>
            <a:ext cx="128699" cy="187198"/>
          </a:xfrm>
          <a:prstGeom prst="rect">
            <a:avLst/>
          </a:prstGeom>
        </p:spPr>
      </p:pic>
      <p:sp>
        <p:nvSpPr>
          <p:cNvPr id="98" name="TextBox 97"/>
          <p:cNvSpPr txBox="1"/>
          <p:nvPr/>
        </p:nvSpPr>
        <p:spPr>
          <a:xfrm>
            <a:off x="9097498" y="6233874"/>
            <a:ext cx="1387524" cy="186689"/>
          </a:xfrm>
          <a:prstGeom prst="rect">
            <a:avLst/>
          </a:prstGeom>
          <a:noFill/>
        </p:spPr>
        <p:txBody>
          <a:bodyPr wrap="none" lIns="0" rIns="0" tIns="0" bIns="0">
            <a:spAutoFit/>
          </a:bodyPr>
          <a:lstStyle/>
          <a:p>
            <a:r>
              <a:rPr sz="1100" b="0">
                <a:solidFill>
                  <a:srgbClr val="2E2E2E"/>
                </a:solidFill>
                <a:latin typeface="Calibri"/>
              </a:rPr>
              <a:t>/ 10 · supporting factor</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Factors Impacting Pricing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Factors affecting the pricing decision of the product: category, price impact, direction of pressure and rationale</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The cost, demand, efficiency and regulatory forces shaping and impacting achievable selling prices grouped by category, with each factor's direction, impact and score.</a:t>
            </a:r>
          </a:p>
        </p:txBody>
      </p:sp>
      <p:sp>
        <p:nvSpPr>
          <p:cNvPr id="11" name="Rounded Rectangle 10"/>
          <p:cNvSpPr/>
          <p:nvPr/>
        </p:nvSpPr>
        <p:spPr>
          <a:xfrm>
            <a:off x="142875" y="1314450"/>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1390650"/>
          <a:ext cx="11887199" cy="2981326"/>
        </p:xfrm>
        <a:graphic>
          <a:graphicData uri="http://schemas.openxmlformats.org/drawingml/2006/table">
            <a:tbl>
              <a:tblPr>
                <a:tableStyleId>{5C22544A-7EE6-4342-B048-85BDC9FD1C3A}</a:tableStyleId>
              </a:tblPr>
              <a:tblGrid>
                <a:gridCol w="2561515"/>
                <a:gridCol w="2697613"/>
                <a:gridCol w="1098187"/>
                <a:gridCol w="1211368"/>
                <a:gridCol w="1098187"/>
                <a:gridCol w="3220329"/>
              </a:tblGrid>
              <a:tr h="246126">
                <a:tc>
                  <a:txBody>
                    <a:bodyPr wrap="none"/>
                    <a:lstStyle/>
                    <a:p>
                      <a:pPr algn="l"/>
                      <a:r>
                        <a:rPr sz="1100" b="1">
                          <a:solidFill>
                            <a:srgbClr val="0B2E4A"/>
                          </a:solidFill>
                          <a:latin typeface="Calibri"/>
                        </a:rPr>
                        <a:t>Factor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Category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Price Impact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Score (0–10)</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How It Shapes Price</a:t>
                      </a:r>
                      <a:endParaRPr sz="1100"/>
                    </a:p>
                  </a:txBody>
                  <a:tcPr marL="47625" marR="38100" marT="19050" marB="19050" anchor="ctr">
                    <a:solidFill>
                      <a:srgbClr val="E0E8EF"/>
                    </a:solidFill>
                  </a:tcPr>
                </a:tc>
              </a:tr>
              <a:tr h="27352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Raw-material and input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Labour and production expenses.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Supply-chain and logistics conditions.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and broader market conditions.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Competitive intensity.</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Brand strength and value perception.</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Technology and process innovation.</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Aftermarket and service costs.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and compliance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Currency and trade dynamics.</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3815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7529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838700"/>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the Factors Imply</a:t>
            </a:r>
          </a:p>
        </p:txBody>
      </p:sp>
      <p:sp>
        <p:nvSpPr>
          <p:cNvPr id="16" name="Rectangle 15"/>
          <p:cNvSpPr/>
          <p:nvPr/>
        </p:nvSpPr>
        <p:spPr>
          <a:xfrm>
            <a:off x="276225" y="50768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162550"/>
            <a:ext cx="11639550" cy="1304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8102155" y="2764346"/>
            <a:ext cx="330041" cy="480060"/>
          </a:xfrm>
          <a:prstGeom prst="rect">
            <a:avLst/>
          </a:prstGeom>
        </p:spPr>
      </p:pic>
      <p:sp>
        <p:nvSpPr>
          <p:cNvPr id="20" name="TextBox 19"/>
          <p:cNvSpPr txBox="1"/>
          <p:nvPr/>
        </p:nvSpPr>
        <p:spPr>
          <a:xfrm>
            <a:off x="276225" y="5172075"/>
            <a:ext cx="5425566" cy="194310"/>
          </a:xfrm>
          <a:prstGeom prst="rect">
            <a:avLst/>
          </a:prstGeom>
          <a:noFill/>
        </p:spPr>
        <p:txBody>
          <a:bodyPr wrap="none" lIns="0" rIns="0" tIns="0" bIns="0">
            <a:spAutoFit/>
          </a:bodyPr>
          <a:lstStyle/>
          <a:p>
            <a:r>
              <a:rPr sz="1150" b="0">
                <a:solidFill>
                  <a:srgbClr val="2E2E2E"/>
                </a:solidFill>
                <a:latin typeface="Calibri"/>
              </a:rPr>
              <a:t>▪ Input Cost and Demand &amp; Market Conditions carry the heaviest weight on selling prices (</a:t>
            </a:r>
          </a:p>
        </p:txBody>
      </p:sp>
      <p:pic>
        <p:nvPicPr>
          <p:cNvPr id="21" name="Picture 20" descr="lock.png"/>
          <p:cNvPicPr>
            <a:picLocks noChangeAspect="1"/>
          </p:cNvPicPr>
          <p:nvPr/>
        </p:nvPicPr>
        <p:blipFill>
          <a:blip r:embed="rId4"/>
          <a:stretch>
            <a:fillRect/>
          </a:stretch>
        </p:blipFill>
        <p:spPr>
          <a:xfrm>
            <a:off x="5650945" y="5161851"/>
            <a:ext cx="134549" cy="195707"/>
          </a:xfrm>
          <a:prstGeom prst="rect">
            <a:avLst/>
          </a:prstGeom>
        </p:spPr>
      </p:pic>
      <p:sp>
        <p:nvSpPr>
          <p:cNvPr id="22" name="TextBox 21"/>
          <p:cNvSpPr txBox="1"/>
          <p:nvPr/>
        </p:nvSpPr>
        <p:spPr>
          <a:xfrm>
            <a:off x="5826054" y="5172075"/>
            <a:ext cx="299553" cy="194310"/>
          </a:xfrm>
          <a:prstGeom prst="rect">
            <a:avLst/>
          </a:prstGeom>
          <a:noFill/>
        </p:spPr>
        <p:txBody>
          <a:bodyPr wrap="none" lIns="0" rIns="0" tIns="0" bIns="0">
            <a:spAutoFit/>
          </a:bodyPr>
          <a:lstStyle/>
          <a:p>
            <a:r>
              <a:rPr sz="1150" b="0">
                <a:solidFill>
                  <a:srgbClr val="2E2E2E"/>
                </a:solidFill>
                <a:latin typeface="Calibri"/>
              </a:rPr>
              <a:t>and</a:t>
            </a:r>
          </a:p>
        </p:txBody>
      </p:sp>
      <p:pic>
        <p:nvPicPr>
          <p:cNvPr id="23" name="Picture 22" descr="lock.png"/>
          <p:cNvPicPr>
            <a:picLocks noChangeAspect="1"/>
          </p:cNvPicPr>
          <p:nvPr/>
        </p:nvPicPr>
        <p:blipFill>
          <a:blip r:embed="rId4"/>
          <a:stretch>
            <a:fillRect/>
          </a:stretch>
        </p:blipFill>
        <p:spPr>
          <a:xfrm>
            <a:off x="6074762" y="5161851"/>
            <a:ext cx="134549" cy="195707"/>
          </a:xfrm>
          <a:prstGeom prst="rect">
            <a:avLst/>
          </a:prstGeom>
        </p:spPr>
      </p:pic>
      <p:sp>
        <p:nvSpPr>
          <p:cNvPr id="24" name="TextBox 23"/>
          <p:cNvSpPr txBox="1"/>
          <p:nvPr/>
        </p:nvSpPr>
        <p:spPr>
          <a:xfrm>
            <a:off x="6249871" y="5172075"/>
            <a:ext cx="395113" cy="194310"/>
          </a:xfrm>
          <a:prstGeom prst="rect">
            <a:avLst/>
          </a:prstGeom>
          <a:noFill/>
        </p:spPr>
        <p:txBody>
          <a:bodyPr wrap="none" lIns="0" rIns="0" tIns="0" bIns="0">
            <a:spAutoFit/>
          </a:bodyPr>
          <a:lstStyle/>
          <a:p>
            <a:r>
              <a:rPr sz="1150" b="0">
                <a:solidFill>
                  <a:srgbClr val="2E2E2E"/>
                </a:solidFill>
                <a:latin typeface="Calibri"/>
              </a:rPr>
              <a:t>/ 10).</a:t>
            </a:r>
          </a:p>
        </p:txBody>
      </p:sp>
      <p:sp>
        <p:nvSpPr>
          <p:cNvPr id="25" name="TextBox 24"/>
          <p:cNvSpPr txBox="1"/>
          <p:nvPr/>
        </p:nvSpPr>
        <p:spPr>
          <a:xfrm>
            <a:off x="276225" y="5399913"/>
            <a:ext cx="8333444" cy="194310"/>
          </a:xfrm>
          <a:prstGeom prst="rect">
            <a:avLst/>
          </a:prstGeom>
          <a:noFill/>
        </p:spPr>
        <p:txBody>
          <a:bodyPr wrap="none" lIns="0" rIns="0" tIns="0" bIns="0">
            <a:spAutoFit/>
          </a:bodyPr>
          <a:lstStyle/>
          <a:p>
            <a:r>
              <a:rPr sz="1150" b="0">
                <a:solidFill>
                  <a:srgbClr val="2E2E2E"/>
                </a:solidFill>
                <a:latin typeface="Calibri"/>
              </a:rPr>
              <a:t>▪ 8 of 10 factors exert upward pressure on price; the rest pull prices down chiefly Technology &amp; Innovation and the Competitive Landscape.</a:t>
            </a:r>
          </a:p>
        </p:txBody>
      </p:sp>
      <p:sp>
        <p:nvSpPr>
          <p:cNvPr id="26" name="TextBox 25"/>
          <p:cNvSpPr txBox="1"/>
          <p:nvPr/>
        </p:nvSpPr>
        <p:spPr>
          <a:xfrm>
            <a:off x="276225" y="5627750"/>
            <a:ext cx="8053610" cy="194310"/>
          </a:xfrm>
          <a:prstGeom prst="rect">
            <a:avLst/>
          </a:prstGeom>
          <a:noFill/>
        </p:spPr>
        <p:txBody>
          <a:bodyPr wrap="none" lIns="0" rIns="0" tIns="0" bIns="0">
            <a:spAutoFit/>
          </a:bodyPr>
          <a:lstStyle/>
          <a:p>
            <a:r>
              <a:rPr sz="1150" b="0">
                <a:solidFill>
                  <a:srgbClr val="2E2E2E"/>
                </a:solidFill>
                <a:latin typeface="Calibri"/>
              </a:rPr>
              <a:t>▪ Cost-side factors set the price floor; demand, brand and competitive forces determine how much of that cost can be passed through.</a:t>
            </a:r>
          </a:p>
        </p:txBody>
      </p:sp>
      <p:sp>
        <p:nvSpPr>
          <p:cNvPr id="27" name="TextBox 26"/>
          <p:cNvSpPr txBox="1"/>
          <p:nvPr/>
        </p:nvSpPr>
        <p:spPr>
          <a:xfrm>
            <a:off x="276225" y="5855588"/>
            <a:ext cx="7048375" cy="194310"/>
          </a:xfrm>
          <a:prstGeom prst="rect">
            <a:avLst/>
          </a:prstGeom>
          <a:noFill/>
        </p:spPr>
        <p:txBody>
          <a:bodyPr wrap="none" lIns="0" rIns="0" tIns="0" bIns="0">
            <a:spAutoFit/>
          </a:bodyPr>
          <a:lstStyle/>
          <a:p>
            <a:r>
              <a:rPr sz="1150" b="0">
                <a:solidFill>
                  <a:srgbClr val="2E2E2E"/>
                </a:solidFill>
                <a:latin typeface="Calibri"/>
              </a:rPr>
              <a:t>▪ Aftermarket &amp; Service Costs exerts the least pressure a second-order effect to monitor rather than actively manage.</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Regional Price Assessment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price assessment across the value chain, from manufacturer to retail, and average price by geography, 2026–2036</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price assessment across the value chain (US$/Units) and price trajectory to 2036.</a:t>
            </a:r>
          </a:p>
        </p:txBody>
      </p:sp>
      <p:sp>
        <p:nvSpPr>
          <p:cNvPr id="11" name="Rounded Rectangle 10"/>
          <p:cNvSpPr/>
          <p:nvPr/>
        </p:nvSpPr>
        <p:spPr>
          <a:xfrm>
            <a:off x="142875" y="1317574"/>
            <a:ext cx="590550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Regional Price by Value-Chain Level (US$/Units)</a:t>
            </a:r>
          </a:p>
        </p:txBody>
      </p:sp>
      <p:graphicFrame>
        <p:nvGraphicFramePr>
          <p:cNvPr id="13" name="Table 12"/>
          <p:cNvGraphicFramePr>
            <a:graphicFrameLocks noGrp="1"/>
          </p:cNvGraphicFramePr>
          <p:nvPr/>
        </p:nvGraphicFramePr>
        <p:xfrm>
          <a:off x="152400" y="1574749"/>
          <a:ext cx="5886452" cy="2271330"/>
        </p:xfrm>
        <a:graphic>
          <a:graphicData uri="http://schemas.openxmlformats.org/drawingml/2006/table">
            <a:tbl>
              <a:tblPr>
                <a:tableStyleId>{5C22544A-7EE6-4342-B048-85BDC9FD1C3A}</a:tableStyleId>
              </a:tblPr>
              <a:tblGrid>
                <a:gridCol w="1370904"/>
                <a:gridCol w="1128887"/>
                <a:gridCol w="1128887"/>
                <a:gridCol w="1128887"/>
                <a:gridCol w="1128887"/>
              </a:tblGrid>
              <a:tr h="246126">
                <a:tc>
                  <a:txBody>
                    <a:bodyPr wrap="none"/>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Manufacturer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Distribution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Retail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 Margin (%)</a:t>
                      </a:r>
                      <a:endParaRPr sz="1100"/>
                    </a:p>
                  </a:txBody>
                  <a:tcPr marL="47625" marR="38100" marT="19050" marB="19050" anchor="ctr">
                    <a:solidFill>
                      <a:srgbClr val="E0E8EF"/>
                    </a:solidFill>
                  </a:tcPr>
                </a:tc>
              </a:tr>
              <a:tr h="337534">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855604"/>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6200775" y="1317574"/>
            <a:ext cx="584835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6025" y="1374724"/>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by Geography (US$/Units)</a:t>
            </a:r>
          </a:p>
        </p:txBody>
      </p:sp>
      <p:graphicFrame>
        <p:nvGraphicFramePr>
          <p:cNvPr id="17" name="Table 16"/>
          <p:cNvGraphicFramePr>
            <a:graphicFrameLocks noGrp="1"/>
          </p:cNvGraphicFramePr>
          <p:nvPr/>
        </p:nvGraphicFramePr>
        <p:xfrm>
          <a:off x="6210300" y="1574749"/>
          <a:ext cx="5829298" cy="2271330"/>
        </p:xfrm>
        <a:graphic>
          <a:graphicData uri="http://schemas.openxmlformats.org/drawingml/2006/table">
            <a:tbl>
              <a:tblPr>
                <a:tableStyleId>{5C22544A-7EE6-4342-B048-85BDC9FD1C3A}</a:tableStyleId>
              </a:tblPr>
              <a:tblGrid>
                <a:gridCol w="2418330"/>
                <a:gridCol w="852742"/>
                <a:gridCol w="852742"/>
                <a:gridCol w="852742"/>
                <a:gridCol w="852742"/>
              </a:tblGrid>
              <a:tr h="246126">
                <a:tc>
                  <a:txBody>
                    <a:bodyPr wrap="none"/>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337534">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8" name="TextBox 17"/>
          <p:cNvSpPr txBox="1"/>
          <p:nvPr/>
        </p:nvSpPr>
        <p:spPr>
          <a:xfrm>
            <a:off x="6276975" y="3855604"/>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142875" y="4201658"/>
            <a:ext cx="119062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287383"/>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This Section Covers</a:t>
            </a:r>
          </a:p>
        </p:txBody>
      </p:sp>
      <p:sp>
        <p:nvSpPr>
          <p:cNvPr id="21" name="Rectangle 20"/>
          <p:cNvSpPr/>
          <p:nvPr/>
        </p:nvSpPr>
        <p:spPr>
          <a:xfrm>
            <a:off x="276225" y="4525508"/>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611233"/>
            <a:ext cx="116395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Manufacturer-level pricing ex-works / producer price benchmarked for each geography.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Distribution &amp; channel pricing logistics and channel margin layered onto the producer price.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Retail / end-market pricing the average price paid by the end customer across geographies.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Value-chain margin build-up cumulative margin from manufacturer to retail, by geography (prices derived as Value ÷ Volume).</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3594387" y="2566777"/>
            <a:ext cx="366712" cy="533399"/>
          </a:xfrm>
          <a:prstGeom prst="rect">
            <a:avLst/>
          </a:prstGeom>
        </p:spPr>
      </p:pic>
      <p:pic>
        <p:nvPicPr>
          <p:cNvPr id="25" name="Picture 24" descr="lock.png"/>
          <p:cNvPicPr>
            <a:picLocks noChangeAspect="1"/>
          </p:cNvPicPr>
          <p:nvPr/>
        </p:nvPicPr>
        <p:blipFill>
          <a:blip r:embed="rId4"/>
          <a:stretch>
            <a:fillRect/>
          </a:stretch>
        </p:blipFill>
        <p:spPr>
          <a:xfrm>
            <a:off x="10147424" y="2566777"/>
            <a:ext cx="366712" cy="533400"/>
          </a:xfrm>
          <a:prstGeom prst="rect">
            <a:avLst/>
          </a:prstGeom>
        </p:spPr>
      </p:pic>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Global Pricing Benchmarking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price range by region and sub-segment against the weighted average price of each region</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Development-stage price assumptions and manufacturer benchmarking price range by product type type and region (US$/Units).</a:t>
            </a:r>
          </a:p>
        </p:txBody>
      </p:sp>
      <p:sp>
        <p:nvSpPr>
          <p:cNvPr id="11" name="Rounded Rectangle 10"/>
          <p:cNvSpPr/>
          <p:nvPr/>
        </p:nvSpPr>
        <p:spPr>
          <a:xfrm>
            <a:off x="142875" y="1314450"/>
            <a:ext cx="11906250" cy="2971800"/>
          </a:xfrm>
          <a:prstGeom prst="roundRect">
            <a:avLst>
              <a:gd name="adj" fmla="val 256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16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Benchmarking by Region &amp; Product Type (US$/Units)</a:t>
            </a:r>
          </a:p>
        </p:txBody>
      </p:sp>
      <p:graphicFrame>
        <p:nvGraphicFramePr>
          <p:cNvPr id="13" name="Table 12"/>
          <p:cNvGraphicFramePr>
            <a:graphicFrameLocks noGrp="1"/>
          </p:cNvGraphicFramePr>
          <p:nvPr/>
        </p:nvGraphicFramePr>
        <p:xfrm>
          <a:off x="152400" y="1571625"/>
          <a:ext cx="11888475" cy="2505072"/>
        </p:xfrm>
        <a:graphic>
          <a:graphicData uri="http://schemas.openxmlformats.org/drawingml/2006/table">
            <a:tbl>
              <a:tblPr>
                <a:tableStyleId>{5C22544A-7EE6-4342-B048-85BDC9FD1C3A}</a:tableStyleId>
              </a:tblPr>
              <a:tblGrid>
                <a:gridCol w="1348921"/>
                <a:gridCol w="836907"/>
                <a:gridCol w="836907"/>
                <a:gridCol w="1769743"/>
                <a:gridCol w="1291948"/>
                <a:gridCol w="1780243"/>
                <a:gridCol w="1692736"/>
                <a:gridCol w="1456095"/>
                <a:gridCol w="874975"/>
              </a:tblGrid>
              <a:tr h="438912">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Ear Drops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Ear Sprays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Irrigation Devices and Accessories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Manual Removal Tools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Camera-Assisted Removal Devices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Suction Devices and Accessories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Combination Removal Kits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Weighted Avg</a:t>
                      </a:r>
                      <a:endParaRPr sz="1100"/>
                    </a:p>
                  </a:txBody>
                  <a:tcPr marL="47625" marR="38100" marT="19050" marB="19050" anchor="ctr">
                    <a:solidFill>
                      <a:srgbClr val="E0E8EF"/>
                    </a:solidFill>
                  </a:tcPr>
                </a:tc>
              </a:tr>
              <a:tr h="344360">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44360">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44360">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44360">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44360">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44360">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40862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438650"/>
            <a:ext cx="11906250" cy="2105025"/>
          </a:xfrm>
          <a:prstGeom prst="roundRect">
            <a:avLst>
              <a:gd name="adj" fmla="val 36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524375"/>
            <a:ext cx="11639550" cy="209550"/>
          </a:xfrm>
          <a:prstGeom prst="rect">
            <a:avLst/>
          </a:prstGeom>
          <a:noFill/>
        </p:spPr>
        <p:txBody>
          <a:bodyPr wrap="square" lIns="0" rIns="19050" tIns="9525" bIns="9525">
            <a:spAutoFit/>
          </a:bodyPr>
          <a:lstStyle/>
          <a:p>
            <a:pPr algn="l"/>
            <a:r>
              <a:rPr sz="1300" b="1">
                <a:solidFill>
                  <a:srgbClr val="0B2E4A"/>
                </a:solidFill>
                <a:latin typeface="Calibri"/>
              </a:rPr>
              <a:t>Benchmarking Insights</a:t>
            </a:r>
          </a:p>
        </p:txBody>
      </p:sp>
      <p:sp>
        <p:nvSpPr>
          <p:cNvPr id="17" name="Rectangle 16"/>
          <p:cNvSpPr/>
          <p:nvPr/>
        </p:nvSpPr>
        <p:spPr>
          <a:xfrm>
            <a:off x="276225" y="47625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848225"/>
            <a:ext cx="11639550" cy="16192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576076" y="2776917"/>
            <a:ext cx="366712" cy="533400"/>
          </a:xfrm>
          <a:prstGeom prst="rect">
            <a:avLst/>
          </a:prstGeom>
        </p:spPr>
      </p:pic>
      <p:sp>
        <p:nvSpPr>
          <p:cNvPr id="21" name="TextBox 20"/>
          <p:cNvSpPr txBox="1"/>
          <p:nvPr/>
        </p:nvSpPr>
        <p:spPr>
          <a:xfrm>
            <a:off x="276225" y="4857750"/>
            <a:ext cx="4641688" cy="194310"/>
          </a:xfrm>
          <a:prstGeom prst="rect">
            <a:avLst/>
          </a:prstGeom>
          <a:noFill/>
        </p:spPr>
        <p:txBody>
          <a:bodyPr wrap="none" lIns="0" rIns="0" tIns="0" bIns="0">
            <a:spAutoFit/>
          </a:bodyPr>
          <a:lstStyle/>
          <a:p>
            <a:r>
              <a:rPr sz="1150" b="0">
                <a:solidFill>
                  <a:srgbClr val="2E2E2E"/>
                </a:solidFill>
                <a:latin typeface="Calibri"/>
              </a:rPr>
              <a:t>▪ On a weighted-average basis 'North America' is the highest-priced region (~</a:t>
            </a:r>
          </a:p>
        </p:txBody>
      </p:sp>
      <p:pic>
        <p:nvPicPr>
          <p:cNvPr id="22" name="Picture 21" descr="lock.png"/>
          <p:cNvPicPr>
            <a:picLocks noChangeAspect="1"/>
          </p:cNvPicPr>
          <p:nvPr/>
        </p:nvPicPr>
        <p:blipFill>
          <a:blip r:embed="rId4"/>
          <a:stretch>
            <a:fillRect/>
          </a:stretch>
        </p:blipFill>
        <p:spPr>
          <a:xfrm>
            <a:off x="4867067" y="4847526"/>
            <a:ext cx="134549" cy="195707"/>
          </a:xfrm>
          <a:prstGeom prst="rect">
            <a:avLst/>
          </a:prstGeom>
        </p:spPr>
      </p:pic>
      <p:sp>
        <p:nvSpPr>
          <p:cNvPr id="23" name="TextBox 22"/>
          <p:cNvSpPr txBox="1"/>
          <p:nvPr/>
        </p:nvSpPr>
        <p:spPr>
          <a:xfrm>
            <a:off x="5042176" y="4857750"/>
            <a:ext cx="3704629" cy="194310"/>
          </a:xfrm>
          <a:prstGeom prst="rect">
            <a:avLst/>
          </a:prstGeom>
          <a:noFill/>
        </p:spPr>
        <p:txBody>
          <a:bodyPr wrap="none" lIns="0" rIns="0" tIns="0" bIns="0">
            <a:spAutoFit/>
          </a:bodyPr>
          <a:lstStyle/>
          <a:p>
            <a:r>
              <a:rPr sz="1150" b="0">
                <a:solidFill>
                  <a:srgbClr val="2E2E2E"/>
                </a:solidFill>
                <a:latin typeface="Calibri"/>
              </a:rPr>
              <a:t>US$/Units) and 'South Asia &amp; Pacific' the most competitive (~</a:t>
            </a:r>
          </a:p>
        </p:txBody>
      </p:sp>
      <p:pic>
        <p:nvPicPr>
          <p:cNvPr id="24" name="Picture 23" descr="lock.png"/>
          <p:cNvPicPr>
            <a:picLocks noChangeAspect="1"/>
          </p:cNvPicPr>
          <p:nvPr/>
        </p:nvPicPr>
        <p:blipFill>
          <a:blip r:embed="rId4"/>
          <a:stretch>
            <a:fillRect/>
          </a:stretch>
        </p:blipFill>
        <p:spPr>
          <a:xfrm>
            <a:off x="8695960" y="4847526"/>
            <a:ext cx="134549" cy="195707"/>
          </a:xfrm>
          <a:prstGeom prst="rect">
            <a:avLst/>
          </a:prstGeom>
        </p:spPr>
      </p:pic>
      <p:sp>
        <p:nvSpPr>
          <p:cNvPr id="25" name="TextBox 24"/>
          <p:cNvSpPr txBox="1"/>
          <p:nvPr/>
        </p:nvSpPr>
        <p:spPr>
          <a:xfrm>
            <a:off x="8871069" y="4857750"/>
            <a:ext cx="759097" cy="194310"/>
          </a:xfrm>
          <a:prstGeom prst="rect">
            <a:avLst/>
          </a:prstGeom>
          <a:noFill/>
        </p:spPr>
        <p:txBody>
          <a:bodyPr wrap="none" lIns="0" rIns="0" tIns="0" bIns="0">
            <a:spAutoFit/>
          </a:bodyPr>
          <a:lstStyle/>
          <a:p>
            <a:r>
              <a:rPr sz="1150" b="0">
                <a:solidFill>
                  <a:srgbClr val="2E2E2E"/>
                </a:solidFill>
                <a:latin typeface="Calibri"/>
              </a:rPr>
              <a:t>US$/Units).</a:t>
            </a:r>
          </a:p>
        </p:txBody>
      </p:sp>
      <p:sp>
        <p:nvSpPr>
          <p:cNvPr id="26" name="TextBox 25"/>
          <p:cNvSpPr txBox="1"/>
          <p:nvPr/>
        </p:nvSpPr>
        <p:spPr>
          <a:xfrm>
            <a:off x="276225" y="5085588"/>
            <a:ext cx="5929610" cy="194310"/>
          </a:xfrm>
          <a:prstGeom prst="rect">
            <a:avLst/>
          </a:prstGeom>
          <a:noFill/>
        </p:spPr>
        <p:txBody>
          <a:bodyPr wrap="none" lIns="0" rIns="0" tIns="0" bIns="0">
            <a:spAutoFit/>
          </a:bodyPr>
          <a:lstStyle/>
          <a:p>
            <a:r>
              <a:rPr sz="1150" b="0">
                <a:solidFill>
                  <a:srgbClr val="2E2E2E"/>
                </a:solidFill>
                <a:latin typeface="Calibri"/>
              </a:rPr>
              <a:t>▪ Price ranges are benchmarked per product type type at 2026, derived as Value ÷ Volume with a ±</a:t>
            </a:r>
          </a:p>
        </p:txBody>
      </p:sp>
      <p:pic>
        <p:nvPicPr>
          <p:cNvPr id="27" name="Picture 26" descr="lock.png"/>
          <p:cNvPicPr>
            <a:picLocks noChangeAspect="1"/>
          </p:cNvPicPr>
          <p:nvPr/>
        </p:nvPicPr>
        <p:blipFill>
          <a:blip r:embed="rId4"/>
          <a:stretch>
            <a:fillRect/>
          </a:stretch>
        </p:blipFill>
        <p:spPr>
          <a:xfrm>
            <a:off x="6154989" y="5075364"/>
            <a:ext cx="134549" cy="195707"/>
          </a:xfrm>
          <a:prstGeom prst="rect">
            <a:avLst/>
          </a:prstGeom>
        </p:spPr>
      </p:pic>
      <p:sp>
        <p:nvSpPr>
          <p:cNvPr id="28" name="TextBox 27"/>
          <p:cNvSpPr txBox="1"/>
          <p:nvPr/>
        </p:nvSpPr>
        <p:spPr>
          <a:xfrm>
            <a:off x="6330098" y="5085588"/>
            <a:ext cx="1455117" cy="194310"/>
          </a:xfrm>
          <a:prstGeom prst="rect">
            <a:avLst/>
          </a:prstGeom>
          <a:noFill/>
        </p:spPr>
        <p:txBody>
          <a:bodyPr wrap="none" lIns="0" rIns="0" tIns="0" bIns="0">
            <a:spAutoFit/>
          </a:bodyPr>
          <a:lstStyle/>
          <a:p>
            <a:r>
              <a:rPr sz="1150" b="0">
                <a:solidFill>
                  <a:srgbClr val="2E2E2E"/>
                </a:solidFill>
                <a:latin typeface="Calibri"/>
              </a:rPr>
              <a:t>observed trading band.</a:t>
            </a:r>
          </a:p>
        </p:txBody>
      </p:sp>
      <p:sp>
        <p:nvSpPr>
          <p:cNvPr id="29" name="TextBox 28"/>
          <p:cNvSpPr txBox="1"/>
          <p:nvPr/>
        </p:nvSpPr>
        <p:spPr>
          <a:xfrm>
            <a:off x="276225" y="5313425"/>
            <a:ext cx="2140867" cy="194310"/>
          </a:xfrm>
          <a:prstGeom prst="rect">
            <a:avLst/>
          </a:prstGeom>
          <a:noFill/>
        </p:spPr>
        <p:txBody>
          <a:bodyPr wrap="none" lIns="0" rIns="0" tIns="0" bIns="0">
            <a:spAutoFit/>
          </a:bodyPr>
          <a:lstStyle/>
          <a:p>
            <a:r>
              <a:rPr sz="1150" b="0">
                <a:solidFill>
                  <a:srgbClr val="2E2E2E"/>
                </a:solidFill>
                <a:latin typeface="Calibri"/>
              </a:rPr>
              <a:t>▪ Cross-region price dispersion of ~</a:t>
            </a:r>
          </a:p>
        </p:txBody>
      </p:sp>
      <p:pic>
        <p:nvPicPr>
          <p:cNvPr id="30" name="Picture 29" descr="lock.png"/>
          <p:cNvPicPr>
            <a:picLocks noChangeAspect="1"/>
          </p:cNvPicPr>
          <p:nvPr/>
        </p:nvPicPr>
        <p:blipFill>
          <a:blip r:embed="rId4"/>
          <a:stretch>
            <a:fillRect/>
          </a:stretch>
        </p:blipFill>
        <p:spPr>
          <a:xfrm>
            <a:off x="2366246" y="5303202"/>
            <a:ext cx="134549" cy="195707"/>
          </a:xfrm>
          <a:prstGeom prst="rect">
            <a:avLst/>
          </a:prstGeom>
        </p:spPr>
      </p:pic>
      <p:sp>
        <p:nvSpPr>
          <p:cNvPr id="31" name="TextBox 30"/>
          <p:cNvSpPr txBox="1"/>
          <p:nvPr/>
        </p:nvSpPr>
        <p:spPr>
          <a:xfrm>
            <a:off x="2541355" y="5313425"/>
            <a:ext cx="3627040" cy="194310"/>
          </a:xfrm>
          <a:prstGeom prst="rect">
            <a:avLst/>
          </a:prstGeom>
          <a:noFill/>
        </p:spPr>
        <p:txBody>
          <a:bodyPr wrap="none" lIns="0" rIns="0" tIns="0" bIns="0">
            <a:spAutoFit/>
          </a:bodyPr>
          <a:lstStyle/>
          <a:p>
            <a:r>
              <a:rPr sz="1150" b="0">
                <a:solidFill>
                  <a:srgbClr val="2E2E2E"/>
                </a:solidFill>
                <a:latin typeface="Calibri"/>
              </a:rPr>
              <a:t>× reflects differences in mix, logistics and channel structure.</a:t>
            </a:r>
          </a:p>
        </p:txBody>
      </p:sp>
      <p:sp>
        <p:nvSpPr>
          <p:cNvPr id="32" name="TextBox 31"/>
          <p:cNvSpPr txBox="1"/>
          <p:nvPr/>
        </p:nvSpPr>
        <p:spPr>
          <a:xfrm>
            <a:off x="276225" y="5541263"/>
            <a:ext cx="5691708" cy="194310"/>
          </a:xfrm>
          <a:prstGeom prst="rect">
            <a:avLst/>
          </a:prstGeom>
          <a:noFill/>
        </p:spPr>
        <p:txBody>
          <a:bodyPr wrap="none" lIns="0" rIns="0" tIns="0" bIns="0">
            <a:spAutoFit/>
          </a:bodyPr>
          <a:lstStyle/>
          <a:p>
            <a:r>
              <a:rPr sz="1150" b="0">
                <a:solidFill>
                  <a:srgbClr val="2E2E2E"/>
                </a:solidFill>
                <a:latin typeface="Calibri"/>
              </a:rPr>
              <a:t>▪ Benchmarks support price-corridor setting and margin-defence decisions across geographies.</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Price Forecast &amp; Dynamics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Forward price trajectory to 2036 by product type type and the structural factors shaping it (US$/Units).</a:t>
            </a:r>
          </a:p>
        </p:txBody>
      </p:sp>
      <p:sp>
        <p:nvSpPr>
          <p:cNvPr id="11" name="Rounded Rectangle 10"/>
          <p:cNvSpPr/>
          <p:nvPr/>
        </p:nvSpPr>
        <p:spPr>
          <a:xfrm>
            <a:off x="142875" y="1317574"/>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Product Type (US$/Units)</a:t>
            </a:r>
          </a:p>
        </p:txBody>
      </p:sp>
      <p:graphicFrame>
        <p:nvGraphicFramePr>
          <p:cNvPr id="13" name="Table 12"/>
          <p:cNvGraphicFramePr>
            <a:graphicFrameLocks noGrp="1"/>
          </p:cNvGraphicFramePr>
          <p:nvPr/>
        </p:nvGraphicFramePr>
        <p:xfrm>
          <a:off x="152400" y="1574749"/>
          <a:ext cx="11887201" cy="1504674"/>
        </p:xfrm>
        <a:graphic>
          <a:graphicData uri="http://schemas.openxmlformats.org/drawingml/2006/table">
            <a:tbl>
              <a:tblPr>
                <a:tableStyleId>{5C22544A-7EE6-4342-B048-85BDC9FD1C3A}</a:tableStyleId>
              </a:tblPr>
              <a:tblGrid>
                <a:gridCol w="2879485"/>
                <a:gridCol w="1501286"/>
                <a:gridCol w="1501286"/>
                <a:gridCol w="1501286"/>
                <a:gridCol w="1501286"/>
                <a:gridCol w="1501286"/>
                <a:gridCol w="1501286"/>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629274">
                <a:tc>
                  <a:txBody>
                    <a:bodyPr wrap="none"/>
                    <a:lstStyle/>
                    <a:p>
                      <a:pPr algn="l"/>
                      <a:r>
                        <a:rPr sz="1100" b="1">
                          <a:solidFill>
                            <a:srgbClr val="2E2E2E"/>
                          </a:solidFill>
                          <a:latin typeface="Calibri"/>
                        </a:rPr>
                        <a:t>Drops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29274">
                <a:tc>
                  <a:txBody>
                    <a:bodyPr wrap="none"/>
                    <a:lstStyle/>
                    <a:p>
                      <a:pPr algn="l"/>
                      <a:r>
                        <a:rPr sz="1100" b="1">
                          <a:solidFill>
                            <a:srgbClr val="2E2E2E"/>
                          </a:solidFill>
                          <a:latin typeface="Calibri"/>
                        </a:rPr>
                        <a:t>Sprays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088948"/>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Factors Impacting Pricing</a:t>
            </a:r>
          </a:p>
        </p:txBody>
      </p:sp>
      <p:graphicFrame>
        <p:nvGraphicFramePr>
          <p:cNvPr id="17" name="Table 16"/>
          <p:cNvGraphicFramePr>
            <a:graphicFrameLocks noGrp="1"/>
          </p:cNvGraphicFramePr>
          <p:nvPr/>
        </p:nvGraphicFramePr>
        <p:xfrm>
          <a:off x="152400" y="3655670"/>
          <a:ext cx="5886449" cy="2714626"/>
        </p:xfrm>
        <a:graphic>
          <a:graphicData uri="http://schemas.openxmlformats.org/drawingml/2006/table">
            <a:tbl>
              <a:tblPr>
                <a:tableStyleId>{5C22544A-7EE6-4342-B048-85BDC9FD1C3A}</a:tableStyleId>
              </a:tblPr>
              <a:tblGrid>
                <a:gridCol w="2867491"/>
                <a:gridCol w="1509479"/>
                <a:gridCol w="1509479"/>
              </a:tblGrid>
              <a:tr h="246126">
                <a:tc>
                  <a:txBody>
                    <a:bodyPr wrap="none"/>
                    <a:lstStyle/>
                    <a:p>
                      <a:pPr algn="l"/>
                      <a:r>
                        <a:rPr sz="1100" b="1">
                          <a:solidFill>
                            <a:srgbClr val="0B2E4A"/>
                          </a:solidFill>
                          <a:latin typeface="Calibri"/>
                        </a:rPr>
                        <a:t>Pricing Factor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Impact (H/M/L)</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5F8FA"/>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r>
            </a:tbl>
          </a:graphicData>
        </a:graphic>
      </p:graphicFrame>
      <p:sp>
        <p:nvSpPr>
          <p:cNvPr id="18" name="TextBox 17"/>
          <p:cNvSpPr txBox="1"/>
          <p:nvPr/>
        </p:nvSpPr>
        <p:spPr>
          <a:xfrm>
            <a:off x="219075" y="6379820"/>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3398495"/>
            <a:ext cx="5848350" cy="3157890"/>
          </a:xfrm>
          <a:prstGeom prst="roundRect">
            <a:avLst>
              <a:gd name="adj" fmla="val 241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4125" y="3484220"/>
            <a:ext cx="5581650" cy="209550"/>
          </a:xfrm>
          <a:prstGeom prst="rect">
            <a:avLst/>
          </a:prstGeom>
          <a:noFill/>
        </p:spPr>
        <p:txBody>
          <a:bodyPr wrap="square" lIns="0" rIns="19050" tIns="9525" bIns="9525">
            <a:spAutoFit/>
          </a:bodyPr>
          <a:lstStyle/>
          <a:p>
            <a:pPr algn="l"/>
            <a:r>
              <a:rPr sz="1300" b="1">
                <a:solidFill>
                  <a:srgbClr val="0B2E4A"/>
                </a:solidFill>
                <a:latin typeface="Calibri"/>
              </a:rPr>
              <a:t>Pricing Dynamics &amp; Outlook</a:t>
            </a:r>
          </a:p>
        </p:txBody>
      </p:sp>
      <p:sp>
        <p:nvSpPr>
          <p:cNvPr id="21" name="Rectangle 20"/>
          <p:cNvSpPr/>
          <p:nvPr/>
        </p:nvSpPr>
        <p:spPr>
          <a:xfrm>
            <a:off x="6334125" y="3722345"/>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4125" y="3808070"/>
            <a:ext cx="5581650" cy="267211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7349052" y="2183449"/>
            <a:ext cx="366712" cy="533400"/>
          </a:xfrm>
          <a:prstGeom prst="rect">
            <a:avLst/>
          </a:prstGeom>
        </p:spPr>
      </p:pic>
      <p:sp>
        <p:nvSpPr>
          <p:cNvPr id="25" name="TextBox 24"/>
          <p:cNvSpPr txBox="1"/>
          <p:nvPr/>
        </p:nvSpPr>
        <p:spPr>
          <a:xfrm>
            <a:off x="6334125" y="3817595"/>
            <a:ext cx="3340605" cy="194310"/>
          </a:xfrm>
          <a:prstGeom prst="rect">
            <a:avLst/>
          </a:prstGeom>
          <a:noFill/>
        </p:spPr>
        <p:txBody>
          <a:bodyPr wrap="none" lIns="0" rIns="0" tIns="0" bIns="0">
            <a:spAutoFit/>
          </a:bodyPr>
          <a:lstStyle/>
          <a:p>
            <a:r>
              <a:rPr sz="1150" b="0">
                <a:solidFill>
                  <a:srgbClr val="2E2E2E"/>
                </a:solidFill>
                <a:latin typeface="Calibri"/>
              </a:rPr>
              <a:t>▪ Average product type price is projected to rise from ~</a:t>
            </a:r>
          </a:p>
        </p:txBody>
      </p:sp>
      <p:pic>
        <p:nvPicPr>
          <p:cNvPr id="26" name="Picture 25" descr="lock.png"/>
          <p:cNvPicPr>
            <a:picLocks noChangeAspect="1"/>
          </p:cNvPicPr>
          <p:nvPr/>
        </p:nvPicPr>
        <p:blipFill>
          <a:blip r:embed="rId4"/>
          <a:stretch>
            <a:fillRect/>
          </a:stretch>
        </p:blipFill>
        <p:spPr>
          <a:xfrm>
            <a:off x="9623884" y="3807371"/>
            <a:ext cx="134549" cy="195707"/>
          </a:xfrm>
          <a:prstGeom prst="rect">
            <a:avLst/>
          </a:prstGeom>
        </p:spPr>
      </p:pic>
      <p:sp>
        <p:nvSpPr>
          <p:cNvPr id="27" name="TextBox 26"/>
          <p:cNvSpPr txBox="1"/>
          <p:nvPr/>
        </p:nvSpPr>
        <p:spPr>
          <a:xfrm>
            <a:off x="9798993" y="3817595"/>
            <a:ext cx="308111" cy="194310"/>
          </a:xfrm>
          <a:prstGeom prst="rect">
            <a:avLst/>
          </a:prstGeom>
          <a:noFill/>
        </p:spPr>
        <p:txBody>
          <a:bodyPr wrap="none" lIns="0" rIns="0" tIns="0" bIns="0">
            <a:spAutoFit/>
          </a:bodyPr>
          <a:lstStyle/>
          <a:p>
            <a:r>
              <a:rPr sz="1150" b="0">
                <a:solidFill>
                  <a:srgbClr val="2E2E2E"/>
                </a:solidFill>
                <a:latin typeface="Calibri"/>
              </a:rPr>
              <a:t>to ~</a:t>
            </a:r>
          </a:p>
        </p:txBody>
      </p:sp>
      <p:pic>
        <p:nvPicPr>
          <p:cNvPr id="28" name="Picture 27" descr="lock.png"/>
          <p:cNvPicPr>
            <a:picLocks noChangeAspect="1"/>
          </p:cNvPicPr>
          <p:nvPr/>
        </p:nvPicPr>
        <p:blipFill>
          <a:blip r:embed="rId4"/>
          <a:stretch>
            <a:fillRect/>
          </a:stretch>
        </p:blipFill>
        <p:spPr>
          <a:xfrm>
            <a:off x="10056259" y="3807371"/>
            <a:ext cx="134549" cy="195707"/>
          </a:xfrm>
          <a:prstGeom prst="rect">
            <a:avLst/>
          </a:prstGeom>
        </p:spPr>
      </p:pic>
      <p:sp>
        <p:nvSpPr>
          <p:cNvPr id="29" name="TextBox 28"/>
          <p:cNvSpPr txBox="1"/>
          <p:nvPr/>
        </p:nvSpPr>
        <p:spPr>
          <a:xfrm>
            <a:off x="10231368" y="3817595"/>
            <a:ext cx="1286817" cy="194310"/>
          </a:xfrm>
          <a:prstGeom prst="rect">
            <a:avLst/>
          </a:prstGeom>
          <a:noFill/>
        </p:spPr>
        <p:txBody>
          <a:bodyPr wrap="none" lIns="0" rIns="0" tIns="0" bIns="0">
            <a:spAutoFit/>
          </a:bodyPr>
          <a:lstStyle/>
          <a:p>
            <a:r>
              <a:rPr sz="1150" b="0">
                <a:solidFill>
                  <a:srgbClr val="2E2E2E"/>
                </a:solidFill>
                <a:latin typeface="Calibri"/>
              </a:rPr>
              <a:t>US$/Units by 2036 a</a:t>
            </a:r>
          </a:p>
        </p:txBody>
      </p:sp>
      <p:sp>
        <p:nvSpPr>
          <p:cNvPr id="30" name="TextBox 29"/>
          <p:cNvSpPr txBox="1"/>
          <p:nvPr/>
        </p:nvSpPr>
        <p:spPr>
          <a:xfrm>
            <a:off x="6334125" y="3992855"/>
            <a:ext cx="148939"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1" name="Picture 30" descr="lock.png"/>
          <p:cNvPicPr>
            <a:picLocks noChangeAspect="1"/>
          </p:cNvPicPr>
          <p:nvPr/>
        </p:nvPicPr>
        <p:blipFill>
          <a:blip r:embed="rId4"/>
          <a:stretch>
            <a:fillRect/>
          </a:stretch>
        </p:blipFill>
        <p:spPr>
          <a:xfrm>
            <a:off x="6432218" y="3982631"/>
            <a:ext cx="134549" cy="195707"/>
          </a:xfrm>
          <a:prstGeom prst="rect">
            <a:avLst/>
          </a:prstGeom>
        </p:spPr>
      </p:pic>
      <p:sp>
        <p:nvSpPr>
          <p:cNvPr id="32" name="TextBox 31"/>
          <p:cNvSpPr txBox="1"/>
          <p:nvPr/>
        </p:nvSpPr>
        <p:spPr>
          <a:xfrm>
            <a:off x="6607327" y="399285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33" name="TextBox 32"/>
          <p:cNvSpPr txBox="1"/>
          <p:nvPr/>
        </p:nvSpPr>
        <p:spPr>
          <a:xfrm>
            <a:off x="6334125" y="4220692"/>
            <a:ext cx="4793729" cy="194310"/>
          </a:xfrm>
          <a:prstGeom prst="rect">
            <a:avLst/>
          </a:prstGeom>
          <a:noFill/>
        </p:spPr>
        <p:txBody>
          <a:bodyPr wrap="none" lIns="0" rIns="0" tIns="0" bIns="0">
            <a:spAutoFit/>
          </a:bodyPr>
          <a:lstStyle/>
          <a:p>
            <a:r>
              <a:rPr sz="1150" b="0">
                <a:solidFill>
                  <a:srgbClr val="2E2E2E"/>
                </a:solidFill>
                <a:latin typeface="Calibri"/>
              </a:rPr>
              <a:t>▪ 'Combination Removal Kits' shows the strongest forecast price appreciation (+</a:t>
            </a:r>
          </a:p>
        </p:txBody>
      </p:sp>
      <p:pic>
        <p:nvPicPr>
          <p:cNvPr id="34" name="Picture 33" descr="lock.png"/>
          <p:cNvPicPr>
            <a:picLocks noChangeAspect="1"/>
          </p:cNvPicPr>
          <p:nvPr/>
        </p:nvPicPr>
        <p:blipFill>
          <a:blip r:embed="rId4"/>
          <a:stretch>
            <a:fillRect/>
          </a:stretch>
        </p:blipFill>
        <p:spPr>
          <a:xfrm>
            <a:off x="11077008" y="4210469"/>
            <a:ext cx="134549" cy="195707"/>
          </a:xfrm>
          <a:prstGeom prst="rect">
            <a:avLst/>
          </a:prstGeom>
        </p:spPr>
      </p:pic>
      <p:sp>
        <p:nvSpPr>
          <p:cNvPr id="35" name="TextBox 34"/>
          <p:cNvSpPr txBox="1"/>
          <p:nvPr/>
        </p:nvSpPr>
        <p:spPr>
          <a:xfrm>
            <a:off x="11252117" y="4220692"/>
            <a:ext cx="644607" cy="194310"/>
          </a:xfrm>
          <a:prstGeom prst="rect">
            <a:avLst/>
          </a:prstGeom>
          <a:noFill/>
        </p:spPr>
        <p:txBody>
          <a:bodyPr wrap="none" lIns="0" rIns="0" tIns="0" bIns="0">
            <a:spAutoFit/>
          </a:bodyPr>
          <a:lstStyle/>
          <a:p>
            <a:r>
              <a:rPr sz="1150" b="0">
                <a:solidFill>
                  <a:srgbClr val="2E2E2E"/>
                </a:solidFill>
                <a:latin typeface="Calibri"/>
              </a:rPr>
              <a:t>) over the</a:t>
            </a:r>
          </a:p>
        </p:txBody>
      </p:sp>
      <p:sp>
        <p:nvSpPr>
          <p:cNvPr id="36" name="TextBox 35"/>
          <p:cNvSpPr txBox="1"/>
          <p:nvPr/>
        </p:nvSpPr>
        <p:spPr>
          <a:xfrm>
            <a:off x="6334125" y="4395952"/>
            <a:ext cx="562843" cy="194310"/>
          </a:xfrm>
          <a:prstGeom prst="rect">
            <a:avLst/>
          </a:prstGeom>
          <a:noFill/>
        </p:spPr>
        <p:txBody>
          <a:bodyPr wrap="none" lIns="0" rIns="0" tIns="0" bIns="0">
            <a:spAutoFit/>
          </a:bodyPr>
          <a:lstStyle/>
          <a:p>
            <a:r>
              <a:rPr sz="1150" b="0">
                <a:solidFill>
                  <a:srgbClr val="2E2E2E"/>
                </a:solidFill>
                <a:latin typeface="Calibri"/>
              </a:rPr>
              <a:t>horizon.</a:t>
            </a:r>
          </a:p>
        </p:txBody>
      </p:sp>
      <p:sp>
        <p:nvSpPr>
          <p:cNvPr id="37" name="TextBox 36"/>
          <p:cNvSpPr txBox="1"/>
          <p:nvPr/>
        </p:nvSpPr>
        <p:spPr>
          <a:xfrm>
            <a:off x="6334125" y="4623790"/>
            <a:ext cx="5242433" cy="194310"/>
          </a:xfrm>
          <a:prstGeom prst="rect">
            <a:avLst/>
          </a:prstGeom>
          <a:noFill/>
        </p:spPr>
        <p:txBody>
          <a:bodyPr wrap="none" lIns="0" rIns="0" tIns="0" bIns="0">
            <a:spAutoFit/>
          </a:bodyPr>
          <a:lstStyle/>
          <a:p>
            <a:r>
              <a:rPr sz="1150" b="0">
                <a:solidFill>
                  <a:srgbClr val="2E2E2E"/>
                </a:solidFill>
                <a:latin typeface="Calibri"/>
              </a:rPr>
              <a:t>▪ Upward pressure is led by input cost and demand &amp; market conditions; efficiency and</a:t>
            </a:r>
          </a:p>
        </p:txBody>
      </p:sp>
      <p:sp>
        <p:nvSpPr>
          <p:cNvPr id="38" name="TextBox 37"/>
          <p:cNvSpPr txBox="1"/>
          <p:nvPr/>
        </p:nvSpPr>
        <p:spPr>
          <a:xfrm>
            <a:off x="6334125" y="4799050"/>
            <a:ext cx="2567037" cy="194310"/>
          </a:xfrm>
          <a:prstGeom prst="rect">
            <a:avLst/>
          </a:prstGeom>
          <a:noFill/>
        </p:spPr>
        <p:txBody>
          <a:bodyPr wrap="none" lIns="0" rIns="0" tIns="0" bIns="0">
            <a:spAutoFit/>
          </a:bodyPr>
          <a:lstStyle/>
          <a:p>
            <a:r>
              <a:rPr sz="1150" b="0">
                <a:solidFill>
                  <a:srgbClr val="2E2E2E"/>
                </a:solidFill>
                <a:latin typeface="Calibri"/>
              </a:rPr>
              <a:t>competitive intensity work the other way.</a:t>
            </a:r>
          </a:p>
        </p:txBody>
      </p:sp>
      <p:sp>
        <p:nvSpPr>
          <p:cNvPr id="39" name="TextBox 38"/>
          <p:cNvSpPr txBox="1"/>
          <p:nvPr/>
        </p:nvSpPr>
        <p:spPr>
          <a:xfrm>
            <a:off x="6334125" y="5026888"/>
            <a:ext cx="5203638" cy="194310"/>
          </a:xfrm>
          <a:prstGeom prst="rect">
            <a:avLst/>
          </a:prstGeom>
          <a:noFill/>
        </p:spPr>
        <p:txBody>
          <a:bodyPr wrap="none" lIns="0" rIns="0" tIns="0" bIns="0">
            <a:spAutoFit/>
          </a:bodyPr>
          <a:lstStyle/>
          <a:p>
            <a:r>
              <a:rPr sz="1150" b="0">
                <a:solidFill>
                  <a:srgbClr val="2E2E2E"/>
                </a:solidFill>
                <a:latin typeface="Calibri"/>
              </a:rPr>
              <a:t>▪ Net outlook: modest, structural price appreciation mix and geography will determine</a:t>
            </a:r>
          </a:p>
        </p:txBody>
      </p:sp>
      <p:sp>
        <p:nvSpPr>
          <p:cNvPr id="40" name="TextBox 39"/>
          <p:cNvSpPr txBox="1"/>
          <p:nvPr/>
        </p:nvSpPr>
        <p:spPr>
          <a:xfrm>
            <a:off x="6334125" y="5202148"/>
            <a:ext cx="1016111" cy="194310"/>
          </a:xfrm>
          <a:prstGeom prst="rect">
            <a:avLst/>
          </a:prstGeom>
          <a:noFill/>
        </p:spPr>
        <p:txBody>
          <a:bodyPr wrap="none" lIns="0" rIns="0" tIns="0" bIns="0">
            <a:spAutoFit/>
          </a:bodyPr>
          <a:lstStyle/>
          <a:p>
            <a:r>
              <a:rPr sz="1150" b="0">
                <a:solidFill>
                  <a:srgbClr val="2E2E2E"/>
                </a:solidFill>
                <a:latin typeface="Calibri"/>
              </a:rPr>
              <a:t>realised pricing.</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Price Forecast &amp; Dynamics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Product Type (US$/Units)</a:t>
            </a:r>
          </a:p>
        </p:txBody>
      </p:sp>
      <p:graphicFrame>
        <p:nvGraphicFramePr>
          <p:cNvPr id="12" name="Table 11"/>
          <p:cNvGraphicFramePr>
            <a:graphicFrameLocks noGrp="1"/>
          </p:cNvGraphicFramePr>
          <p:nvPr/>
        </p:nvGraphicFramePr>
        <p:xfrm>
          <a:off x="152400" y="1238250"/>
          <a:ext cx="11887199" cy="1485896"/>
        </p:xfrm>
        <a:graphic>
          <a:graphicData uri="http://schemas.openxmlformats.org/drawingml/2006/table">
            <a:tbl>
              <a:tblPr>
                <a:tableStyleId>{5C22544A-7EE6-4342-B048-85BDC9FD1C3A}</a:tableStyleId>
              </a:tblPr>
              <a:tblGrid>
                <a:gridCol w="5114651"/>
                <a:gridCol w="1128758"/>
                <a:gridCol w="1128758"/>
                <a:gridCol w="1128758"/>
                <a:gridCol w="1128758"/>
                <a:gridCol w="1128758"/>
                <a:gridCol w="1128758"/>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Irrigation Devices and Access…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Manual Removal Tools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Camera-Assisted Removal Devic…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Suction Devices and Accessori…</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Combination Removal Kits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8466634" y="1837563"/>
            <a:ext cx="366712" cy="533400"/>
          </a:xfrm>
          <a:prstGeom prst="rect">
            <a:avLst/>
          </a:prstGeom>
        </p:spPr>
      </p:pic>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Competitor Pricing Strategies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leading players position price: tier, price position versus peers and strategy focus</a:t>
            </a:r>
          </a:p>
        </p:txBody>
      </p:sp>
      <p:sp>
        <p:nvSpPr>
          <p:cNvPr id="10" name="Rounded Rectangle 9"/>
          <p:cNvSpPr/>
          <p:nvPr/>
        </p:nvSpPr>
        <p:spPr>
          <a:xfrm>
            <a:off x="142875" y="1007261"/>
            <a:ext cx="769620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Competitor pricing strategies how leading players position price and the levers they use to sustain it.</a:t>
            </a:r>
          </a:p>
        </p:txBody>
      </p:sp>
      <p:sp>
        <p:nvSpPr>
          <p:cNvPr id="11" name="Rounded Rectangle 10"/>
          <p:cNvSpPr/>
          <p:nvPr/>
        </p:nvSpPr>
        <p:spPr>
          <a:xfrm>
            <a:off x="142875" y="1317574"/>
            <a:ext cx="769620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1393774"/>
          <a:ext cx="7677150" cy="3619746"/>
        </p:xfrm>
        <a:graphic>
          <a:graphicData uri="http://schemas.openxmlformats.org/drawingml/2006/table">
            <a:tbl>
              <a:tblPr>
                <a:tableStyleId>{5C22544A-7EE6-4342-B048-85BDC9FD1C3A}</a:tableStyleId>
              </a:tblPr>
              <a:tblGrid>
                <a:gridCol w="2792831"/>
                <a:gridCol w="494326"/>
                <a:gridCol w="1039219"/>
                <a:gridCol w="972836"/>
                <a:gridCol w="2377938"/>
              </a:tblGrid>
              <a:tr h="246126">
                <a:tc>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Tier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Price Position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ASP vs Peers</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Strategy Focus</a:t>
                      </a:r>
                      <a:endParaRPr sz="1100"/>
                    </a:p>
                  </a:txBody>
                  <a:tcPr marL="47625" marR="38100" marT="19050" marB="19050" anchor="ctr">
                    <a:solidFill>
                      <a:srgbClr val="E0E8EF"/>
                    </a:solidFill>
                  </a:tcPr>
                </a:tc>
              </a:tr>
              <a:tr h="562270">
                <a:tc>
                  <a:txBody>
                    <a:bodyPr wrap="none"/>
                    <a:lstStyle/>
                    <a:p>
                      <a:pPr algn="l"/>
                      <a:r>
                        <a:rPr sz="1100" b="1">
                          <a:solidFill>
                            <a:srgbClr val="2E2E2E"/>
                          </a:solidFill>
                          <a:latin typeface="Calibri"/>
                        </a:rPr>
                        <a:t>Prestige Consumer Healthcare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 brand-led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Diomed Group</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Value-based premium pricing</a:t>
                      </a:r>
                      <a:endParaRPr sz="1100"/>
                    </a:p>
                  </a:txBody>
                  <a:tcPr marL="47625" marR="38100" marT="19050" marB="19050" anchor="ctr">
                    <a:solidFill>
                      <a:srgbClr val="F5F8FA"/>
                    </a:solidFill>
                  </a:tcPr>
                </a:tc>
              </a:tr>
              <a:tr h="562270">
                <a:tc>
                  <a:txBody>
                    <a:bodyPr wrap="none"/>
                    <a:lstStyle/>
                    <a:p>
                      <a:pPr algn="l"/>
                      <a:r>
                        <a:rPr sz="1100" b="1">
                          <a:solidFill>
                            <a:srgbClr val="2E2E2E"/>
                          </a:solidFill>
                          <a:latin typeface="Calibri"/>
                        </a:rPr>
                        <a:t>NeilMed Pharmaceuticals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Innovation-led price leadership</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Quest Products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 pricing with mix upsell</a:t>
                      </a:r>
                      <a:endParaRPr sz="1100"/>
                    </a:p>
                  </a:txBody>
                  <a:tcPr marL="47625" marR="38100" marT="19050" marB="19050" anchor="ctr">
                    <a:solidFill>
                      <a:srgbClr val="F5F8FA"/>
                    </a:solidFill>
                  </a:tcPr>
                </a:tc>
              </a:tr>
              <a:tr h="562270">
                <a:tc>
                  <a:txBody>
                    <a:bodyPr wrap="none"/>
                    <a:lstStyle/>
                    <a:p>
                      <a:pPr algn="l"/>
                      <a:r>
                        <a:rPr sz="1100" b="1">
                          <a:solidFill>
                            <a:srgbClr val="2E2E2E"/>
                          </a:solidFill>
                          <a:latin typeface="Calibri"/>
                        </a:rPr>
                        <a:t>Eosera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Penetration &amp; share-led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Coopération Pharmaceutique Française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Competitive / discount-led pricing</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5023044"/>
            <a:ext cx="75438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5351641"/>
            <a:ext cx="7696200" cy="365074"/>
          </a:xfrm>
          <a:prstGeom prst="roundRect">
            <a:avLst>
              <a:gd name="adj" fmla="val 208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competitor figures are indicative derived from market modelling and expert validation, not company disclosures.</a:t>
            </a:r>
          </a:p>
        </p:txBody>
      </p:sp>
      <p:sp>
        <p:nvSpPr>
          <p:cNvPr id="15" name="Rounded Rectangle 14"/>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Competitive Pricing Themes</a:t>
            </a:r>
          </a:p>
        </p:txBody>
      </p:sp>
      <p:sp>
        <p:nvSpPr>
          <p:cNvPr id="17" name="Rectangle 16"/>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Tier 1 players anchor premium pricing, defending ASP through brand, product development and certification rather than discounting.</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Mid-tier players price at or just below parity, using launches and expansion to win share in fast-growing segments.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Emerging players compete on value pricing, trading margin for access and volume in price-sensitive regions.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Across tiers, R&amp;D investment and selective M&amp;A are the primary levers to move up the price ladder over time.</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4797173" y="3086680"/>
            <a:ext cx="330041" cy="480060"/>
          </a:xfrm>
          <a:prstGeom prst="rect">
            <a:avLst/>
          </a:prstGeom>
        </p:spPr>
      </p:pic>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Ear Wax Removal Products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Supply Chain Analysis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Supply Chain Analysis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Supply Chain Analysis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Chain &amp; Stakeholder Mapping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Operating Margin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Buyers Assessment</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Value Chain &amp; Stakeholder Mapping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Mapping of the value chain stages, the stakeholders at each stage and the value added along the chain</a:t>
            </a:r>
          </a:p>
        </p:txBody>
      </p:sp>
      <p:sp>
        <p:nvSpPr>
          <p:cNvPr id="10" name="TextBox 9"/>
          <p:cNvSpPr txBox="1"/>
          <p:nvPr/>
        </p:nvSpPr>
        <p:spPr>
          <a:xfrm>
            <a:off x="285750" y="970754"/>
            <a:ext cx="10668000" cy="164283"/>
          </a:xfrm>
          <a:prstGeom prst="rect">
            <a:avLst/>
          </a:prstGeom>
          <a:noFill/>
        </p:spPr>
        <p:txBody>
          <a:bodyPr wrap="square" lIns="0" rIns="19050" tIns="0" bIns="0">
            <a:spAutoFit/>
          </a:bodyPr>
          <a:lstStyle/>
          <a:p>
            <a:pPr algn="l"/>
            <a:r>
              <a:rPr sz="1100" b="0">
                <a:solidFill>
                  <a:srgbClr val="6C7A89"/>
                </a:solidFill>
                <a:latin typeface="Calibri"/>
              </a:rPr>
              <a:t>End-to-end value chain with the key stakeholders at each stage and their indicative contribution to value addition.</a:t>
            </a:r>
          </a:p>
        </p:txBody>
      </p:sp>
      <p:sp>
        <p:nvSpPr>
          <p:cNvPr id="11" name="Right Arrow 10"/>
          <p:cNvSpPr/>
          <p:nvPr/>
        </p:nvSpPr>
        <p:spPr>
          <a:xfrm>
            <a:off x="1885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171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6457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8743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9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Raw Material</a:t>
            </a:r>
          </a:p>
          <a:p>
            <a:pPr algn="ctr">
              <a:lnSpc>
                <a:spcPct val="100000"/>
              </a:lnSpc>
            </a:pPr>
            <a:r>
              <a:rPr sz="1100" b="1">
                <a:solidFill>
                  <a:srgbClr val="0B2E4A"/>
                </a:solidFill>
                <a:latin typeface="Calibri"/>
              </a:rPr>
              <a:t>Suppliers</a:t>
            </a:r>
          </a:p>
        </p:txBody>
      </p:sp>
      <p:sp>
        <p:nvSpPr>
          <p:cNvPr id="16" name="Oval 15"/>
          <p:cNvSpPr/>
          <p:nvPr/>
        </p:nvSpPr>
        <p:spPr>
          <a:xfrm>
            <a:off x="1076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23950" y="1719155"/>
            <a:ext cx="800100" cy="766655"/>
          </a:xfrm>
          <a:prstGeom prst="ellipse">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09712" y="2084229"/>
            <a:ext cx="28575" cy="1551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rot="19500000">
            <a:off x="1381125"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rot="2100000">
            <a:off x="1524000"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00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22" name="Rounded Rectangle 21"/>
          <p:cNvSpPr/>
          <p:nvPr/>
        </p:nvSpPr>
        <p:spPr>
          <a:xfrm>
            <a:off x="457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2905646"/>
            <a:ext cx="2133600" cy="4563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2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Raw Material Suppliers</a:t>
            </a:r>
          </a:p>
        </p:txBody>
      </p:sp>
      <p:sp>
        <p:nvSpPr>
          <p:cNvPr id="25" name="TextBox 24"/>
          <p:cNvSpPr txBox="1"/>
          <p:nvPr/>
        </p:nvSpPr>
        <p:spPr>
          <a:xfrm>
            <a:off x="542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26" name="TextBox 25"/>
          <p:cNvSpPr txBox="1"/>
          <p:nvPr/>
        </p:nvSpPr>
        <p:spPr>
          <a:xfrm>
            <a:off x="542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Growers and primary producers supply core inputs; some forward-integrate into small-scale processing.</a:t>
            </a:r>
          </a:p>
        </p:txBody>
      </p:sp>
      <p:sp>
        <p:nvSpPr>
          <p:cNvPr id="27" name="TextBox 26"/>
          <p:cNvSpPr txBox="1"/>
          <p:nvPr/>
        </p:nvSpPr>
        <p:spPr>
          <a:xfrm>
            <a:off x="2705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Manufacturers</a:t>
            </a:r>
          </a:p>
        </p:txBody>
      </p:sp>
      <p:sp>
        <p:nvSpPr>
          <p:cNvPr id="28" name="Oval 27"/>
          <p:cNvSpPr/>
          <p:nvPr/>
        </p:nvSpPr>
        <p:spPr>
          <a:xfrm>
            <a:off x="3362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409950" y="1719155"/>
            <a:ext cx="800100" cy="766655"/>
          </a:xfrm>
          <a:prstGeom prst="ellipse">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38550" y="2084229"/>
            <a:ext cx="34290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67125" y="1983834"/>
            <a:ext cx="66675" cy="10952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2020341"/>
            <a:ext cx="66675" cy="73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876675" y="1992961"/>
            <a:ext cx="66675" cy="1003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86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35" name="Rounded Rectangle 34"/>
          <p:cNvSpPr/>
          <p:nvPr/>
        </p:nvSpPr>
        <p:spPr>
          <a:xfrm>
            <a:off x="2743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43200" y="2905646"/>
            <a:ext cx="2133600" cy="4563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28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Manufacturers / Processors</a:t>
            </a:r>
          </a:p>
        </p:txBody>
      </p:sp>
      <p:sp>
        <p:nvSpPr>
          <p:cNvPr id="38" name="TextBox 37"/>
          <p:cNvSpPr txBox="1"/>
          <p:nvPr/>
        </p:nvSpPr>
        <p:spPr>
          <a:xfrm>
            <a:off x="2828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39" name="TextBox 38"/>
          <p:cNvSpPr txBox="1"/>
          <p:nvPr/>
        </p:nvSpPr>
        <p:spPr>
          <a:xfrm>
            <a:off x="2828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Convert inputs into finished and semi-finished product the single largest value-addition stage.</a:t>
            </a:r>
          </a:p>
        </p:txBody>
      </p:sp>
      <p:sp>
        <p:nvSpPr>
          <p:cNvPr id="40" name="TextBox 39"/>
          <p:cNvSpPr txBox="1"/>
          <p:nvPr/>
        </p:nvSpPr>
        <p:spPr>
          <a:xfrm>
            <a:off x="4991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Distributors</a:t>
            </a:r>
          </a:p>
        </p:txBody>
      </p:sp>
      <p:sp>
        <p:nvSpPr>
          <p:cNvPr id="41" name="Oval 40"/>
          <p:cNvSpPr/>
          <p:nvPr/>
        </p:nvSpPr>
        <p:spPr>
          <a:xfrm>
            <a:off x="5648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695950" y="1719155"/>
            <a:ext cx="800100" cy="766655"/>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15025" y="2002088"/>
            <a:ext cx="20955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34100" y="2075102"/>
            <a:ext cx="123825" cy="912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972175"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153150"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572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48" name="Rounded Rectangle 47"/>
          <p:cNvSpPr/>
          <p:nvPr/>
        </p:nvSpPr>
        <p:spPr>
          <a:xfrm>
            <a:off x="5029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29200" y="2905646"/>
            <a:ext cx="2133600" cy="4563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14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Distributors &amp; Wholesalers</a:t>
            </a:r>
          </a:p>
        </p:txBody>
      </p:sp>
      <p:sp>
        <p:nvSpPr>
          <p:cNvPr id="51" name="TextBox 50"/>
          <p:cNvSpPr txBox="1"/>
          <p:nvPr/>
        </p:nvSpPr>
        <p:spPr>
          <a:xfrm>
            <a:off x="5114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52" name="TextBox 51"/>
          <p:cNvSpPr txBox="1"/>
          <p:nvPr/>
        </p:nvSpPr>
        <p:spPr>
          <a:xfrm>
            <a:off x="5114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Move product to market, hold inventory and provide logistics, reach and credit to downstream channels.</a:t>
            </a:r>
          </a:p>
        </p:txBody>
      </p:sp>
      <p:sp>
        <p:nvSpPr>
          <p:cNvPr id="53" name="TextBox 52"/>
          <p:cNvSpPr txBox="1"/>
          <p:nvPr/>
        </p:nvSpPr>
        <p:spPr>
          <a:xfrm>
            <a:off x="7277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Retailers</a:t>
            </a:r>
          </a:p>
        </p:txBody>
      </p:sp>
      <p:sp>
        <p:nvSpPr>
          <p:cNvPr id="54" name="Oval 53"/>
          <p:cNvSpPr/>
          <p:nvPr/>
        </p:nvSpPr>
        <p:spPr>
          <a:xfrm>
            <a:off x="7934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981950" y="1719155"/>
            <a:ext cx="800100" cy="766655"/>
          </a:xfrm>
          <a:prstGeom prst="ellipse">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Isosceles Triangle 55"/>
          <p:cNvSpPr/>
          <p:nvPr/>
        </p:nvSpPr>
        <p:spPr>
          <a:xfrm>
            <a:off x="8201025" y="1965580"/>
            <a:ext cx="361950" cy="10952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239125" y="2065976"/>
            <a:ext cx="285750" cy="1825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343900" y="2138990"/>
            <a:ext cx="76200" cy="109522"/>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7858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60" name="Rounded Rectangle 59"/>
          <p:cNvSpPr/>
          <p:nvPr/>
        </p:nvSpPr>
        <p:spPr>
          <a:xfrm>
            <a:off x="7315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315200" y="2905646"/>
            <a:ext cx="2133600" cy="4563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00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Retailers &amp; Channels</a:t>
            </a:r>
          </a:p>
        </p:txBody>
      </p:sp>
      <p:sp>
        <p:nvSpPr>
          <p:cNvPr id="63" name="TextBox 62"/>
          <p:cNvSpPr txBox="1"/>
          <p:nvPr/>
        </p:nvSpPr>
        <p:spPr>
          <a:xfrm>
            <a:off x="7400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64" name="TextBox 63"/>
          <p:cNvSpPr txBox="1"/>
          <p:nvPr/>
        </p:nvSpPr>
        <p:spPr>
          <a:xfrm>
            <a:off x="7400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Sell to end customers across offline and online channels, capturing point-of-sale margin and brand visibility.</a:t>
            </a:r>
          </a:p>
        </p:txBody>
      </p:sp>
      <p:sp>
        <p:nvSpPr>
          <p:cNvPr id="65" name="TextBox 64"/>
          <p:cNvSpPr txBox="1"/>
          <p:nvPr/>
        </p:nvSpPr>
        <p:spPr>
          <a:xfrm>
            <a:off x="9563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End Users</a:t>
            </a:r>
          </a:p>
        </p:txBody>
      </p:sp>
      <p:sp>
        <p:nvSpPr>
          <p:cNvPr id="66" name="Oval 65"/>
          <p:cNvSpPr/>
          <p:nvPr/>
        </p:nvSpPr>
        <p:spPr>
          <a:xfrm>
            <a:off x="10220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267950" y="1719155"/>
            <a:ext cx="800100" cy="766655"/>
          </a:xfrm>
          <a:prstGeom prst="ellipse">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0601325" y="1956453"/>
            <a:ext cx="133350" cy="1277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10544175" y="2111610"/>
            <a:ext cx="247650" cy="127776"/>
          </a:xfrm>
          <a:custGeom>
            <a:avLst/>
            <a:gdLst/>
            <a:ahLst/>
            <a:cxnLst/>
            <a:rect l="l" t="t" r="r" b="b"/>
            <a:pathLst>
              <a:path w="26" h="14">
                <a:moveTo>
                  <a:pt x="0" y="14"/>
                </a:moveTo>
                <a:lnTo>
                  <a:pt x="4" y="0"/>
                </a:lnTo>
                <a:lnTo>
                  <a:pt x="22" y="0"/>
                </a:lnTo>
                <a:lnTo>
                  <a:pt x="26" y="14"/>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10144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71" name="Rounded Rectangle 70"/>
          <p:cNvSpPr/>
          <p:nvPr/>
        </p:nvSpPr>
        <p:spPr>
          <a:xfrm>
            <a:off x="9601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601200" y="2905646"/>
            <a:ext cx="2133600" cy="4563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686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End Users</a:t>
            </a:r>
          </a:p>
        </p:txBody>
      </p:sp>
      <p:sp>
        <p:nvSpPr>
          <p:cNvPr id="74" name="TextBox 73"/>
          <p:cNvSpPr txBox="1"/>
          <p:nvPr/>
        </p:nvSpPr>
        <p:spPr>
          <a:xfrm>
            <a:off x="9686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75" name="TextBox 74"/>
          <p:cNvSpPr txBox="1"/>
          <p:nvPr/>
        </p:nvSpPr>
        <p:spPr>
          <a:xfrm>
            <a:off x="9686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Consumers and downstream industries; large end users sometimes backward-integrate to secure supply and cost.</a:t>
            </a:r>
          </a:p>
        </p:txBody>
      </p:sp>
      <p:sp>
        <p:nvSpPr>
          <p:cNvPr id="76" name="Rounded Rectangle 75"/>
          <p:cNvSpPr/>
          <p:nvPr/>
        </p:nvSpPr>
        <p:spPr>
          <a:xfrm>
            <a:off x="381000" y="5315134"/>
            <a:ext cx="11430000" cy="1204744"/>
          </a:xfrm>
          <a:prstGeom prst="roundRect">
            <a:avLst>
              <a:gd name="adj" fmla="val 6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14350" y="5397275"/>
            <a:ext cx="11163300" cy="200791"/>
          </a:xfrm>
          <a:prstGeom prst="rect">
            <a:avLst/>
          </a:prstGeom>
          <a:noFill/>
        </p:spPr>
        <p:txBody>
          <a:bodyPr wrap="square" lIns="0" rIns="19050" tIns="9525" bIns="9525">
            <a:spAutoFit/>
          </a:bodyPr>
          <a:lstStyle/>
          <a:p>
            <a:pPr algn="l"/>
            <a:r>
              <a:rPr sz="1300" b="1">
                <a:solidFill>
                  <a:srgbClr val="0B2E4A"/>
                </a:solidFill>
                <a:latin typeface="Calibri"/>
              </a:rPr>
              <a:t>Value-Added Read-out</a:t>
            </a:r>
          </a:p>
        </p:txBody>
      </p:sp>
      <p:sp>
        <p:nvSpPr>
          <p:cNvPr id="78" name="Rectangle 77"/>
          <p:cNvSpPr/>
          <p:nvPr/>
        </p:nvSpPr>
        <p:spPr>
          <a:xfrm>
            <a:off x="514350" y="5625447"/>
            <a:ext cx="111633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14350" y="5707588"/>
            <a:ext cx="11163300" cy="7392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80" name="TextBox 7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1" name="Picture 80" descr="lock.png"/>
          <p:cNvPicPr>
            <a:picLocks noChangeAspect="1"/>
          </p:cNvPicPr>
          <p:nvPr/>
        </p:nvPicPr>
        <p:blipFill>
          <a:blip r:embed="rId4"/>
          <a:stretch>
            <a:fillRect/>
          </a:stretch>
        </p:blipFill>
        <p:spPr>
          <a:xfrm>
            <a:off x="1459650" y="2611256"/>
            <a:ext cx="128699" cy="187198"/>
          </a:xfrm>
          <a:prstGeom prst="rect">
            <a:avLst/>
          </a:prstGeom>
        </p:spPr>
      </p:pic>
      <p:pic>
        <p:nvPicPr>
          <p:cNvPr id="82" name="Picture 81" descr="lock.png"/>
          <p:cNvPicPr>
            <a:picLocks noChangeAspect="1"/>
          </p:cNvPicPr>
          <p:nvPr/>
        </p:nvPicPr>
        <p:blipFill>
          <a:blip r:embed="rId4"/>
          <a:stretch>
            <a:fillRect/>
          </a:stretch>
        </p:blipFill>
        <p:spPr>
          <a:xfrm>
            <a:off x="3745650" y="2611256"/>
            <a:ext cx="128699" cy="187198"/>
          </a:xfrm>
          <a:prstGeom prst="rect">
            <a:avLst/>
          </a:prstGeom>
        </p:spPr>
      </p:pic>
      <p:pic>
        <p:nvPicPr>
          <p:cNvPr id="83" name="Picture 82" descr="lock.png"/>
          <p:cNvPicPr>
            <a:picLocks noChangeAspect="1"/>
          </p:cNvPicPr>
          <p:nvPr/>
        </p:nvPicPr>
        <p:blipFill>
          <a:blip r:embed="rId4"/>
          <a:stretch>
            <a:fillRect/>
          </a:stretch>
        </p:blipFill>
        <p:spPr>
          <a:xfrm>
            <a:off x="6031650" y="2611256"/>
            <a:ext cx="128699" cy="187198"/>
          </a:xfrm>
          <a:prstGeom prst="rect">
            <a:avLst/>
          </a:prstGeom>
        </p:spPr>
      </p:pic>
      <p:pic>
        <p:nvPicPr>
          <p:cNvPr id="84" name="Picture 83" descr="lock.png"/>
          <p:cNvPicPr>
            <a:picLocks noChangeAspect="1"/>
          </p:cNvPicPr>
          <p:nvPr/>
        </p:nvPicPr>
        <p:blipFill>
          <a:blip r:embed="rId4"/>
          <a:stretch>
            <a:fillRect/>
          </a:stretch>
        </p:blipFill>
        <p:spPr>
          <a:xfrm>
            <a:off x="8317650" y="2611256"/>
            <a:ext cx="128699" cy="187198"/>
          </a:xfrm>
          <a:prstGeom prst="rect">
            <a:avLst/>
          </a:prstGeom>
        </p:spPr>
      </p:pic>
      <p:pic>
        <p:nvPicPr>
          <p:cNvPr id="85" name="Picture 84" descr="lock.png"/>
          <p:cNvPicPr>
            <a:picLocks noChangeAspect="1"/>
          </p:cNvPicPr>
          <p:nvPr/>
        </p:nvPicPr>
        <p:blipFill>
          <a:blip r:embed="rId4"/>
          <a:stretch>
            <a:fillRect/>
          </a:stretch>
        </p:blipFill>
        <p:spPr>
          <a:xfrm>
            <a:off x="10603650" y="2611256"/>
            <a:ext cx="128699" cy="187198"/>
          </a:xfrm>
          <a:prstGeom prst="rect">
            <a:avLst/>
          </a:prstGeom>
        </p:spPr>
      </p:pic>
      <p:sp>
        <p:nvSpPr>
          <p:cNvPr id="86" name="TextBox 85"/>
          <p:cNvSpPr txBox="1"/>
          <p:nvPr/>
        </p:nvSpPr>
        <p:spPr>
          <a:xfrm>
            <a:off x="514350" y="5717113"/>
            <a:ext cx="6847257" cy="153161"/>
          </a:xfrm>
          <a:prstGeom prst="rect">
            <a:avLst/>
          </a:prstGeom>
          <a:noFill/>
        </p:spPr>
        <p:txBody>
          <a:bodyPr wrap="none" lIns="0" rIns="0" tIns="0" bIns="0">
            <a:spAutoFit/>
          </a:bodyPr>
          <a:lstStyle/>
          <a:p>
            <a:r>
              <a:rPr sz="879" b="0">
                <a:solidFill>
                  <a:srgbClr val="2E2E2E"/>
                </a:solidFill>
                <a:latin typeface="Calibri"/>
              </a:rPr>
              <a:t>▪ The Ear Wax Removal Products Market value chain runs from raw-material suppliers through manufacturers, distributors and retailers to end users.</a:t>
            </a:r>
          </a:p>
        </p:txBody>
      </p:sp>
      <p:sp>
        <p:nvSpPr>
          <p:cNvPr id="87" name="TextBox 86"/>
          <p:cNvSpPr txBox="1"/>
          <p:nvPr/>
        </p:nvSpPr>
        <p:spPr>
          <a:xfrm>
            <a:off x="514350" y="5891458"/>
            <a:ext cx="3108563" cy="153161"/>
          </a:xfrm>
          <a:prstGeom prst="rect">
            <a:avLst/>
          </a:prstGeom>
          <a:noFill/>
        </p:spPr>
        <p:txBody>
          <a:bodyPr wrap="none" lIns="0" rIns="0" tIns="0" bIns="0">
            <a:spAutoFit/>
          </a:bodyPr>
          <a:lstStyle/>
          <a:p>
            <a:r>
              <a:rPr sz="879" b="0">
                <a:solidFill>
                  <a:srgbClr val="2E2E2E"/>
                </a:solidFill>
                <a:latin typeface="Calibri"/>
              </a:rPr>
              <a:t>▪ 'Manufacturers / Processors' captures the largest value addition (</a:t>
            </a:r>
          </a:p>
        </p:txBody>
      </p:sp>
      <p:pic>
        <p:nvPicPr>
          <p:cNvPr id="88" name="Picture 87" descr="lock.png"/>
          <p:cNvPicPr>
            <a:picLocks noChangeAspect="1"/>
          </p:cNvPicPr>
          <p:nvPr/>
        </p:nvPicPr>
        <p:blipFill>
          <a:blip r:embed="rId4"/>
          <a:stretch>
            <a:fillRect/>
          </a:stretch>
        </p:blipFill>
        <p:spPr>
          <a:xfrm>
            <a:off x="3566114" y="5883635"/>
            <a:ext cx="102959" cy="149758"/>
          </a:xfrm>
          <a:prstGeom prst="rect">
            <a:avLst/>
          </a:prstGeom>
        </p:spPr>
      </p:pic>
      <p:sp>
        <p:nvSpPr>
          <p:cNvPr id="89" name="TextBox 88"/>
          <p:cNvSpPr txBox="1"/>
          <p:nvPr/>
        </p:nvSpPr>
        <p:spPr>
          <a:xfrm>
            <a:off x="3700111" y="5891458"/>
            <a:ext cx="2123678" cy="153161"/>
          </a:xfrm>
          <a:prstGeom prst="rect">
            <a:avLst/>
          </a:prstGeom>
          <a:noFill/>
        </p:spPr>
        <p:txBody>
          <a:bodyPr wrap="none" lIns="0" rIns="0" tIns="0" bIns="0">
            <a:spAutoFit/>
          </a:bodyPr>
          <a:lstStyle/>
          <a:p>
            <a:r>
              <a:rPr sz="879" b="0">
                <a:solidFill>
                  <a:srgbClr val="2E2E2E"/>
                </a:solidFill>
                <a:latin typeface="Calibri"/>
              </a:rPr>
              <a:t>), reflecting processing and scale advantages.</a:t>
            </a:r>
          </a:p>
        </p:txBody>
      </p:sp>
      <p:sp>
        <p:nvSpPr>
          <p:cNvPr id="90" name="TextBox 89"/>
          <p:cNvSpPr txBox="1"/>
          <p:nvPr/>
        </p:nvSpPr>
        <p:spPr>
          <a:xfrm>
            <a:off x="514350" y="6065804"/>
            <a:ext cx="5690369" cy="153161"/>
          </a:xfrm>
          <a:prstGeom prst="rect">
            <a:avLst/>
          </a:prstGeom>
          <a:noFill/>
        </p:spPr>
        <p:txBody>
          <a:bodyPr wrap="none" lIns="0" rIns="0" tIns="0" bIns="0">
            <a:spAutoFit/>
          </a:bodyPr>
          <a:lstStyle/>
          <a:p>
            <a:r>
              <a:rPr sz="879" b="0">
                <a:solidFill>
                  <a:srgbClr val="2E2E2E"/>
                </a:solidFill>
                <a:latin typeface="Calibri"/>
              </a:rPr>
              <a:t>▪ Forward and backward integration is common some suppliers process, and some large end users produce their own input.</a:t>
            </a:r>
          </a:p>
        </p:txBody>
      </p:sp>
      <p:sp>
        <p:nvSpPr>
          <p:cNvPr id="91" name="TextBox 90"/>
          <p:cNvSpPr txBox="1"/>
          <p:nvPr/>
        </p:nvSpPr>
        <p:spPr>
          <a:xfrm>
            <a:off x="514350" y="6240149"/>
            <a:ext cx="3730228" cy="153161"/>
          </a:xfrm>
          <a:prstGeom prst="rect">
            <a:avLst/>
          </a:prstGeom>
          <a:noFill/>
        </p:spPr>
        <p:txBody>
          <a:bodyPr wrap="none" lIns="0" rIns="0" tIns="0" bIns="0">
            <a:spAutoFit/>
          </a:bodyPr>
          <a:lstStyle/>
          <a:p>
            <a:r>
              <a:rPr sz="879" b="0">
                <a:solidFill>
                  <a:srgbClr val="2E2E2E"/>
                </a:solidFill>
                <a:latin typeface="Calibri"/>
              </a:rPr>
              <a:t>▪ Percentages show each stage's indicative share of value added along the chain.</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Industry-Wide Operating Margin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Operating margin by region and value chain node, highlighting where value concentrates along the chain</a:t>
            </a:r>
          </a:p>
        </p:txBody>
      </p:sp>
      <p:sp>
        <p:nvSpPr>
          <p:cNvPr id="10" name="Rounded Rectangle 9"/>
          <p:cNvSpPr/>
          <p:nvPr/>
        </p:nvSpPr>
        <p:spPr>
          <a:xfrm>
            <a:off x="142875" y="981075"/>
            <a:ext cx="11906250"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Ear Wax Removal Products Market Operating Margin by Region &amp; Node</a:t>
            </a:r>
          </a:p>
        </p:txBody>
      </p:sp>
      <p:graphicFrame>
        <p:nvGraphicFramePr>
          <p:cNvPr id="12" name="Table 11"/>
          <p:cNvGraphicFramePr>
            <a:graphicFrameLocks noGrp="1"/>
          </p:cNvGraphicFramePr>
          <p:nvPr/>
        </p:nvGraphicFramePr>
        <p:xfrm>
          <a:off x="152400" y="1238250"/>
          <a:ext cx="11887202" cy="3200406"/>
        </p:xfrm>
        <a:graphic>
          <a:graphicData uri="http://schemas.openxmlformats.org/drawingml/2006/table">
            <a:tbl>
              <a:tblPr>
                <a:tableStyleId>{5C22544A-7EE6-4342-B048-85BDC9FD1C3A}</a:tableStyleId>
              </a:tblPr>
              <a:tblGrid>
                <a:gridCol w="1208402"/>
                <a:gridCol w="2669700"/>
                <a:gridCol w="2669700"/>
                <a:gridCol w="2669700"/>
                <a:gridCol w="2669700"/>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Node of Supply Chain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Operating Margin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Comparison to Parent Market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Notes</a:t>
                      </a: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781550"/>
            <a:ext cx="1190625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B2E4A"/>
                </a:solidFill>
                <a:latin typeface="Calibri"/>
              </a:rPr>
              <a:t>How to Read This</a:t>
            </a:r>
          </a:p>
        </p:txBody>
      </p:sp>
      <p:sp>
        <p:nvSpPr>
          <p:cNvPr id="16" name="Rectangle 15"/>
          <p:cNvSpPr/>
          <p:nvPr/>
        </p:nvSpPr>
        <p:spPr>
          <a:xfrm>
            <a:off x="276225" y="51054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191125"/>
            <a:ext cx="1163955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Node of Supply Chain: each major stage, from raw-material suppliers through to retailers.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Operating Margin: the indicative margin earned at each node, by region.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Comparison to Parent Market: margin versus the parent / associated market (e.g. the broader food or pharmaceutical value chain).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Margins are broken down by both region and node to surface where value concentrates along the chain.</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13512" y="2694815"/>
            <a:ext cx="366712" cy="533400"/>
          </a:xfrm>
          <a:prstGeom prst="rect">
            <a:avLst/>
          </a:prstGeom>
        </p:spPr>
      </p:pic>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Buyers Assessment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Assessment of buyers and end users by volume, average price and revenue, highlighting purchasing power</a:t>
            </a:r>
          </a:p>
        </p:txBody>
      </p:sp>
      <p:sp>
        <p:nvSpPr>
          <p:cNvPr id="10" name="Rounded Rectangle 9"/>
          <p:cNvSpPr/>
          <p:nvPr/>
        </p:nvSpPr>
        <p:spPr>
          <a:xfrm>
            <a:off x="142875" y="981075"/>
            <a:ext cx="11906250" cy="3371850"/>
          </a:xfrm>
          <a:prstGeom prst="roundRect">
            <a:avLst>
              <a:gd name="adj" fmla="val 22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Ear Wax Removal Products Market Buyers / End-User Assessment</a:t>
            </a:r>
          </a:p>
        </p:txBody>
      </p:sp>
      <p:graphicFrame>
        <p:nvGraphicFramePr>
          <p:cNvPr id="12" name="Table 11"/>
          <p:cNvGraphicFramePr>
            <a:graphicFrameLocks noGrp="1"/>
          </p:cNvGraphicFramePr>
          <p:nvPr/>
        </p:nvGraphicFramePr>
        <p:xfrm>
          <a:off x="152400" y="1238250"/>
          <a:ext cx="11888647" cy="2905122"/>
        </p:xfrm>
        <a:graphic>
          <a:graphicData uri="http://schemas.openxmlformats.org/drawingml/2006/table">
            <a:tbl>
              <a:tblPr>
                <a:tableStyleId>{5C22544A-7EE6-4342-B048-85BDC9FD1C3A}</a:tableStyleId>
              </a:tblPr>
              <a:tblGrid>
                <a:gridCol w="2486479"/>
                <a:gridCol w="1349311"/>
                <a:gridCol w="967097"/>
                <a:gridCol w="994538"/>
                <a:gridCol w="1371783"/>
                <a:gridCol w="1082877"/>
                <a:gridCol w="1219075"/>
                <a:gridCol w="1049578"/>
                <a:gridCol w="1367909"/>
              </a:tblGrid>
              <a:tr h="438912">
                <a:tc>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square"/>
                    <a:lstStyle/>
                    <a:p>
                      <a:pPr algn="l"/>
                      <a:r>
                        <a:rPr sz="1100" b="1">
                          <a:solidFill>
                            <a:srgbClr val="0B2E4A"/>
                          </a:solidFill>
                          <a:latin typeface="Calibri"/>
                        </a:rPr>
                        <a:t>Buyer Category</a:t>
                      </a:r>
                      <a:endParaRPr sz="1100"/>
                    </a:p>
                  </a:txBody>
                  <a:tcPr marL="47625" marR="38100" marT="19050" marB="19050" anchor="ctr">
                    <a:solidFill>
                      <a:srgbClr val="E0E8EF"/>
                    </a:solidFill>
                  </a:tcPr>
                </a:tc>
                <a:tc>
                  <a:txBody>
                    <a:bodyPr wrap="square"/>
                    <a:lstStyle/>
                    <a:p>
                      <a:pPr algn="l"/>
                      <a:r>
                        <a:rPr sz="1100" b="1">
                          <a:solidFill>
                            <a:srgbClr val="0B2E4A"/>
                          </a:solidFill>
                          <a:latin typeface="Calibri"/>
                        </a:rPr>
                        <a:t>Buyer / End-User Type</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Procurement Vol.</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Avg Price (US$/Units)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Revenue (US$ Mn)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Key Selection Factor</a:t>
                      </a:r>
                      <a:endParaRPr sz="1100"/>
                    </a:p>
                  </a:txBody>
                  <a:tcPr marL="47625" marR="38100" marT="19050" marB="19050" anchor="ctr">
                    <a:solidFill>
                      <a:srgbClr val="E0E8EF"/>
                    </a:solidFill>
                  </a:tcPr>
                </a:tc>
              </a:tr>
              <a:tr h="246621">
                <a:tc>
                  <a:txBody>
                    <a:bodyPr wrap="none"/>
                    <a:lstStyle/>
                    <a:p>
                      <a:pPr algn="l"/>
                      <a:r>
                        <a:rPr sz="1100" b="1">
                          <a:solidFill>
                            <a:srgbClr val="2E2E2E"/>
                          </a:solidFill>
                          <a:latin typeface="Calibri"/>
                        </a:rPr>
                        <a:t>Prestige Consumer Healthcare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U.S.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Diomed Group</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Canada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5F8FA"/>
                    </a:solidFill>
                  </a:tcPr>
                </a:tc>
              </a:tr>
              <a:tr h="246621">
                <a:tc>
                  <a:txBody>
                    <a:bodyPr wrap="none"/>
                    <a:lstStyle/>
                    <a:p>
                      <a:pPr algn="l"/>
                      <a:r>
                        <a:rPr sz="1100" b="1">
                          <a:solidFill>
                            <a:srgbClr val="2E2E2E"/>
                          </a:solidFill>
                          <a:latin typeface="Calibri"/>
                        </a:rPr>
                        <a:t>NeilMed Pharmaceuticals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Brazil</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Quest Products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Mexico</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5F8FA"/>
                    </a:solidFill>
                  </a:tcPr>
                </a:tc>
              </a:tr>
              <a:tr h="246621">
                <a:tc>
                  <a:txBody>
                    <a:bodyPr wrap="none"/>
                    <a:lstStyle/>
                    <a:p>
                      <a:pPr algn="l"/>
                      <a:r>
                        <a:rPr sz="1100" b="1">
                          <a:solidFill>
                            <a:srgbClr val="2E2E2E"/>
                          </a:solidFill>
                          <a:latin typeface="Calibri"/>
                        </a:rPr>
                        <a:t>Eosera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Colombia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Coopération Pharmaceutique Française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Rest of 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5F8FA"/>
                    </a:solidFill>
                  </a:tcPr>
                </a:tc>
              </a:tr>
              <a:tr h="246621">
                <a:tc>
                  <a:txBody>
                    <a:bodyPr wrap="none"/>
                    <a:lstStyle/>
                    <a:p>
                      <a:pPr algn="l"/>
                      <a:r>
                        <a:rPr sz="1100" b="1">
                          <a:solidFill>
                            <a:srgbClr val="2E2E2E"/>
                          </a:solidFill>
                          <a:latin typeface="Calibri"/>
                        </a:rPr>
                        <a:t>Orion Pharma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Germany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Farmacia Nordic</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U.K.</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5F8FA"/>
                    </a:solidFill>
                  </a:tcPr>
                </a:tc>
              </a:tr>
              <a:tr h="246621">
                <a:tc>
                  <a:txBody>
                    <a:bodyPr wrap="none"/>
                    <a:lstStyle/>
                    <a:p>
                      <a:pPr algn="l"/>
                      <a:r>
                        <a:rPr sz="1100" b="1">
                          <a:solidFill>
                            <a:srgbClr val="2E2E2E"/>
                          </a:solidFill>
                          <a:latin typeface="Calibri"/>
                        </a:rPr>
                        <a:t>Key Pharmaceuticals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France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Lanes Health</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Italy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1529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486275"/>
            <a:ext cx="11906250" cy="2143125"/>
          </a:xfrm>
          <a:prstGeom prst="roundRect">
            <a:avLst>
              <a:gd name="adj" fmla="val 35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572000"/>
            <a:ext cx="11639550" cy="209550"/>
          </a:xfrm>
          <a:prstGeom prst="rect">
            <a:avLst/>
          </a:prstGeom>
          <a:noFill/>
        </p:spPr>
        <p:txBody>
          <a:bodyPr wrap="square" lIns="0" rIns="19050" tIns="9525" bIns="9525">
            <a:spAutoFit/>
          </a:bodyPr>
          <a:lstStyle/>
          <a:p>
            <a:pPr algn="l"/>
            <a:r>
              <a:rPr sz="1300" b="1">
                <a:solidFill>
                  <a:srgbClr val="0B2E4A"/>
                </a:solidFill>
                <a:latin typeface="Calibri"/>
              </a:rPr>
              <a:t>Notes</a:t>
            </a:r>
          </a:p>
        </p:txBody>
      </p:sp>
      <p:sp>
        <p:nvSpPr>
          <p:cNvPr id="16" name="Rectangle 15"/>
          <p:cNvSpPr/>
          <p:nvPr/>
        </p:nvSpPr>
        <p:spPr>
          <a:xfrm>
            <a:off x="276225" y="48101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895850"/>
            <a:ext cx="11639550" cy="16573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This is a representative subset the full assessment lists 20–30 active participants (with brands, specifications, procurement strategies and SWOT). Note: value-chain economics are indicative derived from market modelling and expert validation, not company disclosures.</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8807461" y="2643567"/>
            <a:ext cx="366712" cy="533400"/>
          </a:xfrm>
          <a:prstGeom prst="rect">
            <a:avLst/>
          </a:prstGeom>
        </p:spPr>
      </p:pic>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Ear Wax Removal Products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Market Dynamics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Dynamics &amp; Forces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Market Dynamics &amp; Forces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Restraints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Opportunities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Recent Developments &amp; Milestones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Five Forces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Ear Wax Removal Products Market Dynamics by Region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growth driver, restraint and opportunity shaping each region of the global market</a:t>
            </a:r>
          </a:p>
        </p:txBody>
      </p:sp>
      <p:sp>
        <p:nvSpPr>
          <p:cNvPr id="10" name="TextBox 9"/>
          <p:cNvSpPr txBox="1"/>
          <p:nvPr/>
        </p:nvSpPr>
        <p:spPr>
          <a:xfrm>
            <a:off x="180975" y="1025515"/>
            <a:ext cx="8572500" cy="219044"/>
          </a:xfrm>
          <a:prstGeom prst="rect">
            <a:avLst/>
          </a:prstGeom>
          <a:noFill/>
        </p:spPr>
        <p:txBody>
          <a:bodyPr wrap="square" lIns="28575" rIns="28575" tIns="9525" bIns="9525" anchor="ctr">
            <a:spAutoFit/>
          </a:bodyPr>
          <a:lstStyle/>
          <a:p>
            <a:pPr algn="l"/>
            <a:r>
              <a:rPr sz="1150" b="1">
                <a:solidFill>
                  <a:srgbClr val="2E2E2E"/>
                </a:solidFill>
                <a:latin typeface="Calibri"/>
              </a:rPr>
              <a:t>Demand Dynamics by Region  ·  ranked by 2036 value</a:t>
            </a:r>
          </a:p>
        </p:txBody>
      </p:sp>
      <p:sp>
        <p:nvSpPr>
          <p:cNvPr id="11" name="Rectangle 10"/>
          <p:cNvSpPr/>
          <p:nvPr/>
        </p:nvSpPr>
        <p:spPr>
          <a:xfrm>
            <a:off x="142875" y="1262813"/>
            <a:ext cx="11906250" cy="255552"/>
          </a:xfrm>
          <a:prstGeom prst="rect">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0025" y="1262813"/>
            <a:ext cx="1428750" cy="255552"/>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3" name="TextBox 12"/>
          <p:cNvSpPr txBox="1"/>
          <p:nvPr/>
        </p:nvSpPr>
        <p:spPr>
          <a:xfrm>
            <a:off x="1724025" y="1262813"/>
            <a:ext cx="3714750" cy="255552"/>
          </a:xfrm>
          <a:prstGeom prst="rect">
            <a:avLst/>
          </a:prstGeom>
          <a:noFill/>
        </p:spPr>
        <p:txBody>
          <a:bodyPr wrap="square" lIns="28575" rIns="28575" tIns="9525" bIns="9525" anchor="ctr">
            <a:spAutoFit/>
          </a:bodyPr>
          <a:lstStyle/>
          <a:p>
            <a:pPr algn="l"/>
            <a:r>
              <a:rPr sz="1100" b="1">
                <a:solidFill>
                  <a:srgbClr val="0B2E4A"/>
                </a:solidFill>
                <a:latin typeface="Calibri"/>
              </a:rPr>
              <a:t>Growth Drivers</a:t>
            </a:r>
          </a:p>
        </p:txBody>
      </p:sp>
      <p:sp>
        <p:nvSpPr>
          <p:cNvPr id="14" name="TextBox 13"/>
          <p:cNvSpPr txBox="1"/>
          <p:nvPr/>
        </p:nvSpPr>
        <p:spPr>
          <a:xfrm>
            <a:off x="5534025" y="1262813"/>
            <a:ext cx="2762250" cy="255552"/>
          </a:xfrm>
          <a:prstGeom prst="rect">
            <a:avLst/>
          </a:prstGeom>
          <a:noFill/>
        </p:spPr>
        <p:txBody>
          <a:bodyPr wrap="square" lIns="28575" rIns="28575" tIns="9525" bIns="9525" anchor="ctr">
            <a:spAutoFit/>
          </a:bodyPr>
          <a:lstStyle/>
          <a:p>
            <a:pPr algn="l"/>
            <a:r>
              <a:rPr sz="1100" b="1">
                <a:solidFill>
                  <a:srgbClr val="0B2E4A"/>
                </a:solidFill>
                <a:latin typeface="Calibri"/>
              </a:rPr>
              <a:t>Restraints</a:t>
            </a:r>
          </a:p>
        </p:txBody>
      </p:sp>
      <p:sp>
        <p:nvSpPr>
          <p:cNvPr id="15" name="TextBox 14"/>
          <p:cNvSpPr txBox="1"/>
          <p:nvPr/>
        </p:nvSpPr>
        <p:spPr>
          <a:xfrm>
            <a:off x="8391525" y="1262813"/>
            <a:ext cx="3619500" cy="255552"/>
          </a:xfrm>
          <a:prstGeom prst="rect">
            <a:avLst/>
          </a:prstGeom>
          <a:noFill/>
        </p:spPr>
        <p:txBody>
          <a:bodyPr wrap="square" lIns="28575" rIns="28575" tIns="9525" bIns="9525" anchor="ctr">
            <a:spAutoFit/>
          </a:bodyPr>
          <a:lstStyle/>
          <a:p>
            <a:pPr algn="l"/>
            <a:r>
              <a:rPr sz="1100" b="1">
                <a:solidFill>
                  <a:srgbClr val="0B2E4A"/>
                </a:solidFill>
                <a:latin typeface="Calibri"/>
              </a:rPr>
              <a:t>Priority Opportunities</a:t>
            </a:r>
          </a:p>
        </p:txBody>
      </p:sp>
      <p:sp>
        <p:nvSpPr>
          <p:cNvPr id="16" name="Rectangle 15"/>
          <p:cNvSpPr/>
          <p:nvPr/>
        </p:nvSpPr>
        <p:spPr>
          <a:xfrm>
            <a:off x="142875" y="1518365"/>
            <a:ext cx="11906250" cy="7027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0025" y="1518365"/>
            <a:ext cx="1428750" cy="702767"/>
          </a:xfrm>
          <a:prstGeom prst="rect">
            <a:avLst/>
          </a:prstGeom>
          <a:noFill/>
        </p:spPr>
        <p:txBody>
          <a:bodyPr wrap="square" lIns="28575" rIns="28575" tIns="9525" bIns="9525" anchor="ctr">
            <a:spAutoFit/>
          </a:bodyPr>
          <a:lstStyle/>
          <a:p>
            <a:pPr algn="l"/>
            <a:r>
              <a:rPr sz="1100" b="1">
                <a:solidFill>
                  <a:srgbClr val="2E2E2E"/>
                </a:solidFill>
                <a:latin typeface="Calibri"/>
              </a:rPr>
              <a:t>North America</a:t>
            </a:r>
          </a:p>
        </p:txBody>
      </p:sp>
      <p:sp>
        <p:nvSpPr>
          <p:cNvPr id="18" name="TextBox 17"/>
          <p:cNvSpPr txBox="1"/>
          <p:nvPr/>
        </p:nvSpPr>
        <p:spPr>
          <a:xfrm>
            <a:off x="1724025" y="1545745"/>
            <a:ext cx="36766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9" name="TextBox 18"/>
          <p:cNvSpPr txBox="1"/>
          <p:nvPr/>
        </p:nvSpPr>
        <p:spPr>
          <a:xfrm>
            <a:off x="5534025" y="1545745"/>
            <a:ext cx="27241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0" name="TextBox 19"/>
          <p:cNvSpPr txBox="1"/>
          <p:nvPr/>
        </p:nvSpPr>
        <p:spPr>
          <a:xfrm>
            <a:off x="8391525" y="1545745"/>
            <a:ext cx="358140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Rectangle 20"/>
          <p:cNvSpPr/>
          <p:nvPr/>
        </p:nvSpPr>
        <p:spPr>
          <a:xfrm>
            <a:off x="142875" y="2221132"/>
            <a:ext cx="11906250" cy="702767"/>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0025" y="2221132"/>
            <a:ext cx="1428750" cy="702767"/>
          </a:xfrm>
          <a:prstGeom prst="rect">
            <a:avLst/>
          </a:prstGeom>
          <a:noFill/>
        </p:spPr>
        <p:txBody>
          <a:bodyPr wrap="square" lIns="28575" rIns="28575" tIns="9525" bIns="9525" anchor="ctr">
            <a:spAutoFit/>
          </a:bodyPr>
          <a:lstStyle/>
          <a:p>
            <a:pPr algn="l"/>
            <a:r>
              <a:rPr sz="1100" b="1">
                <a:solidFill>
                  <a:srgbClr val="2E2E2E"/>
                </a:solidFill>
                <a:latin typeface="Calibri"/>
              </a:rPr>
              <a:t>Europe</a:t>
            </a:r>
          </a:p>
        </p:txBody>
      </p:sp>
      <p:sp>
        <p:nvSpPr>
          <p:cNvPr id="23" name="TextBox 22"/>
          <p:cNvSpPr txBox="1"/>
          <p:nvPr/>
        </p:nvSpPr>
        <p:spPr>
          <a:xfrm>
            <a:off x="1724025" y="2248513"/>
            <a:ext cx="36766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4" name="TextBox 23"/>
          <p:cNvSpPr txBox="1"/>
          <p:nvPr/>
        </p:nvSpPr>
        <p:spPr>
          <a:xfrm>
            <a:off x="5534025" y="2248513"/>
            <a:ext cx="27241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5" name="TextBox 24"/>
          <p:cNvSpPr txBox="1"/>
          <p:nvPr/>
        </p:nvSpPr>
        <p:spPr>
          <a:xfrm>
            <a:off x="8391525" y="2248513"/>
            <a:ext cx="358140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6" name="Rectangle 25"/>
          <p:cNvSpPr/>
          <p:nvPr/>
        </p:nvSpPr>
        <p:spPr>
          <a:xfrm>
            <a:off x="142875" y="2923899"/>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0025" y="2923899"/>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South Asia &amp; Pacific</a:t>
            </a:r>
          </a:p>
        </p:txBody>
      </p:sp>
      <p:sp>
        <p:nvSpPr>
          <p:cNvPr id="28" name="TextBox 27"/>
          <p:cNvSpPr txBox="1"/>
          <p:nvPr/>
        </p:nvSpPr>
        <p:spPr>
          <a:xfrm>
            <a:off x="1724025" y="2951280"/>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TextBox 28"/>
          <p:cNvSpPr txBox="1"/>
          <p:nvPr/>
        </p:nvSpPr>
        <p:spPr>
          <a:xfrm>
            <a:off x="5534025" y="2951280"/>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Growth moderating vs history.</a:t>
            </a:r>
          </a:p>
        </p:txBody>
      </p:sp>
      <p:sp>
        <p:nvSpPr>
          <p:cNvPr id="30" name="TextBox 29"/>
          <p:cNvSpPr txBox="1"/>
          <p:nvPr/>
        </p:nvSpPr>
        <p:spPr>
          <a:xfrm>
            <a:off x="8391525" y="2951280"/>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1" name="Rectangle 30"/>
          <p:cNvSpPr/>
          <p:nvPr/>
        </p:nvSpPr>
        <p:spPr>
          <a:xfrm>
            <a:off x="142875" y="3435003"/>
            <a:ext cx="11906250" cy="51110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00025" y="3435003"/>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East Asia</a:t>
            </a:r>
          </a:p>
        </p:txBody>
      </p:sp>
      <p:sp>
        <p:nvSpPr>
          <p:cNvPr id="33" name="TextBox 32"/>
          <p:cNvSpPr txBox="1"/>
          <p:nvPr/>
        </p:nvSpPr>
        <p:spPr>
          <a:xfrm>
            <a:off x="1724025" y="3462383"/>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4" name="TextBox 33"/>
          <p:cNvSpPr txBox="1"/>
          <p:nvPr/>
        </p:nvSpPr>
        <p:spPr>
          <a:xfrm>
            <a:off x="5534025" y="3462383"/>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5" name="TextBox 34"/>
          <p:cNvSpPr txBox="1"/>
          <p:nvPr/>
        </p:nvSpPr>
        <p:spPr>
          <a:xfrm>
            <a:off x="8391525" y="3462383"/>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6" name="Rectangle 35"/>
          <p:cNvSpPr/>
          <p:nvPr/>
        </p:nvSpPr>
        <p:spPr>
          <a:xfrm>
            <a:off x="142875" y="3946106"/>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0025" y="3946106"/>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Latin America</a:t>
            </a:r>
          </a:p>
        </p:txBody>
      </p:sp>
      <p:sp>
        <p:nvSpPr>
          <p:cNvPr id="38" name="TextBox 37"/>
          <p:cNvSpPr txBox="1"/>
          <p:nvPr/>
        </p:nvSpPr>
        <p:spPr>
          <a:xfrm>
            <a:off x="1724025" y="3973487"/>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9" name="TextBox 38"/>
          <p:cNvSpPr txBox="1"/>
          <p:nvPr/>
        </p:nvSpPr>
        <p:spPr>
          <a:xfrm>
            <a:off x="5534025" y="3973487"/>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0" name="TextBox 39"/>
          <p:cNvSpPr txBox="1"/>
          <p:nvPr/>
        </p:nvSpPr>
        <p:spPr>
          <a:xfrm>
            <a:off x="8391525" y="3973487"/>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Rectangle 40"/>
          <p:cNvSpPr/>
          <p:nvPr/>
        </p:nvSpPr>
        <p:spPr>
          <a:xfrm>
            <a:off x="142875" y="4457210"/>
            <a:ext cx="11906250" cy="51110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00025" y="4457210"/>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Middle East &amp; Africa</a:t>
            </a:r>
          </a:p>
        </p:txBody>
      </p:sp>
      <p:sp>
        <p:nvSpPr>
          <p:cNvPr id="43" name="TextBox 42"/>
          <p:cNvSpPr txBox="1"/>
          <p:nvPr/>
        </p:nvSpPr>
        <p:spPr>
          <a:xfrm>
            <a:off x="1724025" y="4484591"/>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4" name="TextBox 43"/>
          <p:cNvSpPr txBox="1"/>
          <p:nvPr/>
        </p:nvSpPr>
        <p:spPr>
          <a:xfrm>
            <a:off x="5534025" y="4484591"/>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5" name="TextBox 44"/>
          <p:cNvSpPr txBox="1"/>
          <p:nvPr/>
        </p:nvSpPr>
        <p:spPr>
          <a:xfrm>
            <a:off x="8391525" y="4484591"/>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cxnSp>
        <p:nvCxnSpPr>
          <p:cNvPr id="46" name="Connector 45"/>
          <p:cNvCxnSpPr/>
          <p:nvPr/>
        </p:nvCxnSpPr>
        <p:spPr>
          <a:xfrm>
            <a:off x="142875" y="4968314"/>
            <a:ext cx="11906250" cy="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200025" y="4986567"/>
            <a:ext cx="3810000" cy="182537"/>
          </a:xfrm>
          <a:prstGeom prst="rect">
            <a:avLst/>
          </a:prstGeom>
          <a:noFill/>
        </p:spPr>
        <p:txBody>
          <a:bodyPr wrap="square" lIns="28575" rIns="28575" tIns="9525" bIns="9525" anchor="ctr">
            <a:spAutoFit/>
          </a:bodyPr>
          <a:lstStyle/>
          <a:p>
            <a:pPr algn="l"/>
            <a:r>
              <a:rPr sz="1100" b="0">
                <a:solidFill>
                  <a:srgbClr val="6C7A89"/>
                </a:solidFill>
                <a:latin typeface="Calibri"/>
              </a:rPr>
              <a:t>Source: FMI Analysis, 2026</a:t>
            </a:r>
          </a:p>
        </p:txBody>
      </p:sp>
      <p:sp>
        <p:nvSpPr>
          <p:cNvPr id="48" name="Rounded Rectangle 47"/>
          <p:cNvSpPr/>
          <p:nvPr/>
        </p:nvSpPr>
        <p:spPr>
          <a:xfrm>
            <a:off x="142875" y="5242119"/>
            <a:ext cx="11906250" cy="994827"/>
          </a:xfrm>
          <a:prstGeom prst="roundRect">
            <a:avLst>
              <a:gd name="adj" fmla="val 479"/>
            </a:avLst>
          </a:prstGeom>
          <a:solidFill>
            <a:srgbClr val="FFFFFF"/>
          </a:solidFill>
          <a:ln w="1270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76225" y="5278626"/>
            <a:ext cx="3810000" cy="219044"/>
          </a:xfrm>
          <a:prstGeom prst="rect">
            <a:avLst/>
          </a:prstGeom>
          <a:noFill/>
        </p:spPr>
        <p:txBody>
          <a:bodyPr wrap="square" lIns="28575" rIns="28575" tIns="9525" bIns="9525" anchor="ctr">
            <a:spAutoFit/>
          </a:bodyPr>
          <a:lstStyle/>
          <a:p>
            <a:pPr algn="l"/>
            <a:r>
              <a:rPr sz="1200" b="1">
                <a:solidFill>
                  <a:srgbClr val="0B2E4A"/>
                </a:solidFill>
                <a:latin typeface="Calibri"/>
              </a:rPr>
              <a:t>KEY TAKEAWAY</a:t>
            </a:r>
          </a:p>
        </p:txBody>
      </p:sp>
      <p:cxnSp>
        <p:nvCxnSpPr>
          <p:cNvPr id="50" name="Connector 49"/>
          <p:cNvCxnSpPr/>
          <p:nvPr/>
        </p:nvCxnSpPr>
        <p:spPr>
          <a:xfrm>
            <a:off x="276225" y="5515924"/>
            <a:ext cx="11639550" cy="0"/>
          </a:xfrm>
          <a:prstGeom prst="line">
            <a:avLst/>
          </a:prstGeom>
          <a:ln w="15875">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276225" y="5570686"/>
            <a:ext cx="1152525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3" name="TextBox 52"/>
          <p:cNvSpPr txBox="1"/>
          <p:nvPr/>
        </p:nvSpPr>
        <p:spPr>
          <a:xfrm>
            <a:off x="1752600" y="1702107"/>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54" name="Picture 53" descr="lock.png"/>
          <p:cNvPicPr>
            <a:picLocks noChangeAspect="1"/>
          </p:cNvPicPr>
          <p:nvPr/>
        </p:nvPicPr>
        <p:blipFill>
          <a:blip r:embed="rId4"/>
          <a:stretch>
            <a:fillRect/>
          </a:stretch>
        </p:blipFill>
        <p:spPr>
          <a:xfrm>
            <a:off x="2438789" y="1692329"/>
            <a:ext cx="128699" cy="187198"/>
          </a:xfrm>
          <a:prstGeom prst="rect">
            <a:avLst/>
          </a:prstGeom>
        </p:spPr>
      </p:pic>
      <p:sp>
        <p:nvSpPr>
          <p:cNvPr id="55" name="TextBox 54"/>
          <p:cNvSpPr txBox="1"/>
          <p:nvPr/>
        </p:nvSpPr>
        <p:spPr>
          <a:xfrm>
            <a:off x="2606285" y="1702107"/>
            <a:ext cx="1556419" cy="186689"/>
          </a:xfrm>
          <a:prstGeom prst="rect">
            <a:avLst/>
          </a:prstGeom>
          <a:noFill/>
        </p:spPr>
        <p:txBody>
          <a:bodyPr wrap="none" lIns="0" rIns="0" tIns="0" bIns="0">
            <a:spAutoFit/>
          </a:bodyPr>
          <a:lstStyle/>
          <a:p>
            <a:r>
              <a:rPr sz="1100" b="0">
                <a:solidFill>
                  <a:srgbClr val="2E2E2E"/>
                </a:solidFill>
                <a:latin typeface="Calibri"/>
              </a:rPr>
              <a:t>share), Installed demand (</a:t>
            </a:r>
          </a:p>
        </p:txBody>
      </p:sp>
      <p:pic>
        <p:nvPicPr>
          <p:cNvPr id="56" name="Picture 55" descr="lock.png"/>
          <p:cNvPicPr>
            <a:picLocks noChangeAspect="1"/>
          </p:cNvPicPr>
          <p:nvPr/>
        </p:nvPicPr>
        <p:blipFill>
          <a:blip r:embed="rId4"/>
          <a:stretch>
            <a:fillRect/>
          </a:stretch>
        </p:blipFill>
        <p:spPr>
          <a:xfrm>
            <a:off x="4110756" y="1692329"/>
            <a:ext cx="128699" cy="187198"/>
          </a:xfrm>
          <a:prstGeom prst="rect">
            <a:avLst/>
          </a:prstGeom>
        </p:spPr>
      </p:pic>
      <p:sp>
        <p:nvSpPr>
          <p:cNvPr id="57" name="TextBox 56"/>
          <p:cNvSpPr txBox="1"/>
          <p:nvPr/>
        </p:nvSpPr>
        <p:spPr>
          <a:xfrm>
            <a:off x="4278252" y="1702107"/>
            <a:ext cx="472636"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58" name="TextBox 57"/>
          <p:cNvSpPr txBox="1"/>
          <p:nvPr/>
        </p:nvSpPr>
        <p:spPr>
          <a:xfrm>
            <a:off x="1752600" y="1869747"/>
            <a:ext cx="2534592" cy="186689"/>
          </a:xfrm>
          <a:prstGeom prst="rect">
            <a:avLst/>
          </a:prstGeom>
          <a:noFill/>
        </p:spPr>
        <p:txBody>
          <a:bodyPr wrap="none" lIns="0" rIns="0" tIns="0" bIns="0">
            <a:spAutoFit/>
          </a:bodyPr>
          <a:lstStyle/>
          <a:p>
            <a:r>
              <a:rPr sz="1100" b="0">
                <a:solidFill>
                  <a:srgbClr val="2E2E2E"/>
                </a:solidFill>
                <a:latin typeface="Calibri"/>
              </a:rPr>
              <a:t>Irrigation Devices and Accessories demand.</a:t>
            </a:r>
          </a:p>
        </p:txBody>
      </p:sp>
      <p:sp>
        <p:nvSpPr>
          <p:cNvPr id="59" name="TextBox 58"/>
          <p:cNvSpPr txBox="1"/>
          <p:nvPr/>
        </p:nvSpPr>
        <p:spPr>
          <a:xfrm>
            <a:off x="5562600" y="1618288"/>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60" name="Picture 59" descr="lock.png"/>
          <p:cNvPicPr>
            <a:picLocks noChangeAspect="1"/>
          </p:cNvPicPr>
          <p:nvPr/>
        </p:nvPicPr>
        <p:blipFill>
          <a:blip r:embed="rId4"/>
          <a:stretch>
            <a:fillRect/>
          </a:stretch>
        </p:blipFill>
        <p:spPr>
          <a:xfrm>
            <a:off x="6797766" y="1608509"/>
            <a:ext cx="128699" cy="187198"/>
          </a:xfrm>
          <a:prstGeom prst="rect">
            <a:avLst/>
          </a:prstGeom>
        </p:spPr>
      </p:pic>
      <p:sp>
        <p:nvSpPr>
          <p:cNvPr id="61" name="TextBox 60"/>
          <p:cNvSpPr txBox="1"/>
          <p:nvPr/>
        </p:nvSpPr>
        <p:spPr>
          <a:xfrm>
            <a:off x="6965262" y="1618288"/>
            <a:ext cx="689297" cy="186689"/>
          </a:xfrm>
          <a:prstGeom prst="rect">
            <a:avLst/>
          </a:prstGeom>
          <a:noFill/>
        </p:spPr>
        <p:txBody>
          <a:bodyPr wrap="none" lIns="0" rIns="0" tIns="0" bIns="0">
            <a:spAutoFit/>
          </a:bodyPr>
          <a:lstStyle/>
          <a:p>
            <a:r>
              <a:rPr sz="1100" b="0">
                <a:solidFill>
                  <a:srgbClr val="2E2E2E"/>
                </a:solidFill>
                <a:latin typeface="Calibri"/>
              </a:rPr>
              <a:t>BPS, Rising</a:t>
            </a:r>
          </a:p>
        </p:txBody>
      </p:sp>
      <p:sp>
        <p:nvSpPr>
          <p:cNvPr id="62" name="TextBox 61"/>
          <p:cNvSpPr txBox="1"/>
          <p:nvPr/>
        </p:nvSpPr>
        <p:spPr>
          <a:xfrm>
            <a:off x="5562600" y="1785927"/>
            <a:ext cx="747414" cy="186689"/>
          </a:xfrm>
          <a:prstGeom prst="rect">
            <a:avLst/>
          </a:prstGeom>
          <a:noFill/>
        </p:spPr>
        <p:txBody>
          <a:bodyPr wrap="none" lIns="0" rIns="0" tIns="0" bIns="0">
            <a:spAutoFit/>
          </a:bodyPr>
          <a:lstStyle/>
          <a:p>
            <a:r>
              <a:rPr sz="1100" b="0">
                <a:solidFill>
                  <a:srgbClr val="2E2E2E"/>
                </a:solidFill>
                <a:latin typeface="Calibri"/>
              </a:rPr>
              <a:t>realisation (</a:t>
            </a:r>
          </a:p>
        </p:txBody>
      </p:sp>
      <p:pic>
        <p:nvPicPr>
          <p:cNvPr id="63" name="Picture 62" descr="lock.png"/>
          <p:cNvPicPr>
            <a:picLocks noChangeAspect="1"/>
          </p:cNvPicPr>
          <p:nvPr/>
        </p:nvPicPr>
        <p:blipFill>
          <a:blip r:embed="rId4"/>
          <a:stretch>
            <a:fillRect/>
          </a:stretch>
        </p:blipFill>
        <p:spPr>
          <a:xfrm>
            <a:off x="6258066" y="1776149"/>
            <a:ext cx="128699" cy="187198"/>
          </a:xfrm>
          <a:prstGeom prst="rect">
            <a:avLst/>
          </a:prstGeom>
        </p:spPr>
      </p:pic>
      <p:sp>
        <p:nvSpPr>
          <p:cNvPr id="64" name="TextBox 63"/>
          <p:cNvSpPr txBox="1"/>
          <p:nvPr/>
        </p:nvSpPr>
        <p:spPr>
          <a:xfrm>
            <a:off x="6425562" y="1785927"/>
            <a:ext cx="1459011" cy="186689"/>
          </a:xfrm>
          <a:prstGeom prst="rect">
            <a:avLst/>
          </a:prstGeom>
          <a:noFill/>
        </p:spPr>
        <p:txBody>
          <a:bodyPr wrap="none" lIns="0" rIns="0" tIns="0" bIns="0">
            <a:spAutoFit/>
          </a:bodyPr>
          <a:lstStyle/>
          <a:p>
            <a:r>
              <a:rPr sz="1100" b="0">
                <a:solidFill>
                  <a:srgbClr val="2E2E2E"/>
                </a:solidFill>
                <a:latin typeface="Calibri"/>
              </a:rPr>
              <a:t>), Growth moderating vs</a:t>
            </a:r>
          </a:p>
        </p:txBody>
      </p:sp>
      <p:sp>
        <p:nvSpPr>
          <p:cNvPr id="65" name="TextBox 64"/>
          <p:cNvSpPr txBox="1"/>
          <p:nvPr/>
        </p:nvSpPr>
        <p:spPr>
          <a:xfrm>
            <a:off x="5562600" y="1953567"/>
            <a:ext cx="504304" cy="186689"/>
          </a:xfrm>
          <a:prstGeom prst="rect">
            <a:avLst/>
          </a:prstGeom>
          <a:noFill/>
        </p:spPr>
        <p:txBody>
          <a:bodyPr wrap="none" lIns="0" rIns="0" tIns="0" bIns="0">
            <a:spAutoFit/>
          </a:bodyPr>
          <a:lstStyle/>
          <a:p>
            <a:r>
              <a:rPr sz="1100" b="0">
                <a:solidFill>
                  <a:srgbClr val="2E2E2E"/>
                </a:solidFill>
                <a:latin typeface="Calibri"/>
              </a:rPr>
              <a:t>history.</a:t>
            </a:r>
          </a:p>
        </p:txBody>
      </p:sp>
      <p:sp>
        <p:nvSpPr>
          <p:cNvPr id="66" name="TextBox 65"/>
          <p:cNvSpPr txBox="1"/>
          <p:nvPr/>
        </p:nvSpPr>
        <p:spPr>
          <a:xfrm>
            <a:off x="8420100" y="1785927"/>
            <a:ext cx="1025689" cy="186689"/>
          </a:xfrm>
          <a:prstGeom prst="rect">
            <a:avLst/>
          </a:prstGeom>
          <a:noFill/>
        </p:spPr>
        <p:txBody>
          <a:bodyPr wrap="none" lIns="0" rIns="0" tIns="0" bIns="0">
            <a:spAutoFit/>
          </a:bodyPr>
          <a:lstStyle/>
          <a:p>
            <a:r>
              <a:rPr sz="1100" b="0">
                <a:solidFill>
                  <a:srgbClr val="2E2E2E"/>
                </a:solidFill>
                <a:latin typeface="Calibri"/>
              </a:rPr>
              <a:t>Scale Ear Drops (</a:t>
            </a:r>
          </a:p>
        </p:txBody>
      </p:sp>
      <p:pic>
        <p:nvPicPr>
          <p:cNvPr id="67" name="Picture 66" descr="lock.png"/>
          <p:cNvPicPr>
            <a:picLocks noChangeAspect="1"/>
          </p:cNvPicPr>
          <p:nvPr/>
        </p:nvPicPr>
        <p:blipFill>
          <a:blip r:embed="rId4"/>
          <a:stretch>
            <a:fillRect/>
          </a:stretch>
        </p:blipFill>
        <p:spPr>
          <a:xfrm>
            <a:off x="9393840" y="1776149"/>
            <a:ext cx="128699" cy="187198"/>
          </a:xfrm>
          <a:prstGeom prst="rect">
            <a:avLst/>
          </a:prstGeom>
        </p:spPr>
      </p:pic>
      <p:sp>
        <p:nvSpPr>
          <p:cNvPr id="68" name="TextBox 67"/>
          <p:cNvSpPr txBox="1"/>
          <p:nvPr/>
        </p:nvSpPr>
        <p:spPr>
          <a:xfrm>
            <a:off x="9561336" y="1785927"/>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69" name="Picture 68" descr="lock.png"/>
          <p:cNvPicPr>
            <a:picLocks noChangeAspect="1"/>
          </p:cNvPicPr>
          <p:nvPr/>
        </p:nvPicPr>
        <p:blipFill>
          <a:blip r:embed="rId4"/>
          <a:stretch>
            <a:fillRect/>
          </a:stretch>
        </p:blipFill>
        <p:spPr>
          <a:xfrm>
            <a:off x="9662805" y="1776149"/>
            <a:ext cx="128699" cy="187198"/>
          </a:xfrm>
          <a:prstGeom prst="rect">
            <a:avLst/>
          </a:prstGeom>
        </p:spPr>
      </p:pic>
      <p:sp>
        <p:nvSpPr>
          <p:cNvPr id="70" name="TextBox 69"/>
          <p:cNvSpPr txBox="1"/>
          <p:nvPr/>
        </p:nvSpPr>
        <p:spPr>
          <a:xfrm>
            <a:off x="9830301" y="1785927"/>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71" name="TextBox 70"/>
          <p:cNvSpPr txBox="1"/>
          <p:nvPr/>
        </p:nvSpPr>
        <p:spPr>
          <a:xfrm>
            <a:off x="1752600" y="2404876"/>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72" name="Picture 71" descr="lock.png"/>
          <p:cNvPicPr>
            <a:picLocks noChangeAspect="1"/>
          </p:cNvPicPr>
          <p:nvPr/>
        </p:nvPicPr>
        <p:blipFill>
          <a:blip r:embed="rId4"/>
          <a:stretch>
            <a:fillRect/>
          </a:stretch>
        </p:blipFill>
        <p:spPr>
          <a:xfrm>
            <a:off x="2438789" y="2395097"/>
            <a:ext cx="128699" cy="187198"/>
          </a:xfrm>
          <a:prstGeom prst="rect">
            <a:avLst/>
          </a:prstGeom>
        </p:spPr>
      </p:pic>
      <p:sp>
        <p:nvSpPr>
          <p:cNvPr id="73" name="TextBox 72"/>
          <p:cNvSpPr txBox="1"/>
          <p:nvPr/>
        </p:nvSpPr>
        <p:spPr>
          <a:xfrm>
            <a:off x="2606285" y="2404876"/>
            <a:ext cx="1683568" cy="186689"/>
          </a:xfrm>
          <a:prstGeom prst="rect">
            <a:avLst/>
          </a:prstGeom>
          <a:noFill/>
        </p:spPr>
        <p:txBody>
          <a:bodyPr wrap="none" lIns="0" rIns="0" tIns="0" bIns="0">
            <a:spAutoFit/>
          </a:bodyPr>
          <a:lstStyle/>
          <a:p>
            <a:r>
              <a:rPr sz="1100" b="0">
                <a:solidFill>
                  <a:srgbClr val="2E2E2E"/>
                </a:solidFill>
                <a:latin typeface="Calibri"/>
              </a:rPr>
              <a:t>share), Above-market pace (</a:t>
            </a:r>
          </a:p>
        </p:txBody>
      </p:sp>
      <p:pic>
        <p:nvPicPr>
          <p:cNvPr id="74" name="Picture 73" descr="lock.png"/>
          <p:cNvPicPr>
            <a:picLocks noChangeAspect="1"/>
          </p:cNvPicPr>
          <p:nvPr/>
        </p:nvPicPr>
        <p:blipFill>
          <a:blip r:embed="rId4"/>
          <a:stretch>
            <a:fillRect/>
          </a:stretch>
        </p:blipFill>
        <p:spPr>
          <a:xfrm>
            <a:off x="4237905" y="2395097"/>
            <a:ext cx="128699" cy="187198"/>
          </a:xfrm>
          <a:prstGeom prst="rect">
            <a:avLst/>
          </a:prstGeom>
        </p:spPr>
      </p:pic>
      <p:sp>
        <p:nvSpPr>
          <p:cNvPr id="75" name="TextBox 74"/>
          <p:cNvSpPr txBox="1"/>
          <p:nvPr/>
        </p:nvSpPr>
        <p:spPr>
          <a:xfrm>
            <a:off x="4405401" y="2404876"/>
            <a:ext cx="708942" cy="186689"/>
          </a:xfrm>
          <a:prstGeom prst="rect">
            <a:avLst/>
          </a:prstGeom>
          <a:noFill/>
        </p:spPr>
        <p:txBody>
          <a:bodyPr wrap="none" lIns="0" rIns="0" tIns="0" bIns="0">
            <a:spAutoFit/>
          </a:bodyPr>
          <a:lstStyle/>
          <a:p>
            <a:r>
              <a:rPr sz="1100" b="0">
                <a:solidFill>
                  <a:srgbClr val="2E2E2E"/>
                </a:solidFill>
                <a:latin typeface="Calibri"/>
              </a:rPr>
              <a:t>), Irrigation</a:t>
            </a:r>
          </a:p>
        </p:txBody>
      </p:sp>
      <p:sp>
        <p:nvSpPr>
          <p:cNvPr id="76" name="TextBox 75"/>
          <p:cNvSpPr txBox="1"/>
          <p:nvPr/>
        </p:nvSpPr>
        <p:spPr>
          <a:xfrm>
            <a:off x="1752600" y="2572516"/>
            <a:ext cx="3323952" cy="186689"/>
          </a:xfrm>
          <a:prstGeom prst="rect">
            <a:avLst/>
          </a:prstGeom>
          <a:noFill/>
        </p:spPr>
        <p:txBody>
          <a:bodyPr wrap="none" lIns="0" rIns="0" tIns="0" bIns="0">
            <a:spAutoFit/>
          </a:bodyPr>
          <a:lstStyle/>
          <a:p>
            <a:r>
              <a:rPr sz="1100" b="0">
                <a:solidFill>
                  <a:srgbClr val="2E2E2E"/>
                </a:solidFill>
                <a:latin typeface="Calibri"/>
              </a:rPr>
              <a:t>Devices and Accessories demand, Accelerating vs history.</a:t>
            </a:r>
          </a:p>
        </p:txBody>
      </p:sp>
      <p:sp>
        <p:nvSpPr>
          <p:cNvPr id="77" name="TextBox 76"/>
          <p:cNvSpPr txBox="1"/>
          <p:nvPr/>
        </p:nvSpPr>
        <p:spPr>
          <a:xfrm>
            <a:off x="5562600" y="2488696"/>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78" name="Picture 77" descr="lock.png"/>
          <p:cNvPicPr>
            <a:picLocks noChangeAspect="1"/>
          </p:cNvPicPr>
          <p:nvPr/>
        </p:nvPicPr>
        <p:blipFill>
          <a:blip r:embed="rId4"/>
          <a:stretch>
            <a:fillRect/>
          </a:stretch>
        </p:blipFill>
        <p:spPr>
          <a:xfrm>
            <a:off x="6623687" y="2478917"/>
            <a:ext cx="128699" cy="187198"/>
          </a:xfrm>
          <a:prstGeom prst="rect">
            <a:avLst/>
          </a:prstGeom>
        </p:spPr>
      </p:pic>
      <p:sp>
        <p:nvSpPr>
          <p:cNvPr id="79" name="TextBox 78"/>
          <p:cNvSpPr txBox="1"/>
          <p:nvPr/>
        </p:nvSpPr>
        <p:spPr>
          <a:xfrm>
            <a:off x="6791183" y="2488696"/>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80" name="TextBox 79"/>
          <p:cNvSpPr txBox="1"/>
          <p:nvPr/>
        </p:nvSpPr>
        <p:spPr>
          <a:xfrm>
            <a:off x="8420100" y="2488696"/>
            <a:ext cx="1025689" cy="186689"/>
          </a:xfrm>
          <a:prstGeom prst="rect">
            <a:avLst/>
          </a:prstGeom>
          <a:noFill/>
        </p:spPr>
        <p:txBody>
          <a:bodyPr wrap="none" lIns="0" rIns="0" tIns="0" bIns="0">
            <a:spAutoFit/>
          </a:bodyPr>
          <a:lstStyle/>
          <a:p>
            <a:r>
              <a:rPr sz="1100" b="0">
                <a:solidFill>
                  <a:srgbClr val="2E2E2E"/>
                </a:solidFill>
                <a:latin typeface="Calibri"/>
              </a:rPr>
              <a:t>Scale Ear Drops (</a:t>
            </a:r>
          </a:p>
        </p:txBody>
      </p:sp>
      <p:pic>
        <p:nvPicPr>
          <p:cNvPr id="81" name="Picture 80" descr="lock.png"/>
          <p:cNvPicPr>
            <a:picLocks noChangeAspect="1"/>
          </p:cNvPicPr>
          <p:nvPr/>
        </p:nvPicPr>
        <p:blipFill>
          <a:blip r:embed="rId4"/>
          <a:stretch>
            <a:fillRect/>
          </a:stretch>
        </p:blipFill>
        <p:spPr>
          <a:xfrm>
            <a:off x="9393840" y="2478917"/>
            <a:ext cx="128699" cy="187198"/>
          </a:xfrm>
          <a:prstGeom prst="rect">
            <a:avLst/>
          </a:prstGeom>
        </p:spPr>
      </p:pic>
      <p:sp>
        <p:nvSpPr>
          <p:cNvPr id="82" name="TextBox 81"/>
          <p:cNvSpPr txBox="1"/>
          <p:nvPr/>
        </p:nvSpPr>
        <p:spPr>
          <a:xfrm>
            <a:off x="9561336" y="2488696"/>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83" name="Picture 82" descr="lock.png"/>
          <p:cNvPicPr>
            <a:picLocks noChangeAspect="1"/>
          </p:cNvPicPr>
          <p:nvPr/>
        </p:nvPicPr>
        <p:blipFill>
          <a:blip r:embed="rId4"/>
          <a:stretch>
            <a:fillRect/>
          </a:stretch>
        </p:blipFill>
        <p:spPr>
          <a:xfrm>
            <a:off x="9662805" y="2478917"/>
            <a:ext cx="128699" cy="187198"/>
          </a:xfrm>
          <a:prstGeom prst="rect">
            <a:avLst/>
          </a:prstGeom>
        </p:spPr>
      </p:pic>
      <p:sp>
        <p:nvSpPr>
          <p:cNvPr id="84" name="TextBox 83"/>
          <p:cNvSpPr txBox="1"/>
          <p:nvPr/>
        </p:nvSpPr>
        <p:spPr>
          <a:xfrm>
            <a:off x="9830301" y="2488696"/>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85" name="TextBox 84"/>
          <p:cNvSpPr txBox="1"/>
          <p:nvPr/>
        </p:nvSpPr>
        <p:spPr>
          <a:xfrm>
            <a:off x="1752600" y="3011811"/>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86" name="Picture 85" descr="lock.png"/>
          <p:cNvPicPr>
            <a:picLocks noChangeAspect="1"/>
          </p:cNvPicPr>
          <p:nvPr/>
        </p:nvPicPr>
        <p:blipFill>
          <a:blip r:embed="rId4"/>
          <a:stretch>
            <a:fillRect/>
          </a:stretch>
        </p:blipFill>
        <p:spPr>
          <a:xfrm>
            <a:off x="2438789" y="3002032"/>
            <a:ext cx="128699" cy="187198"/>
          </a:xfrm>
          <a:prstGeom prst="rect">
            <a:avLst/>
          </a:prstGeom>
        </p:spPr>
      </p:pic>
      <p:sp>
        <p:nvSpPr>
          <p:cNvPr id="87" name="TextBox 86"/>
          <p:cNvSpPr txBox="1"/>
          <p:nvPr/>
        </p:nvSpPr>
        <p:spPr>
          <a:xfrm>
            <a:off x="2606285" y="3011811"/>
            <a:ext cx="1683568" cy="186689"/>
          </a:xfrm>
          <a:prstGeom prst="rect">
            <a:avLst/>
          </a:prstGeom>
          <a:noFill/>
        </p:spPr>
        <p:txBody>
          <a:bodyPr wrap="none" lIns="0" rIns="0" tIns="0" bIns="0">
            <a:spAutoFit/>
          </a:bodyPr>
          <a:lstStyle/>
          <a:p>
            <a:r>
              <a:rPr sz="1100" b="0">
                <a:solidFill>
                  <a:srgbClr val="2E2E2E"/>
                </a:solidFill>
                <a:latin typeface="Calibri"/>
              </a:rPr>
              <a:t>share), Above-market pace (</a:t>
            </a:r>
          </a:p>
        </p:txBody>
      </p:sp>
      <p:pic>
        <p:nvPicPr>
          <p:cNvPr id="88" name="Picture 87" descr="lock.png"/>
          <p:cNvPicPr>
            <a:picLocks noChangeAspect="1"/>
          </p:cNvPicPr>
          <p:nvPr/>
        </p:nvPicPr>
        <p:blipFill>
          <a:blip r:embed="rId4"/>
          <a:stretch>
            <a:fillRect/>
          </a:stretch>
        </p:blipFill>
        <p:spPr>
          <a:xfrm>
            <a:off x="4237905" y="3002032"/>
            <a:ext cx="128699" cy="187198"/>
          </a:xfrm>
          <a:prstGeom prst="rect">
            <a:avLst/>
          </a:prstGeom>
        </p:spPr>
      </p:pic>
      <p:sp>
        <p:nvSpPr>
          <p:cNvPr id="89" name="TextBox 88"/>
          <p:cNvSpPr txBox="1"/>
          <p:nvPr/>
        </p:nvSpPr>
        <p:spPr>
          <a:xfrm>
            <a:off x="4405401" y="3011811"/>
            <a:ext cx="708942" cy="186689"/>
          </a:xfrm>
          <a:prstGeom prst="rect">
            <a:avLst/>
          </a:prstGeom>
          <a:noFill/>
        </p:spPr>
        <p:txBody>
          <a:bodyPr wrap="none" lIns="0" rIns="0" tIns="0" bIns="0">
            <a:spAutoFit/>
          </a:bodyPr>
          <a:lstStyle/>
          <a:p>
            <a:r>
              <a:rPr sz="1100" b="0">
                <a:solidFill>
                  <a:srgbClr val="2E2E2E"/>
                </a:solidFill>
                <a:latin typeface="Calibri"/>
              </a:rPr>
              <a:t>), Irrigation</a:t>
            </a:r>
          </a:p>
        </p:txBody>
      </p:sp>
      <p:sp>
        <p:nvSpPr>
          <p:cNvPr id="90" name="TextBox 89"/>
          <p:cNvSpPr txBox="1"/>
          <p:nvPr/>
        </p:nvSpPr>
        <p:spPr>
          <a:xfrm>
            <a:off x="1752600" y="3179451"/>
            <a:ext cx="1979066" cy="186689"/>
          </a:xfrm>
          <a:prstGeom prst="rect">
            <a:avLst/>
          </a:prstGeom>
          <a:noFill/>
        </p:spPr>
        <p:txBody>
          <a:bodyPr wrap="none" lIns="0" rIns="0" tIns="0" bIns="0">
            <a:spAutoFit/>
          </a:bodyPr>
          <a:lstStyle/>
          <a:p>
            <a:r>
              <a:rPr sz="1100" b="0">
                <a:solidFill>
                  <a:srgbClr val="2E2E2E"/>
                </a:solidFill>
                <a:latin typeface="Calibri"/>
              </a:rPr>
              <a:t>Devices and Accessories demand.</a:t>
            </a:r>
          </a:p>
        </p:txBody>
      </p:sp>
      <p:sp>
        <p:nvSpPr>
          <p:cNvPr id="91" name="TextBox 90"/>
          <p:cNvSpPr txBox="1"/>
          <p:nvPr/>
        </p:nvSpPr>
        <p:spPr>
          <a:xfrm>
            <a:off x="8420100" y="3095631"/>
            <a:ext cx="1025689" cy="186689"/>
          </a:xfrm>
          <a:prstGeom prst="rect">
            <a:avLst/>
          </a:prstGeom>
          <a:noFill/>
        </p:spPr>
        <p:txBody>
          <a:bodyPr wrap="none" lIns="0" rIns="0" tIns="0" bIns="0">
            <a:spAutoFit/>
          </a:bodyPr>
          <a:lstStyle/>
          <a:p>
            <a:r>
              <a:rPr sz="1100" b="0">
                <a:solidFill>
                  <a:srgbClr val="2E2E2E"/>
                </a:solidFill>
                <a:latin typeface="Calibri"/>
              </a:rPr>
              <a:t>Scale Ear Drops (</a:t>
            </a:r>
          </a:p>
        </p:txBody>
      </p:sp>
      <p:pic>
        <p:nvPicPr>
          <p:cNvPr id="92" name="Picture 91" descr="lock.png"/>
          <p:cNvPicPr>
            <a:picLocks noChangeAspect="1"/>
          </p:cNvPicPr>
          <p:nvPr/>
        </p:nvPicPr>
        <p:blipFill>
          <a:blip r:embed="rId4"/>
          <a:stretch>
            <a:fillRect/>
          </a:stretch>
        </p:blipFill>
        <p:spPr>
          <a:xfrm>
            <a:off x="9393840" y="3085852"/>
            <a:ext cx="128699" cy="187198"/>
          </a:xfrm>
          <a:prstGeom prst="rect">
            <a:avLst/>
          </a:prstGeom>
        </p:spPr>
      </p:pic>
      <p:sp>
        <p:nvSpPr>
          <p:cNvPr id="93" name="TextBox 92"/>
          <p:cNvSpPr txBox="1"/>
          <p:nvPr/>
        </p:nvSpPr>
        <p:spPr>
          <a:xfrm>
            <a:off x="9561336" y="3095631"/>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94" name="Picture 93" descr="lock.png"/>
          <p:cNvPicPr>
            <a:picLocks noChangeAspect="1"/>
          </p:cNvPicPr>
          <p:nvPr/>
        </p:nvPicPr>
        <p:blipFill>
          <a:blip r:embed="rId4"/>
          <a:stretch>
            <a:fillRect/>
          </a:stretch>
        </p:blipFill>
        <p:spPr>
          <a:xfrm>
            <a:off x="9662805" y="3085852"/>
            <a:ext cx="128699" cy="187198"/>
          </a:xfrm>
          <a:prstGeom prst="rect">
            <a:avLst/>
          </a:prstGeom>
        </p:spPr>
      </p:pic>
      <p:sp>
        <p:nvSpPr>
          <p:cNvPr id="95" name="TextBox 94"/>
          <p:cNvSpPr txBox="1"/>
          <p:nvPr/>
        </p:nvSpPr>
        <p:spPr>
          <a:xfrm>
            <a:off x="9830301" y="3095631"/>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96" name="TextBox 95"/>
          <p:cNvSpPr txBox="1"/>
          <p:nvPr/>
        </p:nvSpPr>
        <p:spPr>
          <a:xfrm>
            <a:off x="1752600" y="3522914"/>
            <a:ext cx="1134318" cy="186689"/>
          </a:xfrm>
          <a:prstGeom prst="rect">
            <a:avLst/>
          </a:prstGeom>
          <a:noFill/>
        </p:spPr>
        <p:txBody>
          <a:bodyPr wrap="none" lIns="0" rIns="0" tIns="0" bIns="0">
            <a:spAutoFit/>
          </a:bodyPr>
          <a:lstStyle/>
          <a:p>
            <a:r>
              <a:rPr sz="1100" b="0">
                <a:solidFill>
                  <a:srgbClr val="2E2E2E"/>
                </a:solidFill>
                <a:latin typeface="Calibri"/>
              </a:rPr>
              <a:t>Installed demand (</a:t>
            </a:r>
          </a:p>
        </p:txBody>
      </p:sp>
      <p:pic>
        <p:nvPicPr>
          <p:cNvPr id="97" name="Picture 96" descr="lock.png"/>
          <p:cNvPicPr>
            <a:picLocks noChangeAspect="1"/>
          </p:cNvPicPr>
          <p:nvPr/>
        </p:nvPicPr>
        <p:blipFill>
          <a:blip r:embed="rId4"/>
          <a:stretch>
            <a:fillRect/>
          </a:stretch>
        </p:blipFill>
        <p:spPr>
          <a:xfrm>
            <a:off x="2834969" y="3513135"/>
            <a:ext cx="128699" cy="187198"/>
          </a:xfrm>
          <a:prstGeom prst="rect">
            <a:avLst/>
          </a:prstGeom>
        </p:spPr>
      </p:pic>
      <p:sp>
        <p:nvSpPr>
          <p:cNvPr id="98" name="TextBox 97"/>
          <p:cNvSpPr txBox="1"/>
          <p:nvPr/>
        </p:nvSpPr>
        <p:spPr>
          <a:xfrm>
            <a:off x="3002465" y="3522914"/>
            <a:ext cx="1739213" cy="186689"/>
          </a:xfrm>
          <a:prstGeom prst="rect">
            <a:avLst/>
          </a:prstGeom>
          <a:noFill/>
        </p:spPr>
        <p:txBody>
          <a:bodyPr wrap="none" lIns="0" rIns="0" tIns="0" bIns="0">
            <a:spAutoFit/>
          </a:bodyPr>
          <a:lstStyle/>
          <a:p>
            <a:r>
              <a:rPr sz="1100" b="0">
                <a:solidFill>
                  <a:srgbClr val="2E2E2E"/>
                </a:solidFill>
                <a:latin typeface="Calibri"/>
              </a:rPr>
              <a:t>CAGR), Irrigation Devices and</a:t>
            </a:r>
          </a:p>
        </p:txBody>
      </p:sp>
      <p:sp>
        <p:nvSpPr>
          <p:cNvPr id="99" name="TextBox 98"/>
          <p:cNvSpPr txBox="1"/>
          <p:nvPr/>
        </p:nvSpPr>
        <p:spPr>
          <a:xfrm>
            <a:off x="1752600" y="3690554"/>
            <a:ext cx="1268015" cy="186689"/>
          </a:xfrm>
          <a:prstGeom prst="rect">
            <a:avLst/>
          </a:prstGeom>
          <a:noFill/>
        </p:spPr>
        <p:txBody>
          <a:bodyPr wrap="none" lIns="0" rIns="0" tIns="0" bIns="0">
            <a:spAutoFit/>
          </a:bodyPr>
          <a:lstStyle/>
          <a:p>
            <a:r>
              <a:rPr sz="1100" b="0">
                <a:solidFill>
                  <a:srgbClr val="2E2E2E"/>
                </a:solidFill>
                <a:latin typeface="Calibri"/>
              </a:rPr>
              <a:t>Accessories demand.</a:t>
            </a:r>
          </a:p>
        </p:txBody>
      </p:sp>
      <p:sp>
        <p:nvSpPr>
          <p:cNvPr id="100" name="TextBox 99"/>
          <p:cNvSpPr txBox="1"/>
          <p:nvPr/>
        </p:nvSpPr>
        <p:spPr>
          <a:xfrm>
            <a:off x="5562600" y="3522914"/>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101" name="Picture 100" descr="lock.png"/>
          <p:cNvPicPr>
            <a:picLocks noChangeAspect="1"/>
          </p:cNvPicPr>
          <p:nvPr/>
        </p:nvPicPr>
        <p:blipFill>
          <a:blip r:embed="rId4"/>
          <a:stretch>
            <a:fillRect/>
          </a:stretch>
        </p:blipFill>
        <p:spPr>
          <a:xfrm>
            <a:off x="6797766" y="3513135"/>
            <a:ext cx="128699" cy="187198"/>
          </a:xfrm>
          <a:prstGeom prst="rect">
            <a:avLst/>
          </a:prstGeom>
        </p:spPr>
      </p:pic>
      <p:sp>
        <p:nvSpPr>
          <p:cNvPr id="102" name="TextBox 101"/>
          <p:cNvSpPr txBox="1"/>
          <p:nvPr/>
        </p:nvSpPr>
        <p:spPr>
          <a:xfrm>
            <a:off x="6965262" y="3522914"/>
            <a:ext cx="786159" cy="186689"/>
          </a:xfrm>
          <a:prstGeom prst="rect">
            <a:avLst/>
          </a:prstGeom>
          <a:noFill/>
        </p:spPr>
        <p:txBody>
          <a:bodyPr wrap="none" lIns="0" rIns="0" tIns="0" bIns="0">
            <a:spAutoFit/>
          </a:bodyPr>
          <a:lstStyle/>
          <a:p>
            <a:r>
              <a:rPr sz="1100" b="0">
                <a:solidFill>
                  <a:srgbClr val="2E2E2E"/>
                </a:solidFill>
                <a:latin typeface="Calibri"/>
              </a:rPr>
              <a:t>BPS, Growth</a:t>
            </a:r>
          </a:p>
        </p:txBody>
      </p:sp>
      <p:sp>
        <p:nvSpPr>
          <p:cNvPr id="103" name="TextBox 102"/>
          <p:cNvSpPr txBox="1"/>
          <p:nvPr/>
        </p:nvSpPr>
        <p:spPr>
          <a:xfrm>
            <a:off x="5562600" y="3690554"/>
            <a:ext cx="1347415" cy="186689"/>
          </a:xfrm>
          <a:prstGeom prst="rect">
            <a:avLst/>
          </a:prstGeom>
          <a:noFill/>
        </p:spPr>
        <p:txBody>
          <a:bodyPr wrap="none" lIns="0" rIns="0" tIns="0" bIns="0">
            <a:spAutoFit/>
          </a:bodyPr>
          <a:lstStyle/>
          <a:p>
            <a:r>
              <a:rPr sz="1100" b="0">
                <a:solidFill>
                  <a:srgbClr val="2E2E2E"/>
                </a:solidFill>
                <a:latin typeface="Calibri"/>
              </a:rPr>
              <a:t>moderating vs history.</a:t>
            </a:r>
          </a:p>
        </p:txBody>
      </p:sp>
      <p:sp>
        <p:nvSpPr>
          <p:cNvPr id="104" name="TextBox 103"/>
          <p:cNvSpPr txBox="1"/>
          <p:nvPr/>
        </p:nvSpPr>
        <p:spPr>
          <a:xfrm>
            <a:off x="8420100" y="3606734"/>
            <a:ext cx="1025689" cy="186689"/>
          </a:xfrm>
          <a:prstGeom prst="rect">
            <a:avLst/>
          </a:prstGeom>
          <a:noFill/>
        </p:spPr>
        <p:txBody>
          <a:bodyPr wrap="none" lIns="0" rIns="0" tIns="0" bIns="0">
            <a:spAutoFit/>
          </a:bodyPr>
          <a:lstStyle/>
          <a:p>
            <a:r>
              <a:rPr sz="1100" b="0">
                <a:solidFill>
                  <a:srgbClr val="2E2E2E"/>
                </a:solidFill>
                <a:latin typeface="Calibri"/>
              </a:rPr>
              <a:t>Scale Ear Drops (</a:t>
            </a:r>
          </a:p>
        </p:txBody>
      </p:sp>
      <p:pic>
        <p:nvPicPr>
          <p:cNvPr id="105" name="Picture 104" descr="lock.png"/>
          <p:cNvPicPr>
            <a:picLocks noChangeAspect="1"/>
          </p:cNvPicPr>
          <p:nvPr/>
        </p:nvPicPr>
        <p:blipFill>
          <a:blip r:embed="rId4"/>
          <a:stretch>
            <a:fillRect/>
          </a:stretch>
        </p:blipFill>
        <p:spPr>
          <a:xfrm>
            <a:off x="9393840" y="3596955"/>
            <a:ext cx="128699" cy="187198"/>
          </a:xfrm>
          <a:prstGeom prst="rect">
            <a:avLst/>
          </a:prstGeom>
        </p:spPr>
      </p:pic>
      <p:sp>
        <p:nvSpPr>
          <p:cNvPr id="106" name="TextBox 105"/>
          <p:cNvSpPr txBox="1"/>
          <p:nvPr/>
        </p:nvSpPr>
        <p:spPr>
          <a:xfrm>
            <a:off x="9561336" y="3606734"/>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07" name="Picture 106" descr="lock.png"/>
          <p:cNvPicPr>
            <a:picLocks noChangeAspect="1"/>
          </p:cNvPicPr>
          <p:nvPr/>
        </p:nvPicPr>
        <p:blipFill>
          <a:blip r:embed="rId4"/>
          <a:stretch>
            <a:fillRect/>
          </a:stretch>
        </p:blipFill>
        <p:spPr>
          <a:xfrm>
            <a:off x="9662805" y="3596955"/>
            <a:ext cx="128699" cy="187198"/>
          </a:xfrm>
          <a:prstGeom prst="rect">
            <a:avLst/>
          </a:prstGeom>
        </p:spPr>
      </p:pic>
      <p:sp>
        <p:nvSpPr>
          <p:cNvPr id="108" name="TextBox 107"/>
          <p:cNvSpPr txBox="1"/>
          <p:nvPr/>
        </p:nvSpPr>
        <p:spPr>
          <a:xfrm>
            <a:off x="9830301" y="3606734"/>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09" name="TextBox 108"/>
          <p:cNvSpPr txBox="1"/>
          <p:nvPr/>
        </p:nvSpPr>
        <p:spPr>
          <a:xfrm>
            <a:off x="1752600" y="4034018"/>
            <a:ext cx="1261467" cy="186689"/>
          </a:xfrm>
          <a:prstGeom prst="rect">
            <a:avLst/>
          </a:prstGeom>
          <a:noFill/>
        </p:spPr>
        <p:txBody>
          <a:bodyPr wrap="none" lIns="0" rIns="0" tIns="0" bIns="0">
            <a:spAutoFit/>
          </a:bodyPr>
          <a:lstStyle/>
          <a:p>
            <a:r>
              <a:rPr sz="1100" b="0">
                <a:solidFill>
                  <a:srgbClr val="2E2E2E"/>
                </a:solidFill>
                <a:latin typeface="Calibri"/>
              </a:rPr>
              <a:t>Above-market pace (</a:t>
            </a:r>
          </a:p>
        </p:txBody>
      </p:sp>
      <p:pic>
        <p:nvPicPr>
          <p:cNvPr id="110" name="Picture 109" descr="lock.png"/>
          <p:cNvPicPr>
            <a:picLocks noChangeAspect="1"/>
          </p:cNvPicPr>
          <p:nvPr/>
        </p:nvPicPr>
        <p:blipFill>
          <a:blip r:embed="rId4"/>
          <a:stretch>
            <a:fillRect/>
          </a:stretch>
        </p:blipFill>
        <p:spPr>
          <a:xfrm>
            <a:off x="2962118" y="4024239"/>
            <a:ext cx="128699" cy="187198"/>
          </a:xfrm>
          <a:prstGeom prst="rect">
            <a:avLst/>
          </a:prstGeom>
        </p:spPr>
      </p:pic>
      <p:sp>
        <p:nvSpPr>
          <p:cNvPr id="111" name="TextBox 110"/>
          <p:cNvSpPr txBox="1"/>
          <p:nvPr/>
        </p:nvSpPr>
        <p:spPr>
          <a:xfrm>
            <a:off x="3129614" y="4034018"/>
            <a:ext cx="2108398" cy="186689"/>
          </a:xfrm>
          <a:prstGeom prst="rect">
            <a:avLst/>
          </a:prstGeom>
          <a:noFill/>
        </p:spPr>
        <p:txBody>
          <a:bodyPr wrap="none" lIns="0" rIns="0" tIns="0" bIns="0">
            <a:spAutoFit/>
          </a:bodyPr>
          <a:lstStyle/>
          <a:p>
            <a:r>
              <a:rPr sz="1100" b="0">
                <a:solidFill>
                  <a:srgbClr val="2E2E2E"/>
                </a:solidFill>
                <a:latin typeface="Calibri"/>
              </a:rPr>
              <a:t>), Irrigation Devices and Accessories</a:t>
            </a:r>
          </a:p>
        </p:txBody>
      </p:sp>
      <p:sp>
        <p:nvSpPr>
          <p:cNvPr id="112" name="TextBox 111"/>
          <p:cNvSpPr txBox="1"/>
          <p:nvPr/>
        </p:nvSpPr>
        <p:spPr>
          <a:xfrm>
            <a:off x="1752600" y="4201658"/>
            <a:ext cx="579611" cy="186689"/>
          </a:xfrm>
          <a:prstGeom prst="rect">
            <a:avLst/>
          </a:prstGeom>
          <a:noFill/>
        </p:spPr>
        <p:txBody>
          <a:bodyPr wrap="none" lIns="0" rIns="0" tIns="0" bIns="0">
            <a:spAutoFit/>
          </a:bodyPr>
          <a:lstStyle/>
          <a:p>
            <a:r>
              <a:rPr sz="1100" b="0">
                <a:solidFill>
                  <a:srgbClr val="2E2E2E"/>
                </a:solidFill>
                <a:latin typeface="Calibri"/>
              </a:rPr>
              <a:t>demand.</a:t>
            </a:r>
          </a:p>
        </p:txBody>
      </p:sp>
      <p:sp>
        <p:nvSpPr>
          <p:cNvPr id="113" name="TextBox 112"/>
          <p:cNvSpPr txBox="1"/>
          <p:nvPr/>
        </p:nvSpPr>
        <p:spPr>
          <a:xfrm>
            <a:off x="5562600" y="4034018"/>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114" name="Picture 113" descr="lock.png"/>
          <p:cNvPicPr>
            <a:picLocks noChangeAspect="1"/>
          </p:cNvPicPr>
          <p:nvPr/>
        </p:nvPicPr>
        <p:blipFill>
          <a:blip r:embed="rId4"/>
          <a:stretch>
            <a:fillRect/>
          </a:stretch>
        </p:blipFill>
        <p:spPr>
          <a:xfrm>
            <a:off x="6623687" y="4024239"/>
            <a:ext cx="128699" cy="187198"/>
          </a:xfrm>
          <a:prstGeom prst="rect">
            <a:avLst/>
          </a:prstGeom>
        </p:spPr>
      </p:pic>
      <p:sp>
        <p:nvSpPr>
          <p:cNvPr id="115" name="TextBox 114"/>
          <p:cNvSpPr txBox="1"/>
          <p:nvPr/>
        </p:nvSpPr>
        <p:spPr>
          <a:xfrm>
            <a:off x="6791183" y="4034018"/>
            <a:ext cx="1438416" cy="186689"/>
          </a:xfrm>
          <a:prstGeom prst="rect">
            <a:avLst/>
          </a:prstGeom>
          <a:noFill/>
        </p:spPr>
        <p:txBody>
          <a:bodyPr wrap="none" lIns="0" rIns="0" tIns="0" bIns="0">
            <a:spAutoFit/>
          </a:bodyPr>
          <a:lstStyle/>
          <a:p>
            <a:r>
              <a:rPr sz="1100" b="0">
                <a:solidFill>
                  <a:srgbClr val="2E2E2E"/>
                </a:solidFill>
                <a:latin typeface="Calibri"/>
              </a:rPr>
              <a:t>), Growth moderating vs</a:t>
            </a:r>
          </a:p>
        </p:txBody>
      </p:sp>
      <p:sp>
        <p:nvSpPr>
          <p:cNvPr id="116" name="TextBox 115"/>
          <p:cNvSpPr txBox="1"/>
          <p:nvPr/>
        </p:nvSpPr>
        <p:spPr>
          <a:xfrm>
            <a:off x="5562600" y="4201658"/>
            <a:ext cx="504304" cy="186689"/>
          </a:xfrm>
          <a:prstGeom prst="rect">
            <a:avLst/>
          </a:prstGeom>
          <a:noFill/>
        </p:spPr>
        <p:txBody>
          <a:bodyPr wrap="none" lIns="0" rIns="0" tIns="0" bIns="0">
            <a:spAutoFit/>
          </a:bodyPr>
          <a:lstStyle/>
          <a:p>
            <a:r>
              <a:rPr sz="1100" b="0">
                <a:solidFill>
                  <a:srgbClr val="2E2E2E"/>
                </a:solidFill>
                <a:latin typeface="Calibri"/>
              </a:rPr>
              <a:t>history.</a:t>
            </a:r>
          </a:p>
        </p:txBody>
      </p:sp>
      <p:sp>
        <p:nvSpPr>
          <p:cNvPr id="117" name="TextBox 116"/>
          <p:cNvSpPr txBox="1"/>
          <p:nvPr/>
        </p:nvSpPr>
        <p:spPr>
          <a:xfrm>
            <a:off x="8420100" y="4117838"/>
            <a:ext cx="1025689" cy="186689"/>
          </a:xfrm>
          <a:prstGeom prst="rect">
            <a:avLst/>
          </a:prstGeom>
          <a:noFill/>
        </p:spPr>
        <p:txBody>
          <a:bodyPr wrap="none" lIns="0" rIns="0" tIns="0" bIns="0">
            <a:spAutoFit/>
          </a:bodyPr>
          <a:lstStyle/>
          <a:p>
            <a:r>
              <a:rPr sz="1100" b="0">
                <a:solidFill>
                  <a:srgbClr val="2E2E2E"/>
                </a:solidFill>
                <a:latin typeface="Calibri"/>
              </a:rPr>
              <a:t>Scale Ear Drops (</a:t>
            </a:r>
          </a:p>
        </p:txBody>
      </p:sp>
      <p:pic>
        <p:nvPicPr>
          <p:cNvPr id="118" name="Picture 117" descr="lock.png"/>
          <p:cNvPicPr>
            <a:picLocks noChangeAspect="1"/>
          </p:cNvPicPr>
          <p:nvPr/>
        </p:nvPicPr>
        <p:blipFill>
          <a:blip r:embed="rId4"/>
          <a:stretch>
            <a:fillRect/>
          </a:stretch>
        </p:blipFill>
        <p:spPr>
          <a:xfrm>
            <a:off x="9393840" y="4108059"/>
            <a:ext cx="128699" cy="187198"/>
          </a:xfrm>
          <a:prstGeom prst="rect">
            <a:avLst/>
          </a:prstGeom>
        </p:spPr>
      </p:pic>
      <p:sp>
        <p:nvSpPr>
          <p:cNvPr id="119" name="TextBox 118"/>
          <p:cNvSpPr txBox="1"/>
          <p:nvPr/>
        </p:nvSpPr>
        <p:spPr>
          <a:xfrm>
            <a:off x="9561336" y="4117838"/>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20" name="Picture 119" descr="lock.png"/>
          <p:cNvPicPr>
            <a:picLocks noChangeAspect="1"/>
          </p:cNvPicPr>
          <p:nvPr/>
        </p:nvPicPr>
        <p:blipFill>
          <a:blip r:embed="rId4"/>
          <a:stretch>
            <a:fillRect/>
          </a:stretch>
        </p:blipFill>
        <p:spPr>
          <a:xfrm>
            <a:off x="9662805" y="4108059"/>
            <a:ext cx="128699" cy="187198"/>
          </a:xfrm>
          <a:prstGeom prst="rect">
            <a:avLst/>
          </a:prstGeom>
        </p:spPr>
      </p:pic>
      <p:sp>
        <p:nvSpPr>
          <p:cNvPr id="121" name="TextBox 120"/>
          <p:cNvSpPr txBox="1"/>
          <p:nvPr/>
        </p:nvSpPr>
        <p:spPr>
          <a:xfrm>
            <a:off x="9830301" y="4117838"/>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22" name="TextBox 121"/>
          <p:cNvSpPr txBox="1"/>
          <p:nvPr/>
        </p:nvSpPr>
        <p:spPr>
          <a:xfrm>
            <a:off x="1752600" y="4545122"/>
            <a:ext cx="1134318" cy="186689"/>
          </a:xfrm>
          <a:prstGeom prst="rect">
            <a:avLst/>
          </a:prstGeom>
          <a:noFill/>
        </p:spPr>
        <p:txBody>
          <a:bodyPr wrap="none" lIns="0" rIns="0" tIns="0" bIns="0">
            <a:spAutoFit/>
          </a:bodyPr>
          <a:lstStyle/>
          <a:p>
            <a:r>
              <a:rPr sz="1100" b="0">
                <a:solidFill>
                  <a:srgbClr val="2E2E2E"/>
                </a:solidFill>
                <a:latin typeface="Calibri"/>
              </a:rPr>
              <a:t>Installed demand (</a:t>
            </a:r>
          </a:p>
        </p:txBody>
      </p:sp>
      <p:pic>
        <p:nvPicPr>
          <p:cNvPr id="123" name="Picture 122" descr="lock.png"/>
          <p:cNvPicPr>
            <a:picLocks noChangeAspect="1"/>
          </p:cNvPicPr>
          <p:nvPr/>
        </p:nvPicPr>
        <p:blipFill>
          <a:blip r:embed="rId4"/>
          <a:stretch>
            <a:fillRect/>
          </a:stretch>
        </p:blipFill>
        <p:spPr>
          <a:xfrm>
            <a:off x="2834969" y="4535343"/>
            <a:ext cx="128699" cy="187198"/>
          </a:xfrm>
          <a:prstGeom prst="rect">
            <a:avLst/>
          </a:prstGeom>
        </p:spPr>
      </p:pic>
      <p:sp>
        <p:nvSpPr>
          <p:cNvPr id="124" name="TextBox 123"/>
          <p:cNvSpPr txBox="1"/>
          <p:nvPr/>
        </p:nvSpPr>
        <p:spPr>
          <a:xfrm>
            <a:off x="3002465" y="4545122"/>
            <a:ext cx="1739213" cy="186689"/>
          </a:xfrm>
          <a:prstGeom prst="rect">
            <a:avLst/>
          </a:prstGeom>
          <a:noFill/>
        </p:spPr>
        <p:txBody>
          <a:bodyPr wrap="none" lIns="0" rIns="0" tIns="0" bIns="0">
            <a:spAutoFit/>
          </a:bodyPr>
          <a:lstStyle/>
          <a:p>
            <a:r>
              <a:rPr sz="1100" b="0">
                <a:solidFill>
                  <a:srgbClr val="2E2E2E"/>
                </a:solidFill>
                <a:latin typeface="Calibri"/>
              </a:rPr>
              <a:t>CAGR), Irrigation Devices and</a:t>
            </a:r>
          </a:p>
        </p:txBody>
      </p:sp>
      <p:sp>
        <p:nvSpPr>
          <p:cNvPr id="125" name="TextBox 124"/>
          <p:cNvSpPr txBox="1"/>
          <p:nvPr/>
        </p:nvSpPr>
        <p:spPr>
          <a:xfrm>
            <a:off x="1752600" y="4712762"/>
            <a:ext cx="1268015" cy="186689"/>
          </a:xfrm>
          <a:prstGeom prst="rect">
            <a:avLst/>
          </a:prstGeom>
          <a:noFill/>
        </p:spPr>
        <p:txBody>
          <a:bodyPr wrap="none" lIns="0" rIns="0" tIns="0" bIns="0">
            <a:spAutoFit/>
          </a:bodyPr>
          <a:lstStyle/>
          <a:p>
            <a:r>
              <a:rPr sz="1100" b="0">
                <a:solidFill>
                  <a:srgbClr val="2E2E2E"/>
                </a:solidFill>
                <a:latin typeface="Calibri"/>
              </a:rPr>
              <a:t>Accessories demand.</a:t>
            </a:r>
          </a:p>
        </p:txBody>
      </p:sp>
      <p:sp>
        <p:nvSpPr>
          <p:cNvPr id="126" name="TextBox 125"/>
          <p:cNvSpPr txBox="1"/>
          <p:nvPr/>
        </p:nvSpPr>
        <p:spPr>
          <a:xfrm>
            <a:off x="5562600" y="4545122"/>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127" name="Picture 126" descr="lock.png"/>
          <p:cNvPicPr>
            <a:picLocks noChangeAspect="1"/>
          </p:cNvPicPr>
          <p:nvPr/>
        </p:nvPicPr>
        <p:blipFill>
          <a:blip r:embed="rId4"/>
          <a:stretch>
            <a:fillRect/>
          </a:stretch>
        </p:blipFill>
        <p:spPr>
          <a:xfrm>
            <a:off x="6797766" y="4535343"/>
            <a:ext cx="128699" cy="187198"/>
          </a:xfrm>
          <a:prstGeom prst="rect">
            <a:avLst/>
          </a:prstGeom>
        </p:spPr>
      </p:pic>
      <p:sp>
        <p:nvSpPr>
          <p:cNvPr id="128" name="TextBox 127"/>
          <p:cNvSpPr txBox="1"/>
          <p:nvPr/>
        </p:nvSpPr>
        <p:spPr>
          <a:xfrm>
            <a:off x="6965262" y="4545122"/>
            <a:ext cx="786159" cy="186689"/>
          </a:xfrm>
          <a:prstGeom prst="rect">
            <a:avLst/>
          </a:prstGeom>
          <a:noFill/>
        </p:spPr>
        <p:txBody>
          <a:bodyPr wrap="none" lIns="0" rIns="0" tIns="0" bIns="0">
            <a:spAutoFit/>
          </a:bodyPr>
          <a:lstStyle/>
          <a:p>
            <a:r>
              <a:rPr sz="1100" b="0">
                <a:solidFill>
                  <a:srgbClr val="2E2E2E"/>
                </a:solidFill>
                <a:latin typeface="Calibri"/>
              </a:rPr>
              <a:t>BPS, Growth</a:t>
            </a:r>
          </a:p>
        </p:txBody>
      </p:sp>
      <p:sp>
        <p:nvSpPr>
          <p:cNvPr id="129" name="TextBox 128"/>
          <p:cNvSpPr txBox="1"/>
          <p:nvPr/>
        </p:nvSpPr>
        <p:spPr>
          <a:xfrm>
            <a:off x="5562600" y="4712762"/>
            <a:ext cx="1347415" cy="186689"/>
          </a:xfrm>
          <a:prstGeom prst="rect">
            <a:avLst/>
          </a:prstGeom>
          <a:noFill/>
        </p:spPr>
        <p:txBody>
          <a:bodyPr wrap="none" lIns="0" rIns="0" tIns="0" bIns="0">
            <a:spAutoFit/>
          </a:bodyPr>
          <a:lstStyle/>
          <a:p>
            <a:r>
              <a:rPr sz="1100" b="0">
                <a:solidFill>
                  <a:srgbClr val="2E2E2E"/>
                </a:solidFill>
                <a:latin typeface="Calibri"/>
              </a:rPr>
              <a:t>moderating vs history.</a:t>
            </a:r>
          </a:p>
        </p:txBody>
      </p:sp>
      <p:sp>
        <p:nvSpPr>
          <p:cNvPr id="130" name="TextBox 129"/>
          <p:cNvSpPr txBox="1"/>
          <p:nvPr/>
        </p:nvSpPr>
        <p:spPr>
          <a:xfrm>
            <a:off x="8420100" y="4628942"/>
            <a:ext cx="1025689" cy="186689"/>
          </a:xfrm>
          <a:prstGeom prst="rect">
            <a:avLst/>
          </a:prstGeom>
          <a:noFill/>
        </p:spPr>
        <p:txBody>
          <a:bodyPr wrap="none" lIns="0" rIns="0" tIns="0" bIns="0">
            <a:spAutoFit/>
          </a:bodyPr>
          <a:lstStyle/>
          <a:p>
            <a:r>
              <a:rPr sz="1100" b="0">
                <a:solidFill>
                  <a:srgbClr val="2E2E2E"/>
                </a:solidFill>
                <a:latin typeface="Calibri"/>
              </a:rPr>
              <a:t>Scale Ear Drops (</a:t>
            </a:r>
          </a:p>
        </p:txBody>
      </p:sp>
      <p:pic>
        <p:nvPicPr>
          <p:cNvPr id="131" name="Picture 130" descr="lock.png"/>
          <p:cNvPicPr>
            <a:picLocks noChangeAspect="1"/>
          </p:cNvPicPr>
          <p:nvPr/>
        </p:nvPicPr>
        <p:blipFill>
          <a:blip r:embed="rId4"/>
          <a:stretch>
            <a:fillRect/>
          </a:stretch>
        </p:blipFill>
        <p:spPr>
          <a:xfrm>
            <a:off x="9393840" y="4619163"/>
            <a:ext cx="128699" cy="187198"/>
          </a:xfrm>
          <a:prstGeom prst="rect">
            <a:avLst/>
          </a:prstGeom>
        </p:spPr>
      </p:pic>
      <p:sp>
        <p:nvSpPr>
          <p:cNvPr id="132" name="TextBox 131"/>
          <p:cNvSpPr txBox="1"/>
          <p:nvPr/>
        </p:nvSpPr>
        <p:spPr>
          <a:xfrm>
            <a:off x="9561336" y="4628942"/>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33" name="Picture 132" descr="lock.png"/>
          <p:cNvPicPr>
            <a:picLocks noChangeAspect="1"/>
          </p:cNvPicPr>
          <p:nvPr/>
        </p:nvPicPr>
        <p:blipFill>
          <a:blip r:embed="rId4"/>
          <a:stretch>
            <a:fillRect/>
          </a:stretch>
        </p:blipFill>
        <p:spPr>
          <a:xfrm>
            <a:off x="9662805" y="4619163"/>
            <a:ext cx="128699" cy="187198"/>
          </a:xfrm>
          <a:prstGeom prst="rect">
            <a:avLst/>
          </a:prstGeom>
        </p:spPr>
      </p:pic>
      <p:sp>
        <p:nvSpPr>
          <p:cNvPr id="134" name="TextBox 133"/>
          <p:cNvSpPr txBox="1"/>
          <p:nvPr/>
        </p:nvSpPr>
        <p:spPr>
          <a:xfrm>
            <a:off x="9830301" y="4628942"/>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35" name="TextBox 134"/>
          <p:cNvSpPr txBox="1"/>
          <p:nvPr/>
        </p:nvSpPr>
        <p:spPr>
          <a:xfrm>
            <a:off x="304800" y="5615848"/>
            <a:ext cx="4373612" cy="186689"/>
          </a:xfrm>
          <a:prstGeom prst="rect">
            <a:avLst/>
          </a:prstGeom>
          <a:noFill/>
        </p:spPr>
        <p:txBody>
          <a:bodyPr wrap="none" lIns="0" rIns="0" tIns="0" bIns="0">
            <a:spAutoFit/>
          </a:bodyPr>
          <a:lstStyle/>
          <a:p>
            <a:r>
              <a:rPr sz="1100" b="0">
                <a:solidFill>
                  <a:srgbClr val="2E2E2E"/>
                </a:solidFill>
                <a:latin typeface="Calibri"/>
              </a:rPr>
              <a:t>▪ North America, Europe, South Asia &amp; Pacific anchor scale with a combined</a:t>
            </a:r>
          </a:p>
        </p:txBody>
      </p:sp>
      <p:pic>
        <p:nvPicPr>
          <p:cNvPr id="136" name="Picture 135" descr="lock.png"/>
          <p:cNvPicPr>
            <a:picLocks noChangeAspect="1"/>
          </p:cNvPicPr>
          <p:nvPr/>
        </p:nvPicPr>
        <p:blipFill>
          <a:blip r:embed="rId4"/>
          <a:stretch>
            <a:fillRect/>
          </a:stretch>
        </p:blipFill>
        <p:spPr>
          <a:xfrm>
            <a:off x="4626463" y="5606069"/>
            <a:ext cx="128699" cy="187198"/>
          </a:xfrm>
          <a:prstGeom prst="rect">
            <a:avLst/>
          </a:prstGeom>
        </p:spPr>
      </p:pic>
      <p:sp>
        <p:nvSpPr>
          <p:cNvPr id="137" name="TextBox 136"/>
          <p:cNvSpPr txBox="1"/>
          <p:nvPr/>
        </p:nvSpPr>
        <p:spPr>
          <a:xfrm>
            <a:off x="4793959" y="5615848"/>
            <a:ext cx="4622998" cy="186689"/>
          </a:xfrm>
          <a:prstGeom prst="rect">
            <a:avLst/>
          </a:prstGeom>
          <a:noFill/>
        </p:spPr>
        <p:txBody>
          <a:bodyPr wrap="none" lIns="0" rIns="0" tIns="0" bIns="0">
            <a:spAutoFit/>
          </a:bodyPr>
          <a:lstStyle/>
          <a:p>
            <a:r>
              <a:rPr sz="1100" b="0">
                <a:solidFill>
                  <a:srgbClr val="2E2E2E"/>
                </a:solidFill>
                <a:latin typeface="Calibri"/>
              </a:rPr>
              <a:t>of Global value in 2036, while 'South Asia &amp; Pacific' offers the steepest upside at</a:t>
            </a:r>
          </a:p>
        </p:txBody>
      </p:sp>
      <p:pic>
        <p:nvPicPr>
          <p:cNvPr id="138" name="Picture 137" descr="lock.png"/>
          <p:cNvPicPr>
            <a:picLocks noChangeAspect="1"/>
          </p:cNvPicPr>
          <p:nvPr/>
        </p:nvPicPr>
        <p:blipFill>
          <a:blip r:embed="rId4"/>
          <a:stretch>
            <a:fillRect/>
          </a:stretch>
        </p:blipFill>
        <p:spPr>
          <a:xfrm>
            <a:off x="9365009" y="5606069"/>
            <a:ext cx="128699" cy="187198"/>
          </a:xfrm>
          <a:prstGeom prst="rect">
            <a:avLst/>
          </a:prstGeom>
        </p:spPr>
      </p:pic>
      <p:sp>
        <p:nvSpPr>
          <p:cNvPr id="139" name="TextBox 138"/>
          <p:cNvSpPr txBox="1"/>
          <p:nvPr/>
        </p:nvSpPr>
        <p:spPr>
          <a:xfrm>
            <a:off x="9532505" y="5615848"/>
            <a:ext cx="1819704" cy="186689"/>
          </a:xfrm>
          <a:prstGeom prst="rect">
            <a:avLst/>
          </a:prstGeom>
          <a:noFill/>
        </p:spPr>
        <p:txBody>
          <a:bodyPr wrap="none" lIns="0" rIns="0" tIns="0" bIns="0">
            <a:spAutoFit/>
          </a:bodyPr>
          <a:lstStyle/>
          <a:p>
            <a:r>
              <a:rPr sz="1100" b="0">
                <a:solidFill>
                  <a:srgbClr val="2E2E2E"/>
                </a:solidFill>
                <a:latin typeface="Calibri"/>
              </a:rPr>
              <a:t>CAGR against a market pace of</a:t>
            </a:r>
          </a:p>
        </p:txBody>
      </p:sp>
      <p:pic>
        <p:nvPicPr>
          <p:cNvPr id="140" name="Picture 139" descr="lock.png"/>
          <p:cNvPicPr>
            <a:picLocks noChangeAspect="1"/>
          </p:cNvPicPr>
          <p:nvPr/>
        </p:nvPicPr>
        <p:blipFill>
          <a:blip r:embed="rId4"/>
          <a:stretch>
            <a:fillRect/>
          </a:stretch>
        </p:blipFill>
        <p:spPr>
          <a:xfrm>
            <a:off x="291332" y="5773709"/>
            <a:ext cx="128699" cy="187198"/>
          </a:xfrm>
          <a:prstGeom prst="rect">
            <a:avLst/>
          </a:prstGeom>
        </p:spPr>
      </p:pic>
      <p:sp>
        <p:nvSpPr>
          <p:cNvPr id="141" name="TextBox 140"/>
          <p:cNvSpPr txBox="1"/>
          <p:nvPr/>
        </p:nvSpPr>
        <p:spPr>
          <a:xfrm>
            <a:off x="458828" y="5783488"/>
            <a:ext cx="11008816" cy="186689"/>
          </a:xfrm>
          <a:prstGeom prst="rect">
            <a:avLst/>
          </a:prstGeom>
          <a:noFill/>
        </p:spPr>
        <p:txBody>
          <a:bodyPr wrap="none" lIns="0" rIns="0" tIns="0" bIns="0">
            <a:spAutoFit/>
          </a:bodyPr>
          <a:lstStyle/>
          <a:p>
            <a:r>
              <a:rPr sz="1100" b="0">
                <a:solidFill>
                  <a:srgbClr val="2E2E2E"/>
                </a:solidFill>
                <a:latin typeface="Calibri"/>
              </a:rPr>
              <a:t>. 3 of 6 regions grow at or above that pace, so entry logic has to differ by region scale defence in the leaders, mix and premiumisation in the mid-tier, and availability-led expansion in the fastest</a:t>
            </a:r>
          </a:p>
        </p:txBody>
      </p:sp>
      <p:sp>
        <p:nvSpPr>
          <p:cNvPr id="142" name="TextBox 141"/>
          <p:cNvSpPr txBox="1"/>
          <p:nvPr/>
        </p:nvSpPr>
        <p:spPr>
          <a:xfrm>
            <a:off x="304800" y="5951128"/>
            <a:ext cx="532680" cy="186689"/>
          </a:xfrm>
          <a:prstGeom prst="rect">
            <a:avLst/>
          </a:prstGeom>
          <a:noFill/>
        </p:spPr>
        <p:txBody>
          <a:bodyPr wrap="none" lIns="0" rIns="0" tIns="0" bIns="0">
            <a:spAutoFit/>
          </a:bodyPr>
          <a:lstStyle/>
          <a:p>
            <a:r>
              <a:rPr sz="1100" b="0">
                <a:solidFill>
                  <a:srgbClr val="2E2E2E"/>
                </a:solidFill>
                <a:latin typeface="Calibri"/>
              </a:rPr>
              <a:t>movers.</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Ear Wax Removal Products Market Global Driving Factors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economic and supply-side factors scored by their impact on the global market</a:t>
            </a:r>
          </a:p>
        </p:txBody>
      </p:sp>
      <p:sp>
        <p:nvSpPr>
          <p:cNvPr id="10" name="Oval 9"/>
          <p:cNvSpPr/>
          <p:nvPr/>
        </p:nvSpPr>
        <p:spPr>
          <a:xfrm>
            <a:off x="2381250" y="1609633"/>
            <a:ext cx="4762500" cy="4563424"/>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19375" y="1837804"/>
            <a:ext cx="4286250" cy="410708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857500" y="2065976"/>
            <a:ext cx="3810000" cy="365074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95625" y="2294147"/>
            <a:ext cx="3333750" cy="319439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333750" y="2522318"/>
            <a:ext cx="2857500" cy="273805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1875" y="2750489"/>
            <a:ext cx="2381250" cy="228171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810000" y="2978660"/>
            <a:ext cx="1905000" cy="182537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048125" y="3206832"/>
            <a:ext cx="1428750" cy="136902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286250" y="3435003"/>
            <a:ext cx="952500" cy="91268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24375" y="3663174"/>
            <a:ext cx="476250" cy="45634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4762500" y="1609633"/>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3729314" y="1835594"/>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2900764" y="2468721"/>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2440953" y="3383617"/>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440953" y="3891345"/>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900764" y="3891345"/>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3729314" y="3891345"/>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762500" y="3891345"/>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2438400" y="2494937"/>
            <a:ext cx="2324100" cy="3449949"/>
          </a:xfrm>
          <a:custGeom>
            <a:avLst/>
            <a:gdLst/>
            <a:ahLst/>
            <a:cxnLst/>
            <a:rect l="l" t="t" r="r" b="b"/>
            <a:pathLst>
              <a:path w="244" h="378">
                <a:moveTo>
                  <a:pt x="244" y="0"/>
                </a:moveTo>
                <a:lnTo>
                  <a:pt x="180" y="19"/>
                </a:lnTo>
                <a:lnTo>
                  <a:pt x="94" y="33"/>
                </a:lnTo>
                <a:lnTo>
                  <a:pt x="96" y="119"/>
                </a:lnTo>
                <a:lnTo>
                  <a:pt x="0" y="209"/>
                </a:lnTo>
                <a:lnTo>
                  <a:pt x="66" y="295"/>
                </a:lnTo>
                <a:lnTo>
                  <a:pt x="136" y="378"/>
                </a:lnTo>
                <a:lnTo>
                  <a:pt x="244" y="252"/>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714875" y="1563999"/>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400300" y="128106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1" name="Oval 30"/>
          <p:cNvSpPr/>
          <p:nvPr/>
        </p:nvSpPr>
        <p:spPr>
          <a:xfrm>
            <a:off x="3681689" y="178996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85456" y="151968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3" name="Oval 32"/>
          <p:cNvSpPr/>
          <p:nvPr/>
        </p:nvSpPr>
        <p:spPr>
          <a:xfrm>
            <a:off x="2853139" y="2423087"/>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0507" y="227040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5" name="Oval 34"/>
          <p:cNvSpPr/>
          <p:nvPr/>
        </p:nvSpPr>
        <p:spPr>
          <a:xfrm>
            <a:off x="2393328" y="3337982"/>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4946" y="323653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7" name="Oval 36"/>
          <p:cNvSpPr/>
          <p:nvPr/>
        </p:nvSpPr>
        <p:spPr>
          <a:xfrm>
            <a:off x="2393328" y="435344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4946" y="4308858"/>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9" name="Oval 38"/>
          <p:cNvSpPr/>
          <p:nvPr/>
        </p:nvSpPr>
        <p:spPr>
          <a:xfrm>
            <a:off x="2853139" y="5268335"/>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0507" y="527498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1" name="Oval 40"/>
          <p:cNvSpPr/>
          <p:nvPr/>
        </p:nvSpPr>
        <p:spPr>
          <a:xfrm>
            <a:off x="3681689" y="590146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85456" y="602571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3" name="Oval 42"/>
          <p:cNvSpPr/>
          <p:nvPr/>
        </p:nvSpPr>
        <p:spPr>
          <a:xfrm>
            <a:off x="4714875" y="612742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400300" y="6264326"/>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5" name="Rectangle 44"/>
          <p:cNvSpPr/>
          <p:nvPr/>
        </p:nvSpPr>
        <p:spPr>
          <a:xfrm>
            <a:off x="476250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MI Scale 0"/>
          <p:cNvSpPr txBox="1"/>
          <p:nvPr/>
        </p:nvSpPr>
        <p:spPr>
          <a:xfrm>
            <a:off x="4286250" y="3818331"/>
            <a:ext cx="419100" cy="14603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47" name="FMI Scale 1"/>
          <p:cNvSpPr txBox="1"/>
          <p:nvPr/>
        </p:nvSpPr>
        <p:spPr>
          <a:xfrm>
            <a:off x="4286250" y="3590159"/>
            <a:ext cx="419100" cy="146030"/>
          </a:xfrm>
          <a:prstGeom prst="rect">
            <a:avLst/>
          </a:prstGeom>
          <a:noFill/>
        </p:spPr>
        <p:txBody>
          <a:bodyPr wrap="none" lIns="0" rIns="0" tIns="0" bIns="0" anchor="ctr">
            <a:spAutoFit/>
          </a:bodyPr>
          <a:lstStyle/>
          <a:p>
            <a:pPr algn="r"/>
            <a:r>
              <a:rPr sz="1100" b="0">
                <a:solidFill>
                  <a:srgbClr val="6C7A89"/>
                </a:solidFill>
                <a:latin typeface="Calibri"/>
              </a:rPr>
              <a:t>10%</a:t>
            </a:r>
          </a:p>
        </p:txBody>
      </p:sp>
      <p:sp>
        <p:nvSpPr>
          <p:cNvPr id="48" name="FMI Scale 2"/>
          <p:cNvSpPr txBox="1"/>
          <p:nvPr/>
        </p:nvSpPr>
        <p:spPr>
          <a:xfrm>
            <a:off x="4286250" y="3361988"/>
            <a:ext cx="419100" cy="146030"/>
          </a:xfrm>
          <a:prstGeom prst="rect">
            <a:avLst/>
          </a:prstGeom>
          <a:noFill/>
        </p:spPr>
        <p:txBody>
          <a:bodyPr wrap="none" lIns="0" rIns="0" tIns="0" bIns="0" anchor="ctr">
            <a:spAutoFit/>
          </a:bodyPr>
          <a:lstStyle/>
          <a:p>
            <a:pPr algn="r"/>
            <a:r>
              <a:rPr sz="1100" b="0">
                <a:solidFill>
                  <a:srgbClr val="6C7A89"/>
                </a:solidFill>
                <a:latin typeface="Calibri"/>
              </a:rPr>
              <a:t>20%</a:t>
            </a:r>
          </a:p>
        </p:txBody>
      </p:sp>
      <p:sp>
        <p:nvSpPr>
          <p:cNvPr id="49" name="FMI Scale 3"/>
          <p:cNvSpPr txBox="1"/>
          <p:nvPr/>
        </p:nvSpPr>
        <p:spPr>
          <a:xfrm>
            <a:off x="4286250" y="3133817"/>
            <a:ext cx="419100" cy="146030"/>
          </a:xfrm>
          <a:prstGeom prst="rect">
            <a:avLst/>
          </a:prstGeom>
          <a:noFill/>
        </p:spPr>
        <p:txBody>
          <a:bodyPr wrap="none" lIns="0" rIns="0" tIns="0" bIns="0" anchor="ctr">
            <a:spAutoFit/>
          </a:bodyPr>
          <a:lstStyle/>
          <a:p>
            <a:pPr algn="r"/>
            <a:r>
              <a:rPr sz="1100" b="0">
                <a:solidFill>
                  <a:srgbClr val="6C7A89"/>
                </a:solidFill>
                <a:latin typeface="Calibri"/>
              </a:rPr>
              <a:t>30%</a:t>
            </a:r>
          </a:p>
        </p:txBody>
      </p:sp>
      <p:sp>
        <p:nvSpPr>
          <p:cNvPr id="50" name="FMI Scale 4"/>
          <p:cNvSpPr txBox="1"/>
          <p:nvPr/>
        </p:nvSpPr>
        <p:spPr>
          <a:xfrm>
            <a:off x="4286250" y="2905646"/>
            <a:ext cx="419100" cy="146030"/>
          </a:xfrm>
          <a:prstGeom prst="rect">
            <a:avLst/>
          </a:prstGeom>
          <a:noFill/>
        </p:spPr>
        <p:txBody>
          <a:bodyPr wrap="none" lIns="0" rIns="0" tIns="0" bIns="0" anchor="ctr">
            <a:spAutoFit/>
          </a:bodyPr>
          <a:lstStyle/>
          <a:p>
            <a:pPr algn="r"/>
            <a:r>
              <a:rPr sz="1100" b="0">
                <a:solidFill>
                  <a:srgbClr val="6C7A89"/>
                </a:solidFill>
                <a:latin typeface="Calibri"/>
              </a:rPr>
              <a:t>40%</a:t>
            </a:r>
          </a:p>
        </p:txBody>
      </p:sp>
      <p:sp>
        <p:nvSpPr>
          <p:cNvPr id="51" name="FMI Scale 5"/>
          <p:cNvSpPr txBox="1"/>
          <p:nvPr/>
        </p:nvSpPr>
        <p:spPr>
          <a:xfrm>
            <a:off x="4286250" y="2677474"/>
            <a:ext cx="419100" cy="146030"/>
          </a:xfrm>
          <a:prstGeom prst="rect">
            <a:avLst/>
          </a:prstGeom>
          <a:noFill/>
        </p:spPr>
        <p:txBody>
          <a:bodyPr wrap="none" lIns="0" rIns="0" tIns="0" bIns="0" anchor="ctr">
            <a:spAutoFit/>
          </a:bodyPr>
          <a:lstStyle/>
          <a:p>
            <a:pPr algn="r"/>
            <a:r>
              <a:rPr sz="1100" b="0">
                <a:solidFill>
                  <a:srgbClr val="6C7A89"/>
                </a:solidFill>
                <a:latin typeface="Calibri"/>
              </a:rPr>
              <a:t>50%</a:t>
            </a:r>
          </a:p>
        </p:txBody>
      </p:sp>
      <p:sp>
        <p:nvSpPr>
          <p:cNvPr id="52" name="FMI Scale 6"/>
          <p:cNvSpPr txBox="1"/>
          <p:nvPr/>
        </p:nvSpPr>
        <p:spPr>
          <a:xfrm>
            <a:off x="4286250" y="2449303"/>
            <a:ext cx="419100" cy="146030"/>
          </a:xfrm>
          <a:prstGeom prst="rect">
            <a:avLst/>
          </a:prstGeom>
          <a:noFill/>
        </p:spPr>
        <p:txBody>
          <a:bodyPr wrap="none" lIns="0" rIns="0" tIns="0" bIns="0" anchor="ctr">
            <a:spAutoFit/>
          </a:bodyPr>
          <a:lstStyle/>
          <a:p>
            <a:pPr algn="r"/>
            <a:r>
              <a:rPr sz="1100" b="0">
                <a:solidFill>
                  <a:srgbClr val="6C7A89"/>
                </a:solidFill>
                <a:latin typeface="Calibri"/>
              </a:rPr>
              <a:t>60%</a:t>
            </a:r>
          </a:p>
        </p:txBody>
      </p:sp>
      <p:sp>
        <p:nvSpPr>
          <p:cNvPr id="53" name="FMI Scale 7"/>
          <p:cNvSpPr txBox="1"/>
          <p:nvPr/>
        </p:nvSpPr>
        <p:spPr>
          <a:xfrm>
            <a:off x="4286250" y="2221132"/>
            <a:ext cx="419100" cy="146030"/>
          </a:xfrm>
          <a:prstGeom prst="rect">
            <a:avLst/>
          </a:prstGeom>
          <a:noFill/>
        </p:spPr>
        <p:txBody>
          <a:bodyPr wrap="none" lIns="0" rIns="0" tIns="0" bIns="0" anchor="ctr">
            <a:spAutoFit/>
          </a:bodyPr>
          <a:lstStyle/>
          <a:p>
            <a:pPr algn="r"/>
            <a:r>
              <a:rPr sz="1100" b="0">
                <a:solidFill>
                  <a:srgbClr val="6C7A89"/>
                </a:solidFill>
                <a:latin typeface="Calibri"/>
              </a:rPr>
              <a:t>70%</a:t>
            </a:r>
          </a:p>
        </p:txBody>
      </p:sp>
      <p:sp>
        <p:nvSpPr>
          <p:cNvPr id="54" name="FMI Scale 8"/>
          <p:cNvSpPr txBox="1"/>
          <p:nvPr/>
        </p:nvSpPr>
        <p:spPr>
          <a:xfrm>
            <a:off x="4286250" y="1992961"/>
            <a:ext cx="419100" cy="146030"/>
          </a:xfrm>
          <a:prstGeom prst="rect">
            <a:avLst/>
          </a:prstGeom>
          <a:noFill/>
        </p:spPr>
        <p:txBody>
          <a:bodyPr wrap="none" lIns="0" rIns="0" tIns="0" bIns="0" anchor="ctr">
            <a:spAutoFit/>
          </a:bodyPr>
          <a:lstStyle/>
          <a:p>
            <a:pPr algn="r"/>
            <a:r>
              <a:rPr sz="1100" b="0">
                <a:solidFill>
                  <a:srgbClr val="6C7A89"/>
                </a:solidFill>
                <a:latin typeface="Calibri"/>
              </a:rPr>
              <a:t>80%</a:t>
            </a:r>
          </a:p>
        </p:txBody>
      </p:sp>
      <p:sp>
        <p:nvSpPr>
          <p:cNvPr id="55" name="FMI Scale 9"/>
          <p:cNvSpPr txBox="1"/>
          <p:nvPr/>
        </p:nvSpPr>
        <p:spPr>
          <a:xfrm>
            <a:off x="4286250" y="1764790"/>
            <a:ext cx="419100" cy="146030"/>
          </a:xfrm>
          <a:prstGeom prst="rect">
            <a:avLst/>
          </a:prstGeom>
          <a:noFill/>
        </p:spPr>
        <p:txBody>
          <a:bodyPr wrap="none" lIns="0" rIns="0" tIns="0" bIns="0" anchor="ctr">
            <a:spAutoFit/>
          </a:bodyPr>
          <a:lstStyle/>
          <a:p>
            <a:pPr algn="r"/>
            <a:r>
              <a:rPr sz="1100" b="0">
                <a:solidFill>
                  <a:srgbClr val="6C7A89"/>
                </a:solidFill>
                <a:latin typeface="Calibri"/>
              </a:rPr>
              <a:t>90%</a:t>
            </a:r>
          </a:p>
        </p:txBody>
      </p:sp>
      <p:sp>
        <p:nvSpPr>
          <p:cNvPr id="56" name="FMI Scale 10"/>
          <p:cNvSpPr txBox="1"/>
          <p:nvPr/>
        </p:nvSpPr>
        <p:spPr>
          <a:xfrm>
            <a:off x="4286250" y="1536618"/>
            <a:ext cx="419100" cy="146030"/>
          </a:xfrm>
          <a:prstGeom prst="rect">
            <a:avLst/>
          </a:prstGeom>
          <a:noFill/>
        </p:spPr>
        <p:txBody>
          <a:bodyPr wrap="none" lIns="0" rIns="0" tIns="0" bIns="0" anchor="ctr">
            <a:spAutoFit/>
          </a:bodyPr>
          <a:lstStyle/>
          <a:p>
            <a:pPr algn="r"/>
            <a:r>
              <a:rPr sz="1100" b="0">
                <a:solidFill>
                  <a:srgbClr val="6C7A89"/>
                </a:solidFill>
                <a:latin typeface="Calibri"/>
              </a:rPr>
              <a:t>100%</a:t>
            </a:r>
          </a:p>
        </p:txBody>
      </p:sp>
      <p:cxnSp>
        <p:nvCxnSpPr>
          <p:cNvPr id="57" name="Connector 56"/>
          <p:cNvCxnSpPr/>
          <p:nvPr/>
        </p:nvCxnSpPr>
        <p:spPr>
          <a:xfrm>
            <a:off x="4762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2050" y="1080276"/>
            <a:ext cx="7077075" cy="219044"/>
          </a:xfrm>
          <a:prstGeom prst="rect">
            <a:avLst/>
          </a:prstGeom>
          <a:noFill/>
        </p:spPr>
        <p:txBody>
          <a:bodyPr wrap="square" lIns="28575" rIns="28575" tIns="9525" bIns="9525" anchor="ctr">
            <a:spAutoFit/>
          </a:bodyPr>
          <a:lstStyle/>
          <a:p>
            <a:pPr algn="l"/>
            <a:r>
              <a:rPr sz="1200" b="1">
                <a:solidFill>
                  <a:srgbClr val="0B2E4A"/>
                </a:solidFill>
                <a:latin typeface="Calibri"/>
              </a:rPr>
              <a:t>Economic and Supply-side Factors</a:t>
            </a:r>
          </a:p>
        </p:txBody>
      </p:sp>
      <p:cxnSp>
        <p:nvCxnSpPr>
          <p:cNvPr id="59" name="Connector 58"/>
          <p:cNvCxnSpPr/>
          <p:nvPr/>
        </p:nvCxnSpPr>
        <p:spPr>
          <a:xfrm>
            <a:off x="4972050" y="1335828"/>
            <a:ext cx="70770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4972050" y="142709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1" name="TextBox 60"/>
          <p:cNvSpPr txBox="1"/>
          <p:nvPr/>
        </p:nvSpPr>
        <p:spPr>
          <a:xfrm>
            <a:off x="4972050" y="1883439"/>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4972050" y="2339781"/>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3" name="TextBox 62"/>
          <p:cNvSpPr txBox="1"/>
          <p:nvPr/>
        </p:nvSpPr>
        <p:spPr>
          <a:xfrm>
            <a:off x="4972050" y="261358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Portfolio breadth spans 7 product type lines and 9 end user routes, giving producers wide reformulation and channel latitude.</a:t>
            </a:r>
          </a:p>
        </p:txBody>
      </p:sp>
      <p:sp>
        <p:nvSpPr>
          <p:cNvPr id="64" name="TextBox 63"/>
          <p:cNvSpPr txBox="1"/>
          <p:nvPr/>
        </p:nvSpPr>
        <p:spPr>
          <a:xfrm>
            <a:off x="4972050" y="3069929"/>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5" name="TextBox 64"/>
          <p:cNvSpPr txBox="1"/>
          <p:nvPr/>
        </p:nvSpPr>
        <p:spPr>
          <a:xfrm>
            <a:off x="4972050" y="3343734"/>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6" name="TextBox 6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7" name="TextBox 66"/>
          <p:cNvSpPr txBox="1"/>
          <p:nvPr/>
        </p:nvSpPr>
        <p:spPr>
          <a:xfrm>
            <a:off x="3466991" y="1322601"/>
            <a:ext cx="1125226" cy="173278"/>
          </a:xfrm>
          <a:prstGeom prst="rect">
            <a:avLst/>
          </a:prstGeom>
          <a:noFill/>
        </p:spPr>
        <p:txBody>
          <a:bodyPr wrap="none" lIns="0" rIns="0" tIns="0" bIns="0">
            <a:spAutoFit/>
          </a:bodyPr>
          <a:lstStyle/>
          <a:p>
            <a:r>
              <a:rPr sz="1011" b="0">
                <a:solidFill>
                  <a:srgbClr val="2E2E2E"/>
                </a:solidFill>
                <a:latin typeface="Calibri"/>
              </a:rPr>
              <a:t>Production Scale-up</a:t>
            </a:r>
          </a:p>
        </p:txBody>
      </p:sp>
      <p:pic>
        <p:nvPicPr>
          <p:cNvPr id="68" name="Picture 67" descr="lock.png"/>
          <p:cNvPicPr>
            <a:picLocks noChangeAspect="1"/>
          </p:cNvPicPr>
          <p:nvPr/>
        </p:nvPicPr>
        <p:blipFill>
          <a:blip r:embed="rId4"/>
          <a:stretch>
            <a:fillRect/>
          </a:stretch>
        </p:blipFill>
        <p:spPr>
          <a:xfrm>
            <a:off x="4538330" y="1313604"/>
            <a:ext cx="118403" cy="172222"/>
          </a:xfrm>
          <a:prstGeom prst="rect">
            <a:avLst/>
          </a:prstGeom>
        </p:spPr>
      </p:pic>
      <p:sp>
        <p:nvSpPr>
          <p:cNvPr id="69" name="TextBox 68"/>
          <p:cNvSpPr txBox="1"/>
          <p:nvPr/>
        </p:nvSpPr>
        <p:spPr>
          <a:xfrm>
            <a:off x="2482772" y="1561215"/>
            <a:ext cx="1094602" cy="173278"/>
          </a:xfrm>
          <a:prstGeom prst="rect">
            <a:avLst/>
          </a:prstGeom>
          <a:noFill/>
        </p:spPr>
        <p:txBody>
          <a:bodyPr wrap="none" lIns="0" rIns="0" tIns="0" bIns="0">
            <a:spAutoFit/>
          </a:bodyPr>
          <a:lstStyle/>
          <a:p>
            <a:r>
              <a:rPr sz="1011" b="0">
                <a:solidFill>
                  <a:srgbClr val="2E2E2E"/>
                </a:solidFill>
                <a:latin typeface="Calibri"/>
              </a:rPr>
              <a:t>Input Cost Pressure</a:t>
            </a:r>
          </a:p>
        </p:txBody>
      </p:sp>
      <p:pic>
        <p:nvPicPr>
          <p:cNvPr id="70" name="Picture 69" descr="lock.png"/>
          <p:cNvPicPr>
            <a:picLocks noChangeAspect="1"/>
          </p:cNvPicPr>
          <p:nvPr/>
        </p:nvPicPr>
        <p:blipFill>
          <a:blip r:embed="rId4"/>
          <a:stretch>
            <a:fillRect/>
          </a:stretch>
        </p:blipFill>
        <p:spPr>
          <a:xfrm>
            <a:off x="3523486" y="1552218"/>
            <a:ext cx="118403" cy="172222"/>
          </a:xfrm>
          <a:prstGeom prst="rect">
            <a:avLst/>
          </a:prstGeom>
        </p:spPr>
      </p:pic>
      <p:sp>
        <p:nvSpPr>
          <p:cNvPr id="71" name="TextBox 70"/>
          <p:cNvSpPr txBox="1"/>
          <p:nvPr/>
        </p:nvSpPr>
        <p:spPr>
          <a:xfrm>
            <a:off x="1943191" y="2311939"/>
            <a:ext cx="759234" cy="173278"/>
          </a:xfrm>
          <a:prstGeom prst="rect">
            <a:avLst/>
          </a:prstGeom>
          <a:noFill/>
        </p:spPr>
        <p:txBody>
          <a:bodyPr wrap="none" lIns="0" rIns="0" tIns="0" bIns="0">
            <a:spAutoFit/>
          </a:bodyPr>
          <a:lstStyle/>
          <a:p>
            <a:r>
              <a:rPr sz="1011" b="0">
                <a:solidFill>
                  <a:srgbClr val="2E2E2E"/>
                </a:solidFill>
                <a:latin typeface="Calibri"/>
              </a:rPr>
              <a:t>Capacity Add</a:t>
            </a:r>
          </a:p>
        </p:txBody>
      </p:sp>
      <p:pic>
        <p:nvPicPr>
          <p:cNvPr id="72" name="Picture 71" descr="lock.png"/>
          <p:cNvPicPr>
            <a:picLocks noChangeAspect="1"/>
          </p:cNvPicPr>
          <p:nvPr/>
        </p:nvPicPr>
        <p:blipFill>
          <a:blip r:embed="rId4"/>
          <a:stretch>
            <a:fillRect/>
          </a:stretch>
        </p:blipFill>
        <p:spPr>
          <a:xfrm>
            <a:off x="2648537" y="2302942"/>
            <a:ext cx="118403" cy="172222"/>
          </a:xfrm>
          <a:prstGeom prst="rect">
            <a:avLst/>
          </a:prstGeom>
        </p:spPr>
      </p:pic>
      <p:sp>
        <p:nvSpPr>
          <p:cNvPr id="73" name="TextBox 72"/>
          <p:cNvSpPr txBox="1"/>
          <p:nvPr/>
        </p:nvSpPr>
        <p:spPr>
          <a:xfrm>
            <a:off x="1014573" y="3278069"/>
            <a:ext cx="1202291" cy="173278"/>
          </a:xfrm>
          <a:prstGeom prst="rect">
            <a:avLst/>
          </a:prstGeom>
          <a:noFill/>
        </p:spPr>
        <p:txBody>
          <a:bodyPr wrap="none" lIns="0" rIns="0" tIns="0" bIns="0">
            <a:spAutoFit/>
          </a:bodyPr>
          <a:lstStyle/>
          <a:p>
            <a:r>
              <a:rPr sz="1011" b="0">
                <a:solidFill>
                  <a:srgbClr val="2E2E2E"/>
                </a:solidFill>
                <a:latin typeface="Calibri"/>
              </a:rPr>
              <a:t>Supply Concentration</a:t>
            </a:r>
          </a:p>
        </p:txBody>
      </p:sp>
      <p:pic>
        <p:nvPicPr>
          <p:cNvPr id="74" name="Picture 73" descr="lock.png"/>
          <p:cNvPicPr>
            <a:picLocks noChangeAspect="1"/>
          </p:cNvPicPr>
          <p:nvPr/>
        </p:nvPicPr>
        <p:blipFill>
          <a:blip r:embed="rId4"/>
          <a:stretch>
            <a:fillRect/>
          </a:stretch>
        </p:blipFill>
        <p:spPr>
          <a:xfrm>
            <a:off x="2162976" y="3269072"/>
            <a:ext cx="118403" cy="172222"/>
          </a:xfrm>
          <a:prstGeom prst="rect">
            <a:avLst/>
          </a:prstGeom>
        </p:spPr>
      </p:pic>
      <p:sp>
        <p:nvSpPr>
          <p:cNvPr id="75" name="TextBox 74"/>
          <p:cNvSpPr txBox="1"/>
          <p:nvPr/>
        </p:nvSpPr>
        <p:spPr>
          <a:xfrm>
            <a:off x="1148118" y="4350392"/>
            <a:ext cx="1068746" cy="173278"/>
          </a:xfrm>
          <a:prstGeom prst="rect">
            <a:avLst/>
          </a:prstGeom>
          <a:noFill/>
        </p:spPr>
        <p:txBody>
          <a:bodyPr wrap="none" lIns="0" rIns="0" tIns="0" bIns="0">
            <a:spAutoFit/>
          </a:bodyPr>
          <a:lstStyle/>
          <a:p>
            <a:r>
              <a:rPr sz="1011" b="0">
                <a:solidFill>
                  <a:srgbClr val="2E2E2E"/>
                </a:solidFill>
                <a:latin typeface="Calibri"/>
              </a:rPr>
              <a:t>Geographic Spread</a:t>
            </a:r>
          </a:p>
        </p:txBody>
      </p:sp>
      <p:pic>
        <p:nvPicPr>
          <p:cNvPr id="76" name="Picture 75" descr="lock.png"/>
          <p:cNvPicPr>
            <a:picLocks noChangeAspect="1"/>
          </p:cNvPicPr>
          <p:nvPr/>
        </p:nvPicPr>
        <p:blipFill>
          <a:blip r:embed="rId4"/>
          <a:stretch>
            <a:fillRect/>
          </a:stretch>
        </p:blipFill>
        <p:spPr>
          <a:xfrm>
            <a:off x="2162976" y="4341395"/>
            <a:ext cx="118403" cy="172222"/>
          </a:xfrm>
          <a:prstGeom prst="rect">
            <a:avLst/>
          </a:prstGeom>
        </p:spPr>
      </p:pic>
      <p:sp>
        <p:nvSpPr>
          <p:cNvPr id="77" name="TextBox 76"/>
          <p:cNvSpPr txBox="1"/>
          <p:nvPr/>
        </p:nvSpPr>
        <p:spPr>
          <a:xfrm>
            <a:off x="1722039" y="5316521"/>
            <a:ext cx="980386" cy="173278"/>
          </a:xfrm>
          <a:prstGeom prst="rect">
            <a:avLst/>
          </a:prstGeom>
          <a:noFill/>
        </p:spPr>
        <p:txBody>
          <a:bodyPr wrap="none" lIns="0" rIns="0" tIns="0" bIns="0">
            <a:spAutoFit/>
          </a:bodyPr>
          <a:lstStyle/>
          <a:p>
            <a:r>
              <a:rPr sz="1011" b="0">
                <a:solidFill>
                  <a:srgbClr val="2E2E2E"/>
                </a:solidFill>
                <a:latin typeface="Calibri"/>
              </a:rPr>
              <a:t>Portfolio Breadth</a:t>
            </a:r>
          </a:p>
        </p:txBody>
      </p:sp>
      <p:pic>
        <p:nvPicPr>
          <p:cNvPr id="78" name="Picture 77" descr="lock.png"/>
          <p:cNvPicPr>
            <a:picLocks noChangeAspect="1"/>
          </p:cNvPicPr>
          <p:nvPr/>
        </p:nvPicPr>
        <p:blipFill>
          <a:blip r:embed="rId4"/>
          <a:stretch>
            <a:fillRect/>
          </a:stretch>
        </p:blipFill>
        <p:spPr>
          <a:xfrm>
            <a:off x="2648537" y="5307524"/>
            <a:ext cx="118403" cy="172222"/>
          </a:xfrm>
          <a:prstGeom prst="rect">
            <a:avLst/>
          </a:prstGeom>
        </p:spPr>
      </p:pic>
      <p:sp>
        <p:nvSpPr>
          <p:cNvPr id="79" name="TextBox 78"/>
          <p:cNvSpPr txBox="1"/>
          <p:nvPr/>
        </p:nvSpPr>
        <p:spPr>
          <a:xfrm>
            <a:off x="2838472" y="6067245"/>
            <a:ext cx="738901" cy="173278"/>
          </a:xfrm>
          <a:prstGeom prst="rect">
            <a:avLst/>
          </a:prstGeom>
          <a:noFill/>
        </p:spPr>
        <p:txBody>
          <a:bodyPr wrap="none" lIns="0" rIns="0" tIns="0" bIns="0">
            <a:spAutoFit/>
          </a:bodyPr>
          <a:lstStyle/>
          <a:p>
            <a:r>
              <a:rPr sz="1011" b="0">
                <a:solidFill>
                  <a:srgbClr val="2E2E2E"/>
                </a:solidFill>
                <a:latin typeface="Calibri"/>
              </a:rPr>
              <a:t>Route Depth</a:t>
            </a:r>
          </a:p>
        </p:txBody>
      </p:sp>
      <p:pic>
        <p:nvPicPr>
          <p:cNvPr id="80" name="Picture 79" descr="lock.png"/>
          <p:cNvPicPr>
            <a:picLocks noChangeAspect="1"/>
          </p:cNvPicPr>
          <p:nvPr/>
        </p:nvPicPr>
        <p:blipFill>
          <a:blip r:embed="rId4"/>
          <a:stretch>
            <a:fillRect/>
          </a:stretch>
        </p:blipFill>
        <p:spPr>
          <a:xfrm>
            <a:off x="3523486" y="6058248"/>
            <a:ext cx="118403" cy="172222"/>
          </a:xfrm>
          <a:prstGeom prst="rect">
            <a:avLst/>
          </a:prstGeom>
        </p:spPr>
      </p:pic>
      <p:sp>
        <p:nvSpPr>
          <p:cNvPr id="81" name="TextBox 80"/>
          <p:cNvSpPr txBox="1"/>
          <p:nvPr/>
        </p:nvSpPr>
        <p:spPr>
          <a:xfrm>
            <a:off x="3616852" y="6305860"/>
            <a:ext cx="975365" cy="173278"/>
          </a:xfrm>
          <a:prstGeom prst="rect">
            <a:avLst/>
          </a:prstGeom>
          <a:noFill/>
        </p:spPr>
        <p:txBody>
          <a:bodyPr wrap="none" lIns="0" rIns="0" tIns="0" bIns="0">
            <a:spAutoFit/>
          </a:bodyPr>
          <a:lstStyle/>
          <a:p>
            <a:r>
              <a:rPr sz="1011" b="0">
                <a:solidFill>
                  <a:srgbClr val="2E2E2E"/>
                </a:solidFill>
                <a:latin typeface="Calibri"/>
              </a:rPr>
              <a:t>Value Realisation</a:t>
            </a:r>
          </a:p>
        </p:txBody>
      </p:sp>
      <p:pic>
        <p:nvPicPr>
          <p:cNvPr id="82" name="Picture 81" descr="lock.png"/>
          <p:cNvPicPr>
            <a:picLocks noChangeAspect="1"/>
          </p:cNvPicPr>
          <p:nvPr/>
        </p:nvPicPr>
        <p:blipFill>
          <a:blip r:embed="rId4"/>
          <a:stretch>
            <a:fillRect/>
          </a:stretch>
        </p:blipFill>
        <p:spPr>
          <a:xfrm>
            <a:off x="4538330" y="6296863"/>
            <a:ext cx="118403" cy="172222"/>
          </a:xfrm>
          <a:prstGeom prst="rect">
            <a:avLst/>
          </a:prstGeom>
        </p:spPr>
      </p:pic>
      <p:sp>
        <p:nvSpPr>
          <p:cNvPr id="83" name="TextBox 82"/>
          <p:cNvSpPr txBox="1"/>
          <p:nvPr/>
        </p:nvSpPr>
        <p:spPr>
          <a:xfrm>
            <a:off x="5000625" y="1496754"/>
            <a:ext cx="3210445" cy="186689"/>
          </a:xfrm>
          <a:prstGeom prst="rect">
            <a:avLst/>
          </a:prstGeom>
          <a:noFill/>
        </p:spPr>
        <p:txBody>
          <a:bodyPr wrap="none" lIns="0" rIns="0" tIns="0" bIns="0">
            <a:spAutoFit/>
          </a:bodyPr>
          <a:lstStyle/>
          <a:p>
            <a:r>
              <a:rPr sz="1100" b="0">
                <a:solidFill>
                  <a:srgbClr val="2E2E2E"/>
                </a:solidFill>
                <a:latin typeface="Calibri"/>
              </a:rPr>
              <a:t>▪ Supply-side conditions are led by Geographic Spread (</a:t>
            </a:r>
          </a:p>
        </p:txBody>
      </p:sp>
      <p:pic>
        <p:nvPicPr>
          <p:cNvPr id="84" name="Picture 83" descr="lock.png"/>
          <p:cNvPicPr>
            <a:picLocks noChangeAspect="1"/>
          </p:cNvPicPr>
          <p:nvPr/>
        </p:nvPicPr>
        <p:blipFill>
          <a:blip r:embed="rId4"/>
          <a:stretch>
            <a:fillRect/>
          </a:stretch>
        </p:blipFill>
        <p:spPr>
          <a:xfrm>
            <a:off x="8159122" y="1486975"/>
            <a:ext cx="128699" cy="187198"/>
          </a:xfrm>
          <a:prstGeom prst="rect">
            <a:avLst/>
          </a:prstGeom>
        </p:spPr>
      </p:pic>
      <p:sp>
        <p:nvSpPr>
          <p:cNvPr id="85" name="TextBox 84"/>
          <p:cNvSpPr txBox="1"/>
          <p:nvPr/>
        </p:nvSpPr>
        <p:spPr>
          <a:xfrm>
            <a:off x="8326618" y="1496754"/>
            <a:ext cx="1175246" cy="186689"/>
          </a:xfrm>
          <a:prstGeom prst="rect">
            <a:avLst/>
          </a:prstGeom>
          <a:noFill/>
        </p:spPr>
        <p:txBody>
          <a:bodyPr wrap="none" lIns="0" rIns="0" tIns="0" bIns="0">
            <a:spAutoFit/>
          </a:bodyPr>
          <a:lstStyle/>
          <a:p>
            <a:r>
              <a:rPr sz="1100" b="0">
                <a:solidFill>
                  <a:srgbClr val="2E2E2E"/>
                </a:solidFill>
                <a:latin typeface="Calibri"/>
              </a:rPr>
              <a:t>/10), Route Depth (</a:t>
            </a:r>
          </a:p>
        </p:txBody>
      </p:sp>
      <p:pic>
        <p:nvPicPr>
          <p:cNvPr id="86" name="Picture 85" descr="lock.png"/>
          <p:cNvPicPr>
            <a:picLocks noChangeAspect="1"/>
          </p:cNvPicPr>
          <p:nvPr/>
        </p:nvPicPr>
        <p:blipFill>
          <a:blip r:embed="rId4"/>
          <a:stretch>
            <a:fillRect/>
          </a:stretch>
        </p:blipFill>
        <p:spPr>
          <a:xfrm>
            <a:off x="9449916" y="1486975"/>
            <a:ext cx="128699" cy="187198"/>
          </a:xfrm>
          <a:prstGeom prst="rect">
            <a:avLst/>
          </a:prstGeom>
        </p:spPr>
      </p:pic>
      <p:sp>
        <p:nvSpPr>
          <p:cNvPr id="87" name="TextBox 86"/>
          <p:cNvSpPr txBox="1"/>
          <p:nvPr/>
        </p:nvSpPr>
        <p:spPr>
          <a:xfrm>
            <a:off x="9617411" y="1496754"/>
            <a:ext cx="1437729" cy="186689"/>
          </a:xfrm>
          <a:prstGeom prst="rect">
            <a:avLst/>
          </a:prstGeom>
          <a:noFill/>
        </p:spPr>
        <p:txBody>
          <a:bodyPr wrap="none" lIns="0" rIns="0" tIns="0" bIns="0">
            <a:spAutoFit/>
          </a:bodyPr>
          <a:lstStyle/>
          <a:p>
            <a:r>
              <a:rPr sz="1100" b="0">
                <a:solidFill>
                  <a:srgbClr val="2E2E2E"/>
                </a:solidFill>
                <a:latin typeface="Calibri"/>
              </a:rPr>
              <a:t>/10), Portfolio Breadth (</a:t>
            </a:r>
          </a:p>
        </p:txBody>
      </p:sp>
      <p:pic>
        <p:nvPicPr>
          <p:cNvPr id="88" name="Picture 87" descr="lock.png"/>
          <p:cNvPicPr>
            <a:picLocks noChangeAspect="1"/>
          </p:cNvPicPr>
          <p:nvPr/>
        </p:nvPicPr>
        <p:blipFill>
          <a:blip r:embed="rId4"/>
          <a:stretch>
            <a:fillRect/>
          </a:stretch>
        </p:blipFill>
        <p:spPr>
          <a:xfrm>
            <a:off x="11003192" y="1486975"/>
            <a:ext cx="128699" cy="187198"/>
          </a:xfrm>
          <a:prstGeom prst="rect">
            <a:avLst/>
          </a:prstGeom>
        </p:spPr>
      </p:pic>
      <p:sp>
        <p:nvSpPr>
          <p:cNvPr id="89" name="TextBox 88"/>
          <p:cNvSpPr txBox="1"/>
          <p:nvPr/>
        </p:nvSpPr>
        <p:spPr>
          <a:xfrm>
            <a:off x="11170688" y="1496754"/>
            <a:ext cx="591616" cy="186689"/>
          </a:xfrm>
          <a:prstGeom prst="rect">
            <a:avLst/>
          </a:prstGeom>
          <a:noFill/>
        </p:spPr>
        <p:txBody>
          <a:bodyPr wrap="none" lIns="0" rIns="0" tIns="0" bIns="0">
            <a:spAutoFit/>
          </a:bodyPr>
          <a:lstStyle/>
          <a:p>
            <a:r>
              <a:rPr sz="1100" b="0">
                <a:solidFill>
                  <a:srgbClr val="2E2E2E"/>
                </a:solidFill>
                <a:latin typeface="Calibri"/>
              </a:rPr>
              <a:t>/10) on a</a:t>
            </a:r>
          </a:p>
        </p:txBody>
      </p:sp>
      <p:sp>
        <p:nvSpPr>
          <p:cNvPr id="90" name="TextBox 89"/>
          <p:cNvSpPr txBox="1"/>
          <p:nvPr/>
        </p:nvSpPr>
        <p:spPr>
          <a:xfrm>
            <a:off x="5000625" y="1664394"/>
            <a:ext cx="2764060" cy="186689"/>
          </a:xfrm>
          <a:prstGeom prst="rect">
            <a:avLst/>
          </a:prstGeom>
          <a:noFill/>
        </p:spPr>
        <p:txBody>
          <a:bodyPr wrap="none" lIns="0" rIns="0" tIns="0" bIns="0">
            <a:spAutoFit/>
          </a:bodyPr>
          <a:lstStyle/>
          <a:p>
            <a:r>
              <a:rPr sz="1100" b="0">
                <a:solidFill>
                  <a:srgbClr val="2E2E2E"/>
                </a:solidFill>
                <a:latin typeface="Calibri"/>
              </a:rPr>
              <a:t>0-10 scale scored from the global dataset itself.</a:t>
            </a:r>
          </a:p>
        </p:txBody>
      </p:sp>
      <p:sp>
        <p:nvSpPr>
          <p:cNvPr id="91" name="TextBox 90"/>
          <p:cNvSpPr txBox="1"/>
          <p:nvPr/>
        </p:nvSpPr>
        <p:spPr>
          <a:xfrm>
            <a:off x="5000625" y="1953097"/>
            <a:ext cx="1245914" cy="186689"/>
          </a:xfrm>
          <a:prstGeom prst="rect">
            <a:avLst/>
          </a:prstGeom>
          <a:noFill/>
        </p:spPr>
        <p:txBody>
          <a:bodyPr wrap="none" lIns="0" rIns="0" tIns="0" bIns="0">
            <a:spAutoFit/>
          </a:bodyPr>
          <a:lstStyle/>
          <a:p>
            <a:r>
              <a:rPr sz="1100" b="0">
                <a:solidFill>
                  <a:srgbClr val="2E2E2E"/>
                </a:solidFill>
                <a:latin typeface="Calibri"/>
              </a:rPr>
              <a:t>▪ Volume expands at</a:t>
            </a:r>
          </a:p>
        </p:txBody>
      </p:sp>
      <p:pic>
        <p:nvPicPr>
          <p:cNvPr id="92" name="Picture 91" descr="lock.png"/>
          <p:cNvPicPr>
            <a:picLocks noChangeAspect="1"/>
          </p:cNvPicPr>
          <p:nvPr/>
        </p:nvPicPr>
        <p:blipFill>
          <a:blip r:embed="rId4"/>
          <a:stretch>
            <a:fillRect/>
          </a:stretch>
        </p:blipFill>
        <p:spPr>
          <a:xfrm>
            <a:off x="6194591" y="1943318"/>
            <a:ext cx="128699" cy="187198"/>
          </a:xfrm>
          <a:prstGeom prst="rect">
            <a:avLst/>
          </a:prstGeom>
        </p:spPr>
      </p:pic>
      <p:sp>
        <p:nvSpPr>
          <p:cNvPr id="93" name="TextBox 92"/>
          <p:cNvSpPr txBox="1"/>
          <p:nvPr/>
        </p:nvSpPr>
        <p:spPr>
          <a:xfrm>
            <a:off x="6362087" y="1953097"/>
            <a:ext cx="3002788" cy="186689"/>
          </a:xfrm>
          <a:prstGeom prst="rect">
            <a:avLst/>
          </a:prstGeom>
          <a:noFill/>
        </p:spPr>
        <p:txBody>
          <a:bodyPr wrap="none" lIns="0" rIns="0" tIns="0" bIns="0">
            <a:spAutoFit/>
          </a:bodyPr>
          <a:lstStyle/>
          <a:p>
            <a:r>
              <a:rPr sz="1100" b="0">
                <a:solidFill>
                  <a:srgbClr val="2E2E2E"/>
                </a:solidFill>
                <a:latin typeface="Calibri"/>
              </a:rPr>
              <a:t>CAGR (2026–2036) while average realisation moves</a:t>
            </a:r>
          </a:p>
        </p:txBody>
      </p:sp>
      <p:pic>
        <p:nvPicPr>
          <p:cNvPr id="94" name="Picture 93" descr="lock.png"/>
          <p:cNvPicPr>
            <a:picLocks noChangeAspect="1"/>
          </p:cNvPicPr>
          <p:nvPr/>
        </p:nvPicPr>
        <p:blipFill>
          <a:blip r:embed="rId4"/>
          <a:stretch>
            <a:fillRect/>
          </a:stretch>
        </p:blipFill>
        <p:spPr>
          <a:xfrm>
            <a:off x="9312927" y="1943318"/>
            <a:ext cx="128699" cy="187198"/>
          </a:xfrm>
          <a:prstGeom prst="rect">
            <a:avLst/>
          </a:prstGeom>
        </p:spPr>
      </p:pic>
      <p:sp>
        <p:nvSpPr>
          <p:cNvPr id="95" name="TextBox 94"/>
          <p:cNvSpPr txBox="1"/>
          <p:nvPr/>
        </p:nvSpPr>
        <p:spPr>
          <a:xfrm>
            <a:off x="9480423" y="1953097"/>
            <a:ext cx="2346597" cy="186689"/>
          </a:xfrm>
          <a:prstGeom prst="rect">
            <a:avLst/>
          </a:prstGeom>
          <a:noFill/>
        </p:spPr>
        <p:txBody>
          <a:bodyPr wrap="none" lIns="0" rIns="0" tIns="0" bIns="0">
            <a:spAutoFit/>
          </a:bodyPr>
          <a:lstStyle/>
          <a:p>
            <a:r>
              <a:rPr sz="1100" b="0">
                <a:solidFill>
                  <a:srgbClr val="2E2E2E"/>
                </a:solidFill>
                <a:latin typeface="Calibri"/>
              </a:rPr>
              <a:t>a year the balance of those two sets the</a:t>
            </a:r>
          </a:p>
        </p:txBody>
      </p:sp>
      <p:sp>
        <p:nvSpPr>
          <p:cNvPr id="96" name="TextBox 95"/>
          <p:cNvSpPr txBox="1"/>
          <p:nvPr/>
        </p:nvSpPr>
        <p:spPr>
          <a:xfrm>
            <a:off x="5000625" y="2120737"/>
            <a:ext cx="1571426" cy="186689"/>
          </a:xfrm>
          <a:prstGeom prst="rect">
            <a:avLst/>
          </a:prstGeom>
          <a:noFill/>
        </p:spPr>
        <p:txBody>
          <a:bodyPr wrap="none" lIns="0" rIns="0" tIns="0" bIns="0">
            <a:spAutoFit/>
          </a:bodyPr>
          <a:lstStyle/>
          <a:p>
            <a:r>
              <a:rPr sz="1100" b="0">
                <a:solidFill>
                  <a:srgbClr val="2E2E2E"/>
                </a:solidFill>
                <a:latin typeface="Calibri"/>
              </a:rPr>
              <a:t>cost-pass-through picture.</a:t>
            </a:r>
          </a:p>
        </p:txBody>
      </p:sp>
      <p:sp>
        <p:nvSpPr>
          <p:cNvPr id="97" name="TextBox 96"/>
          <p:cNvSpPr txBox="1"/>
          <p:nvPr/>
        </p:nvSpPr>
        <p:spPr>
          <a:xfrm>
            <a:off x="5000625" y="2401990"/>
            <a:ext cx="2540049" cy="186689"/>
          </a:xfrm>
          <a:prstGeom prst="rect">
            <a:avLst/>
          </a:prstGeom>
          <a:noFill/>
        </p:spPr>
        <p:txBody>
          <a:bodyPr wrap="none" lIns="0" rIns="0" tIns="0" bIns="0">
            <a:spAutoFit/>
          </a:bodyPr>
          <a:lstStyle/>
          <a:p>
            <a:r>
              <a:rPr sz="1100" b="0">
                <a:solidFill>
                  <a:srgbClr val="2E2E2E"/>
                </a:solidFill>
                <a:latin typeface="Calibri"/>
              </a:rPr>
              <a:t>▪ Supply is dispersed: 'North America' holds</a:t>
            </a:r>
          </a:p>
        </p:txBody>
      </p:sp>
      <p:pic>
        <p:nvPicPr>
          <p:cNvPr id="98" name="Picture 97" descr="lock.png"/>
          <p:cNvPicPr>
            <a:picLocks noChangeAspect="1"/>
          </p:cNvPicPr>
          <p:nvPr/>
        </p:nvPicPr>
        <p:blipFill>
          <a:blip r:embed="rId4"/>
          <a:stretch>
            <a:fillRect/>
          </a:stretch>
        </p:blipFill>
        <p:spPr>
          <a:xfrm>
            <a:off x="7488726" y="2392211"/>
            <a:ext cx="128699" cy="187198"/>
          </a:xfrm>
          <a:prstGeom prst="rect">
            <a:avLst/>
          </a:prstGeom>
        </p:spPr>
      </p:pic>
      <p:sp>
        <p:nvSpPr>
          <p:cNvPr id="99" name="TextBox 98"/>
          <p:cNvSpPr txBox="1"/>
          <p:nvPr/>
        </p:nvSpPr>
        <p:spPr>
          <a:xfrm>
            <a:off x="7656222" y="2401990"/>
            <a:ext cx="1821358" cy="186689"/>
          </a:xfrm>
          <a:prstGeom prst="rect">
            <a:avLst/>
          </a:prstGeom>
          <a:noFill/>
        </p:spPr>
        <p:txBody>
          <a:bodyPr wrap="none" lIns="0" rIns="0" tIns="0" bIns="0">
            <a:spAutoFit/>
          </a:bodyPr>
          <a:lstStyle/>
          <a:p>
            <a:r>
              <a:rPr sz="1100" b="0">
                <a:solidFill>
                  <a:srgbClr val="2E2E2E"/>
                </a:solidFill>
                <a:latin typeface="Calibri"/>
              </a:rPr>
              <a:t>of 2036 value across 6 regions.</a:t>
            </a:r>
          </a:p>
        </p:txBody>
      </p:sp>
      <p:sp>
        <p:nvSpPr>
          <p:cNvPr id="100" name="TextBox 99"/>
          <p:cNvSpPr txBox="1"/>
          <p:nvPr/>
        </p:nvSpPr>
        <p:spPr>
          <a:xfrm>
            <a:off x="5000625" y="3132138"/>
            <a:ext cx="2931591" cy="186689"/>
          </a:xfrm>
          <a:prstGeom prst="rect">
            <a:avLst/>
          </a:prstGeom>
          <a:noFill/>
        </p:spPr>
        <p:txBody>
          <a:bodyPr wrap="none" lIns="0" rIns="0" tIns="0" bIns="0">
            <a:spAutoFit/>
          </a:bodyPr>
          <a:lstStyle/>
          <a:p>
            <a:r>
              <a:rPr sz="1100" b="0">
                <a:solidFill>
                  <a:srgbClr val="2E2E2E"/>
                </a:solidFill>
                <a:latin typeface="Calibri"/>
              </a:rPr>
              <a:t>▪ Capacity added between 2026 and 2036 is worth</a:t>
            </a:r>
          </a:p>
        </p:txBody>
      </p:sp>
      <p:pic>
        <p:nvPicPr>
          <p:cNvPr id="101" name="Picture 100" descr="lock.png"/>
          <p:cNvPicPr>
            <a:picLocks noChangeAspect="1"/>
          </p:cNvPicPr>
          <p:nvPr/>
        </p:nvPicPr>
        <p:blipFill>
          <a:blip r:embed="rId4"/>
          <a:stretch>
            <a:fillRect/>
          </a:stretch>
        </p:blipFill>
        <p:spPr>
          <a:xfrm>
            <a:off x="7880268" y="3122359"/>
            <a:ext cx="128699" cy="187198"/>
          </a:xfrm>
          <a:prstGeom prst="rect">
            <a:avLst/>
          </a:prstGeom>
        </p:spPr>
      </p:pic>
      <p:sp>
        <p:nvSpPr>
          <p:cNvPr id="102" name="TextBox 101"/>
          <p:cNvSpPr txBox="1"/>
          <p:nvPr/>
        </p:nvSpPr>
        <p:spPr>
          <a:xfrm>
            <a:off x="8047764" y="3132138"/>
            <a:ext cx="659010" cy="186689"/>
          </a:xfrm>
          <a:prstGeom prst="rect">
            <a:avLst/>
          </a:prstGeom>
          <a:noFill/>
        </p:spPr>
        <p:txBody>
          <a:bodyPr wrap="none" lIns="0" rIns="0" tIns="0" bIns="0">
            <a:spAutoFit/>
          </a:bodyPr>
          <a:lstStyle/>
          <a:p>
            <a:r>
              <a:rPr sz="1100" b="0">
                <a:solidFill>
                  <a:srgbClr val="2E2E2E"/>
                </a:solidFill>
                <a:latin typeface="Calibri"/>
              </a:rPr>
              <a:t>US$ Mn, a</a:t>
            </a:r>
          </a:p>
        </p:txBody>
      </p:sp>
      <p:pic>
        <p:nvPicPr>
          <p:cNvPr id="103" name="Picture 102" descr="lock.png"/>
          <p:cNvPicPr>
            <a:picLocks noChangeAspect="1"/>
          </p:cNvPicPr>
          <p:nvPr/>
        </p:nvPicPr>
        <p:blipFill>
          <a:blip r:embed="rId4"/>
          <a:stretch>
            <a:fillRect/>
          </a:stretch>
        </p:blipFill>
        <p:spPr>
          <a:xfrm>
            <a:off x="8654826" y="3122359"/>
            <a:ext cx="128699" cy="187198"/>
          </a:xfrm>
          <a:prstGeom prst="rect">
            <a:avLst/>
          </a:prstGeom>
        </p:spPr>
      </p:pic>
      <p:sp>
        <p:nvSpPr>
          <p:cNvPr id="104" name="TextBox 103"/>
          <p:cNvSpPr txBox="1"/>
          <p:nvPr/>
        </p:nvSpPr>
        <p:spPr>
          <a:xfrm>
            <a:off x="8822322" y="3132138"/>
            <a:ext cx="1801986" cy="186689"/>
          </a:xfrm>
          <a:prstGeom prst="rect">
            <a:avLst/>
          </a:prstGeom>
          <a:noFill/>
        </p:spPr>
        <p:txBody>
          <a:bodyPr wrap="none" lIns="0" rIns="0" tIns="0" bIns="0">
            <a:spAutoFit/>
          </a:bodyPr>
          <a:lstStyle/>
          <a:p>
            <a:r>
              <a:rPr sz="1100" b="0">
                <a:solidFill>
                  <a:srgbClr val="2E2E2E"/>
                </a:solidFill>
                <a:latin typeface="Calibri"/>
              </a:rPr>
              <a:t>× expansion on the 2026 base.</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Ear Wax Removal Products Market Global Driving Factors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demand-side factors scored by their impact on the global market</a:t>
            </a:r>
          </a:p>
        </p:txBody>
      </p:sp>
      <p:sp>
        <p:nvSpPr>
          <p:cNvPr id="10" name="Oval 9"/>
          <p:cNvSpPr/>
          <p:nvPr/>
        </p:nvSpPr>
        <p:spPr>
          <a:xfrm>
            <a:off x="5048250" y="1609633"/>
            <a:ext cx="4762500" cy="4563424"/>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286375" y="1837804"/>
            <a:ext cx="4286250" cy="410708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524500" y="2065976"/>
            <a:ext cx="3810000" cy="365074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762625" y="2294147"/>
            <a:ext cx="3333750" cy="319439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000750" y="2522318"/>
            <a:ext cx="2857500" cy="273805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238875" y="2750489"/>
            <a:ext cx="2381250" cy="228171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77000" y="2978660"/>
            <a:ext cx="1905000" cy="182537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715125" y="3206832"/>
            <a:ext cx="1428750" cy="136902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953250" y="3435003"/>
            <a:ext cx="952500" cy="91268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91375" y="3663174"/>
            <a:ext cx="476250" cy="45634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7429500" y="1609633"/>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429500" y="1835594"/>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429500" y="2468721"/>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7429500" y="3383617"/>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29500" y="3891345"/>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29500" y="3891345"/>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429500" y="3891345"/>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29500" y="3891345"/>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7429500" y="2467557"/>
            <a:ext cx="1857375" cy="3632486"/>
          </a:xfrm>
          <a:custGeom>
            <a:avLst/>
            <a:gdLst/>
            <a:ahLst/>
            <a:cxnLst/>
            <a:rect l="l" t="t" r="r" b="b"/>
            <a:pathLst>
              <a:path w="195" h="398">
                <a:moveTo>
                  <a:pt x="0" y="19"/>
                </a:moveTo>
                <a:lnTo>
                  <a:pt x="65" y="21"/>
                </a:lnTo>
                <a:lnTo>
                  <a:pt x="195" y="0"/>
                </a:lnTo>
                <a:lnTo>
                  <a:pt x="97" y="134"/>
                </a:lnTo>
                <a:lnTo>
                  <a:pt x="124" y="184"/>
                </a:lnTo>
                <a:lnTo>
                  <a:pt x="134" y="263"/>
                </a:lnTo>
                <a:lnTo>
                  <a:pt x="37" y="234"/>
                </a:lnTo>
                <a:lnTo>
                  <a:pt x="0" y="398"/>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81875" y="1563999"/>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05700" y="128106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1" name="Oval 30"/>
          <p:cNvSpPr/>
          <p:nvPr/>
        </p:nvSpPr>
        <p:spPr>
          <a:xfrm>
            <a:off x="8415061" y="178996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20544" y="151968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3" name="Oval 32"/>
          <p:cNvSpPr/>
          <p:nvPr/>
        </p:nvSpPr>
        <p:spPr>
          <a:xfrm>
            <a:off x="9243611" y="2423087"/>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95493" y="2270405"/>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5" name="Oval 34"/>
          <p:cNvSpPr/>
          <p:nvPr/>
        </p:nvSpPr>
        <p:spPr>
          <a:xfrm>
            <a:off x="9703422" y="3337982"/>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81054" y="3236535"/>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7" name="Oval 36"/>
          <p:cNvSpPr/>
          <p:nvPr/>
        </p:nvSpPr>
        <p:spPr>
          <a:xfrm>
            <a:off x="9703422" y="435344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81054" y="4308858"/>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9" name="Oval 38"/>
          <p:cNvSpPr/>
          <p:nvPr/>
        </p:nvSpPr>
        <p:spPr>
          <a:xfrm>
            <a:off x="9243611" y="5268335"/>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95493" y="527498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1" name="Oval 40"/>
          <p:cNvSpPr/>
          <p:nvPr/>
        </p:nvSpPr>
        <p:spPr>
          <a:xfrm>
            <a:off x="8415061" y="590146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20544" y="602571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3" name="Oval 42"/>
          <p:cNvSpPr/>
          <p:nvPr/>
        </p:nvSpPr>
        <p:spPr>
          <a:xfrm>
            <a:off x="7381875" y="612742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05700" y="6264326"/>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5" name="Rectangle 44"/>
          <p:cNvSpPr/>
          <p:nvPr/>
        </p:nvSpPr>
        <p:spPr>
          <a:xfrm>
            <a:off x="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MI Scale 0"/>
          <p:cNvSpPr txBox="1"/>
          <p:nvPr/>
        </p:nvSpPr>
        <p:spPr>
          <a:xfrm>
            <a:off x="7486650" y="3818331"/>
            <a:ext cx="419100" cy="146030"/>
          </a:xfrm>
          <a:prstGeom prst="rect">
            <a:avLst/>
          </a:prstGeom>
          <a:noFill/>
        </p:spPr>
        <p:txBody>
          <a:bodyPr wrap="none" lIns="0" rIns="0" tIns="0" bIns="0" anchor="ctr">
            <a:spAutoFit/>
          </a:bodyPr>
          <a:lstStyle/>
          <a:p>
            <a:pPr algn="l"/>
            <a:r>
              <a:rPr sz="1100" b="0">
                <a:solidFill>
                  <a:srgbClr val="6C7A89"/>
                </a:solidFill>
                <a:latin typeface="Calibri"/>
              </a:rPr>
              <a:t>0%</a:t>
            </a:r>
          </a:p>
        </p:txBody>
      </p:sp>
      <p:sp>
        <p:nvSpPr>
          <p:cNvPr id="47" name="FMI Scale 1"/>
          <p:cNvSpPr txBox="1"/>
          <p:nvPr/>
        </p:nvSpPr>
        <p:spPr>
          <a:xfrm>
            <a:off x="7486650" y="3590159"/>
            <a:ext cx="419100" cy="146030"/>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8" name="FMI Scale 2"/>
          <p:cNvSpPr txBox="1"/>
          <p:nvPr/>
        </p:nvSpPr>
        <p:spPr>
          <a:xfrm>
            <a:off x="7486650" y="3361988"/>
            <a:ext cx="419100" cy="146030"/>
          </a:xfrm>
          <a:prstGeom prst="rect">
            <a:avLst/>
          </a:prstGeom>
          <a:noFill/>
        </p:spPr>
        <p:txBody>
          <a:bodyPr wrap="none" lIns="0" rIns="0" tIns="0" bIns="0" anchor="ctr">
            <a:spAutoFit/>
          </a:bodyPr>
          <a:lstStyle/>
          <a:p>
            <a:pPr algn="l"/>
            <a:r>
              <a:rPr sz="1100" b="0">
                <a:solidFill>
                  <a:srgbClr val="6C7A89"/>
                </a:solidFill>
                <a:latin typeface="Calibri"/>
              </a:rPr>
              <a:t>20%</a:t>
            </a:r>
          </a:p>
        </p:txBody>
      </p:sp>
      <p:sp>
        <p:nvSpPr>
          <p:cNvPr id="49" name="FMI Scale 3"/>
          <p:cNvSpPr txBox="1"/>
          <p:nvPr/>
        </p:nvSpPr>
        <p:spPr>
          <a:xfrm>
            <a:off x="7486650" y="3133817"/>
            <a:ext cx="419100" cy="146030"/>
          </a:xfrm>
          <a:prstGeom prst="rect">
            <a:avLst/>
          </a:prstGeom>
          <a:noFill/>
        </p:spPr>
        <p:txBody>
          <a:bodyPr wrap="none" lIns="0" rIns="0" tIns="0" bIns="0" anchor="ctr">
            <a:spAutoFit/>
          </a:bodyPr>
          <a:lstStyle/>
          <a:p>
            <a:pPr algn="l"/>
            <a:r>
              <a:rPr sz="1100" b="0">
                <a:solidFill>
                  <a:srgbClr val="6C7A89"/>
                </a:solidFill>
                <a:latin typeface="Calibri"/>
              </a:rPr>
              <a:t>30%</a:t>
            </a:r>
          </a:p>
        </p:txBody>
      </p:sp>
      <p:sp>
        <p:nvSpPr>
          <p:cNvPr id="50" name="FMI Scale 4"/>
          <p:cNvSpPr txBox="1"/>
          <p:nvPr/>
        </p:nvSpPr>
        <p:spPr>
          <a:xfrm>
            <a:off x="7486650" y="2905646"/>
            <a:ext cx="419100" cy="146030"/>
          </a:xfrm>
          <a:prstGeom prst="rect">
            <a:avLst/>
          </a:prstGeom>
          <a:noFill/>
        </p:spPr>
        <p:txBody>
          <a:bodyPr wrap="none" lIns="0" rIns="0" tIns="0" bIns="0" anchor="ctr">
            <a:spAutoFit/>
          </a:bodyPr>
          <a:lstStyle/>
          <a:p>
            <a:pPr algn="l"/>
            <a:r>
              <a:rPr sz="1100" b="0">
                <a:solidFill>
                  <a:srgbClr val="6C7A89"/>
                </a:solidFill>
                <a:latin typeface="Calibri"/>
              </a:rPr>
              <a:t>40%</a:t>
            </a:r>
          </a:p>
        </p:txBody>
      </p:sp>
      <p:sp>
        <p:nvSpPr>
          <p:cNvPr id="51" name="FMI Scale 5"/>
          <p:cNvSpPr txBox="1"/>
          <p:nvPr/>
        </p:nvSpPr>
        <p:spPr>
          <a:xfrm>
            <a:off x="7486650" y="2677474"/>
            <a:ext cx="419100" cy="146030"/>
          </a:xfrm>
          <a:prstGeom prst="rect">
            <a:avLst/>
          </a:prstGeom>
          <a:noFill/>
        </p:spPr>
        <p:txBody>
          <a:bodyPr wrap="none" lIns="0" rIns="0" tIns="0" bIns="0" anchor="ctr">
            <a:spAutoFit/>
          </a:bodyPr>
          <a:lstStyle/>
          <a:p>
            <a:pPr algn="l"/>
            <a:r>
              <a:rPr sz="1100" b="0">
                <a:solidFill>
                  <a:srgbClr val="6C7A89"/>
                </a:solidFill>
                <a:latin typeface="Calibri"/>
              </a:rPr>
              <a:t>50%</a:t>
            </a:r>
          </a:p>
        </p:txBody>
      </p:sp>
      <p:sp>
        <p:nvSpPr>
          <p:cNvPr id="52" name="FMI Scale 6"/>
          <p:cNvSpPr txBox="1"/>
          <p:nvPr/>
        </p:nvSpPr>
        <p:spPr>
          <a:xfrm>
            <a:off x="7486650" y="2449303"/>
            <a:ext cx="419100" cy="146030"/>
          </a:xfrm>
          <a:prstGeom prst="rect">
            <a:avLst/>
          </a:prstGeom>
          <a:noFill/>
        </p:spPr>
        <p:txBody>
          <a:bodyPr wrap="none" lIns="0" rIns="0" tIns="0" bIns="0" anchor="ctr">
            <a:spAutoFit/>
          </a:bodyPr>
          <a:lstStyle/>
          <a:p>
            <a:pPr algn="l"/>
            <a:r>
              <a:rPr sz="1100" b="0">
                <a:solidFill>
                  <a:srgbClr val="6C7A89"/>
                </a:solidFill>
                <a:latin typeface="Calibri"/>
              </a:rPr>
              <a:t>60%</a:t>
            </a:r>
          </a:p>
        </p:txBody>
      </p:sp>
      <p:sp>
        <p:nvSpPr>
          <p:cNvPr id="53" name="FMI Scale 7"/>
          <p:cNvSpPr txBox="1"/>
          <p:nvPr/>
        </p:nvSpPr>
        <p:spPr>
          <a:xfrm>
            <a:off x="7486650" y="2221132"/>
            <a:ext cx="419100" cy="146030"/>
          </a:xfrm>
          <a:prstGeom prst="rect">
            <a:avLst/>
          </a:prstGeom>
          <a:noFill/>
        </p:spPr>
        <p:txBody>
          <a:bodyPr wrap="none" lIns="0" rIns="0" tIns="0" bIns="0" anchor="ctr">
            <a:spAutoFit/>
          </a:bodyPr>
          <a:lstStyle/>
          <a:p>
            <a:pPr algn="l"/>
            <a:r>
              <a:rPr sz="1100" b="0">
                <a:solidFill>
                  <a:srgbClr val="6C7A89"/>
                </a:solidFill>
                <a:latin typeface="Calibri"/>
              </a:rPr>
              <a:t>70%</a:t>
            </a:r>
          </a:p>
        </p:txBody>
      </p:sp>
      <p:sp>
        <p:nvSpPr>
          <p:cNvPr id="54" name="FMI Scale 8"/>
          <p:cNvSpPr txBox="1"/>
          <p:nvPr/>
        </p:nvSpPr>
        <p:spPr>
          <a:xfrm>
            <a:off x="7486650" y="1992961"/>
            <a:ext cx="419100" cy="146030"/>
          </a:xfrm>
          <a:prstGeom prst="rect">
            <a:avLst/>
          </a:prstGeom>
          <a:noFill/>
        </p:spPr>
        <p:txBody>
          <a:bodyPr wrap="none" lIns="0" rIns="0" tIns="0" bIns="0" anchor="ctr">
            <a:spAutoFit/>
          </a:bodyPr>
          <a:lstStyle/>
          <a:p>
            <a:pPr algn="l"/>
            <a:r>
              <a:rPr sz="1100" b="0">
                <a:solidFill>
                  <a:srgbClr val="6C7A89"/>
                </a:solidFill>
                <a:latin typeface="Calibri"/>
              </a:rPr>
              <a:t>80%</a:t>
            </a:r>
          </a:p>
        </p:txBody>
      </p:sp>
      <p:sp>
        <p:nvSpPr>
          <p:cNvPr id="55" name="FMI Scale 9"/>
          <p:cNvSpPr txBox="1"/>
          <p:nvPr/>
        </p:nvSpPr>
        <p:spPr>
          <a:xfrm>
            <a:off x="7486650" y="1764790"/>
            <a:ext cx="419100" cy="146030"/>
          </a:xfrm>
          <a:prstGeom prst="rect">
            <a:avLst/>
          </a:prstGeom>
          <a:noFill/>
        </p:spPr>
        <p:txBody>
          <a:bodyPr wrap="none" lIns="0" rIns="0" tIns="0" bIns="0" anchor="ctr">
            <a:spAutoFit/>
          </a:bodyPr>
          <a:lstStyle/>
          <a:p>
            <a:pPr algn="l"/>
            <a:r>
              <a:rPr sz="1100" b="0">
                <a:solidFill>
                  <a:srgbClr val="6C7A89"/>
                </a:solidFill>
                <a:latin typeface="Calibri"/>
              </a:rPr>
              <a:t>90%</a:t>
            </a:r>
          </a:p>
        </p:txBody>
      </p:sp>
      <p:sp>
        <p:nvSpPr>
          <p:cNvPr id="56" name="FMI Scale 10"/>
          <p:cNvSpPr txBox="1"/>
          <p:nvPr/>
        </p:nvSpPr>
        <p:spPr>
          <a:xfrm>
            <a:off x="7486650" y="1536618"/>
            <a:ext cx="419100" cy="146030"/>
          </a:xfrm>
          <a:prstGeom prst="rect">
            <a:avLst/>
          </a:prstGeom>
          <a:noFill/>
        </p:spPr>
        <p:txBody>
          <a:bodyPr wrap="none" lIns="0" rIns="0" tIns="0" bIns="0" anchor="ctr">
            <a:spAutoFit/>
          </a:bodyPr>
          <a:lstStyle/>
          <a:p>
            <a:pPr algn="l"/>
            <a:r>
              <a:rPr sz="1100" b="0">
                <a:solidFill>
                  <a:srgbClr val="6C7A89"/>
                </a:solidFill>
                <a:latin typeface="Calibri"/>
              </a:rPr>
              <a:t>100%</a:t>
            </a:r>
          </a:p>
        </p:txBody>
      </p:sp>
      <p:cxnSp>
        <p:nvCxnSpPr>
          <p:cNvPr id="57" name="Connector 56"/>
          <p:cNvCxnSpPr/>
          <p:nvPr/>
        </p:nvCxnSpPr>
        <p:spPr>
          <a:xfrm>
            <a:off x="7429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80975" y="1080276"/>
            <a:ext cx="7038975" cy="219044"/>
          </a:xfrm>
          <a:prstGeom prst="rect">
            <a:avLst/>
          </a:prstGeom>
          <a:noFill/>
        </p:spPr>
        <p:txBody>
          <a:bodyPr wrap="square" lIns="28575" rIns="28575" tIns="9525" bIns="9525" anchor="ctr">
            <a:spAutoFit/>
          </a:bodyPr>
          <a:lstStyle/>
          <a:p>
            <a:pPr algn="l"/>
            <a:r>
              <a:rPr sz="1200" b="1">
                <a:solidFill>
                  <a:srgbClr val="0B2E4A"/>
                </a:solidFill>
                <a:latin typeface="Calibri"/>
              </a:rPr>
              <a:t>Demand-side Factors</a:t>
            </a:r>
          </a:p>
        </p:txBody>
      </p:sp>
      <p:cxnSp>
        <p:nvCxnSpPr>
          <p:cNvPr id="59" name="Connector 58"/>
          <p:cNvCxnSpPr/>
          <p:nvPr/>
        </p:nvCxnSpPr>
        <p:spPr>
          <a:xfrm>
            <a:off x="180975" y="1335828"/>
            <a:ext cx="70389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80975" y="142709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1" name="TextBox 60"/>
          <p:cNvSpPr txBox="1"/>
          <p:nvPr/>
        </p:nvSpPr>
        <p:spPr>
          <a:xfrm>
            <a:off x="180975" y="1883439"/>
            <a:ext cx="70389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180975" y="2157244"/>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3" name="TextBox 62"/>
          <p:cNvSpPr txBox="1"/>
          <p:nvPr/>
        </p:nvSpPr>
        <p:spPr>
          <a:xfrm>
            <a:off x="180975" y="261358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4" name="TextBox 63"/>
          <p:cNvSpPr txBox="1"/>
          <p:nvPr/>
        </p:nvSpPr>
        <p:spPr>
          <a:xfrm>
            <a:off x="180975" y="3069929"/>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5" name="TextBox 64"/>
          <p:cNvSpPr txBox="1"/>
          <p:nvPr/>
        </p:nvSpPr>
        <p:spPr>
          <a:xfrm>
            <a:off x="180975" y="3526271"/>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6" name="TextBox 6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7" name="TextBox 66"/>
          <p:cNvSpPr txBox="1"/>
          <p:nvPr/>
        </p:nvSpPr>
        <p:spPr>
          <a:xfrm>
            <a:off x="7534275" y="1322601"/>
            <a:ext cx="943988" cy="173278"/>
          </a:xfrm>
          <a:prstGeom prst="rect">
            <a:avLst/>
          </a:prstGeom>
          <a:noFill/>
        </p:spPr>
        <p:txBody>
          <a:bodyPr wrap="none" lIns="0" rIns="0" tIns="0" bIns="0">
            <a:spAutoFit/>
          </a:bodyPr>
          <a:lstStyle/>
          <a:p>
            <a:r>
              <a:rPr sz="1011" b="0">
                <a:solidFill>
                  <a:srgbClr val="2E2E2E"/>
                </a:solidFill>
                <a:latin typeface="Calibri"/>
              </a:rPr>
              <a:t>Demand Growth</a:t>
            </a:r>
          </a:p>
        </p:txBody>
      </p:sp>
      <p:pic>
        <p:nvPicPr>
          <p:cNvPr id="68" name="Picture 67" descr="lock.png"/>
          <p:cNvPicPr>
            <a:picLocks noChangeAspect="1"/>
          </p:cNvPicPr>
          <p:nvPr/>
        </p:nvPicPr>
        <p:blipFill>
          <a:blip r:embed="rId4"/>
          <a:stretch>
            <a:fillRect/>
          </a:stretch>
        </p:blipFill>
        <p:spPr>
          <a:xfrm>
            <a:off x="8424374" y="1313604"/>
            <a:ext cx="118403" cy="172222"/>
          </a:xfrm>
          <a:prstGeom prst="rect">
            <a:avLst/>
          </a:prstGeom>
        </p:spPr>
      </p:pic>
      <p:sp>
        <p:nvSpPr>
          <p:cNvPr id="69" name="TextBox 68"/>
          <p:cNvSpPr txBox="1"/>
          <p:nvPr/>
        </p:nvSpPr>
        <p:spPr>
          <a:xfrm>
            <a:off x="8549119" y="1561215"/>
            <a:ext cx="903573" cy="173278"/>
          </a:xfrm>
          <a:prstGeom prst="rect">
            <a:avLst/>
          </a:prstGeom>
          <a:noFill/>
        </p:spPr>
        <p:txBody>
          <a:bodyPr wrap="none" lIns="0" rIns="0" tIns="0" bIns="0">
            <a:spAutoFit/>
          </a:bodyPr>
          <a:lstStyle/>
          <a:p>
            <a:r>
              <a:rPr sz="1011" b="0">
                <a:solidFill>
                  <a:srgbClr val="2E2E2E"/>
                </a:solidFill>
                <a:latin typeface="Calibri"/>
              </a:rPr>
              <a:t>Premiumisation</a:t>
            </a:r>
          </a:p>
        </p:txBody>
      </p:sp>
      <p:pic>
        <p:nvPicPr>
          <p:cNvPr id="70" name="Picture 69" descr="lock.png"/>
          <p:cNvPicPr>
            <a:picLocks noChangeAspect="1"/>
          </p:cNvPicPr>
          <p:nvPr/>
        </p:nvPicPr>
        <p:blipFill>
          <a:blip r:embed="rId4"/>
          <a:stretch>
            <a:fillRect/>
          </a:stretch>
        </p:blipFill>
        <p:spPr>
          <a:xfrm>
            <a:off x="9398803" y="1552218"/>
            <a:ext cx="118403" cy="172222"/>
          </a:xfrm>
          <a:prstGeom prst="rect">
            <a:avLst/>
          </a:prstGeom>
        </p:spPr>
      </p:pic>
      <p:sp>
        <p:nvSpPr>
          <p:cNvPr id="71" name="TextBox 70"/>
          <p:cNvSpPr txBox="1"/>
          <p:nvPr/>
        </p:nvSpPr>
        <p:spPr>
          <a:xfrm>
            <a:off x="9424068" y="2311939"/>
            <a:ext cx="765761" cy="173278"/>
          </a:xfrm>
          <a:prstGeom prst="rect">
            <a:avLst/>
          </a:prstGeom>
          <a:noFill/>
        </p:spPr>
        <p:txBody>
          <a:bodyPr wrap="none" lIns="0" rIns="0" tIns="0" bIns="0">
            <a:spAutoFit/>
          </a:bodyPr>
          <a:lstStyle/>
          <a:p>
            <a:r>
              <a:rPr sz="1011" b="0">
                <a:solidFill>
                  <a:srgbClr val="2E2E2E"/>
                </a:solidFill>
                <a:latin typeface="Calibri"/>
              </a:rPr>
              <a:t>App. Breadth</a:t>
            </a:r>
          </a:p>
        </p:txBody>
      </p:sp>
      <p:pic>
        <p:nvPicPr>
          <p:cNvPr id="72" name="Picture 71" descr="lock.png"/>
          <p:cNvPicPr>
            <a:picLocks noChangeAspect="1"/>
          </p:cNvPicPr>
          <p:nvPr/>
        </p:nvPicPr>
        <p:blipFill>
          <a:blip r:embed="rId4"/>
          <a:stretch>
            <a:fillRect/>
          </a:stretch>
        </p:blipFill>
        <p:spPr>
          <a:xfrm>
            <a:off x="10135940" y="2302942"/>
            <a:ext cx="118403" cy="172222"/>
          </a:xfrm>
          <a:prstGeom prst="rect">
            <a:avLst/>
          </a:prstGeom>
        </p:spPr>
      </p:pic>
      <p:sp>
        <p:nvSpPr>
          <p:cNvPr id="73" name="TextBox 72"/>
          <p:cNvSpPr txBox="1"/>
          <p:nvPr/>
        </p:nvSpPr>
        <p:spPr>
          <a:xfrm>
            <a:off x="9909628" y="3278069"/>
            <a:ext cx="791114" cy="173278"/>
          </a:xfrm>
          <a:prstGeom prst="rect">
            <a:avLst/>
          </a:prstGeom>
          <a:noFill/>
        </p:spPr>
        <p:txBody>
          <a:bodyPr wrap="none" lIns="0" rIns="0" tIns="0" bIns="0">
            <a:spAutoFit/>
          </a:bodyPr>
          <a:lstStyle/>
          <a:p>
            <a:r>
              <a:rPr sz="1011" b="0">
                <a:solidFill>
                  <a:srgbClr val="2E2E2E"/>
                </a:solidFill>
                <a:latin typeface="Calibri"/>
              </a:rPr>
              <a:t>Emerging Pull</a:t>
            </a:r>
          </a:p>
        </p:txBody>
      </p:sp>
      <p:pic>
        <p:nvPicPr>
          <p:cNvPr id="74" name="Picture 73" descr="lock.png"/>
          <p:cNvPicPr>
            <a:picLocks noChangeAspect="1"/>
          </p:cNvPicPr>
          <p:nvPr/>
        </p:nvPicPr>
        <p:blipFill>
          <a:blip r:embed="rId4"/>
          <a:stretch>
            <a:fillRect/>
          </a:stretch>
        </p:blipFill>
        <p:spPr>
          <a:xfrm>
            <a:off x="10646855" y="3269072"/>
            <a:ext cx="118403" cy="172222"/>
          </a:xfrm>
          <a:prstGeom prst="rect">
            <a:avLst/>
          </a:prstGeom>
        </p:spPr>
      </p:pic>
      <p:sp>
        <p:nvSpPr>
          <p:cNvPr id="75" name="TextBox 74"/>
          <p:cNvSpPr txBox="1"/>
          <p:nvPr/>
        </p:nvSpPr>
        <p:spPr>
          <a:xfrm>
            <a:off x="9909628" y="4350392"/>
            <a:ext cx="1135267" cy="173278"/>
          </a:xfrm>
          <a:prstGeom prst="rect">
            <a:avLst/>
          </a:prstGeom>
          <a:noFill/>
        </p:spPr>
        <p:txBody>
          <a:bodyPr wrap="none" lIns="0" rIns="0" tIns="0" bIns="0">
            <a:spAutoFit/>
          </a:bodyPr>
          <a:lstStyle/>
          <a:p>
            <a:r>
              <a:rPr sz="1011" b="0">
                <a:solidFill>
                  <a:srgbClr val="2E2E2E"/>
                </a:solidFill>
                <a:latin typeface="Calibri"/>
              </a:rPr>
              <a:t>Volume Momentum</a:t>
            </a:r>
          </a:p>
        </p:txBody>
      </p:sp>
      <p:pic>
        <p:nvPicPr>
          <p:cNvPr id="76" name="Picture 75" descr="lock.png"/>
          <p:cNvPicPr>
            <a:picLocks noChangeAspect="1"/>
          </p:cNvPicPr>
          <p:nvPr/>
        </p:nvPicPr>
        <p:blipFill>
          <a:blip r:embed="rId4"/>
          <a:stretch>
            <a:fillRect/>
          </a:stretch>
        </p:blipFill>
        <p:spPr>
          <a:xfrm>
            <a:off x="10991008" y="4341395"/>
            <a:ext cx="118403" cy="172222"/>
          </a:xfrm>
          <a:prstGeom prst="rect">
            <a:avLst/>
          </a:prstGeom>
        </p:spPr>
      </p:pic>
      <p:sp>
        <p:nvSpPr>
          <p:cNvPr id="77" name="TextBox 76"/>
          <p:cNvSpPr txBox="1"/>
          <p:nvPr/>
        </p:nvSpPr>
        <p:spPr>
          <a:xfrm>
            <a:off x="9424068" y="5316521"/>
            <a:ext cx="1032097" cy="173278"/>
          </a:xfrm>
          <a:prstGeom prst="rect">
            <a:avLst/>
          </a:prstGeom>
          <a:noFill/>
        </p:spPr>
        <p:txBody>
          <a:bodyPr wrap="none" lIns="0" rIns="0" tIns="0" bIns="0">
            <a:spAutoFit/>
          </a:bodyPr>
          <a:lstStyle/>
          <a:p>
            <a:r>
              <a:rPr sz="1011" b="0">
                <a:solidFill>
                  <a:srgbClr val="2E2E2E"/>
                </a:solidFill>
                <a:latin typeface="Calibri"/>
              </a:rPr>
              <a:t>Category Maturity</a:t>
            </a:r>
          </a:p>
        </p:txBody>
      </p:sp>
      <p:pic>
        <p:nvPicPr>
          <p:cNvPr id="78" name="Picture 77" descr="lock.png"/>
          <p:cNvPicPr>
            <a:picLocks noChangeAspect="1"/>
          </p:cNvPicPr>
          <p:nvPr/>
        </p:nvPicPr>
        <p:blipFill>
          <a:blip r:embed="rId4"/>
          <a:stretch>
            <a:fillRect/>
          </a:stretch>
        </p:blipFill>
        <p:spPr>
          <a:xfrm>
            <a:off x="10402276" y="5307524"/>
            <a:ext cx="118403" cy="172222"/>
          </a:xfrm>
          <a:prstGeom prst="rect">
            <a:avLst/>
          </a:prstGeom>
        </p:spPr>
      </p:pic>
      <p:sp>
        <p:nvSpPr>
          <p:cNvPr id="79" name="TextBox 78"/>
          <p:cNvSpPr txBox="1"/>
          <p:nvPr/>
        </p:nvSpPr>
        <p:spPr>
          <a:xfrm>
            <a:off x="8549119" y="6067245"/>
            <a:ext cx="911857" cy="173278"/>
          </a:xfrm>
          <a:prstGeom prst="rect">
            <a:avLst/>
          </a:prstGeom>
          <a:noFill/>
        </p:spPr>
        <p:txBody>
          <a:bodyPr wrap="none" lIns="0" rIns="0" tIns="0" bIns="0">
            <a:spAutoFit/>
          </a:bodyPr>
          <a:lstStyle/>
          <a:p>
            <a:r>
              <a:rPr sz="1011" b="0">
                <a:solidFill>
                  <a:srgbClr val="2E2E2E"/>
                </a:solidFill>
                <a:latin typeface="Calibri"/>
              </a:rPr>
              <a:t>Adoption Depth</a:t>
            </a:r>
          </a:p>
        </p:txBody>
      </p:sp>
      <p:pic>
        <p:nvPicPr>
          <p:cNvPr id="80" name="Picture 79" descr="lock.png"/>
          <p:cNvPicPr>
            <a:picLocks noChangeAspect="1"/>
          </p:cNvPicPr>
          <p:nvPr/>
        </p:nvPicPr>
        <p:blipFill>
          <a:blip r:embed="rId4"/>
          <a:stretch>
            <a:fillRect/>
          </a:stretch>
        </p:blipFill>
        <p:spPr>
          <a:xfrm>
            <a:off x="9407087" y="6058248"/>
            <a:ext cx="118403" cy="172222"/>
          </a:xfrm>
          <a:prstGeom prst="rect">
            <a:avLst/>
          </a:prstGeom>
        </p:spPr>
      </p:pic>
      <p:sp>
        <p:nvSpPr>
          <p:cNvPr id="81" name="TextBox 80"/>
          <p:cNvSpPr txBox="1"/>
          <p:nvPr/>
        </p:nvSpPr>
        <p:spPr>
          <a:xfrm>
            <a:off x="7534275" y="6305860"/>
            <a:ext cx="955786" cy="173278"/>
          </a:xfrm>
          <a:prstGeom prst="rect">
            <a:avLst/>
          </a:prstGeom>
          <a:noFill/>
        </p:spPr>
        <p:txBody>
          <a:bodyPr wrap="none" lIns="0" rIns="0" tIns="0" bIns="0">
            <a:spAutoFit/>
          </a:bodyPr>
          <a:lstStyle/>
          <a:p>
            <a:r>
              <a:rPr sz="1011" b="0">
                <a:solidFill>
                  <a:srgbClr val="2E2E2E"/>
                </a:solidFill>
                <a:latin typeface="Calibri"/>
              </a:rPr>
              <a:t>Consumer Reach</a:t>
            </a:r>
          </a:p>
        </p:txBody>
      </p:sp>
      <p:pic>
        <p:nvPicPr>
          <p:cNvPr id="82" name="Picture 81" descr="lock.png"/>
          <p:cNvPicPr>
            <a:picLocks noChangeAspect="1"/>
          </p:cNvPicPr>
          <p:nvPr/>
        </p:nvPicPr>
        <p:blipFill>
          <a:blip r:embed="rId4"/>
          <a:stretch>
            <a:fillRect/>
          </a:stretch>
        </p:blipFill>
        <p:spPr>
          <a:xfrm>
            <a:off x="8436172" y="6296863"/>
            <a:ext cx="118403" cy="172222"/>
          </a:xfrm>
          <a:prstGeom prst="rect">
            <a:avLst/>
          </a:prstGeom>
        </p:spPr>
      </p:pic>
      <p:sp>
        <p:nvSpPr>
          <p:cNvPr id="83" name="TextBox 82"/>
          <p:cNvSpPr txBox="1"/>
          <p:nvPr/>
        </p:nvSpPr>
        <p:spPr>
          <a:xfrm>
            <a:off x="209550" y="1496754"/>
            <a:ext cx="2982069" cy="186689"/>
          </a:xfrm>
          <a:prstGeom prst="rect">
            <a:avLst/>
          </a:prstGeom>
          <a:noFill/>
        </p:spPr>
        <p:txBody>
          <a:bodyPr wrap="none" lIns="0" rIns="0" tIns="0" bIns="0">
            <a:spAutoFit/>
          </a:bodyPr>
          <a:lstStyle/>
          <a:p>
            <a:r>
              <a:rPr sz="1100" b="0">
                <a:solidFill>
                  <a:srgbClr val="2E2E2E"/>
                </a:solidFill>
                <a:latin typeface="Calibri"/>
              </a:rPr>
              <a:t>▪ Demand-side conditions are led by App. Breadth (</a:t>
            </a:r>
          </a:p>
        </p:txBody>
      </p:sp>
      <p:pic>
        <p:nvPicPr>
          <p:cNvPr id="84" name="Picture 83" descr="lock.png"/>
          <p:cNvPicPr>
            <a:picLocks noChangeAspect="1"/>
          </p:cNvPicPr>
          <p:nvPr/>
        </p:nvPicPr>
        <p:blipFill>
          <a:blip r:embed="rId4"/>
          <a:stretch>
            <a:fillRect/>
          </a:stretch>
        </p:blipFill>
        <p:spPr>
          <a:xfrm>
            <a:off x="3139670" y="1486975"/>
            <a:ext cx="128699" cy="187198"/>
          </a:xfrm>
          <a:prstGeom prst="rect">
            <a:avLst/>
          </a:prstGeom>
        </p:spPr>
      </p:pic>
      <p:sp>
        <p:nvSpPr>
          <p:cNvPr id="85" name="TextBox 84"/>
          <p:cNvSpPr txBox="1"/>
          <p:nvPr/>
        </p:nvSpPr>
        <p:spPr>
          <a:xfrm>
            <a:off x="3307166" y="1496754"/>
            <a:ext cx="1410989" cy="186689"/>
          </a:xfrm>
          <a:prstGeom prst="rect">
            <a:avLst/>
          </a:prstGeom>
          <a:noFill/>
        </p:spPr>
        <p:txBody>
          <a:bodyPr wrap="none" lIns="0" rIns="0" tIns="0" bIns="0">
            <a:spAutoFit/>
          </a:bodyPr>
          <a:lstStyle/>
          <a:p>
            <a:r>
              <a:rPr sz="1100" b="0">
                <a:solidFill>
                  <a:srgbClr val="2E2E2E"/>
                </a:solidFill>
                <a:latin typeface="Calibri"/>
              </a:rPr>
              <a:t>/10), Consumer Reach (</a:t>
            </a:r>
          </a:p>
        </p:txBody>
      </p:sp>
      <p:pic>
        <p:nvPicPr>
          <p:cNvPr id="86" name="Picture 85" descr="lock.png"/>
          <p:cNvPicPr>
            <a:picLocks noChangeAspect="1"/>
          </p:cNvPicPr>
          <p:nvPr/>
        </p:nvPicPr>
        <p:blipFill>
          <a:blip r:embed="rId4"/>
          <a:stretch>
            <a:fillRect/>
          </a:stretch>
        </p:blipFill>
        <p:spPr>
          <a:xfrm>
            <a:off x="4666207" y="1486975"/>
            <a:ext cx="128699" cy="187198"/>
          </a:xfrm>
          <a:prstGeom prst="rect">
            <a:avLst/>
          </a:prstGeom>
        </p:spPr>
      </p:pic>
      <p:sp>
        <p:nvSpPr>
          <p:cNvPr id="87" name="TextBox 86"/>
          <p:cNvSpPr txBox="1"/>
          <p:nvPr/>
        </p:nvSpPr>
        <p:spPr>
          <a:xfrm>
            <a:off x="4833703" y="1496754"/>
            <a:ext cx="1493936" cy="186689"/>
          </a:xfrm>
          <a:prstGeom prst="rect">
            <a:avLst/>
          </a:prstGeom>
          <a:noFill/>
        </p:spPr>
        <p:txBody>
          <a:bodyPr wrap="none" lIns="0" rIns="0" tIns="0" bIns="0">
            <a:spAutoFit/>
          </a:bodyPr>
          <a:lstStyle/>
          <a:p>
            <a:r>
              <a:rPr sz="1100" b="0">
                <a:solidFill>
                  <a:srgbClr val="2E2E2E"/>
                </a:solidFill>
                <a:latin typeface="Calibri"/>
              </a:rPr>
              <a:t>/10), Category Maturity (</a:t>
            </a:r>
          </a:p>
        </p:txBody>
      </p:sp>
      <p:pic>
        <p:nvPicPr>
          <p:cNvPr id="88" name="Picture 87" descr="lock.png"/>
          <p:cNvPicPr>
            <a:picLocks noChangeAspect="1"/>
          </p:cNvPicPr>
          <p:nvPr/>
        </p:nvPicPr>
        <p:blipFill>
          <a:blip r:embed="rId4"/>
          <a:stretch>
            <a:fillRect/>
          </a:stretch>
        </p:blipFill>
        <p:spPr>
          <a:xfrm>
            <a:off x="6275692" y="1486975"/>
            <a:ext cx="128699" cy="187198"/>
          </a:xfrm>
          <a:prstGeom prst="rect">
            <a:avLst/>
          </a:prstGeom>
        </p:spPr>
      </p:pic>
      <p:sp>
        <p:nvSpPr>
          <p:cNvPr id="89" name="TextBox 88"/>
          <p:cNvSpPr txBox="1"/>
          <p:nvPr/>
        </p:nvSpPr>
        <p:spPr>
          <a:xfrm>
            <a:off x="6443187" y="1496754"/>
            <a:ext cx="591616" cy="186689"/>
          </a:xfrm>
          <a:prstGeom prst="rect">
            <a:avLst/>
          </a:prstGeom>
          <a:noFill/>
        </p:spPr>
        <p:txBody>
          <a:bodyPr wrap="none" lIns="0" rIns="0" tIns="0" bIns="0">
            <a:spAutoFit/>
          </a:bodyPr>
          <a:lstStyle/>
          <a:p>
            <a:r>
              <a:rPr sz="1100" b="0">
                <a:solidFill>
                  <a:srgbClr val="2E2E2E"/>
                </a:solidFill>
                <a:latin typeface="Calibri"/>
              </a:rPr>
              <a:t>/10) on a</a:t>
            </a:r>
          </a:p>
        </p:txBody>
      </p:sp>
      <p:sp>
        <p:nvSpPr>
          <p:cNvPr id="90" name="TextBox 89"/>
          <p:cNvSpPr txBox="1"/>
          <p:nvPr/>
        </p:nvSpPr>
        <p:spPr>
          <a:xfrm>
            <a:off x="209550" y="1664394"/>
            <a:ext cx="2764060" cy="186689"/>
          </a:xfrm>
          <a:prstGeom prst="rect">
            <a:avLst/>
          </a:prstGeom>
          <a:noFill/>
        </p:spPr>
        <p:txBody>
          <a:bodyPr wrap="none" lIns="0" rIns="0" tIns="0" bIns="0">
            <a:spAutoFit/>
          </a:bodyPr>
          <a:lstStyle/>
          <a:p>
            <a:r>
              <a:rPr sz="1100" b="0">
                <a:solidFill>
                  <a:srgbClr val="2E2E2E"/>
                </a:solidFill>
                <a:latin typeface="Calibri"/>
              </a:rPr>
              <a:t>0-10 scale scored from the global dataset itself.</a:t>
            </a:r>
          </a:p>
        </p:txBody>
      </p:sp>
      <p:sp>
        <p:nvSpPr>
          <p:cNvPr id="91" name="TextBox 90"/>
          <p:cNvSpPr txBox="1"/>
          <p:nvPr/>
        </p:nvSpPr>
        <p:spPr>
          <a:xfrm>
            <a:off x="209550" y="1945648"/>
            <a:ext cx="998438" cy="186689"/>
          </a:xfrm>
          <a:prstGeom prst="rect">
            <a:avLst/>
          </a:prstGeom>
          <a:noFill/>
        </p:spPr>
        <p:txBody>
          <a:bodyPr wrap="none" lIns="0" rIns="0" tIns="0" bIns="0">
            <a:spAutoFit/>
          </a:bodyPr>
          <a:lstStyle/>
          <a:p>
            <a:r>
              <a:rPr sz="1100" b="0">
                <a:solidFill>
                  <a:srgbClr val="2E2E2E"/>
                </a:solidFill>
                <a:latin typeface="Calibri"/>
              </a:rPr>
              <a:t>▪ Value grows at</a:t>
            </a:r>
          </a:p>
        </p:txBody>
      </p:sp>
      <p:pic>
        <p:nvPicPr>
          <p:cNvPr id="92" name="Picture 91" descr="lock.png"/>
          <p:cNvPicPr>
            <a:picLocks noChangeAspect="1"/>
          </p:cNvPicPr>
          <p:nvPr/>
        </p:nvPicPr>
        <p:blipFill>
          <a:blip r:embed="rId4"/>
          <a:stretch>
            <a:fillRect/>
          </a:stretch>
        </p:blipFill>
        <p:spPr>
          <a:xfrm>
            <a:off x="1156039" y="1935869"/>
            <a:ext cx="128699" cy="187198"/>
          </a:xfrm>
          <a:prstGeom prst="rect">
            <a:avLst/>
          </a:prstGeom>
        </p:spPr>
      </p:pic>
      <p:sp>
        <p:nvSpPr>
          <p:cNvPr id="93" name="TextBox 92"/>
          <p:cNvSpPr txBox="1"/>
          <p:nvPr/>
        </p:nvSpPr>
        <p:spPr>
          <a:xfrm>
            <a:off x="1323535" y="1945648"/>
            <a:ext cx="1083295" cy="186689"/>
          </a:xfrm>
          <a:prstGeom prst="rect">
            <a:avLst/>
          </a:prstGeom>
          <a:noFill/>
        </p:spPr>
        <p:txBody>
          <a:bodyPr wrap="none" lIns="0" rIns="0" tIns="0" bIns="0">
            <a:spAutoFit/>
          </a:bodyPr>
          <a:lstStyle/>
          <a:p>
            <a:r>
              <a:rPr sz="1100" b="0">
                <a:solidFill>
                  <a:srgbClr val="2E2E2E"/>
                </a:solidFill>
                <a:latin typeface="Calibri"/>
              </a:rPr>
              <a:t>against volume at</a:t>
            </a:r>
          </a:p>
        </p:txBody>
      </p:sp>
      <p:pic>
        <p:nvPicPr>
          <p:cNvPr id="94" name="Picture 93" descr="lock.png"/>
          <p:cNvPicPr>
            <a:picLocks noChangeAspect="1"/>
          </p:cNvPicPr>
          <p:nvPr/>
        </p:nvPicPr>
        <p:blipFill>
          <a:blip r:embed="rId4"/>
          <a:stretch>
            <a:fillRect/>
          </a:stretch>
        </p:blipFill>
        <p:spPr>
          <a:xfrm>
            <a:off x="2354882" y="1935869"/>
            <a:ext cx="128699" cy="187198"/>
          </a:xfrm>
          <a:prstGeom prst="rect">
            <a:avLst/>
          </a:prstGeom>
        </p:spPr>
      </p:pic>
      <p:sp>
        <p:nvSpPr>
          <p:cNvPr id="95" name="TextBox 94"/>
          <p:cNvSpPr txBox="1"/>
          <p:nvPr/>
        </p:nvSpPr>
        <p:spPr>
          <a:xfrm>
            <a:off x="2522378" y="1945648"/>
            <a:ext cx="2230090" cy="186689"/>
          </a:xfrm>
          <a:prstGeom prst="rect">
            <a:avLst/>
          </a:prstGeom>
          <a:noFill/>
        </p:spPr>
        <p:txBody>
          <a:bodyPr wrap="none" lIns="0" rIns="0" tIns="0" bIns="0">
            <a:spAutoFit/>
          </a:bodyPr>
          <a:lstStyle/>
          <a:p>
            <a:r>
              <a:rPr sz="1100" b="0">
                <a:solidFill>
                  <a:srgbClr val="2E2E2E"/>
                </a:solidFill>
                <a:latin typeface="Calibri"/>
              </a:rPr>
              <a:t>a premiumising market through 2036.</a:t>
            </a:r>
          </a:p>
        </p:txBody>
      </p:sp>
      <p:sp>
        <p:nvSpPr>
          <p:cNvPr id="96" name="TextBox 95"/>
          <p:cNvSpPr txBox="1"/>
          <p:nvPr/>
        </p:nvSpPr>
        <p:spPr>
          <a:xfrm>
            <a:off x="209550" y="2310722"/>
            <a:ext cx="2553965" cy="186689"/>
          </a:xfrm>
          <a:prstGeom prst="rect">
            <a:avLst/>
          </a:prstGeom>
          <a:noFill/>
        </p:spPr>
        <p:txBody>
          <a:bodyPr wrap="none" lIns="0" rIns="0" tIns="0" bIns="0">
            <a:spAutoFit/>
          </a:bodyPr>
          <a:lstStyle/>
          <a:p>
            <a:r>
              <a:rPr sz="1100" b="0">
                <a:solidFill>
                  <a:srgbClr val="2E2E2E"/>
                </a:solidFill>
                <a:latin typeface="Calibri"/>
              </a:rPr>
              <a:t>▪ 'Irrigation Devices and Accessories' carries</a:t>
            </a:r>
          </a:p>
        </p:txBody>
      </p:sp>
      <p:pic>
        <p:nvPicPr>
          <p:cNvPr id="97" name="Picture 96" descr="lock.png"/>
          <p:cNvPicPr>
            <a:picLocks noChangeAspect="1"/>
          </p:cNvPicPr>
          <p:nvPr/>
        </p:nvPicPr>
        <p:blipFill>
          <a:blip r:embed="rId4"/>
          <a:stretch>
            <a:fillRect/>
          </a:stretch>
        </p:blipFill>
        <p:spPr>
          <a:xfrm>
            <a:off x="2711566" y="2300943"/>
            <a:ext cx="128699" cy="187198"/>
          </a:xfrm>
          <a:prstGeom prst="rect">
            <a:avLst/>
          </a:prstGeom>
        </p:spPr>
      </p:pic>
      <p:sp>
        <p:nvSpPr>
          <p:cNvPr id="98" name="TextBox 97"/>
          <p:cNvSpPr txBox="1"/>
          <p:nvPr/>
        </p:nvSpPr>
        <p:spPr>
          <a:xfrm>
            <a:off x="2879062" y="2310722"/>
            <a:ext cx="3698816" cy="186689"/>
          </a:xfrm>
          <a:prstGeom prst="rect">
            <a:avLst/>
          </a:prstGeom>
          <a:noFill/>
        </p:spPr>
        <p:txBody>
          <a:bodyPr wrap="none" lIns="0" rIns="0" tIns="0" bIns="0">
            <a:spAutoFit/>
          </a:bodyPr>
          <a:lstStyle/>
          <a:p>
            <a:r>
              <a:rPr sz="1100" b="0">
                <a:solidFill>
                  <a:srgbClr val="2E2E2E"/>
                </a:solidFill>
                <a:latin typeface="Calibri"/>
              </a:rPr>
              <a:t>of product type demand while 'Ear Drops' compounds fastest at</a:t>
            </a:r>
          </a:p>
        </p:txBody>
      </p:sp>
      <p:pic>
        <p:nvPicPr>
          <p:cNvPr id="99" name="Picture 98" descr="lock.png"/>
          <p:cNvPicPr>
            <a:picLocks noChangeAspect="1"/>
          </p:cNvPicPr>
          <p:nvPr/>
        </p:nvPicPr>
        <p:blipFill>
          <a:blip r:embed="rId4"/>
          <a:stretch>
            <a:fillRect/>
          </a:stretch>
        </p:blipFill>
        <p:spPr>
          <a:xfrm>
            <a:off x="6525930" y="2300943"/>
            <a:ext cx="128699" cy="187198"/>
          </a:xfrm>
          <a:prstGeom prst="rect">
            <a:avLst/>
          </a:prstGeom>
        </p:spPr>
      </p:pic>
      <p:sp>
        <p:nvSpPr>
          <p:cNvPr id="100" name="TextBox 99"/>
          <p:cNvSpPr txBox="1"/>
          <p:nvPr/>
        </p:nvSpPr>
        <p:spPr>
          <a:xfrm>
            <a:off x="6693425" y="2310722"/>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101" name="TextBox 100"/>
          <p:cNvSpPr txBox="1"/>
          <p:nvPr/>
        </p:nvSpPr>
        <p:spPr>
          <a:xfrm>
            <a:off x="209550" y="2767064"/>
            <a:ext cx="2476748" cy="186689"/>
          </a:xfrm>
          <a:prstGeom prst="rect">
            <a:avLst/>
          </a:prstGeom>
          <a:noFill/>
        </p:spPr>
        <p:txBody>
          <a:bodyPr wrap="none" lIns="0" rIns="0" tIns="0" bIns="0">
            <a:spAutoFit/>
          </a:bodyPr>
          <a:lstStyle/>
          <a:p>
            <a:r>
              <a:rPr sz="1100" b="0">
                <a:solidFill>
                  <a:srgbClr val="2E2E2E"/>
                </a:solidFill>
                <a:latin typeface="Calibri"/>
              </a:rPr>
              <a:t>▪ Pull is strongest in 'South Asia &amp; Pacific' (</a:t>
            </a:r>
          </a:p>
        </p:txBody>
      </p:sp>
      <p:pic>
        <p:nvPicPr>
          <p:cNvPr id="102" name="Picture 101" descr="lock.png"/>
          <p:cNvPicPr>
            <a:picLocks noChangeAspect="1"/>
          </p:cNvPicPr>
          <p:nvPr/>
        </p:nvPicPr>
        <p:blipFill>
          <a:blip r:embed="rId4"/>
          <a:stretch>
            <a:fillRect/>
          </a:stretch>
        </p:blipFill>
        <p:spPr>
          <a:xfrm>
            <a:off x="2634349" y="2757285"/>
            <a:ext cx="128699" cy="187198"/>
          </a:xfrm>
          <a:prstGeom prst="rect">
            <a:avLst/>
          </a:prstGeom>
        </p:spPr>
      </p:pic>
      <p:sp>
        <p:nvSpPr>
          <p:cNvPr id="103" name="TextBox 102"/>
          <p:cNvSpPr txBox="1"/>
          <p:nvPr/>
        </p:nvSpPr>
        <p:spPr>
          <a:xfrm>
            <a:off x="2801845" y="2767064"/>
            <a:ext cx="531572"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104" name="Picture 103" descr="lock.png"/>
          <p:cNvPicPr>
            <a:picLocks noChangeAspect="1"/>
          </p:cNvPicPr>
          <p:nvPr/>
        </p:nvPicPr>
        <p:blipFill>
          <a:blip r:embed="rId4"/>
          <a:stretch>
            <a:fillRect/>
          </a:stretch>
        </p:blipFill>
        <p:spPr>
          <a:xfrm>
            <a:off x="3281469" y="2757285"/>
            <a:ext cx="128699" cy="187198"/>
          </a:xfrm>
          <a:prstGeom prst="rect">
            <a:avLst/>
          </a:prstGeom>
        </p:spPr>
      </p:pic>
      <p:sp>
        <p:nvSpPr>
          <p:cNvPr id="105" name="TextBox 104"/>
          <p:cNvSpPr txBox="1"/>
          <p:nvPr/>
        </p:nvSpPr>
        <p:spPr>
          <a:xfrm>
            <a:off x="3448965" y="2767064"/>
            <a:ext cx="3522588" cy="186689"/>
          </a:xfrm>
          <a:prstGeom prst="rect">
            <a:avLst/>
          </a:prstGeom>
          <a:noFill/>
        </p:spPr>
        <p:txBody>
          <a:bodyPr wrap="none" lIns="0" rIns="0" tIns="0" bIns="0">
            <a:spAutoFit/>
          </a:bodyPr>
          <a:lstStyle/>
          <a:p>
            <a:r>
              <a:rPr sz="1100" b="0">
                <a:solidFill>
                  <a:srgbClr val="2E2E2E"/>
                </a:solidFill>
                <a:latin typeface="Calibri"/>
              </a:rPr>
              <a:t>BPS versus the market), with 3 of 6 regions at or above pace.</a:t>
            </a:r>
          </a:p>
        </p:txBody>
      </p:sp>
      <p:sp>
        <p:nvSpPr>
          <p:cNvPr id="106" name="TextBox 105"/>
          <p:cNvSpPr txBox="1"/>
          <p:nvPr/>
        </p:nvSpPr>
        <p:spPr>
          <a:xfrm>
            <a:off x="209550" y="3223407"/>
            <a:ext cx="3332956" cy="186689"/>
          </a:xfrm>
          <a:prstGeom prst="rect">
            <a:avLst/>
          </a:prstGeom>
          <a:noFill/>
        </p:spPr>
        <p:txBody>
          <a:bodyPr wrap="none" lIns="0" rIns="0" tIns="0" bIns="0">
            <a:spAutoFit/>
          </a:bodyPr>
          <a:lstStyle/>
          <a:p>
            <a:r>
              <a:rPr sz="1100" b="0">
                <a:solidFill>
                  <a:srgbClr val="2E2E2E"/>
                </a:solidFill>
                <a:latin typeface="Calibri"/>
              </a:rPr>
              <a:t>▪ Reach runs through 9 end user routes, led by 'Others' at</a:t>
            </a:r>
          </a:p>
        </p:txBody>
      </p:sp>
      <p:pic>
        <p:nvPicPr>
          <p:cNvPr id="107" name="Picture 106" descr="lock.png"/>
          <p:cNvPicPr>
            <a:picLocks noChangeAspect="1"/>
          </p:cNvPicPr>
          <p:nvPr/>
        </p:nvPicPr>
        <p:blipFill>
          <a:blip r:embed="rId4"/>
          <a:stretch>
            <a:fillRect/>
          </a:stretch>
        </p:blipFill>
        <p:spPr>
          <a:xfrm>
            <a:off x="3490557" y="3213628"/>
            <a:ext cx="128699" cy="187198"/>
          </a:xfrm>
          <a:prstGeom prst="rect">
            <a:avLst/>
          </a:prstGeom>
        </p:spPr>
      </p:pic>
      <p:sp>
        <p:nvSpPr>
          <p:cNvPr id="108" name="TextBox 107"/>
          <p:cNvSpPr txBox="1"/>
          <p:nvPr/>
        </p:nvSpPr>
        <p:spPr>
          <a:xfrm>
            <a:off x="3658053" y="3223407"/>
            <a:ext cx="2874019" cy="186689"/>
          </a:xfrm>
          <a:prstGeom prst="rect">
            <a:avLst/>
          </a:prstGeom>
          <a:noFill/>
        </p:spPr>
        <p:txBody>
          <a:bodyPr wrap="none" lIns="0" rIns="0" tIns="0" bIns="0">
            <a:spAutoFit/>
          </a:bodyPr>
          <a:lstStyle/>
          <a:p>
            <a:r>
              <a:rPr sz="1100" b="0">
                <a:solidFill>
                  <a:srgbClr val="2E2E2E"/>
                </a:solidFill>
                <a:latin typeface="Calibri"/>
              </a:rPr>
              <a:t>and with 'Hospitals and Clinics' growing fastest at</a:t>
            </a:r>
          </a:p>
        </p:txBody>
      </p:sp>
      <p:pic>
        <p:nvPicPr>
          <p:cNvPr id="109" name="Picture 108" descr="lock.png"/>
          <p:cNvPicPr>
            <a:picLocks noChangeAspect="1"/>
          </p:cNvPicPr>
          <p:nvPr/>
        </p:nvPicPr>
        <p:blipFill>
          <a:blip r:embed="rId4"/>
          <a:stretch>
            <a:fillRect/>
          </a:stretch>
        </p:blipFill>
        <p:spPr>
          <a:xfrm>
            <a:off x="6480125" y="3213628"/>
            <a:ext cx="128699" cy="187198"/>
          </a:xfrm>
          <a:prstGeom prst="rect">
            <a:avLst/>
          </a:prstGeom>
        </p:spPr>
      </p:pic>
      <p:sp>
        <p:nvSpPr>
          <p:cNvPr id="110" name="TextBox 109"/>
          <p:cNvSpPr txBox="1"/>
          <p:nvPr/>
        </p:nvSpPr>
        <p:spPr>
          <a:xfrm>
            <a:off x="6647621" y="3223407"/>
            <a:ext cx="111397" cy="186689"/>
          </a:xfrm>
          <a:prstGeom prst="rect">
            <a:avLst/>
          </a:prstGeom>
          <a:noFill/>
        </p:spPr>
        <p:txBody>
          <a:bodyPr wrap="none" lIns="0" rIns="0" tIns="0" bIns="0">
            <a:spAutoFit/>
          </a:bodyPr>
          <a:lstStyle/>
          <a:p>
            <a:r>
              <a:rPr sz="1100" b="0">
                <a:solidFill>
                  <a:srgbClr val="2E2E2E"/>
                </a:solidFill>
                <a:latin typeface="Calibri"/>
              </a:rPr>
              <a:t>.</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Ear Wax Removal Products Market Restraints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restraints on the global market and the likelihood of their impact across 2021–2036</a:t>
            </a:r>
          </a:p>
        </p:txBody>
      </p:sp>
      <p:sp>
        <p:nvSpPr>
          <p:cNvPr id="10" name="Rounded Rectangle 9"/>
          <p:cNvSpPr/>
          <p:nvPr/>
        </p:nvSpPr>
        <p:spPr>
          <a:xfrm>
            <a:off x="142875" y="1025515"/>
            <a:ext cx="2038350" cy="255552"/>
          </a:xfrm>
          <a:prstGeom prst="roundRect">
            <a:avLst>
              <a:gd name="adj" fmla="val 1869"/>
            </a:avLst>
          </a:prstGeom>
          <a:solidFill>
            <a:srgbClr val="C0603A"/>
          </a:solidFill>
          <a:ln w="12700">
            <a:solidFill>
              <a:srgbClr val="C06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Restraints</a:t>
            </a:r>
          </a:p>
        </p:txBody>
      </p:sp>
      <p:sp>
        <p:nvSpPr>
          <p:cNvPr id="12" name="Rectangle 11"/>
          <p:cNvSpPr/>
          <p:nvPr/>
        </p:nvSpPr>
        <p:spPr>
          <a:xfrm>
            <a:off x="142875" y="139058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Ear Sprays Lags the Category and Dilutes Blended Growth</a:t>
            </a:r>
          </a:p>
        </p:txBody>
      </p:sp>
      <p:sp>
        <p:nvSpPr>
          <p:cNvPr id="14" name="TextBox 13"/>
          <p:cNvSpPr txBox="1"/>
          <p:nvPr/>
        </p:nvSpPr>
        <p:spPr>
          <a:xfrm>
            <a:off x="161925" y="1700902"/>
            <a:ext cx="9439275"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6" name="TextBox 15"/>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7" name="Rectangle 16"/>
          <p:cNvSpPr/>
          <p:nvPr/>
        </p:nvSpPr>
        <p:spPr>
          <a:xfrm>
            <a:off x="981075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19" name="TextBox 18"/>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20" name="Rectangle 19"/>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22" name="TextBox 21"/>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3" name="Rectangle 22"/>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25" name="TextBox 24"/>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6" name="Rectangle 25"/>
          <p:cNvSpPr/>
          <p:nvPr/>
        </p:nvSpPr>
        <p:spPr>
          <a:xfrm>
            <a:off x="10896600" y="2458430"/>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28" name="Connector 27"/>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42875" y="3142944"/>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Uneven Region Performance Caps the Blended Rate</a:t>
            </a:r>
          </a:p>
        </p:txBody>
      </p:sp>
      <p:sp>
        <p:nvSpPr>
          <p:cNvPr id="31" name="TextBox 30"/>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3" name="TextBox 32"/>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4" name="Rectangle 33"/>
          <p:cNvSpPr/>
          <p:nvPr/>
        </p:nvSpPr>
        <p:spPr>
          <a:xfrm>
            <a:off x="981075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36" name="TextBox 35"/>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7" name="Rectangle 36"/>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39" name="TextBox 38"/>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40" name="Rectangle 39"/>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42" name="TextBox 41"/>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3" name="Rectangle 42"/>
          <p:cNvSpPr/>
          <p:nvPr/>
        </p:nvSpPr>
        <p:spPr>
          <a:xfrm>
            <a:off x="10896600" y="4210785"/>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45" name="Connector 44"/>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142875" y="489529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Concentration Risk Limits Pricing and Sourcing Flexibility</a:t>
            </a:r>
          </a:p>
        </p:txBody>
      </p:sp>
      <p:sp>
        <p:nvSpPr>
          <p:cNvPr id="48" name="TextBox 47"/>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TextBox 48"/>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50" name="TextBox 49"/>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51" name="Rectangle 50"/>
          <p:cNvSpPr/>
          <p:nvPr/>
        </p:nvSpPr>
        <p:spPr>
          <a:xfrm>
            <a:off x="981075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3" name="TextBox 52"/>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4" name="Rectangle 53"/>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6" name="TextBox 55"/>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7" name="Rectangle 56"/>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9" name="TextBox 58"/>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60" name="Rectangle 59"/>
          <p:cNvSpPr/>
          <p:nvPr/>
        </p:nvSpPr>
        <p:spPr>
          <a:xfrm>
            <a:off x="10896600" y="596314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190500" y="1837332"/>
            <a:ext cx="1518459" cy="186689"/>
          </a:xfrm>
          <a:prstGeom prst="rect">
            <a:avLst/>
          </a:prstGeom>
          <a:noFill/>
        </p:spPr>
        <p:txBody>
          <a:bodyPr wrap="none" lIns="0" rIns="0" tIns="0" bIns="0">
            <a:spAutoFit/>
          </a:bodyPr>
          <a:lstStyle/>
          <a:p>
            <a:r>
              <a:rPr sz="1100" b="0">
                <a:solidFill>
                  <a:srgbClr val="2E2E2E"/>
                </a:solidFill>
                <a:latin typeface="Calibri"/>
              </a:rPr>
              <a:t>'Ear Sprays' grows at only</a:t>
            </a:r>
          </a:p>
        </p:txBody>
      </p:sp>
      <p:pic>
        <p:nvPicPr>
          <p:cNvPr id="64" name="Picture 63" descr="lock.png"/>
          <p:cNvPicPr>
            <a:picLocks noChangeAspect="1"/>
          </p:cNvPicPr>
          <p:nvPr/>
        </p:nvPicPr>
        <p:blipFill>
          <a:blip r:embed="rId4"/>
          <a:stretch>
            <a:fillRect/>
          </a:stretch>
        </p:blipFill>
        <p:spPr>
          <a:xfrm>
            <a:off x="1657010" y="1827554"/>
            <a:ext cx="128699" cy="187198"/>
          </a:xfrm>
          <a:prstGeom prst="rect">
            <a:avLst/>
          </a:prstGeom>
        </p:spPr>
      </p:pic>
      <p:sp>
        <p:nvSpPr>
          <p:cNvPr id="65" name="TextBox 64"/>
          <p:cNvSpPr txBox="1"/>
          <p:nvPr/>
        </p:nvSpPr>
        <p:spPr>
          <a:xfrm>
            <a:off x="1824506" y="1837332"/>
            <a:ext cx="1579595" cy="186689"/>
          </a:xfrm>
          <a:prstGeom prst="rect">
            <a:avLst/>
          </a:prstGeom>
          <a:noFill/>
        </p:spPr>
        <p:txBody>
          <a:bodyPr wrap="none" lIns="0" rIns="0" tIns="0" bIns="0">
            <a:spAutoFit/>
          </a:bodyPr>
          <a:lstStyle/>
          <a:p>
            <a:r>
              <a:rPr sz="1100" b="0">
                <a:solidFill>
                  <a:srgbClr val="2E2E2E"/>
                </a:solidFill>
                <a:latin typeface="Calibri"/>
              </a:rPr>
              <a:t>CAGR against the market's</a:t>
            </a:r>
          </a:p>
        </p:txBody>
      </p:sp>
      <p:pic>
        <p:nvPicPr>
          <p:cNvPr id="66" name="Picture 65" descr="lock.png"/>
          <p:cNvPicPr>
            <a:picLocks noChangeAspect="1"/>
          </p:cNvPicPr>
          <p:nvPr/>
        </p:nvPicPr>
        <p:blipFill>
          <a:blip r:embed="rId4"/>
          <a:stretch>
            <a:fillRect/>
          </a:stretch>
        </p:blipFill>
        <p:spPr>
          <a:xfrm>
            <a:off x="3352153" y="1827554"/>
            <a:ext cx="128699" cy="187198"/>
          </a:xfrm>
          <a:prstGeom prst="rect">
            <a:avLst/>
          </a:prstGeom>
        </p:spPr>
      </p:pic>
      <p:sp>
        <p:nvSpPr>
          <p:cNvPr id="67" name="TextBox 66"/>
          <p:cNvSpPr txBox="1"/>
          <p:nvPr/>
        </p:nvSpPr>
        <p:spPr>
          <a:xfrm>
            <a:off x="3519649" y="1837332"/>
            <a:ext cx="284112" cy="186689"/>
          </a:xfrm>
          <a:prstGeom prst="rect">
            <a:avLst/>
          </a:prstGeom>
          <a:noFill/>
        </p:spPr>
        <p:txBody>
          <a:bodyPr wrap="none" lIns="0" rIns="0" tIns="0" bIns="0">
            <a:spAutoFit/>
          </a:bodyPr>
          <a:lstStyle/>
          <a:p>
            <a:r>
              <a:rPr sz="1100" b="0">
                <a:solidFill>
                  <a:srgbClr val="2E2E2E"/>
                </a:solidFill>
                <a:latin typeface="Calibri"/>
              </a:rPr>
              <a:t>, a -</a:t>
            </a:r>
          </a:p>
        </p:txBody>
      </p:sp>
      <p:pic>
        <p:nvPicPr>
          <p:cNvPr id="68" name="Picture 67" descr="lock.png"/>
          <p:cNvPicPr>
            <a:picLocks noChangeAspect="1"/>
          </p:cNvPicPr>
          <p:nvPr/>
        </p:nvPicPr>
        <p:blipFill>
          <a:blip r:embed="rId4"/>
          <a:stretch>
            <a:fillRect/>
          </a:stretch>
        </p:blipFill>
        <p:spPr>
          <a:xfrm>
            <a:off x="3751813" y="1827554"/>
            <a:ext cx="128699" cy="187198"/>
          </a:xfrm>
          <a:prstGeom prst="rect">
            <a:avLst/>
          </a:prstGeom>
        </p:spPr>
      </p:pic>
      <p:sp>
        <p:nvSpPr>
          <p:cNvPr id="69" name="TextBox 68"/>
          <p:cNvSpPr txBox="1"/>
          <p:nvPr/>
        </p:nvSpPr>
        <p:spPr>
          <a:xfrm>
            <a:off x="3919309" y="1837332"/>
            <a:ext cx="2133193" cy="186689"/>
          </a:xfrm>
          <a:prstGeom prst="rect">
            <a:avLst/>
          </a:prstGeom>
          <a:noFill/>
        </p:spPr>
        <p:txBody>
          <a:bodyPr wrap="none" lIns="0" rIns="0" tIns="0" bIns="0">
            <a:spAutoFit/>
          </a:bodyPr>
          <a:lstStyle/>
          <a:p>
            <a:r>
              <a:rPr sz="1100" b="0">
                <a:solidFill>
                  <a:srgbClr val="2E2E2E"/>
                </a:solidFill>
                <a:latin typeface="Calibri"/>
              </a:rPr>
              <a:t>BPS gap, and 'Ear Sprays' surrenders</a:t>
            </a:r>
          </a:p>
        </p:txBody>
      </p:sp>
      <p:pic>
        <p:nvPicPr>
          <p:cNvPr id="70" name="Picture 69" descr="lock.png"/>
          <p:cNvPicPr>
            <a:picLocks noChangeAspect="1"/>
          </p:cNvPicPr>
          <p:nvPr/>
        </p:nvPicPr>
        <p:blipFill>
          <a:blip r:embed="rId4"/>
          <a:stretch>
            <a:fillRect/>
          </a:stretch>
        </p:blipFill>
        <p:spPr>
          <a:xfrm>
            <a:off x="6000554" y="1827554"/>
            <a:ext cx="128699" cy="187198"/>
          </a:xfrm>
          <a:prstGeom prst="rect">
            <a:avLst/>
          </a:prstGeom>
        </p:spPr>
      </p:pic>
      <p:sp>
        <p:nvSpPr>
          <p:cNvPr id="71" name="TextBox 70"/>
          <p:cNvSpPr txBox="1"/>
          <p:nvPr/>
        </p:nvSpPr>
        <p:spPr>
          <a:xfrm>
            <a:off x="6168050" y="1837332"/>
            <a:ext cx="2992164" cy="186689"/>
          </a:xfrm>
          <a:prstGeom prst="rect">
            <a:avLst/>
          </a:prstGeom>
          <a:noFill/>
        </p:spPr>
        <p:txBody>
          <a:bodyPr wrap="none" lIns="0" rIns="0" tIns="0" bIns="0">
            <a:spAutoFit/>
          </a:bodyPr>
          <a:lstStyle/>
          <a:p>
            <a:r>
              <a:rPr sz="1100" b="0">
                <a:solidFill>
                  <a:srgbClr val="2E2E2E"/>
                </a:solidFill>
                <a:latin typeface="Calibri"/>
              </a:rPr>
              <a:t>BPS of product type share between 2026 and 2036.</a:t>
            </a:r>
          </a:p>
        </p:txBody>
      </p:sp>
      <p:sp>
        <p:nvSpPr>
          <p:cNvPr id="72" name="TextBox 71"/>
          <p:cNvSpPr txBox="1"/>
          <p:nvPr/>
        </p:nvSpPr>
        <p:spPr>
          <a:xfrm>
            <a:off x="190500" y="2004972"/>
            <a:ext cx="9183712" cy="186689"/>
          </a:xfrm>
          <a:prstGeom prst="rect">
            <a:avLst/>
          </a:prstGeom>
          <a:noFill/>
        </p:spPr>
        <p:txBody>
          <a:bodyPr wrap="none" lIns="0" rIns="0" tIns="0" bIns="0">
            <a:spAutoFit/>
          </a:bodyPr>
          <a:lstStyle/>
          <a:p>
            <a:r>
              <a:rPr sz="1100" b="0">
                <a:solidFill>
                  <a:srgbClr val="2E2E2E"/>
                </a:solidFill>
                <a:latin typeface="Calibri"/>
              </a:rPr>
              <a:t>Because these lines still carry meaningful volume, the drag is absorbed by the whole category: blended growth sits below what the leading lines achieve on their</a:t>
            </a:r>
          </a:p>
        </p:txBody>
      </p:sp>
      <p:sp>
        <p:nvSpPr>
          <p:cNvPr id="73" name="TextBox 72"/>
          <p:cNvSpPr txBox="1"/>
          <p:nvPr/>
        </p:nvSpPr>
        <p:spPr>
          <a:xfrm>
            <a:off x="190500" y="2172613"/>
            <a:ext cx="7612633" cy="186689"/>
          </a:xfrm>
          <a:prstGeom prst="rect">
            <a:avLst/>
          </a:prstGeom>
          <a:noFill/>
        </p:spPr>
        <p:txBody>
          <a:bodyPr wrap="none" lIns="0" rIns="0" tIns="0" bIns="0">
            <a:spAutoFit/>
          </a:bodyPr>
          <a:lstStyle/>
          <a:p>
            <a:r>
              <a:rPr sz="1100" b="0">
                <a:solidFill>
                  <a:srgbClr val="2E2E2E"/>
                </a:solidFill>
                <a:latin typeface="Calibri"/>
              </a:rPr>
              <a:t>own. Rationalising or repositioning the lagging end of a 7-line portfolio is therefore a precondition for realising the headline forecast.</a:t>
            </a:r>
          </a:p>
        </p:txBody>
      </p:sp>
      <p:sp>
        <p:nvSpPr>
          <p:cNvPr id="74" name="TextBox 73"/>
          <p:cNvSpPr txBox="1"/>
          <p:nvPr/>
        </p:nvSpPr>
        <p:spPr>
          <a:xfrm>
            <a:off x="190500" y="3498419"/>
            <a:ext cx="1731590" cy="186689"/>
          </a:xfrm>
          <a:prstGeom prst="rect">
            <a:avLst/>
          </a:prstGeom>
          <a:noFill/>
        </p:spPr>
        <p:txBody>
          <a:bodyPr wrap="none" lIns="0" rIns="0" tIns="0" bIns="0">
            <a:spAutoFit/>
          </a:bodyPr>
          <a:lstStyle/>
          <a:p>
            <a:r>
              <a:rPr sz="1100" b="0">
                <a:solidFill>
                  <a:srgbClr val="2E2E2E"/>
                </a:solidFill>
                <a:latin typeface="Calibri"/>
              </a:rPr>
              <a:t>'North America' grows at just</a:t>
            </a:r>
          </a:p>
        </p:txBody>
      </p:sp>
      <p:pic>
        <p:nvPicPr>
          <p:cNvPr id="75" name="Picture 74" descr="lock.png"/>
          <p:cNvPicPr>
            <a:picLocks noChangeAspect="1"/>
          </p:cNvPicPr>
          <p:nvPr/>
        </p:nvPicPr>
        <p:blipFill>
          <a:blip r:embed="rId4"/>
          <a:stretch>
            <a:fillRect/>
          </a:stretch>
        </p:blipFill>
        <p:spPr>
          <a:xfrm>
            <a:off x="1870142" y="3488640"/>
            <a:ext cx="128699" cy="187198"/>
          </a:xfrm>
          <a:prstGeom prst="rect">
            <a:avLst/>
          </a:prstGeom>
        </p:spPr>
      </p:pic>
      <p:sp>
        <p:nvSpPr>
          <p:cNvPr id="76" name="TextBox 75"/>
          <p:cNvSpPr txBox="1"/>
          <p:nvPr/>
        </p:nvSpPr>
        <p:spPr>
          <a:xfrm>
            <a:off x="2037637" y="3498419"/>
            <a:ext cx="469907"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77" name="Picture 76" descr="lock.png"/>
          <p:cNvPicPr>
            <a:picLocks noChangeAspect="1"/>
          </p:cNvPicPr>
          <p:nvPr/>
        </p:nvPicPr>
        <p:blipFill>
          <a:blip r:embed="rId4"/>
          <a:stretch>
            <a:fillRect/>
          </a:stretch>
        </p:blipFill>
        <p:spPr>
          <a:xfrm>
            <a:off x="2455597" y="3488640"/>
            <a:ext cx="128699" cy="187198"/>
          </a:xfrm>
          <a:prstGeom prst="rect">
            <a:avLst/>
          </a:prstGeom>
        </p:spPr>
      </p:pic>
      <p:sp>
        <p:nvSpPr>
          <p:cNvPr id="78" name="TextBox 77"/>
          <p:cNvSpPr txBox="1"/>
          <p:nvPr/>
        </p:nvSpPr>
        <p:spPr>
          <a:xfrm>
            <a:off x="2623093" y="3498419"/>
            <a:ext cx="6616997" cy="186689"/>
          </a:xfrm>
          <a:prstGeom prst="rect">
            <a:avLst/>
          </a:prstGeom>
          <a:noFill/>
        </p:spPr>
        <p:txBody>
          <a:bodyPr wrap="none" lIns="0" rIns="0" tIns="0" bIns="0">
            <a:spAutoFit/>
          </a:bodyPr>
          <a:lstStyle/>
          <a:p>
            <a:r>
              <a:rPr sz="1100" b="0">
                <a:solidFill>
                  <a:srgbClr val="2E2E2E"/>
                </a:solidFill>
                <a:latin typeface="Calibri"/>
              </a:rPr>
              <a:t>BPS against the market and 3 of 6 regions sit below the market pace altogether. Demand is therefore not uniformly</a:t>
            </a:r>
          </a:p>
        </p:txBody>
      </p:sp>
      <p:sp>
        <p:nvSpPr>
          <p:cNvPr id="79" name="TextBox 78"/>
          <p:cNvSpPr txBox="1"/>
          <p:nvPr/>
        </p:nvSpPr>
        <p:spPr>
          <a:xfrm>
            <a:off x="190500" y="3666059"/>
            <a:ext cx="8618091" cy="186689"/>
          </a:xfrm>
          <a:prstGeom prst="rect">
            <a:avLst/>
          </a:prstGeom>
          <a:noFill/>
        </p:spPr>
        <p:txBody>
          <a:bodyPr wrap="none" lIns="0" rIns="0" tIns="0" bIns="0">
            <a:spAutoFit/>
          </a:bodyPr>
          <a:lstStyle/>
          <a:p>
            <a:r>
              <a:rPr sz="1100" b="0">
                <a:solidFill>
                  <a:srgbClr val="2E2E2E"/>
                </a:solidFill>
                <a:latin typeface="Calibri"/>
              </a:rPr>
              <a:t>available: suppliers carrying a broad geographic footprint fund presence in slow regions out of returns earned in the fast ones. With 'North America' at</a:t>
            </a:r>
          </a:p>
        </p:txBody>
      </p:sp>
      <p:pic>
        <p:nvPicPr>
          <p:cNvPr id="80" name="Picture 79" descr="lock.png"/>
          <p:cNvPicPr>
            <a:picLocks noChangeAspect="1"/>
          </p:cNvPicPr>
          <p:nvPr/>
        </p:nvPicPr>
        <p:blipFill>
          <a:blip r:embed="rId4"/>
          <a:stretch>
            <a:fillRect/>
          </a:stretch>
        </p:blipFill>
        <p:spPr>
          <a:xfrm>
            <a:off x="8756642" y="3656280"/>
            <a:ext cx="128699" cy="187198"/>
          </a:xfrm>
          <a:prstGeom prst="rect">
            <a:avLst/>
          </a:prstGeom>
        </p:spPr>
      </p:pic>
      <p:sp>
        <p:nvSpPr>
          <p:cNvPr id="81" name="TextBox 80"/>
          <p:cNvSpPr txBox="1"/>
          <p:nvPr/>
        </p:nvSpPr>
        <p:spPr>
          <a:xfrm>
            <a:off x="8924138" y="3666059"/>
            <a:ext cx="564058" cy="186689"/>
          </a:xfrm>
          <a:prstGeom prst="rect">
            <a:avLst/>
          </a:prstGeom>
          <a:noFill/>
        </p:spPr>
        <p:txBody>
          <a:bodyPr wrap="none" lIns="0" rIns="0" tIns="0" bIns="0">
            <a:spAutoFit/>
          </a:bodyPr>
          <a:lstStyle/>
          <a:p>
            <a:r>
              <a:rPr sz="1100" b="0">
                <a:solidFill>
                  <a:srgbClr val="2E2E2E"/>
                </a:solidFill>
                <a:latin typeface="Calibri"/>
              </a:rPr>
              <a:t>of value,</a:t>
            </a:r>
          </a:p>
        </p:txBody>
      </p:sp>
      <p:sp>
        <p:nvSpPr>
          <p:cNvPr id="82" name="TextBox 81"/>
          <p:cNvSpPr txBox="1"/>
          <p:nvPr/>
        </p:nvSpPr>
        <p:spPr>
          <a:xfrm>
            <a:off x="190500" y="3833699"/>
            <a:ext cx="5170338" cy="186689"/>
          </a:xfrm>
          <a:prstGeom prst="rect">
            <a:avLst/>
          </a:prstGeom>
          <a:noFill/>
        </p:spPr>
        <p:txBody>
          <a:bodyPr wrap="none" lIns="0" rIns="0" tIns="0" bIns="0">
            <a:spAutoFit/>
          </a:bodyPr>
          <a:lstStyle/>
          <a:p>
            <a:r>
              <a:rPr sz="1100" b="0">
                <a:solidFill>
                  <a:srgbClr val="2E2E2E"/>
                </a:solidFill>
                <a:latin typeface="Calibri"/>
              </a:rPr>
              <a:t>a shortfall in a single leading region is difficult to offset elsewhere in the forecast window.</a:t>
            </a:r>
          </a:p>
        </p:txBody>
      </p:sp>
      <p:sp>
        <p:nvSpPr>
          <p:cNvPr id="83" name="TextBox 82"/>
          <p:cNvSpPr txBox="1"/>
          <p:nvPr/>
        </p:nvSpPr>
        <p:spPr>
          <a:xfrm>
            <a:off x="190500" y="5250774"/>
            <a:ext cx="3337594" cy="186689"/>
          </a:xfrm>
          <a:prstGeom prst="rect">
            <a:avLst/>
          </a:prstGeom>
          <a:noFill/>
        </p:spPr>
        <p:txBody>
          <a:bodyPr wrap="none" lIns="0" rIns="0" tIns="0" bIns="0">
            <a:spAutoFit/>
          </a:bodyPr>
          <a:lstStyle/>
          <a:p>
            <a:r>
              <a:rPr sz="1100" b="0">
                <a:solidFill>
                  <a:srgbClr val="2E2E2E"/>
                </a:solidFill>
                <a:latin typeface="Calibri"/>
              </a:rPr>
              <a:t>The market is concentrated: 'North America' accounts for</a:t>
            </a:r>
          </a:p>
        </p:txBody>
      </p:sp>
      <p:pic>
        <p:nvPicPr>
          <p:cNvPr id="84" name="Picture 83" descr="lock.png"/>
          <p:cNvPicPr>
            <a:picLocks noChangeAspect="1"/>
          </p:cNvPicPr>
          <p:nvPr/>
        </p:nvPicPr>
        <p:blipFill>
          <a:blip r:embed="rId4"/>
          <a:stretch>
            <a:fillRect/>
          </a:stretch>
        </p:blipFill>
        <p:spPr>
          <a:xfrm>
            <a:off x="3476146" y="5240995"/>
            <a:ext cx="128699" cy="187198"/>
          </a:xfrm>
          <a:prstGeom prst="rect">
            <a:avLst/>
          </a:prstGeom>
        </p:spPr>
      </p:pic>
      <p:sp>
        <p:nvSpPr>
          <p:cNvPr id="85" name="TextBox 84"/>
          <p:cNvSpPr txBox="1"/>
          <p:nvPr/>
        </p:nvSpPr>
        <p:spPr>
          <a:xfrm>
            <a:off x="3643642" y="5250774"/>
            <a:ext cx="2957512" cy="186689"/>
          </a:xfrm>
          <a:prstGeom prst="rect">
            <a:avLst/>
          </a:prstGeom>
          <a:noFill/>
        </p:spPr>
        <p:txBody>
          <a:bodyPr wrap="none" lIns="0" rIns="0" tIns="0" bIns="0">
            <a:spAutoFit/>
          </a:bodyPr>
          <a:lstStyle/>
          <a:p>
            <a:r>
              <a:rPr sz="1100" b="0">
                <a:solidFill>
                  <a:srgbClr val="2E2E2E"/>
                </a:solidFill>
                <a:latin typeface="Calibri"/>
              </a:rPr>
              <a:t>of 2036 value and the leading product type line for</a:t>
            </a:r>
          </a:p>
        </p:txBody>
      </p:sp>
      <p:pic>
        <p:nvPicPr>
          <p:cNvPr id="86" name="Picture 85" descr="lock.png"/>
          <p:cNvPicPr>
            <a:picLocks noChangeAspect="1"/>
          </p:cNvPicPr>
          <p:nvPr/>
        </p:nvPicPr>
        <p:blipFill>
          <a:blip r:embed="rId4"/>
          <a:stretch>
            <a:fillRect/>
          </a:stretch>
        </p:blipFill>
        <p:spPr>
          <a:xfrm>
            <a:off x="6549206" y="5240995"/>
            <a:ext cx="128699" cy="187198"/>
          </a:xfrm>
          <a:prstGeom prst="rect">
            <a:avLst/>
          </a:prstGeom>
        </p:spPr>
      </p:pic>
      <p:sp>
        <p:nvSpPr>
          <p:cNvPr id="87" name="TextBox 86"/>
          <p:cNvSpPr txBox="1"/>
          <p:nvPr/>
        </p:nvSpPr>
        <p:spPr>
          <a:xfrm>
            <a:off x="6716702" y="5250774"/>
            <a:ext cx="2445058" cy="186689"/>
          </a:xfrm>
          <a:prstGeom prst="rect">
            <a:avLst/>
          </a:prstGeom>
          <a:noFill/>
        </p:spPr>
        <p:txBody>
          <a:bodyPr wrap="none" lIns="0" rIns="0" tIns="0" bIns="0">
            <a:spAutoFit/>
          </a:bodyPr>
          <a:lstStyle/>
          <a:p>
            <a:r>
              <a:rPr sz="1100" b="0">
                <a:solidFill>
                  <a:srgbClr val="2E2E2E"/>
                </a:solidFill>
                <a:latin typeface="Calibri"/>
              </a:rPr>
              <a:t>of its segment. Average realisation moves</a:t>
            </a:r>
          </a:p>
        </p:txBody>
      </p:sp>
      <p:pic>
        <p:nvPicPr>
          <p:cNvPr id="88" name="Picture 87" descr="lock.png"/>
          <p:cNvPicPr>
            <a:picLocks noChangeAspect="1"/>
          </p:cNvPicPr>
          <p:nvPr/>
        </p:nvPicPr>
        <p:blipFill>
          <a:blip r:embed="rId4"/>
          <a:stretch>
            <a:fillRect/>
          </a:stretch>
        </p:blipFill>
        <p:spPr>
          <a:xfrm>
            <a:off x="177032" y="5408635"/>
            <a:ext cx="128699" cy="187198"/>
          </a:xfrm>
          <a:prstGeom prst="rect">
            <a:avLst/>
          </a:prstGeom>
        </p:spPr>
      </p:pic>
      <p:sp>
        <p:nvSpPr>
          <p:cNvPr id="89" name="TextBox 88"/>
          <p:cNvSpPr txBox="1"/>
          <p:nvPr/>
        </p:nvSpPr>
        <p:spPr>
          <a:xfrm>
            <a:off x="344528" y="5418414"/>
            <a:ext cx="9124776" cy="186689"/>
          </a:xfrm>
          <a:prstGeom prst="rect">
            <a:avLst/>
          </a:prstGeom>
          <a:noFill/>
        </p:spPr>
        <p:txBody>
          <a:bodyPr wrap="none" lIns="0" rIns="0" tIns="0" bIns="0">
            <a:spAutoFit/>
          </a:bodyPr>
          <a:lstStyle/>
          <a:p>
            <a:r>
              <a:rPr sz="1100" b="0">
                <a:solidFill>
                  <a:srgbClr val="2E2E2E"/>
                </a:solidFill>
                <a:latin typeface="Calibri"/>
              </a:rPr>
              <a:t>a year, so cost movements cannot be passed on evenly across 6 regions. The practical constraint is the same in either case commercial terms set for the market</a:t>
            </a:r>
          </a:p>
        </p:txBody>
      </p:sp>
      <p:sp>
        <p:nvSpPr>
          <p:cNvPr id="90" name="TextBox 89"/>
          <p:cNvSpPr txBox="1"/>
          <p:nvPr/>
        </p:nvSpPr>
        <p:spPr>
          <a:xfrm>
            <a:off x="190500" y="5586054"/>
            <a:ext cx="6191894" cy="186689"/>
          </a:xfrm>
          <a:prstGeom prst="rect">
            <a:avLst/>
          </a:prstGeom>
          <a:noFill/>
        </p:spPr>
        <p:txBody>
          <a:bodyPr wrap="none" lIns="0" rIns="0" tIns="0" bIns="0">
            <a:spAutoFit/>
          </a:bodyPr>
          <a:lstStyle/>
          <a:p>
            <a:r>
              <a:rPr sz="1100" b="0">
                <a:solidFill>
                  <a:srgbClr val="2E2E2E"/>
                </a:solidFill>
                <a:latin typeface="Calibri"/>
              </a:rPr>
              <a:t>as a whole underserve part of it, and margin is lost in the mismatch rather than in the headline growth rate.</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Ear Wax Removal Products Market Opportunities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opportunities in the global market and the likelihood of their impact across 2021–2036</a:t>
            </a:r>
          </a:p>
        </p:txBody>
      </p:sp>
      <p:sp>
        <p:nvSpPr>
          <p:cNvPr id="10" name="Rounded Rectangle 9"/>
          <p:cNvSpPr/>
          <p:nvPr/>
        </p:nvSpPr>
        <p:spPr>
          <a:xfrm>
            <a:off x="142875" y="1025515"/>
            <a:ext cx="2038350" cy="255552"/>
          </a:xfrm>
          <a:prstGeom prst="roundRect">
            <a:avLst>
              <a:gd name="adj" fmla="val 1869"/>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Opportunities</a:t>
            </a:r>
          </a:p>
        </p:txBody>
      </p:sp>
      <p:sp>
        <p:nvSpPr>
          <p:cNvPr id="12" name="Rectangle 11"/>
          <p:cNvSpPr/>
          <p:nvPr/>
        </p:nvSpPr>
        <p:spPr>
          <a:xfrm>
            <a:off x="142875" y="139058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U.S. Carries the Largest Absolute Opportunity</a:t>
            </a:r>
          </a:p>
        </p:txBody>
      </p:sp>
      <p:sp>
        <p:nvSpPr>
          <p:cNvPr id="14" name="TextBox 13"/>
          <p:cNvSpPr txBox="1"/>
          <p:nvPr/>
        </p:nvSpPr>
        <p:spPr>
          <a:xfrm>
            <a:off x="161925" y="170090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6" name="TextBox 15"/>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7" name="Rectangle 16"/>
          <p:cNvSpPr/>
          <p:nvPr/>
        </p:nvSpPr>
        <p:spPr>
          <a:xfrm>
            <a:off x="9810750" y="1938200"/>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19" name="TextBox 18"/>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20" name="Rectangle 19"/>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2" name="TextBox 21"/>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3" name="Rectangle 22"/>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5" name="TextBox 24"/>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6" name="Rectangle 25"/>
          <p:cNvSpPr/>
          <p:nvPr/>
        </p:nvSpPr>
        <p:spPr>
          <a:xfrm>
            <a:off x="1089660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28" name="Connector 27"/>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42875" y="3142944"/>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Saudi Arabia Offers Under-penetrated, Above-pace Headroom</a:t>
            </a:r>
          </a:p>
        </p:txBody>
      </p:sp>
      <p:sp>
        <p:nvSpPr>
          <p:cNvPr id="31" name="TextBox 30"/>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3" name="TextBox 32"/>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4" name="Rectangle 33"/>
          <p:cNvSpPr/>
          <p:nvPr/>
        </p:nvSpPr>
        <p:spPr>
          <a:xfrm>
            <a:off x="9810750" y="3690555"/>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6" name="TextBox 35"/>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7" name="Rectangle 36"/>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9" name="TextBox 38"/>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40" name="Rectangle 39"/>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42" name="TextBox 41"/>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3" name="Rectangle 42"/>
          <p:cNvSpPr/>
          <p:nvPr/>
        </p:nvSpPr>
        <p:spPr>
          <a:xfrm>
            <a:off x="1089660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45" name="Connector 44"/>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142875" y="489529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Hospitals and Clinics Opens the Fastest Route to Market</a:t>
            </a:r>
          </a:p>
        </p:txBody>
      </p:sp>
      <p:sp>
        <p:nvSpPr>
          <p:cNvPr id="48" name="TextBox 47"/>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TextBox 48"/>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50" name="TextBox 49"/>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51" name="Rectangle 50"/>
          <p:cNvSpPr/>
          <p:nvPr/>
        </p:nvSpPr>
        <p:spPr>
          <a:xfrm>
            <a:off x="9810750" y="544291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3" name="TextBox 52"/>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4" name="Rectangle 53"/>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6" name="TextBox 55"/>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7" name="Rectangle 56"/>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9" name="TextBox 58"/>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60" name="Rectangle 59"/>
          <p:cNvSpPr/>
          <p:nvPr/>
        </p:nvSpPr>
        <p:spPr>
          <a:xfrm>
            <a:off x="1089660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190500" y="1746064"/>
            <a:ext cx="662012" cy="186689"/>
          </a:xfrm>
          <a:prstGeom prst="rect">
            <a:avLst/>
          </a:prstGeom>
          <a:noFill/>
        </p:spPr>
        <p:txBody>
          <a:bodyPr wrap="none" lIns="0" rIns="0" tIns="0" bIns="0">
            <a:spAutoFit/>
          </a:bodyPr>
          <a:lstStyle/>
          <a:p>
            <a:r>
              <a:rPr sz="1100" b="0">
                <a:solidFill>
                  <a:srgbClr val="2E2E2E"/>
                </a:solidFill>
                <a:latin typeface="Calibri"/>
              </a:rPr>
              <a:t>'U.S.' adds</a:t>
            </a:r>
          </a:p>
        </p:txBody>
      </p:sp>
      <p:pic>
        <p:nvPicPr>
          <p:cNvPr id="64" name="Picture 63" descr="lock.png"/>
          <p:cNvPicPr>
            <a:picLocks noChangeAspect="1"/>
          </p:cNvPicPr>
          <p:nvPr/>
        </p:nvPicPr>
        <p:blipFill>
          <a:blip r:embed="rId4"/>
          <a:stretch>
            <a:fillRect/>
          </a:stretch>
        </p:blipFill>
        <p:spPr>
          <a:xfrm>
            <a:off x="800563" y="1736285"/>
            <a:ext cx="128699" cy="187198"/>
          </a:xfrm>
          <a:prstGeom prst="rect">
            <a:avLst/>
          </a:prstGeom>
        </p:spPr>
      </p:pic>
      <p:sp>
        <p:nvSpPr>
          <p:cNvPr id="65" name="TextBox 64"/>
          <p:cNvSpPr txBox="1"/>
          <p:nvPr/>
        </p:nvSpPr>
        <p:spPr>
          <a:xfrm>
            <a:off x="968059" y="1746064"/>
            <a:ext cx="8433097" cy="186689"/>
          </a:xfrm>
          <a:prstGeom prst="rect">
            <a:avLst/>
          </a:prstGeom>
          <a:noFill/>
        </p:spPr>
        <p:txBody>
          <a:bodyPr wrap="none" lIns="0" rIns="0" tIns="0" bIns="0">
            <a:spAutoFit/>
          </a:bodyPr>
          <a:lstStyle/>
          <a:p>
            <a:r>
              <a:rPr sz="1100" b="0">
                <a:solidFill>
                  <a:srgbClr val="2E2E2E"/>
                </a:solidFill>
                <a:latin typeface="Calibri"/>
              </a:rPr>
              <a:t>US$ Mn between 2026 and 2036 the single largest absolute increment of any geography in the dataset. Capturing it is a question of scale execution</a:t>
            </a:r>
          </a:p>
        </p:txBody>
      </p:sp>
      <p:sp>
        <p:nvSpPr>
          <p:cNvPr id="66" name="TextBox 65"/>
          <p:cNvSpPr txBox="1"/>
          <p:nvPr/>
        </p:nvSpPr>
        <p:spPr>
          <a:xfrm>
            <a:off x="190500" y="1913704"/>
            <a:ext cx="3769245" cy="186689"/>
          </a:xfrm>
          <a:prstGeom prst="rect">
            <a:avLst/>
          </a:prstGeom>
          <a:noFill/>
        </p:spPr>
        <p:txBody>
          <a:bodyPr wrap="none" lIns="0" rIns="0" tIns="0" bIns="0">
            <a:spAutoFit/>
          </a:bodyPr>
          <a:lstStyle/>
          <a:p>
            <a:r>
              <a:rPr sz="1100" b="0">
                <a:solidFill>
                  <a:srgbClr val="2E2E2E"/>
                </a:solidFill>
                <a:latin typeface="Calibri"/>
              </a:rPr>
              <a:t>rather than market creation: demand already exists and grows at</a:t>
            </a:r>
          </a:p>
        </p:txBody>
      </p:sp>
      <p:pic>
        <p:nvPicPr>
          <p:cNvPr id="67" name="Picture 66" descr="lock.png"/>
          <p:cNvPicPr>
            <a:picLocks noChangeAspect="1"/>
          </p:cNvPicPr>
          <p:nvPr/>
        </p:nvPicPr>
        <p:blipFill>
          <a:blip r:embed="rId4"/>
          <a:stretch>
            <a:fillRect/>
          </a:stretch>
        </p:blipFill>
        <p:spPr>
          <a:xfrm>
            <a:off x="3907797" y="1903925"/>
            <a:ext cx="128699" cy="187198"/>
          </a:xfrm>
          <a:prstGeom prst="rect">
            <a:avLst/>
          </a:prstGeom>
        </p:spPr>
      </p:pic>
      <p:sp>
        <p:nvSpPr>
          <p:cNvPr id="68" name="TextBox 67"/>
          <p:cNvSpPr txBox="1"/>
          <p:nvPr/>
        </p:nvSpPr>
        <p:spPr>
          <a:xfrm>
            <a:off x="4075293" y="1913704"/>
            <a:ext cx="5402535" cy="186689"/>
          </a:xfrm>
          <a:prstGeom prst="rect">
            <a:avLst/>
          </a:prstGeom>
          <a:noFill/>
        </p:spPr>
        <p:txBody>
          <a:bodyPr wrap="none" lIns="0" rIns="0" tIns="0" bIns="0">
            <a:spAutoFit/>
          </a:bodyPr>
          <a:lstStyle/>
          <a:p>
            <a:r>
              <a:rPr sz="1100" b="0">
                <a:solidFill>
                  <a:srgbClr val="2E2E2E"/>
                </a:solidFill>
                <a:latin typeface="Calibri"/>
              </a:rPr>
              <a:t>at the market level. Prioritising supply, channel coverage and service levels there converts the</a:t>
            </a:r>
          </a:p>
        </p:txBody>
      </p:sp>
      <p:sp>
        <p:nvSpPr>
          <p:cNvPr id="69" name="TextBox 68"/>
          <p:cNvSpPr txBox="1"/>
          <p:nvPr/>
        </p:nvSpPr>
        <p:spPr>
          <a:xfrm>
            <a:off x="190500" y="2081344"/>
            <a:ext cx="1175246" cy="186689"/>
          </a:xfrm>
          <a:prstGeom prst="rect">
            <a:avLst/>
          </a:prstGeom>
          <a:noFill/>
        </p:spPr>
        <p:txBody>
          <a:bodyPr wrap="none" lIns="0" rIns="0" tIns="0" bIns="0">
            <a:spAutoFit/>
          </a:bodyPr>
          <a:lstStyle/>
          <a:p>
            <a:r>
              <a:rPr sz="1100" b="0">
                <a:solidFill>
                  <a:srgbClr val="2E2E2E"/>
                </a:solidFill>
                <a:latin typeface="Calibri"/>
              </a:rPr>
              <a:t>largest share of the</a:t>
            </a:r>
          </a:p>
        </p:txBody>
      </p:sp>
      <p:pic>
        <p:nvPicPr>
          <p:cNvPr id="70" name="Picture 69" descr="lock.png"/>
          <p:cNvPicPr>
            <a:picLocks noChangeAspect="1"/>
          </p:cNvPicPr>
          <p:nvPr/>
        </p:nvPicPr>
        <p:blipFill>
          <a:blip r:embed="rId4"/>
          <a:stretch>
            <a:fillRect/>
          </a:stretch>
        </p:blipFill>
        <p:spPr>
          <a:xfrm>
            <a:off x="1313797" y="2071565"/>
            <a:ext cx="128699" cy="187198"/>
          </a:xfrm>
          <a:prstGeom prst="rect">
            <a:avLst/>
          </a:prstGeom>
        </p:spPr>
      </p:pic>
      <p:sp>
        <p:nvSpPr>
          <p:cNvPr id="71" name="TextBox 70"/>
          <p:cNvSpPr txBox="1"/>
          <p:nvPr/>
        </p:nvSpPr>
        <p:spPr>
          <a:xfrm>
            <a:off x="1481293" y="2081344"/>
            <a:ext cx="3306489" cy="186689"/>
          </a:xfrm>
          <a:prstGeom prst="rect">
            <a:avLst/>
          </a:prstGeom>
          <a:noFill/>
        </p:spPr>
        <p:txBody>
          <a:bodyPr wrap="none" lIns="0" rIns="0" tIns="0" bIns="0">
            <a:spAutoFit/>
          </a:bodyPr>
          <a:lstStyle/>
          <a:p>
            <a:r>
              <a:rPr sz="1100" b="0">
                <a:solidFill>
                  <a:srgbClr val="2E2E2E"/>
                </a:solidFill>
                <a:latin typeface="Calibri"/>
              </a:rPr>
              <a:t>US$ Mn the whole market adds over the forecast period.</a:t>
            </a:r>
          </a:p>
        </p:txBody>
      </p:sp>
      <p:sp>
        <p:nvSpPr>
          <p:cNvPr id="72" name="TextBox 71"/>
          <p:cNvSpPr txBox="1"/>
          <p:nvPr/>
        </p:nvSpPr>
        <p:spPr>
          <a:xfrm>
            <a:off x="190500" y="3498419"/>
            <a:ext cx="1691754" cy="186689"/>
          </a:xfrm>
          <a:prstGeom prst="rect">
            <a:avLst/>
          </a:prstGeom>
          <a:noFill/>
        </p:spPr>
        <p:txBody>
          <a:bodyPr wrap="none" lIns="0" rIns="0" tIns="0" bIns="0">
            <a:spAutoFit/>
          </a:bodyPr>
          <a:lstStyle/>
          <a:p>
            <a:r>
              <a:rPr sz="1100" b="0">
                <a:solidFill>
                  <a:srgbClr val="2E2E2E"/>
                </a:solidFill>
                <a:latin typeface="Calibri"/>
              </a:rPr>
              <a:t>'Saudi Arabia' compounds at</a:t>
            </a:r>
          </a:p>
        </p:txBody>
      </p:sp>
      <p:pic>
        <p:nvPicPr>
          <p:cNvPr id="73" name="Picture 72" descr="lock.png"/>
          <p:cNvPicPr>
            <a:picLocks noChangeAspect="1"/>
          </p:cNvPicPr>
          <p:nvPr/>
        </p:nvPicPr>
        <p:blipFill>
          <a:blip r:embed="rId4"/>
          <a:stretch>
            <a:fillRect/>
          </a:stretch>
        </p:blipFill>
        <p:spPr>
          <a:xfrm>
            <a:off x="1830305" y="3488640"/>
            <a:ext cx="128699" cy="187198"/>
          </a:xfrm>
          <a:prstGeom prst="rect">
            <a:avLst/>
          </a:prstGeom>
        </p:spPr>
      </p:pic>
      <p:sp>
        <p:nvSpPr>
          <p:cNvPr id="74" name="TextBox 73"/>
          <p:cNvSpPr txBox="1"/>
          <p:nvPr/>
        </p:nvSpPr>
        <p:spPr>
          <a:xfrm>
            <a:off x="1997801" y="3498419"/>
            <a:ext cx="7315207" cy="186689"/>
          </a:xfrm>
          <a:prstGeom prst="rect">
            <a:avLst/>
          </a:prstGeom>
          <a:noFill/>
        </p:spPr>
        <p:txBody>
          <a:bodyPr wrap="none" lIns="0" rIns="0" tIns="0" bIns="0">
            <a:spAutoFit/>
          </a:bodyPr>
          <a:lstStyle/>
          <a:p>
            <a:r>
              <a:rPr sz="1100" b="0">
                <a:solidFill>
                  <a:srgbClr val="2E2E2E"/>
                </a:solidFill>
                <a:latin typeface="Calibri"/>
              </a:rPr>
              <a:t>CAGR from a below-median base one of 9 geographies in the dataset combining above-median growth with below-median size.</a:t>
            </a:r>
          </a:p>
        </p:txBody>
      </p:sp>
      <p:sp>
        <p:nvSpPr>
          <p:cNvPr id="75" name="TextBox 74"/>
          <p:cNvSpPr txBox="1"/>
          <p:nvPr/>
        </p:nvSpPr>
        <p:spPr>
          <a:xfrm>
            <a:off x="190500" y="3666059"/>
            <a:ext cx="5046191" cy="186689"/>
          </a:xfrm>
          <a:prstGeom prst="rect">
            <a:avLst/>
          </a:prstGeom>
          <a:noFill/>
        </p:spPr>
        <p:txBody>
          <a:bodyPr wrap="none" lIns="0" rIns="0" tIns="0" bIns="0">
            <a:spAutoFit/>
          </a:bodyPr>
          <a:lstStyle/>
          <a:p>
            <a:r>
              <a:rPr sz="1100" b="0">
                <a:solidFill>
                  <a:srgbClr val="2E2E2E"/>
                </a:solidFill>
                <a:latin typeface="Calibri"/>
              </a:rPr>
              <a:t>That profile is where share is cheapest to buy: competitive intensity is lower than in the</a:t>
            </a:r>
          </a:p>
        </p:txBody>
      </p:sp>
      <p:pic>
        <p:nvPicPr>
          <p:cNvPr id="76" name="Picture 75" descr="lock.png"/>
          <p:cNvPicPr>
            <a:picLocks noChangeAspect="1"/>
          </p:cNvPicPr>
          <p:nvPr/>
        </p:nvPicPr>
        <p:blipFill>
          <a:blip r:embed="rId4"/>
          <a:stretch>
            <a:fillRect/>
          </a:stretch>
        </p:blipFill>
        <p:spPr>
          <a:xfrm>
            <a:off x="5184742" y="3656280"/>
            <a:ext cx="128699" cy="187198"/>
          </a:xfrm>
          <a:prstGeom prst="rect">
            <a:avLst/>
          </a:prstGeom>
        </p:spPr>
      </p:pic>
      <p:sp>
        <p:nvSpPr>
          <p:cNvPr id="77" name="TextBox 76"/>
          <p:cNvSpPr txBox="1"/>
          <p:nvPr/>
        </p:nvSpPr>
        <p:spPr>
          <a:xfrm>
            <a:off x="5352238" y="3666059"/>
            <a:ext cx="2075929" cy="186689"/>
          </a:xfrm>
          <a:prstGeom prst="rect">
            <a:avLst/>
          </a:prstGeom>
          <a:noFill/>
        </p:spPr>
        <p:txBody>
          <a:bodyPr wrap="none" lIns="0" rIns="0" tIns="0" bIns="0">
            <a:spAutoFit/>
          </a:bodyPr>
          <a:lstStyle/>
          <a:p>
            <a:r>
              <a:rPr sz="1100" b="0">
                <a:solidFill>
                  <a:srgbClr val="2E2E2E"/>
                </a:solidFill>
                <a:latin typeface="Calibri"/>
              </a:rPr>
              <a:t>-share leaders, while growth runs +</a:t>
            </a:r>
          </a:p>
        </p:txBody>
      </p:sp>
      <p:pic>
        <p:nvPicPr>
          <p:cNvPr id="78" name="Picture 77" descr="lock.png"/>
          <p:cNvPicPr>
            <a:picLocks noChangeAspect="1"/>
          </p:cNvPicPr>
          <p:nvPr/>
        </p:nvPicPr>
        <p:blipFill>
          <a:blip r:embed="rId4"/>
          <a:stretch>
            <a:fillRect/>
          </a:stretch>
        </p:blipFill>
        <p:spPr>
          <a:xfrm>
            <a:off x="7376219" y="3656280"/>
            <a:ext cx="128699" cy="187198"/>
          </a:xfrm>
          <a:prstGeom prst="rect">
            <a:avLst/>
          </a:prstGeom>
        </p:spPr>
      </p:pic>
      <p:sp>
        <p:nvSpPr>
          <p:cNvPr id="79" name="TextBox 78"/>
          <p:cNvSpPr txBox="1"/>
          <p:nvPr/>
        </p:nvSpPr>
        <p:spPr>
          <a:xfrm>
            <a:off x="7543715" y="3666059"/>
            <a:ext cx="1825144" cy="186689"/>
          </a:xfrm>
          <a:prstGeom prst="rect">
            <a:avLst/>
          </a:prstGeom>
          <a:noFill/>
        </p:spPr>
        <p:txBody>
          <a:bodyPr wrap="none" lIns="0" rIns="0" tIns="0" bIns="0">
            <a:spAutoFit/>
          </a:bodyPr>
          <a:lstStyle/>
          <a:p>
            <a:r>
              <a:rPr sz="1100" b="0">
                <a:solidFill>
                  <a:srgbClr val="2E2E2E"/>
                </a:solidFill>
                <a:latin typeface="Calibri"/>
              </a:rPr>
              <a:t>BPS ahead of the market. Early</a:t>
            </a:r>
          </a:p>
        </p:txBody>
      </p:sp>
      <p:sp>
        <p:nvSpPr>
          <p:cNvPr id="80" name="TextBox 79"/>
          <p:cNvSpPr txBox="1"/>
          <p:nvPr/>
        </p:nvSpPr>
        <p:spPr>
          <a:xfrm>
            <a:off x="190500" y="3833699"/>
            <a:ext cx="4556695" cy="186689"/>
          </a:xfrm>
          <a:prstGeom prst="rect">
            <a:avLst/>
          </a:prstGeom>
          <a:noFill/>
        </p:spPr>
        <p:txBody>
          <a:bodyPr wrap="none" lIns="0" rIns="0" tIns="0" bIns="0">
            <a:spAutoFit/>
          </a:bodyPr>
          <a:lstStyle/>
          <a:p>
            <a:r>
              <a:rPr sz="1100" b="0">
                <a:solidFill>
                  <a:srgbClr val="2E2E2E"/>
                </a:solidFill>
                <a:latin typeface="Calibri"/>
              </a:rPr>
              <a:t>distribution and reference accounts established here compound through 2036.</a:t>
            </a:r>
          </a:p>
        </p:txBody>
      </p:sp>
      <p:sp>
        <p:nvSpPr>
          <p:cNvPr id="81" name="TextBox 80"/>
          <p:cNvSpPr txBox="1"/>
          <p:nvPr/>
        </p:nvSpPr>
        <p:spPr>
          <a:xfrm>
            <a:off x="190500" y="5250774"/>
            <a:ext cx="1814264" cy="186689"/>
          </a:xfrm>
          <a:prstGeom prst="rect">
            <a:avLst/>
          </a:prstGeom>
          <a:noFill/>
        </p:spPr>
        <p:txBody>
          <a:bodyPr wrap="none" lIns="0" rIns="0" tIns="0" bIns="0">
            <a:spAutoFit/>
          </a:bodyPr>
          <a:lstStyle/>
          <a:p>
            <a:r>
              <a:rPr sz="1100" b="0">
                <a:solidFill>
                  <a:srgbClr val="2E2E2E"/>
                </a:solidFill>
                <a:latin typeface="Calibri"/>
              </a:rPr>
              <a:t>'Hospitals and Clinics' grows at</a:t>
            </a:r>
          </a:p>
        </p:txBody>
      </p:sp>
      <p:pic>
        <p:nvPicPr>
          <p:cNvPr id="82" name="Picture 81" descr="lock.png"/>
          <p:cNvPicPr>
            <a:picLocks noChangeAspect="1"/>
          </p:cNvPicPr>
          <p:nvPr/>
        </p:nvPicPr>
        <p:blipFill>
          <a:blip r:embed="rId4"/>
          <a:stretch>
            <a:fillRect/>
          </a:stretch>
        </p:blipFill>
        <p:spPr>
          <a:xfrm>
            <a:off x="1952816" y="5240995"/>
            <a:ext cx="128699" cy="187198"/>
          </a:xfrm>
          <a:prstGeom prst="rect">
            <a:avLst/>
          </a:prstGeom>
        </p:spPr>
      </p:pic>
      <p:sp>
        <p:nvSpPr>
          <p:cNvPr id="83" name="TextBox 82"/>
          <p:cNvSpPr txBox="1"/>
          <p:nvPr/>
        </p:nvSpPr>
        <p:spPr>
          <a:xfrm>
            <a:off x="2120311" y="5250774"/>
            <a:ext cx="2820796" cy="186689"/>
          </a:xfrm>
          <a:prstGeom prst="rect">
            <a:avLst/>
          </a:prstGeom>
          <a:noFill/>
        </p:spPr>
        <p:txBody>
          <a:bodyPr wrap="none" lIns="0" rIns="0" tIns="0" bIns="0">
            <a:spAutoFit/>
          </a:bodyPr>
          <a:lstStyle/>
          <a:p>
            <a:r>
              <a:rPr sz="1100" b="0">
                <a:solidFill>
                  <a:srgbClr val="2E2E2E"/>
                </a:solidFill>
                <a:latin typeface="Calibri"/>
              </a:rPr>
              <a:t>CAGR, the fastest of 9 end user routes, and adds</a:t>
            </a:r>
          </a:p>
        </p:txBody>
      </p:sp>
      <p:pic>
        <p:nvPicPr>
          <p:cNvPr id="84" name="Picture 83" descr="lock.png"/>
          <p:cNvPicPr>
            <a:picLocks noChangeAspect="1"/>
          </p:cNvPicPr>
          <p:nvPr/>
        </p:nvPicPr>
        <p:blipFill>
          <a:blip r:embed="rId4"/>
          <a:stretch>
            <a:fillRect/>
          </a:stretch>
        </p:blipFill>
        <p:spPr>
          <a:xfrm>
            <a:off x="4889160" y="5240995"/>
            <a:ext cx="128699" cy="187198"/>
          </a:xfrm>
          <a:prstGeom prst="rect">
            <a:avLst/>
          </a:prstGeom>
        </p:spPr>
      </p:pic>
      <p:sp>
        <p:nvSpPr>
          <p:cNvPr id="85" name="TextBox 84"/>
          <p:cNvSpPr txBox="1"/>
          <p:nvPr/>
        </p:nvSpPr>
        <p:spPr>
          <a:xfrm>
            <a:off x="5056656" y="5250774"/>
            <a:ext cx="3389982" cy="186689"/>
          </a:xfrm>
          <a:prstGeom prst="rect">
            <a:avLst/>
          </a:prstGeom>
          <a:noFill/>
        </p:spPr>
        <p:txBody>
          <a:bodyPr wrap="none" lIns="0" rIns="0" tIns="0" bIns="0">
            <a:spAutoFit/>
          </a:bodyPr>
          <a:lstStyle/>
          <a:p>
            <a:r>
              <a:rPr sz="1100" b="0">
                <a:solidFill>
                  <a:srgbClr val="2E2E2E"/>
                </a:solidFill>
                <a:latin typeface="Calibri"/>
              </a:rPr>
              <a:t>US$ Mn over the forecast period while 'Others' still carries</a:t>
            </a:r>
          </a:p>
        </p:txBody>
      </p:sp>
      <p:pic>
        <p:nvPicPr>
          <p:cNvPr id="86" name="Picture 85" descr="lock.png"/>
          <p:cNvPicPr>
            <a:picLocks noChangeAspect="1"/>
          </p:cNvPicPr>
          <p:nvPr/>
        </p:nvPicPr>
        <p:blipFill>
          <a:blip r:embed="rId4"/>
          <a:stretch>
            <a:fillRect/>
          </a:stretch>
        </p:blipFill>
        <p:spPr>
          <a:xfrm>
            <a:off x="8394689" y="5240995"/>
            <a:ext cx="128699" cy="187198"/>
          </a:xfrm>
          <a:prstGeom prst="rect">
            <a:avLst/>
          </a:prstGeom>
        </p:spPr>
      </p:pic>
      <p:sp>
        <p:nvSpPr>
          <p:cNvPr id="87" name="TextBox 86"/>
          <p:cNvSpPr txBox="1"/>
          <p:nvPr/>
        </p:nvSpPr>
        <p:spPr>
          <a:xfrm>
            <a:off x="8562185" y="5250774"/>
            <a:ext cx="692298" cy="186689"/>
          </a:xfrm>
          <a:prstGeom prst="rect">
            <a:avLst/>
          </a:prstGeom>
          <a:noFill/>
        </p:spPr>
        <p:txBody>
          <a:bodyPr wrap="none" lIns="0" rIns="0" tIns="0" bIns="0">
            <a:spAutoFit/>
          </a:bodyPr>
          <a:lstStyle/>
          <a:p>
            <a:r>
              <a:rPr sz="1100" b="0">
                <a:solidFill>
                  <a:srgbClr val="2E2E2E"/>
                </a:solidFill>
                <a:latin typeface="Calibri"/>
              </a:rPr>
              <a:t>of demand</a:t>
            </a:r>
          </a:p>
        </p:txBody>
      </p:sp>
      <p:sp>
        <p:nvSpPr>
          <p:cNvPr id="88" name="TextBox 87"/>
          <p:cNvSpPr txBox="1"/>
          <p:nvPr/>
        </p:nvSpPr>
        <p:spPr>
          <a:xfrm>
            <a:off x="190500" y="5418414"/>
            <a:ext cx="6386131" cy="186689"/>
          </a:xfrm>
          <a:prstGeom prst="rect">
            <a:avLst/>
          </a:prstGeom>
          <a:noFill/>
        </p:spPr>
        <p:txBody>
          <a:bodyPr wrap="none" lIns="0" rIns="0" tIns="0" bIns="0">
            <a:spAutoFit/>
          </a:bodyPr>
          <a:lstStyle/>
          <a:p>
            <a:r>
              <a:rPr sz="1100" b="0">
                <a:solidFill>
                  <a:srgbClr val="2E2E2E"/>
                </a:solidFill>
                <a:latin typeface="Calibri"/>
              </a:rPr>
              <a:t>today. Pairing the incumbent route for volume with the fastest route for growth and leading with 'Ear Drops' at</a:t>
            </a:r>
          </a:p>
        </p:txBody>
      </p:sp>
      <p:pic>
        <p:nvPicPr>
          <p:cNvPr id="89" name="Picture 88" descr="lock.png"/>
          <p:cNvPicPr>
            <a:picLocks noChangeAspect="1"/>
          </p:cNvPicPr>
          <p:nvPr/>
        </p:nvPicPr>
        <p:blipFill>
          <a:blip r:embed="rId4"/>
          <a:stretch>
            <a:fillRect/>
          </a:stretch>
        </p:blipFill>
        <p:spPr>
          <a:xfrm>
            <a:off x="6524682" y="5408635"/>
            <a:ext cx="128699" cy="187198"/>
          </a:xfrm>
          <a:prstGeom prst="rect">
            <a:avLst/>
          </a:prstGeom>
        </p:spPr>
      </p:pic>
      <p:sp>
        <p:nvSpPr>
          <p:cNvPr id="90" name="TextBox 89"/>
          <p:cNvSpPr txBox="1"/>
          <p:nvPr/>
        </p:nvSpPr>
        <p:spPr>
          <a:xfrm>
            <a:off x="6692178" y="5418414"/>
            <a:ext cx="2571973" cy="186689"/>
          </a:xfrm>
          <a:prstGeom prst="rect">
            <a:avLst/>
          </a:prstGeom>
          <a:noFill/>
        </p:spPr>
        <p:txBody>
          <a:bodyPr wrap="none" lIns="0" rIns="0" tIns="0" bIns="0">
            <a:spAutoFit/>
          </a:bodyPr>
          <a:lstStyle/>
          <a:p>
            <a:r>
              <a:rPr sz="1100" b="0">
                <a:solidFill>
                  <a:srgbClr val="2E2E2E"/>
                </a:solidFill>
                <a:latin typeface="Calibri"/>
              </a:rPr>
              <a:t>is the highest-yield combination the dataset</a:t>
            </a:r>
          </a:p>
        </p:txBody>
      </p:sp>
      <p:sp>
        <p:nvSpPr>
          <p:cNvPr id="91" name="TextBox 90"/>
          <p:cNvSpPr txBox="1"/>
          <p:nvPr/>
        </p:nvSpPr>
        <p:spPr>
          <a:xfrm>
            <a:off x="190500" y="5586054"/>
            <a:ext cx="610170" cy="186689"/>
          </a:xfrm>
          <a:prstGeom prst="rect">
            <a:avLst/>
          </a:prstGeom>
          <a:noFill/>
        </p:spPr>
        <p:txBody>
          <a:bodyPr wrap="none" lIns="0" rIns="0" tIns="0" bIns="0">
            <a:spAutoFit/>
          </a:bodyPr>
          <a:lstStyle/>
          <a:p>
            <a:r>
              <a:rPr sz="1100" b="0">
                <a:solidFill>
                  <a:srgbClr val="2E2E2E"/>
                </a:solidFill>
                <a:latin typeface="Calibri"/>
              </a:rPr>
              <a:t>supports.</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Ear Wax Removal Products Market Recent Developments &amp; Milestones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Recent developments and milestones shaping the global market, by year</a:t>
            </a:r>
          </a:p>
        </p:txBody>
      </p:sp>
      <p:sp>
        <p:nvSpPr>
          <p:cNvPr id="10" name="Rectangle 9"/>
          <p:cNvSpPr/>
          <p:nvPr/>
        </p:nvSpPr>
        <p:spPr>
          <a:xfrm>
            <a:off x="142875" y="1025515"/>
            <a:ext cx="11906250" cy="29205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1428750" cy="292059"/>
          </a:xfrm>
          <a:prstGeom prst="rect">
            <a:avLst/>
          </a:prstGeom>
          <a:noFill/>
        </p:spPr>
        <p:txBody>
          <a:bodyPr wrap="square" lIns="28575" rIns="28575" tIns="9525" bIns="9525" anchor="ctr">
            <a:spAutoFit/>
          </a:bodyPr>
          <a:lstStyle/>
          <a:p>
            <a:pPr algn="ctr"/>
            <a:r>
              <a:rPr sz="1150" b="1">
                <a:solidFill>
                  <a:srgbClr val="FFFFFF"/>
                </a:solidFill>
                <a:latin typeface="Calibri"/>
              </a:rPr>
              <a:t>Year</a:t>
            </a:r>
          </a:p>
        </p:txBody>
      </p:sp>
      <p:sp>
        <p:nvSpPr>
          <p:cNvPr id="12" name="TextBox 11"/>
          <p:cNvSpPr txBox="1"/>
          <p:nvPr/>
        </p:nvSpPr>
        <p:spPr>
          <a:xfrm>
            <a:off x="1714500" y="1025515"/>
            <a:ext cx="10239375" cy="292059"/>
          </a:xfrm>
          <a:prstGeom prst="rect">
            <a:avLst/>
          </a:prstGeom>
          <a:noFill/>
        </p:spPr>
        <p:txBody>
          <a:bodyPr wrap="square" lIns="28575" rIns="28575" tIns="9525" bIns="9525" anchor="ctr">
            <a:spAutoFit/>
          </a:bodyPr>
          <a:lstStyle/>
          <a:p>
            <a:pPr algn="ctr"/>
            <a:r>
              <a:rPr sz="1150" b="1">
                <a:solidFill>
                  <a:srgbClr val="FFFFFF"/>
                </a:solidFill>
                <a:latin typeface="Calibri"/>
              </a:rPr>
              <a:t>Recent Development</a:t>
            </a:r>
          </a:p>
        </p:txBody>
      </p:sp>
      <p:sp>
        <p:nvSpPr>
          <p:cNvPr id="13" name="Rectangle 12"/>
          <p:cNvSpPr/>
          <p:nvPr/>
        </p:nvSpPr>
        <p:spPr>
          <a:xfrm>
            <a:off x="142875" y="1317574"/>
            <a:ext cx="11906250" cy="1296013"/>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2875" y="1317574"/>
            <a:ext cx="1428750" cy="1296013"/>
          </a:xfrm>
          <a:prstGeom prst="rect">
            <a:avLst/>
          </a:prstGeom>
          <a:noFill/>
        </p:spPr>
        <p:txBody>
          <a:bodyPr wrap="square" lIns="28575" rIns="28575" tIns="9525" bIns="9525" anchor="ctr">
            <a:spAutoFit/>
          </a:bodyPr>
          <a:lstStyle/>
          <a:p>
            <a:pPr algn="ctr"/>
            <a:r>
              <a:rPr sz="1250" b="1">
                <a:solidFill>
                  <a:srgbClr val="0B2E4A"/>
                </a:solidFill>
                <a:latin typeface="Calibri"/>
              </a:rPr>
              <a:t>2022</a:t>
            </a:r>
          </a:p>
        </p:txBody>
      </p:sp>
      <p:cxnSp>
        <p:nvCxnSpPr>
          <p:cNvPr id="15" name="Connector 14"/>
          <p:cNvCxnSpPr/>
          <p:nvPr/>
        </p:nvCxnSpPr>
        <p:spPr>
          <a:xfrm>
            <a:off x="1571625" y="1317574"/>
            <a:ext cx="0" cy="1296013"/>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714500" y="1668957"/>
            <a:ext cx="102108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7" name="Rectangle 16"/>
          <p:cNvSpPr/>
          <p:nvPr/>
        </p:nvSpPr>
        <p:spPr>
          <a:xfrm>
            <a:off x="142875" y="2613586"/>
            <a:ext cx="11906250" cy="985700"/>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2875" y="26135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2026</a:t>
            </a:r>
          </a:p>
        </p:txBody>
      </p:sp>
      <p:cxnSp>
        <p:nvCxnSpPr>
          <p:cNvPr id="19" name="Connector 18"/>
          <p:cNvCxnSpPr/>
          <p:nvPr/>
        </p:nvCxnSpPr>
        <p:spPr>
          <a:xfrm>
            <a:off x="1571625" y="26135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714500" y="2905646"/>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Rectangle 20"/>
          <p:cNvSpPr/>
          <p:nvPr/>
        </p:nvSpPr>
        <p:spPr>
          <a:xfrm>
            <a:off x="142875" y="3599286"/>
            <a:ext cx="11906250" cy="98570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2875" y="35992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2034</a:t>
            </a:r>
          </a:p>
        </p:txBody>
      </p:sp>
      <p:cxnSp>
        <p:nvCxnSpPr>
          <p:cNvPr id="23" name="Connector 22"/>
          <p:cNvCxnSpPr/>
          <p:nvPr/>
        </p:nvCxnSpPr>
        <p:spPr>
          <a:xfrm>
            <a:off x="1571625" y="35992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714500" y="38913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5" name="Rectangle 24"/>
          <p:cNvSpPr/>
          <p:nvPr/>
        </p:nvSpPr>
        <p:spPr>
          <a:xfrm>
            <a:off x="142875" y="4584986"/>
            <a:ext cx="11906250" cy="985700"/>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2875" y="45849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2031</a:t>
            </a:r>
          </a:p>
        </p:txBody>
      </p:sp>
      <p:cxnSp>
        <p:nvCxnSpPr>
          <p:cNvPr id="27" name="Connector 26"/>
          <p:cNvCxnSpPr/>
          <p:nvPr/>
        </p:nvCxnSpPr>
        <p:spPr>
          <a:xfrm>
            <a:off x="1571625" y="45849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714500" y="48770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Rectangle 28"/>
          <p:cNvSpPr/>
          <p:nvPr/>
        </p:nvSpPr>
        <p:spPr>
          <a:xfrm>
            <a:off x="142875" y="5570686"/>
            <a:ext cx="11906250" cy="98570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2875" y="55706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2036</a:t>
            </a:r>
          </a:p>
        </p:txBody>
      </p:sp>
      <p:cxnSp>
        <p:nvCxnSpPr>
          <p:cNvPr id="31" name="Connector 30"/>
          <p:cNvCxnSpPr/>
          <p:nvPr/>
        </p:nvCxnSpPr>
        <p:spPr>
          <a:xfrm>
            <a:off x="1571625" y="55706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714500" y="58627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4" name="TextBox 33"/>
          <p:cNvSpPr txBox="1"/>
          <p:nvPr/>
        </p:nvSpPr>
        <p:spPr>
          <a:xfrm>
            <a:off x="1743075" y="1797939"/>
            <a:ext cx="3516585" cy="186689"/>
          </a:xfrm>
          <a:prstGeom prst="rect">
            <a:avLst/>
          </a:prstGeom>
          <a:noFill/>
        </p:spPr>
        <p:txBody>
          <a:bodyPr wrap="none" lIns="0" rIns="0" tIns="0" bIns="0">
            <a:spAutoFit/>
          </a:bodyPr>
          <a:lstStyle/>
          <a:p>
            <a:r>
              <a:rPr sz="1100" b="0">
                <a:solidFill>
                  <a:srgbClr val="2E2E2E"/>
                </a:solidFill>
                <a:latin typeface="Calibri"/>
              </a:rPr>
              <a:t>Strongest historical expansion on record: Global value rose +</a:t>
            </a:r>
          </a:p>
        </p:txBody>
      </p:sp>
      <p:pic>
        <p:nvPicPr>
          <p:cNvPr id="35" name="Picture 34" descr="lock.png"/>
          <p:cNvPicPr>
            <a:picLocks noChangeAspect="1"/>
          </p:cNvPicPr>
          <p:nvPr/>
        </p:nvPicPr>
        <p:blipFill>
          <a:blip r:embed="rId4"/>
          <a:stretch>
            <a:fillRect/>
          </a:stretch>
        </p:blipFill>
        <p:spPr>
          <a:xfrm>
            <a:off x="5207711" y="1788160"/>
            <a:ext cx="128699" cy="187198"/>
          </a:xfrm>
          <a:prstGeom prst="rect">
            <a:avLst/>
          </a:prstGeom>
        </p:spPr>
      </p:pic>
      <p:sp>
        <p:nvSpPr>
          <p:cNvPr id="36" name="TextBox 35"/>
          <p:cNvSpPr txBox="1"/>
          <p:nvPr/>
        </p:nvSpPr>
        <p:spPr>
          <a:xfrm>
            <a:off x="5375207" y="1797939"/>
            <a:ext cx="935955" cy="186689"/>
          </a:xfrm>
          <a:prstGeom prst="rect">
            <a:avLst/>
          </a:prstGeom>
          <a:noFill/>
        </p:spPr>
        <p:txBody>
          <a:bodyPr wrap="none" lIns="0" rIns="0" tIns="0" bIns="0">
            <a:spAutoFit/>
          </a:bodyPr>
          <a:lstStyle/>
          <a:p>
            <a:r>
              <a:rPr sz="1100" b="0">
                <a:solidFill>
                  <a:srgbClr val="2E2E2E"/>
                </a:solidFill>
                <a:latin typeface="Calibri"/>
              </a:rPr>
              <a:t>year on year to</a:t>
            </a:r>
          </a:p>
        </p:txBody>
      </p:sp>
      <p:pic>
        <p:nvPicPr>
          <p:cNvPr id="37" name="Picture 36" descr="lock.png"/>
          <p:cNvPicPr>
            <a:picLocks noChangeAspect="1"/>
          </p:cNvPicPr>
          <p:nvPr/>
        </p:nvPicPr>
        <p:blipFill>
          <a:blip r:embed="rId4"/>
          <a:stretch>
            <a:fillRect/>
          </a:stretch>
        </p:blipFill>
        <p:spPr>
          <a:xfrm>
            <a:off x="6259214" y="1788160"/>
            <a:ext cx="128699" cy="187198"/>
          </a:xfrm>
          <a:prstGeom prst="rect">
            <a:avLst/>
          </a:prstGeom>
        </p:spPr>
      </p:pic>
      <p:sp>
        <p:nvSpPr>
          <p:cNvPr id="38" name="TextBox 37"/>
          <p:cNvSpPr txBox="1"/>
          <p:nvPr/>
        </p:nvSpPr>
        <p:spPr>
          <a:xfrm>
            <a:off x="6426710" y="1797939"/>
            <a:ext cx="5070747" cy="186689"/>
          </a:xfrm>
          <a:prstGeom prst="rect">
            <a:avLst/>
          </a:prstGeom>
          <a:noFill/>
        </p:spPr>
        <p:txBody>
          <a:bodyPr wrap="none" lIns="0" rIns="0" tIns="0" bIns="0">
            <a:spAutoFit/>
          </a:bodyPr>
          <a:lstStyle/>
          <a:p>
            <a:r>
              <a:rPr sz="1100" b="0">
                <a:solidFill>
                  <a:srgbClr val="2E2E2E"/>
                </a:solidFill>
                <a:latin typeface="Calibri"/>
              </a:rPr>
              <a:t>US$ Mn, the steepest single-year move of the 2021–2025 period. Demand for 'Irrigation</a:t>
            </a:r>
          </a:p>
        </p:txBody>
      </p:sp>
      <p:sp>
        <p:nvSpPr>
          <p:cNvPr id="39" name="TextBox 38"/>
          <p:cNvSpPr txBox="1"/>
          <p:nvPr/>
        </p:nvSpPr>
        <p:spPr>
          <a:xfrm>
            <a:off x="1743075" y="1965579"/>
            <a:ext cx="1474837" cy="186689"/>
          </a:xfrm>
          <a:prstGeom prst="rect">
            <a:avLst/>
          </a:prstGeom>
          <a:noFill/>
        </p:spPr>
        <p:txBody>
          <a:bodyPr wrap="none" lIns="0" rIns="0" tIns="0" bIns="0">
            <a:spAutoFit/>
          </a:bodyPr>
          <a:lstStyle/>
          <a:p>
            <a:r>
              <a:rPr sz="1100" b="0">
                <a:solidFill>
                  <a:srgbClr val="2E2E2E"/>
                </a:solidFill>
                <a:latin typeface="Calibri"/>
              </a:rPr>
              <a:t>Devices and Accessories'</a:t>
            </a:r>
          </a:p>
        </p:txBody>
      </p:sp>
      <p:pic>
        <p:nvPicPr>
          <p:cNvPr id="40" name="Picture 39" descr="lock.png"/>
          <p:cNvPicPr>
            <a:picLocks noChangeAspect="1"/>
          </p:cNvPicPr>
          <p:nvPr/>
        </p:nvPicPr>
        <p:blipFill>
          <a:blip r:embed="rId4"/>
          <a:stretch>
            <a:fillRect/>
          </a:stretch>
        </p:blipFill>
        <p:spPr>
          <a:xfrm>
            <a:off x="3165963" y="1955800"/>
            <a:ext cx="128699" cy="187198"/>
          </a:xfrm>
          <a:prstGeom prst="rect">
            <a:avLst/>
          </a:prstGeom>
        </p:spPr>
      </p:pic>
      <p:sp>
        <p:nvSpPr>
          <p:cNvPr id="41" name="TextBox 40"/>
          <p:cNvSpPr txBox="1"/>
          <p:nvPr/>
        </p:nvSpPr>
        <p:spPr>
          <a:xfrm>
            <a:off x="3333459" y="1965579"/>
            <a:ext cx="6857925" cy="186689"/>
          </a:xfrm>
          <a:prstGeom prst="rect">
            <a:avLst/>
          </a:prstGeom>
          <a:noFill/>
        </p:spPr>
        <p:txBody>
          <a:bodyPr wrap="none" lIns="0" rIns="0" tIns="0" bIns="0">
            <a:spAutoFit/>
          </a:bodyPr>
          <a:lstStyle/>
          <a:p>
            <a:r>
              <a:rPr sz="1100" b="0">
                <a:solidFill>
                  <a:srgbClr val="2E2E2E"/>
                </a:solidFill>
                <a:latin typeface="Calibri"/>
              </a:rPr>
              <a:t>of product type value by 2036 set the pace, and the 9 end user routes tracked here all carried volume through the year.</a:t>
            </a:r>
          </a:p>
        </p:txBody>
      </p:sp>
      <p:sp>
        <p:nvSpPr>
          <p:cNvPr id="42" name="TextBox 41"/>
          <p:cNvSpPr txBox="1"/>
          <p:nvPr/>
        </p:nvSpPr>
        <p:spPr>
          <a:xfrm>
            <a:off x="1743075" y="2945502"/>
            <a:ext cx="3340465" cy="179984"/>
          </a:xfrm>
          <a:prstGeom prst="rect">
            <a:avLst/>
          </a:prstGeom>
          <a:noFill/>
        </p:spPr>
        <p:txBody>
          <a:bodyPr wrap="none" lIns="0" rIns="0" tIns="0" bIns="0">
            <a:spAutoFit/>
          </a:bodyPr>
          <a:lstStyle/>
          <a:p>
            <a:r>
              <a:rPr sz="1055" b="0">
                <a:solidFill>
                  <a:srgbClr val="2E2E2E"/>
                </a:solidFill>
                <a:latin typeface="Calibri"/>
              </a:rPr>
              <a:t>Base year for the forecast: the global market is estimated at</a:t>
            </a:r>
          </a:p>
        </p:txBody>
      </p:sp>
      <p:pic>
        <p:nvPicPr>
          <p:cNvPr id="43" name="Picture 42" descr="lock.png"/>
          <p:cNvPicPr>
            <a:picLocks noChangeAspect="1"/>
          </p:cNvPicPr>
          <p:nvPr/>
        </p:nvPicPr>
        <p:blipFill>
          <a:blip r:embed="rId4"/>
          <a:stretch>
            <a:fillRect/>
          </a:stretch>
        </p:blipFill>
        <p:spPr>
          <a:xfrm>
            <a:off x="5030621" y="2936114"/>
            <a:ext cx="123551" cy="179710"/>
          </a:xfrm>
          <a:prstGeom prst="rect">
            <a:avLst/>
          </a:prstGeom>
        </p:spPr>
      </p:pic>
      <p:sp>
        <p:nvSpPr>
          <p:cNvPr id="44" name="TextBox 43"/>
          <p:cNvSpPr txBox="1"/>
          <p:nvPr/>
        </p:nvSpPr>
        <p:spPr>
          <a:xfrm>
            <a:off x="5191417" y="2945502"/>
            <a:ext cx="1825680" cy="179984"/>
          </a:xfrm>
          <a:prstGeom prst="rect">
            <a:avLst/>
          </a:prstGeom>
          <a:noFill/>
        </p:spPr>
        <p:txBody>
          <a:bodyPr wrap="none" lIns="0" rIns="0" tIns="0" bIns="0">
            <a:spAutoFit/>
          </a:bodyPr>
          <a:lstStyle/>
          <a:p>
            <a:r>
              <a:rPr sz="1055" b="0">
                <a:solidFill>
                  <a:srgbClr val="2E2E2E"/>
                </a:solidFill>
                <a:latin typeface="Calibri"/>
              </a:rPr>
              <a:t>US$ Mn, having compounded at</a:t>
            </a:r>
          </a:p>
        </p:txBody>
      </p:sp>
      <p:pic>
        <p:nvPicPr>
          <p:cNvPr id="45" name="Picture 44" descr="lock.png"/>
          <p:cNvPicPr>
            <a:picLocks noChangeAspect="1"/>
          </p:cNvPicPr>
          <p:nvPr/>
        </p:nvPicPr>
        <p:blipFill>
          <a:blip r:embed="rId4"/>
          <a:stretch>
            <a:fillRect/>
          </a:stretch>
        </p:blipFill>
        <p:spPr>
          <a:xfrm>
            <a:off x="6964179" y="2936114"/>
            <a:ext cx="123551" cy="179710"/>
          </a:xfrm>
          <a:prstGeom prst="rect">
            <a:avLst/>
          </a:prstGeom>
        </p:spPr>
      </p:pic>
      <p:sp>
        <p:nvSpPr>
          <p:cNvPr id="46" name="TextBox 45"/>
          <p:cNvSpPr txBox="1"/>
          <p:nvPr/>
        </p:nvSpPr>
        <p:spPr>
          <a:xfrm>
            <a:off x="7124975" y="2945502"/>
            <a:ext cx="2310788" cy="179984"/>
          </a:xfrm>
          <a:prstGeom prst="rect">
            <a:avLst/>
          </a:prstGeom>
          <a:noFill/>
        </p:spPr>
        <p:txBody>
          <a:bodyPr wrap="none" lIns="0" rIns="0" tIns="0" bIns="0">
            <a:spAutoFit/>
          </a:bodyPr>
          <a:lstStyle/>
          <a:p>
            <a:r>
              <a:rPr sz="1055" b="0">
                <a:solidFill>
                  <a:srgbClr val="2E2E2E"/>
                </a:solidFill>
                <a:latin typeface="Calibri"/>
              </a:rPr>
              <a:t>across 2021–2025. 'North America' holds</a:t>
            </a:r>
          </a:p>
        </p:txBody>
      </p:sp>
      <p:pic>
        <p:nvPicPr>
          <p:cNvPr id="47" name="Picture 46" descr="lock.png"/>
          <p:cNvPicPr>
            <a:picLocks noChangeAspect="1"/>
          </p:cNvPicPr>
          <p:nvPr/>
        </p:nvPicPr>
        <p:blipFill>
          <a:blip r:embed="rId4"/>
          <a:stretch>
            <a:fillRect/>
          </a:stretch>
        </p:blipFill>
        <p:spPr>
          <a:xfrm>
            <a:off x="9382846" y="2936114"/>
            <a:ext cx="123551" cy="179710"/>
          </a:xfrm>
          <a:prstGeom prst="rect">
            <a:avLst/>
          </a:prstGeom>
        </p:spPr>
      </p:pic>
      <p:sp>
        <p:nvSpPr>
          <p:cNvPr id="48" name="TextBox 47"/>
          <p:cNvSpPr txBox="1"/>
          <p:nvPr/>
        </p:nvSpPr>
        <p:spPr>
          <a:xfrm>
            <a:off x="9543642" y="2945502"/>
            <a:ext cx="1896665" cy="179984"/>
          </a:xfrm>
          <a:prstGeom prst="rect">
            <a:avLst/>
          </a:prstGeom>
          <a:noFill/>
        </p:spPr>
        <p:txBody>
          <a:bodyPr wrap="none" lIns="0" rIns="0" tIns="0" bIns="0">
            <a:spAutoFit/>
          </a:bodyPr>
          <a:lstStyle/>
          <a:p>
            <a:r>
              <a:rPr sz="1055" b="0">
                <a:solidFill>
                  <a:srgbClr val="2E2E2E"/>
                </a:solidFill>
                <a:latin typeface="Calibri"/>
              </a:rPr>
              <a:t>of value across 6 regions, and the</a:t>
            </a:r>
          </a:p>
        </p:txBody>
      </p:sp>
      <p:sp>
        <p:nvSpPr>
          <p:cNvPr id="49" name="TextBox 48"/>
          <p:cNvSpPr txBox="1"/>
          <p:nvPr/>
        </p:nvSpPr>
        <p:spPr>
          <a:xfrm>
            <a:off x="1743075" y="3106436"/>
            <a:ext cx="4153519" cy="179984"/>
          </a:xfrm>
          <a:prstGeom prst="rect">
            <a:avLst/>
          </a:prstGeom>
          <a:noFill/>
        </p:spPr>
        <p:txBody>
          <a:bodyPr wrap="none" lIns="0" rIns="0" tIns="0" bIns="0">
            <a:spAutoFit/>
          </a:bodyPr>
          <a:lstStyle/>
          <a:p>
            <a:r>
              <a:rPr sz="1055" b="0">
                <a:solidFill>
                  <a:srgbClr val="2E2E2E"/>
                </a:solidFill>
                <a:latin typeface="Calibri"/>
              </a:rPr>
              <a:t>forecast is built from 4 segment breakdowns covering 7 product type lines.</a:t>
            </a:r>
          </a:p>
        </p:txBody>
      </p:sp>
      <p:sp>
        <p:nvSpPr>
          <p:cNvPr id="50" name="TextBox 49"/>
          <p:cNvSpPr txBox="1"/>
          <p:nvPr/>
        </p:nvSpPr>
        <p:spPr>
          <a:xfrm>
            <a:off x="1743075" y="3931201"/>
            <a:ext cx="1089374" cy="179984"/>
          </a:xfrm>
          <a:prstGeom prst="rect">
            <a:avLst/>
          </a:prstGeom>
          <a:noFill/>
        </p:spPr>
        <p:txBody>
          <a:bodyPr wrap="none" lIns="0" rIns="0" tIns="0" bIns="0">
            <a:spAutoFit/>
          </a:bodyPr>
          <a:lstStyle/>
          <a:p>
            <a:r>
              <a:rPr sz="1055" b="0">
                <a:solidFill>
                  <a:srgbClr val="2E2E2E"/>
                </a:solidFill>
                <a:latin typeface="Calibri"/>
              </a:rPr>
              <a:t>The market passes</a:t>
            </a:r>
          </a:p>
        </p:txBody>
      </p:sp>
      <p:pic>
        <p:nvPicPr>
          <p:cNvPr id="51" name="Picture 50" descr="lock.png"/>
          <p:cNvPicPr>
            <a:picLocks noChangeAspect="1"/>
          </p:cNvPicPr>
          <p:nvPr/>
        </p:nvPicPr>
        <p:blipFill>
          <a:blip r:embed="rId4"/>
          <a:stretch>
            <a:fillRect/>
          </a:stretch>
        </p:blipFill>
        <p:spPr>
          <a:xfrm>
            <a:off x="2779530" y="3921813"/>
            <a:ext cx="123551" cy="179710"/>
          </a:xfrm>
          <a:prstGeom prst="rect">
            <a:avLst/>
          </a:prstGeom>
        </p:spPr>
      </p:pic>
      <p:sp>
        <p:nvSpPr>
          <p:cNvPr id="52" name="TextBox 51"/>
          <p:cNvSpPr txBox="1"/>
          <p:nvPr/>
        </p:nvSpPr>
        <p:spPr>
          <a:xfrm>
            <a:off x="2940326" y="3931201"/>
            <a:ext cx="2945201" cy="179984"/>
          </a:xfrm>
          <a:prstGeom prst="rect">
            <a:avLst/>
          </a:prstGeom>
          <a:noFill/>
        </p:spPr>
        <p:txBody>
          <a:bodyPr wrap="none" lIns="0" rIns="0" tIns="0" bIns="0">
            <a:spAutoFit/>
          </a:bodyPr>
          <a:lstStyle/>
          <a:p>
            <a:r>
              <a:rPr sz="1055" b="0">
                <a:solidFill>
                  <a:srgbClr val="2E2E2E"/>
                </a:solidFill>
                <a:latin typeface="Calibri"/>
              </a:rPr>
              <a:t>US$ Mn one and a half times the 2026 base reaching</a:t>
            </a:r>
          </a:p>
        </p:txBody>
      </p:sp>
      <p:pic>
        <p:nvPicPr>
          <p:cNvPr id="53" name="Picture 52" descr="lock.png"/>
          <p:cNvPicPr>
            <a:picLocks noChangeAspect="1"/>
          </p:cNvPicPr>
          <p:nvPr/>
        </p:nvPicPr>
        <p:blipFill>
          <a:blip r:embed="rId4"/>
          <a:stretch>
            <a:fillRect/>
          </a:stretch>
        </p:blipFill>
        <p:spPr>
          <a:xfrm>
            <a:off x="5832609" y="3921813"/>
            <a:ext cx="123551" cy="179710"/>
          </a:xfrm>
          <a:prstGeom prst="rect">
            <a:avLst/>
          </a:prstGeom>
        </p:spPr>
      </p:pic>
      <p:sp>
        <p:nvSpPr>
          <p:cNvPr id="54" name="TextBox 53"/>
          <p:cNvSpPr txBox="1"/>
          <p:nvPr/>
        </p:nvSpPr>
        <p:spPr>
          <a:xfrm>
            <a:off x="5993405" y="3931201"/>
            <a:ext cx="2927095" cy="179984"/>
          </a:xfrm>
          <a:prstGeom prst="rect">
            <a:avLst/>
          </a:prstGeom>
          <a:noFill/>
        </p:spPr>
        <p:txBody>
          <a:bodyPr wrap="none" lIns="0" rIns="0" tIns="0" bIns="0">
            <a:spAutoFit/>
          </a:bodyPr>
          <a:lstStyle/>
          <a:p>
            <a:r>
              <a:rPr sz="1055" b="0">
                <a:solidFill>
                  <a:srgbClr val="2E2E2E"/>
                </a:solidFill>
                <a:latin typeface="Calibri"/>
              </a:rPr>
              <a:t>US$ Mn. Growth by this point is led by 'Ear Drops' at</a:t>
            </a:r>
          </a:p>
        </p:txBody>
      </p:sp>
      <p:pic>
        <p:nvPicPr>
          <p:cNvPr id="55" name="Picture 54" descr="lock.png"/>
          <p:cNvPicPr>
            <a:picLocks noChangeAspect="1"/>
          </p:cNvPicPr>
          <p:nvPr/>
        </p:nvPicPr>
        <p:blipFill>
          <a:blip r:embed="rId4"/>
          <a:stretch>
            <a:fillRect/>
          </a:stretch>
        </p:blipFill>
        <p:spPr>
          <a:xfrm>
            <a:off x="8867582" y="3921813"/>
            <a:ext cx="123551" cy="179710"/>
          </a:xfrm>
          <a:prstGeom prst="rect">
            <a:avLst/>
          </a:prstGeom>
        </p:spPr>
      </p:pic>
      <p:sp>
        <p:nvSpPr>
          <p:cNvPr id="56" name="TextBox 55"/>
          <p:cNvSpPr txBox="1"/>
          <p:nvPr/>
        </p:nvSpPr>
        <p:spPr>
          <a:xfrm>
            <a:off x="9028378" y="3931201"/>
            <a:ext cx="2351110" cy="179984"/>
          </a:xfrm>
          <a:prstGeom prst="rect">
            <a:avLst/>
          </a:prstGeom>
          <a:noFill/>
        </p:spPr>
        <p:txBody>
          <a:bodyPr wrap="none" lIns="0" rIns="0" tIns="0" bIns="0">
            <a:spAutoFit/>
          </a:bodyPr>
          <a:lstStyle/>
          <a:p>
            <a:r>
              <a:rPr sz="1055" b="0">
                <a:solidFill>
                  <a:srgbClr val="2E2E2E"/>
                </a:solidFill>
                <a:latin typeface="Calibri"/>
              </a:rPr>
              <a:t>CAGR and by 'South Asia &amp; Pacific' among</a:t>
            </a:r>
          </a:p>
        </p:txBody>
      </p:sp>
      <p:sp>
        <p:nvSpPr>
          <p:cNvPr id="57" name="TextBox 56"/>
          <p:cNvSpPr txBox="1"/>
          <p:nvPr/>
        </p:nvSpPr>
        <p:spPr>
          <a:xfrm>
            <a:off x="1743075" y="4092135"/>
            <a:ext cx="617100" cy="179984"/>
          </a:xfrm>
          <a:prstGeom prst="rect">
            <a:avLst/>
          </a:prstGeom>
          <a:noFill/>
        </p:spPr>
        <p:txBody>
          <a:bodyPr wrap="none" lIns="0" rIns="0" tIns="0" bIns="0">
            <a:spAutoFit/>
          </a:bodyPr>
          <a:lstStyle/>
          <a:p>
            <a:r>
              <a:rPr sz="1055" b="0">
                <a:solidFill>
                  <a:srgbClr val="2E2E2E"/>
                </a:solidFill>
                <a:latin typeface="Calibri"/>
              </a:rPr>
              <a:t>regions at</a:t>
            </a:r>
          </a:p>
        </p:txBody>
      </p:sp>
      <p:pic>
        <p:nvPicPr>
          <p:cNvPr id="58" name="Picture 57" descr="lock.png"/>
          <p:cNvPicPr>
            <a:picLocks noChangeAspect="1"/>
          </p:cNvPicPr>
          <p:nvPr/>
        </p:nvPicPr>
        <p:blipFill>
          <a:blip r:embed="rId4"/>
          <a:stretch>
            <a:fillRect/>
          </a:stretch>
        </p:blipFill>
        <p:spPr>
          <a:xfrm>
            <a:off x="2307257" y="4082747"/>
            <a:ext cx="123551" cy="179710"/>
          </a:xfrm>
          <a:prstGeom prst="rect">
            <a:avLst/>
          </a:prstGeom>
        </p:spPr>
      </p:pic>
      <p:sp>
        <p:nvSpPr>
          <p:cNvPr id="59" name="TextBox 58"/>
          <p:cNvSpPr txBox="1"/>
          <p:nvPr/>
        </p:nvSpPr>
        <p:spPr>
          <a:xfrm>
            <a:off x="2468053" y="4092135"/>
            <a:ext cx="3178063" cy="179984"/>
          </a:xfrm>
          <a:prstGeom prst="rect">
            <a:avLst/>
          </a:prstGeom>
          <a:noFill/>
        </p:spPr>
        <p:txBody>
          <a:bodyPr wrap="none" lIns="0" rIns="0" tIns="0" bIns="0">
            <a:spAutoFit/>
          </a:bodyPr>
          <a:lstStyle/>
          <a:p>
            <a:r>
              <a:rPr sz="1055" b="0">
                <a:solidFill>
                  <a:srgbClr val="2E2E2E"/>
                </a:solidFill>
                <a:latin typeface="Calibri"/>
              </a:rPr>
              <a:t>, with 3 of 6 regions running at or above the market rate.</a:t>
            </a:r>
          </a:p>
        </p:txBody>
      </p:sp>
      <p:sp>
        <p:nvSpPr>
          <p:cNvPr id="60" name="TextBox 59"/>
          <p:cNvSpPr txBox="1"/>
          <p:nvPr/>
        </p:nvSpPr>
        <p:spPr>
          <a:xfrm>
            <a:off x="1743075" y="4916901"/>
            <a:ext cx="2190297" cy="179984"/>
          </a:xfrm>
          <a:prstGeom prst="rect">
            <a:avLst/>
          </a:prstGeom>
          <a:noFill/>
        </p:spPr>
        <p:txBody>
          <a:bodyPr wrap="none" lIns="0" rIns="0" tIns="0" bIns="0">
            <a:spAutoFit/>
          </a:bodyPr>
          <a:lstStyle/>
          <a:p>
            <a:r>
              <a:rPr sz="1055" b="0">
                <a:solidFill>
                  <a:srgbClr val="2E2E2E"/>
                </a:solidFill>
                <a:latin typeface="Calibri"/>
              </a:rPr>
              <a:t>Mid-horizon checkpoint: value reaches</a:t>
            </a:r>
          </a:p>
        </p:txBody>
      </p:sp>
      <p:pic>
        <p:nvPicPr>
          <p:cNvPr id="61" name="Picture 60" descr="lock.png"/>
          <p:cNvPicPr>
            <a:picLocks noChangeAspect="1"/>
          </p:cNvPicPr>
          <p:nvPr/>
        </p:nvPicPr>
        <p:blipFill>
          <a:blip r:embed="rId4"/>
          <a:stretch>
            <a:fillRect/>
          </a:stretch>
        </p:blipFill>
        <p:spPr>
          <a:xfrm>
            <a:off x="3880454" y="4907513"/>
            <a:ext cx="123551" cy="179710"/>
          </a:xfrm>
          <a:prstGeom prst="rect">
            <a:avLst/>
          </a:prstGeom>
        </p:spPr>
      </p:pic>
      <p:sp>
        <p:nvSpPr>
          <p:cNvPr id="62" name="TextBox 61"/>
          <p:cNvSpPr txBox="1"/>
          <p:nvPr/>
        </p:nvSpPr>
        <p:spPr>
          <a:xfrm>
            <a:off x="4041250" y="4916901"/>
            <a:ext cx="541139" cy="179984"/>
          </a:xfrm>
          <a:prstGeom prst="rect">
            <a:avLst/>
          </a:prstGeom>
          <a:noFill/>
        </p:spPr>
        <p:txBody>
          <a:bodyPr wrap="none" lIns="0" rIns="0" tIns="0" bIns="0">
            <a:spAutoFit/>
          </a:bodyPr>
          <a:lstStyle/>
          <a:p>
            <a:r>
              <a:rPr sz="1055" b="0">
                <a:solidFill>
                  <a:srgbClr val="2E2E2E"/>
                </a:solidFill>
                <a:latin typeface="Calibri"/>
              </a:rPr>
              <a:t>US$ Mn,</a:t>
            </a:r>
          </a:p>
        </p:txBody>
      </p:sp>
      <p:pic>
        <p:nvPicPr>
          <p:cNvPr id="63" name="Picture 62" descr="lock.png"/>
          <p:cNvPicPr>
            <a:picLocks noChangeAspect="1"/>
          </p:cNvPicPr>
          <p:nvPr/>
        </p:nvPicPr>
        <p:blipFill>
          <a:blip r:embed="rId4"/>
          <a:stretch>
            <a:fillRect/>
          </a:stretch>
        </p:blipFill>
        <p:spPr>
          <a:xfrm>
            <a:off x="4529470" y="4907513"/>
            <a:ext cx="123551" cy="179710"/>
          </a:xfrm>
          <a:prstGeom prst="rect">
            <a:avLst/>
          </a:prstGeom>
        </p:spPr>
      </p:pic>
      <p:sp>
        <p:nvSpPr>
          <p:cNvPr id="64" name="TextBox 63"/>
          <p:cNvSpPr txBox="1"/>
          <p:nvPr/>
        </p:nvSpPr>
        <p:spPr>
          <a:xfrm>
            <a:off x="4690266" y="4916901"/>
            <a:ext cx="2581333" cy="179984"/>
          </a:xfrm>
          <a:prstGeom prst="rect">
            <a:avLst/>
          </a:prstGeom>
          <a:noFill/>
        </p:spPr>
        <p:txBody>
          <a:bodyPr wrap="none" lIns="0" rIns="0" tIns="0" bIns="0">
            <a:spAutoFit/>
          </a:bodyPr>
          <a:lstStyle/>
          <a:p>
            <a:r>
              <a:rPr sz="1055" b="0">
                <a:solidFill>
                  <a:srgbClr val="2E2E2E"/>
                </a:solidFill>
                <a:latin typeface="Calibri"/>
              </a:rPr>
              <a:t>× the 2026 base. Average realisation stands at</a:t>
            </a:r>
          </a:p>
        </p:txBody>
      </p:sp>
      <p:pic>
        <p:nvPicPr>
          <p:cNvPr id="65" name="Picture 64" descr="lock.png"/>
          <p:cNvPicPr>
            <a:picLocks noChangeAspect="1"/>
          </p:cNvPicPr>
          <p:nvPr/>
        </p:nvPicPr>
        <p:blipFill>
          <a:blip r:embed="rId4"/>
          <a:stretch>
            <a:fillRect/>
          </a:stretch>
        </p:blipFill>
        <p:spPr>
          <a:xfrm>
            <a:off x="7218681" y="4907513"/>
            <a:ext cx="123551" cy="179710"/>
          </a:xfrm>
          <a:prstGeom prst="rect">
            <a:avLst/>
          </a:prstGeom>
        </p:spPr>
      </p:pic>
      <p:sp>
        <p:nvSpPr>
          <p:cNvPr id="66" name="TextBox 65"/>
          <p:cNvSpPr txBox="1"/>
          <p:nvPr/>
        </p:nvSpPr>
        <p:spPr>
          <a:xfrm>
            <a:off x="7379477" y="4916901"/>
            <a:ext cx="1845063" cy="179984"/>
          </a:xfrm>
          <a:prstGeom prst="rect">
            <a:avLst/>
          </a:prstGeom>
          <a:noFill/>
        </p:spPr>
        <p:txBody>
          <a:bodyPr wrap="none" lIns="0" rIns="0" tIns="0" bIns="0">
            <a:spAutoFit/>
          </a:bodyPr>
          <a:lstStyle/>
          <a:p>
            <a:r>
              <a:rPr sz="1055" b="0">
                <a:solidFill>
                  <a:srgbClr val="2E2E2E"/>
                </a:solidFill>
                <a:latin typeface="Calibri"/>
              </a:rPr>
              <a:t>US$/Units, and mix has moved +</a:t>
            </a:r>
          </a:p>
        </p:txBody>
      </p:sp>
      <p:pic>
        <p:nvPicPr>
          <p:cNvPr id="67" name="Picture 66" descr="lock.png"/>
          <p:cNvPicPr>
            <a:picLocks noChangeAspect="1"/>
          </p:cNvPicPr>
          <p:nvPr/>
        </p:nvPicPr>
        <p:blipFill>
          <a:blip r:embed="rId4"/>
          <a:stretch>
            <a:fillRect/>
          </a:stretch>
        </p:blipFill>
        <p:spPr>
          <a:xfrm>
            <a:off x="9171623" y="4907513"/>
            <a:ext cx="123551" cy="179710"/>
          </a:xfrm>
          <a:prstGeom prst="rect">
            <a:avLst/>
          </a:prstGeom>
        </p:spPr>
      </p:pic>
      <p:sp>
        <p:nvSpPr>
          <p:cNvPr id="68" name="TextBox 67"/>
          <p:cNvSpPr txBox="1"/>
          <p:nvPr/>
        </p:nvSpPr>
        <p:spPr>
          <a:xfrm>
            <a:off x="9332419" y="4916901"/>
            <a:ext cx="1885074" cy="179984"/>
          </a:xfrm>
          <a:prstGeom prst="rect">
            <a:avLst/>
          </a:prstGeom>
          <a:noFill/>
        </p:spPr>
        <p:txBody>
          <a:bodyPr wrap="none" lIns="0" rIns="0" tIns="0" bIns="0">
            <a:spAutoFit/>
          </a:bodyPr>
          <a:lstStyle/>
          <a:p>
            <a:r>
              <a:rPr sz="1055" b="0">
                <a:solidFill>
                  <a:srgbClr val="2E2E2E"/>
                </a:solidFill>
                <a:latin typeface="Calibri"/>
              </a:rPr>
              <a:t>BPS toward 'Ear Drops' while 'Ear</a:t>
            </a:r>
          </a:p>
        </p:txBody>
      </p:sp>
      <p:sp>
        <p:nvSpPr>
          <p:cNvPr id="69" name="TextBox 68"/>
          <p:cNvSpPr txBox="1"/>
          <p:nvPr/>
        </p:nvSpPr>
        <p:spPr>
          <a:xfrm>
            <a:off x="1743075" y="5077835"/>
            <a:ext cx="937450" cy="179984"/>
          </a:xfrm>
          <a:prstGeom prst="rect">
            <a:avLst/>
          </a:prstGeom>
          <a:noFill/>
        </p:spPr>
        <p:txBody>
          <a:bodyPr wrap="none" lIns="0" rIns="0" tIns="0" bIns="0">
            <a:spAutoFit/>
          </a:bodyPr>
          <a:lstStyle/>
          <a:p>
            <a:r>
              <a:rPr sz="1055" b="0">
                <a:solidFill>
                  <a:srgbClr val="2E2E2E"/>
                </a:solidFill>
                <a:latin typeface="Calibri"/>
              </a:rPr>
              <a:t>Sprays' gives up</a:t>
            </a:r>
          </a:p>
        </p:txBody>
      </p:sp>
      <p:pic>
        <p:nvPicPr>
          <p:cNvPr id="70" name="Picture 69" descr="lock.png"/>
          <p:cNvPicPr>
            <a:picLocks noChangeAspect="1"/>
          </p:cNvPicPr>
          <p:nvPr/>
        </p:nvPicPr>
        <p:blipFill>
          <a:blip r:embed="rId4"/>
          <a:stretch>
            <a:fillRect/>
          </a:stretch>
        </p:blipFill>
        <p:spPr>
          <a:xfrm>
            <a:off x="2627607" y="5068447"/>
            <a:ext cx="123551" cy="179710"/>
          </a:xfrm>
          <a:prstGeom prst="rect">
            <a:avLst/>
          </a:prstGeom>
        </p:spPr>
      </p:pic>
      <p:sp>
        <p:nvSpPr>
          <p:cNvPr id="71" name="TextBox 70"/>
          <p:cNvSpPr txBox="1"/>
          <p:nvPr/>
        </p:nvSpPr>
        <p:spPr>
          <a:xfrm>
            <a:off x="2788403" y="5077835"/>
            <a:ext cx="314039" cy="179984"/>
          </a:xfrm>
          <a:prstGeom prst="rect">
            <a:avLst/>
          </a:prstGeom>
          <a:noFill/>
        </p:spPr>
        <p:txBody>
          <a:bodyPr wrap="none" lIns="0" rIns="0" tIns="0" bIns="0">
            <a:spAutoFit/>
          </a:bodyPr>
          <a:lstStyle/>
          <a:p>
            <a:r>
              <a:rPr sz="1055" b="0">
                <a:solidFill>
                  <a:srgbClr val="2E2E2E"/>
                </a:solidFill>
                <a:latin typeface="Calibri"/>
              </a:rPr>
              <a:t>BPS.</a:t>
            </a:r>
          </a:p>
        </p:txBody>
      </p:sp>
      <p:sp>
        <p:nvSpPr>
          <p:cNvPr id="72" name="TextBox 71"/>
          <p:cNvSpPr txBox="1"/>
          <p:nvPr/>
        </p:nvSpPr>
        <p:spPr>
          <a:xfrm>
            <a:off x="1743075" y="5902601"/>
            <a:ext cx="2544146" cy="179984"/>
          </a:xfrm>
          <a:prstGeom prst="rect">
            <a:avLst/>
          </a:prstGeom>
          <a:noFill/>
        </p:spPr>
        <p:txBody>
          <a:bodyPr wrap="none" lIns="0" rIns="0" tIns="0" bIns="0">
            <a:spAutoFit/>
          </a:bodyPr>
          <a:lstStyle/>
          <a:p>
            <a:r>
              <a:rPr sz="1055" b="0">
                <a:solidFill>
                  <a:srgbClr val="2E2E2E"/>
                </a:solidFill>
                <a:latin typeface="Calibri"/>
              </a:rPr>
              <a:t>Forecast outcome: the global market reaches</a:t>
            </a:r>
          </a:p>
        </p:txBody>
      </p:sp>
      <p:pic>
        <p:nvPicPr>
          <p:cNvPr id="73" name="Picture 72" descr="lock.png"/>
          <p:cNvPicPr>
            <a:picLocks noChangeAspect="1"/>
          </p:cNvPicPr>
          <p:nvPr/>
        </p:nvPicPr>
        <p:blipFill>
          <a:blip r:embed="rId4"/>
          <a:stretch>
            <a:fillRect/>
          </a:stretch>
        </p:blipFill>
        <p:spPr>
          <a:xfrm>
            <a:off x="4234303" y="5893213"/>
            <a:ext cx="123551" cy="179710"/>
          </a:xfrm>
          <a:prstGeom prst="rect">
            <a:avLst/>
          </a:prstGeom>
        </p:spPr>
      </p:pic>
      <p:sp>
        <p:nvSpPr>
          <p:cNvPr id="74" name="TextBox 73"/>
          <p:cNvSpPr txBox="1"/>
          <p:nvPr/>
        </p:nvSpPr>
        <p:spPr>
          <a:xfrm>
            <a:off x="4395098" y="5902601"/>
            <a:ext cx="635698" cy="179984"/>
          </a:xfrm>
          <a:prstGeom prst="rect">
            <a:avLst/>
          </a:prstGeom>
          <a:noFill/>
        </p:spPr>
        <p:txBody>
          <a:bodyPr wrap="none" lIns="0" rIns="0" tIns="0" bIns="0">
            <a:spAutoFit/>
          </a:bodyPr>
          <a:lstStyle/>
          <a:p>
            <a:r>
              <a:rPr sz="1055" b="0">
                <a:solidFill>
                  <a:srgbClr val="2E2E2E"/>
                </a:solidFill>
                <a:latin typeface="Calibri"/>
              </a:rPr>
              <a:t>US$ Mn, a</a:t>
            </a:r>
          </a:p>
        </p:txBody>
      </p:sp>
      <p:pic>
        <p:nvPicPr>
          <p:cNvPr id="75" name="Picture 74" descr="lock.png"/>
          <p:cNvPicPr>
            <a:picLocks noChangeAspect="1"/>
          </p:cNvPicPr>
          <p:nvPr/>
        </p:nvPicPr>
        <p:blipFill>
          <a:blip r:embed="rId4"/>
          <a:stretch>
            <a:fillRect/>
          </a:stretch>
        </p:blipFill>
        <p:spPr>
          <a:xfrm>
            <a:off x="4977879" y="5893213"/>
            <a:ext cx="123551" cy="179710"/>
          </a:xfrm>
          <a:prstGeom prst="rect">
            <a:avLst/>
          </a:prstGeom>
        </p:spPr>
      </p:pic>
      <p:sp>
        <p:nvSpPr>
          <p:cNvPr id="76" name="TextBox 75"/>
          <p:cNvSpPr txBox="1"/>
          <p:nvPr/>
        </p:nvSpPr>
        <p:spPr>
          <a:xfrm>
            <a:off x="5138675" y="5902601"/>
            <a:ext cx="1437751" cy="179984"/>
          </a:xfrm>
          <a:prstGeom prst="rect">
            <a:avLst/>
          </a:prstGeom>
          <a:noFill/>
        </p:spPr>
        <p:txBody>
          <a:bodyPr wrap="none" lIns="0" rIns="0" tIns="0" bIns="0">
            <a:spAutoFit/>
          </a:bodyPr>
          <a:lstStyle/>
          <a:p>
            <a:r>
              <a:rPr sz="1055" b="0">
                <a:solidFill>
                  <a:srgbClr val="2E2E2E"/>
                </a:solidFill>
                <a:latin typeface="Calibri"/>
              </a:rPr>
              <a:t>× expansion on 2026 and</a:t>
            </a:r>
          </a:p>
        </p:txBody>
      </p:sp>
      <p:pic>
        <p:nvPicPr>
          <p:cNvPr id="77" name="Picture 76" descr="lock.png"/>
          <p:cNvPicPr>
            <a:picLocks noChangeAspect="1"/>
          </p:cNvPicPr>
          <p:nvPr/>
        </p:nvPicPr>
        <p:blipFill>
          <a:blip r:embed="rId4"/>
          <a:stretch>
            <a:fillRect/>
          </a:stretch>
        </p:blipFill>
        <p:spPr>
          <a:xfrm>
            <a:off x="6523507" y="5893213"/>
            <a:ext cx="123551" cy="179710"/>
          </a:xfrm>
          <a:prstGeom prst="rect">
            <a:avLst/>
          </a:prstGeom>
        </p:spPr>
      </p:pic>
      <p:sp>
        <p:nvSpPr>
          <p:cNvPr id="78" name="TextBox 77"/>
          <p:cNvSpPr txBox="1"/>
          <p:nvPr/>
        </p:nvSpPr>
        <p:spPr>
          <a:xfrm>
            <a:off x="6684303" y="5902601"/>
            <a:ext cx="1799224" cy="179984"/>
          </a:xfrm>
          <a:prstGeom prst="rect">
            <a:avLst/>
          </a:prstGeom>
          <a:noFill/>
        </p:spPr>
        <p:txBody>
          <a:bodyPr wrap="none" lIns="0" rIns="0" tIns="0" bIns="0">
            <a:spAutoFit/>
          </a:bodyPr>
          <a:lstStyle/>
          <a:p>
            <a:r>
              <a:rPr sz="1055" b="0">
                <a:solidFill>
                  <a:srgbClr val="2E2E2E"/>
                </a:solidFill>
                <a:latin typeface="Calibri"/>
              </a:rPr>
              <a:t>US$ Mn of incremental value at</a:t>
            </a:r>
          </a:p>
        </p:txBody>
      </p:sp>
      <p:pic>
        <p:nvPicPr>
          <p:cNvPr id="79" name="Picture 78" descr="lock.png"/>
          <p:cNvPicPr>
            <a:picLocks noChangeAspect="1"/>
          </p:cNvPicPr>
          <p:nvPr/>
        </p:nvPicPr>
        <p:blipFill>
          <a:blip r:embed="rId4"/>
          <a:stretch>
            <a:fillRect/>
          </a:stretch>
        </p:blipFill>
        <p:spPr>
          <a:xfrm>
            <a:off x="8430610" y="5893213"/>
            <a:ext cx="123551" cy="179710"/>
          </a:xfrm>
          <a:prstGeom prst="rect">
            <a:avLst/>
          </a:prstGeom>
        </p:spPr>
      </p:pic>
      <p:sp>
        <p:nvSpPr>
          <p:cNvPr id="80" name="TextBox 79"/>
          <p:cNvSpPr txBox="1"/>
          <p:nvPr/>
        </p:nvSpPr>
        <p:spPr>
          <a:xfrm>
            <a:off x="8591406" y="5902601"/>
            <a:ext cx="1678717" cy="179984"/>
          </a:xfrm>
          <a:prstGeom prst="rect">
            <a:avLst/>
          </a:prstGeom>
          <a:noFill/>
        </p:spPr>
        <p:txBody>
          <a:bodyPr wrap="none" lIns="0" rIns="0" tIns="0" bIns="0">
            <a:spAutoFit/>
          </a:bodyPr>
          <a:lstStyle/>
          <a:p>
            <a:r>
              <a:rPr sz="1055" b="0">
                <a:solidFill>
                  <a:srgbClr val="2E2E2E"/>
                </a:solidFill>
                <a:latin typeface="Calibri"/>
              </a:rPr>
              <a:t>CAGR. Volume compounds at</a:t>
            </a:r>
          </a:p>
        </p:txBody>
      </p:sp>
      <p:pic>
        <p:nvPicPr>
          <p:cNvPr id="81" name="Picture 80" descr="lock.png"/>
          <p:cNvPicPr>
            <a:picLocks noChangeAspect="1"/>
          </p:cNvPicPr>
          <p:nvPr/>
        </p:nvPicPr>
        <p:blipFill>
          <a:blip r:embed="rId4"/>
          <a:stretch>
            <a:fillRect/>
          </a:stretch>
        </p:blipFill>
        <p:spPr>
          <a:xfrm>
            <a:off x="10217204" y="5893213"/>
            <a:ext cx="123551" cy="179710"/>
          </a:xfrm>
          <a:prstGeom prst="rect">
            <a:avLst/>
          </a:prstGeom>
        </p:spPr>
      </p:pic>
      <p:sp>
        <p:nvSpPr>
          <p:cNvPr id="82" name="TextBox 81"/>
          <p:cNvSpPr txBox="1"/>
          <p:nvPr/>
        </p:nvSpPr>
        <p:spPr>
          <a:xfrm>
            <a:off x="10378000" y="5902601"/>
            <a:ext cx="854678" cy="179984"/>
          </a:xfrm>
          <a:prstGeom prst="rect">
            <a:avLst/>
          </a:prstGeom>
          <a:noFill/>
        </p:spPr>
        <p:txBody>
          <a:bodyPr wrap="none" lIns="0" rIns="0" tIns="0" bIns="0">
            <a:spAutoFit/>
          </a:bodyPr>
          <a:lstStyle/>
          <a:p>
            <a:r>
              <a:rPr sz="1055" b="0">
                <a:solidFill>
                  <a:srgbClr val="2E2E2E"/>
                </a:solidFill>
                <a:latin typeface="Calibri"/>
              </a:rPr>
              <a:t>over the same</a:t>
            </a:r>
          </a:p>
        </p:txBody>
      </p:sp>
      <p:sp>
        <p:nvSpPr>
          <p:cNvPr id="83" name="TextBox 82"/>
          <p:cNvSpPr txBox="1"/>
          <p:nvPr/>
        </p:nvSpPr>
        <p:spPr>
          <a:xfrm>
            <a:off x="1743075" y="6063535"/>
            <a:ext cx="1565052" cy="179984"/>
          </a:xfrm>
          <a:prstGeom prst="rect">
            <a:avLst/>
          </a:prstGeom>
          <a:noFill/>
        </p:spPr>
        <p:txBody>
          <a:bodyPr wrap="none" lIns="0" rIns="0" tIns="0" bIns="0">
            <a:spAutoFit/>
          </a:bodyPr>
          <a:lstStyle/>
          <a:p>
            <a:r>
              <a:rPr sz="1055" b="0">
                <a:solidFill>
                  <a:srgbClr val="2E2E2E"/>
                </a:solidFill>
                <a:latin typeface="Calibri"/>
              </a:rPr>
              <a:t>window, leaving realisation</a:t>
            </a:r>
          </a:p>
        </p:txBody>
      </p:sp>
      <p:pic>
        <p:nvPicPr>
          <p:cNvPr id="84" name="Picture 83" descr="lock.png"/>
          <p:cNvPicPr>
            <a:picLocks noChangeAspect="1"/>
          </p:cNvPicPr>
          <p:nvPr/>
        </p:nvPicPr>
        <p:blipFill>
          <a:blip r:embed="rId4"/>
          <a:stretch>
            <a:fillRect/>
          </a:stretch>
        </p:blipFill>
        <p:spPr>
          <a:xfrm>
            <a:off x="3255209" y="6054147"/>
            <a:ext cx="123551" cy="179710"/>
          </a:xfrm>
          <a:prstGeom prst="rect">
            <a:avLst/>
          </a:prstGeom>
        </p:spPr>
      </p:pic>
      <p:sp>
        <p:nvSpPr>
          <p:cNvPr id="85" name="TextBox 84"/>
          <p:cNvSpPr txBox="1"/>
          <p:nvPr/>
        </p:nvSpPr>
        <p:spPr>
          <a:xfrm>
            <a:off x="3416005" y="6063535"/>
            <a:ext cx="4255412" cy="179984"/>
          </a:xfrm>
          <a:prstGeom prst="rect">
            <a:avLst/>
          </a:prstGeom>
          <a:noFill/>
        </p:spPr>
        <p:txBody>
          <a:bodyPr wrap="none" lIns="0" rIns="0" tIns="0" bIns="0">
            <a:spAutoFit/>
          </a:bodyPr>
          <a:lstStyle/>
          <a:p>
            <a:r>
              <a:rPr sz="1055" b="0">
                <a:solidFill>
                  <a:srgbClr val="2E2E2E"/>
                </a:solidFill>
                <a:latin typeface="Calibri"/>
              </a:rPr>
              <a:t>a year the gap between the two is the premiumisation the forecast assumes.</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Porter's Five Forces Analysis Global Ear Wax Removal Products Market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supplier power, buyer power, competition, substitutes and entry barriers shaping the market's profitability</a:t>
            </a:r>
          </a:p>
        </p:txBody>
      </p:sp>
      <p:sp>
        <p:nvSpPr>
          <p:cNvPr id="10" name="TextBox 9"/>
          <p:cNvSpPr txBox="1"/>
          <p:nvPr/>
        </p:nvSpPr>
        <p:spPr>
          <a:xfrm>
            <a:off x="142875" y="989007"/>
            <a:ext cx="11906250" cy="328567"/>
          </a:xfrm>
          <a:prstGeom prst="rect">
            <a:avLst/>
          </a:prstGeom>
          <a:noFill/>
        </p:spPr>
        <p:txBody>
          <a:bodyPr wrap="square" lIns="28575" rIns="28575" tIns="9525" bIns="9525" anchor="ctr">
            <a:spAutoFit/>
          </a:bodyPr>
          <a:lstStyle/>
          <a:p>
            <a:pPr algn="l">
              <a:lnSpc>
                <a:spcPct val="115000"/>
              </a:lnSpc>
            </a:pPr>
            <a:r>
              <a:rPr sz="1100" b="0">
                <a:solidFill>
                  <a:srgbClr val="6C7A89"/>
                </a:solidFill>
                <a:latin typeface="Calibri"/>
              </a:rPr>
              <a:t/>
            </a:r>
          </a:p>
        </p:txBody>
      </p:sp>
      <p:sp>
        <p:nvSpPr>
          <p:cNvPr id="11" name="Oval 10"/>
          <p:cNvSpPr/>
          <p:nvPr/>
        </p:nvSpPr>
        <p:spPr>
          <a:xfrm>
            <a:off x="876300" y="1427096"/>
            <a:ext cx="914400" cy="876177"/>
          </a:xfrm>
          <a:prstGeom prst="ellipse">
            <a:avLst/>
          </a:prstGeom>
          <a:solidFill>
            <a:srgbClr val="F2D24B"/>
          </a:solidFill>
          <a:ln w="12700">
            <a:solidFill>
              <a:srgbClr val="F2D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7750" y="1664394"/>
            <a:ext cx="571500" cy="401581"/>
          </a:xfrm>
          <a:prstGeom prst="rect">
            <a:avLst/>
          </a:prstGeom>
          <a:noFill/>
        </p:spPr>
        <p:txBody>
          <a:bodyPr wrap="none" lIns="0" rIns="0" tIns="0" bIns="0" anchor="ctr">
            <a:spAutoFit/>
          </a:bodyPr>
          <a:lstStyle/>
          <a:p>
            <a:pPr algn="ctr"/>
            <a:r>
              <a:rPr sz="3400" b="1">
                <a:solidFill>
                  <a:srgbClr val="8A6A00"/>
                </a:solidFill>
                <a:latin typeface="Calibri"/>
              </a:rPr>
              <a:t>$</a:t>
            </a:r>
          </a:p>
        </p:txBody>
      </p:sp>
      <p:sp>
        <p:nvSpPr>
          <p:cNvPr id="13" name="TextBox 12"/>
          <p:cNvSpPr txBox="1"/>
          <p:nvPr/>
        </p:nvSpPr>
        <p:spPr>
          <a:xfrm>
            <a:off x="219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Suppliers</a:t>
            </a:r>
          </a:p>
        </p:txBody>
      </p:sp>
      <p:sp>
        <p:nvSpPr>
          <p:cNvPr id="14" name="TextBox 13"/>
          <p:cNvSpPr txBox="1"/>
          <p:nvPr/>
        </p:nvSpPr>
        <p:spPr>
          <a:xfrm>
            <a:off x="247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247650" y="3663174"/>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6" name="TextBox 15"/>
          <p:cNvSpPr txBox="1"/>
          <p:nvPr/>
        </p:nvSpPr>
        <p:spPr>
          <a:xfrm>
            <a:off x="247650" y="4530225"/>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Buyers can rebalance across 7 product type lines, which caps supplier leverage in commodity grades.</a:t>
            </a:r>
          </a:p>
        </p:txBody>
      </p:sp>
      <p:sp>
        <p:nvSpPr>
          <p:cNvPr id="17" name="Oval 16"/>
          <p:cNvSpPr/>
          <p:nvPr/>
        </p:nvSpPr>
        <p:spPr>
          <a:xfrm>
            <a:off x="3257550" y="1427096"/>
            <a:ext cx="914400" cy="876177"/>
          </a:xfrm>
          <a:prstGeom prst="ellipse">
            <a:avLst/>
          </a:prstGeom>
          <a:solidFill>
            <a:srgbClr val="D9D9D9"/>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3476625" y="1710028"/>
            <a:ext cx="152400" cy="209918"/>
          </a:xfrm>
          <a:custGeom>
            <a:avLst/>
            <a:gdLst/>
            <a:ahLst/>
            <a:cxnLst/>
            <a:rect l="l" t="t" r="r" b="b"/>
            <a:pathLst>
              <a:path w="16" h="23">
                <a:moveTo>
                  <a:pt x="0" y="0"/>
                </a:moveTo>
                <a:lnTo>
                  <a:pt x="8" y="0"/>
                </a:lnTo>
                <a:lnTo>
                  <a:pt x="16" y="23"/>
                </a:lnTo>
              </a:path>
            </a:pathLst>
          </a:custGeom>
          <a:noFill/>
          <a:ln w="4318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3609975" y="1783043"/>
            <a:ext cx="342900" cy="155156"/>
          </a:xfrm>
          <a:custGeom>
            <a:avLst/>
            <a:gdLst/>
            <a:ahLst/>
            <a:cxnLst/>
            <a:rect l="l" t="t" r="r" b="b"/>
            <a:pathLst>
              <a:path w="36" h="17">
                <a:moveTo>
                  <a:pt x="0" y="0"/>
                </a:moveTo>
                <a:lnTo>
                  <a:pt x="36" y="0"/>
                </a:lnTo>
                <a:lnTo>
                  <a:pt x="31" y="17"/>
                </a:lnTo>
                <a:lnTo>
                  <a:pt x="5" y="17"/>
                </a:lnTo>
                <a:close/>
              </a:path>
            </a:pathLst>
          </a:cu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48075"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829050"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003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Buyers</a:t>
            </a:r>
          </a:p>
        </p:txBody>
      </p:sp>
      <p:sp>
        <p:nvSpPr>
          <p:cNvPr id="23" name="TextBox 22"/>
          <p:cNvSpPr txBox="1"/>
          <p:nvPr/>
        </p:nvSpPr>
        <p:spPr>
          <a:xfrm>
            <a:off x="262890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4" name="TextBox 23"/>
          <p:cNvSpPr txBox="1"/>
          <p:nvPr/>
        </p:nvSpPr>
        <p:spPr>
          <a:xfrm>
            <a:off x="2628900" y="3663174"/>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5" name="TextBox 24"/>
          <p:cNvSpPr txBox="1"/>
          <p:nvPr/>
        </p:nvSpPr>
        <p:spPr>
          <a:xfrm>
            <a:off x="2628900" y="4347688"/>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Switching is easiest where 7 comparable product type lines compete for the same demand.</a:t>
            </a:r>
          </a:p>
        </p:txBody>
      </p:sp>
      <p:sp>
        <p:nvSpPr>
          <p:cNvPr id="26" name="Oval 25"/>
          <p:cNvSpPr/>
          <p:nvPr/>
        </p:nvSpPr>
        <p:spPr>
          <a:xfrm>
            <a:off x="5638800" y="1427096"/>
            <a:ext cx="914400" cy="876177"/>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876925" y="1655267"/>
            <a:ext cx="438150" cy="419835"/>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943600" y="1719155"/>
            <a:ext cx="304800" cy="292059"/>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010275" y="1783043"/>
            <a:ext cx="171450" cy="164283"/>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062662" y="1833240"/>
            <a:ext cx="66675" cy="63888"/>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6134100" y="1627887"/>
            <a:ext cx="209550" cy="200791"/>
          </a:xfrm>
          <a:custGeom>
            <a:avLst/>
            <a:gdLst/>
            <a:ahLst/>
            <a:cxnLst/>
            <a:rect l="l" t="t" r="r" b="b"/>
            <a:pathLst>
              <a:path w="22" h="22">
                <a:moveTo>
                  <a:pt x="0" y="22"/>
                </a:moveTo>
                <a:lnTo>
                  <a:pt x="22" y="0"/>
                </a:lnTo>
              </a:path>
            </a:pathLst>
          </a:custGeom>
          <a:noFill/>
          <a:ln w="381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6267450" y="1591379"/>
            <a:ext cx="114300" cy="109522"/>
          </a:xfrm>
          <a:custGeom>
            <a:avLst/>
            <a:gdLst/>
            <a:ahLst/>
            <a:cxnLst/>
            <a:rect l="l" t="t" r="r" b="b"/>
            <a:pathLst>
              <a:path w="12" h="12">
                <a:moveTo>
                  <a:pt x="0" y="0"/>
                </a:moveTo>
                <a:lnTo>
                  <a:pt x="12" y="0"/>
                </a:lnTo>
                <a:lnTo>
                  <a:pt x="12" y="12"/>
                </a:lnTo>
                <a:close/>
              </a:path>
            </a:pathLst>
          </a:cu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815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Intensity of Competition</a:t>
            </a:r>
          </a:p>
        </p:txBody>
      </p:sp>
      <p:sp>
        <p:nvSpPr>
          <p:cNvPr id="34" name="TextBox 33"/>
          <p:cNvSpPr txBox="1"/>
          <p:nvPr/>
        </p:nvSpPr>
        <p:spPr>
          <a:xfrm>
            <a:off x="5010150" y="2796123"/>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5" name="TextBox 34"/>
          <p:cNvSpPr txBox="1"/>
          <p:nvPr/>
        </p:nvSpPr>
        <p:spPr>
          <a:xfrm>
            <a:off x="5010150" y="3480637"/>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6" name="TextBox 35"/>
          <p:cNvSpPr txBox="1"/>
          <p:nvPr/>
        </p:nvSpPr>
        <p:spPr>
          <a:xfrm>
            <a:off x="5010150" y="4165151"/>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7" name="Oval 36"/>
          <p:cNvSpPr/>
          <p:nvPr/>
        </p:nvSpPr>
        <p:spPr>
          <a:xfrm>
            <a:off x="8020050" y="1427096"/>
            <a:ext cx="914400" cy="876177"/>
          </a:xfrm>
          <a:prstGeom prst="ellipse">
            <a:avLst/>
          </a:prstGeom>
          <a:solidFill>
            <a:srgbClr val="C9C0E0"/>
          </a:solidFill>
          <a:ln w="12700">
            <a:solidFill>
              <a:srgbClr val="C9C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382000" y="1637014"/>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2486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5153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628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Substitutes</a:t>
            </a:r>
          </a:p>
        </p:txBody>
      </p:sp>
      <p:sp>
        <p:nvSpPr>
          <p:cNvPr id="42" name="TextBox 41"/>
          <p:cNvSpPr txBox="1"/>
          <p:nvPr/>
        </p:nvSpPr>
        <p:spPr>
          <a:xfrm>
            <a:off x="7391400" y="2796123"/>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3" name="TextBox 42"/>
          <p:cNvSpPr txBox="1"/>
          <p:nvPr/>
        </p:nvSpPr>
        <p:spPr>
          <a:xfrm>
            <a:off x="7391400" y="3854838"/>
            <a:ext cx="21717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4" name="TextBox 43"/>
          <p:cNvSpPr txBox="1"/>
          <p:nvPr/>
        </p:nvSpPr>
        <p:spPr>
          <a:xfrm>
            <a:off x="7391400" y="4347688"/>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5" name="Oval 44"/>
          <p:cNvSpPr/>
          <p:nvPr/>
        </p:nvSpPr>
        <p:spPr>
          <a:xfrm>
            <a:off x="10401300" y="1427096"/>
            <a:ext cx="914400" cy="876177"/>
          </a:xfrm>
          <a:prstGeom prst="ellipse">
            <a:avLst/>
          </a:prstGeom>
          <a:solidFill>
            <a:srgbClr val="BFDCEA"/>
          </a:solidFill>
          <a:ln w="12700">
            <a:solidFill>
              <a:srgbClr val="BFDC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610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10563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991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10944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782300" y="1609633"/>
            <a:ext cx="152400" cy="14603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0715625" y="1783043"/>
            <a:ext cx="285750" cy="255552"/>
          </a:xfrm>
          <a:custGeom>
            <a:avLst/>
            <a:gdLst/>
            <a:ahLst/>
            <a:cxnLst/>
            <a:rect l="l" t="t" r="r" b="b"/>
            <a:pathLst>
              <a:path w="30" h="28">
                <a:moveTo>
                  <a:pt x="0" y="28"/>
                </a:moveTo>
                <a:lnTo>
                  <a:pt x="4" y="0"/>
                </a:lnTo>
                <a:lnTo>
                  <a:pt x="26" y="0"/>
                </a:lnTo>
                <a:lnTo>
                  <a:pt x="30" y="28"/>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44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New Entrants</a:t>
            </a:r>
          </a:p>
        </p:txBody>
      </p:sp>
      <p:sp>
        <p:nvSpPr>
          <p:cNvPr id="53" name="TextBox 52"/>
          <p:cNvSpPr txBox="1"/>
          <p:nvPr/>
        </p:nvSpPr>
        <p:spPr>
          <a:xfrm>
            <a:off x="9772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4" name="TextBox 53"/>
          <p:cNvSpPr txBox="1"/>
          <p:nvPr/>
        </p:nvSpPr>
        <p:spPr>
          <a:xfrm>
            <a:off x="9772650" y="3663174"/>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5" name="TextBox 54"/>
          <p:cNvSpPr txBox="1"/>
          <p:nvPr/>
        </p:nvSpPr>
        <p:spPr>
          <a:xfrm>
            <a:off x="9772650" y="4347688"/>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6" name="TextBox 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7" name="TextBox 56"/>
          <p:cNvSpPr txBox="1"/>
          <p:nvPr/>
        </p:nvSpPr>
        <p:spPr>
          <a:xfrm>
            <a:off x="171450" y="1069470"/>
            <a:ext cx="9743330" cy="186689"/>
          </a:xfrm>
          <a:prstGeom prst="rect">
            <a:avLst/>
          </a:prstGeom>
          <a:noFill/>
        </p:spPr>
        <p:txBody>
          <a:bodyPr wrap="none" lIns="0" rIns="0" tIns="0" bIns="0">
            <a:spAutoFit/>
          </a:bodyPr>
          <a:lstStyle/>
          <a:p>
            <a:r>
              <a:rPr sz="1100" b="0">
                <a:solidFill>
                  <a:srgbClr val="6C7A89"/>
                </a:solidFill>
                <a:latin typeface="Calibri"/>
              </a:rPr>
              <a:t>Supplier power, buyer power, competitive intensity, substitution and entry barriers scored from the global dataset 7 product type lines, 9 end user routes and 6 regions at</a:t>
            </a:r>
          </a:p>
        </p:txBody>
      </p:sp>
      <p:pic>
        <p:nvPicPr>
          <p:cNvPr id="58" name="Picture 57" descr="lock.png"/>
          <p:cNvPicPr>
            <a:picLocks noChangeAspect="1"/>
          </p:cNvPicPr>
          <p:nvPr/>
        </p:nvPicPr>
        <p:blipFill>
          <a:blip r:embed="rId4"/>
          <a:stretch>
            <a:fillRect/>
          </a:stretch>
        </p:blipFill>
        <p:spPr>
          <a:xfrm>
            <a:off x="9862832" y="1059691"/>
            <a:ext cx="128699" cy="187198"/>
          </a:xfrm>
          <a:prstGeom prst="rect">
            <a:avLst/>
          </a:prstGeom>
        </p:spPr>
      </p:pic>
      <p:sp>
        <p:nvSpPr>
          <p:cNvPr id="59" name="TextBox 58"/>
          <p:cNvSpPr txBox="1"/>
          <p:nvPr/>
        </p:nvSpPr>
        <p:spPr>
          <a:xfrm>
            <a:off x="10030328" y="1069470"/>
            <a:ext cx="430617" cy="186689"/>
          </a:xfrm>
          <a:prstGeom prst="rect">
            <a:avLst/>
          </a:prstGeom>
          <a:noFill/>
        </p:spPr>
        <p:txBody>
          <a:bodyPr wrap="none" lIns="0" rIns="0" tIns="0" bIns="0">
            <a:spAutoFit/>
          </a:bodyPr>
          <a:lstStyle/>
          <a:p>
            <a:r>
              <a:rPr sz="1100" b="0">
                <a:solidFill>
                  <a:srgbClr val="6C7A89"/>
                </a:solidFill>
                <a:latin typeface="Calibri"/>
              </a:rPr>
              <a:t>CAGR.</a:t>
            </a:r>
          </a:p>
        </p:txBody>
      </p:sp>
      <p:sp>
        <p:nvSpPr>
          <p:cNvPr id="60" name="TextBox 59"/>
          <p:cNvSpPr txBox="1"/>
          <p:nvPr/>
        </p:nvSpPr>
        <p:spPr>
          <a:xfrm>
            <a:off x="276225" y="2848734"/>
            <a:ext cx="2114550" cy="186689"/>
          </a:xfrm>
          <a:prstGeom prst="rect">
            <a:avLst/>
          </a:prstGeom>
          <a:noFill/>
        </p:spPr>
        <p:txBody>
          <a:bodyPr wrap="none" lIns="0" rIns="0" tIns="0" bIns="0">
            <a:spAutoFit/>
          </a:bodyPr>
          <a:lstStyle/>
          <a:p>
            <a:r>
              <a:rPr sz="1100" b="0">
                <a:solidFill>
                  <a:srgbClr val="2E2E2E"/>
                </a:solidFill>
                <a:latin typeface="Calibri"/>
              </a:rPr>
              <a:t>▸ Assessed moderate to high. 'North</a:t>
            </a:r>
          </a:p>
        </p:txBody>
      </p:sp>
      <p:sp>
        <p:nvSpPr>
          <p:cNvPr id="61" name="TextBox 60"/>
          <p:cNvSpPr txBox="1"/>
          <p:nvPr/>
        </p:nvSpPr>
        <p:spPr>
          <a:xfrm>
            <a:off x="276225" y="3016374"/>
            <a:ext cx="1071016" cy="186689"/>
          </a:xfrm>
          <a:prstGeom prst="rect">
            <a:avLst/>
          </a:prstGeom>
          <a:noFill/>
        </p:spPr>
        <p:txBody>
          <a:bodyPr wrap="none" lIns="0" rIns="0" tIns="0" bIns="0">
            <a:spAutoFit/>
          </a:bodyPr>
          <a:lstStyle/>
          <a:p>
            <a:r>
              <a:rPr sz="1100" b="0">
                <a:solidFill>
                  <a:srgbClr val="2E2E2E"/>
                </a:solidFill>
                <a:latin typeface="Calibri"/>
              </a:rPr>
              <a:t>America' supplies</a:t>
            </a:r>
          </a:p>
        </p:txBody>
      </p:sp>
      <p:pic>
        <p:nvPicPr>
          <p:cNvPr id="62" name="Picture 61" descr="lock.png"/>
          <p:cNvPicPr>
            <a:picLocks noChangeAspect="1"/>
          </p:cNvPicPr>
          <p:nvPr/>
        </p:nvPicPr>
        <p:blipFill>
          <a:blip r:embed="rId4"/>
          <a:stretch>
            <a:fillRect/>
          </a:stretch>
        </p:blipFill>
        <p:spPr>
          <a:xfrm>
            <a:off x="1295293" y="3006595"/>
            <a:ext cx="128699" cy="187198"/>
          </a:xfrm>
          <a:prstGeom prst="rect">
            <a:avLst/>
          </a:prstGeom>
        </p:spPr>
      </p:pic>
      <p:sp>
        <p:nvSpPr>
          <p:cNvPr id="63" name="TextBox 62"/>
          <p:cNvSpPr txBox="1"/>
          <p:nvPr/>
        </p:nvSpPr>
        <p:spPr>
          <a:xfrm>
            <a:off x="1462789" y="3016374"/>
            <a:ext cx="844549"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64" name="TextBox 63"/>
          <p:cNvSpPr txBox="1"/>
          <p:nvPr/>
        </p:nvSpPr>
        <p:spPr>
          <a:xfrm>
            <a:off x="276225" y="3184014"/>
            <a:ext cx="1842095" cy="186689"/>
          </a:xfrm>
          <a:prstGeom prst="rect">
            <a:avLst/>
          </a:prstGeom>
          <a:noFill/>
        </p:spPr>
        <p:txBody>
          <a:bodyPr wrap="none" lIns="0" rIns="0" tIns="0" bIns="0">
            <a:spAutoFit/>
          </a:bodyPr>
          <a:lstStyle/>
          <a:p>
            <a:r>
              <a:rPr sz="1100" b="0">
                <a:solidFill>
                  <a:srgbClr val="2E2E2E"/>
                </a:solidFill>
                <a:latin typeface="Calibri"/>
              </a:rPr>
              <a:t>across 6 regions, concentrating</a:t>
            </a:r>
          </a:p>
        </p:txBody>
      </p:sp>
      <p:sp>
        <p:nvSpPr>
          <p:cNvPr id="65" name="TextBox 64"/>
          <p:cNvSpPr txBox="1"/>
          <p:nvPr/>
        </p:nvSpPr>
        <p:spPr>
          <a:xfrm>
            <a:off x="276225" y="3351654"/>
            <a:ext cx="1173608" cy="186689"/>
          </a:xfrm>
          <a:prstGeom prst="rect">
            <a:avLst/>
          </a:prstGeom>
          <a:noFill/>
        </p:spPr>
        <p:txBody>
          <a:bodyPr wrap="none" lIns="0" rIns="0" tIns="0" bIns="0">
            <a:spAutoFit/>
          </a:bodyPr>
          <a:lstStyle/>
          <a:p>
            <a:r>
              <a:rPr sz="1100" b="0">
                <a:solidFill>
                  <a:srgbClr val="2E2E2E"/>
                </a:solidFill>
                <a:latin typeface="Calibri"/>
              </a:rPr>
              <a:t>upstream leverage.</a:t>
            </a:r>
          </a:p>
        </p:txBody>
      </p:sp>
      <p:sp>
        <p:nvSpPr>
          <p:cNvPr id="66" name="TextBox 65"/>
          <p:cNvSpPr txBox="1"/>
          <p:nvPr/>
        </p:nvSpPr>
        <p:spPr>
          <a:xfrm>
            <a:off x="276225" y="3799605"/>
            <a:ext cx="1676163" cy="186689"/>
          </a:xfrm>
          <a:prstGeom prst="rect">
            <a:avLst/>
          </a:prstGeom>
          <a:noFill/>
        </p:spPr>
        <p:txBody>
          <a:bodyPr wrap="none" lIns="0" rIns="0" tIns="0" bIns="0">
            <a:spAutoFit/>
          </a:bodyPr>
          <a:lstStyle/>
          <a:p>
            <a:r>
              <a:rPr sz="1100" b="0">
                <a:solidFill>
                  <a:srgbClr val="2E2E2E"/>
                </a:solidFill>
                <a:latin typeface="Calibri"/>
              </a:rPr>
              <a:t>▸ Average realisation moves</a:t>
            </a:r>
          </a:p>
        </p:txBody>
      </p:sp>
      <p:pic>
        <p:nvPicPr>
          <p:cNvPr id="67" name="Picture 66" descr="lock.png"/>
          <p:cNvPicPr>
            <a:picLocks noChangeAspect="1"/>
          </p:cNvPicPr>
          <p:nvPr/>
        </p:nvPicPr>
        <p:blipFill>
          <a:blip r:embed="rId4"/>
          <a:stretch>
            <a:fillRect/>
          </a:stretch>
        </p:blipFill>
        <p:spPr>
          <a:xfrm>
            <a:off x="1900439" y="3789826"/>
            <a:ext cx="128699" cy="187198"/>
          </a:xfrm>
          <a:prstGeom prst="rect">
            <a:avLst/>
          </a:prstGeom>
        </p:spPr>
      </p:pic>
      <p:sp>
        <p:nvSpPr>
          <p:cNvPr id="68" name="TextBox 67"/>
          <p:cNvSpPr txBox="1"/>
          <p:nvPr/>
        </p:nvSpPr>
        <p:spPr>
          <a:xfrm>
            <a:off x="2067935" y="3799605"/>
            <a:ext cx="143048" cy="186689"/>
          </a:xfrm>
          <a:prstGeom prst="rect">
            <a:avLst/>
          </a:prstGeom>
          <a:noFill/>
        </p:spPr>
        <p:txBody>
          <a:bodyPr wrap="none" lIns="0" rIns="0" tIns="0" bIns="0">
            <a:spAutoFit/>
          </a:bodyPr>
          <a:lstStyle/>
          <a:p>
            <a:r>
              <a:rPr sz="1100" b="0">
                <a:solidFill>
                  <a:srgbClr val="2E2E2E"/>
                </a:solidFill>
                <a:latin typeface="Calibri"/>
              </a:rPr>
              <a:t>a</a:t>
            </a:r>
          </a:p>
        </p:txBody>
      </p:sp>
      <p:sp>
        <p:nvSpPr>
          <p:cNvPr id="69" name="TextBox 68"/>
          <p:cNvSpPr txBox="1"/>
          <p:nvPr/>
        </p:nvSpPr>
        <p:spPr>
          <a:xfrm>
            <a:off x="276225" y="3967245"/>
            <a:ext cx="2031181" cy="186689"/>
          </a:xfrm>
          <a:prstGeom prst="rect">
            <a:avLst/>
          </a:prstGeom>
          <a:noFill/>
        </p:spPr>
        <p:txBody>
          <a:bodyPr wrap="none" lIns="0" rIns="0" tIns="0" bIns="0">
            <a:spAutoFit/>
          </a:bodyPr>
          <a:lstStyle/>
          <a:p>
            <a:r>
              <a:rPr sz="1100" b="0">
                <a:solidFill>
                  <a:srgbClr val="2E2E2E"/>
                </a:solidFill>
                <a:latin typeface="Calibri"/>
              </a:rPr>
              <a:t>year (2026–2036), indicating input</a:t>
            </a:r>
          </a:p>
        </p:txBody>
      </p:sp>
      <p:sp>
        <p:nvSpPr>
          <p:cNvPr id="70" name="TextBox 69"/>
          <p:cNvSpPr txBox="1"/>
          <p:nvPr/>
        </p:nvSpPr>
        <p:spPr>
          <a:xfrm>
            <a:off x="276225" y="4134885"/>
            <a:ext cx="1874291" cy="186689"/>
          </a:xfrm>
          <a:prstGeom prst="rect">
            <a:avLst/>
          </a:prstGeom>
          <a:noFill/>
        </p:spPr>
        <p:txBody>
          <a:bodyPr wrap="none" lIns="0" rIns="0" tIns="0" bIns="0">
            <a:spAutoFit/>
          </a:bodyPr>
          <a:lstStyle/>
          <a:p>
            <a:r>
              <a:rPr sz="1100" b="0">
                <a:solidFill>
                  <a:srgbClr val="2E2E2E"/>
                </a:solidFill>
                <a:latin typeface="Calibri"/>
              </a:rPr>
              <a:t>costs are being passed through.</a:t>
            </a:r>
          </a:p>
        </p:txBody>
      </p:sp>
      <p:sp>
        <p:nvSpPr>
          <p:cNvPr id="71" name="TextBox 70"/>
          <p:cNvSpPr txBox="1"/>
          <p:nvPr/>
        </p:nvSpPr>
        <p:spPr>
          <a:xfrm>
            <a:off x="2657475" y="2848734"/>
            <a:ext cx="1913036" cy="186689"/>
          </a:xfrm>
          <a:prstGeom prst="rect">
            <a:avLst/>
          </a:prstGeom>
          <a:noFill/>
        </p:spPr>
        <p:txBody>
          <a:bodyPr wrap="none" lIns="0" rIns="0" tIns="0" bIns="0">
            <a:spAutoFit/>
          </a:bodyPr>
          <a:lstStyle/>
          <a:p>
            <a:r>
              <a:rPr sz="1100" b="0">
                <a:solidFill>
                  <a:srgbClr val="2E2E2E"/>
                </a:solidFill>
                <a:latin typeface="Calibri"/>
              </a:rPr>
              <a:t>▸ Assessed high. Demand routes</a:t>
            </a:r>
          </a:p>
        </p:txBody>
      </p:sp>
      <p:sp>
        <p:nvSpPr>
          <p:cNvPr id="72" name="TextBox 71"/>
          <p:cNvSpPr txBox="1"/>
          <p:nvPr/>
        </p:nvSpPr>
        <p:spPr>
          <a:xfrm>
            <a:off x="2657475" y="3016374"/>
            <a:ext cx="2069653" cy="186689"/>
          </a:xfrm>
          <a:prstGeom prst="rect">
            <a:avLst/>
          </a:prstGeom>
          <a:noFill/>
        </p:spPr>
        <p:txBody>
          <a:bodyPr wrap="none" lIns="0" rIns="0" tIns="0" bIns="0">
            <a:spAutoFit/>
          </a:bodyPr>
          <a:lstStyle/>
          <a:p>
            <a:r>
              <a:rPr sz="1100" b="0">
                <a:solidFill>
                  <a:srgbClr val="2E2E2E"/>
                </a:solidFill>
                <a:latin typeface="Calibri"/>
              </a:rPr>
              <a:t>through 9 end user channels led by</a:t>
            </a:r>
          </a:p>
        </p:txBody>
      </p:sp>
      <p:sp>
        <p:nvSpPr>
          <p:cNvPr id="73" name="TextBox 72"/>
          <p:cNvSpPr txBox="1"/>
          <p:nvPr/>
        </p:nvSpPr>
        <p:spPr>
          <a:xfrm>
            <a:off x="2657475" y="3184014"/>
            <a:ext cx="669106" cy="186689"/>
          </a:xfrm>
          <a:prstGeom prst="rect">
            <a:avLst/>
          </a:prstGeom>
          <a:noFill/>
        </p:spPr>
        <p:txBody>
          <a:bodyPr wrap="none" lIns="0" rIns="0" tIns="0" bIns="0">
            <a:spAutoFit/>
          </a:bodyPr>
          <a:lstStyle/>
          <a:p>
            <a:r>
              <a:rPr sz="1100" b="0">
                <a:solidFill>
                  <a:srgbClr val="2E2E2E"/>
                </a:solidFill>
                <a:latin typeface="Calibri"/>
              </a:rPr>
              <a:t>'Others' at</a:t>
            </a:r>
          </a:p>
        </p:txBody>
      </p:sp>
      <p:pic>
        <p:nvPicPr>
          <p:cNvPr id="74" name="Picture 73" descr="lock.png"/>
          <p:cNvPicPr>
            <a:picLocks noChangeAspect="1"/>
          </p:cNvPicPr>
          <p:nvPr/>
        </p:nvPicPr>
        <p:blipFill>
          <a:blip r:embed="rId4"/>
          <a:stretch>
            <a:fillRect/>
          </a:stretch>
        </p:blipFill>
        <p:spPr>
          <a:xfrm>
            <a:off x="3274633" y="3174235"/>
            <a:ext cx="128699" cy="187198"/>
          </a:xfrm>
          <a:prstGeom prst="rect">
            <a:avLst/>
          </a:prstGeom>
        </p:spPr>
      </p:pic>
      <p:sp>
        <p:nvSpPr>
          <p:cNvPr id="75" name="TextBox 74"/>
          <p:cNvSpPr txBox="1"/>
          <p:nvPr/>
        </p:nvSpPr>
        <p:spPr>
          <a:xfrm>
            <a:off x="3442128" y="3184014"/>
            <a:ext cx="1204714" cy="186689"/>
          </a:xfrm>
          <a:prstGeom prst="rect">
            <a:avLst/>
          </a:prstGeom>
          <a:noFill/>
        </p:spPr>
        <p:txBody>
          <a:bodyPr wrap="none" lIns="0" rIns="0" tIns="0" bIns="0">
            <a:spAutoFit/>
          </a:bodyPr>
          <a:lstStyle/>
          <a:p>
            <a:r>
              <a:rPr sz="1100" b="0">
                <a:solidFill>
                  <a:srgbClr val="2E2E2E"/>
                </a:solidFill>
                <a:latin typeface="Calibri"/>
              </a:rPr>
              <a:t>, giving large buyers</a:t>
            </a:r>
          </a:p>
        </p:txBody>
      </p:sp>
      <p:sp>
        <p:nvSpPr>
          <p:cNvPr id="76" name="TextBox 75"/>
          <p:cNvSpPr txBox="1"/>
          <p:nvPr/>
        </p:nvSpPr>
        <p:spPr>
          <a:xfrm>
            <a:off x="2657475" y="3351654"/>
            <a:ext cx="393799" cy="186689"/>
          </a:xfrm>
          <a:prstGeom prst="rect">
            <a:avLst/>
          </a:prstGeom>
          <a:noFill/>
        </p:spPr>
        <p:txBody>
          <a:bodyPr wrap="none" lIns="0" rIns="0" tIns="0" bIns="0">
            <a:spAutoFit/>
          </a:bodyPr>
          <a:lstStyle/>
          <a:p>
            <a:r>
              <a:rPr sz="1100" b="0">
                <a:solidFill>
                  <a:srgbClr val="2E2E2E"/>
                </a:solidFill>
                <a:latin typeface="Calibri"/>
              </a:rPr>
              <a:t>scale.</a:t>
            </a:r>
          </a:p>
        </p:txBody>
      </p:sp>
      <p:sp>
        <p:nvSpPr>
          <p:cNvPr id="77" name="TextBox 76"/>
          <p:cNvSpPr txBox="1"/>
          <p:nvPr/>
        </p:nvSpPr>
        <p:spPr>
          <a:xfrm>
            <a:off x="2657475" y="3708336"/>
            <a:ext cx="2062013" cy="186689"/>
          </a:xfrm>
          <a:prstGeom prst="rect">
            <a:avLst/>
          </a:prstGeom>
          <a:noFill/>
        </p:spPr>
        <p:txBody>
          <a:bodyPr wrap="none" lIns="0" rIns="0" tIns="0" bIns="0">
            <a:spAutoFit/>
          </a:bodyPr>
          <a:lstStyle/>
          <a:p>
            <a:r>
              <a:rPr sz="1100" b="0">
                <a:solidFill>
                  <a:srgbClr val="2E2E2E"/>
                </a:solidFill>
                <a:latin typeface="Calibri"/>
              </a:rPr>
              <a:t>▸ Price sensitivity tracks realisation</a:t>
            </a:r>
          </a:p>
        </p:txBody>
      </p:sp>
      <p:sp>
        <p:nvSpPr>
          <p:cNvPr id="78" name="TextBox 77"/>
          <p:cNvSpPr txBox="1"/>
          <p:nvPr/>
        </p:nvSpPr>
        <p:spPr>
          <a:xfrm>
            <a:off x="2657475" y="3875976"/>
            <a:ext cx="495845" cy="186689"/>
          </a:xfrm>
          <a:prstGeom prst="rect">
            <a:avLst/>
          </a:prstGeom>
          <a:noFill/>
        </p:spPr>
        <p:txBody>
          <a:bodyPr wrap="none" lIns="0" rIns="0" tIns="0" bIns="0">
            <a:spAutoFit/>
          </a:bodyPr>
          <a:lstStyle/>
          <a:p>
            <a:r>
              <a:rPr sz="1100" b="0">
                <a:solidFill>
                  <a:srgbClr val="2E2E2E"/>
                </a:solidFill>
                <a:latin typeface="Calibri"/>
              </a:rPr>
              <a:t>moving</a:t>
            </a:r>
          </a:p>
        </p:txBody>
      </p:sp>
      <p:pic>
        <p:nvPicPr>
          <p:cNvPr id="79" name="Picture 78" descr="lock.png"/>
          <p:cNvPicPr>
            <a:picLocks noChangeAspect="1"/>
          </p:cNvPicPr>
          <p:nvPr/>
        </p:nvPicPr>
        <p:blipFill>
          <a:blip r:embed="rId4"/>
          <a:stretch>
            <a:fillRect/>
          </a:stretch>
        </p:blipFill>
        <p:spPr>
          <a:xfrm>
            <a:off x="3101372" y="3866197"/>
            <a:ext cx="128699" cy="187198"/>
          </a:xfrm>
          <a:prstGeom prst="rect">
            <a:avLst/>
          </a:prstGeom>
        </p:spPr>
      </p:pic>
      <p:sp>
        <p:nvSpPr>
          <p:cNvPr id="80" name="TextBox 79"/>
          <p:cNvSpPr txBox="1"/>
          <p:nvPr/>
        </p:nvSpPr>
        <p:spPr>
          <a:xfrm>
            <a:off x="3268868" y="3875976"/>
            <a:ext cx="1316583" cy="186689"/>
          </a:xfrm>
          <a:prstGeom prst="rect">
            <a:avLst/>
          </a:prstGeom>
          <a:noFill/>
        </p:spPr>
        <p:txBody>
          <a:bodyPr wrap="none" lIns="0" rIns="0" tIns="0" bIns="0">
            <a:spAutoFit/>
          </a:bodyPr>
          <a:lstStyle/>
          <a:p>
            <a:r>
              <a:rPr sz="1100" b="0">
                <a:solidFill>
                  <a:srgbClr val="2E2E2E"/>
                </a:solidFill>
                <a:latin typeface="Calibri"/>
              </a:rPr>
              <a:t>a year against volume</a:t>
            </a:r>
          </a:p>
        </p:txBody>
      </p:sp>
      <p:sp>
        <p:nvSpPr>
          <p:cNvPr id="81" name="TextBox 80"/>
          <p:cNvSpPr txBox="1"/>
          <p:nvPr/>
        </p:nvSpPr>
        <p:spPr>
          <a:xfrm>
            <a:off x="2657475" y="4043616"/>
            <a:ext cx="632544" cy="186689"/>
          </a:xfrm>
          <a:prstGeom prst="rect">
            <a:avLst/>
          </a:prstGeom>
          <a:noFill/>
        </p:spPr>
        <p:txBody>
          <a:bodyPr wrap="none" lIns="0" rIns="0" tIns="0" bIns="0">
            <a:spAutoFit/>
          </a:bodyPr>
          <a:lstStyle/>
          <a:p>
            <a:r>
              <a:rPr sz="1100" b="0">
                <a:solidFill>
                  <a:srgbClr val="2E2E2E"/>
                </a:solidFill>
                <a:latin typeface="Calibri"/>
              </a:rPr>
              <a:t>growth of</a:t>
            </a:r>
          </a:p>
        </p:txBody>
      </p:sp>
      <p:pic>
        <p:nvPicPr>
          <p:cNvPr id="82" name="Picture 81" descr="lock.png"/>
          <p:cNvPicPr>
            <a:picLocks noChangeAspect="1"/>
          </p:cNvPicPr>
          <p:nvPr/>
        </p:nvPicPr>
        <p:blipFill>
          <a:blip r:embed="rId4"/>
          <a:stretch>
            <a:fillRect/>
          </a:stretch>
        </p:blipFill>
        <p:spPr>
          <a:xfrm>
            <a:off x="3238070" y="4033837"/>
            <a:ext cx="128699" cy="187198"/>
          </a:xfrm>
          <a:prstGeom prst="rect">
            <a:avLst/>
          </a:prstGeom>
        </p:spPr>
      </p:pic>
      <p:sp>
        <p:nvSpPr>
          <p:cNvPr id="83" name="TextBox 82"/>
          <p:cNvSpPr txBox="1"/>
          <p:nvPr/>
        </p:nvSpPr>
        <p:spPr>
          <a:xfrm>
            <a:off x="3405566" y="4043616"/>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84" name="TextBox 83"/>
          <p:cNvSpPr txBox="1"/>
          <p:nvPr/>
        </p:nvSpPr>
        <p:spPr>
          <a:xfrm>
            <a:off x="5038725" y="2841285"/>
            <a:ext cx="2114550" cy="186689"/>
          </a:xfrm>
          <a:prstGeom prst="rect">
            <a:avLst/>
          </a:prstGeom>
          <a:noFill/>
        </p:spPr>
        <p:txBody>
          <a:bodyPr wrap="none" lIns="0" rIns="0" tIns="0" bIns="0">
            <a:spAutoFit/>
          </a:bodyPr>
          <a:lstStyle/>
          <a:p>
            <a:r>
              <a:rPr sz="1100" b="0">
                <a:solidFill>
                  <a:srgbClr val="2E2E2E"/>
                </a:solidFill>
                <a:latin typeface="Calibri"/>
              </a:rPr>
              <a:t>▸ Assessed high. 7 product type lines</a:t>
            </a:r>
          </a:p>
        </p:txBody>
      </p:sp>
      <p:sp>
        <p:nvSpPr>
          <p:cNvPr id="85" name="TextBox 84"/>
          <p:cNvSpPr txBox="1"/>
          <p:nvPr/>
        </p:nvSpPr>
        <p:spPr>
          <a:xfrm>
            <a:off x="5038725" y="3008925"/>
            <a:ext cx="1950690" cy="186689"/>
          </a:xfrm>
          <a:prstGeom prst="rect">
            <a:avLst/>
          </a:prstGeom>
          <a:noFill/>
        </p:spPr>
        <p:txBody>
          <a:bodyPr wrap="none" lIns="0" rIns="0" tIns="0" bIns="0">
            <a:spAutoFit/>
          </a:bodyPr>
          <a:lstStyle/>
          <a:p>
            <a:r>
              <a:rPr sz="1100" b="0">
                <a:solidFill>
                  <a:srgbClr val="2E2E2E"/>
                </a:solidFill>
                <a:latin typeface="Calibri"/>
              </a:rPr>
              <a:t>compete inside the segment; the</a:t>
            </a:r>
          </a:p>
        </p:txBody>
      </p:sp>
      <p:sp>
        <p:nvSpPr>
          <p:cNvPr id="86" name="TextBox 85"/>
          <p:cNvSpPr txBox="1"/>
          <p:nvPr/>
        </p:nvSpPr>
        <p:spPr>
          <a:xfrm>
            <a:off x="5038725" y="3176565"/>
            <a:ext cx="775518" cy="186689"/>
          </a:xfrm>
          <a:prstGeom prst="rect">
            <a:avLst/>
          </a:prstGeom>
          <a:noFill/>
        </p:spPr>
        <p:txBody>
          <a:bodyPr wrap="none" lIns="0" rIns="0" tIns="0" bIns="0">
            <a:spAutoFit/>
          </a:bodyPr>
          <a:lstStyle/>
          <a:p>
            <a:r>
              <a:rPr sz="1100" b="0">
                <a:solidFill>
                  <a:srgbClr val="2E2E2E"/>
                </a:solidFill>
                <a:latin typeface="Calibri"/>
              </a:rPr>
              <a:t>leader holds</a:t>
            </a:r>
          </a:p>
        </p:txBody>
      </p:sp>
      <p:pic>
        <p:nvPicPr>
          <p:cNvPr id="87" name="Picture 86" descr="lock.png"/>
          <p:cNvPicPr>
            <a:picLocks noChangeAspect="1"/>
          </p:cNvPicPr>
          <p:nvPr/>
        </p:nvPicPr>
        <p:blipFill>
          <a:blip r:embed="rId4"/>
          <a:stretch>
            <a:fillRect/>
          </a:stretch>
        </p:blipFill>
        <p:spPr>
          <a:xfrm>
            <a:off x="5762295" y="3166786"/>
            <a:ext cx="128699" cy="187198"/>
          </a:xfrm>
          <a:prstGeom prst="rect">
            <a:avLst/>
          </a:prstGeom>
        </p:spPr>
      </p:pic>
      <p:sp>
        <p:nvSpPr>
          <p:cNvPr id="88" name="TextBox 87"/>
          <p:cNvSpPr txBox="1"/>
          <p:nvPr/>
        </p:nvSpPr>
        <p:spPr>
          <a:xfrm>
            <a:off x="5929790" y="317656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89" name="TextBox 88"/>
          <p:cNvSpPr txBox="1"/>
          <p:nvPr/>
        </p:nvSpPr>
        <p:spPr>
          <a:xfrm>
            <a:off x="5038725" y="3525799"/>
            <a:ext cx="2114550" cy="186689"/>
          </a:xfrm>
          <a:prstGeom prst="rect">
            <a:avLst/>
          </a:prstGeom>
          <a:noFill/>
        </p:spPr>
        <p:txBody>
          <a:bodyPr wrap="none" lIns="0" rIns="0" tIns="0" bIns="0">
            <a:spAutoFit/>
          </a:bodyPr>
          <a:lstStyle/>
          <a:p>
            <a:r>
              <a:rPr sz="1100" b="0">
                <a:solidFill>
                  <a:srgbClr val="2E2E2E"/>
                </a:solidFill>
                <a:latin typeface="Calibri"/>
              </a:rPr>
              <a:t>▸ Growth is unevenly distributed 'Ear</a:t>
            </a:r>
          </a:p>
        </p:txBody>
      </p:sp>
      <p:sp>
        <p:nvSpPr>
          <p:cNvPr id="90" name="TextBox 89"/>
          <p:cNvSpPr txBox="1"/>
          <p:nvPr/>
        </p:nvSpPr>
        <p:spPr>
          <a:xfrm>
            <a:off x="5038725" y="3693439"/>
            <a:ext cx="588888" cy="186689"/>
          </a:xfrm>
          <a:prstGeom prst="rect">
            <a:avLst/>
          </a:prstGeom>
          <a:noFill/>
        </p:spPr>
        <p:txBody>
          <a:bodyPr wrap="none" lIns="0" rIns="0" tIns="0" bIns="0">
            <a:spAutoFit/>
          </a:bodyPr>
          <a:lstStyle/>
          <a:p>
            <a:r>
              <a:rPr sz="1100" b="0">
                <a:solidFill>
                  <a:srgbClr val="2E2E2E"/>
                </a:solidFill>
                <a:latin typeface="Calibri"/>
              </a:rPr>
              <a:t>Drops' at</a:t>
            </a:r>
          </a:p>
        </p:txBody>
      </p:sp>
      <p:pic>
        <p:nvPicPr>
          <p:cNvPr id="91" name="Picture 90" descr="lock.png"/>
          <p:cNvPicPr>
            <a:picLocks noChangeAspect="1"/>
          </p:cNvPicPr>
          <p:nvPr/>
        </p:nvPicPr>
        <p:blipFill>
          <a:blip r:embed="rId4"/>
          <a:stretch>
            <a:fillRect/>
          </a:stretch>
        </p:blipFill>
        <p:spPr>
          <a:xfrm>
            <a:off x="5575664" y="3683660"/>
            <a:ext cx="128699" cy="187198"/>
          </a:xfrm>
          <a:prstGeom prst="rect">
            <a:avLst/>
          </a:prstGeom>
        </p:spPr>
      </p:pic>
      <p:sp>
        <p:nvSpPr>
          <p:cNvPr id="92" name="TextBox 91"/>
          <p:cNvSpPr txBox="1"/>
          <p:nvPr/>
        </p:nvSpPr>
        <p:spPr>
          <a:xfrm>
            <a:off x="5743160" y="3693439"/>
            <a:ext cx="1308090" cy="186689"/>
          </a:xfrm>
          <a:prstGeom prst="rect">
            <a:avLst/>
          </a:prstGeom>
          <a:noFill/>
        </p:spPr>
        <p:txBody>
          <a:bodyPr wrap="none" lIns="0" rIns="0" tIns="0" bIns="0">
            <a:spAutoFit/>
          </a:bodyPr>
          <a:lstStyle/>
          <a:p>
            <a:r>
              <a:rPr sz="1100" b="0">
                <a:solidFill>
                  <a:srgbClr val="2E2E2E"/>
                </a:solidFill>
                <a:latin typeface="Calibri"/>
              </a:rPr>
              <a:t>against 'Ear Sprays' at</a:t>
            </a:r>
          </a:p>
        </p:txBody>
      </p:sp>
      <p:pic>
        <p:nvPicPr>
          <p:cNvPr id="93" name="Picture 92" descr="lock.png"/>
          <p:cNvPicPr>
            <a:picLocks noChangeAspect="1"/>
          </p:cNvPicPr>
          <p:nvPr/>
        </p:nvPicPr>
        <p:blipFill>
          <a:blip r:embed="rId4"/>
          <a:stretch>
            <a:fillRect/>
          </a:stretch>
        </p:blipFill>
        <p:spPr>
          <a:xfrm>
            <a:off x="5025257" y="3851300"/>
            <a:ext cx="128699" cy="187198"/>
          </a:xfrm>
          <a:prstGeom prst="rect">
            <a:avLst/>
          </a:prstGeom>
        </p:spPr>
      </p:pic>
      <p:sp>
        <p:nvSpPr>
          <p:cNvPr id="94" name="TextBox 93"/>
          <p:cNvSpPr txBox="1"/>
          <p:nvPr/>
        </p:nvSpPr>
        <p:spPr>
          <a:xfrm>
            <a:off x="5192753" y="3861079"/>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95" name="TextBox 94"/>
          <p:cNvSpPr txBox="1"/>
          <p:nvPr/>
        </p:nvSpPr>
        <p:spPr>
          <a:xfrm>
            <a:off x="5038725" y="4210313"/>
            <a:ext cx="2114550" cy="186689"/>
          </a:xfrm>
          <a:prstGeom prst="rect">
            <a:avLst/>
          </a:prstGeom>
          <a:noFill/>
        </p:spPr>
        <p:txBody>
          <a:bodyPr wrap="none" lIns="0" rIns="0" tIns="0" bIns="0">
            <a:spAutoFit/>
          </a:bodyPr>
          <a:lstStyle/>
          <a:p>
            <a:r>
              <a:rPr sz="1100" b="0">
                <a:solidFill>
                  <a:srgbClr val="2E2E2E"/>
                </a:solidFill>
                <a:latin typeface="Calibri"/>
              </a:rPr>
              <a:t>▸ 3 of 6 regions grow at or above the</a:t>
            </a:r>
          </a:p>
        </p:txBody>
      </p:sp>
      <p:pic>
        <p:nvPicPr>
          <p:cNvPr id="96" name="Picture 95" descr="lock.png"/>
          <p:cNvPicPr>
            <a:picLocks noChangeAspect="1"/>
          </p:cNvPicPr>
          <p:nvPr/>
        </p:nvPicPr>
        <p:blipFill>
          <a:blip r:embed="rId4"/>
          <a:stretch>
            <a:fillRect/>
          </a:stretch>
        </p:blipFill>
        <p:spPr>
          <a:xfrm>
            <a:off x="5025257" y="4368174"/>
            <a:ext cx="128699" cy="187198"/>
          </a:xfrm>
          <a:prstGeom prst="rect">
            <a:avLst/>
          </a:prstGeom>
        </p:spPr>
      </p:pic>
      <p:sp>
        <p:nvSpPr>
          <p:cNvPr id="97" name="TextBox 96"/>
          <p:cNvSpPr txBox="1"/>
          <p:nvPr/>
        </p:nvSpPr>
        <p:spPr>
          <a:xfrm>
            <a:off x="5192753" y="4377953"/>
            <a:ext cx="1643186" cy="186689"/>
          </a:xfrm>
          <a:prstGeom prst="rect">
            <a:avLst/>
          </a:prstGeom>
          <a:noFill/>
        </p:spPr>
        <p:txBody>
          <a:bodyPr wrap="none" lIns="0" rIns="0" tIns="0" bIns="0">
            <a:spAutoFit/>
          </a:bodyPr>
          <a:lstStyle/>
          <a:p>
            <a:r>
              <a:rPr sz="1100" b="0">
                <a:solidFill>
                  <a:srgbClr val="2E2E2E"/>
                </a:solidFill>
                <a:latin typeface="Calibri"/>
              </a:rPr>
              <a:t>market pace, keeping share</a:t>
            </a:r>
          </a:p>
        </p:txBody>
      </p:sp>
      <p:sp>
        <p:nvSpPr>
          <p:cNvPr id="98" name="TextBox 97"/>
          <p:cNvSpPr txBox="1"/>
          <p:nvPr/>
        </p:nvSpPr>
        <p:spPr>
          <a:xfrm>
            <a:off x="5038725" y="4545593"/>
            <a:ext cx="678656" cy="186689"/>
          </a:xfrm>
          <a:prstGeom prst="rect">
            <a:avLst/>
          </a:prstGeom>
          <a:noFill/>
        </p:spPr>
        <p:txBody>
          <a:bodyPr wrap="none" lIns="0" rIns="0" tIns="0" bIns="0">
            <a:spAutoFit/>
          </a:bodyPr>
          <a:lstStyle/>
          <a:p>
            <a:r>
              <a:rPr sz="1100" b="0">
                <a:solidFill>
                  <a:srgbClr val="2E2E2E"/>
                </a:solidFill>
                <a:latin typeface="Calibri"/>
              </a:rPr>
              <a:t>contested.</a:t>
            </a:r>
          </a:p>
        </p:txBody>
      </p:sp>
      <p:sp>
        <p:nvSpPr>
          <p:cNvPr id="99" name="TextBox 98"/>
          <p:cNvSpPr txBox="1"/>
          <p:nvPr/>
        </p:nvSpPr>
        <p:spPr>
          <a:xfrm>
            <a:off x="7419975" y="2944566"/>
            <a:ext cx="1998132" cy="186689"/>
          </a:xfrm>
          <a:prstGeom prst="rect">
            <a:avLst/>
          </a:prstGeom>
          <a:noFill/>
        </p:spPr>
        <p:txBody>
          <a:bodyPr wrap="none" lIns="0" rIns="0" tIns="0" bIns="0">
            <a:spAutoFit/>
          </a:bodyPr>
          <a:lstStyle/>
          <a:p>
            <a:r>
              <a:rPr sz="1100" b="0">
                <a:solidFill>
                  <a:srgbClr val="2E2E2E"/>
                </a:solidFill>
                <a:latin typeface="Calibri"/>
              </a:rPr>
              <a:t>▸ Assessed high. 'Ear Sprays' loses</a:t>
            </a:r>
          </a:p>
        </p:txBody>
      </p:sp>
      <p:pic>
        <p:nvPicPr>
          <p:cNvPr id="100" name="Picture 99" descr="lock.png"/>
          <p:cNvPicPr>
            <a:picLocks noChangeAspect="1"/>
          </p:cNvPicPr>
          <p:nvPr/>
        </p:nvPicPr>
        <p:blipFill>
          <a:blip r:embed="rId4"/>
          <a:stretch>
            <a:fillRect/>
          </a:stretch>
        </p:blipFill>
        <p:spPr>
          <a:xfrm>
            <a:off x="7406507" y="3102427"/>
            <a:ext cx="128699" cy="187198"/>
          </a:xfrm>
          <a:prstGeom prst="rect">
            <a:avLst/>
          </a:prstGeom>
        </p:spPr>
      </p:pic>
      <p:sp>
        <p:nvSpPr>
          <p:cNvPr id="101" name="TextBox 100"/>
          <p:cNvSpPr txBox="1"/>
          <p:nvPr/>
        </p:nvSpPr>
        <p:spPr>
          <a:xfrm>
            <a:off x="7574003" y="3112206"/>
            <a:ext cx="1579032" cy="186689"/>
          </a:xfrm>
          <a:prstGeom prst="rect">
            <a:avLst/>
          </a:prstGeom>
          <a:noFill/>
        </p:spPr>
        <p:txBody>
          <a:bodyPr wrap="none" lIns="0" rIns="0" tIns="0" bIns="0">
            <a:spAutoFit/>
          </a:bodyPr>
          <a:lstStyle/>
          <a:p>
            <a:r>
              <a:rPr sz="1100" b="0">
                <a:solidFill>
                  <a:srgbClr val="2E2E2E"/>
                </a:solidFill>
                <a:latin typeface="Calibri"/>
              </a:rPr>
              <a:t>BPS of share to 'Ear Drops'</a:t>
            </a:r>
          </a:p>
        </p:txBody>
      </p:sp>
      <p:sp>
        <p:nvSpPr>
          <p:cNvPr id="102" name="TextBox 101"/>
          <p:cNvSpPr txBox="1"/>
          <p:nvPr/>
        </p:nvSpPr>
        <p:spPr>
          <a:xfrm>
            <a:off x="7419975" y="3279846"/>
            <a:ext cx="188069"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03" name="Picture 102" descr="lock.png"/>
          <p:cNvPicPr>
            <a:picLocks noChangeAspect="1"/>
          </p:cNvPicPr>
          <p:nvPr/>
        </p:nvPicPr>
        <p:blipFill>
          <a:blip r:embed="rId4"/>
          <a:stretch>
            <a:fillRect/>
          </a:stretch>
        </p:blipFill>
        <p:spPr>
          <a:xfrm>
            <a:off x="7556095" y="3270067"/>
            <a:ext cx="128699" cy="187198"/>
          </a:xfrm>
          <a:prstGeom prst="rect">
            <a:avLst/>
          </a:prstGeom>
        </p:spPr>
      </p:pic>
      <p:sp>
        <p:nvSpPr>
          <p:cNvPr id="104" name="TextBox 103"/>
          <p:cNvSpPr txBox="1"/>
          <p:nvPr/>
        </p:nvSpPr>
        <p:spPr>
          <a:xfrm>
            <a:off x="7723591" y="3279846"/>
            <a:ext cx="1646460" cy="186689"/>
          </a:xfrm>
          <a:prstGeom prst="rect">
            <a:avLst/>
          </a:prstGeom>
          <a:noFill/>
        </p:spPr>
        <p:txBody>
          <a:bodyPr wrap="none" lIns="0" rIns="0" tIns="0" bIns="0">
            <a:spAutoFit/>
          </a:bodyPr>
          <a:lstStyle/>
          <a:p>
            <a:r>
              <a:rPr sz="1100" b="0">
                <a:solidFill>
                  <a:srgbClr val="2E2E2E"/>
                </a:solidFill>
                <a:latin typeface="Calibri"/>
              </a:rPr>
              <a:t>BPS) by 2036 substitution is</a:t>
            </a:r>
          </a:p>
        </p:txBody>
      </p:sp>
      <p:sp>
        <p:nvSpPr>
          <p:cNvPr id="105" name="TextBox 104"/>
          <p:cNvSpPr txBox="1"/>
          <p:nvPr/>
        </p:nvSpPr>
        <p:spPr>
          <a:xfrm>
            <a:off x="7419975" y="3447486"/>
            <a:ext cx="1293117" cy="186689"/>
          </a:xfrm>
          <a:prstGeom prst="rect">
            <a:avLst/>
          </a:prstGeom>
          <a:noFill/>
        </p:spPr>
        <p:txBody>
          <a:bodyPr wrap="none" lIns="0" rIns="0" tIns="0" bIns="0">
            <a:spAutoFit/>
          </a:bodyPr>
          <a:lstStyle/>
          <a:p>
            <a:r>
              <a:rPr sz="1100" b="0">
                <a:solidFill>
                  <a:srgbClr val="2E2E2E"/>
                </a:solidFill>
                <a:latin typeface="Calibri"/>
              </a:rPr>
              <a:t>visible inside the mix.</a:t>
            </a:r>
          </a:p>
        </p:txBody>
      </p:sp>
      <p:sp>
        <p:nvSpPr>
          <p:cNvPr id="106" name="TextBox 105"/>
          <p:cNvSpPr txBox="1"/>
          <p:nvPr/>
        </p:nvSpPr>
        <p:spPr>
          <a:xfrm>
            <a:off x="7419975" y="3894694"/>
            <a:ext cx="1550384" cy="179984"/>
          </a:xfrm>
          <a:prstGeom prst="rect">
            <a:avLst/>
          </a:prstGeom>
          <a:noFill/>
        </p:spPr>
        <p:txBody>
          <a:bodyPr wrap="none" lIns="0" rIns="0" tIns="0" bIns="0">
            <a:spAutoFit/>
          </a:bodyPr>
          <a:lstStyle/>
          <a:p>
            <a:r>
              <a:rPr sz="1055" b="0">
                <a:solidFill>
                  <a:srgbClr val="2E2E2E"/>
                </a:solidFill>
                <a:latin typeface="Calibri"/>
              </a:rPr>
              <a:t>▸ The slowest line grows at</a:t>
            </a:r>
          </a:p>
        </p:txBody>
      </p:sp>
      <p:pic>
        <p:nvPicPr>
          <p:cNvPr id="107" name="Picture 106" descr="lock.png"/>
          <p:cNvPicPr>
            <a:picLocks noChangeAspect="1"/>
          </p:cNvPicPr>
          <p:nvPr/>
        </p:nvPicPr>
        <p:blipFill>
          <a:blip r:embed="rId4"/>
          <a:stretch>
            <a:fillRect/>
          </a:stretch>
        </p:blipFill>
        <p:spPr>
          <a:xfrm>
            <a:off x="8917440" y="3885306"/>
            <a:ext cx="123551" cy="179710"/>
          </a:xfrm>
          <a:prstGeom prst="rect">
            <a:avLst/>
          </a:prstGeom>
        </p:spPr>
      </p:pic>
      <p:sp>
        <p:nvSpPr>
          <p:cNvPr id="108" name="TextBox 107"/>
          <p:cNvSpPr txBox="1"/>
          <p:nvPr/>
        </p:nvSpPr>
        <p:spPr>
          <a:xfrm>
            <a:off x="9078236" y="3894694"/>
            <a:ext cx="181236" cy="179984"/>
          </a:xfrm>
          <a:prstGeom prst="rect">
            <a:avLst/>
          </a:prstGeom>
          <a:noFill/>
        </p:spPr>
        <p:txBody>
          <a:bodyPr wrap="none" lIns="0" rIns="0" tIns="0" bIns="0">
            <a:spAutoFit/>
          </a:bodyPr>
          <a:lstStyle/>
          <a:p>
            <a:r>
              <a:rPr sz="1055" b="0">
                <a:solidFill>
                  <a:srgbClr val="2E2E2E"/>
                </a:solidFill>
                <a:latin typeface="Calibri"/>
              </a:rPr>
              <a:t>, -</a:t>
            </a:r>
          </a:p>
        </p:txBody>
      </p:sp>
      <p:pic>
        <p:nvPicPr>
          <p:cNvPr id="109" name="Picture 108" descr="lock.png"/>
          <p:cNvPicPr>
            <a:picLocks noChangeAspect="1"/>
          </p:cNvPicPr>
          <p:nvPr/>
        </p:nvPicPr>
        <p:blipFill>
          <a:blip r:embed="rId4"/>
          <a:stretch>
            <a:fillRect/>
          </a:stretch>
        </p:blipFill>
        <p:spPr>
          <a:xfrm>
            <a:off x="9206555" y="3885306"/>
            <a:ext cx="123551" cy="179710"/>
          </a:xfrm>
          <a:prstGeom prst="rect">
            <a:avLst/>
          </a:prstGeom>
        </p:spPr>
      </p:pic>
      <p:sp>
        <p:nvSpPr>
          <p:cNvPr id="110" name="TextBox 109"/>
          <p:cNvSpPr txBox="1"/>
          <p:nvPr/>
        </p:nvSpPr>
        <p:spPr>
          <a:xfrm>
            <a:off x="7419975" y="4055628"/>
            <a:ext cx="1368861" cy="179984"/>
          </a:xfrm>
          <a:prstGeom prst="rect">
            <a:avLst/>
          </a:prstGeom>
          <a:noFill/>
        </p:spPr>
        <p:txBody>
          <a:bodyPr wrap="none" lIns="0" rIns="0" tIns="0" bIns="0">
            <a:spAutoFit/>
          </a:bodyPr>
          <a:lstStyle/>
          <a:p>
            <a:r>
              <a:rPr sz="1055" b="0">
                <a:solidFill>
                  <a:srgbClr val="2E2E2E"/>
                </a:solidFill>
                <a:latin typeface="Calibri"/>
              </a:rPr>
              <a:t>BPS against the market.</a:t>
            </a:r>
          </a:p>
        </p:txBody>
      </p:sp>
      <p:sp>
        <p:nvSpPr>
          <p:cNvPr id="111" name="TextBox 110"/>
          <p:cNvSpPr txBox="1"/>
          <p:nvPr/>
        </p:nvSpPr>
        <p:spPr>
          <a:xfrm>
            <a:off x="7419975" y="4392850"/>
            <a:ext cx="1254373" cy="186689"/>
          </a:xfrm>
          <a:prstGeom prst="rect">
            <a:avLst/>
          </a:prstGeom>
          <a:noFill/>
        </p:spPr>
        <p:txBody>
          <a:bodyPr wrap="none" lIns="0" rIns="0" tIns="0" bIns="0">
            <a:spAutoFit/>
          </a:bodyPr>
          <a:lstStyle/>
          <a:p>
            <a:r>
              <a:rPr sz="1100" b="0">
                <a:solidFill>
                  <a:srgbClr val="2E2E2E"/>
                </a:solidFill>
                <a:latin typeface="Calibri"/>
              </a:rPr>
              <a:t>▸ Realisation moving</a:t>
            </a:r>
          </a:p>
        </p:txBody>
      </p:sp>
      <p:pic>
        <p:nvPicPr>
          <p:cNvPr id="112" name="Picture 111" descr="lock.png"/>
          <p:cNvPicPr>
            <a:picLocks noChangeAspect="1"/>
          </p:cNvPicPr>
          <p:nvPr/>
        </p:nvPicPr>
        <p:blipFill>
          <a:blip r:embed="rId4"/>
          <a:stretch>
            <a:fillRect/>
          </a:stretch>
        </p:blipFill>
        <p:spPr>
          <a:xfrm>
            <a:off x="8622399" y="4383071"/>
            <a:ext cx="128699" cy="187198"/>
          </a:xfrm>
          <a:prstGeom prst="rect">
            <a:avLst/>
          </a:prstGeom>
        </p:spPr>
      </p:pic>
      <p:sp>
        <p:nvSpPr>
          <p:cNvPr id="113" name="TextBox 112"/>
          <p:cNvSpPr txBox="1"/>
          <p:nvPr/>
        </p:nvSpPr>
        <p:spPr>
          <a:xfrm>
            <a:off x="8789895" y="4392850"/>
            <a:ext cx="423267" cy="186689"/>
          </a:xfrm>
          <a:prstGeom prst="rect">
            <a:avLst/>
          </a:prstGeom>
          <a:noFill/>
        </p:spPr>
        <p:txBody>
          <a:bodyPr wrap="none" lIns="0" rIns="0" tIns="0" bIns="0">
            <a:spAutoFit/>
          </a:bodyPr>
          <a:lstStyle/>
          <a:p>
            <a:r>
              <a:rPr sz="1100" b="0">
                <a:solidFill>
                  <a:srgbClr val="2E2E2E"/>
                </a:solidFill>
                <a:latin typeface="Calibri"/>
              </a:rPr>
              <a:t>a year</a:t>
            </a:r>
          </a:p>
        </p:txBody>
      </p:sp>
      <p:sp>
        <p:nvSpPr>
          <p:cNvPr id="114" name="TextBox 113"/>
          <p:cNvSpPr txBox="1"/>
          <p:nvPr/>
        </p:nvSpPr>
        <p:spPr>
          <a:xfrm>
            <a:off x="7419975" y="4560490"/>
            <a:ext cx="1911399" cy="186689"/>
          </a:xfrm>
          <a:prstGeom prst="rect">
            <a:avLst/>
          </a:prstGeom>
          <a:noFill/>
        </p:spPr>
        <p:txBody>
          <a:bodyPr wrap="none" lIns="0" rIns="0" tIns="0" bIns="0">
            <a:spAutoFit/>
          </a:bodyPr>
          <a:lstStyle/>
          <a:p>
            <a:r>
              <a:rPr sz="1100" b="0">
                <a:solidFill>
                  <a:srgbClr val="2E2E2E"/>
                </a:solidFill>
                <a:latin typeface="Calibri"/>
              </a:rPr>
              <a:t>widens the price gap substitutes</a:t>
            </a:r>
          </a:p>
        </p:txBody>
      </p:sp>
      <p:sp>
        <p:nvSpPr>
          <p:cNvPr id="115" name="TextBox 114"/>
          <p:cNvSpPr txBox="1"/>
          <p:nvPr/>
        </p:nvSpPr>
        <p:spPr>
          <a:xfrm>
            <a:off x="7419975" y="4728130"/>
            <a:ext cx="718765" cy="186689"/>
          </a:xfrm>
          <a:prstGeom prst="rect">
            <a:avLst/>
          </a:prstGeom>
          <a:noFill/>
        </p:spPr>
        <p:txBody>
          <a:bodyPr wrap="none" lIns="0" rIns="0" tIns="0" bIns="0">
            <a:spAutoFit/>
          </a:bodyPr>
          <a:lstStyle/>
          <a:p>
            <a:r>
              <a:rPr sz="1100" b="0">
                <a:solidFill>
                  <a:srgbClr val="2E2E2E"/>
                </a:solidFill>
                <a:latin typeface="Calibri"/>
              </a:rPr>
              <a:t>must close.</a:t>
            </a:r>
          </a:p>
        </p:txBody>
      </p:sp>
      <p:sp>
        <p:nvSpPr>
          <p:cNvPr id="116" name="TextBox 115"/>
          <p:cNvSpPr txBox="1"/>
          <p:nvPr/>
        </p:nvSpPr>
        <p:spPr>
          <a:xfrm>
            <a:off x="9801225" y="2848734"/>
            <a:ext cx="1989162" cy="186689"/>
          </a:xfrm>
          <a:prstGeom prst="rect">
            <a:avLst/>
          </a:prstGeom>
          <a:noFill/>
        </p:spPr>
        <p:txBody>
          <a:bodyPr wrap="none" lIns="0" rIns="0" tIns="0" bIns="0">
            <a:spAutoFit/>
          </a:bodyPr>
          <a:lstStyle/>
          <a:p>
            <a:r>
              <a:rPr sz="1100" b="0">
                <a:solidFill>
                  <a:srgbClr val="2E2E2E"/>
                </a:solidFill>
                <a:latin typeface="Calibri"/>
              </a:rPr>
              <a:t>▸ Assessed moderate to high. The</a:t>
            </a:r>
          </a:p>
        </p:txBody>
      </p:sp>
      <p:sp>
        <p:nvSpPr>
          <p:cNvPr id="117" name="TextBox 116"/>
          <p:cNvSpPr txBox="1"/>
          <p:nvPr/>
        </p:nvSpPr>
        <p:spPr>
          <a:xfrm>
            <a:off x="9801225" y="3016374"/>
            <a:ext cx="1003349" cy="186689"/>
          </a:xfrm>
          <a:prstGeom prst="rect">
            <a:avLst/>
          </a:prstGeom>
          <a:noFill/>
        </p:spPr>
        <p:txBody>
          <a:bodyPr wrap="none" lIns="0" rIns="0" tIns="0" bIns="0">
            <a:spAutoFit/>
          </a:bodyPr>
          <a:lstStyle/>
          <a:p>
            <a:r>
              <a:rPr sz="1100" b="0">
                <a:solidFill>
                  <a:srgbClr val="2E2E2E"/>
                </a:solidFill>
                <a:latin typeface="Calibri"/>
              </a:rPr>
              <a:t>market grows at</a:t>
            </a:r>
          </a:p>
        </p:txBody>
      </p:sp>
      <p:pic>
        <p:nvPicPr>
          <p:cNvPr id="118" name="Picture 117" descr="lock.png"/>
          <p:cNvPicPr>
            <a:picLocks noChangeAspect="1"/>
          </p:cNvPicPr>
          <p:nvPr/>
        </p:nvPicPr>
        <p:blipFill>
          <a:blip r:embed="rId4"/>
          <a:stretch>
            <a:fillRect/>
          </a:stretch>
        </p:blipFill>
        <p:spPr>
          <a:xfrm>
            <a:off x="10752626" y="3006595"/>
            <a:ext cx="128699" cy="187198"/>
          </a:xfrm>
          <a:prstGeom prst="rect">
            <a:avLst/>
          </a:prstGeom>
        </p:spPr>
      </p:pic>
      <p:sp>
        <p:nvSpPr>
          <p:cNvPr id="119" name="TextBox 118"/>
          <p:cNvSpPr txBox="1"/>
          <p:nvPr/>
        </p:nvSpPr>
        <p:spPr>
          <a:xfrm>
            <a:off x="10920122" y="3016374"/>
            <a:ext cx="940576" cy="186689"/>
          </a:xfrm>
          <a:prstGeom prst="rect">
            <a:avLst/>
          </a:prstGeom>
          <a:noFill/>
        </p:spPr>
        <p:txBody>
          <a:bodyPr wrap="none" lIns="0" rIns="0" tIns="0" bIns="0">
            <a:spAutoFit/>
          </a:bodyPr>
          <a:lstStyle/>
          <a:p>
            <a:r>
              <a:rPr sz="1100" b="0">
                <a:solidFill>
                  <a:srgbClr val="2E2E2E"/>
                </a:solidFill>
                <a:latin typeface="Calibri"/>
              </a:rPr>
              <a:t>CAGR and adds</a:t>
            </a:r>
          </a:p>
        </p:txBody>
      </p:sp>
      <p:pic>
        <p:nvPicPr>
          <p:cNvPr id="120" name="Picture 119" descr="lock.png"/>
          <p:cNvPicPr>
            <a:picLocks noChangeAspect="1"/>
          </p:cNvPicPr>
          <p:nvPr/>
        </p:nvPicPr>
        <p:blipFill>
          <a:blip r:embed="rId4"/>
          <a:stretch>
            <a:fillRect/>
          </a:stretch>
        </p:blipFill>
        <p:spPr>
          <a:xfrm>
            <a:off x="9787757" y="3174235"/>
            <a:ext cx="128699" cy="187198"/>
          </a:xfrm>
          <a:prstGeom prst="rect">
            <a:avLst/>
          </a:prstGeom>
        </p:spPr>
      </p:pic>
      <p:sp>
        <p:nvSpPr>
          <p:cNvPr id="121" name="TextBox 120"/>
          <p:cNvSpPr txBox="1"/>
          <p:nvPr/>
        </p:nvSpPr>
        <p:spPr>
          <a:xfrm>
            <a:off x="9955253" y="3184014"/>
            <a:ext cx="1629816" cy="186689"/>
          </a:xfrm>
          <a:prstGeom prst="rect">
            <a:avLst/>
          </a:prstGeom>
          <a:noFill/>
        </p:spPr>
        <p:txBody>
          <a:bodyPr wrap="none" lIns="0" rIns="0" tIns="0" bIns="0">
            <a:spAutoFit/>
          </a:bodyPr>
          <a:lstStyle/>
          <a:p>
            <a:r>
              <a:rPr sz="1100" b="0">
                <a:solidFill>
                  <a:srgbClr val="2E2E2E"/>
                </a:solidFill>
                <a:latin typeface="Calibri"/>
              </a:rPr>
              <a:t>US$ Mn by 2036, attracting</a:t>
            </a:r>
          </a:p>
        </p:txBody>
      </p:sp>
      <p:sp>
        <p:nvSpPr>
          <p:cNvPr id="122" name="TextBox 121"/>
          <p:cNvSpPr txBox="1"/>
          <p:nvPr/>
        </p:nvSpPr>
        <p:spPr>
          <a:xfrm>
            <a:off x="9801225" y="3351654"/>
            <a:ext cx="413444" cy="186689"/>
          </a:xfrm>
          <a:prstGeom prst="rect">
            <a:avLst/>
          </a:prstGeom>
          <a:noFill/>
        </p:spPr>
        <p:txBody>
          <a:bodyPr wrap="none" lIns="0" rIns="0" tIns="0" bIns="0">
            <a:spAutoFit/>
          </a:bodyPr>
          <a:lstStyle/>
          <a:p>
            <a:r>
              <a:rPr sz="1100" b="0">
                <a:solidFill>
                  <a:srgbClr val="2E2E2E"/>
                </a:solidFill>
                <a:latin typeface="Calibri"/>
              </a:rPr>
              <a:t>entry.</a:t>
            </a:r>
          </a:p>
        </p:txBody>
      </p:sp>
      <p:sp>
        <p:nvSpPr>
          <p:cNvPr id="123" name="TextBox 122"/>
          <p:cNvSpPr txBox="1"/>
          <p:nvPr/>
        </p:nvSpPr>
        <p:spPr>
          <a:xfrm>
            <a:off x="9801225" y="3708336"/>
            <a:ext cx="1971426" cy="186689"/>
          </a:xfrm>
          <a:prstGeom prst="rect">
            <a:avLst/>
          </a:prstGeom>
          <a:noFill/>
        </p:spPr>
        <p:txBody>
          <a:bodyPr wrap="none" lIns="0" rIns="0" tIns="0" bIns="0">
            <a:spAutoFit/>
          </a:bodyPr>
          <a:lstStyle/>
          <a:p>
            <a:r>
              <a:rPr sz="1100" b="0">
                <a:solidFill>
                  <a:srgbClr val="2E2E2E"/>
                </a:solidFill>
                <a:latin typeface="Calibri"/>
              </a:rPr>
              <a:t>▸ Demand spreads over 6 regions</a:t>
            </a:r>
          </a:p>
        </p:txBody>
      </p:sp>
      <p:sp>
        <p:nvSpPr>
          <p:cNvPr id="124" name="TextBox 123"/>
          <p:cNvSpPr txBox="1"/>
          <p:nvPr/>
        </p:nvSpPr>
        <p:spPr>
          <a:xfrm>
            <a:off x="9801225" y="3875976"/>
            <a:ext cx="1493118" cy="186689"/>
          </a:xfrm>
          <a:prstGeom prst="rect">
            <a:avLst/>
          </a:prstGeom>
          <a:noFill/>
        </p:spPr>
        <p:txBody>
          <a:bodyPr wrap="none" lIns="0" rIns="0" tIns="0" bIns="0">
            <a:spAutoFit/>
          </a:bodyPr>
          <a:lstStyle/>
          <a:p>
            <a:r>
              <a:rPr sz="1100" b="0">
                <a:solidFill>
                  <a:srgbClr val="2E2E2E"/>
                </a:solidFill>
                <a:latin typeface="Calibri"/>
              </a:rPr>
              <a:t>with no single one above</a:t>
            </a:r>
          </a:p>
        </p:txBody>
      </p:sp>
      <p:pic>
        <p:nvPicPr>
          <p:cNvPr id="125" name="Picture 124" descr="lock.png"/>
          <p:cNvPicPr>
            <a:picLocks noChangeAspect="1"/>
          </p:cNvPicPr>
          <p:nvPr/>
        </p:nvPicPr>
        <p:blipFill>
          <a:blip r:embed="rId4"/>
          <a:stretch>
            <a:fillRect/>
          </a:stretch>
        </p:blipFill>
        <p:spPr>
          <a:xfrm>
            <a:off x="11242394" y="3866197"/>
            <a:ext cx="128699" cy="187198"/>
          </a:xfrm>
          <a:prstGeom prst="rect">
            <a:avLst/>
          </a:prstGeom>
        </p:spPr>
      </p:pic>
      <p:sp>
        <p:nvSpPr>
          <p:cNvPr id="126" name="TextBox 125"/>
          <p:cNvSpPr txBox="1"/>
          <p:nvPr/>
        </p:nvSpPr>
        <p:spPr>
          <a:xfrm>
            <a:off x="11409890" y="3875976"/>
            <a:ext cx="271016" cy="186689"/>
          </a:xfrm>
          <a:prstGeom prst="rect">
            <a:avLst/>
          </a:prstGeom>
          <a:noFill/>
        </p:spPr>
        <p:txBody>
          <a:bodyPr wrap="none" lIns="0" rIns="0" tIns="0" bIns="0">
            <a:spAutoFit/>
          </a:bodyPr>
          <a:lstStyle/>
          <a:p>
            <a:r>
              <a:rPr sz="1100" b="0">
                <a:solidFill>
                  <a:srgbClr val="2E2E2E"/>
                </a:solidFill>
                <a:latin typeface="Calibri"/>
              </a:rPr>
              <a:t>, so</a:t>
            </a:r>
          </a:p>
        </p:txBody>
      </p:sp>
      <p:sp>
        <p:nvSpPr>
          <p:cNvPr id="127" name="TextBox 126"/>
          <p:cNvSpPr txBox="1"/>
          <p:nvPr/>
        </p:nvSpPr>
        <p:spPr>
          <a:xfrm>
            <a:off x="9801225" y="4043616"/>
            <a:ext cx="1498575" cy="186689"/>
          </a:xfrm>
          <a:prstGeom prst="rect">
            <a:avLst/>
          </a:prstGeom>
          <a:noFill/>
        </p:spPr>
        <p:txBody>
          <a:bodyPr wrap="none" lIns="0" rIns="0" tIns="0" bIns="0">
            <a:spAutoFit/>
          </a:bodyPr>
          <a:lstStyle/>
          <a:p>
            <a:r>
              <a:rPr sz="1100" b="0">
                <a:solidFill>
                  <a:srgbClr val="2E2E2E"/>
                </a:solidFill>
                <a:latin typeface="Calibri"/>
              </a:rPr>
              <a:t>regional entry is feasible.</a:t>
            </a:r>
          </a:p>
        </p:txBody>
      </p:sp>
      <p:sp>
        <p:nvSpPr>
          <p:cNvPr id="128" name="TextBox 127"/>
          <p:cNvSpPr txBox="1"/>
          <p:nvPr/>
        </p:nvSpPr>
        <p:spPr>
          <a:xfrm>
            <a:off x="9801225" y="4496131"/>
            <a:ext cx="2114550" cy="186689"/>
          </a:xfrm>
          <a:prstGeom prst="rect">
            <a:avLst/>
          </a:prstGeom>
          <a:noFill/>
        </p:spPr>
        <p:txBody>
          <a:bodyPr wrap="none" lIns="0" rIns="0" tIns="0" bIns="0">
            <a:spAutoFit/>
          </a:bodyPr>
          <a:lstStyle/>
          <a:p>
            <a:r>
              <a:rPr sz="1100" b="0">
                <a:solidFill>
                  <a:srgbClr val="2E2E2E"/>
                </a:solidFill>
                <a:latin typeface="Calibri"/>
              </a:rPr>
              <a:t>▸ Incumbent scale in 'North America'</a:t>
            </a:r>
          </a:p>
        </p:txBody>
      </p:sp>
      <p:sp>
        <p:nvSpPr>
          <p:cNvPr id="129" name="TextBox 128"/>
          <p:cNvSpPr txBox="1"/>
          <p:nvPr/>
        </p:nvSpPr>
        <p:spPr>
          <a:xfrm>
            <a:off x="9801225" y="4663771"/>
            <a:ext cx="1587251" cy="186689"/>
          </a:xfrm>
          <a:prstGeom prst="rect">
            <a:avLst/>
          </a:prstGeom>
          <a:noFill/>
        </p:spPr>
        <p:txBody>
          <a:bodyPr wrap="none" lIns="0" rIns="0" tIns="0" bIns="0">
            <a:spAutoFit/>
          </a:bodyPr>
          <a:lstStyle/>
          <a:p>
            <a:r>
              <a:rPr sz="1100" b="0">
                <a:solidFill>
                  <a:srgbClr val="2E2E2E"/>
                </a:solidFill>
                <a:latin typeface="Calibri"/>
              </a:rPr>
              <a:t>and 'Irrigation Devices and</a:t>
            </a:r>
          </a:p>
        </p:txBody>
      </p:sp>
      <p:sp>
        <p:nvSpPr>
          <p:cNvPr id="130" name="TextBox 129"/>
          <p:cNvSpPr txBox="1"/>
          <p:nvPr/>
        </p:nvSpPr>
        <p:spPr>
          <a:xfrm>
            <a:off x="9801225" y="4831411"/>
            <a:ext cx="837728" cy="186689"/>
          </a:xfrm>
          <a:prstGeom prst="rect">
            <a:avLst/>
          </a:prstGeom>
          <a:noFill/>
        </p:spPr>
        <p:txBody>
          <a:bodyPr wrap="none" lIns="0" rIns="0" tIns="0" bIns="0">
            <a:spAutoFit/>
          </a:bodyPr>
          <a:lstStyle/>
          <a:p>
            <a:r>
              <a:rPr sz="1100" b="0">
                <a:solidFill>
                  <a:srgbClr val="2E2E2E"/>
                </a:solidFill>
                <a:latin typeface="Calibri"/>
              </a:rPr>
              <a:t>Accessories' (</a:t>
            </a:r>
          </a:p>
        </p:txBody>
      </p:sp>
      <p:pic>
        <p:nvPicPr>
          <p:cNvPr id="131" name="Picture 130" descr="lock.png"/>
          <p:cNvPicPr>
            <a:picLocks noChangeAspect="1"/>
          </p:cNvPicPr>
          <p:nvPr/>
        </p:nvPicPr>
        <p:blipFill>
          <a:blip r:embed="rId4"/>
          <a:stretch>
            <a:fillRect/>
          </a:stretch>
        </p:blipFill>
        <p:spPr>
          <a:xfrm>
            <a:off x="10587005" y="4821632"/>
            <a:ext cx="128699" cy="187198"/>
          </a:xfrm>
          <a:prstGeom prst="rect">
            <a:avLst/>
          </a:prstGeom>
        </p:spPr>
      </p:pic>
      <p:sp>
        <p:nvSpPr>
          <p:cNvPr id="132" name="TextBox 131"/>
          <p:cNvSpPr txBox="1"/>
          <p:nvPr/>
        </p:nvSpPr>
        <p:spPr>
          <a:xfrm>
            <a:off x="10754501" y="4831411"/>
            <a:ext cx="757783" cy="186689"/>
          </a:xfrm>
          <a:prstGeom prst="rect">
            <a:avLst/>
          </a:prstGeom>
          <a:noFill/>
        </p:spPr>
        <p:txBody>
          <a:bodyPr wrap="none" lIns="0" rIns="0" tIns="0" bIns="0">
            <a:spAutoFit/>
          </a:bodyPr>
          <a:lstStyle/>
          <a:p>
            <a:r>
              <a:rPr sz="1100" b="0">
                <a:solidFill>
                  <a:srgbClr val="2E2E2E"/>
                </a:solidFill>
                <a:latin typeface="Calibri"/>
              </a:rPr>
              <a:t>of segment)</a:t>
            </a:r>
          </a:p>
        </p:txBody>
      </p:sp>
      <p:sp>
        <p:nvSpPr>
          <p:cNvPr id="133" name="TextBox 132"/>
          <p:cNvSpPr txBox="1"/>
          <p:nvPr/>
        </p:nvSpPr>
        <p:spPr>
          <a:xfrm>
            <a:off x="9801225" y="4999051"/>
            <a:ext cx="1733500" cy="186689"/>
          </a:xfrm>
          <a:prstGeom prst="rect">
            <a:avLst/>
          </a:prstGeom>
          <a:noFill/>
        </p:spPr>
        <p:txBody>
          <a:bodyPr wrap="none" lIns="0" rIns="0" tIns="0" bIns="0">
            <a:spAutoFit/>
          </a:bodyPr>
          <a:lstStyle/>
          <a:p>
            <a:r>
              <a:rPr sz="1100" b="0">
                <a:solidFill>
                  <a:srgbClr val="2E2E2E"/>
                </a:solidFill>
                <a:latin typeface="Calibri"/>
              </a:rPr>
              <a:t>remains the principal barrier.</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Ear Wax Removal Products Market</a:t>
            </a:r>
          </a:p>
        </p:txBody>
      </p:sp>
      <p:sp>
        <p:nvSpPr>
          <p:cNvPr id="6" name="FMI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Competition Assessment</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Competitive Landscape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Share by Leading Players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Company Profiles &amp; Strategic Benchmarking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Competitive Landscape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Pipeline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Strategic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Competition Dashboard</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Competitive Landscape at a Glance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Market concentration, segment leadership and the moves that will shift share, 2026–2036, in one page</a:t>
            </a:r>
          </a:p>
        </p:txBody>
      </p:sp>
      <p:cxnSp>
        <p:nvCxnSpPr>
          <p:cNvPr id="10" name="Connector 9"/>
          <p:cNvCxnSpPr/>
          <p:nvPr/>
        </p:nvCxnSpPr>
        <p:spPr>
          <a:xfrm>
            <a:off x="190500" y="10477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476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12" name="TextBox 11"/>
          <p:cNvSpPr txBox="1"/>
          <p:nvPr/>
        </p:nvSpPr>
        <p:spPr>
          <a:xfrm>
            <a:off x="2476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E87722"/>
                </a:solidFill>
                <a:latin typeface="Calibri"/>
              </a:rPr>
              <a:t> </a:t>
            </a:r>
          </a:p>
        </p:txBody>
      </p:sp>
      <p:cxnSp>
        <p:nvCxnSpPr>
          <p:cNvPr id="13" name="Connector 12"/>
          <p:cNvCxnSpPr/>
          <p:nvPr/>
        </p:nvCxnSpPr>
        <p:spPr>
          <a:xfrm>
            <a:off x="16668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7240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5" name="TextBox 14"/>
          <p:cNvSpPr txBox="1"/>
          <p:nvPr/>
        </p:nvSpPr>
        <p:spPr>
          <a:xfrm>
            <a:off x="17240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6" name="Connector 15"/>
          <p:cNvCxnSpPr/>
          <p:nvPr/>
        </p:nvCxnSpPr>
        <p:spPr>
          <a:xfrm>
            <a:off x="31432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2004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product types</a:t>
            </a:r>
          </a:p>
        </p:txBody>
      </p:sp>
      <p:sp>
        <p:nvSpPr>
          <p:cNvPr id="18" name="TextBox 17"/>
          <p:cNvSpPr txBox="1"/>
          <p:nvPr/>
        </p:nvSpPr>
        <p:spPr>
          <a:xfrm>
            <a:off x="32004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9" name="Connector 18"/>
          <p:cNvCxnSpPr/>
          <p:nvPr/>
        </p:nvCxnSpPr>
        <p:spPr>
          <a:xfrm>
            <a:off x="46196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767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end use</a:t>
            </a:r>
          </a:p>
        </p:txBody>
      </p:sp>
      <p:sp>
        <p:nvSpPr>
          <p:cNvPr id="21" name="TextBox 20"/>
          <p:cNvSpPr txBox="1"/>
          <p:nvPr/>
        </p:nvSpPr>
        <p:spPr>
          <a:xfrm>
            <a:off x="46767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r>
          </a:p>
        </p:txBody>
      </p:sp>
      <p:cxnSp>
        <p:nvCxnSpPr>
          <p:cNvPr id="22" name="Connector 21"/>
          <p:cNvCxnSpPr/>
          <p:nvPr/>
        </p:nvCxnSpPr>
        <p:spPr>
          <a:xfrm>
            <a:off x="609600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531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Named competitors</a:t>
            </a:r>
          </a:p>
        </p:txBody>
      </p:sp>
      <p:sp>
        <p:nvSpPr>
          <p:cNvPr id="24" name="TextBox 23"/>
          <p:cNvSpPr txBox="1"/>
          <p:nvPr/>
        </p:nvSpPr>
        <p:spPr>
          <a:xfrm>
            <a:off x="61531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10</a:t>
            </a:r>
          </a:p>
        </p:txBody>
      </p:sp>
      <p:cxnSp>
        <p:nvCxnSpPr>
          <p:cNvPr id="25" name="Connector 24"/>
          <p:cNvCxnSpPr/>
          <p:nvPr/>
        </p:nvCxnSpPr>
        <p:spPr>
          <a:xfrm>
            <a:off x="75723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6295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Moves tracked</a:t>
            </a:r>
          </a:p>
        </p:txBody>
      </p:sp>
      <p:sp>
        <p:nvSpPr>
          <p:cNvPr id="27" name="TextBox 26"/>
          <p:cNvSpPr txBox="1"/>
          <p:nvPr/>
        </p:nvSpPr>
        <p:spPr>
          <a:xfrm>
            <a:off x="76295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50</a:t>
            </a:r>
          </a:p>
        </p:txBody>
      </p:sp>
      <p:cxnSp>
        <p:nvCxnSpPr>
          <p:cNvPr id="28" name="Connector 27"/>
          <p:cNvCxnSpPr/>
          <p:nvPr/>
        </p:nvCxnSpPr>
        <p:spPr>
          <a:xfrm>
            <a:off x="90487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1059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player</a:t>
            </a:r>
          </a:p>
        </p:txBody>
      </p:sp>
      <p:sp>
        <p:nvSpPr>
          <p:cNvPr id="30" name="TextBox 29"/>
          <p:cNvSpPr txBox="1"/>
          <p:nvPr/>
        </p:nvSpPr>
        <p:spPr>
          <a:xfrm>
            <a:off x="91059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Prestige Consumer Healthcare</a:t>
            </a:r>
          </a:p>
        </p:txBody>
      </p:sp>
      <p:cxnSp>
        <p:nvCxnSpPr>
          <p:cNvPr id="31" name="Connector 30"/>
          <p:cNvCxnSpPr/>
          <p:nvPr/>
        </p:nvCxnSpPr>
        <p:spPr>
          <a:xfrm>
            <a:off x="105251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5822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sp>
        <p:nvSpPr>
          <p:cNvPr id="33" name="TextBox 32"/>
          <p:cNvSpPr txBox="1"/>
          <p:nvPr/>
        </p:nvSpPr>
        <p:spPr>
          <a:xfrm>
            <a:off x="105822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34" name="Connector 33"/>
          <p:cNvCxnSpPr/>
          <p:nvPr/>
        </p:nvCxnSpPr>
        <p:spPr>
          <a:xfrm>
            <a:off x="190500" y="1733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90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7" name="TextBox 36"/>
          <p:cNvSpPr txBox="1"/>
          <p:nvPr/>
        </p:nvSpPr>
        <p:spPr>
          <a:xfrm>
            <a:off x="495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Leadership is concentrated in value, spread in capability</a:t>
            </a:r>
          </a:p>
        </p:txBody>
      </p:sp>
      <p:sp>
        <p:nvSpPr>
          <p:cNvPr id="38" name="TextBox 37"/>
          <p:cNvSpPr txBox="1"/>
          <p:nvPr/>
        </p:nvSpPr>
        <p:spPr>
          <a:xfrm>
            <a:off x="495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39" name="Rectangle 38"/>
          <p:cNvSpPr/>
          <p:nvPr/>
        </p:nvSpPr>
        <p:spPr>
          <a:xfrm>
            <a:off x="190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90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1" name="TextBox 40"/>
          <p:cNvSpPr txBox="1"/>
          <p:nvPr/>
        </p:nvSpPr>
        <p:spPr>
          <a:xfrm>
            <a:off x="495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The tier structure is steep</a:t>
            </a:r>
          </a:p>
        </p:txBody>
      </p:sp>
      <p:sp>
        <p:nvSpPr>
          <p:cNvPr id="42" name="TextBox 41"/>
          <p:cNvSpPr txBox="1"/>
          <p:nvPr/>
        </p:nvSpPr>
        <p:spPr>
          <a:xfrm>
            <a:off x="495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3" name="Rectangle 42"/>
          <p:cNvSpPr/>
          <p:nvPr/>
        </p:nvSpPr>
        <p:spPr>
          <a:xfrm>
            <a:off x="190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90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45" name="TextBox 44"/>
          <p:cNvSpPr txBox="1"/>
          <p:nvPr/>
        </p:nvSpPr>
        <p:spPr>
          <a:xfrm>
            <a:off x="495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Growth is shifting inside the product mix</a:t>
            </a:r>
          </a:p>
        </p:txBody>
      </p:sp>
      <p:sp>
        <p:nvSpPr>
          <p:cNvPr id="46" name="TextBox 45"/>
          <p:cNvSpPr txBox="1"/>
          <p:nvPr/>
        </p:nvSpPr>
        <p:spPr>
          <a:xfrm>
            <a:off x="495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7" name="Rectangle 46"/>
          <p:cNvSpPr/>
          <p:nvPr/>
        </p:nvSpPr>
        <p:spPr>
          <a:xfrm>
            <a:off x="6286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86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49" name="TextBox 48"/>
          <p:cNvSpPr txBox="1"/>
          <p:nvPr/>
        </p:nvSpPr>
        <p:spPr>
          <a:xfrm>
            <a:off x="6591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Reach divides the field</a:t>
            </a:r>
          </a:p>
        </p:txBody>
      </p:sp>
      <p:sp>
        <p:nvSpPr>
          <p:cNvPr id="50" name="TextBox 49"/>
          <p:cNvSpPr txBox="1"/>
          <p:nvPr/>
        </p:nvSpPr>
        <p:spPr>
          <a:xfrm>
            <a:off x="6591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players compete globally, 2 regionally and 4 in one market or niche.</a:t>
            </a:r>
          </a:p>
        </p:txBody>
      </p:sp>
      <p:sp>
        <p:nvSpPr>
          <p:cNvPr id="51" name="Rectangle 50"/>
          <p:cNvSpPr/>
          <p:nvPr/>
        </p:nvSpPr>
        <p:spPr>
          <a:xfrm>
            <a:off x="6286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86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53" name="TextBox 52"/>
          <p:cNvSpPr txBox="1"/>
          <p:nvPr/>
        </p:nvSpPr>
        <p:spPr>
          <a:xfrm>
            <a:off x="6591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Consolidation is an active lever</a:t>
            </a:r>
          </a:p>
        </p:txBody>
      </p:sp>
      <p:sp>
        <p:nvSpPr>
          <p:cNvPr id="54" name="TextBox 53"/>
          <p:cNvSpPr txBox="1"/>
          <p:nvPr/>
        </p:nvSpPr>
        <p:spPr>
          <a:xfrm>
            <a:off x="6591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is an active strategy at 5 of 10 named players; the independent target list is shrinking.</a:t>
            </a:r>
          </a:p>
        </p:txBody>
      </p:sp>
      <p:sp>
        <p:nvSpPr>
          <p:cNvPr id="55" name="Rectangle 54"/>
          <p:cNvSpPr/>
          <p:nvPr/>
        </p:nvSpPr>
        <p:spPr>
          <a:xfrm>
            <a:off x="6286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86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6</a:t>
            </a:r>
          </a:p>
        </p:txBody>
      </p:sp>
      <p:sp>
        <p:nvSpPr>
          <p:cNvPr id="57" name="TextBox 56"/>
          <p:cNvSpPr txBox="1"/>
          <p:nvPr/>
        </p:nvSpPr>
        <p:spPr>
          <a:xfrm>
            <a:off x="6591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Success factors, in order</a:t>
            </a:r>
          </a:p>
        </p:txBody>
      </p:sp>
      <p:sp>
        <p:nvSpPr>
          <p:cNvPr id="58" name="TextBox 57"/>
          <p:cNvSpPr txBox="1"/>
          <p:nvPr/>
        </p:nvSpPr>
        <p:spPr>
          <a:xfrm>
            <a:off x="6591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 segment breadth, 2 scale and share, 3 geographic reach, 4 innovation pipeline, 5 strategic momentum.  Ranking leads: Diomed Group, Prestige Consumer Healthcare, NeilMed Pharmaceuticals.</a:t>
            </a:r>
          </a:p>
        </p:txBody>
      </p:sp>
      <p:cxnSp>
        <p:nvCxnSpPr>
          <p:cNvPr id="59" name="Connector 58"/>
          <p:cNvCxnSpPr/>
          <p:nvPr/>
        </p:nvCxnSpPr>
        <p:spPr>
          <a:xfrm>
            <a:off x="190500" y="521970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90500" y="5276850"/>
            <a:ext cx="3810000" cy="152400"/>
          </a:xfrm>
          <a:prstGeom prst="rect">
            <a:avLst/>
          </a:prstGeom>
          <a:noFill/>
        </p:spPr>
        <p:txBody>
          <a:bodyPr wrap="square" lIns="28575" rIns="28575" tIns="9525" bIns="9525" anchor="t">
            <a:spAutoFit/>
          </a:bodyPr>
          <a:lstStyle/>
          <a:p>
            <a:pPr algn="l"/>
            <a:r>
              <a:rPr sz="1100" b="1">
                <a:solidFill>
                  <a:srgbClr val="0F2D52"/>
                </a:solidFill>
                <a:latin typeface="Calibri"/>
              </a:rPr>
              <a:t>HOW THIS SECTION IS BUILT</a:t>
            </a:r>
          </a:p>
        </p:txBody>
      </p:sp>
      <p:sp>
        <p:nvSpPr>
          <p:cNvPr id="61" name="TextBox 60"/>
          <p:cNvSpPr txBox="1"/>
          <p:nvPr/>
        </p:nvSpPr>
        <p:spPr>
          <a:xfrm>
            <a:off x="190500" y="5448300"/>
            <a:ext cx="11811000" cy="5715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Pages 2 to 4 show where the market is and who plays.  Pages 5 to 7 rate every named company on twenty Ps (who they are, what they sell, how they win); a cell reads n/a where no evidence exists.  Page 8 turns the pattern into five success factors and a ranking.  Pages 9 and 10 list what each player is doing and what each of your departments should do about it.</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lock.png"/>
          <p:cNvPicPr>
            <a:picLocks noChangeAspect="1"/>
          </p:cNvPicPr>
          <p:nvPr/>
        </p:nvPicPr>
        <p:blipFill>
          <a:blip r:embed="rId4"/>
          <a:stretch>
            <a:fillRect/>
          </a:stretch>
        </p:blipFill>
        <p:spPr>
          <a:xfrm>
            <a:off x="873863" y="1401826"/>
            <a:ext cx="128699" cy="187198"/>
          </a:xfrm>
          <a:prstGeom prst="rect">
            <a:avLst/>
          </a:prstGeom>
        </p:spPr>
      </p:pic>
      <p:pic>
        <p:nvPicPr>
          <p:cNvPr id="64" name="Picture 63" descr="lock.png"/>
          <p:cNvPicPr>
            <a:picLocks noChangeAspect="1"/>
          </p:cNvPicPr>
          <p:nvPr/>
        </p:nvPicPr>
        <p:blipFill>
          <a:blip r:embed="rId4"/>
          <a:stretch>
            <a:fillRect/>
          </a:stretch>
        </p:blipFill>
        <p:spPr>
          <a:xfrm>
            <a:off x="2350238" y="1401826"/>
            <a:ext cx="128699" cy="187198"/>
          </a:xfrm>
          <a:prstGeom prst="rect">
            <a:avLst/>
          </a:prstGeom>
        </p:spPr>
      </p:pic>
      <p:pic>
        <p:nvPicPr>
          <p:cNvPr id="65" name="Picture 64" descr="lock.png"/>
          <p:cNvPicPr>
            <a:picLocks noChangeAspect="1"/>
          </p:cNvPicPr>
          <p:nvPr/>
        </p:nvPicPr>
        <p:blipFill>
          <a:blip r:embed="rId4"/>
          <a:stretch>
            <a:fillRect/>
          </a:stretch>
        </p:blipFill>
        <p:spPr>
          <a:xfrm>
            <a:off x="3826613" y="1401826"/>
            <a:ext cx="128699" cy="187198"/>
          </a:xfrm>
          <a:prstGeom prst="rect">
            <a:avLst/>
          </a:prstGeom>
        </p:spPr>
      </p:pic>
      <p:pic>
        <p:nvPicPr>
          <p:cNvPr id="66" name="Picture 65" descr="lock.png"/>
          <p:cNvPicPr>
            <a:picLocks noChangeAspect="1"/>
          </p:cNvPicPr>
          <p:nvPr/>
        </p:nvPicPr>
        <p:blipFill>
          <a:blip r:embed="rId4"/>
          <a:stretch>
            <a:fillRect/>
          </a:stretch>
        </p:blipFill>
        <p:spPr>
          <a:xfrm>
            <a:off x="11208488" y="1401826"/>
            <a:ext cx="128699" cy="187198"/>
          </a:xfrm>
          <a:prstGeom prst="rect">
            <a:avLst/>
          </a:prstGeom>
        </p:spPr>
      </p:pic>
      <p:sp>
        <p:nvSpPr>
          <p:cNvPr id="67" name="TextBox 66"/>
          <p:cNvSpPr txBox="1"/>
          <p:nvPr/>
        </p:nvSpPr>
        <p:spPr>
          <a:xfrm>
            <a:off x="4705350" y="1304925"/>
            <a:ext cx="826268" cy="186689"/>
          </a:xfrm>
          <a:prstGeom prst="rect">
            <a:avLst/>
          </a:prstGeom>
          <a:noFill/>
        </p:spPr>
        <p:txBody>
          <a:bodyPr wrap="none" lIns="0" rIns="0" tIns="0" bIns="0">
            <a:spAutoFit/>
          </a:bodyPr>
          <a:lstStyle/>
          <a:p>
            <a:r>
              <a:rPr sz="1100" b="1">
                <a:solidFill>
                  <a:srgbClr val="0F2D52"/>
                </a:solidFill>
                <a:latin typeface="Calibri"/>
              </a:rPr>
              <a:t>Audiologists,</a:t>
            </a:r>
          </a:p>
        </p:txBody>
      </p:sp>
      <p:pic>
        <p:nvPicPr>
          <p:cNvPr id="68" name="Picture 67" descr="lock.png"/>
          <p:cNvPicPr>
            <a:picLocks noChangeAspect="1"/>
          </p:cNvPicPr>
          <p:nvPr/>
        </p:nvPicPr>
        <p:blipFill>
          <a:blip r:embed="rId4"/>
          <a:stretch>
            <a:fillRect/>
          </a:stretch>
        </p:blipFill>
        <p:spPr>
          <a:xfrm>
            <a:off x="5479670" y="1295146"/>
            <a:ext cx="128699" cy="187198"/>
          </a:xfrm>
          <a:prstGeom prst="rect">
            <a:avLst/>
          </a:prstGeom>
        </p:spPr>
      </p:pic>
      <p:sp>
        <p:nvSpPr>
          <p:cNvPr id="69" name="TextBox 68"/>
          <p:cNvSpPr txBox="1"/>
          <p:nvPr/>
        </p:nvSpPr>
        <p:spPr>
          <a:xfrm>
            <a:off x="523875" y="2124075"/>
            <a:ext cx="1137319" cy="186689"/>
          </a:xfrm>
          <a:prstGeom prst="rect">
            <a:avLst/>
          </a:prstGeom>
          <a:noFill/>
        </p:spPr>
        <p:txBody>
          <a:bodyPr wrap="none" lIns="0" rIns="0" tIns="0" bIns="0">
            <a:spAutoFit/>
          </a:bodyPr>
          <a:lstStyle/>
          <a:p>
            <a:r>
              <a:rPr sz="1100" b="0">
                <a:solidFill>
                  <a:srgbClr val="1F2933"/>
                </a:solidFill>
                <a:latin typeface="Calibri"/>
              </a:rPr>
              <a:t>The top three hold</a:t>
            </a:r>
          </a:p>
        </p:txBody>
      </p:sp>
      <p:pic>
        <p:nvPicPr>
          <p:cNvPr id="70" name="Picture 69" descr="lock.png"/>
          <p:cNvPicPr>
            <a:picLocks noChangeAspect="1"/>
          </p:cNvPicPr>
          <p:nvPr/>
        </p:nvPicPr>
        <p:blipFill>
          <a:blip r:embed="rId4"/>
          <a:stretch>
            <a:fillRect/>
          </a:stretch>
        </p:blipFill>
        <p:spPr>
          <a:xfrm>
            <a:off x="1609246" y="2114296"/>
            <a:ext cx="128699" cy="187198"/>
          </a:xfrm>
          <a:prstGeom prst="rect">
            <a:avLst/>
          </a:prstGeom>
        </p:spPr>
      </p:pic>
      <p:sp>
        <p:nvSpPr>
          <p:cNvPr id="71" name="TextBox 70"/>
          <p:cNvSpPr txBox="1"/>
          <p:nvPr/>
        </p:nvSpPr>
        <p:spPr>
          <a:xfrm>
            <a:off x="1776742" y="2124075"/>
            <a:ext cx="3949327" cy="186689"/>
          </a:xfrm>
          <a:prstGeom prst="rect">
            <a:avLst/>
          </a:prstGeom>
          <a:noFill/>
        </p:spPr>
        <p:txBody>
          <a:bodyPr wrap="none" lIns="0" rIns="0" tIns="0" bIns="0">
            <a:spAutoFit/>
          </a:bodyPr>
          <a:lstStyle/>
          <a:p>
            <a:r>
              <a:rPr sz="1100" b="0">
                <a:solidFill>
                  <a:srgbClr val="1F2933"/>
                </a:solidFill>
                <a:latin typeface="Calibri"/>
              </a:rPr>
              <a:t>of 2026 value, but 3 companies lead the 8 sub-segments tracked; no</a:t>
            </a:r>
          </a:p>
        </p:txBody>
      </p:sp>
      <p:sp>
        <p:nvSpPr>
          <p:cNvPr id="72" name="TextBox 71"/>
          <p:cNvSpPr txBox="1"/>
          <p:nvPr/>
        </p:nvSpPr>
        <p:spPr>
          <a:xfrm>
            <a:off x="523875" y="2291715"/>
            <a:ext cx="1386433" cy="186689"/>
          </a:xfrm>
          <a:prstGeom prst="rect">
            <a:avLst/>
          </a:prstGeom>
          <a:noFill/>
        </p:spPr>
        <p:txBody>
          <a:bodyPr wrap="none" lIns="0" rIns="0" tIns="0" bIns="0">
            <a:spAutoFit/>
          </a:bodyPr>
          <a:lstStyle/>
          <a:p>
            <a:r>
              <a:rPr sz="1100" b="0">
                <a:solidFill>
                  <a:srgbClr val="1F2933"/>
                </a:solidFill>
                <a:latin typeface="Calibri"/>
              </a:rPr>
              <a:t>one leads more than 5.</a:t>
            </a:r>
          </a:p>
        </p:txBody>
      </p:sp>
      <p:sp>
        <p:nvSpPr>
          <p:cNvPr id="73" name="TextBox 72"/>
          <p:cNvSpPr txBox="1"/>
          <p:nvPr/>
        </p:nvSpPr>
        <p:spPr>
          <a:xfrm>
            <a:off x="523875" y="3228975"/>
            <a:ext cx="1364059" cy="186689"/>
          </a:xfrm>
          <a:prstGeom prst="rect">
            <a:avLst/>
          </a:prstGeom>
          <a:noFill/>
        </p:spPr>
        <p:txBody>
          <a:bodyPr wrap="none" lIns="0" rIns="0" tIns="0" bIns="0">
            <a:spAutoFit/>
          </a:bodyPr>
          <a:lstStyle/>
          <a:p>
            <a:r>
              <a:rPr sz="1100" b="0">
                <a:solidFill>
                  <a:srgbClr val="1F2933"/>
                </a:solidFill>
                <a:latin typeface="Calibri"/>
              </a:rPr>
              <a:t>Tier 1 (4 players) holds</a:t>
            </a:r>
          </a:p>
        </p:txBody>
      </p:sp>
      <p:pic>
        <p:nvPicPr>
          <p:cNvPr id="74" name="Picture 73" descr="lock.png"/>
          <p:cNvPicPr>
            <a:picLocks noChangeAspect="1"/>
          </p:cNvPicPr>
          <p:nvPr/>
        </p:nvPicPr>
        <p:blipFill>
          <a:blip r:embed="rId4"/>
          <a:stretch>
            <a:fillRect/>
          </a:stretch>
        </p:blipFill>
        <p:spPr>
          <a:xfrm>
            <a:off x="1835985" y="3219196"/>
            <a:ext cx="128699" cy="187198"/>
          </a:xfrm>
          <a:prstGeom prst="rect">
            <a:avLst/>
          </a:prstGeom>
        </p:spPr>
      </p:pic>
      <p:sp>
        <p:nvSpPr>
          <p:cNvPr id="75" name="TextBox 74"/>
          <p:cNvSpPr txBox="1"/>
          <p:nvPr/>
        </p:nvSpPr>
        <p:spPr>
          <a:xfrm>
            <a:off x="2003481" y="3228975"/>
            <a:ext cx="1875656" cy="186689"/>
          </a:xfrm>
          <a:prstGeom prst="rect">
            <a:avLst/>
          </a:prstGeom>
          <a:noFill/>
        </p:spPr>
        <p:txBody>
          <a:bodyPr wrap="none" lIns="0" rIns="0" tIns="0" bIns="0">
            <a:spAutoFit/>
          </a:bodyPr>
          <a:lstStyle/>
          <a:p>
            <a:r>
              <a:rPr sz="1100" b="0">
                <a:solidFill>
                  <a:srgbClr val="1F2933"/>
                </a:solidFill>
                <a:latin typeface="Calibri"/>
              </a:rPr>
              <a:t>; Tier 2 and Tier 3 together hold</a:t>
            </a:r>
          </a:p>
        </p:txBody>
      </p:sp>
      <p:pic>
        <p:nvPicPr>
          <p:cNvPr id="76" name="Picture 75" descr="lock.png"/>
          <p:cNvPicPr>
            <a:picLocks noChangeAspect="1"/>
          </p:cNvPicPr>
          <p:nvPr/>
        </p:nvPicPr>
        <p:blipFill>
          <a:blip r:embed="rId4"/>
          <a:stretch>
            <a:fillRect/>
          </a:stretch>
        </p:blipFill>
        <p:spPr>
          <a:xfrm>
            <a:off x="3827189" y="3219196"/>
            <a:ext cx="128699" cy="187198"/>
          </a:xfrm>
          <a:prstGeom prst="rect">
            <a:avLst/>
          </a:prstGeom>
        </p:spPr>
      </p:pic>
      <p:sp>
        <p:nvSpPr>
          <p:cNvPr id="77" name="TextBox 76"/>
          <p:cNvSpPr txBox="1"/>
          <p:nvPr/>
        </p:nvSpPr>
        <p:spPr>
          <a:xfrm>
            <a:off x="3994685" y="3228975"/>
            <a:ext cx="111397" cy="186689"/>
          </a:xfrm>
          <a:prstGeom prst="rect">
            <a:avLst/>
          </a:prstGeom>
          <a:noFill/>
        </p:spPr>
        <p:txBody>
          <a:bodyPr wrap="none" lIns="0" rIns="0" tIns="0" bIns="0">
            <a:spAutoFit/>
          </a:bodyPr>
          <a:lstStyle/>
          <a:p>
            <a:r>
              <a:rPr sz="1100" b="0">
                <a:solidFill>
                  <a:srgbClr val="1F2933"/>
                </a:solidFill>
                <a:latin typeface="Calibri"/>
              </a:rPr>
              <a:t>.</a:t>
            </a:r>
          </a:p>
        </p:txBody>
      </p:sp>
      <p:sp>
        <p:nvSpPr>
          <p:cNvPr id="78" name="TextBox 77"/>
          <p:cNvSpPr txBox="1"/>
          <p:nvPr/>
        </p:nvSpPr>
        <p:spPr>
          <a:xfrm>
            <a:off x="523875" y="4333875"/>
            <a:ext cx="4996225" cy="186689"/>
          </a:xfrm>
          <a:prstGeom prst="rect">
            <a:avLst/>
          </a:prstGeom>
          <a:noFill/>
        </p:spPr>
        <p:txBody>
          <a:bodyPr wrap="none" lIns="0" rIns="0" tIns="0" bIns="0">
            <a:spAutoFit/>
          </a:bodyPr>
          <a:lstStyle/>
          <a:p>
            <a:r>
              <a:rPr sz="1100" b="0">
                <a:solidFill>
                  <a:srgbClr val="1F2933"/>
                </a:solidFill>
                <a:latin typeface="Calibri"/>
              </a:rPr>
              <a:t>'Irrigation Devices and Accessories' is the largest line; 'Ear Drops' compounds fastest at</a:t>
            </a:r>
          </a:p>
        </p:txBody>
      </p:sp>
      <p:pic>
        <p:nvPicPr>
          <p:cNvPr id="79" name="Picture 78" descr="lock.png"/>
          <p:cNvPicPr>
            <a:picLocks noChangeAspect="1"/>
          </p:cNvPicPr>
          <p:nvPr/>
        </p:nvPicPr>
        <p:blipFill>
          <a:blip r:embed="rId4"/>
          <a:stretch>
            <a:fillRect/>
          </a:stretch>
        </p:blipFill>
        <p:spPr>
          <a:xfrm>
            <a:off x="5468151" y="4324096"/>
            <a:ext cx="128699" cy="187198"/>
          </a:xfrm>
          <a:prstGeom prst="rect">
            <a:avLst/>
          </a:prstGeom>
        </p:spPr>
      </p:pic>
      <p:sp>
        <p:nvSpPr>
          <p:cNvPr id="80" name="TextBox 79"/>
          <p:cNvSpPr txBox="1"/>
          <p:nvPr/>
        </p:nvSpPr>
        <p:spPr>
          <a:xfrm>
            <a:off x="523875" y="4501515"/>
            <a:ext cx="430617" cy="186689"/>
          </a:xfrm>
          <a:prstGeom prst="rect">
            <a:avLst/>
          </a:prstGeom>
          <a:noFill/>
        </p:spPr>
        <p:txBody>
          <a:bodyPr wrap="none" lIns="0" rIns="0" tIns="0" bIns="0">
            <a:spAutoFit/>
          </a:bodyPr>
          <a:lstStyle/>
          <a:p>
            <a:r>
              <a:rPr sz="1100" b="0">
                <a:solidFill>
                  <a:srgbClr val="1F2933"/>
                </a:solidFill>
                <a:latin typeface="Calibri"/>
              </a:rPr>
              <a:t>CAGR.</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Segment Leadership Map</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Share by player group and which named player leads or is active in each sub-segment, 2026</a:t>
            </a:r>
          </a:p>
        </p:txBody>
      </p:sp>
      <p:sp>
        <p:nvSpPr>
          <p:cNvPr id="10" name="TextBox 9"/>
          <p:cNvSpPr txBox="1"/>
          <p:nvPr/>
        </p:nvSpPr>
        <p:spPr>
          <a:xfrm>
            <a:off x="190500" y="104775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Who holds the market, 2026</a:t>
            </a:r>
          </a:p>
        </p:txBody>
      </p:sp>
      <p:sp>
        <p:nvSpPr>
          <p:cNvPr id="11" name="Rectangle 10"/>
          <p:cNvSpPr/>
          <p:nvPr/>
        </p:nvSpPr>
        <p:spPr>
          <a:xfrm>
            <a:off x="190500" y="1257300"/>
            <a:ext cx="4509884" cy="266700"/>
          </a:xfrm>
          <a:prstGeom prst="rect">
            <a:avLst/>
          </a:prstGeom>
          <a:solidFill>
            <a:srgbClr val="0F2D5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650" y="1257300"/>
            <a:ext cx="4433684"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3" name="Rectangle 12"/>
          <p:cNvSpPr/>
          <p:nvPr/>
        </p:nvSpPr>
        <p:spPr>
          <a:xfrm>
            <a:off x="4700384" y="1257300"/>
            <a:ext cx="1536162" cy="266700"/>
          </a:xfrm>
          <a:prstGeom prst="rect">
            <a:avLst/>
          </a:prstGeom>
          <a:solidFill>
            <a:srgbClr val="1F6FA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7534" y="1257300"/>
            <a:ext cx="1459962"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5" name="Rectangle 14"/>
          <p:cNvSpPr/>
          <p:nvPr/>
        </p:nvSpPr>
        <p:spPr>
          <a:xfrm>
            <a:off x="6236546" y="1257300"/>
            <a:ext cx="2242416" cy="266700"/>
          </a:xfrm>
          <a:prstGeom prst="rect">
            <a:avLst/>
          </a:prstGeom>
          <a:solidFill>
            <a:srgbClr val="6FA0C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3696" y="1257300"/>
            <a:ext cx="2166216"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7" name="Rectangle 16"/>
          <p:cNvSpPr/>
          <p:nvPr/>
        </p:nvSpPr>
        <p:spPr>
          <a:xfrm>
            <a:off x="8478962" y="1257300"/>
            <a:ext cx="3522538" cy="266700"/>
          </a:xfrm>
          <a:prstGeom prst="rect">
            <a:avLst/>
          </a:prstGeom>
          <a:solidFill>
            <a:srgbClr val="A9C6E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36112" y="1257300"/>
            <a:ext cx="3446338" cy="266700"/>
          </a:xfrm>
          <a:prstGeom prst="rect">
            <a:avLst/>
          </a:prstGeom>
          <a:noFill/>
        </p:spPr>
        <p:txBody>
          <a:bodyPr wrap="square" lIns="28575" rIns="28575" tIns="9525" bIns="9525" anchor="ctr">
            <a:spAutoFit/>
          </a:bodyPr>
          <a:lstStyle/>
          <a:p>
            <a:pPr algn="l"/>
            <a:r>
              <a:rPr sz="1100" b="1">
                <a:solidFill>
                  <a:srgbClr val="0F2D52"/>
                </a:solidFill>
                <a:latin typeface="Calibri"/>
              </a:rPr>
              <a:t/>
            </a:r>
          </a:p>
        </p:txBody>
      </p:sp>
      <p:sp>
        <p:nvSpPr>
          <p:cNvPr id="19" name="Rectangle 18"/>
          <p:cNvSpPr/>
          <p:nvPr/>
        </p:nvSpPr>
        <p:spPr>
          <a:xfrm>
            <a:off x="190500" y="1600200"/>
            <a:ext cx="85725" cy="857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43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Prestige Consumer Healthcare, Diomed Group, NeilMed Pharmaceuticals</a:t>
            </a:r>
          </a:p>
        </p:txBody>
      </p:sp>
      <p:sp>
        <p:nvSpPr>
          <p:cNvPr id="21" name="Rectangle 20"/>
          <p:cNvSpPr/>
          <p:nvPr/>
        </p:nvSpPr>
        <p:spPr>
          <a:xfrm>
            <a:off x="3143250" y="1600200"/>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670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Quest Products, Eosera</a:t>
            </a:r>
          </a:p>
        </p:txBody>
      </p:sp>
      <p:sp>
        <p:nvSpPr>
          <p:cNvPr id="23" name="Rectangle 22"/>
          <p:cNvSpPr/>
          <p:nvPr/>
        </p:nvSpPr>
        <p:spPr>
          <a:xfrm>
            <a:off x="6096000" y="1600200"/>
            <a:ext cx="85725" cy="85725"/>
          </a:xfrm>
          <a:prstGeom prst="rect">
            <a:avLst/>
          </a:prstGeom>
          <a:solidFill>
            <a:srgbClr val="6FA0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98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Coopération Pharmaceutique Française, Orion Pharma, Farmacia Nordic, Key Pharmaceuticals, Lanes Health</a:t>
            </a:r>
          </a:p>
        </p:txBody>
      </p:sp>
      <p:sp>
        <p:nvSpPr>
          <p:cNvPr id="25" name="Rectangle 24"/>
          <p:cNvSpPr/>
          <p:nvPr/>
        </p:nvSpPr>
        <p:spPr>
          <a:xfrm>
            <a:off x="9048750" y="1600200"/>
            <a:ext cx="85725" cy="857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725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Long tail of regional and niche suppliers</a:t>
            </a:r>
          </a:p>
        </p:txBody>
      </p:sp>
      <p:cxnSp>
        <p:nvCxnSpPr>
          <p:cNvPr id="27" name="Connector 26"/>
          <p:cNvCxnSpPr/>
          <p:nvPr/>
        </p:nvCxnSpPr>
        <p:spPr>
          <a:xfrm>
            <a:off x="190500" y="19240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90500" y="1981200"/>
            <a:ext cx="8572500" cy="171450"/>
          </a:xfrm>
          <a:prstGeom prst="rect">
            <a:avLst/>
          </a:prstGeom>
          <a:noFill/>
        </p:spPr>
        <p:txBody>
          <a:bodyPr wrap="square" lIns="28575" rIns="28575" tIns="9525" bIns="9525" anchor="t">
            <a:spAutoFit/>
          </a:bodyPr>
          <a:lstStyle/>
          <a:p>
            <a:pPr algn="l"/>
            <a:r>
              <a:rPr sz="1100" b="1">
                <a:solidFill>
                  <a:srgbClr val="0F2D52"/>
                </a:solidFill>
                <a:latin typeface="Calibri"/>
              </a:rPr>
              <a:t>Who leads which sub-segment, 2026  (full = leader, half = active)</a:t>
            </a:r>
          </a:p>
        </p:txBody>
      </p:sp>
      <p:sp>
        <p:nvSpPr>
          <p:cNvPr id="29" name="TextBox 28"/>
          <p:cNvSpPr txBox="1"/>
          <p:nvPr/>
        </p:nvSpPr>
        <p:spPr>
          <a:xfrm>
            <a:off x="3037846" y="2114550"/>
            <a:ext cx="108473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Irrigation Devices and Accessories</a:t>
            </a:r>
          </a:p>
        </p:txBody>
      </p:sp>
      <p:sp>
        <p:nvSpPr>
          <p:cNvPr id="30" name="TextBox 29"/>
          <p:cNvSpPr txBox="1"/>
          <p:nvPr/>
        </p:nvSpPr>
        <p:spPr>
          <a:xfrm>
            <a:off x="4160684" y="2114550"/>
            <a:ext cx="108473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Ear Drops</a:t>
            </a:r>
          </a:p>
        </p:txBody>
      </p:sp>
      <p:sp>
        <p:nvSpPr>
          <p:cNvPr id="31" name="TextBox 30"/>
          <p:cNvSpPr txBox="1"/>
          <p:nvPr/>
        </p:nvSpPr>
        <p:spPr>
          <a:xfrm>
            <a:off x="5283522" y="2114550"/>
            <a:ext cx="108473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Ear Sprays</a:t>
            </a:r>
          </a:p>
        </p:txBody>
      </p:sp>
      <p:sp>
        <p:nvSpPr>
          <p:cNvPr id="32" name="TextBox 31"/>
          <p:cNvSpPr txBox="1"/>
          <p:nvPr/>
        </p:nvSpPr>
        <p:spPr>
          <a:xfrm>
            <a:off x="6406360" y="2114550"/>
            <a:ext cx="108473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Manual Removal Tools</a:t>
            </a:r>
          </a:p>
        </p:txBody>
      </p:sp>
      <p:sp>
        <p:nvSpPr>
          <p:cNvPr id="33" name="TextBox 32"/>
          <p:cNvSpPr txBox="1"/>
          <p:nvPr/>
        </p:nvSpPr>
        <p:spPr>
          <a:xfrm>
            <a:off x="7529198" y="2114550"/>
            <a:ext cx="108473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Audiologists</a:t>
            </a:r>
          </a:p>
        </p:txBody>
      </p:sp>
      <p:sp>
        <p:nvSpPr>
          <p:cNvPr id="34" name="TextBox 33"/>
          <p:cNvSpPr txBox="1"/>
          <p:nvPr/>
        </p:nvSpPr>
        <p:spPr>
          <a:xfrm>
            <a:off x="8652036" y="2114550"/>
            <a:ext cx="108473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ENT specialists</a:t>
            </a:r>
          </a:p>
        </p:txBody>
      </p:sp>
      <p:sp>
        <p:nvSpPr>
          <p:cNvPr id="35" name="TextBox 34"/>
          <p:cNvSpPr txBox="1"/>
          <p:nvPr/>
        </p:nvSpPr>
        <p:spPr>
          <a:xfrm>
            <a:off x="9774874" y="2114550"/>
            <a:ext cx="108473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Others</a:t>
            </a:r>
          </a:p>
        </p:txBody>
      </p:sp>
      <p:sp>
        <p:nvSpPr>
          <p:cNvPr id="36" name="TextBox 35"/>
          <p:cNvSpPr txBox="1"/>
          <p:nvPr/>
        </p:nvSpPr>
        <p:spPr>
          <a:xfrm>
            <a:off x="10897712" y="2114550"/>
            <a:ext cx="108473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General practitioners</a:t>
            </a:r>
          </a:p>
        </p:txBody>
      </p:sp>
      <p:cxnSp>
        <p:nvCxnSpPr>
          <p:cNvPr id="37" name="Connector 36"/>
          <p:cNvCxnSpPr/>
          <p:nvPr/>
        </p:nvCxnSpPr>
        <p:spPr>
          <a:xfrm>
            <a:off x="190500" y="2609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90500" y="2638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5750" y="26289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Prestige Consumer Healthcare</a:t>
            </a:r>
          </a:p>
        </p:txBody>
      </p:sp>
      <p:sp>
        <p:nvSpPr>
          <p:cNvPr id="40" name="TextBox 39"/>
          <p:cNvSpPr txBox="1"/>
          <p:nvPr/>
        </p:nvSpPr>
        <p:spPr>
          <a:xfrm>
            <a:off x="285750" y="27908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1" name="Oval 40"/>
          <p:cNvSpPr/>
          <p:nvPr/>
        </p:nvSpPr>
        <p:spPr>
          <a:xfrm>
            <a:off x="3504015"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3581400"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626853"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749691"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872529"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995367"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8067675" y="27051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118205"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9191625" y="27051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241043"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1363881"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190500" y="2952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190500" y="2981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5750" y="29718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Diomed Group</a:t>
            </a:r>
          </a:p>
        </p:txBody>
      </p:sp>
      <p:sp>
        <p:nvSpPr>
          <p:cNvPr id="55" name="TextBox 54"/>
          <p:cNvSpPr txBox="1"/>
          <p:nvPr/>
        </p:nvSpPr>
        <p:spPr>
          <a:xfrm>
            <a:off x="285750" y="31337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6" name="Oval 55"/>
          <p:cNvSpPr/>
          <p:nvPr/>
        </p:nvSpPr>
        <p:spPr>
          <a:xfrm>
            <a:off x="350401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3581400"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4626853"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4705350" y="30480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5749691"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6872529"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6953250" y="30480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7995367"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8067675" y="30480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118205" y="3048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0241043"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10315575" y="30480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1363881"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114395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a:off x="190500" y="3295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190500" y="3324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85750" y="33147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NeilMed Pharmaceuticals</a:t>
            </a:r>
          </a:p>
        </p:txBody>
      </p:sp>
      <p:sp>
        <p:nvSpPr>
          <p:cNvPr id="73" name="TextBox 72"/>
          <p:cNvSpPr txBox="1"/>
          <p:nvPr/>
        </p:nvSpPr>
        <p:spPr>
          <a:xfrm>
            <a:off x="285750" y="34766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74" name="Oval 73"/>
          <p:cNvSpPr/>
          <p:nvPr/>
        </p:nvSpPr>
        <p:spPr>
          <a:xfrm>
            <a:off x="3504015"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4626853"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5749691"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5829300" y="3390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6872529"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7995367"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911820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Freeform 80"/>
          <p:cNvSpPr/>
          <p:nvPr/>
        </p:nvSpPr>
        <p:spPr>
          <a:xfrm>
            <a:off x="9191625" y="3390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0241043"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10315575" y="3390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1363881"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1143952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190500" y="3667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85750" y="36576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Quest Products</a:t>
            </a:r>
          </a:p>
        </p:txBody>
      </p:sp>
      <p:sp>
        <p:nvSpPr>
          <p:cNvPr id="89" name="TextBox 88"/>
          <p:cNvSpPr txBox="1"/>
          <p:nvPr/>
        </p:nvSpPr>
        <p:spPr>
          <a:xfrm>
            <a:off x="285750" y="38195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90" name="Oval 89"/>
          <p:cNvSpPr/>
          <p:nvPr/>
        </p:nvSpPr>
        <p:spPr>
          <a:xfrm>
            <a:off x="350401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4626853"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4705350" y="3733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5749691"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5829300" y="3733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6872529"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6953250" y="3733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7995367"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8067675" y="37338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911820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reeform 99"/>
          <p:cNvSpPr/>
          <p:nvPr/>
        </p:nvSpPr>
        <p:spPr>
          <a:xfrm>
            <a:off x="9191625" y="3733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10241043"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11363881"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3" name="Connector 102"/>
          <p:cNvCxnSpPr/>
          <p:nvPr/>
        </p:nvCxnSpPr>
        <p:spPr>
          <a:xfrm>
            <a:off x="190500" y="3981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190500" y="4010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85750" y="40005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Eosera</a:t>
            </a:r>
          </a:p>
        </p:txBody>
      </p:sp>
      <p:sp>
        <p:nvSpPr>
          <p:cNvPr id="106" name="TextBox 105"/>
          <p:cNvSpPr txBox="1"/>
          <p:nvPr/>
        </p:nvSpPr>
        <p:spPr>
          <a:xfrm>
            <a:off x="285750" y="41624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07" name="Oval 106"/>
          <p:cNvSpPr/>
          <p:nvPr/>
        </p:nvSpPr>
        <p:spPr>
          <a:xfrm>
            <a:off x="350401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3581400"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4626853"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Freeform 109"/>
          <p:cNvSpPr/>
          <p:nvPr/>
        </p:nvSpPr>
        <p:spPr>
          <a:xfrm>
            <a:off x="4705350" y="4076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5749691"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Freeform 111"/>
          <p:cNvSpPr/>
          <p:nvPr/>
        </p:nvSpPr>
        <p:spPr>
          <a:xfrm>
            <a:off x="5829300" y="4076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6872529"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7995367"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8067675" y="40767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911820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10241043"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10315575" y="4076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11363881"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0" name="Connector 119"/>
          <p:cNvCxnSpPr/>
          <p:nvPr/>
        </p:nvCxnSpPr>
        <p:spPr>
          <a:xfrm>
            <a:off x="190500" y="4324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1" name="Rectangle 120"/>
          <p:cNvSpPr/>
          <p:nvPr/>
        </p:nvSpPr>
        <p:spPr>
          <a:xfrm>
            <a:off x="190500" y="4352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85750" y="43434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Coopération Pharmaceutique Française</a:t>
            </a:r>
          </a:p>
        </p:txBody>
      </p:sp>
      <p:sp>
        <p:nvSpPr>
          <p:cNvPr id="123" name="TextBox 122"/>
          <p:cNvSpPr txBox="1"/>
          <p:nvPr/>
        </p:nvSpPr>
        <p:spPr>
          <a:xfrm>
            <a:off x="285750" y="45053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24" name="Oval 123"/>
          <p:cNvSpPr/>
          <p:nvPr/>
        </p:nvSpPr>
        <p:spPr>
          <a:xfrm>
            <a:off x="350401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Freeform 124"/>
          <p:cNvSpPr/>
          <p:nvPr/>
        </p:nvSpPr>
        <p:spPr>
          <a:xfrm>
            <a:off x="3581400"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4626853"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Freeform 126"/>
          <p:cNvSpPr/>
          <p:nvPr/>
        </p:nvSpPr>
        <p:spPr>
          <a:xfrm>
            <a:off x="4705350" y="4419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5749691"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6872529"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7995367"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911820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Freeform 131"/>
          <p:cNvSpPr/>
          <p:nvPr/>
        </p:nvSpPr>
        <p:spPr>
          <a:xfrm>
            <a:off x="9191625" y="4419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10241043"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10315575" y="4419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11363881"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6" name="Connector 135"/>
          <p:cNvCxnSpPr/>
          <p:nvPr/>
        </p:nvCxnSpPr>
        <p:spPr>
          <a:xfrm>
            <a:off x="190500" y="4667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7" name="Rectangle 136"/>
          <p:cNvSpPr/>
          <p:nvPr/>
        </p:nvSpPr>
        <p:spPr>
          <a:xfrm>
            <a:off x="190500" y="4695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285750" y="46863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Orion Pharma</a:t>
            </a:r>
          </a:p>
        </p:txBody>
      </p:sp>
      <p:sp>
        <p:nvSpPr>
          <p:cNvPr id="139" name="TextBox 138"/>
          <p:cNvSpPr txBox="1"/>
          <p:nvPr/>
        </p:nvSpPr>
        <p:spPr>
          <a:xfrm>
            <a:off x="285750" y="48482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40" name="Oval 139"/>
          <p:cNvSpPr/>
          <p:nvPr/>
        </p:nvSpPr>
        <p:spPr>
          <a:xfrm>
            <a:off x="350401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Freeform 140"/>
          <p:cNvSpPr/>
          <p:nvPr/>
        </p:nvSpPr>
        <p:spPr>
          <a:xfrm>
            <a:off x="3581400"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626853"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5749691"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Freeform 143"/>
          <p:cNvSpPr/>
          <p:nvPr/>
        </p:nvSpPr>
        <p:spPr>
          <a:xfrm>
            <a:off x="5829300" y="4762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6872529"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7995367"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reeform 146"/>
          <p:cNvSpPr/>
          <p:nvPr/>
        </p:nvSpPr>
        <p:spPr>
          <a:xfrm>
            <a:off x="8067675" y="47625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911820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Freeform 148"/>
          <p:cNvSpPr/>
          <p:nvPr/>
        </p:nvSpPr>
        <p:spPr>
          <a:xfrm>
            <a:off x="9191625" y="4762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10241043"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11363881"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2" name="Connector 151"/>
          <p:cNvCxnSpPr/>
          <p:nvPr/>
        </p:nvCxnSpPr>
        <p:spPr>
          <a:xfrm>
            <a:off x="190500" y="5010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3" name="Rectangle 152"/>
          <p:cNvSpPr/>
          <p:nvPr/>
        </p:nvSpPr>
        <p:spPr>
          <a:xfrm>
            <a:off x="190500" y="5038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285750" y="50292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Farmacia Nordic</a:t>
            </a:r>
          </a:p>
        </p:txBody>
      </p:sp>
      <p:sp>
        <p:nvSpPr>
          <p:cNvPr id="155" name="TextBox 154"/>
          <p:cNvSpPr txBox="1"/>
          <p:nvPr/>
        </p:nvSpPr>
        <p:spPr>
          <a:xfrm>
            <a:off x="285750" y="51911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56" name="Oval 155"/>
          <p:cNvSpPr/>
          <p:nvPr/>
        </p:nvSpPr>
        <p:spPr>
          <a:xfrm>
            <a:off x="350401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4626853"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Freeform 157"/>
          <p:cNvSpPr/>
          <p:nvPr/>
        </p:nvSpPr>
        <p:spPr>
          <a:xfrm>
            <a:off x="4705350" y="51054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5749691"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Freeform 159"/>
          <p:cNvSpPr/>
          <p:nvPr/>
        </p:nvSpPr>
        <p:spPr>
          <a:xfrm>
            <a:off x="5829300" y="51054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6872529"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7995367"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Freeform 162"/>
          <p:cNvSpPr/>
          <p:nvPr/>
        </p:nvSpPr>
        <p:spPr>
          <a:xfrm>
            <a:off x="8067675" y="51054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911820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10241043"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Freeform 165"/>
          <p:cNvSpPr/>
          <p:nvPr/>
        </p:nvSpPr>
        <p:spPr>
          <a:xfrm>
            <a:off x="10315575" y="5105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11363881"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8" name="Connector 167"/>
          <p:cNvCxnSpPr/>
          <p:nvPr/>
        </p:nvCxnSpPr>
        <p:spPr>
          <a:xfrm>
            <a:off x="190500" y="5353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9" name="Rectangle 168"/>
          <p:cNvSpPr/>
          <p:nvPr/>
        </p:nvSpPr>
        <p:spPr>
          <a:xfrm>
            <a:off x="190500" y="5381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285750" y="53721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Key Pharmaceuticals</a:t>
            </a:r>
          </a:p>
        </p:txBody>
      </p:sp>
      <p:sp>
        <p:nvSpPr>
          <p:cNvPr id="171" name="TextBox 170"/>
          <p:cNvSpPr txBox="1"/>
          <p:nvPr/>
        </p:nvSpPr>
        <p:spPr>
          <a:xfrm>
            <a:off x="285750" y="55340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72" name="Oval 171"/>
          <p:cNvSpPr/>
          <p:nvPr/>
        </p:nvSpPr>
        <p:spPr>
          <a:xfrm>
            <a:off x="350401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Freeform 172"/>
          <p:cNvSpPr/>
          <p:nvPr/>
        </p:nvSpPr>
        <p:spPr>
          <a:xfrm>
            <a:off x="3581400"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4626853"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Freeform 174"/>
          <p:cNvSpPr/>
          <p:nvPr/>
        </p:nvSpPr>
        <p:spPr>
          <a:xfrm>
            <a:off x="4705350" y="5448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5749691"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Freeform 176"/>
          <p:cNvSpPr/>
          <p:nvPr/>
        </p:nvSpPr>
        <p:spPr>
          <a:xfrm>
            <a:off x="5829300" y="5448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6872529"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7995367"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911820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Freeform 180"/>
          <p:cNvSpPr/>
          <p:nvPr/>
        </p:nvSpPr>
        <p:spPr>
          <a:xfrm>
            <a:off x="9191625" y="54483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10241043"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Freeform 182"/>
          <p:cNvSpPr/>
          <p:nvPr/>
        </p:nvSpPr>
        <p:spPr>
          <a:xfrm>
            <a:off x="10315575" y="54483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11363881"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5" name="Connector 184"/>
          <p:cNvCxnSpPr/>
          <p:nvPr/>
        </p:nvCxnSpPr>
        <p:spPr>
          <a:xfrm>
            <a:off x="190500" y="5695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86" name="Rectangle 185"/>
          <p:cNvSpPr/>
          <p:nvPr/>
        </p:nvSpPr>
        <p:spPr>
          <a:xfrm>
            <a:off x="190500" y="5724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285750" y="57150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Lanes Health</a:t>
            </a:r>
          </a:p>
        </p:txBody>
      </p:sp>
      <p:sp>
        <p:nvSpPr>
          <p:cNvPr id="188" name="TextBox 187"/>
          <p:cNvSpPr txBox="1"/>
          <p:nvPr/>
        </p:nvSpPr>
        <p:spPr>
          <a:xfrm>
            <a:off x="285750" y="58769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89" name="Oval 188"/>
          <p:cNvSpPr/>
          <p:nvPr/>
        </p:nvSpPr>
        <p:spPr>
          <a:xfrm>
            <a:off x="350401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Freeform 189"/>
          <p:cNvSpPr/>
          <p:nvPr/>
        </p:nvSpPr>
        <p:spPr>
          <a:xfrm>
            <a:off x="3581400"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4626853"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Freeform 191"/>
          <p:cNvSpPr/>
          <p:nvPr/>
        </p:nvSpPr>
        <p:spPr>
          <a:xfrm>
            <a:off x="4705350" y="57912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5749691"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6872529"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7995367"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Freeform 195"/>
          <p:cNvSpPr/>
          <p:nvPr/>
        </p:nvSpPr>
        <p:spPr>
          <a:xfrm>
            <a:off x="8067675" y="57912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911820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Freeform 197"/>
          <p:cNvSpPr/>
          <p:nvPr/>
        </p:nvSpPr>
        <p:spPr>
          <a:xfrm>
            <a:off x="9191625" y="5791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10241043"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11363881"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1" name="Connector 200"/>
          <p:cNvCxnSpPr/>
          <p:nvPr/>
        </p:nvCxnSpPr>
        <p:spPr>
          <a:xfrm>
            <a:off x="190500" y="6038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202" name="Rectangle 201"/>
          <p:cNvSpPr/>
          <p:nvPr/>
        </p:nvSpPr>
        <p:spPr>
          <a:xfrm>
            <a:off x="190500" y="6124575"/>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31432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1</a:t>
            </a:r>
          </a:p>
        </p:txBody>
      </p:sp>
      <p:sp>
        <p:nvSpPr>
          <p:cNvPr id="204" name="Rectangle 203"/>
          <p:cNvSpPr/>
          <p:nvPr/>
        </p:nvSpPr>
        <p:spPr>
          <a:xfrm>
            <a:off x="847725" y="6124575"/>
            <a:ext cx="85725" cy="85725"/>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971550"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2</a:t>
            </a:r>
          </a:p>
        </p:txBody>
      </p:sp>
      <p:sp>
        <p:nvSpPr>
          <p:cNvPr id="206" name="Rectangle 205"/>
          <p:cNvSpPr/>
          <p:nvPr/>
        </p:nvSpPr>
        <p:spPr>
          <a:xfrm>
            <a:off x="1504950" y="6124575"/>
            <a:ext cx="85725" cy="85725"/>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162877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3</a:t>
            </a:r>
          </a:p>
        </p:txBody>
      </p:sp>
      <p:sp>
        <p:nvSpPr>
          <p:cNvPr id="208" name="TextBox 207"/>
          <p:cNvSpPr txBox="1"/>
          <p:nvPr/>
        </p:nvSpPr>
        <p:spPr>
          <a:xfrm>
            <a:off x="190500" y="6286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209" name="TextBox 208"/>
          <p:cNvSpPr txBox="1"/>
          <p:nvPr/>
        </p:nvSpPr>
        <p:spPr>
          <a:xfrm>
            <a:off x="190500" y="64008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Read across a row to see breadth; down a column to see contestability.  'Irrigation Devices and Accessories' is the most contested column (8 players active); 'Manual Removal Tools' is the most open (3).</a:t>
            </a:r>
          </a:p>
        </p:txBody>
      </p:sp>
      <p:sp>
        <p:nvSpPr>
          <p:cNvPr id="210" name="TextBox 20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11" name="TextBox 210"/>
          <p:cNvSpPr txBox="1"/>
          <p:nvPr/>
        </p:nvSpPr>
        <p:spPr>
          <a:xfrm>
            <a:off x="276225" y="1306830"/>
            <a:ext cx="398164" cy="186689"/>
          </a:xfrm>
          <a:prstGeom prst="rect">
            <a:avLst/>
          </a:prstGeom>
          <a:noFill/>
        </p:spPr>
        <p:txBody>
          <a:bodyPr wrap="none" lIns="0" rIns="0" tIns="0" bIns="0">
            <a:spAutoFit/>
          </a:bodyPr>
          <a:lstStyle/>
          <a:p>
            <a:r>
              <a:rPr sz="1100" b="1">
                <a:solidFill>
                  <a:srgbClr val="FFFFFF"/>
                </a:solidFill>
                <a:latin typeface="Calibri"/>
              </a:rPr>
              <a:t>Top 3</a:t>
            </a:r>
          </a:p>
        </p:txBody>
      </p:sp>
      <p:pic>
        <p:nvPicPr>
          <p:cNvPr id="212" name="Picture 211" descr="lock.png"/>
          <p:cNvPicPr>
            <a:picLocks noChangeAspect="1"/>
          </p:cNvPicPr>
          <p:nvPr/>
        </p:nvPicPr>
        <p:blipFill>
          <a:blip r:embed="rId4"/>
          <a:stretch>
            <a:fillRect/>
          </a:stretch>
        </p:blipFill>
        <p:spPr>
          <a:xfrm>
            <a:off x="622441" y="1297051"/>
            <a:ext cx="128699" cy="187198"/>
          </a:xfrm>
          <a:prstGeom prst="rect">
            <a:avLst/>
          </a:prstGeom>
        </p:spPr>
      </p:pic>
      <p:sp>
        <p:nvSpPr>
          <p:cNvPr id="213" name="TextBox 212"/>
          <p:cNvSpPr txBox="1"/>
          <p:nvPr/>
        </p:nvSpPr>
        <p:spPr>
          <a:xfrm>
            <a:off x="4786109" y="1306830"/>
            <a:ext cx="813172" cy="186689"/>
          </a:xfrm>
          <a:prstGeom prst="rect">
            <a:avLst/>
          </a:prstGeom>
          <a:noFill/>
        </p:spPr>
        <p:txBody>
          <a:bodyPr wrap="none" lIns="0" rIns="0" tIns="0" bIns="0">
            <a:spAutoFit/>
          </a:bodyPr>
          <a:lstStyle/>
          <a:p>
            <a:r>
              <a:rPr sz="1100" b="1">
                <a:solidFill>
                  <a:srgbClr val="FFFFFF"/>
                </a:solidFill>
                <a:latin typeface="Calibri"/>
              </a:rPr>
              <a:t>Rest of top 5</a:t>
            </a:r>
          </a:p>
        </p:txBody>
      </p:sp>
      <p:pic>
        <p:nvPicPr>
          <p:cNvPr id="214" name="Picture 213" descr="lock.png"/>
          <p:cNvPicPr>
            <a:picLocks noChangeAspect="1"/>
          </p:cNvPicPr>
          <p:nvPr/>
        </p:nvPicPr>
        <p:blipFill>
          <a:blip r:embed="rId4"/>
          <a:stretch>
            <a:fillRect/>
          </a:stretch>
        </p:blipFill>
        <p:spPr>
          <a:xfrm>
            <a:off x="5547332" y="1297051"/>
            <a:ext cx="128699" cy="187198"/>
          </a:xfrm>
          <a:prstGeom prst="rect">
            <a:avLst/>
          </a:prstGeom>
        </p:spPr>
      </p:pic>
      <p:sp>
        <p:nvSpPr>
          <p:cNvPr id="215" name="TextBox 214"/>
          <p:cNvSpPr txBox="1"/>
          <p:nvPr/>
        </p:nvSpPr>
        <p:spPr>
          <a:xfrm>
            <a:off x="6322271" y="1306830"/>
            <a:ext cx="620266" cy="186689"/>
          </a:xfrm>
          <a:prstGeom prst="rect">
            <a:avLst/>
          </a:prstGeom>
          <a:noFill/>
        </p:spPr>
        <p:txBody>
          <a:bodyPr wrap="none" lIns="0" rIns="0" tIns="0" bIns="0">
            <a:spAutoFit/>
          </a:bodyPr>
          <a:lstStyle/>
          <a:p>
            <a:r>
              <a:rPr sz="1100" b="1">
                <a:solidFill>
                  <a:srgbClr val="FFFFFF"/>
                </a:solidFill>
                <a:latin typeface="Calibri"/>
              </a:rPr>
              <a:t>Emerging</a:t>
            </a:r>
          </a:p>
        </p:txBody>
      </p:sp>
      <p:pic>
        <p:nvPicPr>
          <p:cNvPr id="216" name="Picture 215" descr="lock.png"/>
          <p:cNvPicPr>
            <a:picLocks noChangeAspect="1"/>
          </p:cNvPicPr>
          <p:nvPr/>
        </p:nvPicPr>
        <p:blipFill>
          <a:blip r:embed="rId4"/>
          <a:stretch>
            <a:fillRect/>
          </a:stretch>
        </p:blipFill>
        <p:spPr>
          <a:xfrm>
            <a:off x="6890588" y="1297051"/>
            <a:ext cx="128699" cy="187198"/>
          </a:xfrm>
          <a:prstGeom prst="rect">
            <a:avLst/>
          </a:prstGeom>
        </p:spPr>
      </p:pic>
      <p:sp>
        <p:nvSpPr>
          <p:cNvPr id="217" name="TextBox 216"/>
          <p:cNvSpPr txBox="1"/>
          <p:nvPr/>
        </p:nvSpPr>
        <p:spPr>
          <a:xfrm>
            <a:off x="8564687" y="1306830"/>
            <a:ext cx="469924" cy="186689"/>
          </a:xfrm>
          <a:prstGeom prst="rect">
            <a:avLst/>
          </a:prstGeom>
          <a:noFill/>
        </p:spPr>
        <p:txBody>
          <a:bodyPr wrap="none" lIns="0" rIns="0" tIns="0" bIns="0">
            <a:spAutoFit/>
          </a:bodyPr>
          <a:lstStyle/>
          <a:p>
            <a:r>
              <a:rPr sz="1100" b="1">
                <a:solidFill>
                  <a:srgbClr val="0F2D52"/>
                </a:solidFill>
                <a:latin typeface="Calibri"/>
              </a:rPr>
              <a:t>Others</a:t>
            </a:r>
          </a:p>
        </p:txBody>
      </p:sp>
      <p:pic>
        <p:nvPicPr>
          <p:cNvPr id="218" name="Picture 217" descr="lock.png"/>
          <p:cNvPicPr>
            <a:picLocks noChangeAspect="1"/>
          </p:cNvPicPr>
          <p:nvPr/>
        </p:nvPicPr>
        <p:blipFill>
          <a:blip r:embed="rId4"/>
          <a:stretch>
            <a:fillRect/>
          </a:stretch>
        </p:blipFill>
        <p:spPr>
          <a:xfrm>
            <a:off x="8982663" y="1297051"/>
            <a:ext cx="128699" cy="187198"/>
          </a:xfrm>
          <a:prstGeom prst="rect">
            <a:avLst/>
          </a:prstGeom>
        </p:spPr>
      </p:pic>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Value Chain Positioning of Leading Players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How the market is organised by product type and end use, and who leads at each stage</a:t>
            </a:r>
          </a:p>
        </p:txBody>
      </p:sp>
      <p:sp>
        <p:nvSpPr>
          <p:cNvPr id="10" name="TextBox 9"/>
          <p:cNvSpPr txBox="1"/>
          <p:nvPr/>
        </p:nvSpPr>
        <p:spPr>
          <a:xfrm>
            <a:off x="2476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11" name="TextBox 10"/>
          <p:cNvSpPr txBox="1"/>
          <p:nvPr/>
        </p:nvSpPr>
        <p:spPr>
          <a:xfrm>
            <a:off x="247650" y="1238250"/>
            <a:ext cx="2266950" cy="228600"/>
          </a:xfrm>
          <a:prstGeom prst="rect">
            <a:avLst/>
          </a:prstGeom>
          <a:noFill/>
        </p:spPr>
        <p:txBody>
          <a:bodyPr wrap="square" lIns="28575" rIns="28575" tIns="9525" bIns="9525" anchor="t">
            <a:spAutoFit/>
          </a:bodyPr>
          <a:lstStyle/>
          <a:p>
            <a:pPr algn="l"/>
            <a:r>
              <a:rPr sz="1100" b="1">
                <a:solidFill>
                  <a:srgbClr val="E87722"/>
                </a:solidFill>
                <a:latin typeface="Calibri"/>
              </a:rPr>
              <a:t> </a:t>
            </a:r>
          </a:p>
        </p:txBody>
      </p:sp>
      <p:cxnSp>
        <p:nvCxnSpPr>
          <p:cNvPr id="12" name="Connector 11"/>
          <p:cNvCxnSpPr/>
          <p:nvPr/>
        </p:nvCxnSpPr>
        <p:spPr>
          <a:xfrm>
            <a:off x="25527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6098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4" name="TextBox 13"/>
          <p:cNvSpPr txBox="1"/>
          <p:nvPr/>
        </p:nvSpPr>
        <p:spPr>
          <a:xfrm>
            <a:off x="26098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5" name="Connector 14"/>
          <p:cNvCxnSpPr/>
          <p:nvPr/>
        </p:nvCxnSpPr>
        <p:spPr>
          <a:xfrm>
            <a:off x="49149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9720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Irrigation Devices and Accessories, share</a:t>
            </a:r>
          </a:p>
        </p:txBody>
      </p:sp>
      <p:sp>
        <p:nvSpPr>
          <p:cNvPr id="17" name="TextBox 16"/>
          <p:cNvSpPr txBox="1"/>
          <p:nvPr/>
        </p:nvSpPr>
        <p:spPr>
          <a:xfrm>
            <a:off x="49720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8" name="Connector 17"/>
          <p:cNvCxnSpPr/>
          <p:nvPr/>
        </p:nvCxnSpPr>
        <p:spPr>
          <a:xfrm>
            <a:off x="72771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342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Ear Drops, share</a:t>
            </a:r>
          </a:p>
        </p:txBody>
      </p:sp>
      <p:sp>
        <p:nvSpPr>
          <p:cNvPr id="20" name="TextBox 19"/>
          <p:cNvSpPr txBox="1"/>
          <p:nvPr/>
        </p:nvSpPr>
        <p:spPr>
          <a:xfrm>
            <a:off x="73342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1" name="Connector 20"/>
          <p:cNvCxnSpPr/>
          <p:nvPr/>
        </p:nvCxnSpPr>
        <p:spPr>
          <a:xfrm>
            <a:off x="96393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6964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Ear Sprays, share</a:t>
            </a:r>
          </a:p>
        </p:txBody>
      </p:sp>
      <p:sp>
        <p:nvSpPr>
          <p:cNvPr id="23" name="TextBox 22"/>
          <p:cNvSpPr txBox="1"/>
          <p:nvPr/>
        </p:nvSpPr>
        <p:spPr>
          <a:xfrm>
            <a:off x="96964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4" name="Connector 23"/>
          <p:cNvCxnSpPr/>
          <p:nvPr/>
        </p:nvCxnSpPr>
        <p:spPr>
          <a:xfrm>
            <a:off x="190500" y="154305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90500"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1. Irrigation Devices and Accessories</a:t>
            </a:r>
          </a:p>
        </p:txBody>
      </p:sp>
      <p:sp>
        <p:nvSpPr>
          <p:cNvPr id="28" name="TextBox 27"/>
          <p:cNvSpPr txBox="1"/>
          <p:nvPr/>
        </p:nvSpPr>
        <p:spPr>
          <a:xfrm>
            <a:off x="285750"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29" name="TextBox 28"/>
          <p:cNvSpPr txBox="1"/>
          <p:nvPr/>
        </p:nvSpPr>
        <p:spPr>
          <a:xfrm>
            <a:off x="971550"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30" name="TextBox 29"/>
          <p:cNvSpPr txBox="1"/>
          <p:nvPr/>
        </p:nvSpPr>
        <p:spPr>
          <a:xfrm>
            <a:off x="285750"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31" name="TextBox 30"/>
          <p:cNvSpPr txBox="1"/>
          <p:nvPr/>
        </p:nvSpPr>
        <p:spPr>
          <a:xfrm>
            <a:off x="971550"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32" name="Connector 31"/>
          <p:cNvCxnSpPr/>
          <p:nvPr/>
        </p:nvCxnSpPr>
        <p:spPr>
          <a:xfrm>
            <a:off x="285750"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85750"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34" name="TextBox 33"/>
          <p:cNvSpPr txBox="1"/>
          <p:nvPr/>
        </p:nvSpPr>
        <p:spPr>
          <a:xfrm>
            <a:off x="285750"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NeilMed Pharmaceuticals</a:t>
            </a:r>
          </a:p>
        </p:txBody>
      </p:sp>
      <p:sp>
        <p:nvSpPr>
          <p:cNvPr id="35" name="TextBox 34"/>
          <p:cNvSpPr txBox="1"/>
          <p:nvPr/>
        </p:nvSpPr>
        <p:spPr>
          <a:xfrm>
            <a:off x="285750"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36" name="TextBox 35"/>
          <p:cNvSpPr txBox="1"/>
          <p:nvPr/>
        </p:nvSpPr>
        <p:spPr>
          <a:xfrm>
            <a:off x="285750"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Prestige Consumer Healthcare</a:t>
            </a:r>
          </a:p>
        </p:txBody>
      </p:sp>
      <p:sp>
        <p:nvSpPr>
          <p:cNvPr id="37" name="TextBox 36"/>
          <p:cNvSpPr txBox="1"/>
          <p:nvPr/>
        </p:nvSpPr>
        <p:spPr>
          <a:xfrm>
            <a:off x="285750"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Diomed Group</a:t>
            </a:r>
          </a:p>
        </p:txBody>
      </p:sp>
      <p:sp>
        <p:nvSpPr>
          <p:cNvPr id="38" name="TextBox 37"/>
          <p:cNvSpPr txBox="1"/>
          <p:nvPr/>
        </p:nvSpPr>
        <p:spPr>
          <a:xfrm>
            <a:off x="285750"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Eosera</a:t>
            </a:r>
          </a:p>
        </p:txBody>
      </p:sp>
      <p:sp>
        <p:nvSpPr>
          <p:cNvPr id="39" name="TextBox 38"/>
          <p:cNvSpPr txBox="1"/>
          <p:nvPr/>
        </p:nvSpPr>
        <p:spPr>
          <a:xfrm>
            <a:off x="285750"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Coopération Pharmaceutique Française</a:t>
            </a:r>
          </a:p>
        </p:txBody>
      </p:sp>
      <p:cxnSp>
        <p:nvCxnSpPr>
          <p:cNvPr id="40" name="Connector 39"/>
          <p:cNvCxnSpPr/>
          <p:nvPr/>
        </p:nvCxnSpPr>
        <p:spPr>
          <a:xfrm>
            <a:off x="285750"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285750"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42" name="TextBox 41"/>
          <p:cNvSpPr txBox="1"/>
          <p:nvPr/>
        </p:nvSpPr>
        <p:spPr>
          <a:xfrm>
            <a:off x="285750"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43" name="Connector 42"/>
          <p:cNvCxnSpPr/>
          <p:nvPr/>
        </p:nvCxnSpPr>
        <p:spPr>
          <a:xfrm>
            <a:off x="2995612"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3105150" y="3448050"/>
            <a:ext cx="57150" cy="95250"/>
          </a:xfrm>
          <a:custGeom>
            <a:avLst/>
            <a:gdLst/>
            <a:ahLst/>
            <a:cxnLst/>
            <a:rect l="l" t="t" r="r" b="b"/>
            <a:pathLst>
              <a:path w="6" h="10">
                <a:moveTo>
                  <a:pt x="6"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05162"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205162"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300412"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sp>
        <p:nvSpPr>
          <p:cNvPr id="48" name="TextBox 47"/>
          <p:cNvSpPr txBox="1"/>
          <p:nvPr/>
        </p:nvSpPr>
        <p:spPr>
          <a:xfrm>
            <a:off x="3300412"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49" name="TextBox 48"/>
          <p:cNvSpPr txBox="1"/>
          <p:nvPr/>
        </p:nvSpPr>
        <p:spPr>
          <a:xfrm>
            <a:off x="3986212"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50" name="TextBox 49"/>
          <p:cNvSpPr txBox="1"/>
          <p:nvPr/>
        </p:nvSpPr>
        <p:spPr>
          <a:xfrm>
            <a:off x="3300412"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51" name="TextBox 50"/>
          <p:cNvSpPr txBox="1"/>
          <p:nvPr/>
        </p:nvSpPr>
        <p:spPr>
          <a:xfrm>
            <a:off x="3986212"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52" name="Connector 51"/>
          <p:cNvCxnSpPr/>
          <p:nvPr/>
        </p:nvCxnSpPr>
        <p:spPr>
          <a:xfrm>
            <a:off x="3300412"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300412"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54" name="TextBox 53"/>
          <p:cNvSpPr txBox="1"/>
          <p:nvPr/>
        </p:nvSpPr>
        <p:spPr>
          <a:xfrm>
            <a:off x="3300412"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Prestige Consumer Healthcare</a:t>
            </a:r>
          </a:p>
        </p:txBody>
      </p:sp>
      <p:sp>
        <p:nvSpPr>
          <p:cNvPr id="55" name="TextBox 54"/>
          <p:cNvSpPr txBox="1"/>
          <p:nvPr/>
        </p:nvSpPr>
        <p:spPr>
          <a:xfrm>
            <a:off x="3300412"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56" name="TextBox 55"/>
          <p:cNvSpPr txBox="1"/>
          <p:nvPr/>
        </p:nvSpPr>
        <p:spPr>
          <a:xfrm>
            <a:off x="3300412"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Diomed Group</a:t>
            </a:r>
          </a:p>
        </p:txBody>
      </p:sp>
      <p:sp>
        <p:nvSpPr>
          <p:cNvPr id="57" name="TextBox 56"/>
          <p:cNvSpPr txBox="1"/>
          <p:nvPr/>
        </p:nvSpPr>
        <p:spPr>
          <a:xfrm>
            <a:off x="3300412"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Quest Products</a:t>
            </a:r>
          </a:p>
        </p:txBody>
      </p:sp>
      <p:sp>
        <p:nvSpPr>
          <p:cNvPr id="58" name="TextBox 57"/>
          <p:cNvSpPr txBox="1"/>
          <p:nvPr/>
        </p:nvSpPr>
        <p:spPr>
          <a:xfrm>
            <a:off x="3300412"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Eosera</a:t>
            </a:r>
          </a:p>
        </p:txBody>
      </p:sp>
      <p:sp>
        <p:nvSpPr>
          <p:cNvPr id="59" name="TextBox 58"/>
          <p:cNvSpPr txBox="1"/>
          <p:nvPr/>
        </p:nvSpPr>
        <p:spPr>
          <a:xfrm>
            <a:off x="3300412"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Coopération Pharmaceutique Française</a:t>
            </a:r>
          </a:p>
        </p:txBody>
      </p:sp>
      <p:cxnSp>
        <p:nvCxnSpPr>
          <p:cNvPr id="60" name="Connector 59"/>
          <p:cNvCxnSpPr/>
          <p:nvPr/>
        </p:nvCxnSpPr>
        <p:spPr>
          <a:xfrm>
            <a:off x="3300412"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3300412"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62" name="TextBox 61"/>
          <p:cNvSpPr txBox="1"/>
          <p:nvPr/>
        </p:nvSpPr>
        <p:spPr>
          <a:xfrm>
            <a:off x="3300412"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63" name="Connector 62"/>
          <p:cNvCxnSpPr/>
          <p:nvPr/>
        </p:nvCxnSpPr>
        <p:spPr>
          <a:xfrm>
            <a:off x="6010275"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64" name="Freeform 63"/>
          <p:cNvSpPr/>
          <p:nvPr/>
        </p:nvSpPr>
        <p:spPr>
          <a:xfrm>
            <a:off x="6115050" y="3448050"/>
            <a:ext cx="66675" cy="95250"/>
          </a:xfrm>
          <a:custGeom>
            <a:avLst/>
            <a:gdLst/>
            <a:ahLst/>
            <a:cxnLst/>
            <a:rect l="l" t="t" r="r" b="b"/>
            <a:pathLst>
              <a:path w="7" h="10">
                <a:moveTo>
                  <a:pt x="7"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219825"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219825"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15075"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3. Ear Sprays</a:t>
            </a:r>
          </a:p>
        </p:txBody>
      </p:sp>
      <p:sp>
        <p:nvSpPr>
          <p:cNvPr id="68" name="TextBox 67"/>
          <p:cNvSpPr txBox="1"/>
          <p:nvPr/>
        </p:nvSpPr>
        <p:spPr>
          <a:xfrm>
            <a:off x="6315075"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69" name="TextBox 68"/>
          <p:cNvSpPr txBox="1"/>
          <p:nvPr/>
        </p:nvSpPr>
        <p:spPr>
          <a:xfrm>
            <a:off x="7000875"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70" name="TextBox 69"/>
          <p:cNvSpPr txBox="1"/>
          <p:nvPr/>
        </p:nvSpPr>
        <p:spPr>
          <a:xfrm>
            <a:off x="6315075"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71" name="TextBox 70"/>
          <p:cNvSpPr txBox="1"/>
          <p:nvPr/>
        </p:nvSpPr>
        <p:spPr>
          <a:xfrm>
            <a:off x="7000875"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72" name="Connector 71"/>
          <p:cNvCxnSpPr/>
          <p:nvPr/>
        </p:nvCxnSpPr>
        <p:spPr>
          <a:xfrm>
            <a:off x="6315075"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315075"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74" name="TextBox 73"/>
          <p:cNvSpPr txBox="1"/>
          <p:nvPr/>
        </p:nvSpPr>
        <p:spPr>
          <a:xfrm>
            <a:off x="6315075"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Prestige Consumer Healthcare</a:t>
            </a:r>
          </a:p>
        </p:txBody>
      </p:sp>
      <p:sp>
        <p:nvSpPr>
          <p:cNvPr id="75" name="TextBox 74"/>
          <p:cNvSpPr txBox="1"/>
          <p:nvPr/>
        </p:nvSpPr>
        <p:spPr>
          <a:xfrm>
            <a:off x="6315075"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76" name="TextBox 75"/>
          <p:cNvSpPr txBox="1"/>
          <p:nvPr/>
        </p:nvSpPr>
        <p:spPr>
          <a:xfrm>
            <a:off x="6315075"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NeilMed Pharmaceuticals</a:t>
            </a:r>
          </a:p>
        </p:txBody>
      </p:sp>
      <p:sp>
        <p:nvSpPr>
          <p:cNvPr id="77" name="TextBox 76"/>
          <p:cNvSpPr txBox="1"/>
          <p:nvPr/>
        </p:nvSpPr>
        <p:spPr>
          <a:xfrm>
            <a:off x="6315075"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Quest Products</a:t>
            </a:r>
          </a:p>
        </p:txBody>
      </p:sp>
      <p:sp>
        <p:nvSpPr>
          <p:cNvPr id="78" name="TextBox 77"/>
          <p:cNvSpPr txBox="1"/>
          <p:nvPr/>
        </p:nvSpPr>
        <p:spPr>
          <a:xfrm>
            <a:off x="6315075"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Eosera</a:t>
            </a:r>
          </a:p>
        </p:txBody>
      </p:sp>
      <p:sp>
        <p:nvSpPr>
          <p:cNvPr id="79" name="TextBox 78"/>
          <p:cNvSpPr txBox="1"/>
          <p:nvPr/>
        </p:nvSpPr>
        <p:spPr>
          <a:xfrm>
            <a:off x="6315075"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Orion Pharma</a:t>
            </a:r>
          </a:p>
        </p:txBody>
      </p:sp>
      <p:cxnSp>
        <p:nvCxnSpPr>
          <p:cNvPr id="80" name="Connector 79"/>
          <p:cNvCxnSpPr/>
          <p:nvPr/>
        </p:nvCxnSpPr>
        <p:spPr>
          <a:xfrm>
            <a:off x="6315075"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6315075"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82" name="TextBox 81"/>
          <p:cNvSpPr txBox="1"/>
          <p:nvPr/>
        </p:nvSpPr>
        <p:spPr>
          <a:xfrm>
            <a:off x="6315075"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83" name="Connector 82"/>
          <p:cNvCxnSpPr/>
          <p:nvPr/>
        </p:nvCxnSpPr>
        <p:spPr>
          <a:xfrm>
            <a:off x="9024938"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84" name="Freeform 83"/>
          <p:cNvSpPr/>
          <p:nvPr/>
        </p:nvSpPr>
        <p:spPr>
          <a:xfrm>
            <a:off x="9124950" y="3448050"/>
            <a:ext cx="76200" cy="95250"/>
          </a:xfrm>
          <a:custGeom>
            <a:avLst/>
            <a:gdLst/>
            <a:ahLst/>
            <a:cxnLst/>
            <a:rect l="l" t="t" r="r" b="b"/>
            <a:pathLst>
              <a:path w="8" h="10">
                <a:moveTo>
                  <a:pt x="8"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9234488"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9234488"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329738"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sp>
        <p:nvSpPr>
          <p:cNvPr id="88" name="TextBox 87"/>
          <p:cNvSpPr txBox="1"/>
          <p:nvPr/>
        </p:nvSpPr>
        <p:spPr>
          <a:xfrm>
            <a:off x="9329738" y="1924050"/>
            <a:ext cx="2576512" cy="190500"/>
          </a:xfrm>
          <a:prstGeom prst="rect">
            <a:avLst/>
          </a:prstGeom>
          <a:noFill/>
        </p:spPr>
        <p:txBody>
          <a:bodyPr wrap="square" lIns="28575" rIns="28575" tIns="9525" bIns="9525" anchor="t">
            <a:spAutoFit/>
          </a:bodyPr>
          <a:lstStyle/>
          <a:p>
            <a:pPr algn="l"/>
            <a:r>
              <a:rPr sz="1100" b="1">
                <a:solidFill>
                  <a:srgbClr val="1F2933"/>
                </a:solidFill>
                <a:latin typeface="Calibri"/>
              </a:rPr>
              <a:t>By application</a:t>
            </a:r>
          </a:p>
        </p:txBody>
      </p:sp>
      <p:sp>
        <p:nvSpPr>
          <p:cNvPr id="89" name="TextBox 88"/>
          <p:cNvSpPr txBox="1"/>
          <p:nvPr/>
        </p:nvSpPr>
        <p:spPr>
          <a:xfrm>
            <a:off x="9329738" y="2133600"/>
            <a:ext cx="2576512" cy="190500"/>
          </a:xfrm>
          <a:prstGeom prst="rect">
            <a:avLst/>
          </a:prstGeom>
          <a:noFill/>
        </p:spPr>
        <p:txBody>
          <a:bodyPr wrap="square" lIns="28575" rIns="28575" tIns="9525" bIns="9525" anchor="t">
            <a:spAutoFit/>
          </a:bodyPr>
          <a:lstStyle/>
          <a:p>
            <a:pPr algn="l"/>
            <a:r>
              <a:rPr sz="1100" b="0">
                <a:solidFill>
                  <a:srgbClr val="5F6B7A"/>
                </a:solidFill>
                <a:latin typeface="Calibri"/>
              </a:rPr>
              <a:t>Who buys the output.</a:t>
            </a:r>
          </a:p>
        </p:txBody>
      </p:sp>
      <p:cxnSp>
        <p:nvCxnSpPr>
          <p:cNvPr id="90" name="Connector 89"/>
          <p:cNvCxnSpPr/>
          <p:nvPr/>
        </p:nvCxnSpPr>
        <p:spPr>
          <a:xfrm>
            <a:off x="9329738"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329738" y="24193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Audiologists</a:t>
            </a:r>
          </a:p>
        </p:txBody>
      </p:sp>
      <p:sp>
        <p:nvSpPr>
          <p:cNvPr id="92" name="Rectangle 91"/>
          <p:cNvSpPr/>
          <p:nvPr/>
        </p:nvSpPr>
        <p:spPr>
          <a:xfrm>
            <a:off x="10682288" y="2524125"/>
            <a:ext cx="766762"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487150" y="24860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4" name="TextBox 93"/>
          <p:cNvSpPr txBox="1"/>
          <p:nvPr/>
        </p:nvSpPr>
        <p:spPr>
          <a:xfrm>
            <a:off x="9329738" y="27432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ENT specialists</a:t>
            </a:r>
          </a:p>
        </p:txBody>
      </p:sp>
      <p:sp>
        <p:nvSpPr>
          <p:cNvPr id="95" name="Rectangle 94"/>
          <p:cNvSpPr/>
          <p:nvPr/>
        </p:nvSpPr>
        <p:spPr>
          <a:xfrm>
            <a:off x="10682288" y="2847975"/>
            <a:ext cx="683156"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1403543" y="28098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7" name="TextBox 96"/>
          <p:cNvSpPr txBox="1"/>
          <p:nvPr/>
        </p:nvSpPr>
        <p:spPr>
          <a:xfrm>
            <a:off x="9329738" y="30670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Others</a:t>
            </a:r>
          </a:p>
        </p:txBody>
      </p:sp>
      <p:sp>
        <p:nvSpPr>
          <p:cNvPr id="98" name="Rectangle 97"/>
          <p:cNvSpPr/>
          <p:nvPr/>
        </p:nvSpPr>
        <p:spPr>
          <a:xfrm>
            <a:off x="10682288" y="3171825"/>
            <a:ext cx="663443"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1383831" y="31337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100" name="TextBox 99"/>
          <p:cNvSpPr txBox="1"/>
          <p:nvPr/>
        </p:nvSpPr>
        <p:spPr>
          <a:xfrm>
            <a:off x="9329738" y="33909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General practitioners</a:t>
            </a:r>
          </a:p>
        </p:txBody>
      </p:sp>
      <p:sp>
        <p:nvSpPr>
          <p:cNvPr id="101" name="Rectangle 100"/>
          <p:cNvSpPr/>
          <p:nvPr/>
        </p:nvSpPr>
        <p:spPr>
          <a:xfrm>
            <a:off x="10682288" y="3495675"/>
            <a:ext cx="637347"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1357734" y="34575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103" name="TextBox 102"/>
          <p:cNvSpPr txBox="1"/>
          <p:nvPr/>
        </p:nvSpPr>
        <p:spPr>
          <a:xfrm>
            <a:off x="9329738" y="37147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Healthcare professionals</a:t>
            </a:r>
          </a:p>
        </p:txBody>
      </p:sp>
      <p:sp>
        <p:nvSpPr>
          <p:cNvPr id="104" name="Rectangle 103"/>
          <p:cNvSpPr/>
          <p:nvPr/>
        </p:nvSpPr>
        <p:spPr>
          <a:xfrm>
            <a:off x="10682288" y="3819525"/>
            <a:ext cx="417712"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1138099" y="37814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106" name="TextBox 105"/>
          <p:cNvSpPr txBox="1"/>
          <p:nvPr/>
        </p:nvSpPr>
        <p:spPr>
          <a:xfrm>
            <a:off x="9329738" y="40386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Individual consumers</a:t>
            </a:r>
          </a:p>
        </p:txBody>
      </p:sp>
      <p:sp>
        <p:nvSpPr>
          <p:cNvPr id="107" name="Rectangle 106"/>
          <p:cNvSpPr/>
          <p:nvPr/>
        </p:nvSpPr>
        <p:spPr>
          <a:xfrm>
            <a:off x="10682288" y="4143375"/>
            <a:ext cx="413333"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1133720" y="41052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09" name="Connector 108"/>
          <p:cNvCxnSpPr/>
          <p:nvPr/>
        </p:nvCxnSpPr>
        <p:spPr>
          <a:xfrm>
            <a:off x="9329738"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9329738"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111" name="TextBox 110"/>
          <p:cNvSpPr txBox="1"/>
          <p:nvPr/>
        </p:nvSpPr>
        <p:spPr>
          <a:xfrm>
            <a:off x="9329738"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112" name="Rectangle 111"/>
          <p:cNvSpPr/>
          <p:nvPr/>
        </p:nvSpPr>
        <p:spPr>
          <a:xfrm>
            <a:off x="190500" y="54673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90500" y="5467350"/>
            <a:ext cx="47625" cy="4000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304800" y="5467350"/>
            <a:ext cx="1047750" cy="400050"/>
          </a:xfrm>
          <a:prstGeom prst="rect">
            <a:avLst/>
          </a:prstGeom>
          <a:noFill/>
        </p:spPr>
        <p:txBody>
          <a:bodyPr wrap="square" lIns="28575" rIns="28575" tIns="9525" bIns="9525" anchor="ctr">
            <a:spAutoFit/>
          </a:bodyPr>
          <a:lstStyle/>
          <a:p>
            <a:pPr algn="l"/>
            <a:r>
              <a:rPr sz="1100" b="1">
                <a:solidFill>
                  <a:srgbClr val="0F2D52"/>
                </a:solidFill>
                <a:latin typeface="Calibri"/>
              </a:rPr>
              <a:t>ENABLERS</a:t>
            </a:r>
          </a:p>
        </p:txBody>
      </p:sp>
      <p:sp>
        <p:nvSpPr>
          <p:cNvPr id="115" name="TextBox 114"/>
          <p:cNvSpPr txBox="1"/>
          <p:nvPr/>
        </p:nvSpPr>
        <p:spPr>
          <a:xfrm>
            <a:off x="1428750" y="54673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Ear Drops Compounds Fastest Across the Product Type Mix  |  South Asia &amp; Pacific Emerges as the Growth Engine Among Regions  |  Premiumisation Lifts Average Realisation</a:t>
            </a:r>
          </a:p>
        </p:txBody>
      </p:sp>
      <p:sp>
        <p:nvSpPr>
          <p:cNvPr id="116" name="Rectangle 115"/>
          <p:cNvSpPr/>
          <p:nvPr/>
        </p:nvSpPr>
        <p:spPr>
          <a:xfrm>
            <a:off x="190500" y="59245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90500" y="5924550"/>
            <a:ext cx="47625" cy="400050"/>
          </a:xfrm>
          <a:prstGeom prst="rect">
            <a:avLst/>
          </a:prstGeom>
          <a:solidFill>
            <a:srgbClr val="8B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304800" y="5924550"/>
            <a:ext cx="1047750" cy="400050"/>
          </a:xfrm>
          <a:prstGeom prst="rect">
            <a:avLst/>
          </a:prstGeom>
          <a:noFill/>
        </p:spPr>
        <p:txBody>
          <a:bodyPr wrap="square" lIns="28575" rIns="28575" tIns="9525" bIns="9525" anchor="ctr">
            <a:spAutoFit/>
          </a:bodyPr>
          <a:lstStyle/>
          <a:p>
            <a:pPr algn="l"/>
            <a:r>
              <a:rPr sz="1100" b="1">
                <a:solidFill>
                  <a:srgbClr val="8B1E2D"/>
                </a:solidFill>
                <a:latin typeface="Calibri"/>
              </a:rPr>
              <a:t>CONSTRAINTS</a:t>
            </a:r>
          </a:p>
        </p:txBody>
      </p:sp>
      <p:sp>
        <p:nvSpPr>
          <p:cNvPr id="119" name="TextBox 118"/>
          <p:cNvSpPr txBox="1"/>
          <p:nvPr/>
        </p:nvSpPr>
        <p:spPr>
          <a:xfrm>
            <a:off x="1428750" y="59245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Ear Sprays Lags the Category and Dilutes Blended Growth  |  Uneven Region Performance Caps the Blended Rate  |  Concentration Risk Limits Pricing and Sourcing Flexibility</a:t>
            </a:r>
          </a:p>
        </p:txBody>
      </p:sp>
      <p:sp>
        <p:nvSpPr>
          <p:cNvPr id="120" name="TextBox 1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21" name="Picture 120" descr="lock.png"/>
          <p:cNvPicPr>
            <a:picLocks noChangeAspect="1"/>
          </p:cNvPicPr>
          <p:nvPr/>
        </p:nvPicPr>
        <p:blipFill>
          <a:blip r:embed="rId4"/>
          <a:stretch>
            <a:fillRect/>
          </a:stretch>
        </p:blipFill>
        <p:spPr>
          <a:xfrm>
            <a:off x="1316775" y="1258951"/>
            <a:ext cx="128699" cy="187198"/>
          </a:xfrm>
          <a:prstGeom prst="rect">
            <a:avLst/>
          </a:prstGeom>
        </p:spPr>
      </p:pic>
      <p:pic>
        <p:nvPicPr>
          <p:cNvPr id="122" name="Picture 121" descr="lock.png"/>
          <p:cNvPicPr>
            <a:picLocks noChangeAspect="1"/>
          </p:cNvPicPr>
          <p:nvPr/>
        </p:nvPicPr>
        <p:blipFill>
          <a:blip r:embed="rId4"/>
          <a:stretch>
            <a:fillRect/>
          </a:stretch>
        </p:blipFill>
        <p:spPr>
          <a:xfrm>
            <a:off x="3678975" y="1258951"/>
            <a:ext cx="128699" cy="187198"/>
          </a:xfrm>
          <a:prstGeom prst="rect">
            <a:avLst/>
          </a:prstGeom>
        </p:spPr>
      </p:pic>
      <p:pic>
        <p:nvPicPr>
          <p:cNvPr id="123" name="Picture 122" descr="lock.png"/>
          <p:cNvPicPr>
            <a:picLocks noChangeAspect="1"/>
          </p:cNvPicPr>
          <p:nvPr/>
        </p:nvPicPr>
        <p:blipFill>
          <a:blip r:embed="rId4"/>
          <a:stretch>
            <a:fillRect/>
          </a:stretch>
        </p:blipFill>
        <p:spPr>
          <a:xfrm>
            <a:off x="6041175" y="1258951"/>
            <a:ext cx="128699" cy="187198"/>
          </a:xfrm>
          <a:prstGeom prst="rect">
            <a:avLst/>
          </a:prstGeom>
        </p:spPr>
      </p:pic>
      <p:pic>
        <p:nvPicPr>
          <p:cNvPr id="124" name="Picture 123" descr="lock.png"/>
          <p:cNvPicPr>
            <a:picLocks noChangeAspect="1"/>
          </p:cNvPicPr>
          <p:nvPr/>
        </p:nvPicPr>
        <p:blipFill>
          <a:blip r:embed="rId4"/>
          <a:stretch>
            <a:fillRect/>
          </a:stretch>
        </p:blipFill>
        <p:spPr>
          <a:xfrm>
            <a:off x="8403375" y="1258951"/>
            <a:ext cx="128699" cy="187198"/>
          </a:xfrm>
          <a:prstGeom prst="rect">
            <a:avLst/>
          </a:prstGeom>
        </p:spPr>
      </p:pic>
      <p:pic>
        <p:nvPicPr>
          <p:cNvPr id="125" name="Picture 124" descr="lock.png"/>
          <p:cNvPicPr>
            <a:picLocks noChangeAspect="1"/>
          </p:cNvPicPr>
          <p:nvPr/>
        </p:nvPicPr>
        <p:blipFill>
          <a:blip r:embed="rId4"/>
          <a:stretch>
            <a:fillRect/>
          </a:stretch>
        </p:blipFill>
        <p:spPr>
          <a:xfrm>
            <a:off x="10765575" y="1258951"/>
            <a:ext cx="128699" cy="187198"/>
          </a:xfrm>
          <a:prstGeom prst="rect">
            <a:avLst/>
          </a:prstGeom>
        </p:spPr>
      </p:pic>
      <p:pic>
        <p:nvPicPr>
          <p:cNvPr id="126" name="Picture 125" descr="lock.png"/>
          <p:cNvPicPr>
            <a:picLocks noChangeAspect="1"/>
          </p:cNvPicPr>
          <p:nvPr/>
        </p:nvPicPr>
        <p:blipFill>
          <a:blip r:embed="rId4"/>
          <a:stretch>
            <a:fillRect/>
          </a:stretch>
        </p:blipFill>
        <p:spPr>
          <a:xfrm>
            <a:off x="554775" y="1925701"/>
            <a:ext cx="128699" cy="187198"/>
          </a:xfrm>
          <a:prstGeom prst="rect">
            <a:avLst/>
          </a:prstGeom>
        </p:spPr>
      </p:pic>
      <p:pic>
        <p:nvPicPr>
          <p:cNvPr id="127" name="Picture 126" descr="lock.png"/>
          <p:cNvPicPr>
            <a:picLocks noChangeAspect="1"/>
          </p:cNvPicPr>
          <p:nvPr/>
        </p:nvPicPr>
        <p:blipFill>
          <a:blip r:embed="rId4"/>
          <a:stretch>
            <a:fillRect/>
          </a:stretch>
        </p:blipFill>
        <p:spPr>
          <a:xfrm>
            <a:off x="554775" y="2135251"/>
            <a:ext cx="128699" cy="187198"/>
          </a:xfrm>
          <a:prstGeom prst="rect">
            <a:avLst/>
          </a:prstGeom>
        </p:spPr>
      </p:pic>
      <p:pic>
        <p:nvPicPr>
          <p:cNvPr id="128" name="Picture 127" descr="lock.png"/>
          <p:cNvPicPr>
            <a:picLocks noChangeAspect="1"/>
          </p:cNvPicPr>
          <p:nvPr/>
        </p:nvPicPr>
        <p:blipFill>
          <a:blip r:embed="rId4"/>
          <a:stretch>
            <a:fillRect/>
          </a:stretch>
        </p:blipFill>
        <p:spPr>
          <a:xfrm>
            <a:off x="4524318" y="1725676"/>
            <a:ext cx="128699" cy="187198"/>
          </a:xfrm>
          <a:prstGeom prst="rect">
            <a:avLst/>
          </a:prstGeom>
        </p:spPr>
      </p:pic>
      <p:pic>
        <p:nvPicPr>
          <p:cNvPr id="129" name="Picture 128" descr="lock.png"/>
          <p:cNvPicPr>
            <a:picLocks noChangeAspect="1"/>
          </p:cNvPicPr>
          <p:nvPr/>
        </p:nvPicPr>
        <p:blipFill>
          <a:blip r:embed="rId4"/>
          <a:stretch>
            <a:fillRect/>
          </a:stretch>
        </p:blipFill>
        <p:spPr>
          <a:xfrm>
            <a:off x="3569437" y="1925701"/>
            <a:ext cx="128699" cy="187198"/>
          </a:xfrm>
          <a:prstGeom prst="rect">
            <a:avLst/>
          </a:prstGeom>
        </p:spPr>
      </p:pic>
      <p:pic>
        <p:nvPicPr>
          <p:cNvPr id="130" name="Picture 129" descr="lock.png"/>
          <p:cNvPicPr>
            <a:picLocks noChangeAspect="1"/>
          </p:cNvPicPr>
          <p:nvPr/>
        </p:nvPicPr>
        <p:blipFill>
          <a:blip r:embed="rId4"/>
          <a:stretch>
            <a:fillRect/>
          </a:stretch>
        </p:blipFill>
        <p:spPr>
          <a:xfrm>
            <a:off x="3569437" y="2135251"/>
            <a:ext cx="128699" cy="187198"/>
          </a:xfrm>
          <a:prstGeom prst="rect">
            <a:avLst/>
          </a:prstGeom>
        </p:spPr>
      </p:pic>
      <p:pic>
        <p:nvPicPr>
          <p:cNvPr id="131" name="Picture 130" descr="lock.png"/>
          <p:cNvPicPr>
            <a:picLocks noChangeAspect="1"/>
          </p:cNvPicPr>
          <p:nvPr/>
        </p:nvPicPr>
        <p:blipFill>
          <a:blip r:embed="rId4"/>
          <a:stretch>
            <a:fillRect/>
          </a:stretch>
        </p:blipFill>
        <p:spPr>
          <a:xfrm>
            <a:off x="6584100" y="1925701"/>
            <a:ext cx="128699" cy="187198"/>
          </a:xfrm>
          <a:prstGeom prst="rect">
            <a:avLst/>
          </a:prstGeom>
        </p:spPr>
      </p:pic>
      <p:pic>
        <p:nvPicPr>
          <p:cNvPr id="132" name="Picture 131" descr="lock.png"/>
          <p:cNvPicPr>
            <a:picLocks noChangeAspect="1"/>
          </p:cNvPicPr>
          <p:nvPr/>
        </p:nvPicPr>
        <p:blipFill>
          <a:blip r:embed="rId4"/>
          <a:stretch>
            <a:fillRect/>
          </a:stretch>
        </p:blipFill>
        <p:spPr>
          <a:xfrm>
            <a:off x="6584100" y="2135251"/>
            <a:ext cx="128699" cy="187198"/>
          </a:xfrm>
          <a:prstGeom prst="rect">
            <a:avLst/>
          </a:prstGeom>
        </p:spPr>
      </p:pic>
      <p:pic>
        <p:nvPicPr>
          <p:cNvPr id="133" name="Picture 132" descr="lock.png"/>
          <p:cNvPicPr>
            <a:picLocks noChangeAspect="1"/>
          </p:cNvPicPr>
          <p:nvPr/>
        </p:nvPicPr>
        <p:blipFill>
          <a:blip r:embed="rId4"/>
          <a:stretch>
            <a:fillRect/>
          </a:stretch>
        </p:blipFill>
        <p:spPr>
          <a:xfrm>
            <a:off x="10553644" y="1725676"/>
            <a:ext cx="128699" cy="187198"/>
          </a:xfrm>
          <a:prstGeom prst="rect">
            <a:avLst/>
          </a:prstGeom>
        </p:spPr>
      </p:pic>
      <p:pic>
        <p:nvPicPr>
          <p:cNvPr id="134" name="Picture 133" descr="lock.png"/>
          <p:cNvPicPr>
            <a:picLocks noChangeAspect="1"/>
          </p:cNvPicPr>
          <p:nvPr/>
        </p:nvPicPr>
        <p:blipFill>
          <a:blip r:embed="rId4"/>
          <a:stretch>
            <a:fillRect/>
          </a:stretch>
        </p:blipFill>
        <p:spPr>
          <a:xfrm>
            <a:off x="11660925" y="2487676"/>
            <a:ext cx="128699" cy="187198"/>
          </a:xfrm>
          <a:prstGeom prst="rect">
            <a:avLst/>
          </a:prstGeom>
        </p:spPr>
      </p:pic>
      <p:pic>
        <p:nvPicPr>
          <p:cNvPr id="135" name="Picture 134" descr="lock.png"/>
          <p:cNvPicPr>
            <a:picLocks noChangeAspect="1"/>
          </p:cNvPicPr>
          <p:nvPr/>
        </p:nvPicPr>
        <p:blipFill>
          <a:blip r:embed="rId4"/>
          <a:stretch>
            <a:fillRect/>
          </a:stretch>
        </p:blipFill>
        <p:spPr>
          <a:xfrm>
            <a:off x="11577318" y="2811526"/>
            <a:ext cx="128699" cy="187198"/>
          </a:xfrm>
          <a:prstGeom prst="rect">
            <a:avLst/>
          </a:prstGeom>
        </p:spPr>
      </p:pic>
      <p:pic>
        <p:nvPicPr>
          <p:cNvPr id="136" name="Picture 135" descr="lock.png"/>
          <p:cNvPicPr>
            <a:picLocks noChangeAspect="1"/>
          </p:cNvPicPr>
          <p:nvPr/>
        </p:nvPicPr>
        <p:blipFill>
          <a:blip r:embed="rId4"/>
          <a:stretch>
            <a:fillRect/>
          </a:stretch>
        </p:blipFill>
        <p:spPr>
          <a:xfrm>
            <a:off x="11557606" y="3135376"/>
            <a:ext cx="128699" cy="187198"/>
          </a:xfrm>
          <a:prstGeom prst="rect">
            <a:avLst/>
          </a:prstGeom>
        </p:spPr>
      </p:pic>
      <p:pic>
        <p:nvPicPr>
          <p:cNvPr id="137" name="Picture 136" descr="lock.png"/>
          <p:cNvPicPr>
            <a:picLocks noChangeAspect="1"/>
          </p:cNvPicPr>
          <p:nvPr/>
        </p:nvPicPr>
        <p:blipFill>
          <a:blip r:embed="rId4"/>
          <a:stretch>
            <a:fillRect/>
          </a:stretch>
        </p:blipFill>
        <p:spPr>
          <a:xfrm>
            <a:off x="11531509" y="3459226"/>
            <a:ext cx="128699" cy="187198"/>
          </a:xfrm>
          <a:prstGeom prst="rect">
            <a:avLst/>
          </a:prstGeom>
        </p:spPr>
      </p:pic>
      <p:pic>
        <p:nvPicPr>
          <p:cNvPr id="138" name="Picture 137" descr="lock.png"/>
          <p:cNvPicPr>
            <a:picLocks noChangeAspect="1"/>
          </p:cNvPicPr>
          <p:nvPr/>
        </p:nvPicPr>
        <p:blipFill>
          <a:blip r:embed="rId4"/>
          <a:stretch>
            <a:fillRect/>
          </a:stretch>
        </p:blipFill>
        <p:spPr>
          <a:xfrm>
            <a:off x="11311874" y="3783076"/>
            <a:ext cx="128699" cy="187198"/>
          </a:xfrm>
          <a:prstGeom prst="rect">
            <a:avLst/>
          </a:prstGeom>
        </p:spPr>
      </p:pic>
      <p:pic>
        <p:nvPicPr>
          <p:cNvPr id="139" name="Picture 138" descr="lock.png"/>
          <p:cNvPicPr>
            <a:picLocks noChangeAspect="1"/>
          </p:cNvPicPr>
          <p:nvPr/>
        </p:nvPicPr>
        <p:blipFill>
          <a:blip r:embed="rId4"/>
          <a:stretch>
            <a:fillRect/>
          </a:stretch>
        </p:blipFill>
        <p:spPr>
          <a:xfrm>
            <a:off x="11307495" y="4106926"/>
            <a:ext cx="128699" cy="187198"/>
          </a:xfrm>
          <a:prstGeom prst="rect">
            <a:avLst/>
          </a:prstGeom>
        </p:spPr>
      </p:pic>
      <p:sp>
        <p:nvSpPr>
          <p:cNvPr id="140" name="TextBox 139"/>
          <p:cNvSpPr txBox="1"/>
          <p:nvPr/>
        </p:nvSpPr>
        <p:spPr>
          <a:xfrm>
            <a:off x="314325" y="4676775"/>
            <a:ext cx="2466379" cy="186689"/>
          </a:xfrm>
          <a:prstGeom prst="rect">
            <a:avLst/>
          </a:prstGeom>
          <a:noFill/>
        </p:spPr>
        <p:txBody>
          <a:bodyPr wrap="none" lIns="0" rIns="0" tIns="0" bIns="0">
            <a:spAutoFit/>
          </a:bodyPr>
          <a:lstStyle/>
          <a:p>
            <a:r>
              <a:rPr sz="1100" b="0">
                <a:solidFill>
                  <a:srgbClr val="1F2933"/>
                </a:solidFill>
                <a:latin typeface="Calibri"/>
              </a:rPr>
              <a:t>5 named players compete here; 'Irrigation</a:t>
            </a:r>
          </a:p>
        </p:txBody>
      </p:sp>
      <p:sp>
        <p:nvSpPr>
          <p:cNvPr id="141" name="TextBox 140"/>
          <p:cNvSpPr txBox="1"/>
          <p:nvPr/>
        </p:nvSpPr>
        <p:spPr>
          <a:xfrm>
            <a:off x="314325" y="4844415"/>
            <a:ext cx="1774700" cy="186689"/>
          </a:xfrm>
          <a:prstGeom prst="rect">
            <a:avLst/>
          </a:prstGeom>
          <a:noFill/>
        </p:spPr>
        <p:txBody>
          <a:bodyPr wrap="none" lIns="0" rIns="0" tIns="0" bIns="0">
            <a:spAutoFit/>
          </a:bodyPr>
          <a:lstStyle/>
          <a:p>
            <a:r>
              <a:rPr sz="1100" b="0">
                <a:solidFill>
                  <a:srgbClr val="1F2933"/>
                </a:solidFill>
                <a:latin typeface="Calibri"/>
              </a:rPr>
              <a:t>Devices and Accessories' adds</a:t>
            </a:r>
          </a:p>
        </p:txBody>
      </p:sp>
      <p:pic>
        <p:nvPicPr>
          <p:cNvPr id="142" name="Picture 141" descr="lock.png"/>
          <p:cNvPicPr>
            <a:picLocks noChangeAspect="1"/>
          </p:cNvPicPr>
          <p:nvPr/>
        </p:nvPicPr>
        <p:blipFill>
          <a:blip r:embed="rId4"/>
          <a:stretch>
            <a:fillRect/>
          </a:stretch>
        </p:blipFill>
        <p:spPr>
          <a:xfrm>
            <a:off x="2037077" y="4834636"/>
            <a:ext cx="128699" cy="187198"/>
          </a:xfrm>
          <a:prstGeom prst="rect">
            <a:avLst/>
          </a:prstGeom>
        </p:spPr>
      </p:pic>
      <p:sp>
        <p:nvSpPr>
          <p:cNvPr id="143" name="TextBox 142"/>
          <p:cNvSpPr txBox="1"/>
          <p:nvPr/>
        </p:nvSpPr>
        <p:spPr>
          <a:xfrm>
            <a:off x="2204573" y="4844415"/>
            <a:ext cx="525586" cy="186689"/>
          </a:xfrm>
          <a:prstGeom prst="rect">
            <a:avLst/>
          </a:prstGeom>
          <a:noFill/>
        </p:spPr>
        <p:txBody>
          <a:bodyPr wrap="none" lIns="0" rIns="0" tIns="0" bIns="0">
            <a:spAutoFit/>
          </a:bodyPr>
          <a:lstStyle/>
          <a:p>
            <a:r>
              <a:rPr sz="1100" b="0">
                <a:solidFill>
                  <a:srgbClr val="1F2933"/>
                </a:solidFill>
                <a:latin typeface="Calibri"/>
              </a:rPr>
              <a:t>US$ Mn</a:t>
            </a:r>
          </a:p>
        </p:txBody>
      </p:sp>
      <p:sp>
        <p:nvSpPr>
          <p:cNvPr id="144" name="TextBox 143"/>
          <p:cNvSpPr txBox="1"/>
          <p:nvPr/>
        </p:nvSpPr>
        <p:spPr>
          <a:xfrm>
            <a:off x="314325" y="5012055"/>
            <a:ext cx="563512" cy="186689"/>
          </a:xfrm>
          <a:prstGeom prst="rect">
            <a:avLst/>
          </a:prstGeom>
          <a:noFill/>
        </p:spPr>
        <p:txBody>
          <a:bodyPr wrap="none" lIns="0" rIns="0" tIns="0" bIns="0">
            <a:spAutoFit/>
          </a:bodyPr>
          <a:lstStyle/>
          <a:p>
            <a:r>
              <a:rPr sz="1100" b="0">
                <a:solidFill>
                  <a:srgbClr val="1F2933"/>
                </a:solidFill>
                <a:latin typeface="Calibri"/>
              </a:rPr>
              <a:t>by 2036.</a:t>
            </a:r>
          </a:p>
        </p:txBody>
      </p:sp>
      <p:sp>
        <p:nvSpPr>
          <p:cNvPr id="145" name="TextBox 144"/>
          <p:cNvSpPr txBox="1"/>
          <p:nvPr/>
        </p:nvSpPr>
        <p:spPr>
          <a:xfrm>
            <a:off x="3328987" y="4676775"/>
            <a:ext cx="2519362" cy="186689"/>
          </a:xfrm>
          <a:prstGeom prst="rect">
            <a:avLst/>
          </a:prstGeom>
          <a:noFill/>
        </p:spPr>
        <p:txBody>
          <a:bodyPr wrap="none" lIns="0" rIns="0" tIns="0" bIns="0">
            <a:spAutoFit/>
          </a:bodyPr>
          <a:lstStyle/>
          <a:p>
            <a:r>
              <a:rPr sz="1100" b="0">
                <a:solidFill>
                  <a:srgbClr val="1F2933"/>
                </a:solidFill>
                <a:latin typeface="Calibri"/>
              </a:rPr>
              <a:t>5 named players compete here; 'Ear Drops'</a:t>
            </a:r>
          </a:p>
        </p:txBody>
      </p:sp>
      <p:sp>
        <p:nvSpPr>
          <p:cNvPr id="146" name="TextBox 145"/>
          <p:cNvSpPr txBox="1"/>
          <p:nvPr/>
        </p:nvSpPr>
        <p:spPr>
          <a:xfrm>
            <a:off x="3328987" y="4844415"/>
            <a:ext cx="344413" cy="186689"/>
          </a:xfrm>
          <a:prstGeom prst="rect">
            <a:avLst/>
          </a:prstGeom>
          <a:noFill/>
        </p:spPr>
        <p:txBody>
          <a:bodyPr wrap="none" lIns="0" rIns="0" tIns="0" bIns="0">
            <a:spAutoFit/>
          </a:bodyPr>
          <a:lstStyle/>
          <a:p>
            <a:r>
              <a:rPr sz="1100" b="0">
                <a:solidFill>
                  <a:srgbClr val="1F2933"/>
                </a:solidFill>
                <a:latin typeface="Calibri"/>
              </a:rPr>
              <a:t>adds</a:t>
            </a:r>
          </a:p>
        </p:txBody>
      </p:sp>
      <p:pic>
        <p:nvPicPr>
          <p:cNvPr id="147" name="Picture 146" descr="lock.png"/>
          <p:cNvPicPr>
            <a:picLocks noChangeAspect="1"/>
          </p:cNvPicPr>
          <p:nvPr/>
        </p:nvPicPr>
        <p:blipFill>
          <a:blip r:embed="rId4"/>
          <a:stretch>
            <a:fillRect/>
          </a:stretch>
        </p:blipFill>
        <p:spPr>
          <a:xfrm>
            <a:off x="3621451" y="4834636"/>
            <a:ext cx="128699" cy="187198"/>
          </a:xfrm>
          <a:prstGeom prst="rect">
            <a:avLst/>
          </a:prstGeom>
        </p:spPr>
      </p:pic>
      <p:sp>
        <p:nvSpPr>
          <p:cNvPr id="148" name="TextBox 147"/>
          <p:cNvSpPr txBox="1"/>
          <p:nvPr/>
        </p:nvSpPr>
        <p:spPr>
          <a:xfrm>
            <a:off x="3788947" y="484441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
        <p:nvSpPr>
          <p:cNvPr id="149" name="TextBox 148"/>
          <p:cNvSpPr txBox="1"/>
          <p:nvPr/>
        </p:nvSpPr>
        <p:spPr>
          <a:xfrm>
            <a:off x="6343650" y="4676775"/>
            <a:ext cx="2519362" cy="186689"/>
          </a:xfrm>
          <a:prstGeom prst="rect">
            <a:avLst/>
          </a:prstGeom>
          <a:noFill/>
        </p:spPr>
        <p:txBody>
          <a:bodyPr wrap="none" lIns="0" rIns="0" tIns="0" bIns="0">
            <a:spAutoFit/>
          </a:bodyPr>
          <a:lstStyle/>
          <a:p>
            <a:r>
              <a:rPr sz="1100" b="0">
                <a:solidFill>
                  <a:srgbClr val="1F2933"/>
                </a:solidFill>
                <a:latin typeface="Calibri"/>
              </a:rPr>
              <a:t>5 named players compete here; 'Ear Sprays'</a:t>
            </a:r>
          </a:p>
        </p:txBody>
      </p:sp>
      <p:sp>
        <p:nvSpPr>
          <p:cNvPr id="150" name="TextBox 149"/>
          <p:cNvSpPr txBox="1"/>
          <p:nvPr/>
        </p:nvSpPr>
        <p:spPr>
          <a:xfrm>
            <a:off x="6343650" y="4844415"/>
            <a:ext cx="344413" cy="186689"/>
          </a:xfrm>
          <a:prstGeom prst="rect">
            <a:avLst/>
          </a:prstGeom>
          <a:noFill/>
        </p:spPr>
        <p:txBody>
          <a:bodyPr wrap="none" lIns="0" rIns="0" tIns="0" bIns="0">
            <a:spAutoFit/>
          </a:bodyPr>
          <a:lstStyle/>
          <a:p>
            <a:r>
              <a:rPr sz="1100" b="0">
                <a:solidFill>
                  <a:srgbClr val="1F2933"/>
                </a:solidFill>
                <a:latin typeface="Calibri"/>
              </a:rPr>
              <a:t>adds</a:t>
            </a:r>
          </a:p>
        </p:txBody>
      </p:sp>
      <p:pic>
        <p:nvPicPr>
          <p:cNvPr id="151" name="Picture 150" descr="lock.png"/>
          <p:cNvPicPr>
            <a:picLocks noChangeAspect="1"/>
          </p:cNvPicPr>
          <p:nvPr/>
        </p:nvPicPr>
        <p:blipFill>
          <a:blip r:embed="rId4"/>
          <a:stretch>
            <a:fillRect/>
          </a:stretch>
        </p:blipFill>
        <p:spPr>
          <a:xfrm>
            <a:off x="6636114" y="4834636"/>
            <a:ext cx="128699" cy="187198"/>
          </a:xfrm>
          <a:prstGeom prst="rect">
            <a:avLst/>
          </a:prstGeom>
        </p:spPr>
      </p:pic>
      <p:sp>
        <p:nvSpPr>
          <p:cNvPr id="152" name="TextBox 151"/>
          <p:cNvSpPr txBox="1"/>
          <p:nvPr/>
        </p:nvSpPr>
        <p:spPr>
          <a:xfrm>
            <a:off x="6803610" y="484441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
        <p:nvSpPr>
          <p:cNvPr id="153" name="TextBox 152"/>
          <p:cNvSpPr txBox="1"/>
          <p:nvPr/>
        </p:nvSpPr>
        <p:spPr>
          <a:xfrm>
            <a:off x="9358313" y="4676775"/>
            <a:ext cx="1728861" cy="186689"/>
          </a:xfrm>
          <a:prstGeom prst="rect">
            <a:avLst/>
          </a:prstGeom>
          <a:noFill/>
        </p:spPr>
        <p:txBody>
          <a:bodyPr wrap="none" lIns="0" rIns="0" tIns="0" bIns="0">
            <a:spAutoFit/>
          </a:bodyPr>
          <a:lstStyle/>
          <a:p>
            <a:r>
              <a:rPr sz="1100" b="0">
                <a:solidFill>
                  <a:srgbClr val="1F2933"/>
                </a:solidFill>
                <a:latin typeface="Calibri"/>
              </a:rPr>
              <a:t>The top two end uses pay for</a:t>
            </a:r>
          </a:p>
        </p:txBody>
      </p:sp>
      <p:pic>
        <p:nvPicPr>
          <p:cNvPr id="154" name="Picture 153" descr="lock.png"/>
          <p:cNvPicPr>
            <a:picLocks noChangeAspect="1"/>
          </p:cNvPicPr>
          <p:nvPr/>
        </p:nvPicPr>
        <p:blipFill>
          <a:blip r:embed="rId4"/>
          <a:stretch>
            <a:fillRect/>
          </a:stretch>
        </p:blipFill>
        <p:spPr>
          <a:xfrm>
            <a:off x="11035226" y="4666996"/>
            <a:ext cx="128699" cy="187198"/>
          </a:xfrm>
          <a:prstGeom prst="rect">
            <a:avLst/>
          </a:prstGeom>
        </p:spPr>
      </p:pic>
      <p:sp>
        <p:nvSpPr>
          <p:cNvPr id="155" name="TextBox 154"/>
          <p:cNvSpPr txBox="1"/>
          <p:nvPr/>
        </p:nvSpPr>
        <p:spPr>
          <a:xfrm>
            <a:off x="11202722" y="4676775"/>
            <a:ext cx="413990" cy="186689"/>
          </a:xfrm>
          <a:prstGeom prst="rect">
            <a:avLst/>
          </a:prstGeom>
          <a:noFill/>
        </p:spPr>
        <p:txBody>
          <a:bodyPr wrap="none" lIns="0" rIns="0" tIns="0" bIns="0">
            <a:spAutoFit/>
          </a:bodyPr>
          <a:lstStyle/>
          <a:p>
            <a:r>
              <a:rPr sz="1100" b="0">
                <a:solidFill>
                  <a:srgbClr val="1F2933"/>
                </a:solidFill>
                <a:latin typeface="Calibri"/>
              </a:rPr>
              <a:t>of the</a:t>
            </a:r>
          </a:p>
        </p:txBody>
      </p:sp>
      <p:sp>
        <p:nvSpPr>
          <p:cNvPr id="156" name="TextBox 155"/>
          <p:cNvSpPr txBox="1"/>
          <p:nvPr/>
        </p:nvSpPr>
        <p:spPr>
          <a:xfrm>
            <a:off x="9358313" y="4844415"/>
            <a:ext cx="2519361" cy="186689"/>
          </a:xfrm>
          <a:prstGeom prst="rect">
            <a:avLst/>
          </a:prstGeom>
          <a:noFill/>
        </p:spPr>
        <p:txBody>
          <a:bodyPr wrap="none" lIns="0" rIns="0" tIns="0" bIns="0">
            <a:spAutoFit/>
          </a:bodyPr>
          <a:lstStyle/>
          <a:p>
            <a:r>
              <a:rPr sz="1100" b="0">
                <a:solidFill>
                  <a:srgbClr val="1F2933"/>
                </a:solidFill>
                <a:latin typeface="Calibri"/>
              </a:rPr>
              <a:t>market; vendors package for one vertical at</a:t>
            </a:r>
          </a:p>
        </p:txBody>
      </p:sp>
      <p:sp>
        <p:nvSpPr>
          <p:cNvPr id="157" name="TextBox 156"/>
          <p:cNvSpPr txBox="1"/>
          <p:nvPr/>
        </p:nvSpPr>
        <p:spPr>
          <a:xfrm>
            <a:off x="9358313" y="5012055"/>
            <a:ext cx="470197" cy="186689"/>
          </a:xfrm>
          <a:prstGeom prst="rect">
            <a:avLst/>
          </a:prstGeom>
          <a:noFill/>
        </p:spPr>
        <p:txBody>
          <a:bodyPr wrap="none" lIns="0" rIns="0" tIns="0" bIns="0">
            <a:spAutoFit/>
          </a:bodyPr>
          <a:lstStyle/>
          <a:p>
            <a:r>
              <a:rPr sz="1100" b="0">
                <a:solidFill>
                  <a:srgbClr val="1F2933"/>
                </a:solidFill>
                <a:latin typeface="Calibri"/>
              </a:rPr>
              <a:t>a time.</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Player Landscape by Business Type and Reach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Named players by business type and geographic reach, with how each group competes</a:t>
            </a:r>
          </a:p>
        </p:txBody>
      </p:sp>
      <p:sp>
        <p:nvSpPr>
          <p:cNvPr id="10" name="Rectangle 9"/>
          <p:cNvSpPr/>
          <p:nvPr/>
        </p:nvSpPr>
        <p:spPr>
          <a:xfrm>
            <a:off x="1638300" y="1047750"/>
            <a:ext cx="3422650" cy="2667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145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1  (4)</a:t>
            </a:r>
          </a:p>
        </p:txBody>
      </p:sp>
      <p:sp>
        <p:nvSpPr>
          <p:cNvPr id="12" name="Rectangle 11"/>
          <p:cNvSpPr/>
          <p:nvPr/>
        </p:nvSpPr>
        <p:spPr>
          <a:xfrm>
            <a:off x="5099050" y="1047750"/>
            <a:ext cx="3422650" cy="2667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525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2  (2)</a:t>
            </a:r>
          </a:p>
        </p:txBody>
      </p:sp>
      <p:sp>
        <p:nvSpPr>
          <p:cNvPr id="14" name="Rectangle 13"/>
          <p:cNvSpPr/>
          <p:nvPr/>
        </p:nvSpPr>
        <p:spPr>
          <a:xfrm>
            <a:off x="8559800" y="1047750"/>
            <a:ext cx="3422650" cy="2667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360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3  (4)</a:t>
            </a:r>
          </a:p>
        </p:txBody>
      </p:sp>
      <p:sp>
        <p:nvSpPr>
          <p:cNvPr id="16" name="TextBox 15"/>
          <p:cNvSpPr txBox="1"/>
          <p:nvPr/>
        </p:nvSpPr>
        <p:spPr>
          <a:xfrm>
            <a:off x="190500" y="14097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Global (4)</a:t>
            </a:r>
          </a:p>
        </p:txBody>
      </p:sp>
      <p:sp>
        <p:nvSpPr>
          <p:cNvPr id="17" name="TextBox 16"/>
          <p:cNvSpPr txBox="1"/>
          <p:nvPr/>
        </p:nvSpPr>
        <p:spPr>
          <a:xfrm>
            <a:off x="190500" y="15811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Sells in most major regions</a:t>
            </a:r>
          </a:p>
        </p:txBody>
      </p:sp>
      <p:cxnSp>
        <p:nvCxnSpPr>
          <p:cNvPr id="18" name="Connector 17"/>
          <p:cNvCxnSpPr/>
          <p:nvPr/>
        </p:nvCxnSpPr>
        <p:spPr>
          <a:xfrm>
            <a:off x="1647825" y="13906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733550" y="1447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33550" y="1438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1" name="TextBox 20"/>
          <p:cNvSpPr txBox="1"/>
          <p:nvPr/>
        </p:nvSpPr>
        <p:spPr>
          <a:xfrm>
            <a:off x="1924050" y="1428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Prestige Consumer Healthcare</a:t>
            </a:r>
          </a:p>
        </p:txBody>
      </p:sp>
      <p:sp>
        <p:nvSpPr>
          <p:cNvPr id="22" name="Rectangle 21"/>
          <p:cNvSpPr/>
          <p:nvPr/>
        </p:nvSpPr>
        <p:spPr>
          <a:xfrm>
            <a:off x="1733550" y="1638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33550" y="1628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4" name="TextBox 23"/>
          <p:cNvSpPr txBox="1"/>
          <p:nvPr/>
        </p:nvSpPr>
        <p:spPr>
          <a:xfrm>
            <a:off x="1924050" y="1619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Diomed Group</a:t>
            </a:r>
          </a:p>
        </p:txBody>
      </p:sp>
      <p:sp>
        <p:nvSpPr>
          <p:cNvPr id="25" name="Rectangle 24"/>
          <p:cNvSpPr/>
          <p:nvPr/>
        </p:nvSpPr>
        <p:spPr>
          <a:xfrm>
            <a:off x="1733550" y="1828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33550" y="1819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7" name="TextBox 26"/>
          <p:cNvSpPr txBox="1"/>
          <p:nvPr/>
        </p:nvSpPr>
        <p:spPr>
          <a:xfrm>
            <a:off x="1924050" y="1809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NeilMed Pharmaceuticals</a:t>
            </a:r>
          </a:p>
        </p:txBody>
      </p:sp>
      <p:sp>
        <p:nvSpPr>
          <p:cNvPr id="28" name="Rectangle 27"/>
          <p:cNvSpPr/>
          <p:nvPr/>
        </p:nvSpPr>
        <p:spPr>
          <a:xfrm>
            <a:off x="1733550" y="2019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33550" y="2009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0" name="TextBox 29"/>
          <p:cNvSpPr txBox="1"/>
          <p:nvPr/>
        </p:nvSpPr>
        <p:spPr>
          <a:xfrm>
            <a:off x="1924050" y="2000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Quest Products</a:t>
            </a:r>
          </a:p>
        </p:txBody>
      </p:sp>
      <p:cxnSp>
        <p:nvCxnSpPr>
          <p:cNvPr id="31" name="Connector 30"/>
          <p:cNvCxnSpPr/>
          <p:nvPr/>
        </p:nvCxnSpPr>
        <p:spPr>
          <a:xfrm>
            <a:off x="5108575" y="13906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569325" y="13906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90500" y="24384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Regional (2)</a:t>
            </a:r>
          </a:p>
        </p:txBody>
      </p:sp>
      <p:sp>
        <p:nvSpPr>
          <p:cNvPr id="34" name="TextBox 33"/>
          <p:cNvSpPr txBox="1"/>
          <p:nvPr/>
        </p:nvSpPr>
        <p:spPr>
          <a:xfrm>
            <a:off x="190500" y="26098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Strong in one or two regions</a:t>
            </a:r>
          </a:p>
        </p:txBody>
      </p:sp>
      <p:cxnSp>
        <p:nvCxnSpPr>
          <p:cNvPr id="35" name="Connector 34"/>
          <p:cNvCxnSpPr/>
          <p:nvPr/>
        </p:nvCxnSpPr>
        <p:spPr>
          <a:xfrm>
            <a:off x="190500" y="240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647825" y="24193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108575" y="24193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5194300" y="24765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94300" y="24669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0" name="TextBox 39"/>
          <p:cNvSpPr txBox="1"/>
          <p:nvPr/>
        </p:nvSpPr>
        <p:spPr>
          <a:xfrm>
            <a:off x="5384800" y="24574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Eosera</a:t>
            </a:r>
          </a:p>
        </p:txBody>
      </p:sp>
      <p:sp>
        <p:nvSpPr>
          <p:cNvPr id="41" name="Rectangle 40"/>
          <p:cNvSpPr/>
          <p:nvPr/>
        </p:nvSpPr>
        <p:spPr>
          <a:xfrm>
            <a:off x="5194300" y="26670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94300" y="26574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3" name="TextBox 42"/>
          <p:cNvSpPr txBox="1"/>
          <p:nvPr/>
        </p:nvSpPr>
        <p:spPr>
          <a:xfrm>
            <a:off x="5384800" y="26479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Coopération Pharmaceutique Française</a:t>
            </a:r>
          </a:p>
        </p:txBody>
      </p:sp>
      <p:cxnSp>
        <p:nvCxnSpPr>
          <p:cNvPr id="44" name="Connector 43"/>
          <p:cNvCxnSpPr/>
          <p:nvPr/>
        </p:nvCxnSpPr>
        <p:spPr>
          <a:xfrm>
            <a:off x="8569325" y="24193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90500" y="34671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Local or niche (4)</a:t>
            </a:r>
          </a:p>
        </p:txBody>
      </p:sp>
      <p:sp>
        <p:nvSpPr>
          <p:cNvPr id="46" name="TextBox 45"/>
          <p:cNvSpPr txBox="1"/>
          <p:nvPr/>
        </p:nvSpPr>
        <p:spPr>
          <a:xfrm>
            <a:off x="190500" y="36385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One market or one specialist use</a:t>
            </a:r>
          </a:p>
        </p:txBody>
      </p:sp>
      <p:cxnSp>
        <p:nvCxnSpPr>
          <p:cNvPr id="47" name="Connector 46"/>
          <p:cNvCxnSpPr/>
          <p:nvPr/>
        </p:nvCxnSpPr>
        <p:spPr>
          <a:xfrm>
            <a:off x="190500" y="3429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647825" y="34480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108575" y="34480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569325" y="34480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8655050" y="3505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5050" y="3495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3" name="TextBox 52"/>
          <p:cNvSpPr txBox="1"/>
          <p:nvPr/>
        </p:nvSpPr>
        <p:spPr>
          <a:xfrm>
            <a:off x="8845550" y="3486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Orion Pharma</a:t>
            </a:r>
          </a:p>
        </p:txBody>
      </p:sp>
      <p:sp>
        <p:nvSpPr>
          <p:cNvPr id="54" name="Rectangle 53"/>
          <p:cNvSpPr/>
          <p:nvPr/>
        </p:nvSpPr>
        <p:spPr>
          <a:xfrm>
            <a:off x="8655050" y="3695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55050" y="3686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6" name="TextBox 55"/>
          <p:cNvSpPr txBox="1"/>
          <p:nvPr/>
        </p:nvSpPr>
        <p:spPr>
          <a:xfrm>
            <a:off x="8845550" y="3676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Farmacia Nordic</a:t>
            </a:r>
          </a:p>
        </p:txBody>
      </p:sp>
      <p:sp>
        <p:nvSpPr>
          <p:cNvPr id="57" name="Rectangle 56"/>
          <p:cNvSpPr/>
          <p:nvPr/>
        </p:nvSpPr>
        <p:spPr>
          <a:xfrm>
            <a:off x="8655050" y="3886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655050" y="3876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9" name="TextBox 58"/>
          <p:cNvSpPr txBox="1"/>
          <p:nvPr/>
        </p:nvSpPr>
        <p:spPr>
          <a:xfrm>
            <a:off x="8845550" y="3867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Key Pharmaceuticals</a:t>
            </a:r>
          </a:p>
        </p:txBody>
      </p:sp>
      <p:sp>
        <p:nvSpPr>
          <p:cNvPr id="60" name="Rectangle 59"/>
          <p:cNvSpPr/>
          <p:nvPr/>
        </p:nvSpPr>
        <p:spPr>
          <a:xfrm>
            <a:off x="8655050" y="4076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655050" y="4067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62" name="TextBox 61"/>
          <p:cNvSpPr txBox="1"/>
          <p:nvPr/>
        </p:nvSpPr>
        <p:spPr>
          <a:xfrm>
            <a:off x="8845550" y="4057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Lanes Health</a:t>
            </a:r>
          </a:p>
        </p:txBody>
      </p:sp>
      <p:sp>
        <p:nvSpPr>
          <p:cNvPr id="63" name="Rectangle 62"/>
          <p:cNvSpPr/>
          <p:nvPr/>
        </p:nvSpPr>
        <p:spPr>
          <a:xfrm>
            <a:off x="190500" y="4524375"/>
            <a:ext cx="123825" cy="1238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619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1</a:t>
            </a:r>
          </a:p>
        </p:txBody>
      </p:sp>
      <p:sp>
        <p:nvSpPr>
          <p:cNvPr id="65" name="TextBox 64"/>
          <p:cNvSpPr txBox="1"/>
          <p:nvPr/>
        </p:nvSpPr>
        <p:spPr>
          <a:xfrm>
            <a:off x="8191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66" name="TextBox 65"/>
          <p:cNvSpPr txBox="1"/>
          <p:nvPr/>
        </p:nvSpPr>
        <p:spPr>
          <a:xfrm>
            <a:off x="14478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67" name="Rectangle 66"/>
          <p:cNvSpPr/>
          <p:nvPr/>
        </p:nvSpPr>
        <p:spPr>
          <a:xfrm>
            <a:off x="2952750" y="4524375"/>
            <a:ext cx="123825" cy="1238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12420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2</a:t>
            </a:r>
          </a:p>
        </p:txBody>
      </p:sp>
      <p:sp>
        <p:nvSpPr>
          <p:cNvPr id="69" name="TextBox 68"/>
          <p:cNvSpPr txBox="1"/>
          <p:nvPr/>
        </p:nvSpPr>
        <p:spPr>
          <a:xfrm>
            <a:off x="358140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70" name="TextBox 69"/>
          <p:cNvSpPr txBox="1"/>
          <p:nvPr/>
        </p:nvSpPr>
        <p:spPr>
          <a:xfrm>
            <a:off x="421005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71" name="Rectangle 70"/>
          <p:cNvSpPr/>
          <p:nvPr/>
        </p:nvSpPr>
        <p:spPr>
          <a:xfrm>
            <a:off x="5715000" y="4524375"/>
            <a:ext cx="123825" cy="1238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8864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3</a:t>
            </a:r>
          </a:p>
        </p:txBody>
      </p:sp>
      <p:sp>
        <p:nvSpPr>
          <p:cNvPr id="73" name="TextBox 72"/>
          <p:cNvSpPr txBox="1"/>
          <p:nvPr/>
        </p:nvSpPr>
        <p:spPr>
          <a:xfrm>
            <a:off x="63436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74" name="TextBox 73"/>
          <p:cNvSpPr txBox="1"/>
          <p:nvPr/>
        </p:nvSpPr>
        <p:spPr>
          <a:xfrm>
            <a:off x="69723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75" name="TextBox 74"/>
          <p:cNvSpPr txBox="1"/>
          <p:nvPr/>
        </p:nvSpPr>
        <p:spPr>
          <a:xfrm>
            <a:off x="190500" y="4705350"/>
            <a:ext cx="11811000" cy="171450"/>
          </a:xfrm>
          <a:prstGeom prst="rect">
            <a:avLst/>
          </a:prstGeom>
          <a:noFill/>
        </p:spPr>
        <p:txBody>
          <a:bodyPr wrap="square" lIns="28575" rIns="28575" tIns="9525" bIns="9525" anchor="t">
            <a:spAutoFit/>
          </a:bodyPr>
          <a:lstStyle/>
          <a:p>
            <a:pPr algn="l"/>
            <a:r>
              <a:rPr sz="1100" b="0">
                <a:solidFill>
                  <a:srgbClr val="1F2933"/>
                </a:solidFill>
                <a:latin typeface="Calibri"/>
              </a:rPr>
              <a:t>BY TYPE   Tier 1 4   |   Tier 2 2   |   Tier 3 4      BY REACH   Global 4   |   Regional 2   |   Local or niche 4</a:t>
            </a:r>
          </a:p>
        </p:txBody>
      </p:sp>
      <p:sp>
        <p:nvSpPr>
          <p:cNvPr id="76" name="Rectangle 75"/>
          <p:cNvSpPr/>
          <p:nvPr/>
        </p:nvSpPr>
        <p:spPr>
          <a:xfrm>
            <a:off x="190500" y="4972050"/>
            <a:ext cx="2809875" cy="38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9050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78" name="TextBox 77"/>
          <p:cNvSpPr txBox="1"/>
          <p:nvPr/>
        </p:nvSpPr>
        <p:spPr>
          <a:xfrm>
            <a:off x="19050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79" name="TextBox 78"/>
          <p:cNvSpPr txBox="1"/>
          <p:nvPr/>
        </p:nvSpPr>
        <p:spPr>
          <a:xfrm>
            <a:off x="19050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Direct + key accounts; premium / bundled positioning.</a:t>
            </a:r>
          </a:p>
        </p:txBody>
      </p:sp>
      <p:sp>
        <p:nvSpPr>
          <p:cNvPr id="80" name="TextBox 79"/>
          <p:cNvSpPr txBox="1"/>
          <p:nvPr/>
        </p:nvSpPr>
        <p:spPr>
          <a:xfrm>
            <a:off x="19050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1" name="TextBox 80"/>
          <p:cNvSpPr txBox="1"/>
          <p:nvPr/>
        </p:nvSpPr>
        <p:spPr>
          <a:xfrm>
            <a:off x="19050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2" name="Rectangle 81"/>
          <p:cNvSpPr/>
          <p:nvPr/>
        </p:nvSpPr>
        <p:spPr>
          <a:xfrm>
            <a:off x="3190875" y="4972050"/>
            <a:ext cx="2809875" cy="38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190875"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84" name="TextBox 83"/>
          <p:cNvSpPr txBox="1"/>
          <p:nvPr/>
        </p:nvSpPr>
        <p:spPr>
          <a:xfrm>
            <a:off x="3190875"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85" name="TextBox 84"/>
          <p:cNvSpPr txBox="1"/>
          <p:nvPr/>
        </p:nvSpPr>
        <p:spPr>
          <a:xfrm>
            <a:off x="3190875"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Distributors; mid / value-added positioning.</a:t>
            </a:r>
          </a:p>
        </p:txBody>
      </p:sp>
      <p:sp>
        <p:nvSpPr>
          <p:cNvPr id="86" name="TextBox 85"/>
          <p:cNvSpPr txBox="1"/>
          <p:nvPr/>
        </p:nvSpPr>
        <p:spPr>
          <a:xfrm>
            <a:off x="3190875"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7" name="TextBox 86"/>
          <p:cNvSpPr txBox="1"/>
          <p:nvPr/>
        </p:nvSpPr>
        <p:spPr>
          <a:xfrm>
            <a:off x="3190875"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8" name="Rectangle 87"/>
          <p:cNvSpPr/>
          <p:nvPr/>
        </p:nvSpPr>
        <p:spPr>
          <a:xfrm>
            <a:off x="6191250" y="4972050"/>
            <a:ext cx="2809875" cy="38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19125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90" name="TextBox 89"/>
          <p:cNvSpPr txBox="1"/>
          <p:nvPr/>
        </p:nvSpPr>
        <p:spPr>
          <a:xfrm>
            <a:off x="619125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91" name="TextBox 90"/>
          <p:cNvSpPr txBox="1"/>
          <p:nvPr/>
        </p:nvSpPr>
        <p:spPr>
          <a:xfrm>
            <a:off x="619125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Regional partners; value / entry positioning.</a:t>
            </a:r>
          </a:p>
        </p:txBody>
      </p:sp>
      <p:sp>
        <p:nvSpPr>
          <p:cNvPr id="92" name="TextBox 91"/>
          <p:cNvSpPr txBox="1"/>
          <p:nvPr/>
        </p:nvSpPr>
        <p:spPr>
          <a:xfrm>
            <a:off x="619125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93" name="TextBox 92"/>
          <p:cNvSpPr txBox="1"/>
          <p:nvPr/>
        </p:nvSpPr>
        <p:spPr>
          <a:xfrm>
            <a:off x="619125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94" name="TextBox 9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95" name="Picture 94" descr="lock.png"/>
          <p:cNvPicPr>
            <a:picLocks noChangeAspect="1"/>
          </p:cNvPicPr>
          <p:nvPr/>
        </p:nvPicPr>
        <p:blipFill>
          <a:blip r:embed="rId4"/>
          <a:stretch>
            <a:fillRect/>
          </a:stretch>
        </p:blipFill>
        <p:spPr>
          <a:xfrm>
            <a:off x="1059600" y="4487926"/>
            <a:ext cx="128699" cy="187198"/>
          </a:xfrm>
          <a:prstGeom prst="rect">
            <a:avLst/>
          </a:prstGeom>
        </p:spPr>
      </p:pic>
      <p:pic>
        <p:nvPicPr>
          <p:cNvPr id="96" name="Picture 95" descr="lock.png"/>
          <p:cNvPicPr>
            <a:picLocks noChangeAspect="1"/>
          </p:cNvPicPr>
          <p:nvPr/>
        </p:nvPicPr>
        <p:blipFill>
          <a:blip r:embed="rId4"/>
          <a:stretch>
            <a:fillRect/>
          </a:stretch>
        </p:blipFill>
        <p:spPr>
          <a:xfrm>
            <a:off x="3821850" y="4487926"/>
            <a:ext cx="128699" cy="187198"/>
          </a:xfrm>
          <a:prstGeom prst="rect">
            <a:avLst/>
          </a:prstGeom>
        </p:spPr>
      </p:pic>
      <p:pic>
        <p:nvPicPr>
          <p:cNvPr id="97" name="Picture 96" descr="lock.png"/>
          <p:cNvPicPr>
            <a:picLocks noChangeAspect="1"/>
          </p:cNvPicPr>
          <p:nvPr/>
        </p:nvPicPr>
        <p:blipFill>
          <a:blip r:embed="rId4"/>
          <a:stretch>
            <a:fillRect/>
          </a:stretch>
        </p:blipFill>
        <p:spPr>
          <a:xfrm>
            <a:off x="6584100" y="4487926"/>
            <a:ext cx="128699" cy="187198"/>
          </a:xfrm>
          <a:prstGeom prst="rect">
            <a:avLst/>
          </a:prstGeom>
        </p:spPr>
      </p:pic>
      <p:sp>
        <p:nvSpPr>
          <p:cNvPr id="98" name="TextBox 97"/>
          <p:cNvSpPr txBox="1"/>
          <p:nvPr/>
        </p:nvSpPr>
        <p:spPr>
          <a:xfrm>
            <a:off x="219075"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99" name="Picture 98" descr="lock.png"/>
          <p:cNvPicPr>
            <a:picLocks noChangeAspect="1"/>
          </p:cNvPicPr>
          <p:nvPr/>
        </p:nvPicPr>
        <p:blipFill>
          <a:blip r:embed="rId4"/>
          <a:stretch>
            <a:fillRect/>
          </a:stretch>
        </p:blipFill>
        <p:spPr>
          <a:xfrm>
            <a:off x="1343736" y="5867145"/>
            <a:ext cx="128699" cy="187198"/>
          </a:xfrm>
          <a:prstGeom prst="rect">
            <a:avLst/>
          </a:prstGeom>
        </p:spPr>
      </p:pic>
      <p:sp>
        <p:nvSpPr>
          <p:cNvPr id="100" name="TextBox 99"/>
          <p:cNvSpPr txBox="1"/>
          <p:nvPr/>
        </p:nvSpPr>
        <p:spPr>
          <a:xfrm>
            <a:off x="1511232"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101" name="TextBox 100"/>
          <p:cNvSpPr txBox="1"/>
          <p:nvPr/>
        </p:nvSpPr>
        <p:spPr>
          <a:xfrm>
            <a:off x="3219450"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102" name="Picture 101" descr="lock.png"/>
          <p:cNvPicPr>
            <a:picLocks noChangeAspect="1"/>
          </p:cNvPicPr>
          <p:nvPr/>
        </p:nvPicPr>
        <p:blipFill>
          <a:blip r:embed="rId4"/>
          <a:stretch>
            <a:fillRect/>
          </a:stretch>
        </p:blipFill>
        <p:spPr>
          <a:xfrm>
            <a:off x="4344111" y="5867145"/>
            <a:ext cx="128699" cy="187198"/>
          </a:xfrm>
          <a:prstGeom prst="rect">
            <a:avLst/>
          </a:prstGeom>
        </p:spPr>
      </p:pic>
      <p:sp>
        <p:nvSpPr>
          <p:cNvPr id="103" name="TextBox 102"/>
          <p:cNvSpPr txBox="1"/>
          <p:nvPr/>
        </p:nvSpPr>
        <p:spPr>
          <a:xfrm>
            <a:off x="4511607"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104" name="TextBox 103"/>
          <p:cNvSpPr txBox="1"/>
          <p:nvPr/>
        </p:nvSpPr>
        <p:spPr>
          <a:xfrm>
            <a:off x="6219825"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105" name="Picture 104" descr="lock.png"/>
          <p:cNvPicPr>
            <a:picLocks noChangeAspect="1"/>
          </p:cNvPicPr>
          <p:nvPr/>
        </p:nvPicPr>
        <p:blipFill>
          <a:blip r:embed="rId4"/>
          <a:stretch>
            <a:fillRect/>
          </a:stretch>
        </p:blipFill>
        <p:spPr>
          <a:xfrm>
            <a:off x="7344486" y="5867145"/>
            <a:ext cx="128699" cy="187198"/>
          </a:xfrm>
          <a:prstGeom prst="rect">
            <a:avLst/>
          </a:prstGeom>
        </p:spPr>
      </p:pic>
      <p:sp>
        <p:nvSpPr>
          <p:cNvPr id="106" name="TextBox 105"/>
          <p:cNvSpPr txBox="1"/>
          <p:nvPr/>
        </p:nvSpPr>
        <p:spPr>
          <a:xfrm>
            <a:off x="7511982"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Corporate Scorecard: Who They Are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Eight corporate Ps for every named competitor: ownership, strategy, breadth, presence, scale and performance</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1, CORPORATE: WHO THEY ARE</a:t>
            </a:r>
          </a:p>
        </p:txBody>
      </p:sp>
      <p:sp>
        <p:nvSpPr>
          <p:cNvPr id="12" name="TextBox 11"/>
          <p:cNvSpPr txBox="1"/>
          <p:nvPr/>
        </p:nvSpPr>
        <p:spPr>
          <a:xfrm>
            <a:off x="3056896" y="1295400"/>
            <a:ext cx="206253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Parent and ownership</a:t>
            </a:r>
          </a:p>
        </p:txBody>
      </p:sp>
      <p:sp>
        <p:nvSpPr>
          <p:cNvPr id="13" name="TextBox 12"/>
          <p:cNvSpPr txBox="1"/>
          <p:nvPr/>
        </p:nvSpPr>
        <p:spPr>
          <a:xfrm>
            <a:off x="3056896" y="1657350"/>
            <a:ext cx="206253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From the company roster</a:t>
            </a:r>
          </a:p>
        </p:txBody>
      </p:sp>
      <p:sp>
        <p:nvSpPr>
          <p:cNvPr id="14" name="TextBox 13"/>
          <p:cNvSpPr txBox="1"/>
          <p:nvPr/>
        </p:nvSpPr>
        <p:spPr>
          <a:xfrm>
            <a:off x="5195635" y="1295400"/>
            <a:ext cx="106446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Purpose (strategy)</a:t>
            </a:r>
          </a:p>
        </p:txBody>
      </p:sp>
      <p:sp>
        <p:nvSpPr>
          <p:cNvPr id="15" name="TextBox 14"/>
          <p:cNvSpPr txBox="1"/>
          <p:nvPr/>
        </p:nvSpPr>
        <p:spPr>
          <a:xfrm>
            <a:off x="5195635" y="1657350"/>
            <a:ext cx="106446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Dominant active move</a:t>
            </a:r>
          </a:p>
        </p:txBody>
      </p:sp>
      <p:sp>
        <p:nvSpPr>
          <p:cNvPr id="16" name="TextBox 15"/>
          <p:cNvSpPr txBox="1"/>
          <p:nvPr/>
        </p:nvSpPr>
        <p:spPr>
          <a:xfrm>
            <a:off x="6336296" y="1295400"/>
            <a:ext cx="87435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Portfolio breadth</a:t>
            </a:r>
          </a:p>
        </p:txBody>
      </p:sp>
      <p:sp>
        <p:nvSpPr>
          <p:cNvPr id="17" name="TextBox 16"/>
          <p:cNvSpPr txBox="1"/>
          <p:nvPr/>
        </p:nvSpPr>
        <p:spPr>
          <a:xfrm>
            <a:off x="6336296" y="1657350"/>
            <a:ext cx="87435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Sub-segments: 6+ 3, 4+ 2, 2+ 1</a:t>
            </a:r>
          </a:p>
        </p:txBody>
      </p:sp>
      <p:sp>
        <p:nvSpPr>
          <p:cNvPr id="18" name="TextBox 17"/>
          <p:cNvSpPr txBox="1"/>
          <p:nvPr/>
        </p:nvSpPr>
        <p:spPr>
          <a:xfrm>
            <a:off x="7286847" y="1295400"/>
            <a:ext cx="87435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Presence</a:t>
            </a:r>
          </a:p>
        </p:txBody>
      </p:sp>
      <p:sp>
        <p:nvSpPr>
          <p:cNvPr id="19" name="TextBox 18"/>
          <p:cNvSpPr txBox="1"/>
          <p:nvPr/>
        </p:nvSpPr>
        <p:spPr>
          <a:xfrm>
            <a:off x="7286847" y="1657350"/>
            <a:ext cx="87435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3, regional 2, local 1</a:t>
            </a:r>
          </a:p>
        </p:txBody>
      </p:sp>
      <p:sp>
        <p:nvSpPr>
          <p:cNvPr id="20" name="TextBox 19"/>
          <p:cNvSpPr txBox="1"/>
          <p:nvPr/>
        </p:nvSpPr>
        <p:spPr>
          <a:xfrm>
            <a:off x="8237397" y="1295400"/>
            <a:ext cx="87435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Power (scale)</a:t>
            </a:r>
          </a:p>
        </p:txBody>
      </p:sp>
      <p:sp>
        <p:nvSpPr>
          <p:cNvPr id="21" name="TextBox 20"/>
          <p:cNvSpPr txBox="1"/>
          <p:nvPr/>
        </p:nvSpPr>
        <p:spPr>
          <a:xfrm>
            <a:off x="8237397" y="1657350"/>
            <a:ext cx="87435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1 = 3, 2 = 2, 3 = 1</a:t>
            </a:r>
          </a:p>
        </p:txBody>
      </p:sp>
      <p:sp>
        <p:nvSpPr>
          <p:cNvPr id="22" name="TextBox 21"/>
          <p:cNvSpPr txBox="1"/>
          <p:nvPr/>
        </p:nvSpPr>
        <p:spPr>
          <a:xfrm>
            <a:off x="9187948" y="1295400"/>
            <a:ext cx="87435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Performance</a:t>
            </a:r>
          </a:p>
        </p:txBody>
      </p:sp>
      <p:sp>
        <p:nvSpPr>
          <p:cNvPr id="23" name="TextBox 22"/>
          <p:cNvSpPr txBox="1"/>
          <p:nvPr/>
        </p:nvSpPr>
        <p:spPr>
          <a:xfrm>
            <a:off x="9187948" y="1657350"/>
            <a:ext cx="87435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
            </a:r>
          </a:p>
        </p:txBody>
      </p:sp>
      <p:sp>
        <p:nvSpPr>
          <p:cNvPr id="24" name="TextBox 23"/>
          <p:cNvSpPr txBox="1"/>
          <p:nvPr/>
        </p:nvSpPr>
        <p:spPr>
          <a:xfrm>
            <a:off x="10138499" y="1295400"/>
            <a:ext cx="87435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People</a:t>
            </a:r>
          </a:p>
        </p:txBody>
      </p:sp>
      <p:sp>
        <p:nvSpPr>
          <p:cNvPr id="25" name="TextBox 24"/>
          <p:cNvSpPr txBox="1"/>
          <p:nvPr/>
        </p:nvSpPr>
        <p:spPr>
          <a:xfrm>
            <a:off x="10138499" y="1657350"/>
            <a:ext cx="87435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Talent; not assessed</a:t>
            </a:r>
          </a:p>
        </p:txBody>
      </p:sp>
      <p:sp>
        <p:nvSpPr>
          <p:cNvPr id="26" name="TextBox 25"/>
          <p:cNvSpPr txBox="1"/>
          <p:nvPr/>
        </p:nvSpPr>
        <p:spPr>
          <a:xfrm>
            <a:off x="11089049" y="1295400"/>
            <a:ext cx="87435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Partnerships</a:t>
            </a:r>
          </a:p>
        </p:txBody>
      </p:sp>
      <p:sp>
        <p:nvSpPr>
          <p:cNvPr id="27" name="TextBox 26"/>
          <p:cNvSpPr txBox="1"/>
          <p:nvPr/>
        </p:nvSpPr>
        <p:spPr>
          <a:xfrm>
            <a:off x="11089049" y="1657350"/>
            <a:ext cx="87435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alliances</a:t>
            </a:r>
          </a:p>
        </p:txBody>
      </p:sp>
      <p:cxnSp>
        <p:nvCxnSpPr>
          <p:cNvPr id="28" name="Connector 27"/>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5750" y="22479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Prestige Consumer Healthcare</a:t>
            </a:r>
          </a:p>
        </p:txBody>
      </p:sp>
      <p:sp>
        <p:nvSpPr>
          <p:cNvPr id="31" name="TextBox 30"/>
          <p:cNvSpPr txBox="1"/>
          <p:nvPr/>
        </p:nvSpPr>
        <p:spPr>
          <a:xfrm>
            <a:off x="285750" y="24098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2" name="TextBox 31"/>
          <p:cNvSpPr txBox="1"/>
          <p:nvPr/>
        </p:nvSpPr>
        <p:spPr>
          <a:xfrm>
            <a:off x="3018796" y="2228850"/>
            <a:ext cx="213873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3" name="TextBox 32"/>
          <p:cNvSpPr txBox="1"/>
          <p:nvPr/>
        </p:nvSpPr>
        <p:spPr>
          <a:xfrm>
            <a:off x="5195635" y="2228850"/>
            <a:ext cx="1064461"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34" name="Oval 33"/>
          <p:cNvSpPr/>
          <p:nvPr/>
        </p:nvSpPr>
        <p:spPr>
          <a:xfrm>
            <a:off x="6697271"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647822"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598373"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548923"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0399" y="2228850"/>
            <a:ext cx="95055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9" name="TextBox 38"/>
          <p:cNvSpPr txBox="1"/>
          <p:nvPr/>
        </p:nvSpPr>
        <p:spPr>
          <a:xfrm>
            <a:off x="11050949" y="2228850"/>
            <a:ext cx="95055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0" name="Connector 39"/>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5750" y="25908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Diomed Group</a:t>
            </a:r>
          </a:p>
        </p:txBody>
      </p:sp>
      <p:sp>
        <p:nvSpPr>
          <p:cNvPr id="43" name="TextBox 42"/>
          <p:cNvSpPr txBox="1"/>
          <p:nvPr/>
        </p:nvSpPr>
        <p:spPr>
          <a:xfrm>
            <a:off x="285750" y="27527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4" name="TextBox 43"/>
          <p:cNvSpPr txBox="1"/>
          <p:nvPr/>
        </p:nvSpPr>
        <p:spPr>
          <a:xfrm>
            <a:off x="3018796" y="2571750"/>
            <a:ext cx="213873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5" name="TextBox 44"/>
          <p:cNvSpPr txBox="1"/>
          <p:nvPr/>
        </p:nvSpPr>
        <p:spPr>
          <a:xfrm>
            <a:off x="5195635" y="2571750"/>
            <a:ext cx="1064461"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46" name="Oval 45"/>
          <p:cNvSpPr/>
          <p:nvPr/>
        </p:nvSpPr>
        <p:spPr>
          <a:xfrm>
            <a:off x="6697271"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647822"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598373"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548923"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00399" y="2571750"/>
            <a:ext cx="95055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1" name="TextBox 50"/>
          <p:cNvSpPr txBox="1"/>
          <p:nvPr/>
        </p:nvSpPr>
        <p:spPr>
          <a:xfrm>
            <a:off x="11050949" y="2571750"/>
            <a:ext cx="95055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2" name="Connector 51"/>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5750" y="29337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NeilMed Pharmaceuticals</a:t>
            </a:r>
          </a:p>
        </p:txBody>
      </p:sp>
      <p:sp>
        <p:nvSpPr>
          <p:cNvPr id="55" name="TextBox 54"/>
          <p:cNvSpPr txBox="1"/>
          <p:nvPr/>
        </p:nvSpPr>
        <p:spPr>
          <a:xfrm>
            <a:off x="285750" y="30956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6" name="TextBox 55"/>
          <p:cNvSpPr txBox="1"/>
          <p:nvPr/>
        </p:nvSpPr>
        <p:spPr>
          <a:xfrm>
            <a:off x="3018796" y="2914650"/>
            <a:ext cx="213873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7" name="TextBox 56"/>
          <p:cNvSpPr txBox="1"/>
          <p:nvPr/>
        </p:nvSpPr>
        <p:spPr>
          <a:xfrm>
            <a:off x="5195635" y="2914650"/>
            <a:ext cx="1064461"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58" name="Oval 57"/>
          <p:cNvSpPr/>
          <p:nvPr/>
        </p:nvSpPr>
        <p:spPr>
          <a:xfrm>
            <a:off x="6697271"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647822"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598373"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9548923"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9629775" y="3009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100399" y="2914650"/>
            <a:ext cx="95055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4" name="TextBox 63"/>
          <p:cNvSpPr txBox="1"/>
          <p:nvPr/>
        </p:nvSpPr>
        <p:spPr>
          <a:xfrm>
            <a:off x="11050949" y="2914650"/>
            <a:ext cx="95055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5" name="Connector 64"/>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85750" y="32766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Quest Products</a:t>
            </a:r>
          </a:p>
        </p:txBody>
      </p:sp>
      <p:sp>
        <p:nvSpPr>
          <p:cNvPr id="68" name="TextBox 67"/>
          <p:cNvSpPr txBox="1"/>
          <p:nvPr/>
        </p:nvSpPr>
        <p:spPr>
          <a:xfrm>
            <a:off x="285750" y="34385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9" name="TextBox 68"/>
          <p:cNvSpPr txBox="1"/>
          <p:nvPr/>
        </p:nvSpPr>
        <p:spPr>
          <a:xfrm>
            <a:off x="3018796" y="3257550"/>
            <a:ext cx="213873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0" name="TextBox 69"/>
          <p:cNvSpPr txBox="1"/>
          <p:nvPr/>
        </p:nvSpPr>
        <p:spPr>
          <a:xfrm>
            <a:off x="5195635" y="3257550"/>
            <a:ext cx="1064461"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71" name="Oval 70"/>
          <p:cNvSpPr/>
          <p:nvPr/>
        </p:nvSpPr>
        <p:spPr>
          <a:xfrm>
            <a:off x="6697271"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6772275" y="3352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7647822"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8598373"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9548923"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9629775" y="3352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0100399" y="3257550"/>
            <a:ext cx="95055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8" name="TextBox 77"/>
          <p:cNvSpPr txBox="1"/>
          <p:nvPr/>
        </p:nvSpPr>
        <p:spPr>
          <a:xfrm>
            <a:off x="11050949" y="3257550"/>
            <a:ext cx="95055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79" name="Connector 78"/>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0" name="Rectangle 79"/>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85750" y="36195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Eosera</a:t>
            </a:r>
          </a:p>
        </p:txBody>
      </p:sp>
      <p:sp>
        <p:nvSpPr>
          <p:cNvPr id="82" name="TextBox 81"/>
          <p:cNvSpPr txBox="1"/>
          <p:nvPr/>
        </p:nvSpPr>
        <p:spPr>
          <a:xfrm>
            <a:off x="285750" y="37814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3" name="TextBox 82"/>
          <p:cNvSpPr txBox="1"/>
          <p:nvPr/>
        </p:nvSpPr>
        <p:spPr>
          <a:xfrm>
            <a:off x="3018796" y="3600450"/>
            <a:ext cx="213873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4" name="TextBox 83"/>
          <p:cNvSpPr txBox="1"/>
          <p:nvPr/>
        </p:nvSpPr>
        <p:spPr>
          <a:xfrm>
            <a:off x="5195635" y="3600450"/>
            <a:ext cx="1064461"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85" name="Oval 84"/>
          <p:cNvSpPr/>
          <p:nvPr/>
        </p:nvSpPr>
        <p:spPr>
          <a:xfrm>
            <a:off x="6697271"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6772275"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647822"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772477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8598373"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8677275" y="3695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9548923"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9629775" y="3695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0100399" y="3600450"/>
            <a:ext cx="95055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4" name="TextBox 93"/>
          <p:cNvSpPr txBox="1"/>
          <p:nvPr/>
        </p:nvSpPr>
        <p:spPr>
          <a:xfrm>
            <a:off x="11050949" y="3600450"/>
            <a:ext cx="95055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95" name="Connector 94"/>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85750" y="39624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Coopération Pharmaceutique Française</a:t>
            </a:r>
          </a:p>
        </p:txBody>
      </p:sp>
      <p:sp>
        <p:nvSpPr>
          <p:cNvPr id="98" name="TextBox 97"/>
          <p:cNvSpPr txBox="1"/>
          <p:nvPr/>
        </p:nvSpPr>
        <p:spPr>
          <a:xfrm>
            <a:off x="285750" y="41243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99" name="TextBox 98"/>
          <p:cNvSpPr txBox="1"/>
          <p:nvPr/>
        </p:nvSpPr>
        <p:spPr>
          <a:xfrm>
            <a:off x="3018796" y="3943350"/>
            <a:ext cx="213873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0" name="TextBox 99"/>
          <p:cNvSpPr txBox="1"/>
          <p:nvPr/>
        </p:nvSpPr>
        <p:spPr>
          <a:xfrm>
            <a:off x="5195635" y="3943350"/>
            <a:ext cx="1064461"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01" name="Oval 100"/>
          <p:cNvSpPr/>
          <p:nvPr/>
        </p:nvSpPr>
        <p:spPr>
          <a:xfrm>
            <a:off x="6697271"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Freeform 101"/>
          <p:cNvSpPr/>
          <p:nvPr/>
        </p:nvSpPr>
        <p:spPr>
          <a:xfrm>
            <a:off x="6772275"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7647822"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reeform 103"/>
          <p:cNvSpPr/>
          <p:nvPr/>
        </p:nvSpPr>
        <p:spPr>
          <a:xfrm>
            <a:off x="772477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8598373"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reeform 105"/>
          <p:cNvSpPr/>
          <p:nvPr/>
        </p:nvSpPr>
        <p:spPr>
          <a:xfrm>
            <a:off x="8677275" y="4038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548923"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9629775" y="4038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0100399" y="3943350"/>
            <a:ext cx="95055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0" name="TextBox 109"/>
          <p:cNvSpPr txBox="1"/>
          <p:nvPr/>
        </p:nvSpPr>
        <p:spPr>
          <a:xfrm>
            <a:off x="11050949" y="3943350"/>
            <a:ext cx="95055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11" name="Connector 110"/>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85750" y="43053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Orion Pharma</a:t>
            </a:r>
          </a:p>
        </p:txBody>
      </p:sp>
      <p:sp>
        <p:nvSpPr>
          <p:cNvPr id="114" name="TextBox 113"/>
          <p:cNvSpPr txBox="1"/>
          <p:nvPr/>
        </p:nvSpPr>
        <p:spPr>
          <a:xfrm>
            <a:off x="285750" y="44672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5" name="TextBox 114"/>
          <p:cNvSpPr txBox="1"/>
          <p:nvPr/>
        </p:nvSpPr>
        <p:spPr>
          <a:xfrm>
            <a:off x="3018796" y="4286250"/>
            <a:ext cx="213873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6" name="TextBox 115"/>
          <p:cNvSpPr txBox="1"/>
          <p:nvPr/>
        </p:nvSpPr>
        <p:spPr>
          <a:xfrm>
            <a:off x="5195635" y="4286250"/>
            <a:ext cx="1064461"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17" name="Oval 116"/>
          <p:cNvSpPr/>
          <p:nvPr/>
        </p:nvSpPr>
        <p:spPr>
          <a:xfrm>
            <a:off x="6697271"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6772275"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7647822"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7724775" y="43815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8598373"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Freeform 121"/>
          <p:cNvSpPr/>
          <p:nvPr/>
        </p:nvSpPr>
        <p:spPr>
          <a:xfrm>
            <a:off x="8677275" y="43815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9548923"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Freeform 123"/>
          <p:cNvSpPr/>
          <p:nvPr/>
        </p:nvSpPr>
        <p:spPr>
          <a:xfrm>
            <a:off x="9629775" y="4381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0100399" y="4286250"/>
            <a:ext cx="95055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6" name="TextBox 125"/>
          <p:cNvSpPr txBox="1"/>
          <p:nvPr/>
        </p:nvSpPr>
        <p:spPr>
          <a:xfrm>
            <a:off x="11050949" y="4286250"/>
            <a:ext cx="95055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7" name="Connector 126"/>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8" name="Rectangle 127"/>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285750" y="46482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Farmacia Nordic</a:t>
            </a:r>
          </a:p>
        </p:txBody>
      </p:sp>
      <p:sp>
        <p:nvSpPr>
          <p:cNvPr id="130" name="TextBox 129"/>
          <p:cNvSpPr txBox="1"/>
          <p:nvPr/>
        </p:nvSpPr>
        <p:spPr>
          <a:xfrm>
            <a:off x="285750" y="48101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31" name="TextBox 130"/>
          <p:cNvSpPr txBox="1"/>
          <p:nvPr/>
        </p:nvSpPr>
        <p:spPr>
          <a:xfrm>
            <a:off x="3018796" y="4629150"/>
            <a:ext cx="213873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2" name="TextBox 131"/>
          <p:cNvSpPr txBox="1"/>
          <p:nvPr/>
        </p:nvSpPr>
        <p:spPr>
          <a:xfrm>
            <a:off x="5195635" y="4629150"/>
            <a:ext cx="1064461"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33" name="Oval 132"/>
          <p:cNvSpPr/>
          <p:nvPr/>
        </p:nvSpPr>
        <p:spPr>
          <a:xfrm>
            <a:off x="6697271"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6772275" y="4724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7647822"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reeform 135"/>
          <p:cNvSpPr/>
          <p:nvPr/>
        </p:nvSpPr>
        <p:spPr>
          <a:xfrm>
            <a:off x="7724775" y="47244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8598373"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8677275" y="47244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9548923"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9629775" y="4724400"/>
            <a:ext cx="76200" cy="76200"/>
          </a:xfrm>
          <a:custGeom>
            <a:avLst/>
            <a:gdLst/>
            <a:ahLst/>
            <a:cxnLst/>
            <a:rect l="l" t="t" r="r" b="b"/>
            <a:pathLst>
              <a:path w="8" h="8">
                <a:moveTo>
                  <a:pt x="0" y="8"/>
                </a:moveTo>
                <a:lnTo>
                  <a:pt x="0" y="0"/>
                </a:lnTo>
                <a:lnTo>
                  <a:pt x="1" y="0"/>
                </a:lnTo>
                <a:lnTo>
                  <a:pt x="2" y="0"/>
                </a:lnTo>
                <a:lnTo>
                  <a:pt x="4" y="1"/>
                </a:lnTo>
                <a:lnTo>
                  <a:pt x="5" y="2"/>
                </a:lnTo>
                <a:lnTo>
                  <a:pt x="6" y="3"/>
                </a:lnTo>
                <a:lnTo>
                  <a:pt x="6" y="4"/>
                </a:lnTo>
                <a:lnTo>
                  <a:pt x="7" y="5"/>
                </a:lnTo>
                <a:lnTo>
                  <a:pt x="7"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0100399" y="4629150"/>
            <a:ext cx="95055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42" name="TextBox 141"/>
          <p:cNvSpPr txBox="1"/>
          <p:nvPr/>
        </p:nvSpPr>
        <p:spPr>
          <a:xfrm>
            <a:off x="11050949" y="4629150"/>
            <a:ext cx="95055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43" name="Connector 142"/>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4" name="Rectangle 143"/>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285750" y="49911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Key Pharmaceuticals</a:t>
            </a:r>
          </a:p>
        </p:txBody>
      </p:sp>
      <p:sp>
        <p:nvSpPr>
          <p:cNvPr id="146" name="TextBox 145"/>
          <p:cNvSpPr txBox="1"/>
          <p:nvPr/>
        </p:nvSpPr>
        <p:spPr>
          <a:xfrm>
            <a:off x="285750" y="51530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47" name="TextBox 146"/>
          <p:cNvSpPr txBox="1"/>
          <p:nvPr/>
        </p:nvSpPr>
        <p:spPr>
          <a:xfrm>
            <a:off x="3018796" y="4972050"/>
            <a:ext cx="213873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48" name="TextBox 147"/>
          <p:cNvSpPr txBox="1"/>
          <p:nvPr/>
        </p:nvSpPr>
        <p:spPr>
          <a:xfrm>
            <a:off x="5195635" y="4972050"/>
            <a:ext cx="1064461"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49" name="Oval 148"/>
          <p:cNvSpPr/>
          <p:nvPr/>
        </p:nvSpPr>
        <p:spPr>
          <a:xfrm>
            <a:off x="6697271"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Freeform 149"/>
          <p:cNvSpPr/>
          <p:nvPr/>
        </p:nvSpPr>
        <p:spPr>
          <a:xfrm>
            <a:off x="6772275" y="50673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7647822"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Freeform 151"/>
          <p:cNvSpPr/>
          <p:nvPr/>
        </p:nvSpPr>
        <p:spPr>
          <a:xfrm>
            <a:off x="7724775" y="50673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8598373"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Freeform 153"/>
          <p:cNvSpPr/>
          <p:nvPr/>
        </p:nvSpPr>
        <p:spPr>
          <a:xfrm>
            <a:off x="8677275" y="50673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9548923"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Freeform 155"/>
          <p:cNvSpPr/>
          <p:nvPr/>
        </p:nvSpPr>
        <p:spPr>
          <a:xfrm>
            <a:off x="9629775" y="5067300"/>
            <a:ext cx="76200" cy="76200"/>
          </a:xfrm>
          <a:custGeom>
            <a:avLst/>
            <a:gdLst/>
            <a:ahLst/>
            <a:cxnLst/>
            <a:rect l="l" t="t" r="r" b="b"/>
            <a:pathLst>
              <a:path w="8" h="8">
                <a:moveTo>
                  <a:pt x="0" y="8"/>
                </a:moveTo>
                <a:lnTo>
                  <a:pt x="0" y="0"/>
                </a:lnTo>
                <a:lnTo>
                  <a:pt x="1" y="0"/>
                </a:lnTo>
                <a:lnTo>
                  <a:pt x="2" y="0"/>
                </a:lnTo>
                <a:lnTo>
                  <a:pt x="4" y="1"/>
                </a:lnTo>
                <a:lnTo>
                  <a:pt x="5" y="2"/>
                </a:lnTo>
                <a:lnTo>
                  <a:pt x="6" y="3"/>
                </a:lnTo>
                <a:lnTo>
                  <a:pt x="6" y="4"/>
                </a:lnTo>
                <a:lnTo>
                  <a:pt x="7" y="5"/>
                </a:lnTo>
                <a:lnTo>
                  <a:pt x="7"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0100399" y="4972050"/>
            <a:ext cx="95055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58" name="TextBox 157"/>
          <p:cNvSpPr txBox="1"/>
          <p:nvPr/>
        </p:nvSpPr>
        <p:spPr>
          <a:xfrm>
            <a:off x="11050949" y="4972050"/>
            <a:ext cx="95055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59" name="Connector 158"/>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0" name="Rectangle 159"/>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285750" y="53340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Lanes Health</a:t>
            </a:r>
          </a:p>
        </p:txBody>
      </p:sp>
      <p:sp>
        <p:nvSpPr>
          <p:cNvPr id="162" name="TextBox 161"/>
          <p:cNvSpPr txBox="1"/>
          <p:nvPr/>
        </p:nvSpPr>
        <p:spPr>
          <a:xfrm>
            <a:off x="285750" y="54959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63" name="TextBox 162"/>
          <p:cNvSpPr txBox="1"/>
          <p:nvPr/>
        </p:nvSpPr>
        <p:spPr>
          <a:xfrm>
            <a:off x="3018796" y="5314950"/>
            <a:ext cx="213873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64" name="TextBox 163"/>
          <p:cNvSpPr txBox="1"/>
          <p:nvPr/>
        </p:nvSpPr>
        <p:spPr>
          <a:xfrm>
            <a:off x="5195635" y="5314950"/>
            <a:ext cx="1064461"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65" name="Oval 164"/>
          <p:cNvSpPr/>
          <p:nvPr/>
        </p:nvSpPr>
        <p:spPr>
          <a:xfrm>
            <a:off x="6697271"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Freeform 165"/>
          <p:cNvSpPr/>
          <p:nvPr/>
        </p:nvSpPr>
        <p:spPr>
          <a:xfrm>
            <a:off x="6772275" y="5410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7647822"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Freeform 167"/>
          <p:cNvSpPr/>
          <p:nvPr/>
        </p:nvSpPr>
        <p:spPr>
          <a:xfrm>
            <a:off x="7724775" y="54102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8598373"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Freeform 169"/>
          <p:cNvSpPr/>
          <p:nvPr/>
        </p:nvSpPr>
        <p:spPr>
          <a:xfrm>
            <a:off x="8677275" y="54102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9548923"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Freeform 171"/>
          <p:cNvSpPr/>
          <p:nvPr/>
        </p:nvSpPr>
        <p:spPr>
          <a:xfrm>
            <a:off x="9629775" y="5410200"/>
            <a:ext cx="76200" cy="76200"/>
          </a:xfrm>
          <a:custGeom>
            <a:avLst/>
            <a:gdLst/>
            <a:ahLst/>
            <a:cxnLst/>
            <a:rect l="l" t="t" r="r" b="b"/>
            <a:pathLst>
              <a:path w="8" h="8">
                <a:moveTo>
                  <a:pt x="0" y="8"/>
                </a:moveTo>
                <a:lnTo>
                  <a:pt x="0" y="0"/>
                </a:lnTo>
                <a:lnTo>
                  <a:pt x="1" y="0"/>
                </a:lnTo>
                <a:lnTo>
                  <a:pt x="2" y="0"/>
                </a:lnTo>
                <a:lnTo>
                  <a:pt x="4" y="1"/>
                </a:lnTo>
                <a:lnTo>
                  <a:pt x="5" y="2"/>
                </a:lnTo>
                <a:lnTo>
                  <a:pt x="6" y="3"/>
                </a:lnTo>
                <a:lnTo>
                  <a:pt x="6" y="4"/>
                </a:lnTo>
                <a:lnTo>
                  <a:pt x="7" y="5"/>
                </a:lnTo>
                <a:lnTo>
                  <a:pt x="7"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10100399" y="5314950"/>
            <a:ext cx="95055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74" name="TextBox 173"/>
          <p:cNvSpPr txBox="1"/>
          <p:nvPr/>
        </p:nvSpPr>
        <p:spPr>
          <a:xfrm>
            <a:off x="11050949" y="5314950"/>
            <a:ext cx="95055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75" name="Connector 174"/>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76" name="Oval 175"/>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78" name="Oval 177"/>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Freeform 178"/>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81" name="Oval 180"/>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Freeform 181"/>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84" name="Oval 183"/>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86" name="TextBox 185"/>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87" name="TextBox 186"/>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of 10 named players compete globally; scale and share follow the tier structure.</a:t>
            </a:r>
          </a:p>
        </p:txBody>
      </p:sp>
      <p:sp>
        <p:nvSpPr>
          <p:cNvPr id="188" name="TextBox 18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89" name="TextBox 188"/>
          <p:cNvSpPr txBox="1"/>
          <p:nvPr/>
        </p:nvSpPr>
        <p:spPr>
          <a:xfrm>
            <a:off x="9216523" y="1666875"/>
            <a:ext cx="360249" cy="166573"/>
          </a:xfrm>
          <a:prstGeom prst="rect">
            <a:avLst/>
          </a:prstGeom>
          <a:noFill/>
        </p:spPr>
        <p:txBody>
          <a:bodyPr wrap="none" lIns="0" rIns="0" tIns="0" bIns="0">
            <a:spAutoFit/>
          </a:bodyPr>
          <a:lstStyle/>
          <a:p>
            <a:r>
              <a:rPr sz="968" b="0">
                <a:solidFill>
                  <a:srgbClr val="5F6B7A"/>
                </a:solidFill>
                <a:latin typeface="Calibri"/>
              </a:rPr>
              <a:t>Share</a:t>
            </a:r>
          </a:p>
        </p:txBody>
      </p:sp>
      <p:pic>
        <p:nvPicPr>
          <p:cNvPr id="190" name="Picture 189" descr="lock.png"/>
          <p:cNvPicPr>
            <a:picLocks noChangeAspect="1"/>
          </p:cNvPicPr>
          <p:nvPr/>
        </p:nvPicPr>
        <p:blipFill>
          <a:blip r:embed="rId4"/>
          <a:stretch>
            <a:fillRect/>
          </a:stretch>
        </p:blipFill>
        <p:spPr>
          <a:xfrm>
            <a:off x="9521913" y="1658269"/>
            <a:ext cx="113255" cy="164734"/>
          </a:xfrm>
          <a:prstGeom prst="rect">
            <a:avLst/>
          </a:prstGeom>
        </p:spPr>
      </p:pic>
      <p:sp>
        <p:nvSpPr>
          <p:cNvPr id="191" name="TextBox 190"/>
          <p:cNvSpPr txBox="1"/>
          <p:nvPr/>
        </p:nvSpPr>
        <p:spPr>
          <a:xfrm>
            <a:off x="9669310" y="1666875"/>
            <a:ext cx="347523" cy="166573"/>
          </a:xfrm>
          <a:prstGeom prst="rect">
            <a:avLst/>
          </a:prstGeom>
          <a:noFill/>
        </p:spPr>
        <p:txBody>
          <a:bodyPr wrap="none" lIns="0" rIns="0" tIns="0" bIns="0">
            <a:spAutoFit/>
          </a:bodyPr>
          <a:lstStyle/>
          <a:p>
            <a:r>
              <a:rPr sz="968" b="0">
                <a:solidFill>
                  <a:srgbClr val="5F6B7A"/>
                </a:solidFill>
                <a:latin typeface="Calibri"/>
              </a:rPr>
              <a:t>+ = 3,</a:t>
            </a:r>
          </a:p>
        </p:txBody>
      </p:sp>
      <p:pic>
        <p:nvPicPr>
          <p:cNvPr id="192" name="Picture 191" descr="lock.png"/>
          <p:cNvPicPr>
            <a:picLocks noChangeAspect="1"/>
          </p:cNvPicPr>
          <p:nvPr/>
        </p:nvPicPr>
        <p:blipFill>
          <a:blip r:embed="rId4"/>
          <a:stretch>
            <a:fillRect/>
          </a:stretch>
        </p:blipFill>
        <p:spPr>
          <a:xfrm>
            <a:off x="9204671" y="1805792"/>
            <a:ext cx="113255" cy="164734"/>
          </a:xfrm>
          <a:prstGeom prst="rect">
            <a:avLst/>
          </a:prstGeom>
        </p:spPr>
      </p:pic>
      <p:sp>
        <p:nvSpPr>
          <p:cNvPr id="193" name="TextBox 192"/>
          <p:cNvSpPr txBox="1"/>
          <p:nvPr/>
        </p:nvSpPr>
        <p:spPr>
          <a:xfrm>
            <a:off x="9352068" y="1814398"/>
            <a:ext cx="575387" cy="166573"/>
          </a:xfrm>
          <a:prstGeom prst="rect">
            <a:avLst/>
          </a:prstGeom>
          <a:noFill/>
        </p:spPr>
        <p:txBody>
          <a:bodyPr wrap="none" lIns="0" rIns="0" tIns="0" bIns="0">
            <a:spAutoFit/>
          </a:bodyPr>
          <a:lstStyle/>
          <a:p>
            <a:r>
              <a:rPr sz="968" b="0">
                <a:solidFill>
                  <a:srgbClr val="5F6B7A"/>
                </a:solidFill>
                <a:latin typeface="Calibri"/>
              </a:rPr>
              <a:t>= 2, else 1</a:t>
            </a:r>
          </a:p>
        </p:txBody>
      </p:sp>
      <p:pic>
        <p:nvPicPr>
          <p:cNvPr id="194" name="Picture 193" descr="lock.png"/>
          <p:cNvPicPr>
            <a:picLocks noChangeAspect="1"/>
          </p:cNvPicPr>
          <p:nvPr/>
        </p:nvPicPr>
        <p:blipFill>
          <a:blip r:embed="rId4"/>
          <a:stretch>
            <a:fillRect/>
          </a:stretch>
        </p:blipFill>
        <p:spPr>
          <a:xfrm>
            <a:off x="4023816" y="2306701"/>
            <a:ext cx="128699" cy="187198"/>
          </a:xfrm>
          <a:prstGeom prst="rect">
            <a:avLst/>
          </a:prstGeom>
        </p:spPr>
      </p:pic>
      <p:pic>
        <p:nvPicPr>
          <p:cNvPr id="195" name="Picture 194" descr="lock.png"/>
          <p:cNvPicPr>
            <a:picLocks noChangeAspect="1"/>
          </p:cNvPicPr>
          <p:nvPr/>
        </p:nvPicPr>
        <p:blipFill>
          <a:blip r:embed="rId4"/>
          <a:stretch>
            <a:fillRect/>
          </a:stretch>
        </p:blipFill>
        <p:spPr>
          <a:xfrm>
            <a:off x="10511325" y="2306701"/>
            <a:ext cx="128699" cy="187198"/>
          </a:xfrm>
          <a:prstGeom prst="rect">
            <a:avLst/>
          </a:prstGeom>
        </p:spPr>
      </p:pic>
      <p:pic>
        <p:nvPicPr>
          <p:cNvPr id="196" name="Picture 195" descr="lock.png"/>
          <p:cNvPicPr>
            <a:picLocks noChangeAspect="1"/>
          </p:cNvPicPr>
          <p:nvPr/>
        </p:nvPicPr>
        <p:blipFill>
          <a:blip r:embed="rId4"/>
          <a:stretch>
            <a:fillRect/>
          </a:stretch>
        </p:blipFill>
        <p:spPr>
          <a:xfrm>
            <a:off x="11461875" y="2306701"/>
            <a:ext cx="128699" cy="187198"/>
          </a:xfrm>
          <a:prstGeom prst="rect">
            <a:avLst/>
          </a:prstGeom>
        </p:spPr>
      </p:pic>
      <p:pic>
        <p:nvPicPr>
          <p:cNvPr id="197" name="Picture 196" descr="lock.png"/>
          <p:cNvPicPr>
            <a:picLocks noChangeAspect="1"/>
          </p:cNvPicPr>
          <p:nvPr/>
        </p:nvPicPr>
        <p:blipFill>
          <a:blip r:embed="rId4"/>
          <a:stretch>
            <a:fillRect/>
          </a:stretch>
        </p:blipFill>
        <p:spPr>
          <a:xfrm>
            <a:off x="4023816" y="2649601"/>
            <a:ext cx="128699" cy="187198"/>
          </a:xfrm>
          <a:prstGeom prst="rect">
            <a:avLst/>
          </a:prstGeom>
        </p:spPr>
      </p:pic>
      <p:pic>
        <p:nvPicPr>
          <p:cNvPr id="198" name="Picture 197" descr="lock.png"/>
          <p:cNvPicPr>
            <a:picLocks noChangeAspect="1"/>
          </p:cNvPicPr>
          <p:nvPr/>
        </p:nvPicPr>
        <p:blipFill>
          <a:blip r:embed="rId4"/>
          <a:stretch>
            <a:fillRect/>
          </a:stretch>
        </p:blipFill>
        <p:spPr>
          <a:xfrm>
            <a:off x="10511325" y="2649601"/>
            <a:ext cx="128699" cy="187198"/>
          </a:xfrm>
          <a:prstGeom prst="rect">
            <a:avLst/>
          </a:prstGeom>
        </p:spPr>
      </p:pic>
      <p:pic>
        <p:nvPicPr>
          <p:cNvPr id="199" name="Picture 198" descr="lock.png"/>
          <p:cNvPicPr>
            <a:picLocks noChangeAspect="1"/>
          </p:cNvPicPr>
          <p:nvPr/>
        </p:nvPicPr>
        <p:blipFill>
          <a:blip r:embed="rId4"/>
          <a:stretch>
            <a:fillRect/>
          </a:stretch>
        </p:blipFill>
        <p:spPr>
          <a:xfrm>
            <a:off x="11461875" y="2649601"/>
            <a:ext cx="128699" cy="187198"/>
          </a:xfrm>
          <a:prstGeom prst="rect">
            <a:avLst/>
          </a:prstGeom>
        </p:spPr>
      </p:pic>
      <p:pic>
        <p:nvPicPr>
          <p:cNvPr id="200" name="Picture 199" descr="lock.png"/>
          <p:cNvPicPr>
            <a:picLocks noChangeAspect="1"/>
          </p:cNvPicPr>
          <p:nvPr/>
        </p:nvPicPr>
        <p:blipFill>
          <a:blip r:embed="rId4"/>
          <a:stretch>
            <a:fillRect/>
          </a:stretch>
        </p:blipFill>
        <p:spPr>
          <a:xfrm>
            <a:off x="4023816" y="2992501"/>
            <a:ext cx="128699" cy="187198"/>
          </a:xfrm>
          <a:prstGeom prst="rect">
            <a:avLst/>
          </a:prstGeom>
        </p:spPr>
      </p:pic>
      <p:pic>
        <p:nvPicPr>
          <p:cNvPr id="201" name="Picture 200" descr="lock.png"/>
          <p:cNvPicPr>
            <a:picLocks noChangeAspect="1"/>
          </p:cNvPicPr>
          <p:nvPr/>
        </p:nvPicPr>
        <p:blipFill>
          <a:blip r:embed="rId4"/>
          <a:stretch>
            <a:fillRect/>
          </a:stretch>
        </p:blipFill>
        <p:spPr>
          <a:xfrm>
            <a:off x="10511325" y="2992501"/>
            <a:ext cx="128699" cy="187198"/>
          </a:xfrm>
          <a:prstGeom prst="rect">
            <a:avLst/>
          </a:prstGeom>
        </p:spPr>
      </p:pic>
      <p:pic>
        <p:nvPicPr>
          <p:cNvPr id="202" name="Picture 201" descr="lock.png"/>
          <p:cNvPicPr>
            <a:picLocks noChangeAspect="1"/>
          </p:cNvPicPr>
          <p:nvPr/>
        </p:nvPicPr>
        <p:blipFill>
          <a:blip r:embed="rId4"/>
          <a:stretch>
            <a:fillRect/>
          </a:stretch>
        </p:blipFill>
        <p:spPr>
          <a:xfrm>
            <a:off x="11461875" y="2992501"/>
            <a:ext cx="128699" cy="187198"/>
          </a:xfrm>
          <a:prstGeom prst="rect">
            <a:avLst/>
          </a:prstGeom>
        </p:spPr>
      </p:pic>
      <p:pic>
        <p:nvPicPr>
          <p:cNvPr id="203" name="Picture 202" descr="lock.png"/>
          <p:cNvPicPr>
            <a:picLocks noChangeAspect="1"/>
          </p:cNvPicPr>
          <p:nvPr/>
        </p:nvPicPr>
        <p:blipFill>
          <a:blip r:embed="rId4"/>
          <a:stretch>
            <a:fillRect/>
          </a:stretch>
        </p:blipFill>
        <p:spPr>
          <a:xfrm>
            <a:off x="4023816" y="3335401"/>
            <a:ext cx="128699" cy="187198"/>
          </a:xfrm>
          <a:prstGeom prst="rect">
            <a:avLst/>
          </a:prstGeom>
        </p:spPr>
      </p:pic>
      <p:pic>
        <p:nvPicPr>
          <p:cNvPr id="204" name="Picture 203" descr="lock.png"/>
          <p:cNvPicPr>
            <a:picLocks noChangeAspect="1"/>
          </p:cNvPicPr>
          <p:nvPr/>
        </p:nvPicPr>
        <p:blipFill>
          <a:blip r:embed="rId4"/>
          <a:stretch>
            <a:fillRect/>
          </a:stretch>
        </p:blipFill>
        <p:spPr>
          <a:xfrm>
            <a:off x="10511325" y="3335401"/>
            <a:ext cx="128699" cy="187198"/>
          </a:xfrm>
          <a:prstGeom prst="rect">
            <a:avLst/>
          </a:prstGeom>
        </p:spPr>
      </p:pic>
      <p:pic>
        <p:nvPicPr>
          <p:cNvPr id="205" name="Picture 204" descr="lock.png"/>
          <p:cNvPicPr>
            <a:picLocks noChangeAspect="1"/>
          </p:cNvPicPr>
          <p:nvPr/>
        </p:nvPicPr>
        <p:blipFill>
          <a:blip r:embed="rId4"/>
          <a:stretch>
            <a:fillRect/>
          </a:stretch>
        </p:blipFill>
        <p:spPr>
          <a:xfrm>
            <a:off x="11461875" y="3335401"/>
            <a:ext cx="128699" cy="187198"/>
          </a:xfrm>
          <a:prstGeom prst="rect">
            <a:avLst/>
          </a:prstGeom>
        </p:spPr>
      </p:pic>
      <p:pic>
        <p:nvPicPr>
          <p:cNvPr id="206" name="Picture 205" descr="lock.png"/>
          <p:cNvPicPr>
            <a:picLocks noChangeAspect="1"/>
          </p:cNvPicPr>
          <p:nvPr/>
        </p:nvPicPr>
        <p:blipFill>
          <a:blip r:embed="rId4"/>
          <a:stretch>
            <a:fillRect/>
          </a:stretch>
        </p:blipFill>
        <p:spPr>
          <a:xfrm>
            <a:off x="4023816" y="3678301"/>
            <a:ext cx="128699" cy="187198"/>
          </a:xfrm>
          <a:prstGeom prst="rect">
            <a:avLst/>
          </a:prstGeom>
        </p:spPr>
      </p:pic>
      <p:pic>
        <p:nvPicPr>
          <p:cNvPr id="207" name="Picture 206" descr="lock.png"/>
          <p:cNvPicPr>
            <a:picLocks noChangeAspect="1"/>
          </p:cNvPicPr>
          <p:nvPr/>
        </p:nvPicPr>
        <p:blipFill>
          <a:blip r:embed="rId4"/>
          <a:stretch>
            <a:fillRect/>
          </a:stretch>
        </p:blipFill>
        <p:spPr>
          <a:xfrm>
            <a:off x="10511325" y="3678301"/>
            <a:ext cx="128699" cy="187198"/>
          </a:xfrm>
          <a:prstGeom prst="rect">
            <a:avLst/>
          </a:prstGeom>
        </p:spPr>
      </p:pic>
      <p:pic>
        <p:nvPicPr>
          <p:cNvPr id="208" name="Picture 207" descr="lock.png"/>
          <p:cNvPicPr>
            <a:picLocks noChangeAspect="1"/>
          </p:cNvPicPr>
          <p:nvPr/>
        </p:nvPicPr>
        <p:blipFill>
          <a:blip r:embed="rId4"/>
          <a:stretch>
            <a:fillRect/>
          </a:stretch>
        </p:blipFill>
        <p:spPr>
          <a:xfrm>
            <a:off x="11461875" y="3678301"/>
            <a:ext cx="128699" cy="187198"/>
          </a:xfrm>
          <a:prstGeom prst="rect">
            <a:avLst/>
          </a:prstGeom>
        </p:spPr>
      </p:pic>
      <p:pic>
        <p:nvPicPr>
          <p:cNvPr id="209" name="Picture 208" descr="lock.png"/>
          <p:cNvPicPr>
            <a:picLocks noChangeAspect="1"/>
          </p:cNvPicPr>
          <p:nvPr/>
        </p:nvPicPr>
        <p:blipFill>
          <a:blip r:embed="rId4"/>
          <a:stretch>
            <a:fillRect/>
          </a:stretch>
        </p:blipFill>
        <p:spPr>
          <a:xfrm>
            <a:off x="4023816" y="4021201"/>
            <a:ext cx="128699" cy="187198"/>
          </a:xfrm>
          <a:prstGeom prst="rect">
            <a:avLst/>
          </a:prstGeom>
        </p:spPr>
      </p:pic>
      <p:pic>
        <p:nvPicPr>
          <p:cNvPr id="210" name="Picture 209" descr="lock.png"/>
          <p:cNvPicPr>
            <a:picLocks noChangeAspect="1"/>
          </p:cNvPicPr>
          <p:nvPr/>
        </p:nvPicPr>
        <p:blipFill>
          <a:blip r:embed="rId4"/>
          <a:stretch>
            <a:fillRect/>
          </a:stretch>
        </p:blipFill>
        <p:spPr>
          <a:xfrm>
            <a:off x="10511325" y="4021201"/>
            <a:ext cx="128699" cy="187198"/>
          </a:xfrm>
          <a:prstGeom prst="rect">
            <a:avLst/>
          </a:prstGeom>
        </p:spPr>
      </p:pic>
      <p:pic>
        <p:nvPicPr>
          <p:cNvPr id="211" name="Picture 210" descr="lock.png"/>
          <p:cNvPicPr>
            <a:picLocks noChangeAspect="1"/>
          </p:cNvPicPr>
          <p:nvPr/>
        </p:nvPicPr>
        <p:blipFill>
          <a:blip r:embed="rId4"/>
          <a:stretch>
            <a:fillRect/>
          </a:stretch>
        </p:blipFill>
        <p:spPr>
          <a:xfrm>
            <a:off x="11461875" y="4021201"/>
            <a:ext cx="128699" cy="187198"/>
          </a:xfrm>
          <a:prstGeom prst="rect">
            <a:avLst/>
          </a:prstGeom>
        </p:spPr>
      </p:pic>
      <p:pic>
        <p:nvPicPr>
          <p:cNvPr id="212" name="Picture 211" descr="lock.png"/>
          <p:cNvPicPr>
            <a:picLocks noChangeAspect="1"/>
          </p:cNvPicPr>
          <p:nvPr/>
        </p:nvPicPr>
        <p:blipFill>
          <a:blip r:embed="rId4"/>
          <a:stretch>
            <a:fillRect/>
          </a:stretch>
        </p:blipFill>
        <p:spPr>
          <a:xfrm>
            <a:off x="4023816" y="4364101"/>
            <a:ext cx="128699" cy="187198"/>
          </a:xfrm>
          <a:prstGeom prst="rect">
            <a:avLst/>
          </a:prstGeom>
        </p:spPr>
      </p:pic>
      <p:pic>
        <p:nvPicPr>
          <p:cNvPr id="213" name="Picture 212" descr="lock.png"/>
          <p:cNvPicPr>
            <a:picLocks noChangeAspect="1"/>
          </p:cNvPicPr>
          <p:nvPr/>
        </p:nvPicPr>
        <p:blipFill>
          <a:blip r:embed="rId4"/>
          <a:stretch>
            <a:fillRect/>
          </a:stretch>
        </p:blipFill>
        <p:spPr>
          <a:xfrm>
            <a:off x="10511325" y="4364101"/>
            <a:ext cx="128699" cy="187198"/>
          </a:xfrm>
          <a:prstGeom prst="rect">
            <a:avLst/>
          </a:prstGeom>
        </p:spPr>
      </p:pic>
      <p:pic>
        <p:nvPicPr>
          <p:cNvPr id="214" name="Picture 213" descr="lock.png"/>
          <p:cNvPicPr>
            <a:picLocks noChangeAspect="1"/>
          </p:cNvPicPr>
          <p:nvPr/>
        </p:nvPicPr>
        <p:blipFill>
          <a:blip r:embed="rId4"/>
          <a:stretch>
            <a:fillRect/>
          </a:stretch>
        </p:blipFill>
        <p:spPr>
          <a:xfrm>
            <a:off x="11461875" y="4364101"/>
            <a:ext cx="128699" cy="187198"/>
          </a:xfrm>
          <a:prstGeom prst="rect">
            <a:avLst/>
          </a:prstGeom>
        </p:spPr>
      </p:pic>
      <p:pic>
        <p:nvPicPr>
          <p:cNvPr id="215" name="Picture 214" descr="lock.png"/>
          <p:cNvPicPr>
            <a:picLocks noChangeAspect="1"/>
          </p:cNvPicPr>
          <p:nvPr/>
        </p:nvPicPr>
        <p:blipFill>
          <a:blip r:embed="rId4"/>
          <a:stretch>
            <a:fillRect/>
          </a:stretch>
        </p:blipFill>
        <p:spPr>
          <a:xfrm>
            <a:off x="4023816" y="4707001"/>
            <a:ext cx="128699" cy="187198"/>
          </a:xfrm>
          <a:prstGeom prst="rect">
            <a:avLst/>
          </a:prstGeom>
        </p:spPr>
      </p:pic>
      <p:pic>
        <p:nvPicPr>
          <p:cNvPr id="216" name="Picture 215" descr="lock.png"/>
          <p:cNvPicPr>
            <a:picLocks noChangeAspect="1"/>
          </p:cNvPicPr>
          <p:nvPr/>
        </p:nvPicPr>
        <p:blipFill>
          <a:blip r:embed="rId4"/>
          <a:stretch>
            <a:fillRect/>
          </a:stretch>
        </p:blipFill>
        <p:spPr>
          <a:xfrm>
            <a:off x="10511325" y="4707001"/>
            <a:ext cx="128699" cy="187198"/>
          </a:xfrm>
          <a:prstGeom prst="rect">
            <a:avLst/>
          </a:prstGeom>
        </p:spPr>
      </p:pic>
      <p:pic>
        <p:nvPicPr>
          <p:cNvPr id="217" name="Picture 216" descr="lock.png"/>
          <p:cNvPicPr>
            <a:picLocks noChangeAspect="1"/>
          </p:cNvPicPr>
          <p:nvPr/>
        </p:nvPicPr>
        <p:blipFill>
          <a:blip r:embed="rId4"/>
          <a:stretch>
            <a:fillRect/>
          </a:stretch>
        </p:blipFill>
        <p:spPr>
          <a:xfrm>
            <a:off x="11461875" y="4707001"/>
            <a:ext cx="128699" cy="187198"/>
          </a:xfrm>
          <a:prstGeom prst="rect">
            <a:avLst/>
          </a:prstGeom>
        </p:spPr>
      </p:pic>
      <p:pic>
        <p:nvPicPr>
          <p:cNvPr id="218" name="Picture 217" descr="lock.png"/>
          <p:cNvPicPr>
            <a:picLocks noChangeAspect="1"/>
          </p:cNvPicPr>
          <p:nvPr/>
        </p:nvPicPr>
        <p:blipFill>
          <a:blip r:embed="rId4"/>
          <a:stretch>
            <a:fillRect/>
          </a:stretch>
        </p:blipFill>
        <p:spPr>
          <a:xfrm>
            <a:off x="4023816" y="5049901"/>
            <a:ext cx="128699" cy="187198"/>
          </a:xfrm>
          <a:prstGeom prst="rect">
            <a:avLst/>
          </a:prstGeom>
        </p:spPr>
      </p:pic>
      <p:pic>
        <p:nvPicPr>
          <p:cNvPr id="219" name="Picture 218" descr="lock.png"/>
          <p:cNvPicPr>
            <a:picLocks noChangeAspect="1"/>
          </p:cNvPicPr>
          <p:nvPr/>
        </p:nvPicPr>
        <p:blipFill>
          <a:blip r:embed="rId4"/>
          <a:stretch>
            <a:fillRect/>
          </a:stretch>
        </p:blipFill>
        <p:spPr>
          <a:xfrm>
            <a:off x="10511325" y="5049901"/>
            <a:ext cx="128699" cy="187198"/>
          </a:xfrm>
          <a:prstGeom prst="rect">
            <a:avLst/>
          </a:prstGeom>
        </p:spPr>
      </p:pic>
      <p:pic>
        <p:nvPicPr>
          <p:cNvPr id="220" name="Picture 219" descr="lock.png"/>
          <p:cNvPicPr>
            <a:picLocks noChangeAspect="1"/>
          </p:cNvPicPr>
          <p:nvPr/>
        </p:nvPicPr>
        <p:blipFill>
          <a:blip r:embed="rId4"/>
          <a:stretch>
            <a:fillRect/>
          </a:stretch>
        </p:blipFill>
        <p:spPr>
          <a:xfrm>
            <a:off x="11461875" y="5049901"/>
            <a:ext cx="128699" cy="187198"/>
          </a:xfrm>
          <a:prstGeom prst="rect">
            <a:avLst/>
          </a:prstGeom>
        </p:spPr>
      </p:pic>
      <p:pic>
        <p:nvPicPr>
          <p:cNvPr id="221" name="Picture 220" descr="lock.png"/>
          <p:cNvPicPr>
            <a:picLocks noChangeAspect="1"/>
          </p:cNvPicPr>
          <p:nvPr/>
        </p:nvPicPr>
        <p:blipFill>
          <a:blip r:embed="rId4"/>
          <a:stretch>
            <a:fillRect/>
          </a:stretch>
        </p:blipFill>
        <p:spPr>
          <a:xfrm>
            <a:off x="4023816" y="5392801"/>
            <a:ext cx="128699" cy="187198"/>
          </a:xfrm>
          <a:prstGeom prst="rect">
            <a:avLst/>
          </a:prstGeom>
        </p:spPr>
      </p:pic>
      <p:pic>
        <p:nvPicPr>
          <p:cNvPr id="222" name="Picture 221" descr="lock.png"/>
          <p:cNvPicPr>
            <a:picLocks noChangeAspect="1"/>
          </p:cNvPicPr>
          <p:nvPr/>
        </p:nvPicPr>
        <p:blipFill>
          <a:blip r:embed="rId4"/>
          <a:stretch>
            <a:fillRect/>
          </a:stretch>
        </p:blipFill>
        <p:spPr>
          <a:xfrm>
            <a:off x="10511325" y="5392801"/>
            <a:ext cx="128699" cy="187198"/>
          </a:xfrm>
          <a:prstGeom prst="rect">
            <a:avLst/>
          </a:prstGeom>
        </p:spPr>
      </p:pic>
      <p:pic>
        <p:nvPicPr>
          <p:cNvPr id="223" name="Picture 222" descr="lock.png"/>
          <p:cNvPicPr>
            <a:picLocks noChangeAspect="1"/>
          </p:cNvPicPr>
          <p:nvPr/>
        </p:nvPicPr>
        <p:blipFill>
          <a:blip r:embed="rId4"/>
          <a:stretch>
            <a:fillRect/>
          </a:stretch>
        </p:blipFill>
        <p:spPr>
          <a:xfrm>
            <a:off x="11461875" y="5392801"/>
            <a:ext cx="128699" cy="187198"/>
          </a:xfrm>
          <a:prstGeom prst="rect">
            <a:avLst/>
          </a:prstGeom>
        </p:spPr>
      </p:pic>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Offering Scorecard: What They Sell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Six offering Ps: product, technology, price and model, verticals, proof and IP</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2, OFFERING: WHAT THEY SELL</a:t>
            </a:r>
          </a:p>
        </p:txBody>
      </p:sp>
      <p:sp>
        <p:nvSpPr>
          <p:cNvPr id="12" name="TextBox 11"/>
          <p:cNvSpPr txBox="1"/>
          <p:nvPr/>
        </p:nvSpPr>
        <p:spPr>
          <a:xfrm>
            <a:off x="3056896" y="1295400"/>
            <a:ext cx="124478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Product</a:t>
            </a:r>
          </a:p>
        </p:txBody>
      </p:sp>
      <p:sp>
        <p:nvSpPr>
          <p:cNvPr id="13" name="TextBox 12"/>
          <p:cNvSpPr txBox="1"/>
          <p:nvPr/>
        </p:nvSpPr>
        <p:spPr>
          <a:xfrm>
            <a:off x="3056896" y="1657350"/>
            <a:ext cx="124478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Of the top three types offered</a:t>
            </a:r>
          </a:p>
        </p:txBody>
      </p:sp>
      <p:sp>
        <p:nvSpPr>
          <p:cNvPr id="14" name="TextBox 13"/>
          <p:cNvSpPr txBox="1"/>
          <p:nvPr/>
        </p:nvSpPr>
        <p:spPr>
          <a:xfrm>
            <a:off x="4377882" y="1295400"/>
            <a:ext cx="124478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Platform (technology)</a:t>
            </a:r>
          </a:p>
        </p:txBody>
      </p:sp>
      <p:sp>
        <p:nvSpPr>
          <p:cNvPr id="15" name="TextBox 14"/>
          <p:cNvSpPr txBox="1"/>
          <p:nvPr/>
        </p:nvSpPr>
        <p:spPr>
          <a:xfrm>
            <a:off x="4377882" y="1657350"/>
            <a:ext cx="124478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development: both 3, one 2</a:t>
            </a:r>
          </a:p>
        </p:txBody>
      </p:sp>
      <p:sp>
        <p:nvSpPr>
          <p:cNvPr id="16" name="TextBox 15"/>
          <p:cNvSpPr txBox="1"/>
          <p:nvPr/>
        </p:nvSpPr>
        <p:spPr>
          <a:xfrm>
            <a:off x="5698868" y="1295400"/>
            <a:ext cx="150898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Price and model</a:t>
            </a:r>
          </a:p>
        </p:txBody>
      </p:sp>
      <p:sp>
        <p:nvSpPr>
          <p:cNvPr id="17" name="TextBox 16"/>
          <p:cNvSpPr txBox="1"/>
          <p:nvPr/>
        </p:nvSpPr>
        <p:spPr>
          <a:xfrm>
            <a:off x="5698868" y="1657350"/>
            <a:ext cx="150898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Positioning by tier</a:t>
            </a:r>
          </a:p>
        </p:txBody>
      </p:sp>
      <p:sp>
        <p:nvSpPr>
          <p:cNvPr id="18" name="TextBox 17"/>
          <p:cNvSpPr txBox="1"/>
          <p:nvPr/>
        </p:nvSpPr>
        <p:spPr>
          <a:xfrm>
            <a:off x="7284051" y="1295400"/>
            <a:ext cx="150898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Positioning (verticals)</a:t>
            </a:r>
          </a:p>
        </p:txBody>
      </p:sp>
      <p:sp>
        <p:nvSpPr>
          <p:cNvPr id="19" name="TextBox 18"/>
          <p:cNvSpPr txBox="1"/>
          <p:nvPr/>
        </p:nvSpPr>
        <p:spPr>
          <a:xfrm>
            <a:off x="7284051" y="1657350"/>
            <a:ext cx="150898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End uses served</a:t>
            </a:r>
          </a:p>
        </p:txBody>
      </p:sp>
      <p:sp>
        <p:nvSpPr>
          <p:cNvPr id="20" name="TextBox 19"/>
          <p:cNvSpPr txBox="1"/>
          <p:nvPr/>
        </p:nvSpPr>
        <p:spPr>
          <a:xfrm>
            <a:off x="8869234" y="1295400"/>
            <a:ext cx="150898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Proof</a:t>
            </a:r>
          </a:p>
        </p:txBody>
      </p:sp>
      <p:sp>
        <p:nvSpPr>
          <p:cNvPr id="21" name="TextBox 20"/>
          <p:cNvSpPr txBox="1"/>
          <p:nvPr/>
        </p:nvSpPr>
        <p:spPr>
          <a:xfrm>
            <a:off x="8869234" y="1657350"/>
            <a:ext cx="150898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customer references</a:t>
            </a:r>
          </a:p>
        </p:txBody>
      </p:sp>
      <p:sp>
        <p:nvSpPr>
          <p:cNvPr id="22" name="TextBox 21"/>
          <p:cNvSpPr txBox="1"/>
          <p:nvPr/>
        </p:nvSpPr>
        <p:spPr>
          <a:xfrm>
            <a:off x="10454417" y="1295400"/>
            <a:ext cx="150898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Patents and IP</a:t>
            </a:r>
          </a:p>
        </p:txBody>
      </p:sp>
      <p:sp>
        <p:nvSpPr>
          <p:cNvPr id="23" name="TextBox 22"/>
          <p:cNvSpPr txBox="1"/>
          <p:nvPr/>
        </p:nvSpPr>
        <p:spPr>
          <a:xfrm>
            <a:off x="10454417" y="1657350"/>
            <a:ext cx="150898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Where the study covers patents</a:t>
            </a:r>
          </a:p>
        </p:txBody>
      </p:sp>
      <p:cxnSp>
        <p:nvCxnSpPr>
          <p:cNvPr id="24" name="Connector 23"/>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22479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Prestige Consumer Healthcare</a:t>
            </a:r>
          </a:p>
        </p:txBody>
      </p:sp>
      <p:sp>
        <p:nvSpPr>
          <p:cNvPr id="27" name="TextBox 26"/>
          <p:cNvSpPr txBox="1"/>
          <p:nvPr/>
        </p:nvSpPr>
        <p:spPr>
          <a:xfrm>
            <a:off x="285750" y="24098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8" name="Oval 27"/>
          <p:cNvSpPr/>
          <p:nvPr/>
        </p:nvSpPr>
        <p:spPr>
          <a:xfrm>
            <a:off x="3603089"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924075" y="2324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5000625" y="2324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98868" y="22288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32" name="TextBox 31"/>
          <p:cNvSpPr txBox="1"/>
          <p:nvPr/>
        </p:nvSpPr>
        <p:spPr>
          <a:xfrm>
            <a:off x="7284051" y="22288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Audiologists, ENT specialists</a:t>
            </a:r>
          </a:p>
        </p:txBody>
      </p:sp>
      <p:sp>
        <p:nvSpPr>
          <p:cNvPr id="33" name="TextBox 32"/>
          <p:cNvSpPr txBox="1"/>
          <p:nvPr/>
        </p:nvSpPr>
        <p:spPr>
          <a:xfrm>
            <a:off x="8831134" y="22288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4" name="TextBox 33"/>
          <p:cNvSpPr txBox="1"/>
          <p:nvPr/>
        </p:nvSpPr>
        <p:spPr>
          <a:xfrm>
            <a:off x="10416317" y="22288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35" name="Connector 34"/>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5750" y="25908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Diomed Group</a:t>
            </a:r>
          </a:p>
        </p:txBody>
      </p:sp>
      <p:sp>
        <p:nvSpPr>
          <p:cNvPr id="38" name="TextBox 37"/>
          <p:cNvSpPr txBox="1"/>
          <p:nvPr/>
        </p:nvSpPr>
        <p:spPr>
          <a:xfrm>
            <a:off x="285750" y="27527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9" name="Oval 38"/>
          <p:cNvSpPr/>
          <p:nvPr/>
        </p:nvSpPr>
        <p:spPr>
          <a:xfrm>
            <a:off x="3603089"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3676650" y="26670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924075"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98868" y="25717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43" name="TextBox 42"/>
          <p:cNvSpPr txBox="1"/>
          <p:nvPr/>
        </p:nvSpPr>
        <p:spPr>
          <a:xfrm>
            <a:off x="7284051" y="25717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Audiologists, Others</a:t>
            </a:r>
          </a:p>
        </p:txBody>
      </p:sp>
      <p:sp>
        <p:nvSpPr>
          <p:cNvPr id="44" name="TextBox 43"/>
          <p:cNvSpPr txBox="1"/>
          <p:nvPr/>
        </p:nvSpPr>
        <p:spPr>
          <a:xfrm>
            <a:off x="8831134" y="25717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5" name="TextBox 44"/>
          <p:cNvSpPr txBox="1"/>
          <p:nvPr/>
        </p:nvSpPr>
        <p:spPr>
          <a:xfrm>
            <a:off x="10416317" y="25717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6" name="Connector 45"/>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85750" y="29337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NeilMed Pharmaceuticals</a:t>
            </a:r>
          </a:p>
        </p:txBody>
      </p:sp>
      <p:sp>
        <p:nvSpPr>
          <p:cNvPr id="49" name="TextBox 48"/>
          <p:cNvSpPr txBox="1"/>
          <p:nvPr/>
        </p:nvSpPr>
        <p:spPr>
          <a:xfrm>
            <a:off x="285750" y="30956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0" name="Oval 49"/>
          <p:cNvSpPr/>
          <p:nvPr/>
        </p:nvSpPr>
        <p:spPr>
          <a:xfrm>
            <a:off x="3603089"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3676650" y="3009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924075"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5000625" y="3009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698868" y="29146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55" name="TextBox 54"/>
          <p:cNvSpPr txBox="1"/>
          <p:nvPr/>
        </p:nvSpPr>
        <p:spPr>
          <a:xfrm>
            <a:off x="7284051" y="29146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ENT specialists, Others</a:t>
            </a:r>
          </a:p>
        </p:txBody>
      </p:sp>
      <p:sp>
        <p:nvSpPr>
          <p:cNvPr id="56" name="TextBox 55"/>
          <p:cNvSpPr txBox="1"/>
          <p:nvPr/>
        </p:nvSpPr>
        <p:spPr>
          <a:xfrm>
            <a:off x="8831134" y="29146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7" name="TextBox 56"/>
          <p:cNvSpPr txBox="1"/>
          <p:nvPr/>
        </p:nvSpPr>
        <p:spPr>
          <a:xfrm>
            <a:off x="10416317" y="29146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8" name="Connector 57"/>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85750" y="32766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Quest Products</a:t>
            </a:r>
          </a:p>
        </p:txBody>
      </p:sp>
      <p:sp>
        <p:nvSpPr>
          <p:cNvPr id="61" name="TextBox 60"/>
          <p:cNvSpPr txBox="1"/>
          <p:nvPr/>
        </p:nvSpPr>
        <p:spPr>
          <a:xfrm>
            <a:off x="285750" y="34385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2" name="Oval 61"/>
          <p:cNvSpPr/>
          <p:nvPr/>
        </p:nvSpPr>
        <p:spPr>
          <a:xfrm>
            <a:off x="3603089"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3676650" y="3352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924075"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698868" y="32575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66" name="TextBox 65"/>
          <p:cNvSpPr txBox="1"/>
          <p:nvPr/>
        </p:nvSpPr>
        <p:spPr>
          <a:xfrm>
            <a:off x="7284051" y="32575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Audiologists, ENT specialists</a:t>
            </a:r>
          </a:p>
        </p:txBody>
      </p:sp>
      <p:sp>
        <p:nvSpPr>
          <p:cNvPr id="67" name="TextBox 66"/>
          <p:cNvSpPr txBox="1"/>
          <p:nvPr/>
        </p:nvSpPr>
        <p:spPr>
          <a:xfrm>
            <a:off x="8831134" y="32575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8" name="TextBox 67"/>
          <p:cNvSpPr txBox="1"/>
          <p:nvPr/>
        </p:nvSpPr>
        <p:spPr>
          <a:xfrm>
            <a:off x="10416317" y="32575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9" name="Connector 68"/>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85750" y="36195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Eosera</a:t>
            </a:r>
          </a:p>
        </p:txBody>
      </p:sp>
      <p:sp>
        <p:nvSpPr>
          <p:cNvPr id="72" name="TextBox 71"/>
          <p:cNvSpPr txBox="1"/>
          <p:nvPr/>
        </p:nvSpPr>
        <p:spPr>
          <a:xfrm>
            <a:off x="285750" y="37814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3" name="Oval 72"/>
          <p:cNvSpPr/>
          <p:nvPr/>
        </p:nvSpPr>
        <p:spPr>
          <a:xfrm>
            <a:off x="3603089"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4924075"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500062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698868" y="36004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77" name="TextBox 76"/>
          <p:cNvSpPr txBox="1"/>
          <p:nvPr/>
        </p:nvSpPr>
        <p:spPr>
          <a:xfrm>
            <a:off x="7284051" y="36004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Audiologists, Others</a:t>
            </a:r>
          </a:p>
        </p:txBody>
      </p:sp>
      <p:sp>
        <p:nvSpPr>
          <p:cNvPr id="78" name="TextBox 77"/>
          <p:cNvSpPr txBox="1"/>
          <p:nvPr/>
        </p:nvSpPr>
        <p:spPr>
          <a:xfrm>
            <a:off x="8831134" y="36004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9" name="TextBox 78"/>
          <p:cNvSpPr txBox="1"/>
          <p:nvPr/>
        </p:nvSpPr>
        <p:spPr>
          <a:xfrm>
            <a:off x="10416317" y="36004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80" name="Connector 79"/>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85750" y="39624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Coopération Pharmaceutique Française</a:t>
            </a:r>
          </a:p>
        </p:txBody>
      </p:sp>
      <p:sp>
        <p:nvSpPr>
          <p:cNvPr id="83" name="TextBox 82"/>
          <p:cNvSpPr txBox="1"/>
          <p:nvPr/>
        </p:nvSpPr>
        <p:spPr>
          <a:xfrm>
            <a:off x="285750" y="41243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4" name="Oval 83"/>
          <p:cNvSpPr/>
          <p:nvPr/>
        </p:nvSpPr>
        <p:spPr>
          <a:xfrm>
            <a:off x="3603089"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3676650"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4924075"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698868" y="39433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88" name="TextBox 87"/>
          <p:cNvSpPr txBox="1"/>
          <p:nvPr/>
        </p:nvSpPr>
        <p:spPr>
          <a:xfrm>
            <a:off x="7284051" y="39433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ENT specialists, Others</a:t>
            </a:r>
          </a:p>
        </p:txBody>
      </p:sp>
      <p:sp>
        <p:nvSpPr>
          <p:cNvPr id="89" name="TextBox 88"/>
          <p:cNvSpPr txBox="1"/>
          <p:nvPr/>
        </p:nvSpPr>
        <p:spPr>
          <a:xfrm>
            <a:off x="8831134" y="39433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0" name="TextBox 89"/>
          <p:cNvSpPr txBox="1"/>
          <p:nvPr/>
        </p:nvSpPr>
        <p:spPr>
          <a:xfrm>
            <a:off x="10416317" y="39433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91" name="Connector 90"/>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85750" y="43053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Orion Pharma</a:t>
            </a:r>
          </a:p>
        </p:txBody>
      </p:sp>
      <p:sp>
        <p:nvSpPr>
          <p:cNvPr id="94" name="TextBox 93"/>
          <p:cNvSpPr txBox="1"/>
          <p:nvPr/>
        </p:nvSpPr>
        <p:spPr>
          <a:xfrm>
            <a:off x="285750" y="44672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5" name="Oval 94"/>
          <p:cNvSpPr/>
          <p:nvPr/>
        </p:nvSpPr>
        <p:spPr>
          <a:xfrm>
            <a:off x="3603089"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3676650"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4924075"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500062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698868" y="42862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00" name="TextBox 99"/>
          <p:cNvSpPr txBox="1"/>
          <p:nvPr/>
        </p:nvSpPr>
        <p:spPr>
          <a:xfrm>
            <a:off x="7284051" y="42862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Audiologists, ENT specialists</a:t>
            </a:r>
          </a:p>
        </p:txBody>
      </p:sp>
      <p:sp>
        <p:nvSpPr>
          <p:cNvPr id="101" name="TextBox 100"/>
          <p:cNvSpPr txBox="1"/>
          <p:nvPr/>
        </p:nvSpPr>
        <p:spPr>
          <a:xfrm>
            <a:off x="8831134" y="42862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2" name="TextBox 101"/>
          <p:cNvSpPr txBox="1"/>
          <p:nvPr/>
        </p:nvSpPr>
        <p:spPr>
          <a:xfrm>
            <a:off x="10416317" y="42862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03" name="Connector 102"/>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85750" y="46482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Farmacia Nordic</a:t>
            </a:r>
          </a:p>
        </p:txBody>
      </p:sp>
      <p:sp>
        <p:nvSpPr>
          <p:cNvPr id="106" name="TextBox 105"/>
          <p:cNvSpPr txBox="1"/>
          <p:nvPr/>
        </p:nvSpPr>
        <p:spPr>
          <a:xfrm>
            <a:off x="285750" y="48101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7" name="Oval 106"/>
          <p:cNvSpPr/>
          <p:nvPr/>
        </p:nvSpPr>
        <p:spPr>
          <a:xfrm>
            <a:off x="3603089"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3676650" y="4724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4924075"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698868" y="46291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11" name="TextBox 110"/>
          <p:cNvSpPr txBox="1"/>
          <p:nvPr/>
        </p:nvSpPr>
        <p:spPr>
          <a:xfrm>
            <a:off x="7284051" y="46291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Audiologists, Others</a:t>
            </a:r>
          </a:p>
        </p:txBody>
      </p:sp>
      <p:sp>
        <p:nvSpPr>
          <p:cNvPr id="112" name="TextBox 111"/>
          <p:cNvSpPr txBox="1"/>
          <p:nvPr/>
        </p:nvSpPr>
        <p:spPr>
          <a:xfrm>
            <a:off x="8831134" y="46291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3" name="TextBox 112"/>
          <p:cNvSpPr txBox="1"/>
          <p:nvPr/>
        </p:nvSpPr>
        <p:spPr>
          <a:xfrm>
            <a:off x="10416317" y="46291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14" name="Connector 113"/>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5" name="Rectangle 114"/>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285750" y="49911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Key Pharmaceuticals</a:t>
            </a:r>
          </a:p>
        </p:txBody>
      </p:sp>
      <p:sp>
        <p:nvSpPr>
          <p:cNvPr id="117" name="TextBox 116"/>
          <p:cNvSpPr txBox="1"/>
          <p:nvPr/>
        </p:nvSpPr>
        <p:spPr>
          <a:xfrm>
            <a:off x="285750" y="51530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8" name="Oval 117"/>
          <p:cNvSpPr/>
          <p:nvPr/>
        </p:nvSpPr>
        <p:spPr>
          <a:xfrm>
            <a:off x="3603089"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4924075"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5000625"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698868" y="49720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22" name="TextBox 121"/>
          <p:cNvSpPr txBox="1"/>
          <p:nvPr/>
        </p:nvSpPr>
        <p:spPr>
          <a:xfrm>
            <a:off x="7284051" y="49720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ENT specialists, Others</a:t>
            </a:r>
          </a:p>
        </p:txBody>
      </p:sp>
      <p:sp>
        <p:nvSpPr>
          <p:cNvPr id="123" name="TextBox 122"/>
          <p:cNvSpPr txBox="1"/>
          <p:nvPr/>
        </p:nvSpPr>
        <p:spPr>
          <a:xfrm>
            <a:off x="8831134" y="49720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4" name="TextBox 123"/>
          <p:cNvSpPr txBox="1"/>
          <p:nvPr/>
        </p:nvSpPr>
        <p:spPr>
          <a:xfrm>
            <a:off x="10416317" y="49720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5" name="Connector 124"/>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6" name="Rectangle 125"/>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285750" y="53340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Lanes Health</a:t>
            </a:r>
          </a:p>
        </p:txBody>
      </p:sp>
      <p:sp>
        <p:nvSpPr>
          <p:cNvPr id="128" name="TextBox 127"/>
          <p:cNvSpPr txBox="1"/>
          <p:nvPr/>
        </p:nvSpPr>
        <p:spPr>
          <a:xfrm>
            <a:off x="285750" y="54959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9" name="Oval 128"/>
          <p:cNvSpPr/>
          <p:nvPr/>
        </p:nvSpPr>
        <p:spPr>
          <a:xfrm>
            <a:off x="3603089"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Freeform 129"/>
          <p:cNvSpPr/>
          <p:nvPr/>
        </p:nvSpPr>
        <p:spPr>
          <a:xfrm>
            <a:off x="3676650" y="5410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4924075"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5698868" y="53149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33" name="TextBox 132"/>
          <p:cNvSpPr txBox="1"/>
          <p:nvPr/>
        </p:nvSpPr>
        <p:spPr>
          <a:xfrm>
            <a:off x="7284051" y="53149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Audiologists, ENT specialists</a:t>
            </a:r>
          </a:p>
        </p:txBody>
      </p:sp>
      <p:sp>
        <p:nvSpPr>
          <p:cNvPr id="134" name="TextBox 133"/>
          <p:cNvSpPr txBox="1"/>
          <p:nvPr/>
        </p:nvSpPr>
        <p:spPr>
          <a:xfrm>
            <a:off x="8831134" y="53149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5" name="TextBox 134"/>
          <p:cNvSpPr txBox="1"/>
          <p:nvPr/>
        </p:nvSpPr>
        <p:spPr>
          <a:xfrm>
            <a:off x="10416317" y="53149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36" name="Connector 135"/>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7" name="Oval 136"/>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9" name="Oval 138"/>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42" name="Oval 141"/>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Freeform 142"/>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45" name="Oval 144"/>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47" name="TextBox 146"/>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48" name="TextBox 147"/>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breadth and technology strength do not always go together; the end uses each player serves show where it competes head to head.  Proof needs customer research.</a:t>
            </a:r>
          </a:p>
        </p:txBody>
      </p:sp>
      <p:sp>
        <p:nvSpPr>
          <p:cNvPr id="149" name="TextBox 14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0" name="Picture 149" descr="lock.png"/>
          <p:cNvPicPr>
            <a:picLocks noChangeAspect="1"/>
          </p:cNvPicPr>
          <p:nvPr/>
        </p:nvPicPr>
        <p:blipFill>
          <a:blip r:embed="rId4"/>
          <a:stretch>
            <a:fillRect/>
          </a:stretch>
        </p:blipFill>
        <p:spPr>
          <a:xfrm>
            <a:off x="9559376" y="2306701"/>
            <a:ext cx="128699" cy="187198"/>
          </a:xfrm>
          <a:prstGeom prst="rect">
            <a:avLst/>
          </a:prstGeom>
        </p:spPr>
      </p:pic>
      <p:pic>
        <p:nvPicPr>
          <p:cNvPr id="151" name="Picture 150" descr="lock.png"/>
          <p:cNvPicPr>
            <a:picLocks noChangeAspect="1"/>
          </p:cNvPicPr>
          <p:nvPr/>
        </p:nvPicPr>
        <p:blipFill>
          <a:blip r:embed="rId4"/>
          <a:stretch>
            <a:fillRect/>
          </a:stretch>
        </p:blipFill>
        <p:spPr>
          <a:xfrm>
            <a:off x="11144559" y="2306701"/>
            <a:ext cx="128699" cy="187198"/>
          </a:xfrm>
          <a:prstGeom prst="rect">
            <a:avLst/>
          </a:prstGeom>
        </p:spPr>
      </p:pic>
      <p:pic>
        <p:nvPicPr>
          <p:cNvPr id="152" name="Picture 151" descr="lock.png"/>
          <p:cNvPicPr>
            <a:picLocks noChangeAspect="1"/>
          </p:cNvPicPr>
          <p:nvPr/>
        </p:nvPicPr>
        <p:blipFill>
          <a:blip r:embed="rId4"/>
          <a:stretch>
            <a:fillRect/>
          </a:stretch>
        </p:blipFill>
        <p:spPr>
          <a:xfrm>
            <a:off x="9559376" y="2649601"/>
            <a:ext cx="128699" cy="187198"/>
          </a:xfrm>
          <a:prstGeom prst="rect">
            <a:avLst/>
          </a:prstGeom>
        </p:spPr>
      </p:pic>
      <p:pic>
        <p:nvPicPr>
          <p:cNvPr id="153" name="Picture 152" descr="lock.png"/>
          <p:cNvPicPr>
            <a:picLocks noChangeAspect="1"/>
          </p:cNvPicPr>
          <p:nvPr/>
        </p:nvPicPr>
        <p:blipFill>
          <a:blip r:embed="rId4"/>
          <a:stretch>
            <a:fillRect/>
          </a:stretch>
        </p:blipFill>
        <p:spPr>
          <a:xfrm>
            <a:off x="11144559" y="2649601"/>
            <a:ext cx="128699" cy="187198"/>
          </a:xfrm>
          <a:prstGeom prst="rect">
            <a:avLst/>
          </a:prstGeom>
        </p:spPr>
      </p:pic>
      <p:pic>
        <p:nvPicPr>
          <p:cNvPr id="154" name="Picture 153" descr="lock.png"/>
          <p:cNvPicPr>
            <a:picLocks noChangeAspect="1"/>
          </p:cNvPicPr>
          <p:nvPr/>
        </p:nvPicPr>
        <p:blipFill>
          <a:blip r:embed="rId4"/>
          <a:stretch>
            <a:fillRect/>
          </a:stretch>
        </p:blipFill>
        <p:spPr>
          <a:xfrm>
            <a:off x="9559376" y="2992501"/>
            <a:ext cx="128699" cy="187198"/>
          </a:xfrm>
          <a:prstGeom prst="rect">
            <a:avLst/>
          </a:prstGeom>
        </p:spPr>
      </p:pic>
      <p:pic>
        <p:nvPicPr>
          <p:cNvPr id="155" name="Picture 154" descr="lock.png"/>
          <p:cNvPicPr>
            <a:picLocks noChangeAspect="1"/>
          </p:cNvPicPr>
          <p:nvPr/>
        </p:nvPicPr>
        <p:blipFill>
          <a:blip r:embed="rId4"/>
          <a:stretch>
            <a:fillRect/>
          </a:stretch>
        </p:blipFill>
        <p:spPr>
          <a:xfrm>
            <a:off x="11144559" y="29925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559376" y="3335401"/>
            <a:ext cx="128699" cy="187198"/>
          </a:xfrm>
          <a:prstGeom prst="rect">
            <a:avLst/>
          </a:prstGeom>
        </p:spPr>
      </p:pic>
      <p:pic>
        <p:nvPicPr>
          <p:cNvPr id="157" name="Picture 156" descr="lock.png"/>
          <p:cNvPicPr>
            <a:picLocks noChangeAspect="1"/>
          </p:cNvPicPr>
          <p:nvPr/>
        </p:nvPicPr>
        <p:blipFill>
          <a:blip r:embed="rId4"/>
          <a:stretch>
            <a:fillRect/>
          </a:stretch>
        </p:blipFill>
        <p:spPr>
          <a:xfrm>
            <a:off x="11144559" y="33354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559376" y="3678301"/>
            <a:ext cx="128699" cy="187198"/>
          </a:xfrm>
          <a:prstGeom prst="rect">
            <a:avLst/>
          </a:prstGeom>
        </p:spPr>
      </p:pic>
      <p:pic>
        <p:nvPicPr>
          <p:cNvPr id="159" name="Picture 158" descr="lock.png"/>
          <p:cNvPicPr>
            <a:picLocks noChangeAspect="1"/>
          </p:cNvPicPr>
          <p:nvPr/>
        </p:nvPicPr>
        <p:blipFill>
          <a:blip r:embed="rId4"/>
          <a:stretch>
            <a:fillRect/>
          </a:stretch>
        </p:blipFill>
        <p:spPr>
          <a:xfrm>
            <a:off x="11144559" y="3678301"/>
            <a:ext cx="128699" cy="187198"/>
          </a:xfrm>
          <a:prstGeom prst="rect">
            <a:avLst/>
          </a:prstGeom>
        </p:spPr>
      </p:pic>
      <p:pic>
        <p:nvPicPr>
          <p:cNvPr id="160" name="Picture 159" descr="lock.png"/>
          <p:cNvPicPr>
            <a:picLocks noChangeAspect="1"/>
          </p:cNvPicPr>
          <p:nvPr/>
        </p:nvPicPr>
        <p:blipFill>
          <a:blip r:embed="rId4"/>
          <a:stretch>
            <a:fillRect/>
          </a:stretch>
        </p:blipFill>
        <p:spPr>
          <a:xfrm>
            <a:off x="9559376" y="4021201"/>
            <a:ext cx="128699" cy="187198"/>
          </a:xfrm>
          <a:prstGeom prst="rect">
            <a:avLst/>
          </a:prstGeom>
        </p:spPr>
      </p:pic>
      <p:pic>
        <p:nvPicPr>
          <p:cNvPr id="161" name="Picture 160" descr="lock.png"/>
          <p:cNvPicPr>
            <a:picLocks noChangeAspect="1"/>
          </p:cNvPicPr>
          <p:nvPr/>
        </p:nvPicPr>
        <p:blipFill>
          <a:blip r:embed="rId4"/>
          <a:stretch>
            <a:fillRect/>
          </a:stretch>
        </p:blipFill>
        <p:spPr>
          <a:xfrm>
            <a:off x="11144559" y="4021201"/>
            <a:ext cx="128699" cy="187198"/>
          </a:xfrm>
          <a:prstGeom prst="rect">
            <a:avLst/>
          </a:prstGeom>
        </p:spPr>
      </p:pic>
      <p:pic>
        <p:nvPicPr>
          <p:cNvPr id="162" name="Picture 161" descr="lock.png"/>
          <p:cNvPicPr>
            <a:picLocks noChangeAspect="1"/>
          </p:cNvPicPr>
          <p:nvPr/>
        </p:nvPicPr>
        <p:blipFill>
          <a:blip r:embed="rId4"/>
          <a:stretch>
            <a:fillRect/>
          </a:stretch>
        </p:blipFill>
        <p:spPr>
          <a:xfrm>
            <a:off x="9559376" y="4364101"/>
            <a:ext cx="128699" cy="187198"/>
          </a:xfrm>
          <a:prstGeom prst="rect">
            <a:avLst/>
          </a:prstGeom>
        </p:spPr>
      </p:pic>
      <p:pic>
        <p:nvPicPr>
          <p:cNvPr id="163" name="Picture 162" descr="lock.png"/>
          <p:cNvPicPr>
            <a:picLocks noChangeAspect="1"/>
          </p:cNvPicPr>
          <p:nvPr/>
        </p:nvPicPr>
        <p:blipFill>
          <a:blip r:embed="rId4"/>
          <a:stretch>
            <a:fillRect/>
          </a:stretch>
        </p:blipFill>
        <p:spPr>
          <a:xfrm>
            <a:off x="11144559" y="4364101"/>
            <a:ext cx="128699" cy="187198"/>
          </a:xfrm>
          <a:prstGeom prst="rect">
            <a:avLst/>
          </a:prstGeom>
        </p:spPr>
      </p:pic>
      <p:pic>
        <p:nvPicPr>
          <p:cNvPr id="164" name="Picture 163" descr="lock.png"/>
          <p:cNvPicPr>
            <a:picLocks noChangeAspect="1"/>
          </p:cNvPicPr>
          <p:nvPr/>
        </p:nvPicPr>
        <p:blipFill>
          <a:blip r:embed="rId4"/>
          <a:stretch>
            <a:fillRect/>
          </a:stretch>
        </p:blipFill>
        <p:spPr>
          <a:xfrm>
            <a:off x="9559376" y="4707001"/>
            <a:ext cx="128699" cy="187198"/>
          </a:xfrm>
          <a:prstGeom prst="rect">
            <a:avLst/>
          </a:prstGeom>
        </p:spPr>
      </p:pic>
      <p:pic>
        <p:nvPicPr>
          <p:cNvPr id="165" name="Picture 164" descr="lock.png"/>
          <p:cNvPicPr>
            <a:picLocks noChangeAspect="1"/>
          </p:cNvPicPr>
          <p:nvPr/>
        </p:nvPicPr>
        <p:blipFill>
          <a:blip r:embed="rId4"/>
          <a:stretch>
            <a:fillRect/>
          </a:stretch>
        </p:blipFill>
        <p:spPr>
          <a:xfrm>
            <a:off x="11144559" y="47070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559376" y="5049901"/>
            <a:ext cx="128699" cy="187198"/>
          </a:xfrm>
          <a:prstGeom prst="rect">
            <a:avLst/>
          </a:prstGeom>
        </p:spPr>
      </p:pic>
      <p:pic>
        <p:nvPicPr>
          <p:cNvPr id="167" name="Picture 166" descr="lock.png"/>
          <p:cNvPicPr>
            <a:picLocks noChangeAspect="1"/>
          </p:cNvPicPr>
          <p:nvPr/>
        </p:nvPicPr>
        <p:blipFill>
          <a:blip r:embed="rId4"/>
          <a:stretch>
            <a:fillRect/>
          </a:stretch>
        </p:blipFill>
        <p:spPr>
          <a:xfrm>
            <a:off x="11144559" y="5049901"/>
            <a:ext cx="128699" cy="187198"/>
          </a:xfrm>
          <a:prstGeom prst="rect">
            <a:avLst/>
          </a:prstGeom>
        </p:spPr>
      </p:pic>
      <p:pic>
        <p:nvPicPr>
          <p:cNvPr id="168" name="Picture 167" descr="lock.png"/>
          <p:cNvPicPr>
            <a:picLocks noChangeAspect="1"/>
          </p:cNvPicPr>
          <p:nvPr/>
        </p:nvPicPr>
        <p:blipFill>
          <a:blip r:embed="rId4"/>
          <a:stretch>
            <a:fillRect/>
          </a:stretch>
        </p:blipFill>
        <p:spPr>
          <a:xfrm>
            <a:off x="9559376" y="5392801"/>
            <a:ext cx="128699" cy="187198"/>
          </a:xfrm>
          <a:prstGeom prst="rect">
            <a:avLst/>
          </a:prstGeom>
        </p:spPr>
      </p:pic>
      <p:pic>
        <p:nvPicPr>
          <p:cNvPr id="169" name="Picture 168" descr="lock.png"/>
          <p:cNvPicPr>
            <a:picLocks noChangeAspect="1"/>
          </p:cNvPicPr>
          <p:nvPr/>
        </p:nvPicPr>
        <p:blipFill>
          <a:blip r:embed="rId4"/>
          <a:stretch>
            <a:fillRect/>
          </a:stretch>
        </p:blipFill>
        <p:spPr>
          <a:xfrm>
            <a:off x="11144559" y="5392801"/>
            <a:ext cx="128699" cy="187198"/>
          </a:xfrm>
          <a:prstGeom prst="rect">
            <a:avLst/>
          </a:prstGeom>
        </p:spPr>
      </p:pic>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Execution Scorecard: How They Win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Six execution Ps: channel, promotion, momentum, pipeline, policy exposure and prospects</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3, EXECUTION: HOW THEY WIN</a:t>
            </a:r>
          </a:p>
        </p:txBody>
      </p:sp>
      <p:sp>
        <p:nvSpPr>
          <p:cNvPr id="12" name="TextBox 11"/>
          <p:cNvSpPr txBox="1"/>
          <p:nvPr/>
        </p:nvSpPr>
        <p:spPr>
          <a:xfrm>
            <a:off x="3056896" y="1295400"/>
            <a:ext cx="150898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Place (channel)</a:t>
            </a:r>
          </a:p>
        </p:txBody>
      </p:sp>
      <p:sp>
        <p:nvSpPr>
          <p:cNvPr id="13" name="TextBox 12"/>
          <p:cNvSpPr txBox="1"/>
          <p:nvPr/>
        </p:nvSpPr>
        <p:spPr>
          <a:xfrm>
            <a:off x="3056896" y="1657350"/>
            <a:ext cx="150898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Route to market by tier</a:t>
            </a:r>
          </a:p>
        </p:txBody>
      </p:sp>
      <p:sp>
        <p:nvSpPr>
          <p:cNvPr id="14" name="TextBox 13"/>
          <p:cNvSpPr txBox="1"/>
          <p:nvPr/>
        </p:nvSpPr>
        <p:spPr>
          <a:xfrm>
            <a:off x="4642079" y="1295400"/>
            <a:ext cx="150898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Promotion</a:t>
            </a:r>
          </a:p>
        </p:txBody>
      </p:sp>
      <p:sp>
        <p:nvSpPr>
          <p:cNvPr id="15" name="TextBox 14"/>
          <p:cNvSpPr txBox="1"/>
          <p:nvPr/>
        </p:nvSpPr>
        <p:spPr>
          <a:xfrm>
            <a:off x="4642079" y="1657350"/>
            <a:ext cx="150898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Go-to-market; not assessed</a:t>
            </a:r>
          </a:p>
        </p:txBody>
      </p:sp>
      <p:sp>
        <p:nvSpPr>
          <p:cNvPr id="16" name="TextBox 15"/>
          <p:cNvSpPr txBox="1"/>
          <p:nvPr/>
        </p:nvSpPr>
        <p:spPr>
          <a:xfrm>
            <a:off x="6227262" y="1295400"/>
            <a:ext cx="124478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Pace (momentum)</a:t>
            </a:r>
          </a:p>
        </p:txBody>
      </p:sp>
      <p:sp>
        <p:nvSpPr>
          <p:cNvPr id="17" name="TextBox 16"/>
          <p:cNvSpPr txBox="1"/>
          <p:nvPr/>
        </p:nvSpPr>
        <p:spPr>
          <a:xfrm>
            <a:off x="6227262" y="1657350"/>
            <a:ext cx="124478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Active moves: 5+ = 3, 3-4 = 2</a:t>
            </a:r>
          </a:p>
        </p:txBody>
      </p:sp>
      <p:sp>
        <p:nvSpPr>
          <p:cNvPr id="18" name="TextBox 17"/>
          <p:cNvSpPr txBox="1"/>
          <p:nvPr/>
        </p:nvSpPr>
        <p:spPr>
          <a:xfrm>
            <a:off x="7548248" y="1295400"/>
            <a:ext cx="150898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Pipeline</a:t>
            </a:r>
          </a:p>
        </p:txBody>
      </p:sp>
      <p:sp>
        <p:nvSpPr>
          <p:cNvPr id="19" name="TextBox 18"/>
          <p:cNvSpPr txBox="1"/>
          <p:nvPr/>
        </p:nvSpPr>
        <p:spPr>
          <a:xfrm>
            <a:off x="7548248" y="1657350"/>
            <a:ext cx="150898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Launch or development in motion</a:t>
            </a:r>
          </a:p>
        </p:txBody>
      </p:sp>
      <p:sp>
        <p:nvSpPr>
          <p:cNvPr id="20" name="TextBox 19"/>
          <p:cNvSpPr txBox="1"/>
          <p:nvPr/>
        </p:nvSpPr>
        <p:spPr>
          <a:xfrm>
            <a:off x="9133431" y="1295400"/>
            <a:ext cx="150898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Policy exposure</a:t>
            </a:r>
          </a:p>
        </p:txBody>
      </p:sp>
      <p:sp>
        <p:nvSpPr>
          <p:cNvPr id="21" name="TextBox 20"/>
          <p:cNvSpPr txBox="1"/>
          <p:nvPr/>
        </p:nvSpPr>
        <p:spPr>
          <a:xfrm>
            <a:off x="9133431" y="1657350"/>
            <a:ext cx="150898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Regulation in its favour or against</a:t>
            </a:r>
          </a:p>
        </p:txBody>
      </p:sp>
      <p:sp>
        <p:nvSpPr>
          <p:cNvPr id="22" name="TextBox 21"/>
          <p:cNvSpPr txBox="1"/>
          <p:nvPr/>
        </p:nvSpPr>
        <p:spPr>
          <a:xfrm>
            <a:off x="10718614" y="1295400"/>
            <a:ext cx="124478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Prospects</a:t>
            </a:r>
          </a:p>
        </p:txBody>
      </p:sp>
      <p:sp>
        <p:nvSpPr>
          <p:cNvPr id="23" name="TextBox 22"/>
          <p:cNvSpPr txBox="1"/>
          <p:nvPr/>
        </p:nvSpPr>
        <p:spPr>
          <a:xfrm>
            <a:off x="10718614" y="1657350"/>
            <a:ext cx="124478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Gaining 3, holding 2, at risk 1</a:t>
            </a:r>
          </a:p>
        </p:txBody>
      </p:sp>
      <p:cxnSp>
        <p:nvCxnSpPr>
          <p:cNvPr id="24" name="Connector 23"/>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22479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Prestige Consumer Healthcare</a:t>
            </a:r>
          </a:p>
        </p:txBody>
      </p:sp>
      <p:sp>
        <p:nvSpPr>
          <p:cNvPr id="27" name="TextBox 26"/>
          <p:cNvSpPr txBox="1"/>
          <p:nvPr/>
        </p:nvSpPr>
        <p:spPr>
          <a:xfrm>
            <a:off x="285750" y="24098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8" name="TextBox 27"/>
          <p:cNvSpPr txBox="1"/>
          <p:nvPr/>
        </p:nvSpPr>
        <p:spPr>
          <a:xfrm>
            <a:off x="3056896" y="22288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29" name="TextBox 28"/>
          <p:cNvSpPr txBox="1"/>
          <p:nvPr/>
        </p:nvSpPr>
        <p:spPr>
          <a:xfrm>
            <a:off x="4603979" y="22288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0" name="Oval 29"/>
          <p:cNvSpPr/>
          <p:nvPr/>
        </p:nvSpPr>
        <p:spPr>
          <a:xfrm>
            <a:off x="6773455"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10148" y="22288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2" name="TextBox 31"/>
          <p:cNvSpPr txBox="1"/>
          <p:nvPr/>
        </p:nvSpPr>
        <p:spPr>
          <a:xfrm>
            <a:off x="9095331" y="22288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3" name="Oval 32"/>
          <p:cNvSpPr/>
          <p:nvPr/>
        </p:nvSpPr>
        <p:spPr>
          <a:xfrm>
            <a:off x="11264807"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5750" y="25908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Diomed Group</a:t>
            </a:r>
          </a:p>
        </p:txBody>
      </p:sp>
      <p:sp>
        <p:nvSpPr>
          <p:cNvPr id="37" name="TextBox 36"/>
          <p:cNvSpPr txBox="1"/>
          <p:nvPr/>
        </p:nvSpPr>
        <p:spPr>
          <a:xfrm>
            <a:off x="285750" y="27527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8" name="TextBox 37"/>
          <p:cNvSpPr txBox="1"/>
          <p:nvPr/>
        </p:nvSpPr>
        <p:spPr>
          <a:xfrm>
            <a:off x="3056896" y="25717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39" name="TextBox 38"/>
          <p:cNvSpPr txBox="1"/>
          <p:nvPr/>
        </p:nvSpPr>
        <p:spPr>
          <a:xfrm>
            <a:off x="4603979" y="25717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0" name="Oval 39"/>
          <p:cNvSpPr/>
          <p:nvPr/>
        </p:nvSpPr>
        <p:spPr>
          <a:xfrm>
            <a:off x="6773455"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48248" y="25717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42" name="TextBox 41"/>
          <p:cNvSpPr txBox="1"/>
          <p:nvPr/>
        </p:nvSpPr>
        <p:spPr>
          <a:xfrm>
            <a:off x="9095331" y="25717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3" name="Oval 42"/>
          <p:cNvSpPr/>
          <p:nvPr/>
        </p:nvSpPr>
        <p:spPr>
          <a:xfrm>
            <a:off x="11264807"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85750" y="29337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NeilMed Pharmaceuticals</a:t>
            </a:r>
          </a:p>
        </p:txBody>
      </p:sp>
      <p:sp>
        <p:nvSpPr>
          <p:cNvPr id="47" name="TextBox 46"/>
          <p:cNvSpPr txBox="1"/>
          <p:nvPr/>
        </p:nvSpPr>
        <p:spPr>
          <a:xfrm>
            <a:off x="285750" y="30956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8" name="TextBox 47"/>
          <p:cNvSpPr txBox="1"/>
          <p:nvPr/>
        </p:nvSpPr>
        <p:spPr>
          <a:xfrm>
            <a:off x="3056896" y="29146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49" name="TextBox 48"/>
          <p:cNvSpPr txBox="1"/>
          <p:nvPr/>
        </p:nvSpPr>
        <p:spPr>
          <a:xfrm>
            <a:off x="4603979" y="29146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0" name="Oval 49"/>
          <p:cNvSpPr/>
          <p:nvPr/>
        </p:nvSpPr>
        <p:spPr>
          <a:xfrm>
            <a:off x="6773455"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510148" y="29146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2" name="TextBox 51"/>
          <p:cNvSpPr txBox="1"/>
          <p:nvPr/>
        </p:nvSpPr>
        <p:spPr>
          <a:xfrm>
            <a:off x="9095331" y="29146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3" name="Oval 52"/>
          <p:cNvSpPr/>
          <p:nvPr/>
        </p:nvSpPr>
        <p:spPr>
          <a:xfrm>
            <a:off x="11264807"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5750" y="32766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Quest Products</a:t>
            </a:r>
          </a:p>
        </p:txBody>
      </p:sp>
      <p:sp>
        <p:nvSpPr>
          <p:cNvPr id="57" name="TextBox 56"/>
          <p:cNvSpPr txBox="1"/>
          <p:nvPr/>
        </p:nvSpPr>
        <p:spPr>
          <a:xfrm>
            <a:off x="285750" y="34385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8" name="TextBox 57"/>
          <p:cNvSpPr txBox="1"/>
          <p:nvPr/>
        </p:nvSpPr>
        <p:spPr>
          <a:xfrm>
            <a:off x="3056896" y="32575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59" name="TextBox 58"/>
          <p:cNvSpPr txBox="1"/>
          <p:nvPr/>
        </p:nvSpPr>
        <p:spPr>
          <a:xfrm>
            <a:off x="4603979" y="32575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0" name="Oval 59"/>
          <p:cNvSpPr/>
          <p:nvPr/>
        </p:nvSpPr>
        <p:spPr>
          <a:xfrm>
            <a:off x="6773455"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548248" y="32575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62" name="TextBox 61"/>
          <p:cNvSpPr txBox="1"/>
          <p:nvPr/>
        </p:nvSpPr>
        <p:spPr>
          <a:xfrm>
            <a:off x="9095331" y="32575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3" name="Oval 62"/>
          <p:cNvSpPr/>
          <p:nvPr/>
        </p:nvSpPr>
        <p:spPr>
          <a:xfrm>
            <a:off x="11264807"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85750" y="36195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Eosera</a:t>
            </a:r>
          </a:p>
        </p:txBody>
      </p:sp>
      <p:sp>
        <p:nvSpPr>
          <p:cNvPr id="67" name="TextBox 66"/>
          <p:cNvSpPr txBox="1"/>
          <p:nvPr/>
        </p:nvSpPr>
        <p:spPr>
          <a:xfrm>
            <a:off x="285750" y="37814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68" name="TextBox 67"/>
          <p:cNvSpPr txBox="1"/>
          <p:nvPr/>
        </p:nvSpPr>
        <p:spPr>
          <a:xfrm>
            <a:off x="3056896" y="36004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69" name="TextBox 68"/>
          <p:cNvSpPr txBox="1"/>
          <p:nvPr/>
        </p:nvSpPr>
        <p:spPr>
          <a:xfrm>
            <a:off x="4603979" y="36004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0" name="Oval 69"/>
          <p:cNvSpPr/>
          <p:nvPr/>
        </p:nvSpPr>
        <p:spPr>
          <a:xfrm>
            <a:off x="6773455"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510148" y="36004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2" name="TextBox 71"/>
          <p:cNvSpPr txBox="1"/>
          <p:nvPr/>
        </p:nvSpPr>
        <p:spPr>
          <a:xfrm>
            <a:off x="9095331" y="36004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3" name="Oval 72"/>
          <p:cNvSpPr/>
          <p:nvPr/>
        </p:nvSpPr>
        <p:spPr>
          <a:xfrm>
            <a:off x="11264807"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11344275" y="3695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5" name="Connector 74"/>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85750" y="39624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Coopération Pharmaceutique Française</a:t>
            </a:r>
          </a:p>
        </p:txBody>
      </p:sp>
      <p:sp>
        <p:nvSpPr>
          <p:cNvPr id="78" name="TextBox 77"/>
          <p:cNvSpPr txBox="1"/>
          <p:nvPr/>
        </p:nvSpPr>
        <p:spPr>
          <a:xfrm>
            <a:off x="285750" y="41243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9" name="TextBox 78"/>
          <p:cNvSpPr txBox="1"/>
          <p:nvPr/>
        </p:nvSpPr>
        <p:spPr>
          <a:xfrm>
            <a:off x="3056896" y="39433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80" name="TextBox 79"/>
          <p:cNvSpPr txBox="1"/>
          <p:nvPr/>
        </p:nvSpPr>
        <p:spPr>
          <a:xfrm>
            <a:off x="4603979" y="39433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1" name="Oval 80"/>
          <p:cNvSpPr/>
          <p:nvPr/>
        </p:nvSpPr>
        <p:spPr>
          <a:xfrm>
            <a:off x="6773455"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548248" y="39433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83" name="TextBox 82"/>
          <p:cNvSpPr txBox="1"/>
          <p:nvPr/>
        </p:nvSpPr>
        <p:spPr>
          <a:xfrm>
            <a:off x="9095331" y="39433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4" name="Oval 83"/>
          <p:cNvSpPr/>
          <p:nvPr/>
        </p:nvSpPr>
        <p:spPr>
          <a:xfrm>
            <a:off x="11264807"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11344275" y="4038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85750" y="43053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Orion Pharma</a:t>
            </a:r>
          </a:p>
        </p:txBody>
      </p:sp>
      <p:sp>
        <p:nvSpPr>
          <p:cNvPr id="89" name="TextBox 88"/>
          <p:cNvSpPr txBox="1"/>
          <p:nvPr/>
        </p:nvSpPr>
        <p:spPr>
          <a:xfrm>
            <a:off x="285750" y="44672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0" name="TextBox 89"/>
          <p:cNvSpPr txBox="1"/>
          <p:nvPr/>
        </p:nvSpPr>
        <p:spPr>
          <a:xfrm>
            <a:off x="3056896" y="42862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91" name="TextBox 90"/>
          <p:cNvSpPr txBox="1"/>
          <p:nvPr/>
        </p:nvSpPr>
        <p:spPr>
          <a:xfrm>
            <a:off x="4603979" y="42862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2" name="Oval 91"/>
          <p:cNvSpPr/>
          <p:nvPr/>
        </p:nvSpPr>
        <p:spPr>
          <a:xfrm>
            <a:off x="6773455" y="43815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510148" y="42862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4" name="TextBox 93"/>
          <p:cNvSpPr txBox="1"/>
          <p:nvPr/>
        </p:nvSpPr>
        <p:spPr>
          <a:xfrm>
            <a:off x="9095331" y="42862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5" name="Oval 94"/>
          <p:cNvSpPr/>
          <p:nvPr/>
        </p:nvSpPr>
        <p:spPr>
          <a:xfrm>
            <a:off x="11264807"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11344275" y="4381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7" name="Connector 96"/>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85750" y="46482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Farmacia Nordic</a:t>
            </a:r>
          </a:p>
        </p:txBody>
      </p:sp>
      <p:sp>
        <p:nvSpPr>
          <p:cNvPr id="100" name="TextBox 99"/>
          <p:cNvSpPr txBox="1"/>
          <p:nvPr/>
        </p:nvSpPr>
        <p:spPr>
          <a:xfrm>
            <a:off x="285750" y="48101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1" name="TextBox 100"/>
          <p:cNvSpPr txBox="1"/>
          <p:nvPr/>
        </p:nvSpPr>
        <p:spPr>
          <a:xfrm>
            <a:off x="3056896" y="46291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02" name="TextBox 101"/>
          <p:cNvSpPr txBox="1"/>
          <p:nvPr/>
        </p:nvSpPr>
        <p:spPr>
          <a:xfrm>
            <a:off x="4603979" y="46291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3" name="Oval 102"/>
          <p:cNvSpPr/>
          <p:nvPr/>
        </p:nvSpPr>
        <p:spPr>
          <a:xfrm>
            <a:off x="6773455"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548248" y="46291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05" name="TextBox 104"/>
          <p:cNvSpPr txBox="1"/>
          <p:nvPr/>
        </p:nvSpPr>
        <p:spPr>
          <a:xfrm>
            <a:off x="9095331" y="46291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6" name="Oval 105"/>
          <p:cNvSpPr/>
          <p:nvPr/>
        </p:nvSpPr>
        <p:spPr>
          <a:xfrm>
            <a:off x="11264807"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11344275" y="47244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8" name="Connector 107"/>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9" name="Rectangle 108"/>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85750" y="49911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Key Pharmaceuticals</a:t>
            </a:r>
          </a:p>
        </p:txBody>
      </p:sp>
      <p:sp>
        <p:nvSpPr>
          <p:cNvPr id="111" name="TextBox 110"/>
          <p:cNvSpPr txBox="1"/>
          <p:nvPr/>
        </p:nvSpPr>
        <p:spPr>
          <a:xfrm>
            <a:off x="285750" y="51530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2" name="TextBox 111"/>
          <p:cNvSpPr txBox="1"/>
          <p:nvPr/>
        </p:nvSpPr>
        <p:spPr>
          <a:xfrm>
            <a:off x="3056896" y="49720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13" name="TextBox 112"/>
          <p:cNvSpPr txBox="1"/>
          <p:nvPr/>
        </p:nvSpPr>
        <p:spPr>
          <a:xfrm>
            <a:off x="4603979" y="49720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4" name="Oval 113"/>
          <p:cNvSpPr/>
          <p:nvPr/>
        </p:nvSpPr>
        <p:spPr>
          <a:xfrm>
            <a:off x="6773455"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510148" y="49720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6" name="TextBox 115"/>
          <p:cNvSpPr txBox="1"/>
          <p:nvPr/>
        </p:nvSpPr>
        <p:spPr>
          <a:xfrm>
            <a:off x="9095331" y="49720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7" name="Oval 116"/>
          <p:cNvSpPr/>
          <p:nvPr/>
        </p:nvSpPr>
        <p:spPr>
          <a:xfrm>
            <a:off x="11264807"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11344275" y="5067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9" name="Connector 118"/>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0" name="Rectangle 119"/>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285750" y="5334000"/>
            <a:ext cx="2713996" cy="171450"/>
          </a:xfrm>
          <a:prstGeom prst="rect">
            <a:avLst/>
          </a:prstGeom>
          <a:noFill/>
        </p:spPr>
        <p:txBody>
          <a:bodyPr wrap="square" lIns="28575" rIns="28575" tIns="9525" bIns="9525" anchor="t">
            <a:spAutoFit/>
          </a:bodyPr>
          <a:lstStyle/>
          <a:p>
            <a:pPr algn="l"/>
            <a:r>
              <a:rPr sz="1100" b="1">
                <a:solidFill>
                  <a:srgbClr val="1F2933"/>
                </a:solidFill>
                <a:latin typeface="Calibri"/>
              </a:rPr>
              <a:t>Lanes Health</a:t>
            </a:r>
          </a:p>
        </p:txBody>
      </p:sp>
      <p:sp>
        <p:nvSpPr>
          <p:cNvPr id="122" name="TextBox 121"/>
          <p:cNvSpPr txBox="1"/>
          <p:nvPr/>
        </p:nvSpPr>
        <p:spPr>
          <a:xfrm>
            <a:off x="285750" y="5495925"/>
            <a:ext cx="2713996"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3" name="TextBox 122"/>
          <p:cNvSpPr txBox="1"/>
          <p:nvPr/>
        </p:nvSpPr>
        <p:spPr>
          <a:xfrm>
            <a:off x="3056896" y="53149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24" name="TextBox 123"/>
          <p:cNvSpPr txBox="1"/>
          <p:nvPr/>
        </p:nvSpPr>
        <p:spPr>
          <a:xfrm>
            <a:off x="4603979" y="53149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5" name="Oval 124"/>
          <p:cNvSpPr/>
          <p:nvPr/>
        </p:nvSpPr>
        <p:spPr>
          <a:xfrm>
            <a:off x="6773455"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548248" y="5314950"/>
            <a:ext cx="150898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27" name="TextBox 126"/>
          <p:cNvSpPr txBox="1"/>
          <p:nvPr/>
        </p:nvSpPr>
        <p:spPr>
          <a:xfrm>
            <a:off x="9095331" y="5314950"/>
            <a:ext cx="158518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8" name="Oval 127"/>
          <p:cNvSpPr/>
          <p:nvPr/>
        </p:nvSpPr>
        <p:spPr>
          <a:xfrm>
            <a:off x="11264807"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11344275" y="54102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0" name="Connector 129"/>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1" name="Oval 130"/>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3" name="Oval 132"/>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36" name="Oval 135"/>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reeform 136"/>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39" name="Oval 138"/>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41" name="TextBox 140"/>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42" name="TextBox 141"/>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Momentum sits with the players running the most strategic moves; prospects combine breadth, reach, scale and pace.  Promotion and policy exposure need market and regulatory research.</a:t>
            </a:r>
          </a:p>
        </p:txBody>
      </p:sp>
      <p:sp>
        <p:nvSpPr>
          <p:cNvPr id="143" name="TextBox 1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44" name="Picture 143" descr="lock.png"/>
          <p:cNvPicPr>
            <a:picLocks noChangeAspect="1"/>
          </p:cNvPicPr>
          <p:nvPr/>
        </p:nvPicPr>
        <p:blipFill>
          <a:blip r:embed="rId4"/>
          <a:stretch>
            <a:fillRect/>
          </a:stretch>
        </p:blipFill>
        <p:spPr>
          <a:xfrm>
            <a:off x="5332221" y="2306701"/>
            <a:ext cx="128699" cy="187198"/>
          </a:xfrm>
          <a:prstGeom prst="rect">
            <a:avLst/>
          </a:prstGeom>
        </p:spPr>
      </p:pic>
      <p:pic>
        <p:nvPicPr>
          <p:cNvPr id="145" name="Picture 144" descr="lock.png"/>
          <p:cNvPicPr>
            <a:picLocks noChangeAspect="1"/>
          </p:cNvPicPr>
          <p:nvPr/>
        </p:nvPicPr>
        <p:blipFill>
          <a:blip r:embed="rId4"/>
          <a:stretch>
            <a:fillRect/>
          </a:stretch>
        </p:blipFill>
        <p:spPr>
          <a:xfrm>
            <a:off x="8238390" y="2306701"/>
            <a:ext cx="128699" cy="187198"/>
          </a:xfrm>
          <a:prstGeom prst="rect">
            <a:avLst/>
          </a:prstGeom>
        </p:spPr>
      </p:pic>
      <p:pic>
        <p:nvPicPr>
          <p:cNvPr id="146" name="Picture 145" descr="lock.png"/>
          <p:cNvPicPr>
            <a:picLocks noChangeAspect="1"/>
          </p:cNvPicPr>
          <p:nvPr/>
        </p:nvPicPr>
        <p:blipFill>
          <a:blip r:embed="rId4"/>
          <a:stretch>
            <a:fillRect/>
          </a:stretch>
        </p:blipFill>
        <p:spPr>
          <a:xfrm>
            <a:off x="9823573" y="2306701"/>
            <a:ext cx="128699" cy="187198"/>
          </a:xfrm>
          <a:prstGeom prst="rect">
            <a:avLst/>
          </a:prstGeom>
        </p:spPr>
      </p:pic>
      <p:pic>
        <p:nvPicPr>
          <p:cNvPr id="147" name="Picture 146" descr="lock.png"/>
          <p:cNvPicPr>
            <a:picLocks noChangeAspect="1"/>
          </p:cNvPicPr>
          <p:nvPr/>
        </p:nvPicPr>
        <p:blipFill>
          <a:blip r:embed="rId4"/>
          <a:stretch>
            <a:fillRect/>
          </a:stretch>
        </p:blipFill>
        <p:spPr>
          <a:xfrm>
            <a:off x="5332221" y="2649601"/>
            <a:ext cx="128699" cy="187198"/>
          </a:xfrm>
          <a:prstGeom prst="rect">
            <a:avLst/>
          </a:prstGeom>
        </p:spPr>
      </p:pic>
      <p:pic>
        <p:nvPicPr>
          <p:cNvPr id="148" name="Picture 147" descr="lock.png"/>
          <p:cNvPicPr>
            <a:picLocks noChangeAspect="1"/>
          </p:cNvPicPr>
          <p:nvPr/>
        </p:nvPicPr>
        <p:blipFill>
          <a:blip r:embed="rId4"/>
          <a:stretch>
            <a:fillRect/>
          </a:stretch>
        </p:blipFill>
        <p:spPr>
          <a:xfrm>
            <a:off x="9823573" y="2649601"/>
            <a:ext cx="128699" cy="187198"/>
          </a:xfrm>
          <a:prstGeom prst="rect">
            <a:avLst/>
          </a:prstGeom>
        </p:spPr>
      </p:pic>
      <p:pic>
        <p:nvPicPr>
          <p:cNvPr id="149" name="Picture 148" descr="lock.png"/>
          <p:cNvPicPr>
            <a:picLocks noChangeAspect="1"/>
          </p:cNvPicPr>
          <p:nvPr/>
        </p:nvPicPr>
        <p:blipFill>
          <a:blip r:embed="rId4"/>
          <a:stretch>
            <a:fillRect/>
          </a:stretch>
        </p:blipFill>
        <p:spPr>
          <a:xfrm>
            <a:off x="5332221" y="2992501"/>
            <a:ext cx="128699" cy="187198"/>
          </a:xfrm>
          <a:prstGeom prst="rect">
            <a:avLst/>
          </a:prstGeom>
        </p:spPr>
      </p:pic>
      <p:pic>
        <p:nvPicPr>
          <p:cNvPr id="150" name="Picture 149" descr="lock.png"/>
          <p:cNvPicPr>
            <a:picLocks noChangeAspect="1"/>
          </p:cNvPicPr>
          <p:nvPr/>
        </p:nvPicPr>
        <p:blipFill>
          <a:blip r:embed="rId4"/>
          <a:stretch>
            <a:fillRect/>
          </a:stretch>
        </p:blipFill>
        <p:spPr>
          <a:xfrm>
            <a:off x="8238390" y="2992501"/>
            <a:ext cx="128699" cy="187198"/>
          </a:xfrm>
          <a:prstGeom prst="rect">
            <a:avLst/>
          </a:prstGeom>
        </p:spPr>
      </p:pic>
      <p:pic>
        <p:nvPicPr>
          <p:cNvPr id="151" name="Picture 150" descr="lock.png"/>
          <p:cNvPicPr>
            <a:picLocks noChangeAspect="1"/>
          </p:cNvPicPr>
          <p:nvPr/>
        </p:nvPicPr>
        <p:blipFill>
          <a:blip r:embed="rId4"/>
          <a:stretch>
            <a:fillRect/>
          </a:stretch>
        </p:blipFill>
        <p:spPr>
          <a:xfrm>
            <a:off x="9823573" y="2992501"/>
            <a:ext cx="128699" cy="187198"/>
          </a:xfrm>
          <a:prstGeom prst="rect">
            <a:avLst/>
          </a:prstGeom>
        </p:spPr>
      </p:pic>
      <p:pic>
        <p:nvPicPr>
          <p:cNvPr id="152" name="Picture 151" descr="lock.png"/>
          <p:cNvPicPr>
            <a:picLocks noChangeAspect="1"/>
          </p:cNvPicPr>
          <p:nvPr/>
        </p:nvPicPr>
        <p:blipFill>
          <a:blip r:embed="rId4"/>
          <a:stretch>
            <a:fillRect/>
          </a:stretch>
        </p:blipFill>
        <p:spPr>
          <a:xfrm>
            <a:off x="5332221" y="3335401"/>
            <a:ext cx="128699" cy="187198"/>
          </a:xfrm>
          <a:prstGeom prst="rect">
            <a:avLst/>
          </a:prstGeom>
        </p:spPr>
      </p:pic>
      <p:pic>
        <p:nvPicPr>
          <p:cNvPr id="153" name="Picture 152" descr="lock.png"/>
          <p:cNvPicPr>
            <a:picLocks noChangeAspect="1"/>
          </p:cNvPicPr>
          <p:nvPr/>
        </p:nvPicPr>
        <p:blipFill>
          <a:blip r:embed="rId4"/>
          <a:stretch>
            <a:fillRect/>
          </a:stretch>
        </p:blipFill>
        <p:spPr>
          <a:xfrm>
            <a:off x="9823573" y="3335401"/>
            <a:ext cx="128699" cy="187198"/>
          </a:xfrm>
          <a:prstGeom prst="rect">
            <a:avLst/>
          </a:prstGeom>
        </p:spPr>
      </p:pic>
      <p:pic>
        <p:nvPicPr>
          <p:cNvPr id="154" name="Picture 153" descr="lock.png"/>
          <p:cNvPicPr>
            <a:picLocks noChangeAspect="1"/>
          </p:cNvPicPr>
          <p:nvPr/>
        </p:nvPicPr>
        <p:blipFill>
          <a:blip r:embed="rId4"/>
          <a:stretch>
            <a:fillRect/>
          </a:stretch>
        </p:blipFill>
        <p:spPr>
          <a:xfrm>
            <a:off x="5332221" y="3678301"/>
            <a:ext cx="128699" cy="187198"/>
          </a:xfrm>
          <a:prstGeom prst="rect">
            <a:avLst/>
          </a:prstGeom>
        </p:spPr>
      </p:pic>
      <p:pic>
        <p:nvPicPr>
          <p:cNvPr id="155" name="Picture 154" descr="lock.png"/>
          <p:cNvPicPr>
            <a:picLocks noChangeAspect="1"/>
          </p:cNvPicPr>
          <p:nvPr/>
        </p:nvPicPr>
        <p:blipFill>
          <a:blip r:embed="rId4"/>
          <a:stretch>
            <a:fillRect/>
          </a:stretch>
        </p:blipFill>
        <p:spPr>
          <a:xfrm>
            <a:off x="8238390" y="36783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823573" y="3678301"/>
            <a:ext cx="128699" cy="187198"/>
          </a:xfrm>
          <a:prstGeom prst="rect">
            <a:avLst/>
          </a:prstGeom>
        </p:spPr>
      </p:pic>
      <p:pic>
        <p:nvPicPr>
          <p:cNvPr id="157" name="Picture 156" descr="lock.png"/>
          <p:cNvPicPr>
            <a:picLocks noChangeAspect="1"/>
          </p:cNvPicPr>
          <p:nvPr/>
        </p:nvPicPr>
        <p:blipFill>
          <a:blip r:embed="rId4"/>
          <a:stretch>
            <a:fillRect/>
          </a:stretch>
        </p:blipFill>
        <p:spPr>
          <a:xfrm>
            <a:off x="5332221" y="40212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823573" y="4021201"/>
            <a:ext cx="128699" cy="187198"/>
          </a:xfrm>
          <a:prstGeom prst="rect">
            <a:avLst/>
          </a:prstGeom>
        </p:spPr>
      </p:pic>
      <p:pic>
        <p:nvPicPr>
          <p:cNvPr id="159" name="Picture 158" descr="lock.png"/>
          <p:cNvPicPr>
            <a:picLocks noChangeAspect="1"/>
          </p:cNvPicPr>
          <p:nvPr/>
        </p:nvPicPr>
        <p:blipFill>
          <a:blip r:embed="rId4"/>
          <a:stretch>
            <a:fillRect/>
          </a:stretch>
        </p:blipFill>
        <p:spPr>
          <a:xfrm>
            <a:off x="5332221" y="4364101"/>
            <a:ext cx="128699" cy="187198"/>
          </a:xfrm>
          <a:prstGeom prst="rect">
            <a:avLst/>
          </a:prstGeom>
        </p:spPr>
      </p:pic>
      <p:pic>
        <p:nvPicPr>
          <p:cNvPr id="160" name="Picture 159" descr="lock.png"/>
          <p:cNvPicPr>
            <a:picLocks noChangeAspect="1"/>
          </p:cNvPicPr>
          <p:nvPr/>
        </p:nvPicPr>
        <p:blipFill>
          <a:blip r:embed="rId4"/>
          <a:stretch>
            <a:fillRect/>
          </a:stretch>
        </p:blipFill>
        <p:spPr>
          <a:xfrm>
            <a:off x="8238390" y="4364101"/>
            <a:ext cx="128699" cy="187198"/>
          </a:xfrm>
          <a:prstGeom prst="rect">
            <a:avLst/>
          </a:prstGeom>
        </p:spPr>
      </p:pic>
      <p:pic>
        <p:nvPicPr>
          <p:cNvPr id="161" name="Picture 160" descr="lock.png"/>
          <p:cNvPicPr>
            <a:picLocks noChangeAspect="1"/>
          </p:cNvPicPr>
          <p:nvPr/>
        </p:nvPicPr>
        <p:blipFill>
          <a:blip r:embed="rId4"/>
          <a:stretch>
            <a:fillRect/>
          </a:stretch>
        </p:blipFill>
        <p:spPr>
          <a:xfrm>
            <a:off x="9823573" y="4364101"/>
            <a:ext cx="128699" cy="187198"/>
          </a:xfrm>
          <a:prstGeom prst="rect">
            <a:avLst/>
          </a:prstGeom>
        </p:spPr>
      </p:pic>
      <p:pic>
        <p:nvPicPr>
          <p:cNvPr id="162" name="Picture 161" descr="lock.png"/>
          <p:cNvPicPr>
            <a:picLocks noChangeAspect="1"/>
          </p:cNvPicPr>
          <p:nvPr/>
        </p:nvPicPr>
        <p:blipFill>
          <a:blip r:embed="rId4"/>
          <a:stretch>
            <a:fillRect/>
          </a:stretch>
        </p:blipFill>
        <p:spPr>
          <a:xfrm>
            <a:off x="5332221" y="4707001"/>
            <a:ext cx="128699" cy="187198"/>
          </a:xfrm>
          <a:prstGeom prst="rect">
            <a:avLst/>
          </a:prstGeom>
        </p:spPr>
      </p:pic>
      <p:pic>
        <p:nvPicPr>
          <p:cNvPr id="163" name="Picture 162" descr="lock.png"/>
          <p:cNvPicPr>
            <a:picLocks noChangeAspect="1"/>
          </p:cNvPicPr>
          <p:nvPr/>
        </p:nvPicPr>
        <p:blipFill>
          <a:blip r:embed="rId4"/>
          <a:stretch>
            <a:fillRect/>
          </a:stretch>
        </p:blipFill>
        <p:spPr>
          <a:xfrm>
            <a:off x="9823573" y="4707001"/>
            <a:ext cx="128699" cy="187198"/>
          </a:xfrm>
          <a:prstGeom prst="rect">
            <a:avLst/>
          </a:prstGeom>
        </p:spPr>
      </p:pic>
      <p:pic>
        <p:nvPicPr>
          <p:cNvPr id="164" name="Picture 163" descr="lock.png"/>
          <p:cNvPicPr>
            <a:picLocks noChangeAspect="1"/>
          </p:cNvPicPr>
          <p:nvPr/>
        </p:nvPicPr>
        <p:blipFill>
          <a:blip r:embed="rId4"/>
          <a:stretch>
            <a:fillRect/>
          </a:stretch>
        </p:blipFill>
        <p:spPr>
          <a:xfrm>
            <a:off x="5332221" y="5049901"/>
            <a:ext cx="128699" cy="187198"/>
          </a:xfrm>
          <a:prstGeom prst="rect">
            <a:avLst/>
          </a:prstGeom>
        </p:spPr>
      </p:pic>
      <p:pic>
        <p:nvPicPr>
          <p:cNvPr id="165" name="Picture 164" descr="lock.png"/>
          <p:cNvPicPr>
            <a:picLocks noChangeAspect="1"/>
          </p:cNvPicPr>
          <p:nvPr/>
        </p:nvPicPr>
        <p:blipFill>
          <a:blip r:embed="rId4"/>
          <a:stretch>
            <a:fillRect/>
          </a:stretch>
        </p:blipFill>
        <p:spPr>
          <a:xfrm>
            <a:off x="8238390" y="50499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823573" y="5049901"/>
            <a:ext cx="128699" cy="187198"/>
          </a:xfrm>
          <a:prstGeom prst="rect">
            <a:avLst/>
          </a:prstGeom>
        </p:spPr>
      </p:pic>
      <p:pic>
        <p:nvPicPr>
          <p:cNvPr id="167" name="Picture 166" descr="lock.png"/>
          <p:cNvPicPr>
            <a:picLocks noChangeAspect="1"/>
          </p:cNvPicPr>
          <p:nvPr/>
        </p:nvPicPr>
        <p:blipFill>
          <a:blip r:embed="rId4"/>
          <a:stretch>
            <a:fillRect/>
          </a:stretch>
        </p:blipFill>
        <p:spPr>
          <a:xfrm>
            <a:off x="5332221" y="5392801"/>
            <a:ext cx="128699" cy="187198"/>
          </a:xfrm>
          <a:prstGeom prst="rect">
            <a:avLst/>
          </a:prstGeom>
        </p:spPr>
      </p:pic>
      <p:pic>
        <p:nvPicPr>
          <p:cNvPr id="168" name="Picture 167" descr="lock.png"/>
          <p:cNvPicPr>
            <a:picLocks noChangeAspect="1"/>
          </p:cNvPicPr>
          <p:nvPr/>
        </p:nvPicPr>
        <p:blipFill>
          <a:blip r:embed="rId4"/>
          <a:stretch>
            <a:fillRect/>
          </a:stretch>
        </p:blipFill>
        <p:spPr>
          <a:xfrm>
            <a:off x="9823573" y="5392801"/>
            <a:ext cx="128699" cy="187198"/>
          </a:xfrm>
          <a:prstGeom prst="rect">
            <a:avLst/>
          </a:prstGeom>
        </p:spPr>
      </p:pic>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Success Factors and Composite Ranking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Five weighted success factors and the composite ranking they produce</a:t>
            </a:r>
          </a:p>
        </p:txBody>
      </p:sp>
      <p:sp>
        <p:nvSpPr>
          <p:cNvPr id="10" name="TextBox 9"/>
          <p:cNvSpPr txBox="1"/>
          <p:nvPr/>
        </p:nvSpPr>
        <p:spPr>
          <a:xfrm>
            <a:off x="21336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1. Segment breadth</a:t>
            </a:r>
          </a:p>
        </p:txBody>
      </p:sp>
      <p:sp>
        <p:nvSpPr>
          <p:cNvPr id="11" name="TextBox 10"/>
          <p:cNvSpPr txBox="1"/>
          <p:nvPr/>
        </p:nvSpPr>
        <p:spPr>
          <a:xfrm>
            <a:off x="21336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2" name="TextBox 11"/>
          <p:cNvSpPr txBox="1"/>
          <p:nvPr/>
        </p:nvSpPr>
        <p:spPr>
          <a:xfrm>
            <a:off x="21336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Lead or be active in several sub-segments</a:t>
            </a:r>
          </a:p>
        </p:txBody>
      </p:sp>
      <p:sp>
        <p:nvSpPr>
          <p:cNvPr id="13" name="TextBox 12"/>
          <p:cNvSpPr txBox="1"/>
          <p:nvPr/>
        </p:nvSpPr>
        <p:spPr>
          <a:xfrm>
            <a:off x="37909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2. Scale and share</a:t>
            </a:r>
          </a:p>
        </p:txBody>
      </p:sp>
      <p:sp>
        <p:nvSpPr>
          <p:cNvPr id="14" name="TextBox 13"/>
          <p:cNvSpPr txBox="1"/>
          <p:nvPr/>
        </p:nvSpPr>
        <p:spPr>
          <a:xfrm>
            <a:off x="37909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5" name="TextBox 14"/>
          <p:cNvSpPr txBox="1"/>
          <p:nvPr/>
        </p:nvSpPr>
        <p:spPr>
          <a:xfrm>
            <a:off x="37909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position and share of market value</a:t>
            </a:r>
          </a:p>
        </p:txBody>
      </p:sp>
      <p:sp>
        <p:nvSpPr>
          <p:cNvPr id="16" name="TextBox 15"/>
          <p:cNvSpPr txBox="1"/>
          <p:nvPr/>
        </p:nvSpPr>
        <p:spPr>
          <a:xfrm>
            <a:off x="54483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3. Geographic reach</a:t>
            </a:r>
          </a:p>
        </p:txBody>
      </p:sp>
      <p:sp>
        <p:nvSpPr>
          <p:cNvPr id="17" name="TextBox 16"/>
          <p:cNvSpPr txBox="1"/>
          <p:nvPr/>
        </p:nvSpPr>
        <p:spPr>
          <a:xfrm>
            <a:off x="54483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8" name="TextBox 17"/>
          <p:cNvSpPr txBox="1"/>
          <p:nvPr/>
        </p:nvSpPr>
        <p:spPr>
          <a:xfrm>
            <a:off x="54483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regional or single-market footprint</a:t>
            </a:r>
          </a:p>
        </p:txBody>
      </p:sp>
      <p:sp>
        <p:nvSpPr>
          <p:cNvPr id="19" name="TextBox 18"/>
          <p:cNvSpPr txBox="1"/>
          <p:nvPr/>
        </p:nvSpPr>
        <p:spPr>
          <a:xfrm>
            <a:off x="71056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4. Innovation pipeline</a:t>
            </a:r>
          </a:p>
        </p:txBody>
      </p:sp>
      <p:sp>
        <p:nvSpPr>
          <p:cNvPr id="20" name="TextBox 19"/>
          <p:cNvSpPr txBox="1"/>
          <p:nvPr/>
        </p:nvSpPr>
        <p:spPr>
          <a:xfrm>
            <a:off x="71056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1" name="TextBox 20"/>
          <p:cNvSpPr txBox="1"/>
          <p:nvPr/>
        </p:nvSpPr>
        <p:spPr>
          <a:xfrm>
            <a:off x="71056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product development in motion</a:t>
            </a:r>
          </a:p>
        </p:txBody>
      </p:sp>
      <p:sp>
        <p:nvSpPr>
          <p:cNvPr id="22" name="TextBox 21"/>
          <p:cNvSpPr txBox="1"/>
          <p:nvPr/>
        </p:nvSpPr>
        <p:spPr>
          <a:xfrm>
            <a:off x="87630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5. Strategic momentum</a:t>
            </a:r>
          </a:p>
        </p:txBody>
      </p:sp>
      <p:sp>
        <p:nvSpPr>
          <p:cNvPr id="23" name="TextBox 22"/>
          <p:cNvSpPr txBox="1"/>
          <p:nvPr/>
        </p:nvSpPr>
        <p:spPr>
          <a:xfrm>
            <a:off x="87630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4" name="TextBox 23"/>
          <p:cNvSpPr txBox="1"/>
          <p:nvPr/>
        </p:nvSpPr>
        <p:spPr>
          <a:xfrm>
            <a:off x="87630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Number of active strategic moves</a:t>
            </a:r>
          </a:p>
        </p:txBody>
      </p:sp>
      <p:sp>
        <p:nvSpPr>
          <p:cNvPr id="25" name="TextBox 24"/>
          <p:cNvSpPr txBox="1"/>
          <p:nvPr/>
        </p:nvSpPr>
        <p:spPr>
          <a:xfrm>
            <a:off x="10420350" y="1047750"/>
            <a:ext cx="1619250" cy="171450"/>
          </a:xfrm>
          <a:prstGeom prst="rect">
            <a:avLst/>
          </a:prstGeom>
          <a:noFill/>
        </p:spPr>
        <p:txBody>
          <a:bodyPr wrap="square" lIns="28575" rIns="28575" tIns="9525" bIns="9525" anchor="t">
            <a:spAutoFit/>
          </a:bodyPr>
          <a:lstStyle/>
          <a:p>
            <a:pPr algn="l"/>
            <a:r>
              <a:rPr sz="1100" b="1">
                <a:solidFill>
                  <a:srgbClr val="0F2D52"/>
                </a:solidFill>
                <a:latin typeface="Calibri"/>
              </a:rPr>
              <a:t>Composite</a:t>
            </a:r>
          </a:p>
        </p:txBody>
      </p:sp>
      <p:sp>
        <p:nvSpPr>
          <p:cNvPr id="26" name="TextBox 25"/>
          <p:cNvSpPr txBox="1"/>
          <p:nvPr/>
        </p:nvSpPr>
        <p:spPr>
          <a:xfrm>
            <a:off x="10420350" y="1219200"/>
            <a:ext cx="1619250" cy="152400"/>
          </a:xfrm>
          <a:prstGeom prst="rect">
            <a:avLst/>
          </a:prstGeom>
          <a:noFill/>
        </p:spPr>
        <p:txBody>
          <a:bodyPr wrap="square" lIns="28575" rIns="28575" tIns="9525" bIns="9525" anchor="t">
            <a:spAutoFit/>
          </a:bodyPr>
          <a:lstStyle/>
          <a:p>
            <a:pPr algn="l"/>
            <a:r>
              <a:rPr sz="1100" b="0">
                <a:solidFill>
                  <a:srgbClr val="1F2933"/>
                </a:solidFill>
                <a:latin typeface="Calibri"/>
              </a:rPr>
              <a:t>weighted 0 to 3</a:t>
            </a:r>
          </a:p>
        </p:txBody>
      </p:sp>
      <p:cxnSp>
        <p:nvCxnSpPr>
          <p:cNvPr id="27" name="Connector 26"/>
          <p:cNvCxnSpPr/>
          <p:nvPr/>
        </p:nvCxnSpPr>
        <p:spPr>
          <a:xfrm>
            <a:off x="190500" y="17526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90500" y="18478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5750" y="1809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Diomed Group</a:t>
            </a:r>
          </a:p>
        </p:txBody>
      </p:sp>
      <p:sp>
        <p:nvSpPr>
          <p:cNvPr id="30" name="Oval 29"/>
          <p:cNvSpPr/>
          <p:nvPr/>
        </p:nvSpPr>
        <p:spPr>
          <a:xfrm>
            <a:off x="28479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053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1626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200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4773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420350" y="1895475"/>
            <a:ext cx="11430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601450" y="1809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37" name="Connector 36"/>
          <p:cNvCxnSpPr/>
          <p:nvPr/>
        </p:nvCxnSpPr>
        <p:spPr>
          <a:xfrm>
            <a:off x="190500" y="2114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90500" y="21526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5750" y="2114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Prestige Consumer Healthcare</a:t>
            </a:r>
          </a:p>
        </p:txBody>
      </p:sp>
      <p:sp>
        <p:nvSpPr>
          <p:cNvPr id="40" name="Oval 39"/>
          <p:cNvSpPr/>
          <p:nvPr/>
        </p:nvSpPr>
        <p:spPr>
          <a:xfrm>
            <a:off x="28479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50532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1626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820025" y="2190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7896225" y="2190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4773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420350" y="22002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544300" y="2114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48" name="Connector 47"/>
          <p:cNvCxnSpPr/>
          <p:nvPr/>
        </p:nvCxnSpPr>
        <p:spPr>
          <a:xfrm>
            <a:off x="190500" y="2419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190500" y="24574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5750" y="2419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NeilMed Pharmaceuticals</a:t>
            </a:r>
          </a:p>
        </p:txBody>
      </p:sp>
      <p:sp>
        <p:nvSpPr>
          <p:cNvPr id="51" name="Oval 50"/>
          <p:cNvSpPr/>
          <p:nvPr/>
        </p:nvSpPr>
        <p:spPr>
          <a:xfrm>
            <a:off x="28479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5053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1626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7820025" y="2495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7896225" y="2495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94773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420350" y="25050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544300" y="2419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59" name="Connector 58"/>
          <p:cNvCxnSpPr/>
          <p:nvPr/>
        </p:nvCxnSpPr>
        <p:spPr>
          <a:xfrm>
            <a:off x="190500" y="2724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190500" y="27622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85750" y="2724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Quest Products</a:t>
            </a:r>
          </a:p>
        </p:txBody>
      </p:sp>
      <p:sp>
        <p:nvSpPr>
          <p:cNvPr id="62" name="Oval 61"/>
          <p:cNvSpPr/>
          <p:nvPr/>
        </p:nvSpPr>
        <p:spPr>
          <a:xfrm>
            <a:off x="2847975" y="2800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2924175" y="2800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5053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61626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78200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94773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0420350" y="2809875"/>
            <a:ext cx="10287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487150" y="2724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70" name="Connector 69"/>
          <p:cNvCxnSpPr/>
          <p:nvPr/>
        </p:nvCxnSpPr>
        <p:spPr>
          <a:xfrm>
            <a:off x="190500" y="3028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190500" y="30670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85750" y="3028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Coopération Pharmaceutique Française</a:t>
            </a:r>
          </a:p>
        </p:txBody>
      </p:sp>
      <p:sp>
        <p:nvSpPr>
          <p:cNvPr id="73" name="Oval 72"/>
          <p:cNvSpPr/>
          <p:nvPr/>
        </p:nvSpPr>
        <p:spPr>
          <a:xfrm>
            <a:off x="28479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29241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450532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458152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1626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62388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782002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947737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0420350" y="3114675"/>
            <a:ext cx="8763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1334750" y="3028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83" name="Connector 82"/>
          <p:cNvCxnSpPr/>
          <p:nvPr/>
        </p:nvCxnSpPr>
        <p:spPr>
          <a:xfrm>
            <a:off x="190500" y="3333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4" name="Rectangle 83"/>
          <p:cNvSpPr/>
          <p:nvPr/>
        </p:nvSpPr>
        <p:spPr>
          <a:xfrm>
            <a:off x="190500" y="33718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85750" y="3333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Eosera</a:t>
            </a:r>
          </a:p>
        </p:txBody>
      </p:sp>
      <p:sp>
        <p:nvSpPr>
          <p:cNvPr id="86" name="Oval 85"/>
          <p:cNvSpPr/>
          <p:nvPr/>
        </p:nvSpPr>
        <p:spPr>
          <a:xfrm>
            <a:off x="28479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29241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45053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45815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61626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62388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78200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78962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9477375" y="3409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420350" y="3419475"/>
            <a:ext cx="8191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1277600" y="3333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97" name="Connector 96"/>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90500" y="36766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85750" y="3638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Farmacia Nordic</a:t>
            </a:r>
          </a:p>
        </p:txBody>
      </p:sp>
      <p:sp>
        <p:nvSpPr>
          <p:cNvPr id="100" name="Oval 99"/>
          <p:cNvSpPr/>
          <p:nvPr/>
        </p:nvSpPr>
        <p:spPr>
          <a:xfrm>
            <a:off x="28479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Freeform 100"/>
          <p:cNvSpPr/>
          <p:nvPr/>
        </p:nvSpPr>
        <p:spPr>
          <a:xfrm>
            <a:off x="2924175" y="3714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450532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reeform 102"/>
          <p:cNvSpPr/>
          <p:nvPr/>
        </p:nvSpPr>
        <p:spPr>
          <a:xfrm>
            <a:off x="458152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61626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623887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782002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47737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0420350" y="37242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1182350" y="3638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10" name="Connector 109"/>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1" name="Rectangle 110"/>
          <p:cNvSpPr/>
          <p:nvPr/>
        </p:nvSpPr>
        <p:spPr>
          <a:xfrm>
            <a:off x="190500" y="39814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85750" y="3943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Lanes Health</a:t>
            </a:r>
          </a:p>
        </p:txBody>
      </p:sp>
      <p:sp>
        <p:nvSpPr>
          <p:cNvPr id="113" name="Oval 112"/>
          <p:cNvSpPr/>
          <p:nvPr/>
        </p:nvSpPr>
        <p:spPr>
          <a:xfrm>
            <a:off x="28479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Freeform 113"/>
          <p:cNvSpPr/>
          <p:nvPr/>
        </p:nvSpPr>
        <p:spPr>
          <a:xfrm>
            <a:off x="2924175" y="4019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450532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reeform 115"/>
          <p:cNvSpPr/>
          <p:nvPr/>
        </p:nvSpPr>
        <p:spPr>
          <a:xfrm>
            <a:off x="458152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61626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623887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782002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947737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0420350" y="40290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1182350" y="3943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23" name="Connector 122"/>
          <p:cNvCxnSpPr/>
          <p:nvPr/>
        </p:nvCxnSpPr>
        <p:spPr>
          <a:xfrm>
            <a:off x="190500" y="4248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4" name="Rectangle 123"/>
          <p:cNvSpPr/>
          <p:nvPr/>
        </p:nvSpPr>
        <p:spPr>
          <a:xfrm>
            <a:off x="190500" y="42862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85750" y="4248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Orion Pharma</a:t>
            </a:r>
          </a:p>
        </p:txBody>
      </p:sp>
      <p:sp>
        <p:nvSpPr>
          <p:cNvPr id="126" name="Oval 125"/>
          <p:cNvSpPr/>
          <p:nvPr/>
        </p:nvSpPr>
        <p:spPr>
          <a:xfrm>
            <a:off x="28479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Freeform 126"/>
          <p:cNvSpPr/>
          <p:nvPr/>
        </p:nvSpPr>
        <p:spPr>
          <a:xfrm>
            <a:off x="292417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45053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458152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61626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Freeform 130"/>
          <p:cNvSpPr/>
          <p:nvPr/>
        </p:nvSpPr>
        <p:spPr>
          <a:xfrm>
            <a:off x="623887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78200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Freeform 132"/>
          <p:cNvSpPr/>
          <p:nvPr/>
        </p:nvSpPr>
        <p:spPr>
          <a:xfrm>
            <a:off x="789622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9477375" y="4324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0420350" y="43338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11125200" y="4248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37" name="Connector 136"/>
          <p:cNvCxnSpPr/>
          <p:nvPr/>
        </p:nvCxnSpPr>
        <p:spPr>
          <a:xfrm>
            <a:off x="190500" y="4552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8" name="Rectangle 137"/>
          <p:cNvSpPr/>
          <p:nvPr/>
        </p:nvSpPr>
        <p:spPr>
          <a:xfrm>
            <a:off x="190500" y="45910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85750" y="4552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Key Pharmaceuticals</a:t>
            </a:r>
          </a:p>
        </p:txBody>
      </p:sp>
      <p:sp>
        <p:nvSpPr>
          <p:cNvPr id="140" name="Oval 139"/>
          <p:cNvSpPr/>
          <p:nvPr/>
        </p:nvSpPr>
        <p:spPr>
          <a:xfrm>
            <a:off x="28479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Freeform 140"/>
          <p:cNvSpPr/>
          <p:nvPr/>
        </p:nvSpPr>
        <p:spPr>
          <a:xfrm>
            <a:off x="292417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5053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Freeform 142"/>
          <p:cNvSpPr/>
          <p:nvPr/>
        </p:nvSpPr>
        <p:spPr>
          <a:xfrm>
            <a:off x="458152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61626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Freeform 144"/>
          <p:cNvSpPr/>
          <p:nvPr/>
        </p:nvSpPr>
        <p:spPr>
          <a:xfrm>
            <a:off x="623887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78200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reeform 146"/>
          <p:cNvSpPr/>
          <p:nvPr/>
        </p:nvSpPr>
        <p:spPr>
          <a:xfrm>
            <a:off x="789622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9477375" y="4629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10420350" y="46386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1125200" y="4552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51" name="Connector 150"/>
          <p:cNvCxnSpPr/>
          <p:nvPr/>
        </p:nvCxnSpPr>
        <p:spPr>
          <a:xfrm>
            <a:off x="190500" y="4857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2" name="Oval 151"/>
          <p:cNvSpPr/>
          <p:nvPr/>
        </p:nvSpPr>
        <p:spPr>
          <a:xfrm>
            <a:off x="200025" y="49339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38100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54" name="Oval 153"/>
          <p:cNvSpPr/>
          <p:nvPr/>
        </p:nvSpPr>
        <p:spPr>
          <a:xfrm>
            <a:off x="2065020"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Freeform 154"/>
          <p:cNvSpPr/>
          <p:nvPr/>
        </p:nvSpPr>
        <p:spPr>
          <a:xfrm>
            <a:off x="2133600" y="49339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2245995"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57" name="Oval 156"/>
          <p:cNvSpPr/>
          <p:nvPr/>
        </p:nvSpPr>
        <p:spPr>
          <a:xfrm>
            <a:off x="367855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Freeform 157"/>
          <p:cNvSpPr/>
          <p:nvPr/>
        </p:nvSpPr>
        <p:spPr>
          <a:xfrm>
            <a:off x="3743325" y="49339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385953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60" name="Oval 159"/>
          <p:cNvSpPr/>
          <p:nvPr/>
        </p:nvSpPr>
        <p:spPr>
          <a:xfrm>
            <a:off x="510349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528447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62" name="TextBox 161"/>
          <p:cNvSpPr txBox="1"/>
          <p:nvPr/>
        </p:nvSpPr>
        <p:spPr>
          <a:xfrm>
            <a:off x="190500" y="5143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STRATEGIC GROUPS</a:t>
            </a:r>
          </a:p>
        </p:txBody>
      </p:sp>
      <p:sp>
        <p:nvSpPr>
          <p:cNvPr id="163" name="Rectangle 162"/>
          <p:cNvSpPr/>
          <p:nvPr/>
        </p:nvSpPr>
        <p:spPr>
          <a:xfrm>
            <a:off x="190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190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165" name="TextBox 164"/>
          <p:cNvSpPr txBox="1"/>
          <p:nvPr/>
        </p:nvSpPr>
        <p:spPr>
          <a:xfrm>
            <a:off x="190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Diomed Group, Prestige Consumer Healthcare, NeilMed Pharmaceuticals, Quest Products</a:t>
            </a:r>
          </a:p>
        </p:txBody>
      </p:sp>
      <p:sp>
        <p:nvSpPr>
          <p:cNvPr id="166" name="TextBox 165"/>
          <p:cNvSpPr txBox="1"/>
          <p:nvPr/>
        </p:nvSpPr>
        <p:spPr>
          <a:xfrm>
            <a:off x="190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scale and share; weakest on innovation pipeline.</a:t>
            </a:r>
          </a:p>
        </p:txBody>
      </p:sp>
      <p:sp>
        <p:nvSpPr>
          <p:cNvPr id="167" name="Rectangle 166"/>
          <p:cNvSpPr/>
          <p:nvPr/>
        </p:nvSpPr>
        <p:spPr>
          <a:xfrm>
            <a:off x="41910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41910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169" name="TextBox 168"/>
          <p:cNvSpPr txBox="1"/>
          <p:nvPr/>
        </p:nvSpPr>
        <p:spPr>
          <a:xfrm>
            <a:off x="41910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Coopération Pharmaceutique Française, Eosera</a:t>
            </a:r>
          </a:p>
        </p:txBody>
      </p:sp>
      <p:sp>
        <p:nvSpPr>
          <p:cNvPr id="170" name="TextBox 169"/>
          <p:cNvSpPr txBox="1"/>
          <p:nvPr/>
        </p:nvSpPr>
        <p:spPr>
          <a:xfrm>
            <a:off x="41910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segment breadth.</a:t>
            </a:r>
          </a:p>
        </p:txBody>
      </p:sp>
      <p:sp>
        <p:nvSpPr>
          <p:cNvPr id="171" name="Rectangle 170"/>
          <p:cNvSpPr/>
          <p:nvPr/>
        </p:nvSpPr>
        <p:spPr>
          <a:xfrm>
            <a:off x="8191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8191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173" name="TextBox 172"/>
          <p:cNvSpPr txBox="1"/>
          <p:nvPr/>
        </p:nvSpPr>
        <p:spPr>
          <a:xfrm>
            <a:off x="8191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Farmacia Nordic, Lanes Health, Orion Pharma, Key Pharmaceuticals</a:t>
            </a:r>
          </a:p>
        </p:txBody>
      </p:sp>
      <p:sp>
        <p:nvSpPr>
          <p:cNvPr id="174" name="TextBox 173"/>
          <p:cNvSpPr txBox="1"/>
          <p:nvPr/>
        </p:nvSpPr>
        <p:spPr>
          <a:xfrm>
            <a:off x="8191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scale and share.</a:t>
            </a:r>
          </a:p>
        </p:txBody>
      </p:sp>
      <p:sp>
        <p:nvSpPr>
          <p:cNvPr id="175" name="TextBox 17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6" name="Picture 175" descr="lock.png"/>
          <p:cNvPicPr>
            <a:picLocks noChangeAspect="1"/>
          </p:cNvPicPr>
          <p:nvPr/>
        </p:nvPicPr>
        <p:blipFill>
          <a:blip r:embed="rId4"/>
          <a:stretch>
            <a:fillRect/>
          </a:stretch>
        </p:blipFill>
        <p:spPr>
          <a:xfrm>
            <a:off x="11746650" y="1868551"/>
            <a:ext cx="128699" cy="187198"/>
          </a:xfrm>
          <a:prstGeom prst="rect">
            <a:avLst/>
          </a:prstGeom>
        </p:spPr>
      </p:pic>
      <p:pic>
        <p:nvPicPr>
          <p:cNvPr id="177" name="Picture 176" descr="lock.png"/>
          <p:cNvPicPr>
            <a:picLocks noChangeAspect="1"/>
          </p:cNvPicPr>
          <p:nvPr/>
        </p:nvPicPr>
        <p:blipFill>
          <a:blip r:embed="rId4"/>
          <a:stretch>
            <a:fillRect/>
          </a:stretch>
        </p:blipFill>
        <p:spPr>
          <a:xfrm>
            <a:off x="11689500" y="2173351"/>
            <a:ext cx="128699" cy="187198"/>
          </a:xfrm>
          <a:prstGeom prst="rect">
            <a:avLst/>
          </a:prstGeom>
        </p:spPr>
      </p:pic>
      <p:pic>
        <p:nvPicPr>
          <p:cNvPr id="178" name="Picture 177" descr="lock.png"/>
          <p:cNvPicPr>
            <a:picLocks noChangeAspect="1"/>
          </p:cNvPicPr>
          <p:nvPr/>
        </p:nvPicPr>
        <p:blipFill>
          <a:blip r:embed="rId4"/>
          <a:stretch>
            <a:fillRect/>
          </a:stretch>
        </p:blipFill>
        <p:spPr>
          <a:xfrm>
            <a:off x="11689500" y="2478151"/>
            <a:ext cx="128699" cy="187198"/>
          </a:xfrm>
          <a:prstGeom prst="rect">
            <a:avLst/>
          </a:prstGeom>
        </p:spPr>
      </p:pic>
      <p:pic>
        <p:nvPicPr>
          <p:cNvPr id="179" name="Picture 178" descr="lock.png"/>
          <p:cNvPicPr>
            <a:picLocks noChangeAspect="1"/>
          </p:cNvPicPr>
          <p:nvPr/>
        </p:nvPicPr>
        <p:blipFill>
          <a:blip r:embed="rId4"/>
          <a:stretch>
            <a:fillRect/>
          </a:stretch>
        </p:blipFill>
        <p:spPr>
          <a:xfrm>
            <a:off x="11632350" y="2782951"/>
            <a:ext cx="128699" cy="187198"/>
          </a:xfrm>
          <a:prstGeom prst="rect">
            <a:avLst/>
          </a:prstGeom>
        </p:spPr>
      </p:pic>
      <p:pic>
        <p:nvPicPr>
          <p:cNvPr id="180" name="Picture 179" descr="lock.png"/>
          <p:cNvPicPr>
            <a:picLocks noChangeAspect="1"/>
          </p:cNvPicPr>
          <p:nvPr/>
        </p:nvPicPr>
        <p:blipFill>
          <a:blip r:embed="rId4"/>
          <a:stretch>
            <a:fillRect/>
          </a:stretch>
        </p:blipFill>
        <p:spPr>
          <a:xfrm>
            <a:off x="11479950" y="3087751"/>
            <a:ext cx="128699" cy="187198"/>
          </a:xfrm>
          <a:prstGeom prst="rect">
            <a:avLst/>
          </a:prstGeom>
        </p:spPr>
      </p:pic>
      <p:pic>
        <p:nvPicPr>
          <p:cNvPr id="181" name="Picture 180" descr="lock.png"/>
          <p:cNvPicPr>
            <a:picLocks noChangeAspect="1"/>
          </p:cNvPicPr>
          <p:nvPr/>
        </p:nvPicPr>
        <p:blipFill>
          <a:blip r:embed="rId4"/>
          <a:stretch>
            <a:fillRect/>
          </a:stretch>
        </p:blipFill>
        <p:spPr>
          <a:xfrm>
            <a:off x="11422800" y="3392551"/>
            <a:ext cx="128699" cy="187198"/>
          </a:xfrm>
          <a:prstGeom prst="rect">
            <a:avLst/>
          </a:prstGeom>
        </p:spPr>
      </p:pic>
      <p:pic>
        <p:nvPicPr>
          <p:cNvPr id="182" name="Picture 181" descr="lock.png"/>
          <p:cNvPicPr>
            <a:picLocks noChangeAspect="1"/>
          </p:cNvPicPr>
          <p:nvPr/>
        </p:nvPicPr>
        <p:blipFill>
          <a:blip r:embed="rId4"/>
          <a:stretch>
            <a:fillRect/>
          </a:stretch>
        </p:blipFill>
        <p:spPr>
          <a:xfrm>
            <a:off x="11327550" y="3697351"/>
            <a:ext cx="128699" cy="187198"/>
          </a:xfrm>
          <a:prstGeom prst="rect">
            <a:avLst/>
          </a:prstGeom>
        </p:spPr>
      </p:pic>
      <p:pic>
        <p:nvPicPr>
          <p:cNvPr id="183" name="Picture 182" descr="lock.png"/>
          <p:cNvPicPr>
            <a:picLocks noChangeAspect="1"/>
          </p:cNvPicPr>
          <p:nvPr/>
        </p:nvPicPr>
        <p:blipFill>
          <a:blip r:embed="rId4"/>
          <a:stretch>
            <a:fillRect/>
          </a:stretch>
        </p:blipFill>
        <p:spPr>
          <a:xfrm>
            <a:off x="11327550" y="4002151"/>
            <a:ext cx="128699" cy="187198"/>
          </a:xfrm>
          <a:prstGeom prst="rect">
            <a:avLst/>
          </a:prstGeom>
        </p:spPr>
      </p:pic>
      <p:pic>
        <p:nvPicPr>
          <p:cNvPr id="184" name="Picture 183" descr="lock.png"/>
          <p:cNvPicPr>
            <a:picLocks noChangeAspect="1"/>
          </p:cNvPicPr>
          <p:nvPr/>
        </p:nvPicPr>
        <p:blipFill>
          <a:blip r:embed="rId4"/>
          <a:stretch>
            <a:fillRect/>
          </a:stretch>
        </p:blipFill>
        <p:spPr>
          <a:xfrm>
            <a:off x="11270400" y="4306951"/>
            <a:ext cx="128699" cy="187198"/>
          </a:xfrm>
          <a:prstGeom prst="rect">
            <a:avLst/>
          </a:prstGeom>
        </p:spPr>
      </p:pic>
      <p:pic>
        <p:nvPicPr>
          <p:cNvPr id="185" name="Picture 184" descr="lock.png"/>
          <p:cNvPicPr>
            <a:picLocks noChangeAspect="1"/>
          </p:cNvPicPr>
          <p:nvPr/>
        </p:nvPicPr>
        <p:blipFill>
          <a:blip r:embed="rId4"/>
          <a:stretch>
            <a:fillRect/>
          </a:stretch>
        </p:blipFill>
        <p:spPr>
          <a:xfrm>
            <a:off x="11270400" y="4611751"/>
            <a:ext cx="128699" cy="187198"/>
          </a:xfrm>
          <a:prstGeom prst="rect">
            <a:avLst/>
          </a:prstGeom>
        </p:spPr>
      </p:pic>
      <p:sp>
        <p:nvSpPr>
          <p:cNvPr id="186" name="TextBox 185"/>
          <p:cNvSpPr txBox="1"/>
          <p:nvPr/>
        </p:nvSpPr>
        <p:spPr>
          <a:xfrm>
            <a:off x="21621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87" name="Picture 186" descr="lock.png"/>
          <p:cNvPicPr>
            <a:picLocks noChangeAspect="1"/>
          </p:cNvPicPr>
          <p:nvPr/>
        </p:nvPicPr>
        <p:blipFill>
          <a:blip r:embed="rId4"/>
          <a:stretch>
            <a:fillRect/>
          </a:stretch>
        </p:blipFill>
        <p:spPr>
          <a:xfrm>
            <a:off x="2482959" y="1212159"/>
            <a:ext cx="92663" cy="134782"/>
          </a:xfrm>
          <a:prstGeom prst="rect">
            <a:avLst/>
          </a:prstGeom>
        </p:spPr>
      </p:pic>
      <p:sp>
        <p:nvSpPr>
          <p:cNvPr id="188" name="TextBox 187"/>
          <p:cNvSpPr txBox="1"/>
          <p:nvPr/>
        </p:nvSpPr>
        <p:spPr>
          <a:xfrm>
            <a:off x="38195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89" name="Picture 188" descr="lock.png"/>
          <p:cNvPicPr>
            <a:picLocks noChangeAspect="1"/>
          </p:cNvPicPr>
          <p:nvPr/>
        </p:nvPicPr>
        <p:blipFill>
          <a:blip r:embed="rId4"/>
          <a:stretch>
            <a:fillRect/>
          </a:stretch>
        </p:blipFill>
        <p:spPr>
          <a:xfrm>
            <a:off x="4140309" y="1212159"/>
            <a:ext cx="92663" cy="134782"/>
          </a:xfrm>
          <a:prstGeom prst="rect">
            <a:avLst/>
          </a:prstGeom>
        </p:spPr>
      </p:pic>
      <p:sp>
        <p:nvSpPr>
          <p:cNvPr id="190" name="TextBox 189"/>
          <p:cNvSpPr txBox="1"/>
          <p:nvPr/>
        </p:nvSpPr>
        <p:spPr>
          <a:xfrm>
            <a:off x="54768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1" name="Picture 190" descr="lock.png"/>
          <p:cNvPicPr>
            <a:picLocks noChangeAspect="1"/>
          </p:cNvPicPr>
          <p:nvPr/>
        </p:nvPicPr>
        <p:blipFill>
          <a:blip r:embed="rId4"/>
          <a:stretch>
            <a:fillRect/>
          </a:stretch>
        </p:blipFill>
        <p:spPr>
          <a:xfrm>
            <a:off x="5797659" y="1212159"/>
            <a:ext cx="92663" cy="134782"/>
          </a:xfrm>
          <a:prstGeom prst="rect">
            <a:avLst/>
          </a:prstGeom>
        </p:spPr>
      </p:pic>
      <p:sp>
        <p:nvSpPr>
          <p:cNvPr id="192" name="TextBox 191"/>
          <p:cNvSpPr txBox="1"/>
          <p:nvPr/>
        </p:nvSpPr>
        <p:spPr>
          <a:xfrm>
            <a:off x="71342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3" name="Picture 192" descr="lock.png"/>
          <p:cNvPicPr>
            <a:picLocks noChangeAspect="1"/>
          </p:cNvPicPr>
          <p:nvPr/>
        </p:nvPicPr>
        <p:blipFill>
          <a:blip r:embed="rId4"/>
          <a:stretch>
            <a:fillRect/>
          </a:stretch>
        </p:blipFill>
        <p:spPr>
          <a:xfrm>
            <a:off x="7455009" y="1212159"/>
            <a:ext cx="92663" cy="134782"/>
          </a:xfrm>
          <a:prstGeom prst="rect">
            <a:avLst/>
          </a:prstGeom>
        </p:spPr>
      </p:pic>
      <p:sp>
        <p:nvSpPr>
          <p:cNvPr id="194" name="TextBox 193"/>
          <p:cNvSpPr txBox="1"/>
          <p:nvPr/>
        </p:nvSpPr>
        <p:spPr>
          <a:xfrm>
            <a:off x="87915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5" name="Picture 194" descr="lock.png"/>
          <p:cNvPicPr>
            <a:picLocks noChangeAspect="1"/>
          </p:cNvPicPr>
          <p:nvPr/>
        </p:nvPicPr>
        <p:blipFill>
          <a:blip r:embed="rId4"/>
          <a:stretch>
            <a:fillRect/>
          </a:stretch>
        </p:blipFill>
        <p:spPr>
          <a:xfrm>
            <a:off x="9112359" y="1212159"/>
            <a:ext cx="92663" cy="134782"/>
          </a:xfrm>
          <a:prstGeom prst="rect">
            <a:avLst/>
          </a:prstGeom>
        </p:spPr>
      </p:pic>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Strategic Activity Tracker</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Each player's active strategic moves: what, type, source department, signal and who should act</a:t>
            </a:r>
          </a:p>
        </p:txBody>
      </p:sp>
      <p:sp>
        <p:nvSpPr>
          <p:cNvPr id="10" name="TextBox 9"/>
          <p:cNvSpPr txBox="1"/>
          <p:nvPr/>
        </p:nvSpPr>
        <p:spPr>
          <a:xfrm>
            <a:off x="209550" y="1047750"/>
            <a:ext cx="1295400" cy="171450"/>
          </a:xfrm>
          <a:prstGeom prst="rect">
            <a:avLst/>
          </a:prstGeom>
          <a:noFill/>
        </p:spPr>
        <p:txBody>
          <a:bodyPr wrap="square" lIns="28575" rIns="28575" tIns="9525" bIns="9525" anchor="t">
            <a:spAutoFit/>
          </a:bodyPr>
          <a:lstStyle/>
          <a:p>
            <a:pPr algn="l"/>
            <a:r>
              <a:rPr sz="1100" b="1">
                <a:solidFill>
                  <a:srgbClr val="0F2D52"/>
                </a:solidFill>
                <a:latin typeface="Calibri"/>
              </a:rPr>
              <a:t>COMPANY</a:t>
            </a:r>
          </a:p>
        </p:txBody>
      </p:sp>
      <p:sp>
        <p:nvSpPr>
          <p:cNvPr id="11" name="TextBox 10"/>
          <p:cNvSpPr txBox="1"/>
          <p:nvPr/>
        </p:nvSpPr>
        <p:spPr>
          <a:xfrm>
            <a:off x="1543050" y="1047750"/>
            <a:ext cx="2343150" cy="171450"/>
          </a:xfrm>
          <a:prstGeom prst="rect">
            <a:avLst/>
          </a:prstGeom>
          <a:noFill/>
        </p:spPr>
        <p:txBody>
          <a:bodyPr wrap="square" lIns="28575" rIns="28575" tIns="9525" bIns="9525" anchor="t">
            <a:spAutoFit/>
          </a:bodyPr>
          <a:lstStyle/>
          <a:p>
            <a:pPr algn="l"/>
            <a:r>
              <a:rPr sz="1100" b="1">
                <a:solidFill>
                  <a:srgbClr val="0F2D52"/>
                </a:solidFill>
                <a:latin typeface="Calibri"/>
              </a:rPr>
              <a:t>DEVELOPMENT (WHAT IS HAPPENING)</a:t>
            </a:r>
          </a:p>
        </p:txBody>
      </p:sp>
      <p:sp>
        <p:nvSpPr>
          <p:cNvPr id="12" name="TextBox 11"/>
          <p:cNvSpPr txBox="1"/>
          <p:nvPr/>
        </p:nvSpPr>
        <p:spPr>
          <a:xfrm>
            <a:off x="3924300" y="1047750"/>
            <a:ext cx="533400" cy="171450"/>
          </a:xfrm>
          <a:prstGeom prst="rect">
            <a:avLst/>
          </a:prstGeom>
          <a:noFill/>
        </p:spPr>
        <p:txBody>
          <a:bodyPr wrap="none" lIns="0" rIns="0" tIns="0" bIns="0" anchor="t">
            <a:spAutoFit/>
          </a:bodyPr>
          <a:lstStyle/>
          <a:p>
            <a:pPr algn="l"/>
            <a:r>
              <a:rPr sz="1100" b="1">
                <a:solidFill>
                  <a:srgbClr val="0F2D52"/>
                </a:solidFill>
                <a:latin typeface="Calibri"/>
              </a:rPr>
              <a:t>DATE</a:t>
            </a:r>
          </a:p>
        </p:txBody>
      </p:sp>
      <p:sp>
        <p:nvSpPr>
          <p:cNvPr id="13" name="TextBox 12"/>
          <p:cNvSpPr txBox="1"/>
          <p:nvPr/>
        </p:nvSpPr>
        <p:spPr>
          <a:xfrm>
            <a:off x="4495800" y="1047750"/>
            <a:ext cx="438150" cy="171450"/>
          </a:xfrm>
          <a:prstGeom prst="rect">
            <a:avLst/>
          </a:prstGeom>
          <a:noFill/>
        </p:spPr>
        <p:txBody>
          <a:bodyPr wrap="none" lIns="0" rIns="0" tIns="0" bIns="0" anchor="t">
            <a:spAutoFit/>
          </a:bodyPr>
          <a:lstStyle/>
          <a:p>
            <a:pPr algn="l"/>
            <a:r>
              <a:rPr sz="1100" b="1">
                <a:solidFill>
                  <a:srgbClr val="0F2D52"/>
                </a:solidFill>
                <a:latin typeface="Calibri"/>
              </a:rPr>
              <a:t>TYPE</a:t>
            </a:r>
          </a:p>
        </p:txBody>
      </p:sp>
      <p:sp>
        <p:nvSpPr>
          <p:cNvPr id="14" name="TextBox 13"/>
          <p:cNvSpPr txBox="1"/>
          <p:nvPr/>
        </p:nvSpPr>
        <p:spPr>
          <a:xfrm>
            <a:off x="4972050" y="1047750"/>
            <a:ext cx="1200150" cy="171450"/>
          </a:xfrm>
          <a:prstGeom prst="rect">
            <a:avLst/>
          </a:prstGeom>
          <a:noFill/>
        </p:spPr>
        <p:txBody>
          <a:bodyPr wrap="square" lIns="28575" rIns="28575" tIns="9525" bIns="9525" anchor="t">
            <a:spAutoFit/>
          </a:bodyPr>
          <a:lstStyle/>
          <a:p>
            <a:pPr algn="l"/>
            <a:r>
              <a:rPr sz="1100" b="1">
                <a:solidFill>
                  <a:srgbClr val="0F2D52"/>
                </a:solidFill>
                <a:latin typeface="Calibri"/>
              </a:rPr>
              <a:t>SOURCE DEPT</a:t>
            </a:r>
          </a:p>
        </p:txBody>
      </p:sp>
      <p:sp>
        <p:nvSpPr>
          <p:cNvPr id="15" name="TextBox 14"/>
          <p:cNvSpPr txBox="1"/>
          <p:nvPr/>
        </p:nvSpPr>
        <p:spPr>
          <a:xfrm>
            <a:off x="6210300" y="1047750"/>
            <a:ext cx="914400" cy="171450"/>
          </a:xfrm>
          <a:prstGeom prst="rect">
            <a:avLst/>
          </a:prstGeom>
          <a:noFill/>
        </p:spPr>
        <p:txBody>
          <a:bodyPr wrap="square" lIns="28575" rIns="28575" tIns="9525" bIns="9525" anchor="t">
            <a:spAutoFit/>
          </a:bodyPr>
          <a:lstStyle/>
          <a:p>
            <a:pPr algn="l"/>
            <a:r>
              <a:rPr sz="1100" b="1">
                <a:solidFill>
                  <a:srgbClr val="0F2D52"/>
                </a:solidFill>
                <a:latin typeface="Calibri"/>
              </a:rPr>
              <a:t>EVIDENCE</a:t>
            </a:r>
          </a:p>
        </p:txBody>
      </p:sp>
      <p:sp>
        <p:nvSpPr>
          <p:cNvPr id="16" name="TextBox 15"/>
          <p:cNvSpPr txBox="1"/>
          <p:nvPr/>
        </p:nvSpPr>
        <p:spPr>
          <a:xfrm>
            <a:off x="7162800" y="1047750"/>
            <a:ext cx="2152650" cy="171450"/>
          </a:xfrm>
          <a:prstGeom prst="rect">
            <a:avLst/>
          </a:prstGeom>
          <a:noFill/>
        </p:spPr>
        <p:txBody>
          <a:bodyPr wrap="square" lIns="28575" rIns="28575" tIns="9525" bIns="9525" anchor="t">
            <a:spAutoFit/>
          </a:bodyPr>
          <a:lstStyle/>
          <a:p>
            <a:pPr algn="l"/>
            <a:r>
              <a:rPr sz="1100" b="1">
                <a:solidFill>
                  <a:srgbClr val="0F2D52"/>
                </a:solidFill>
                <a:latin typeface="Calibri"/>
              </a:rPr>
              <a:t>SIGNAL (WHAT IT INDICATES)</a:t>
            </a:r>
          </a:p>
        </p:txBody>
      </p:sp>
      <p:sp>
        <p:nvSpPr>
          <p:cNvPr id="17" name="TextBox 16"/>
          <p:cNvSpPr txBox="1"/>
          <p:nvPr/>
        </p:nvSpPr>
        <p:spPr>
          <a:xfrm>
            <a:off x="9353550" y="1047750"/>
            <a:ext cx="2628900" cy="171450"/>
          </a:xfrm>
          <a:prstGeom prst="rect">
            <a:avLst/>
          </a:prstGeom>
          <a:noFill/>
        </p:spPr>
        <p:txBody>
          <a:bodyPr wrap="square" lIns="28575" rIns="28575" tIns="9525" bIns="9525" anchor="t">
            <a:spAutoFit/>
          </a:bodyPr>
          <a:lstStyle/>
          <a:p>
            <a:pPr algn="l"/>
            <a:r>
              <a:rPr sz="1100" b="1">
                <a:solidFill>
                  <a:srgbClr val="0F2D52"/>
                </a:solidFill>
                <a:latin typeface="Calibri"/>
              </a:rPr>
              <a:t>WHO SHOULD ACT</a:t>
            </a:r>
          </a:p>
        </p:txBody>
      </p:sp>
      <p:cxnSp>
        <p:nvCxnSpPr>
          <p:cNvPr id="18" name="Connector 17"/>
          <p:cNvCxnSpPr/>
          <p:nvPr/>
        </p:nvCxnSpPr>
        <p:spPr>
          <a:xfrm>
            <a:off x="190500" y="12382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90500" y="12954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6700" y="12858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Prestige Consumer Healthcare</a:t>
            </a:r>
          </a:p>
        </p:txBody>
      </p:sp>
      <p:sp>
        <p:nvSpPr>
          <p:cNvPr id="21" name="TextBox 20"/>
          <p:cNvSpPr txBox="1"/>
          <p:nvPr/>
        </p:nvSpPr>
        <p:spPr>
          <a:xfrm>
            <a:off x="1543050" y="12858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22" name="TextBox 21"/>
          <p:cNvSpPr txBox="1"/>
          <p:nvPr/>
        </p:nvSpPr>
        <p:spPr>
          <a:xfrm>
            <a:off x="3924300" y="12858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23" name="Rectangle 22"/>
          <p:cNvSpPr/>
          <p:nvPr/>
        </p:nvSpPr>
        <p:spPr>
          <a:xfrm>
            <a:off x="4514850" y="13144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14850" y="13144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25" name="TextBox 24"/>
          <p:cNvSpPr txBox="1"/>
          <p:nvPr/>
        </p:nvSpPr>
        <p:spPr>
          <a:xfrm>
            <a:off x="4972050" y="12858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26" name="TextBox 25"/>
          <p:cNvSpPr txBox="1"/>
          <p:nvPr/>
        </p:nvSpPr>
        <p:spPr>
          <a:xfrm>
            <a:off x="6210300" y="12858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27" name="TextBox 26"/>
          <p:cNvSpPr txBox="1"/>
          <p:nvPr/>
        </p:nvSpPr>
        <p:spPr>
          <a:xfrm>
            <a:off x="7162800" y="12858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28" name="TextBox 27"/>
          <p:cNvSpPr txBox="1"/>
          <p:nvPr/>
        </p:nvSpPr>
        <p:spPr>
          <a:xfrm>
            <a:off x="9353550" y="12858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29" name="Connector 28"/>
          <p:cNvCxnSpPr/>
          <p:nvPr/>
        </p:nvCxnSpPr>
        <p:spPr>
          <a:xfrm>
            <a:off x="190500" y="17526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90500" y="17907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6700" y="17811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Diomed Group</a:t>
            </a:r>
          </a:p>
        </p:txBody>
      </p:sp>
      <p:sp>
        <p:nvSpPr>
          <p:cNvPr id="32" name="TextBox 31"/>
          <p:cNvSpPr txBox="1"/>
          <p:nvPr/>
        </p:nvSpPr>
        <p:spPr>
          <a:xfrm>
            <a:off x="1543050" y="17811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Irrigation Devices and Accessories</a:t>
            </a:r>
          </a:p>
        </p:txBody>
      </p:sp>
      <p:sp>
        <p:nvSpPr>
          <p:cNvPr id="33" name="TextBox 32"/>
          <p:cNvSpPr txBox="1"/>
          <p:nvPr/>
        </p:nvSpPr>
        <p:spPr>
          <a:xfrm>
            <a:off x="3924300" y="17811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34" name="Rectangle 33"/>
          <p:cNvSpPr/>
          <p:nvPr/>
        </p:nvSpPr>
        <p:spPr>
          <a:xfrm>
            <a:off x="4514850" y="18097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14850" y="18097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36" name="TextBox 35"/>
          <p:cNvSpPr txBox="1"/>
          <p:nvPr/>
        </p:nvSpPr>
        <p:spPr>
          <a:xfrm>
            <a:off x="4972050" y="17811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37" name="TextBox 36"/>
          <p:cNvSpPr txBox="1"/>
          <p:nvPr/>
        </p:nvSpPr>
        <p:spPr>
          <a:xfrm>
            <a:off x="6210300" y="17811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38" name="TextBox 37"/>
          <p:cNvSpPr txBox="1"/>
          <p:nvPr/>
        </p:nvSpPr>
        <p:spPr>
          <a:xfrm>
            <a:off x="7162800" y="17811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39" name="TextBox 38"/>
          <p:cNvSpPr txBox="1"/>
          <p:nvPr/>
        </p:nvSpPr>
        <p:spPr>
          <a:xfrm>
            <a:off x="9353550" y="17811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40" name="Connector 39"/>
          <p:cNvCxnSpPr/>
          <p:nvPr/>
        </p:nvCxnSpPr>
        <p:spPr>
          <a:xfrm>
            <a:off x="190500" y="22479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90500" y="22860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6700" y="22764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NeilMed Pharmaceuticals</a:t>
            </a:r>
          </a:p>
        </p:txBody>
      </p:sp>
      <p:sp>
        <p:nvSpPr>
          <p:cNvPr id="43" name="TextBox 42"/>
          <p:cNvSpPr txBox="1"/>
          <p:nvPr/>
        </p:nvSpPr>
        <p:spPr>
          <a:xfrm>
            <a:off x="1543050" y="22764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44" name="TextBox 43"/>
          <p:cNvSpPr txBox="1"/>
          <p:nvPr/>
        </p:nvSpPr>
        <p:spPr>
          <a:xfrm>
            <a:off x="3924300" y="22764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45" name="Rectangle 44"/>
          <p:cNvSpPr/>
          <p:nvPr/>
        </p:nvSpPr>
        <p:spPr>
          <a:xfrm>
            <a:off x="4514850" y="23050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14850" y="23050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47" name="TextBox 46"/>
          <p:cNvSpPr txBox="1"/>
          <p:nvPr/>
        </p:nvSpPr>
        <p:spPr>
          <a:xfrm>
            <a:off x="4972050" y="22764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48" name="TextBox 47"/>
          <p:cNvSpPr txBox="1"/>
          <p:nvPr/>
        </p:nvSpPr>
        <p:spPr>
          <a:xfrm>
            <a:off x="6210300" y="22764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49" name="TextBox 48"/>
          <p:cNvSpPr txBox="1"/>
          <p:nvPr/>
        </p:nvSpPr>
        <p:spPr>
          <a:xfrm>
            <a:off x="7162800" y="22764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50" name="TextBox 49"/>
          <p:cNvSpPr txBox="1"/>
          <p:nvPr/>
        </p:nvSpPr>
        <p:spPr>
          <a:xfrm>
            <a:off x="9353550" y="22764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51" name="Connector 50"/>
          <p:cNvCxnSpPr/>
          <p:nvPr/>
        </p:nvCxnSpPr>
        <p:spPr>
          <a:xfrm>
            <a:off x="190500" y="27432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90500" y="27813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66700" y="27717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Quest Products</a:t>
            </a:r>
          </a:p>
        </p:txBody>
      </p:sp>
      <p:sp>
        <p:nvSpPr>
          <p:cNvPr id="54" name="TextBox 53"/>
          <p:cNvSpPr txBox="1"/>
          <p:nvPr/>
        </p:nvSpPr>
        <p:spPr>
          <a:xfrm>
            <a:off x="1543050" y="27717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Ear Drops</a:t>
            </a:r>
          </a:p>
        </p:txBody>
      </p:sp>
      <p:sp>
        <p:nvSpPr>
          <p:cNvPr id="55" name="TextBox 54"/>
          <p:cNvSpPr txBox="1"/>
          <p:nvPr/>
        </p:nvSpPr>
        <p:spPr>
          <a:xfrm>
            <a:off x="3924300" y="27717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56" name="Rectangle 55"/>
          <p:cNvSpPr/>
          <p:nvPr/>
        </p:nvSpPr>
        <p:spPr>
          <a:xfrm>
            <a:off x="4514850" y="28003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14850" y="28003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58" name="TextBox 57"/>
          <p:cNvSpPr txBox="1"/>
          <p:nvPr/>
        </p:nvSpPr>
        <p:spPr>
          <a:xfrm>
            <a:off x="4972050" y="27717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59" name="TextBox 58"/>
          <p:cNvSpPr txBox="1"/>
          <p:nvPr/>
        </p:nvSpPr>
        <p:spPr>
          <a:xfrm>
            <a:off x="6210300" y="27717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60" name="TextBox 59"/>
          <p:cNvSpPr txBox="1"/>
          <p:nvPr/>
        </p:nvSpPr>
        <p:spPr>
          <a:xfrm>
            <a:off x="7162800" y="27717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61" name="TextBox 60"/>
          <p:cNvSpPr txBox="1"/>
          <p:nvPr/>
        </p:nvSpPr>
        <p:spPr>
          <a:xfrm>
            <a:off x="9353550" y="27717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62" name="Connector 61"/>
          <p:cNvCxnSpPr/>
          <p:nvPr/>
        </p:nvCxnSpPr>
        <p:spPr>
          <a:xfrm>
            <a:off x="190500" y="32385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90500" y="32766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66700" y="32670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Eosera</a:t>
            </a:r>
          </a:p>
        </p:txBody>
      </p:sp>
      <p:sp>
        <p:nvSpPr>
          <p:cNvPr id="65" name="TextBox 64"/>
          <p:cNvSpPr txBox="1"/>
          <p:nvPr/>
        </p:nvSpPr>
        <p:spPr>
          <a:xfrm>
            <a:off x="1543050" y="32670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Latin America</a:t>
            </a:r>
          </a:p>
        </p:txBody>
      </p:sp>
      <p:sp>
        <p:nvSpPr>
          <p:cNvPr id="66" name="TextBox 65"/>
          <p:cNvSpPr txBox="1"/>
          <p:nvPr/>
        </p:nvSpPr>
        <p:spPr>
          <a:xfrm>
            <a:off x="3924300" y="32670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67" name="Rectangle 66"/>
          <p:cNvSpPr/>
          <p:nvPr/>
        </p:nvSpPr>
        <p:spPr>
          <a:xfrm>
            <a:off x="4514850" y="32956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14850" y="32956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69" name="TextBox 68"/>
          <p:cNvSpPr txBox="1"/>
          <p:nvPr/>
        </p:nvSpPr>
        <p:spPr>
          <a:xfrm>
            <a:off x="4972050" y="32670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70" name="TextBox 69"/>
          <p:cNvSpPr txBox="1"/>
          <p:nvPr/>
        </p:nvSpPr>
        <p:spPr>
          <a:xfrm>
            <a:off x="6210300" y="32670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71" name="TextBox 70"/>
          <p:cNvSpPr txBox="1"/>
          <p:nvPr/>
        </p:nvSpPr>
        <p:spPr>
          <a:xfrm>
            <a:off x="7162800" y="32670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72" name="TextBox 71"/>
          <p:cNvSpPr txBox="1"/>
          <p:nvPr/>
        </p:nvSpPr>
        <p:spPr>
          <a:xfrm>
            <a:off x="9353550" y="32670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73" name="Connector 72"/>
          <p:cNvCxnSpPr/>
          <p:nvPr/>
        </p:nvCxnSpPr>
        <p:spPr>
          <a:xfrm>
            <a:off x="190500" y="37338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190500" y="37719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66700" y="37623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Coopération Pharmaceutique Française</a:t>
            </a:r>
          </a:p>
        </p:txBody>
      </p:sp>
      <p:sp>
        <p:nvSpPr>
          <p:cNvPr id="76" name="TextBox 75"/>
          <p:cNvSpPr txBox="1"/>
          <p:nvPr/>
        </p:nvSpPr>
        <p:spPr>
          <a:xfrm>
            <a:off x="1543050" y="37623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Irrigation Devices and Accessories</a:t>
            </a:r>
          </a:p>
        </p:txBody>
      </p:sp>
      <p:sp>
        <p:nvSpPr>
          <p:cNvPr id="77" name="TextBox 76"/>
          <p:cNvSpPr txBox="1"/>
          <p:nvPr/>
        </p:nvSpPr>
        <p:spPr>
          <a:xfrm>
            <a:off x="3924300" y="37623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78" name="Rectangle 77"/>
          <p:cNvSpPr/>
          <p:nvPr/>
        </p:nvSpPr>
        <p:spPr>
          <a:xfrm>
            <a:off x="4514850" y="37909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514850" y="37909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80" name="TextBox 79"/>
          <p:cNvSpPr txBox="1"/>
          <p:nvPr/>
        </p:nvSpPr>
        <p:spPr>
          <a:xfrm>
            <a:off x="4972050" y="37623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81" name="TextBox 80"/>
          <p:cNvSpPr txBox="1"/>
          <p:nvPr/>
        </p:nvSpPr>
        <p:spPr>
          <a:xfrm>
            <a:off x="6210300" y="37623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82" name="TextBox 81"/>
          <p:cNvSpPr txBox="1"/>
          <p:nvPr/>
        </p:nvSpPr>
        <p:spPr>
          <a:xfrm>
            <a:off x="7162800" y="37623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83" name="TextBox 82"/>
          <p:cNvSpPr txBox="1"/>
          <p:nvPr/>
        </p:nvSpPr>
        <p:spPr>
          <a:xfrm>
            <a:off x="9353550" y="37623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84" name="Connector 83"/>
          <p:cNvCxnSpPr/>
          <p:nvPr/>
        </p:nvCxnSpPr>
        <p:spPr>
          <a:xfrm>
            <a:off x="190500" y="42291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190500" y="42672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66700" y="42576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Orion Pharma</a:t>
            </a:r>
          </a:p>
        </p:txBody>
      </p:sp>
      <p:sp>
        <p:nvSpPr>
          <p:cNvPr id="87" name="TextBox 86"/>
          <p:cNvSpPr txBox="1"/>
          <p:nvPr/>
        </p:nvSpPr>
        <p:spPr>
          <a:xfrm>
            <a:off x="1543050" y="42576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88" name="TextBox 87"/>
          <p:cNvSpPr txBox="1"/>
          <p:nvPr/>
        </p:nvSpPr>
        <p:spPr>
          <a:xfrm>
            <a:off x="3924300" y="42576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89" name="Rectangle 88"/>
          <p:cNvSpPr/>
          <p:nvPr/>
        </p:nvSpPr>
        <p:spPr>
          <a:xfrm>
            <a:off x="4514850" y="42862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14850" y="42862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91" name="TextBox 90"/>
          <p:cNvSpPr txBox="1"/>
          <p:nvPr/>
        </p:nvSpPr>
        <p:spPr>
          <a:xfrm>
            <a:off x="4972050" y="42576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92" name="TextBox 91"/>
          <p:cNvSpPr txBox="1"/>
          <p:nvPr/>
        </p:nvSpPr>
        <p:spPr>
          <a:xfrm>
            <a:off x="6210300" y="42576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93" name="TextBox 92"/>
          <p:cNvSpPr txBox="1"/>
          <p:nvPr/>
        </p:nvSpPr>
        <p:spPr>
          <a:xfrm>
            <a:off x="7162800" y="42576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94" name="TextBox 93"/>
          <p:cNvSpPr txBox="1"/>
          <p:nvPr/>
        </p:nvSpPr>
        <p:spPr>
          <a:xfrm>
            <a:off x="9353550" y="42576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95" name="Connector 94"/>
          <p:cNvCxnSpPr/>
          <p:nvPr/>
        </p:nvCxnSpPr>
        <p:spPr>
          <a:xfrm>
            <a:off x="190500" y="47244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47625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66700" y="47529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Farmacia Nordic</a:t>
            </a:r>
          </a:p>
        </p:txBody>
      </p:sp>
      <p:sp>
        <p:nvSpPr>
          <p:cNvPr id="98" name="TextBox 97"/>
          <p:cNvSpPr txBox="1"/>
          <p:nvPr/>
        </p:nvSpPr>
        <p:spPr>
          <a:xfrm>
            <a:off x="1543050" y="47529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Ear Drops</a:t>
            </a:r>
          </a:p>
        </p:txBody>
      </p:sp>
      <p:sp>
        <p:nvSpPr>
          <p:cNvPr id="99" name="TextBox 98"/>
          <p:cNvSpPr txBox="1"/>
          <p:nvPr/>
        </p:nvSpPr>
        <p:spPr>
          <a:xfrm>
            <a:off x="3924300" y="47529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00" name="Rectangle 99"/>
          <p:cNvSpPr/>
          <p:nvPr/>
        </p:nvSpPr>
        <p:spPr>
          <a:xfrm>
            <a:off x="4514850" y="47815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514850" y="47815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02" name="TextBox 101"/>
          <p:cNvSpPr txBox="1"/>
          <p:nvPr/>
        </p:nvSpPr>
        <p:spPr>
          <a:xfrm>
            <a:off x="4972050" y="47529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03" name="TextBox 102"/>
          <p:cNvSpPr txBox="1"/>
          <p:nvPr/>
        </p:nvSpPr>
        <p:spPr>
          <a:xfrm>
            <a:off x="6210300" y="47529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04" name="TextBox 103"/>
          <p:cNvSpPr txBox="1"/>
          <p:nvPr/>
        </p:nvSpPr>
        <p:spPr>
          <a:xfrm>
            <a:off x="7162800" y="47529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05" name="TextBox 104"/>
          <p:cNvSpPr txBox="1"/>
          <p:nvPr/>
        </p:nvSpPr>
        <p:spPr>
          <a:xfrm>
            <a:off x="9353550" y="47529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06" name="Connector 105"/>
          <p:cNvCxnSpPr/>
          <p:nvPr/>
        </p:nvCxnSpPr>
        <p:spPr>
          <a:xfrm>
            <a:off x="190500" y="52197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190500" y="52578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66700" y="52482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Key Pharmaceuticals</a:t>
            </a:r>
          </a:p>
        </p:txBody>
      </p:sp>
      <p:sp>
        <p:nvSpPr>
          <p:cNvPr id="109" name="TextBox 108"/>
          <p:cNvSpPr txBox="1"/>
          <p:nvPr/>
        </p:nvSpPr>
        <p:spPr>
          <a:xfrm>
            <a:off x="1543050" y="52482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110" name="TextBox 109"/>
          <p:cNvSpPr txBox="1"/>
          <p:nvPr/>
        </p:nvSpPr>
        <p:spPr>
          <a:xfrm>
            <a:off x="3924300" y="52482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11" name="Rectangle 110"/>
          <p:cNvSpPr/>
          <p:nvPr/>
        </p:nvSpPr>
        <p:spPr>
          <a:xfrm>
            <a:off x="4514850" y="52768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4514850" y="52768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13" name="TextBox 112"/>
          <p:cNvSpPr txBox="1"/>
          <p:nvPr/>
        </p:nvSpPr>
        <p:spPr>
          <a:xfrm>
            <a:off x="4972050" y="52482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114" name="TextBox 113"/>
          <p:cNvSpPr txBox="1"/>
          <p:nvPr/>
        </p:nvSpPr>
        <p:spPr>
          <a:xfrm>
            <a:off x="6210300" y="52482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15" name="TextBox 114"/>
          <p:cNvSpPr txBox="1"/>
          <p:nvPr/>
        </p:nvSpPr>
        <p:spPr>
          <a:xfrm>
            <a:off x="7162800" y="52482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116" name="TextBox 115"/>
          <p:cNvSpPr txBox="1"/>
          <p:nvPr/>
        </p:nvSpPr>
        <p:spPr>
          <a:xfrm>
            <a:off x="9353550" y="52482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117" name="Connector 116"/>
          <p:cNvCxnSpPr/>
          <p:nvPr/>
        </p:nvCxnSpPr>
        <p:spPr>
          <a:xfrm>
            <a:off x="190500" y="5715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8" name="Rectangle 117"/>
          <p:cNvSpPr/>
          <p:nvPr/>
        </p:nvSpPr>
        <p:spPr>
          <a:xfrm>
            <a:off x="190500" y="57531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66700" y="57435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Lanes Health</a:t>
            </a:r>
          </a:p>
        </p:txBody>
      </p:sp>
      <p:sp>
        <p:nvSpPr>
          <p:cNvPr id="120" name="TextBox 119"/>
          <p:cNvSpPr txBox="1"/>
          <p:nvPr/>
        </p:nvSpPr>
        <p:spPr>
          <a:xfrm>
            <a:off x="1543050" y="57435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Irrigation Devices and Accessories</a:t>
            </a:r>
          </a:p>
        </p:txBody>
      </p:sp>
      <p:sp>
        <p:nvSpPr>
          <p:cNvPr id="121" name="TextBox 120"/>
          <p:cNvSpPr txBox="1"/>
          <p:nvPr/>
        </p:nvSpPr>
        <p:spPr>
          <a:xfrm>
            <a:off x="3924300" y="57435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22" name="Rectangle 121"/>
          <p:cNvSpPr/>
          <p:nvPr/>
        </p:nvSpPr>
        <p:spPr>
          <a:xfrm>
            <a:off x="4514850" y="57721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4514850" y="57721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24" name="TextBox 123"/>
          <p:cNvSpPr txBox="1"/>
          <p:nvPr/>
        </p:nvSpPr>
        <p:spPr>
          <a:xfrm>
            <a:off x="4972050" y="57435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25" name="TextBox 124"/>
          <p:cNvSpPr txBox="1"/>
          <p:nvPr/>
        </p:nvSpPr>
        <p:spPr>
          <a:xfrm>
            <a:off x="6210300" y="57435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26" name="TextBox 125"/>
          <p:cNvSpPr txBox="1"/>
          <p:nvPr/>
        </p:nvSpPr>
        <p:spPr>
          <a:xfrm>
            <a:off x="7162800" y="57435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27" name="TextBox 126"/>
          <p:cNvSpPr txBox="1"/>
          <p:nvPr/>
        </p:nvSpPr>
        <p:spPr>
          <a:xfrm>
            <a:off x="9353550" y="57435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28" name="Connector 127"/>
          <p:cNvCxnSpPr/>
          <p:nvPr/>
        </p:nvCxnSpPr>
        <p:spPr>
          <a:xfrm>
            <a:off x="190500" y="621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9" name="Rectangle 128"/>
          <p:cNvSpPr/>
          <p:nvPr/>
        </p:nvSpPr>
        <p:spPr>
          <a:xfrm>
            <a:off x="190500" y="6276975"/>
            <a:ext cx="285750" cy="15240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9050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31" name="TextBox 130"/>
          <p:cNvSpPr txBox="1"/>
          <p:nvPr/>
        </p:nvSpPr>
        <p:spPr>
          <a:xfrm>
            <a:off x="51435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M&amp;A</a:t>
            </a:r>
          </a:p>
        </p:txBody>
      </p:sp>
      <p:sp>
        <p:nvSpPr>
          <p:cNvPr id="132" name="Rectangle 131"/>
          <p:cNvSpPr/>
          <p:nvPr/>
        </p:nvSpPr>
        <p:spPr>
          <a:xfrm>
            <a:off x="923925" y="6276975"/>
            <a:ext cx="285750" cy="1524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239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34" name="TextBox 133"/>
          <p:cNvSpPr txBox="1"/>
          <p:nvPr/>
        </p:nvSpPr>
        <p:spPr>
          <a:xfrm>
            <a:off x="12477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Product / portfolio</a:t>
            </a:r>
          </a:p>
        </p:txBody>
      </p:sp>
      <p:sp>
        <p:nvSpPr>
          <p:cNvPr id="135" name="Rectangle 134"/>
          <p:cNvSpPr/>
          <p:nvPr/>
        </p:nvSpPr>
        <p:spPr>
          <a:xfrm>
            <a:off x="2724150" y="6276975"/>
            <a:ext cx="285750" cy="152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7241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EX</a:t>
            </a:r>
          </a:p>
        </p:txBody>
      </p:sp>
      <p:sp>
        <p:nvSpPr>
          <p:cNvPr id="137" name="TextBox 136"/>
          <p:cNvSpPr txBox="1"/>
          <p:nvPr/>
        </p:nvSpPr>
        <p:spPr>
          <a:xfrm>
            <a:off x="30480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Expansion</a:t>
            </a:r>
          </a:p>
        </p:txBody>
      </p:sp>
      <p:sp>
        <p:nvSpPr>
          <p:cNvPr id="138" name="Rectangle 137"/>
          <p:cNvSpPr/>
          <p:nvPr/>
        </p:nvSpPr>
        <p:spPr>
          <a:xfrm>
            <a:off x="3857625" y="6276975"/>
            <a:ext cx="285750" cy="1524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38576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RD</a:t>
            </a:r>
          </a:p>
        </p:txBody>
      </p:sp>
      <p:sp>
        <p:nvSpPr>
          <p:cNvPr id="140" name="TextBox 139"/>
          <p:cNvSpPr txBox="1"/>
          <p:nvPr/>
        </p:nvSpPr>
        <p:spPr>
          <a:xfrm>
            <a:off x="41814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R&amp;D / technology</a:t>
            </a:r>
          </a:p>
        </p:txBody>
      </p:sp>
      <p:sp>
        <p:nvSpPr>
          <p:cNvPr id="141" name="Rectangle 140"/>
          <p:cNvSpPr/>
          <p:nvPr/>
        </p:nvSpPr>
        <p:spPr>
          <a:xfrm>
            <a:off x="5457825" y="6276975"/>
            <a:ext cx="285750" cy="152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54578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RG</a:t>
            </a:r>
          </a:p>
        </p:txBody>
      </p:sp>
      <p:sp>
        <p:nvSpPr>
          <p:cNvPr id="143" name="TextBox 142"/>
          <p:cNvSpPr txBox="1"/>
          <p:nvPr/>
        </p:nvSpPr>
        <p:spPr>
          <a:xfrm>
            <a:off x="57816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Regulation / compliance</a:t>
            </a:r>
          </a:p>
        </p:txBody>
      </p:sp>
      <p:sp>
        <p:nvSpPr>
          <p:cNvPr id="144" name="Rectangle 143"/>
          <p:cNvSpPr/>
          <p:nvPr/>
        </p:nvSpPr>
        <p:spPr>
          <a:xfrm>
            <a:off x="7524750" y="6276975"/>
            <a:ext cx="285750" cy="152400"/>
          </a:xfrm>
          <a:prstGeom prst="rect">
            <a:avLst/>
          </a:prstGeom>
          <a:solidFill>
            <a:srgbClr val="177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75247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CP</a:t>
            </a:r>
          </a:p>
        </p:txBody>
      </p:sp>
      <p:sp>
        <p:nvSpPr>
          <p:cNvPr id="146" name="TextBox 145"/>
          <p:cNvSpPr txBox="1"/>
          <p:nvPr/>
        </p:nvSpPr>
        <p:spPr>
          <a:xfrm>
            <a:off x="78486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Capital / funding</a:t>
            </a:r>
          </a:p>
        </p:txBody>
      </p:sp>
      <p:sp>
        <p:nvSpPr>
          <p:cNvPr id="147" name="TextBox 146"/>
          <p:cNvSpPr txBox="1"/>
          <p:nvPr/>
        </p:nvSpPr>
        <p:spPr>
          <a:xfrm>
            <a:off x="190500" y="6457950"/>
            <a:ext cx="11811000" cy="171450"/>
          </a:xfrm>
          <a:prstGeom prst="rect">
            <a:avLst/>
          </a:prstGeom>
          <a:noFill/>
        </p:spPr>
        <p:txBody>
          <a:bodyPr wrap="square" lIns="28575" rIns="28575" tIns="9525" bIns="9525" anchor="t">
            <a:spAutoFit/>
          </a:bodyPr>
          <a:lstStyle/>
          <a:p>
            <a:pPr algn="l"/>
            <a:r>
              <a:rPr sz="1100" b="0">
                <a:solidFill>
                  <a:srgbClr val="5F6B7A"/>
                </a:solidFill>
                <a:latin typeface="Calibri"/>
              </a:rPr>
              <a:t>Dates, deal values and evidence sources populate from the research feed; until then each row reads the player's most telling active strategy.</a:t>
            </a:r>
          </a:p>
        </p:txBody>
      </p:sp>
      <p:sp>
        <p:nvSpPr>
          <p:cNvPr id="148" name="TextBox 1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49" name="Picture 148" descr="lock.png"/>
          <p:cNvPicPr>
            <a:picLocks noChangeAspect="1"/>
          </p:cNvPicPr>
          <p:nvPr/>
        </p:nvPicPr>
        <p:blipFill>
          <a:blip r:embed="rId4"/>
          <a:stretch>
            <a:fillRect/>
          </a:stretch>
        </p:blipFill>
        <p:spPr>
          <a:xfrm>
            <a:off x="4126650" y="1278001"/>
            <a:ext cx="128699" cy="187198"/>
          </a:xfrm>
          <a:prstGeom prst="rect">
            <a:avLst/>
          </a:prstGeom>
        </p:spPr>
      </p:pic>
      <p:pic>
        <p:nvPicPr>
          <p:cNvPr id="150" name="Picture 149" descr="lock.png"/>
          <p:cNvPicPr>
            <a:picLocks noChangeAspect="1"/>
          </p:cNvPicPr>
          <p:nvPr/>
        </p:nvPicPr>
        <p:blipFill>
          <a:blip r:embed="rId4"/>
          <a:stretch>
            <a:fillRect/>
          </a:stretch>
        </p:blipFill>
        <p:spPr>
          <a:xfrm>
            <a:off x="4126650" y="1773301"/>
            <a:ext cx="128699" cy="187198"/>
          </a:xfrm>
          <a:prstGeom prst="rect">
            <a:avLst/>
          </a:prstGeom>
        </p:spPr>
      </p:pic>
      <p:pic>
        <p:nvPicPr>
          <p:cNvPr id="151" name="Picture 150" descr="lock.png"/>
          <p:cNvPicPr>
            <a:picLocks noChangeAspect="1"/>
          </p:cNvPicPr>
          <p:nvPr/>
        </p:nvPicPr>
        <p:blipFill>
          <a:blip r:embed="rId4"/>
          <a:stretch>
            <a:fillRect/>
          </a:stretch>
        </p:blipFill>
        <p:spPr>
          <a:xfrm>
            <a:off x="4126650" y="22686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126650" y="2763901"/>
            <a:ext cx="128699" cy="187198"/>
          </a:xfrm>
          <a:prstGeom prst="rect">
            <a:avLst/>
          </a:prstGeom>
        </p:spPr>
      </p:pic>
      <p:pic>
        <p:nvPicPr>
          <p:cNvPr id="153" name="Picture 152" descr="lock.png"/>
          <p:cNvPicPr>
            <a:picLocks noChangeAspect="1"/>
          </p:cNvPicPr>
          <p:nvPr/>
        </p:nvPicPr>
        <p:blipFill>
          <a:blip r:embed="rId4"/>
          <a:stretch>
            <a:fillRect/>
          </a:stretch>
        </p:blipFill>
        <p:spPr>
          <a:xfrm>
            <a:off x="4126650" y="3259201"/>
            <a:ext cx="128699" cy="187198"/>
          </a:xfrm>
          <a:prstGeom prst="rect">
            <a:avLst/>
          </a:prstGeom>
        </p:spPr>
      </p:pic>
      <p:pic>
        <p:nvPicPr>
          <p:cNvPr id="154" name="Picture 153" descr="lock.png"/>
          <p:cNvPicPr>
            <a:picLocks noChangeAspect="1"/>
          </p:cNvPicPr>
          <p:nvPr/>
        </p:nvPicPr>
        <p:blipFill>
          <a:blip r:embed="rId4"/>
          <a:stretch>
            <a:fillRect/>
          </a:stretch>
        </p:blipFill>
        <p:spPr>
          <a:xfrm>
            <a:off x="4126650" y="3754501"/>
            <a:ext cx="128699" cy="187198"/>
          </a:xfrm>
          <a:prstGeom prst="rect">
            <a:avLst/>
          </a:prstGeom>
        </p:spPr>
      </p:pic>
      <p:pic>
        <p:nvPicPr>
          <p:cNvPr id="155" name="Picture 154" descr="lock.png"/>
          <p:cNvPicPr>
            <a:picLocks noChangeAspect="1"/>
          </p:cNvPicPr>
          <p:nvPr/>
        </p:nvPicPr>
        <p:blipFill>
          <a:blip r:embed="rId4"/>
          <a:stretch>
            <a:fillRect/>
          </a:stretch>
        </p:blipFill>
        <p:spPr>
          <a:xfrm>
            <a:off x="4126650" y="4249801"/>
            <a:ext cx="128699" cy="187198"/>
          </a:xfrm>
          <a:prstGeom prst="rect">
            <a:avLst/>
          </a:prstGeom>
        </p:spPr>
      </p:pic>
      <p:pic>
        <p:nvPicPr>
          <p:cNvPr id="156" name="Picture 155" descr="lock.png"/>
          <p:cNvPicPr>
            <a:picLocks noChangeAspect="1"/>
          </p:cNvPicPr>
          <p:nvPr/>
        </p:nvPicPr>
        <p:blipFill>
          <a:blip r:embed="rId4"/>
          <a:stretch>
            <a:fillRect/>
          </a:stretch>
        </p:blipFill>
        <p:spPr>
          <a:xfrm>
            <a:off x="4126650" y="4745101"/>
            <a:ext cx="128699" cy="187198"/>
          </a:xfrm>
          <a:prstGeom prst="rect">
            <a:avLst/>
          </a:prstGeom>
        </p:spPr>
      </p:pic>
      <p:pic>
        <p:nvPicPr>
          <p:cNvPr id="157" name="Picture 156" descr="lock.png"/>
          <p:cNvPicPr>
            <a:picLocks noChangeAspect="1"/>
          </p:cNvPicPr>
          <p:nvPr/>
        </p:nvPicPr>
        <p:blipFill>
          <a:blip r:embed="rId4"/>
          <a:stretch>
            <a:fillRect/>
          </a:stretch>
        </p:blipFill>
        <p:spPr>
          <a:xfrm>
            <a:off x="4126650" y="5240401"/>
            <a:ext cx="128699" cy="187198"/>
          </a:xfrm>
          <a:prstGeom prst="rect">
            <a:avLst/>
          </a:prstGeom>
        </p:spPr>
      </p:pic>
      <p:pic>
        <p:nvPicPr>
          <p:cNvPr id="158" name="Picture 157" descr="lock.png"/>
          <p:cNvPicPr>
            <a:picLocks noChangeAspect="1"/>
          </p:cNvPicPr>
          <p:nvPr/>
        </p:nvPicPr>
        <p:blipFill>
          <a:blip r:embed="rId4"/>
          <a:stretch>
            <a:fillRect/>
          </a:stretch>
        </p:blipFill>
        <p:spPr>
          <a:xfrm>
            <a:off x="4126650" y="5735701"/>
            <a:ext cx="128699" cy="187198"/>
          </a:xfrm>
          <a:prstGeom prst="rect">
            <a:avLst/>
          </a:prstGeom>
        </p:spPr>
      </p:pic>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Strategic Activity by Function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Where competitor activity concentrates by type and department, and what it means for each function</a:t>
            </a:r>
          </a:p>
        </p:txBody>
      </p:sp>
      <p:sp>
        <p:nvSpPr>
          <p:cNvPr id="10" name="Rectangle 9"/>
          <p:cNvSpPr/>
          <p:nvPr/>
        </p:nvSpPr>
        <p:spPr>
          <a:xfrm>
            <a:off x="190500" y="16383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5750" y="16002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Prestige Consumer Healthcare</a:t>
            </a:r>
          </a:p>
        </p:txBody>
      </p:sp>
      <p:sp>
        <p:nvSpPr>
          <p:cNvPr id="12" name="Rectangle 11"/>
          <p:cNvSpPr/>
          <p:nvPr/>
        </p:nvSpPr>
        <p:spPr>
          <a:xfrm>
            <a:off x="190500" y="18859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750" y="18478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Diomed Group</a:t>
            </a:r>
          </a:p>
        </p:txBody>
      </p:sp>
      <p:sp>
        <p:nvSpPr>
          <p:cNvPr id="14" name="Rectangle 13"/>
          <p:cNvSpPr/>
          <p:nvPr/>
        </p:nvSpPr>
        <p:spPr>
          <a:xfrm>
            <a:off x="190500" y="21336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5750" y="20955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NeilMed Pharmaceuticals</a:t>
            </a:r>
          </a:p>
        </p:txBody>
      </p:sp>
      <p:sp>
        <p:nvSpPr>
          <p:cNvPr id="16" name="Rectangle 15"/>
          <p:cNvSpPr/>
          <p:nvPr/>
        </p:nvSpPr>
        <p:spPr>
          <a:xfrm>
            <a:off x="190500" y="23812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5750" y="23431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Quest Products</a:t>
            </a:r>
          </a:p>
        </p:txBody>
      </p:sp>
      <p:sp>
        <p:nvSpPr>
          <p:cNvPr id="18" name="Rectangle 17"/>
          <p:cNvSpPr/>
          <p:nvPr/>
        </p:nvSpPr>
        <p:spPr>
          <a:xfrm>
            <a:off x="190500" y="262890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5750" y="25908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Eosera</a:t>
            </a:r>
          </a:p>
        </p:txBody>
      </p:sp>
      <p:sp>
        <p:nvSpPr>
          <p:cNvPr id="20" name="Rectangle 19"/>
          <p:cNvSpPr/>
          <p:nvPr/>
        </p:nvSpPr>
        <p:spPr>
          <a:xfrm>
            <a:off x="190500" y="287655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5750" y="28384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Coopération Pharmaceutique Française</a:t>
            </a:r>
          </a:p>
        </p:txBody>
      </p:sp>
      <p:sp>
        <p:nvSpPr>
          <p:cNvPr id="22" name="Rectangle 21"/>
          <p:cNvSpPr/>
          <p:nvPr/>
        </p:nvSpPr>
        <p:spPr>
          <a:xfrm>
            <a:off x="190500" y="31242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5750" y="30861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Orion Pharma</a:t>
            </a:r>
          </a:p>
        </p:txBody>
      </p:sp>
      <p:sp>
        <p:nvSpPr>
          <p:cNvPr id="24" name="Rectangle 23"/>
          <p:cNvSpPr/>
          <p:nvPr/>
        </p:nvSpPr>
        <p:spPr>
          <a:xfrm>
            <a:off x="190500" y="33718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5750" y="33337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Farmacia Nordic</a:t>
            </a:r>
          </a:p>
        </p:txBody>
      </p:sp>
      <p:sp>
        <p:nvSpPr>
          <p:cNvPr id="26" name="Rectangle 25"/>
          <p:cNvSpPr/>
          <p:nvPr/>
        </p:nvSpPr>
        <p:spPr>
          <a:xfrm>
            <a:off x="190500" y="36195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35814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Key Pharmaceuticals</a:t>
            </a:r>
          </a:p>
        </p:txBody>
      </p:sp>
      <p:sp>
        <p:nvSpPr>
          <p:cNvPr id="28" name="Rectangle 27"/>
          <p:cNvSpPr/>
          <p:nvPr/>
        </p:nvSpPr>
        <p:spPr>
          <a:xfrm>
            <a:off x="190500" y="38671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5750" y="38290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Lanes Health</a:t>
            </a:r>
          </a:p>
        </p:txBody>
      </p:sp>
      <p:sp>
        <p:nvSpPr>
          <p:cNvPr id="30" name="TextBox 29"/>
          <p:cNvSpPr txBox="1"/>
          <p:nvPr/>
        </p:nvSpPr>
        <p:spPr>
          <a:xfrm>
            <a:off x="1714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Moves by type (count)</a:t>
            </a:r>
          </a:p>
        </p:txBody>
      </p:sp>
      <p:sp>
        <p:nvSpPr>
          <p:cNvPr id="31" name="TextBox 30"/>
          <p:cNvSpPr txBox="1"/>
          <p:nvPr/>
        </p:nvSpPr>
        <p:spPr>
          <a:xfrm>
            <a:off x="1714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MA</a:t>
            </a:r>
          </a:p>
        </p:txBody>
      </p:sp>
      <p:sp>
        <p:nvSpPr>
          <p:cNvPr id="32" name="TextBox 31"/>
          <p:cNvSpPr txBox="1"/>
          <p:nvPr/>
        </p:nvSpPr>
        <p:spPr>
          <a:xfrm>
            <a:off x="2264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PR</a:t>
            </a:r>
          </a:p>
        </p:txBody>
      </p:sp>
      <p:sp>
        <p:nvSpPr>
          <p:cNvPr id="33" name="TextBox 32"/>
          <p:cNvSpPr txBox="1"/>
          <p:nvPr/>
        </p:nvSpPr>
        <p:spPr>
          <a:xfrm>
            <a:off x="2815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EX</a:t>
            </a:r>
          </a:p>
        </p:txBody>
      </p:sp>
      <p:sp>
        <p:nvSpPr>
          <p:cNvPr id="34" name="TextBox 33"/>
          <p:cNvSpPr txBox="1"/>
          <p:nvPr/>
        </p:nvSpPr>
        <p:spPr>
          <a:xfrm>
            <a:off x="3365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RD</a:t>
            </a:r>
          </a:p>
        </p:txBody>
      </p:sp>
      <p:sp>
        <p:nvSpPr>
          <p:cNvPr id="35" name="TextBox 34"/>
          <p:cNvSpPr txBox="1"/>
          <p:nvPr/>
        </p:nvSpPr>
        <p:spPr>
          <a:xfrm>
            <a:off x="3915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RG</a:t>
            </a:r>
          </a:p>
        </p:txBody>
      </p:sp>
      <p:sp>
        <p:nvSpPr>
          <p:cNvPr id="36" name="TextBox 35"/>
          <p:cNvSpPr txBox="1"/>
          <p:nvPr/>
        </p:nvSpPr>
        <p:spPr>
          <a:xfrm>
            <a:off x="4466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CP</a:t>
            </a:r>
          </a:p>
        </p:txBody>
      </p:sp>
      <p:sp>
        <p:nvSpPr>
          <p:cNvPr id="37" name="Rectangle 36"/>
          <p:cNvSpPr/>
          <p:nvPr/>
        </p:nvSpPr>
        <p:spPr>
          <a:xfrm>
            <a:off x="1724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714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9" name="Rectangle 38"/>
          <p:cNvSpPr/>
          <p:nvPr/>
        </p:nvSpPr>
        <p:spPr>
          <a:xfrm>
            <a:off x="2274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824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15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2" name="Rectangle 41"/>
          <p:cNvSpPr/>
          <p:nvPr/>
        </p:nvSpPr>
        <p:spPr>
          <a:xfrm>
            <a:off x="3375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65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4" name="Rectangle 43"/>
          <p:cNvSpPr/>
          <p:nvPr/>
        </p:nvSpPr>
        <p:spPr>
          <a:xfrm>
            <a:off x="3925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915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6" name="Rectangle 45"/>
          <p:cNvSpPr/>
          <p:nvPr/>
        </p:nvSpPr>
        <p:spPr>
          <a:xfrm>
            <a:off x="4475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66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8" name="Rectangle 47"/>
          <p:cNvSpPr/>
          <p:nvPr/>
        </p:nvSpPr>
        <p:spPr>
          <a:xfrm>
            <a:off x="1724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274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264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51" name="Rectangle 50"/>
          <p:cNvSpPr/>
          <p:nvPr/>
        </p:nvSpPr>
        <p:spPr>
          <a:xfrm>
            <a:off x="2824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815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3" name="Rectangle 52"/>
          <p:cNvSpPr/>
          <p:nvPr/>
        </p:nvSpPr>
        <p:spPr>
          <a:xfrm>
            <a:off x="3375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365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5" name="Rectangle 54"/>
          <p:cNvSpPr/>
          <p:nvPr/>
        </p:nvSpPr>
        <p:spPr>
          <a:xfrm>
            <a:off x="3925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475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466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8" name="Rectangle 57"/>
          <p:cNvSpPr/>
          <p:nvPr/>
        </p:nvSpPr>
        <p:spPr>
          <a:xfrm>
            <a:off x="1724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714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0" name="Rectangle 59"/>
          <p:cNvSpPr/>
          <p:nvPr/>
        </p:nvSpPr>
        <p:spPr>
          <a:xfrm>
            <a:off x="2274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824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815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3" name="Rectangle 62"/>
          <p:cNvSpPr/>
          <p:nvPr/>
        </p:nvSpPr>
        <p:spPr>
          <a:xfrm>
            <a:off x="3375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365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5" name="Rectangle 64"/>
          <p:cNvSpPr/>
          <p:nvPr/>
        </p:nvSpPr>
        <p:spPr>
          <a:xfrm>
            <a:off x="3925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915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7" name="Rectangle 66"/>
          <p:cNvSpPr/>
          <p:nvPr/>
        </p:nvSpPr>
        <p:spPr>
          <a:xfrm>
            <a:off x="4475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466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9" name="Rectangle 68"/>
          <p:cNvSpPr/>
          <p:nvPr/>
        </p:nvSpPr>
        <p:spPr>
          <a:xfrm>
            <a:off x="1724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2274358"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264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72" name="Rectangle 71"/>
          <p:cNvSpPr/>
          <p:nvPr/>
        </p:nvSpPr>
        <p:spPr>
          <a:xfrm>
            <a:off x="2824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815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4" name="Rectangle 73"/>
          <p:cNvSpPr/>
          <p:nvPr/>
        </p:nvSpPr>
        <p:spPr>
          <a:xfrm>
            <a:off x="3375025"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365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6" name="Rectangle 75"/>
          <p:cNvSpPr/>
          <p:nvPr/>
        </p:nvSpPr>
        <p:spPr>
          <a:xfrm>
            <a:off x="3925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4475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466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9" name="Rectangle 78"/>
          <p:cNvSpPr/>
          <p:nvPr/>
        </p:nvSpPr>
        <p:spPr>
          <a:xfrm>
            <a:off x="1724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714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1" name="Rectangle 80"/>
          <p:cNvSpPr/>
          <p:nvPr/>
        </p:nvSpPr>
        <p:spPr>
          <a:xfrm>
            <a:off x="2274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824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815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4" name="Rectangle 83"/>
          <p:cNvSpPr/>
          <p:nvPr/>
        </p:nvSpPr>
        <p:spPr>
          <a:xfrm>
            <a:off x="3375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365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6" name="Rectangle 85"/>
          <p:cNvSpPr/>
          <p:nvPr/>
        </p:nvSpPr>
        <p:spPr>
          <a:xfrm>
            <a:off x="3925358"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915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8" name="Rectangle 87"/>
          <p:cNvSpPr/>
          <p:nvPr/>
        </p:nvSpPr>
        <p:spPr>
          <a:xfrm>
            <a:off x="4475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466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0" name="Rectangle 89"/>
          <p:cNvSpPr/>
          <p:nvPr/>
        </p:nvSpPr>
        <p:spPr>
          <a:xfrm>
            <a:off x="1724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2274358"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264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93" name="Rectangle 92"/>
          <p:cNvSpPr/>
          <p:nvPr/>
        </p:nvSpPr>
        <p:spPr>
          <a:xfrm>
            <a:off x="2824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815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5" name="Rectangle 94"/>
          <p:cNvSpPr/>
          <p:nvPr/>
        </p:nvSpPr>
        <p:spPr>
          <a:xfrm>
            <a:off x="3375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365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7" name="Rectangle 96"/>
          <p:cNvSpPr/>
          <p:nvPr/>
        </p:nvSpPr>
        <p:spPr>
          <a:xfrm>
            <a:off x="3925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4475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466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0" name="Rectangle 99"/>
          <p:cNvSpPr/>
          <p:nvPr/>
        </p:nvSpPr>
        <p:spPr>
          <a:xfrm>
            <a:off x="1724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714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2" name="Rectangle 101"/>
          <p:cNvSpPr/>
          <p:nvPr/>
        </p:nvSpPr>
        <p:spPr>
          <a:xfrm>
            <a:off x="2274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2824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2815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5" name="Rectangle 104"/>
          <p:cNvSpPr/>
          <p:nvPr/>
        </p:nvSpPr>
        <p:spPr>
          <a:xfrm>
            <a:off x="3375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365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7" name="Rectangle 106"/>
          <p:cNvSpPr/>
          <p:nvPr/>
        </p:nvSpPr>
        <p:spPr>
          <a:xfrm>
            <a:off x="3925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915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9" name="Rectangle 108"/>
          <p:cNvSpPr/>
          <p:nvPr/>
        </p:nvSpPr>
        <p:spPr>
          <a:xfrm>
            <a:off x="4475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466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1" name="Rectangle 110"/>
          <p:cNvSpPr/>
          <p:nvPr/>
        </p:nvSpPr>
        <p:spPr>
          <a:xfrm>
            <a:off x="1724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2274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264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14" name="Rectangle 113"/>
          <p:cNvSpPr/>
          <p:nvPr/>
        </p:nvSpPr>
        <p:spPr>
          <a:xfrm>
            <a:off x="2824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815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6" name="Rectangle 115"/>
          <p:cNvSpPr/>
          <p:nvPr/>
        </p:nvSpPr>
        <p:spPr>
          <a:xfrm>
            <a:off x="3375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3365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8" name="Rectangle 117"/>
          <p:cNvSpPr/>
          <p:nvPr/>
        </p:nvSpPr>
        <p:spPr>
          <a:xfrm>
            <a:off x="3925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4475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466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1" name="Rectangle 120"/>
          <p:cNvSpPr/>
          <p:nvPr/>
        </p:nvSpPr>
        <p:spPr>
          <a:xfrm>
            <a:off x="1724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714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3" name="Rectangle 122"/>
          <p:cNvSpPr/>
          <p:nvPr/>
        </p:nvSpPr>
        <p:spPr>
          <a:xfrm>
            <a:off x="2274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2824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815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6" name="Rectangle 125"/>
          <p:cNvSpPr/>
          <p:nvPr/>
        </p:nvSpPr>
        <p:spPr>
          <a:xfrm>
            <a:off x="3375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365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8" name="Rectangle 127"/>
          <p:cNvSpPr/>
          <p:nvPr/>
        </p:nvSpPr>
        <p:spPr>
          <a:xfrm>
            <a:off x="3925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3915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0" name="Rectangle 129"/>
          <p:cNvSpPr/>
          <p:nvPr/>
        </p:nvSpPr>
        <p:spPr>
          <a:xfrm>
            <a:off x="4475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4466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2" name="Rectangle 131"/>
          <p:cNvSpPr/>
          <p:nvPr/>
        </p:nvSpPr>
        <p:spPr>
          <a:xfrm>
            <a:off x="1724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2274358"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2264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35" name="Rectangle 134"/>
          <p:cNvSpPr/>
          <p:nvPr/>
        </p:nvSpPr>
        <p:spPr>
          <a:xfrm>
            <a:off x="2824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815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7" name="Rectangle 136"/>
          <p:cNvSpPr/>
          <p:nvPr/>
        </p:nvSpPr>
        <p:spPr>
          <a:xfrm>
            <a:off x="3375025"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365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9" name="Rectangle 138"/>
          <p:cNvSpPr/>
          <p:nvPr/>
        </p:nvSpPr>
        <p:spPr>
          <a:xfrm>
            <a:off x="3925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4475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4466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42" name="TextBox 141"/>
          <p:cNvSpPr txBox="1"/>
          <p:nvPr/>
        </p:nvSpPr>
        <p:spPr>
          <a:xfrm>
            <a:off x="52070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department</a:t>
            </a:r>
          </a:p>
        </p:txBody>
      </p:sp>
      <p:sp>
        <p:nvSpPr>
          <p:cNvPr id="143" name="TextBox 142"/>
          <p:cNvSpPr txBox="1"/>
          <p:nvPr/>
        </p:nvSpPr>
        <p:spPr>
          <a:xfrm>
            <a:off x="5207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Product &amp; R&amp;D</a:t>
            </a:r>
          </a:p>
        </p:txBody>
      </p:sp>
      <p:sp>
        <p:nvSpPr>
          <p:cNvPr id="144" name="TextBox 143"/>
          <p:cNvSpPr txBox="1"/>
          <p:nvPr/>
        </p:nvSpPr>
        <p:spPr>
          <a:xfrm>
            <a:off x="6032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Corp. dev.</a:t>
            </a:r>
          </a:p>
        </p:txBody>
      </p:sp>
      <p:sp>
        <p:nvSpPr>
          <p:cNvPr id="145" name="TextBox 144"/>
          <p:cNvSpPr txBox="1"/>
          <p:nvPr/>
        </p:nvSpPr>
        <p:spPr>
          <a:xfrm>
            <a:off x="6858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Operations</a:t>
            </a:r>
          </a:p>
        </p:txBody>
      </p:sp>
      <p:sp>
        <p:nvSpPr>
          <p:cNvPr id="146" name="TextBox 145"/>
          <p:cNvSpPr txBox="1"/>
          <p:nvPr/>
        </p:nvSpPr>
        <p:spPr>
          <a:xfrm>
            <a:off x="7683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Legal &amp; reg.</a:t>
            </a:r>
          </a:p>
        </p:txBody>
      </p:sp>
      <p:sp>
        <p:nvSpPr>
          <p:cNvPr id="147" name="Rectangle 146"/>
          <p:cNvSpPr/>
          <p:nvPr/>
        </p:nvSpPr>
        <p:spPr>
          <a:xfrm>
            <a:off x="5216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207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9" name="Rectangle 148"/>
          <p:cNvSpPr/>
          <p:nvPr/>
        </p:nvSpPr>
        <p:spPr>
          <a:xfrm>
            <a:off x="6042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6032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1" name="Rectangle 150"/>
          <p:cNvSpPr/>
          <p:nvPr/>
        </p:nvSpPr>
        <p:spPr>
          <a:xfrm>
            <a:off x="6867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858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3" name="Rectangle 152"/>
          <p:cNvSpPr/>
          <p:nvPr/>
        </p:nvSpPr>
        <p:spPr>
          <a:xfrm>
            <a:off x="7693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7683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5" name="Rectangle 154"/>
          <p:cNvSpPr/>
          <p:nvPr/>
        </p:nvSpPr>
        <p:spPr>
          <a:xfrm>
            <a:off x="5216525" y="18573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5207000" y="18573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57" name="Rectangle 156"/>
          <p:cNvSpPr/>
          <p:nvPr/>
        </p:nvSpPr>
        <p:spPr>
          <a:xfrm>
            <a:off x="6042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6867525" y="18573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6858000" y="18573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0" name="Rectangle 159"/>
          <p:cNvSpPr/>
          <p:nvPr/>
        </p:nvSpPr>
        <p:spPr>
          <a:xfrm>
            <a:off x="7693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216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5207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3" name="Rectangle 162"/>
          <p:cNvSpPr/>
          <p:nvPr/>
        </p:nvSpPr>
        <p:spPr>
          <a:xfrm>
            <a:off x="6042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032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5" name="Rectangle 164"/>
          <p:cNvSpPr/>
          <p:nvPr/>
        </p:nvSpPr>
        <p:spPr>
          <a:xfrm>
            <a:off x="6867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6858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7" name="Rectangle 166"/>
          <p:cNvSpPr/>
          <p:nvPr/>
        </p:nvSpPr>
        <p:spPr>
          <a:xfrm>
            <a:off x="7693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7683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9" name="Rectangle 168"/>
          <p:cNvSpPr/>
          <p:nvPr/>
        </p:nvSpPr>
        <p:spPr>
          <a:xfrm>
            <a:off x="5216525" y="23526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5207000" y="23526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71" name="Rectangle 170"/>
          <p:cNvSpPr/>
          <p:nvPr/>
        </p:nvSpPr>
        <p:spPr>
          <a:xfrm>
            <a:off x="6042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6867525" y="23526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6858000" y="23526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4" name="Rectangle 173"/>
          <p:cNvSpPr/>
          <p:nvPr/>
        </p:nvSpPr>
        <p:spPr>
          <a:xfrm>
            <a:off x="7693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5216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5207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7" name="Rectangle 176"/>
          <p:cNvSpPr/>
          <p:nvPr/>
        </p:nvSpPr>
        <p:spPr>
          <a:xfrm>
            <a:off x="6042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032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9" name="Rectangle 178"/>
          <p:cNvSpPr/>
          <p:nvPr/>
        </p:nvSpPr>
        <p:spPr>
          <a:xfrm>
            <a:off x="6867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858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1" name="Rectangle 180"/>
          <p:cNvSpPr/>
          <p:nvPr/>
        </p:nvSpPr>
        <p:spPr>
          <a:xfrm>
            <a:off x="7693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683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3" name="Rectangle 182"/>
          <p:cNvSpPr/>
          <p:nvPr/>
        </p:nvSpPr>
        <p:spPr>
          <a:xfrm>
            <a:off x="5216525" y="28479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5207000" y="28479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85" name="Rectangle 184"/>
          <p:cNvSpPr/>
          <p:nvPr/>
        </p:nvSpPr>
        <p:spPr>
          <a:xfrm>
            <a:off x="6042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6867525" y="28479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6858000" y="28479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8" name="Rectangle 187"/>
          <p:cNvSpPr/>
          <p:nvPr/>
        </p:nvSpPr>
        <p:spPr>
          <a:xfrm>
            <a:off x="7693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5216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5207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1" name="Rectangle 190"/>
          <p:cNvSpPr/>
          <p:nvPr/>
        </p:nvSpPr>
        <p:spPr>
          <a:xfrm>
            <a:off x="6042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032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3" name="Rectangle 192"/>
          <p:cNvSpPr/>
          <p:nvPr/>
        </p:nvSpPr>
        <p:spPr>
          <a:xfrm>
            <a:off x="6867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6858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5" name="Rectangle 194"/>
          <p:cNvSpPr/>
          <p:nvPr/>
        </p:nvSpPr>
        <p:spPr>
          <a:xfrm>
            <a:off x="7693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7683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7" name="Rectangle 196"/>
          <p:cNvSpPr/>
          <p:nvPr/>
        </p:nvSpPr>
        <p:spPr>
          <a:xfrm>
            <a:off x="5216525" y="33432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5207000" y="33432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99" name="Rectangle 198"/>
          <p:cNvSpPr/>
          <p:nvPr/>
        </p:nvSpPr>
        <p:spPr>
          <a:xfrm>
            <a:off x="6042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6867525" y="33432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6858000" y="33432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2" name="Rectangle 201"/>
          <p:cNvSpPr/>
          <p:nvPr/>
        </p:nvSpPr>
        <p:spPr>
          <a:xfrm>
            <a:off x="7693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5216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5207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5" name="Rectangle 204"/>
          <p:cNvSpPr/>
          <p:nvPr/>
        </p:nvSpPr>
        <p:spPr>
          <a:xfrm>
            <a:off x="6042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6032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7" name="Rectangle 206"/>
          <p:cNvSpPr/>
          <p:nvPr/>
        </p:nvSpPr>
        <p:spPr>
          <a:xfrm>
            <a:off x="6867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6858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9" name="Rectangle 208"/>
          <p:cNvSpPr/>
          <p:nvPr/>
        </p:nvSpPr>
        <p:spPr>
          <a:xfrm>
            <a:off x="7693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7683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11" name="Rectangle 210"/>
          <p:cNvSpPr/>
          <p:nvPr/>
        </p:nvSpPr>
        <p:spPr>
          <a:xfrm>
            <a:off x="5216525" y="38385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5207000" y="38385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213" name="Rectangle 212"/>
          <p:cNvSpPr/>
          <p:nvPr/>
        </p:nvSpPr>
        <p:spPr>
          <a:xfrm>
            <a:off x="6042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6867525" y="38385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6858000" y="38385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16" name="Rectangle 215"/>
          <p:cNvSpPr/>
          <p:nvPr/>
        </p:nvSpPr>
        <p:spPr>
          <a:xfrm>
            <a:off x="7693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8699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region of activity</a:t>
            </a:r>
          </a:p>
        </p:txBody>
      </p:sp>
      <p:sp>
        <p:nvSpPr>
          <p:cNvPr id="218" name="TextBox 217"/>
          <p:cNvSpPr txBox="1"/>
          <p:nvPr/>
        </p:nvSpPr>
        <p:spPr>
          <a:xfrm>
            <a:off x="8699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N. America</a:t>
            </a:r>
          </a:p>
        </p:txBody>
      </p:sp>
      <p:sp>
        <p:nvSpPr>
          <p:cNvPr id="219" name="TextBox 218"/>
          <p:cNvSpPr txBox="1"/>
          <p:nvPr/>
        </p:nvSpPr>
        <p:spPr>
          <a:xfrm>
            <a:off x="9249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Europe</a:t>
            </a:r>
          </a:p>
        </p:txBody>
      </p:sp>
      <p:sp>
        <p:nvSpPr>
          <p:cNvPr id="220" name="TextBox 219"/>
          <p:cNvSpPr txBox="1"/>
          <p:nvPr/>
        </p:nvSpPr>
        <p:spPr>
          <a:xfrm>
            <a:off x="9800167"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S. Asia &amp; Pac.</a:t>
            </a:r>
          </a:p>
        </p:txBody>
      </p:sp>
      <p:sp>
        <p:nvSpPr>
          <p:cNvPr id="221" name="TextBox 220"/>
          <p:cNvSpPr txBox="1"/>
          <p:nvPr/>
        </p:nvSpPr>
        <p:spPr>
          <a:xfrm>
            <a:off x="10350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 Asia</a:t>
            </a:r>
          </a:p>
        </p:txBody>
      </p:sp>
      <p:sp>
        <p:nvSpPr>
          <p:cNvPr id="222" name="TextBox 221"/>
          <p:cNvSpPr txBox="1"/>
          <p:nvPr/>
        </p:nvSpPr>
        <p:spPr>
          <a:xfrm>
            <a:off x="10900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LATAM</a:t>
            </a:r>
          </a:p>
        </p:txBody>
      </p:sp>
      <p:sp>
        <p:nvSpPr>
          <p:cNvPr id="223" name="TextBox 222"/>
          <p:cNvSpPr txBox="1"/>
          <p:nvPr/>
        </p:nvSpPr>
        <p:spPr>
          <a:xfrm>
            <a:off x="11451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MEA</a:t>
            </a:r>
          </a:p>
        </p:txBody>
      </p:sp>
      <p:sp>
        <p:nvSpPr>
          <p:cNvPr id="224" name="Rectangle 223"/>
          <p:cNvSpPr/>
          <p:nvPr/>
        </p:nvSpPr>
        <p:spPr>
          <a:xfrm>
            <a:off x="8709025" y="16097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8699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26" name="Rectangle 225"/>
          <p:cNvSpPr/>
          <p:nvPr/>
        </p:nvSpPr>
        <p:spPr>
          <a:xfrm>
            <a:off x="9259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9249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28" name="Rectangle 227"/>
          <p:cNvSpPr/>
          <p:nvPr/>
        </p:nvSpPr>
        <p:spPr>
          <a:xfrm>
            <a:off x="9809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9800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0" name="Rectangle 229"/>
          <p:cNvSpPr/>
          <p:nvPr/>
        </p:nvSpPr>
        <p:spPr>
          <a:xfrm>
            <a:off x="10360025"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10910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11460692"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8709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9259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9249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36" name="Rectangle 235"/>
          <p:cNvSpPr/>
          <p:nvPr/>
        </p:nvSpPr>
        <p:spPr>
          <a:xfrm>
            <a:off x="9809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9800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8" name="Rectangle 237"/>
          <p:cNvSpPr/>
          <p:nvPr/>
        </p:nvSpPr>
        <p:spPr>
          <a:xfrm>
            <a:off x="10360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10350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0" name="Rectangle 239"/>
          <p:cNvSpPr/>
          <p:nvPr/>
        </p:nvSpPr>
        <p:spPr>
          <a:xfrm>
            <a:off x="10910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11460692"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8709025"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9259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9809692" y="21050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9800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46" name="Rectangle 245"/>
          <p:cNvSpPr/>
          <p:nvPr/>
        </p:nvSpPr>
        <p:spPr>
          <a:xfrm>
            <a:off x="10360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10350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8" name="Rectangle 247"/>
          <p:cNvSpPr/>
          <p:nvPr/>
        </p:nvSpPr>
        <p:spPr>
          <a:xfrm>
            <a:off x="10910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10900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0" name="Rectangle 249"/>
          <p:cNvSpPr/>
          <p:nvPr/>
        </p:nvSpPr>
        <p:spPr>
          <a:xfrm>
            <a:off x="11460692"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8709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9259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9809692"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10360025"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10350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56" name="Rectangle 255"/>
          <p:cNvSpPr/>
          <p:nvPr/>
        </p:nvSpPr>
        <p:spPr>
          <a:xfrm>
            <a:off x="10910358"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10900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8" name="Rectangle 257"/>
          <p:cNvSpPr/>
          <p:nvPr/>
        </p:nvSpPr>
        <p:spPr>
          <a:xfrm>
            <a:off x="11460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11451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0" name="Rectangle 259"/>
          <p:cNvSpPr/>
          <p:nvPr/>
        </p:nvSpPr>
        <p:spPr>
          <a:xfrm>
            <a:off x="8709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8699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2" name="Rectangle 261"/>
          <p:cNvSpPr/>
          <p:nvPr/>
        </p:nvSpPr>
        <p:spPr>
          <a:xfrm>
            <a:off x="9259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9809692"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10360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10910358" y="26003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TextBox 265"/>
          <p:cNvSpPr txBox="1"/>
          <p:nvPr/>
        </p:nvSpPr>
        <p:spPr>
          <a:xfrm>
            <a:off x="10900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67" name="Rectangle 266"/>
          <p:cNvSpPr/>
          <p:nvPr/>
        </p:nvSpPr>
        <p:spPr>
          <a:xfrm>
            <a:off x="11460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TextBox 267"/>
          <p:cNvSpPr txBox="1"/>
          <p:nvPr/>
        </p:nvSpPr>
        <p:spPr>
          <a:xfrm>
            <a:off x="11451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9" name="Rectangle 268"/>
          <p:cNvSpPr/>
          <p:nvPr/>
        </p:nvSpPr>
        <p:spPr>
          <a:xfrm>
            <a:off x="8709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8699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1" name="Rectangle 270"/>
          <p:cNvSpPr/>
          <p:nvPr/>
        </p:nvSpPr>
        <p:spPr>
          <a:xfrm>
            <a:off x="9259358"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TextBox 271"/>
          <p:cNvSpPr txBox="1"/>
          <p:nvPr/>
        </p:nvSpPr>
        <p:spPr>
          <a:xfrm>
            <a:off x="9249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3" name="Rectangle 272"/>
          <p:cNvSpPr/>
          <p:nvPr/>
        </p:nvSpPr>
        <p:spPr>
          <a:xfrm>
            <a:off x="9809692"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10360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ectangle 274"/>
          <p:cNvSpPr/>
          <p:nvPr/>
        </p:nvSpPr>
        <p:spPr>
          <a:xfrm>
            <a:off x="10910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angle 275"/>
          <p:cNvSpPr/>
          <p:nvPr/>
        </p:nvSpPr>
        <p:spPr>
          <a:xfrm>
            <a:off x="11460692"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11451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78" name="Rectangle 277"/>
          <p:cNvSpPr/>
          <p:nvPr/>
        </p:nvSpPr>
        <p:spPr>
          <a:xfrm>
            <a:off x="8709025" y="30956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8699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80" name="Rectangle 279"/>
          <p:cNvSpPr/>
          <p:nvPr/>
        </p:nvSpPr>
        <p:spPr>
          <a:xfrm>
            <a:off x="9259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TextBox 280"/>
          <p:cNvSpPr txBox="1"/>
          <p:nvPr/>
        </p:nvSpPr>
        <p:spPr>
          <a:xfrm>
            <a:off x="9249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2" name="Rectangle 281"/>
          <p:cNvSpPr/>
          <p:nvPr/>
        </p:nvSpPr>
        <p:spPr>
          <a:xfrm>
            <a:off x="9809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TextBox 282"/>
          <p:cNvSpPr txBox="1"/>
          <p:nvPr/>
        </p:nvSpPr>
        <p:spPr>
          <a:xfrm>
            <a:off x="9800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4" name="Rectangle 283"/>
          <p:cNvSpPr/>
          <p:nvPr/>
        </p:nvSpPr>
        <p:spPr>
          <a:xfrm>
            <a:off x="10360025"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10910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11460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8709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9259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xtBox 288"/>
          <p:cNvSpPr txBox="1"/>
          <p:nvPr/>
        </p:nvSpPr>
        <p:spPr>
          <a:xfrm>
            <a:off x="9249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90" name="Rectangle 289"/>
          <p:cNvSpPr/>
          <p:nvPr/>
        </p:nvSpPr>
        <p:spPr>
          <a:xfrm>
            <a:off x="9809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TextBox 290"/>
          <p:cNvSpPr txBox="1"/>
          <p:nvPr/>
        </p:nvSpPr>
        <p:spPr>
          <a:xfrm>
            <a:off x="9800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2" name="Rectangle 291"/>
          <p:cNvSpPr/>
          <p:nvPr/>
        </p:nvSpPr>
        <p:spPr>
          <a:xfrm>
            <a:off x="10360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TextBox 292"/>
          <p:cNvSpPr txBox="1"/>
          <p:nvPr/>
        </p:nvSpPr>
        <p:spPr>
          <a:xfrm>
            <a:off x="10350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4" name="Rectangle 293"/>
          <p:cNvSpPr/>
          <p:nvPr/>
        </p:nvSpPr>
        <p:spPr>
          <a:xfrm>
            <a:off x="10910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angle 294"/>
          <p:cNvSpPr/>
          <p:nvPr/>
        </p:nvSpPr>
        <p:spPr>
          <a:xfrm>
            <a:off x="11460692"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ectangle 295"/>
          <p:cNvSpPr/>
          <p:nvPr/>
        </p:nvSpPr>
        <p:spPr>
          <a:xfrm>
            <a:off x="8709025"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9259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9809692" y="35909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TextBox 298"/>
          <p:cNvSpPr txBox="1"/>
          <p:nvPr/>
        </p:nvSpPr>
        <p:spPr>
          <a:xfrm>
            <a:off x="9800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300" name="Rectangle 299"/>
          <p:cNvSpPr/>
          <p:nvPr/>
        </p:nvSpPr>
        <p:spPr>
          <a:xfrm>
            <a:off x="10360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TextBox 300"/>
          <p:cNvSpPr txBox="1"/>
          <p:nvPr/>
        </p:nvSpPr>
        <p:spPr>
          <a:xfrm>
            <a:off x="10350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2" name="Rectangle 301"/>
          <p:cNvSpPr/>
          <p:nvPr/>
        </p:nvSpPr>
        <p:spPr>
          <a:xfrm>
            <a:off x="10910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10900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4" name="Rectangle 303"/>
          <p:cNvSpPr/>
          <p:nvPr/>
        </p:nvSpPr>
        <p:spPr>
          <a:xfrm>
            <a:off x="11460692"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Rectangle 304"/>
          <p:cNvSpPr/>
          <p:nvPr/>
        </p:nvSpPr>
        <p:spPr>
          <a:xfrm>
            <a:off x="8709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ectangle 305"/>
          <p:cNvSpPr/>
          <p:nvPr/>
        </p:nvSpPr>
        <p:spPr>
          <a:xfrm>
            <a:off x="9259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9809692"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10360025"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10350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310" name="Rectangle 309"/>
          <p:cNvSpPr/>
          <p:nvPr/>
        </p:nvSpPr>
        <p:spPr>
          <a:xfrm>
            <a:off x="10910358"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10900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12" name="Rectangle 311"/>
          <p:cNvSpPr/>
          <p:nvPr/>
        </p:nvSpPr>
        <p:spPr>
          <a:xfrm>
            <a:off x="11460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11451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14" name="Rectangle 313"/>
          <p:cNvSpPr/>
          <p:nvPr/>
        </p:nvSpPr>
        <p:spPr>
          <a:xfrm>
            <a:off x="190500" y="4171950"/>
            <a:ext cx="209550" cy="123825"/>
          </a:xfrm>
          <a:prstGeom prst="rect">
            <a:avLst/>
          </a:prstGeom>
          <a:solidFill>
            <a:srgbClr val="CFE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TextBox 314"/>
          <p:cNvSpPr txBox="1"/>
          <p:nvPr/>
        </p:nvSpPr>
        <p:spPr>
          <a:xfrm>
            <a:off x="4381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1 move</a:t>
            </a:r>
          </a:p>
        </p:txBody>
      </p:sp>
      <p:sp>
        <p:nvSpPr>
          <p:cNvPr id="316" name="Rectangle 315"/>
          <p:cNvSpPr/>
          <p:nvPr/>
        </p:nvSpPr>
        <p:spPr>
          <a:xfrm>
            <a:off x="1238250" y="4171950"/>
            <a:ext cx="209550" cy="123825"/>
          </a:xfrm>
          <a:prstGeom prst="rect">
            <a:avLst/>
          </a:prstGeom>
          <a:solidFill>
            <a:srgbClr val="8FB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TextBox 316"/>
          <p:cNvSpPr txBox="1"/>
          <p:nvPr/>
        </p:nvSpPr>
        <p:spPr>
          <a:xfrm>
            <a:off x="148590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2 moves</a:t>
            </a:r>
          </a:p>
        </p:txBody>
      </p:sp>
      <p:sp>
        <p:nvSpPr>
          <p:cNvPr id="318" name="Rectangle 317"/>
          <p:cNvSpPr/>
          <p:nvPr/>
        </p:nvSpPr>
        <p:spPr>
          <a:xfrm>
            <a:off x="2286000" y="4171950"/>
            <a:ext cx="209550" cy="123825"/>
          </a:xfrm>
          <a:prstGeom prst="rect">
            <a:avLst/>
          </a:prstGeom>
          <a:solidFill>
            <a:srgbClr val="3D7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TextBox 318"/>
          <p:cNvSpPr txBox="1"/>
          <p:nvPr/>
        </p:nvSpPr>
        <p:spPr>
          <a:xfrm>
            <a:off x="25336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3+ moves</a:t>
            </a:r>
          </a:p>
        </p:txBody>
      </p:sp>
      <p:sp>
        <p:nvSpPr>
          <p:cNvPr id="320" name="TextBox 319"/>
          <p:cNvSpPr txBox="1"/>
          <p:nvPr/>
        </p:nvSpPr>
        <p:spPr>
          <a:xfrm>
            <a:off x="3524250" y="4133850"/>
            <a:ext cx="8477250" cy="190500"/>
          </a:xfrm>
          <a:prstGeom prst="rect">
            <a:avLst/>
          </a:prstGeom>
          <a:noFill/>
        </p:spPr>
        <p:txBody>
          <a:bodyPr wrap="square" lIns="28575" rIns="28575" tIns="9525" bIns="9525" anchor="ctr">
            <a:spAutoFit/>
          </a:bodyPr>
          <a:lstStyle/>
          <a:p>
            <a:pPr algn="l"/>
            <a:r>
              <a:rPr sz="1100" b="0">
                <a:solidFill>
                  <a:srgbClr val="5F6B7A"/>
                </a:solidFill>
                <a:latin typeface="Calibri"/>
              </a:rPr>
              <a:t>Type codes: MA M&amp;A, PR Product / portfolio, EX Expansion, RD R&amp;D / technology, RG Regulation / compliance, CP Capital / funding</a:t>
            </a:r>
          </a:p>
        </p:txBody>
      </p:sp>
      <p:cxnSp>
        <p:nvCxnSpPr>
          <p:cNvPr id="321" name="Connector 320"/>
          <p:cNvCxnSpPr/>
          <p:nvPr/>
        </p:nvCxnSpPr>
        <p:spPr>
          <a:xfrm>
            <a:off x="190500" y="4400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22" name="TextBox 321"/>
          <p:cNvSpPr txBox="1"/>
          <p:nvPr/>
        </p:nvSpPr>
        <p:spPr>
          <a:xfrm>
            <a:off x="190500" y="445770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WHAT IT MEANS FOR EACH OF YOUR DEPARTMENTS</a:t>
            </a:r>
          </a:p>
        </p:txBody>
      </p:sp>
      <p:sp>
        <p:nvSpPr>
          <p:cNvPr id="323" name="Rectangle 322"/>
          <p:cNvSpPr/>
          <p:nvPr/>
        </p:nvSpPr>
        <p:spPr>
          <a:xfrm>
            <a:off x="1905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2667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Sales</a:t>
            </a:r>
          </a:p>
        </p:txBody>
      </p:sp>
      <p:sp>
        <p:nvSpPr>
          <p:cNvPr id="325" name="TextBox 324"/>
          <p:cNvSpPr txBox="1"/>
          <p:nvPr/>
        </p:nvSpPr>
        <p:spPr>
          <a:xfrm>
            <a:off x="1905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10 expansion moves target new regions and volume tiers: defend key accounts where rivals expand.</a:t>
            </a:r>
          </a:p>
        </p:txBody>
      </p:sp>
      <p:sp>
        <p:nvSpPr>
          <p:cNvPr id="326" name="Rectangle 325"/>
          <p:cNvSpPr/>
          <p:nvPr/>
        </p:nvSpPr>
        <p:spPr>
          <a:xfrm>
            <a:off x="21780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22542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Marketing</a:t>
            </a:r>
          </a:p>
        </p:txBody>
      </p:sp>
      <p:sp>
        <p:nvSpPr>
          <p:cNvPr id="328" name="TextBox 327"/>
          <p:cNvSpPr txBox="1"/>
          <p:nvPr/>
        </p:nvSpPr>
        <p:spPr>
          <a:xfrm>
            <a:off x="21780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Certification and compliance are being used as trust signals; make your own credentials visible.</a:t>
            </a:r>
          </a:p>
        </p:txBody>
      </p:sp>
      <p:sp>
        <p:nvSpPr>
          <p:cNvPr id="329" name="Rectangle 328"/>
          <p:cNvSpPr/>
          <p:nvPr/>
        </p:nvSpPr>
        <p:spPr>
          <a:xfrm>
            <a:off x="41656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TextBox 329"/>
          <p:cNvSpPr txBox="1"/>
          <p:nvPr/>
        </p:nvSpPr>
        <p:spPr>
          <a:xfrm>
            <a:off x="42418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Product and R&amp;D</a:t>
            </a:r>
          </a:p>
        </p:txBody>
      </p:sp>
      <p:sp>
        <p:nvSpPr>
          <p:cNvPr id="331" name="TextBox 330"/>
          <p:cNvSpPr txBox="1"/>
          <p:nvPr/>
        </p:nvSpPr>
        <p:spPr>
          <a:xfrm>
            <a:off x="41656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20 product and R&amp;D moves: benchmark launches and the technology roadmap.</a:t>
            </a:r>
          </a:p>
        </p:txBody>
      </p:sp>
      <p:sp>
        <p:nvSpPr>
          <p:cNvPr id="332" name="Rectangle 331"/>
          <p:cNvSpPr/>
          <p:nvPr/>
        </p:nvSpPr>
        <p:spPr>
          <a:xfrm>
            <a:off x="61531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62293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Corporate development</a:t>
            </a:r>
          </a:p>
        </p:txBody>
      </p:sp>
      <p:sp>
        <p:nvSpPr>
          <p:cNvPr id="334" name="TextBox 333"/>
          <p:cNvSpPr txBox="1"/>
          <p:nvPr/>
        </p:nvSpPr>
        <p:spPr>
          <a:xfrm>
            <a:off x="61531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are acquiring; the independent target list is shrinking.</a:t>
            </a:r>
          </a:p>
        </p:txBody>
      </p:sp>
      <p:sp>
        <p:nvSpPr>
          <p:cNvPr id="335" name="Rectangle 334"/>
          <p:cNvSpPr/>
          <p:nvPr/>
        </p:nvSpPr>
        <p:spPr>
          <a:xfrm>
            <a:off x="81407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82169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Operations</a:t>
            </a:r>
          </a:p>
        </p:txBody>
      </p:sp>
      <p:sp>
        <p:nvSpPr>
          <p:cNvPr id="337" name="TextBox 336"/>
          <p:cNvSpPr txBox="1"/>
          <p:nvPr/>
        </p:nvSpPr>
        <p:spPr>
          <a:xfrm>
            <a:off x="81407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Expansion moves add capacity in rivals' home regions; review supply and lead times.</a:t>
            </a:r>
          </a:p>
        </p:txBody>
      </p:sp>
      <p:sp>
        <p:nvSpPr>
          <p:cNvPr id="338" name="Rectangle 337"/>
          <p:cNvSpPr/>
          <p:nvPr/>
        </p:nvSpPr>
        <p:spPr>
          <a:xfrm>
            <a:off x="101282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TextBox 338"/>
          <p:cNvSpPr txBox="1"/>
          <p:nvPr/>
        </p:nvSpPr>
        <p:spPr>
          <a:xfrm>
            <a:off x="102044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Legal and regulatory</a:t>
            </a:r>
          </a:p>
        </p:txBody>
      </p:sp>
      <p:sp>
        <p:nvSpPr>
          <p:cNvPr id="340" name="TextBox 339"/>
          <p:cNvSpPr txBox="1"/>
          <p:nvPr/>
        </p:nvSpPr>
        <p:spPr>
          <a:xfrm>
            <a:off x="101282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lean on certification; audit your own compliance position.</a:t>
            </a:r>
          </a:p>
        </p:txBody>
      </p:sp>
      <p:sp>
        <p:nvSpPr>
          <p:cNvPr id="341" name="TextBox 3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Ear Wax Removal Products Market, Global 2026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10" name="Rounded Rectangle 9"/>
          <p:cNvSpPr/>
          <p:nvPr/>
        </p:nvSpPr>
        <p:spPr>
          <a:xfrm>
            <a:off x="142875" y="1047750"/>
            <a:ext cx="5810250" cy="4000500"/>
          </a:xfrm>
          <a:prstGeom prst="roundRect">
            <a:avLst>
              <a:gd name="adj" fmla="val 13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049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Tier Ladder – Share of Market Value, 2026</a:t>
            </a:r>
          </a:p>
        </p:txBody>
      </p:sp>
      <p:sp>
        <p:nvSpPr>
          <p:cNvPr id="12" name="TextBox 11"/>
          <p:cNvSpPr txBox="1"/>
          <p:nvPr/>
        </p:nvSpPr>
        <p:spPr>
          <a:xfrm>
            <a:off x="238125" y="1304925"/>
            <a:ext cx="5619750" cy="247650"/>
          </a:xfrm>
          <a:prstGeom prst="rect">
            <a:avLst/>
          </a:prstGeom>
          <a:noFill/>
        </p:spPr>
        <p:txBody>
          <a:bodyPr wrap="square" lIns="28575" rIns="28575" tIns="9525" bIns="9525" anchor="ctr">
            <a:spAutoFit/>
          </a:bodyPr>
          <a:lstStyle/>
          <a:p>
            <a:pPr algn="l"/>
            <a:r>
              <a:rPr sz="1100" b="0">
                <a:solidFill>
                  <a:srgbClr val="6B7280"/>
                </a:solidFill>
                <a:latin typeface="Calibri"/>
              </a:rPr>
              <a:t/>
            </a:r>
          </a:p>
        </p:txBody>
      </p:sp>
      <p:sp>
        <p:nvSpPr>
          <p:cNvPr id="13" name="TextBox 12"/>
          <p:cNvSpPr txBox="1"/>
          <p:nvPr/>
        </p:nvSpPr>
        <p:spPr>
          <a:xfrm>
            <a:off x="257175" y="16002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1</a:t>
            </a:r>
          </a:p>
        </p:txBody>
      </p:sp>
      <p:sp>
        <p:nvSpPr>
          <p:cNvPr id="14" name="TextBox 13"/>
          <p:cNvSpPr txBox="1"/>
          <p:nvPr/>
        </p:nvSpPr>
        <p:spPr>
          <a:xfrm>
            <a:off x="257175" y="18097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Top / global players</a:t>
            </a:r>
          </a:p>
        </p:txBody>
      </p:sp>
      <p:sp>
        <p:nvSpPr>
          <p:cNvPr id="15" name="Rectangle 14"/>
          <p:cNvSpPr/>
          <p:nvPr/>
        </p:nvSpPr>
        <p:spPr>
          <a:xfrm>
            <a:off x="1266825" y="1581150"/>
            <a:ext cx="4533900" cy="476250"/>
          </a:xfrm>
          <a:prstGeom prst="rect">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62075" y="16097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17" name="TextBox 16"/>
          <p:cNvSpPr txBox="1"/>
          <p:nvPr/>
        </p:nvSpPr>
        <p:spPr>
          <a:xfrm>
            <a:off x="1362075" y="1809750"/>
            <a:ext cx="4381500"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18" name="TextBox 17"/>
          <p:cNvSpPr txBox="1"/>
          <p:nvPr/>
        </p:nvSpPr>
        <p:spPr>
          <a:xfrm>
            <a:off x="1266825" y="20669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Prestige Consumer Healthcare · Diomed Group · NeilMed Pharmaceuticals · Quest Products</a:t>
            </a:r>
          </a:p>
        </p:txBody>
      </p:sp>
      <p:sp>
        <p:nvSpPr>
          <p:cNvPr id="19" name="TextBox 18"/>
          <p:cNvSpPr txBox="1"/>
          <p:nvPr/>
        </p:nvSpPr>
        <p:spPr>
          <a:xfrm>
            <a:off x="257175" y="24574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2</a:t>
            </a:r>
          </a:p>
        </p:txBody>
      </p:sp>
      <p:sp>
        <p:nvSpPr>
          <p:cNvPr id="20" name="TextBox 19"/>
          <p:cNvSpPr txBox="1"/>
          <p:nvPr/>
        </p:nvSpPr>
        <p:spPr>
          <a:xfrm>
            <a:off x="257175" y="26670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Mid-sized players</a:t>
            </a:r>
          </a:p>
        </p:txBody>
      </p:sp>
      <p:sp>
        <p:nvSpPr>
          <p:cNvPr id="21" name="Rectangle 20"/>
          <p:cNvSpPr/>
          <p:nvPr/>
        </p:nvSpPr>
        <p:spPr>
          <a:xfrm>
            <a:off x="1266825" y="2438400"/>
            <a:ext cx="3786554" cy="47625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62075" y="246697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3" name="TextBox 22"/>
          <p:cNvSpPr txBox="1"/>
          <p:nvPr/>
        </p:nvSpPr>
        <p:spPr>
          <a:xfrm>
            <a:off x="1362075" y="2667000"/>
            <a:ext cx="3634154"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24" name="TextBox 23"/>
          <p:cNvSpPr txBox="1"/>
          <p:nvPr/>
        </p:nvSpPr>
        <p:spPr>
          <a:xfrm>
            <a:off x="1266825" y="29241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Eosera · Coopération Pharmaceutique Française</a:t>
            </a:r>
          </a:p>
        </p:txBody>
      </p:sp>
      <p:sp>
        <p:nvSpPr>
          <p:cNvPr id="25" name="TextBox 24"/>
          <p:cNvSpPr txBox="1"/>
          <p:nvPr/>
        </p:nvSpPr>
        <p:spPr>
          <a:xfrm>
            <a:off x="257175" y="33147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3</a:t>
            </a:r>
          </a:p>
        </p:txBody>
      </p:sp>
      <p:sp>
        <p:nvSpPr>
          <p:cNvPr id="26" name="TextBox 25"/>
          <p:cNvSpPr txBox="1"/>
          <p:nvPr/>
        </p:nvSpPr>
        <p:spPr>
          <a:xfrm>
            <a:off x="257175" y="35242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Emerging / local players</a:t>
            </a:r>
          </a:p>
        </p:txBody>
      </p:sp>
      <p:sp>
        <p:nvSpPr>
          <p:cNvPr id="27" name="Rectangle 26"/>
          <p:cNvSpPr/>
          <p:nvPr/>
        </p:nvSpPr>
        <p:spPr>
          <a:xfrm>
            <a:off x="1266825" y="3295650"/>
            <a:ext cx="3487615" cy="4762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62075" y="33242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9" name="TextBox 28"/>
          <p:cNvSpPr txBox="1"/>
          <p:nvPr/>
        </p:nvSpPr>
        <p:spPr>
          <a:xfrm>
            <a:off x="1362075" y="3524250"/>
            <a:ext cx="3335215"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30" name="TextBox 29"/>
          <p:cNvSpPr txBox="1"/>
          <p:nvPr/>
        </p:nvSpPr>
        <p:spPr>
          <a:xfrm>
            <a:off x="1266825" y="37814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Orion Pharma · Farmacia Nordic · Key Pharmaceuticals · Lanes Health</a:t>
            </a:r>
          </a:p>
        </p:txBody>
      </p:sp>
      <p:sp>
        <p:nvSpPr>
          <p:cNvPr id="31" name="TextBox 30"/>
          <p:cNvSpPr txBox="1"/>
          <p:nvPr/>
        </p:nvSpPr>
        <p:spPr>
          <a:xfrm>
            <a:off x="257175" y="41719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Others</a:t>
            </a:r>
          </a:p>
        </p:txBody>
      </p:sp>
      <p:sp>
        <p:nvSpPr>
          <p:cNvPr id="32" name="TextBox 31"/>
          <p:cNvSpPr txBox="1"/>
          <p:nvPr/>
        </p:nvSpPr>
        <p:spPr>
          <a:xfrm>
            <a:off x="257175" y="43815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Long tail</a:t>
            </a:r>
          </a:p>
        </p:txBody>
      </p:sp>
      <p:sp>
        <p:nvSpPr>
          <p:cNvPr id="33" name="Rectangle 32"/>
          <p:cNvSpPr/>
          <p:nvPr/>
        </p:nvSpPr>
        <p:spPr>
          <a:xfrm>
            <a:off x="1266825" y="4152900"/>
            <a:ext cx="3637085" cy="476250"/>
          </a:xfrm>
          <a:prstGeom prst="rect">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62075" y="4181475"/>
            <a:ext cx="666750" cy="209550"/>
          </a:xfrm>
          <a:prstGeom prst="rect">
            <a:avLst/>
          </a:prstGeom>
          <a:noFill/>
        </p:spPr>
        <p:txBody>
          <a:bodyPr wrap="square" lIns="28575" rIns="28575" tIns="9525" bIns="9525" anchor="ctr">
            <a:spAutoFit/>
          </a:bodyPr>
          <a:lstStyle/>
          <a:p>
            <a:pPr algn="l"/>
            <a:r>
              <a:rPr sz="1100" b="1">
                <a:solidFill>
                  <a:srgbClr val="14213D"/>
                </a:solidFill>
                <a:latin typeface="Calibri"/>
              </a:rPr>
              <a:t> </a:t>
            </a:r>
          </a:p>
        </p:txBody>
      </p:sp>
      <p:sp>
        <p:nvSpPr>
          <p:cNvPr id="35" name="TextBox 34"/>
          <p:cNvSpPr txBox="1"/>
          <p:nvPr/>
        </p:nvSpPr>
        <p:spPr>
          <a:xfrm>
            <a:off x="1362075" y="4381500"/>
            <a:ext cx="3484685" cy="247650"/>
          </a:xfrm>
          <a:prstGeom prst="rect">
            <a:avLst/>
          </a:prstGeom>
          <a:noFill/>
        </p:spPr>
        <p:txBody>
          <a:bodyPr wrap="square" lIns="28575" rIns="28575" tIns="9525" bIns="9525" anchor="ctr">
            <a:spAutoFit/>
          </a:bodyPr>
          <a:lstStyle/>
          <a:p>
            <a:pPr algn="l"/>
            <a:r>
              <a:rPr sz="1100" b="0">
                <a:solidFill>
                  <a:srgbClr val="14213D"/>
                </a:solidFill>
                <a:latin typeface="Calibri"/>
              </a:rPr>
              <a:t/>
            </a:r>
          </a:p>
        </p:txBody>
      </p:sp>
      <p:sp>
        <p:nvSpPr>
          <p:cNvPr id="36" name="TextBox 35"/>
          <p:cNvSpPr txBox="1"/>
          <p:nvPr/>
        </p:nvSpPr>
        <p:spPr>
          <a:xfrm>
            <a:off x="1266825" y="46386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Regional &amp; niche suppliers</a:t>
            </a:r>
          </a:p>
        </p:txBody>
      </p:sp>
      <p:sp>
        <p:nvSpPr>
          <p:cNvPr id="37" name="Rounded Rectangle 36"/>
          <p:cNvSpPr/>
          <p:nvPr/>
        </p:nvSpPr>
        <p:spPr>
          <a:xfrm>
            <a:off x="142875" y="5162550"/>
            <a:ext cx="5810250" cy="1466850"/>
          </a:xfrm>
          <a:prstGeom prst="roundRect">
            <a:avLst>
              <a:gd name="adj" fmla="val 13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38125" y="52197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Concentration Read-out</a:t>
            </a:r>
          </a:p>
        </p:txBody>
      </p:sp>
      <p:sp>
        <p:nvSpPr>
          <p:cNvPr id="39" name="Rectangle 38"/>
          <p:cNvSpPr/>
          <p:nvPr/>
        </p:nvSpPr>
        <p:spPr>
          <a:xfrm>
            <a:off x="276225" y="5505450"/>
            <a:ext cx="1847850" cy="247650"/>
          </a:xfrm>
          <a:prstGeom prst="rect">
            <a:avLst/>
          </a:prstGeom>
          <a:solidFill>
            <a:srgbClr val="C9DA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505450"/>
            <a:ext cx="1847850" cy="247650"/>
          </a:xfrm>
          <a:prstGeom prst="rect">
            <a:avLst/>
          </a:prstGeom>
          <a:noFill/>
        </p:spPr>
        <p:txBody>
          <a:bodyPr wrap="square" lIns="28575" rIns="28575" tIns="9525" bIns="9525" anchor="ctr">
            <a:spAutoFit/>
          </a:bodyPr>
          <a:lstStyle/>
          <a:p>
            <a:pPr algn="ctr"/>
            <a:r>
              <a:rPr sz="1100" b="1">
                <a:solidFill>
                  <a:srgbClr val="14213D"/>
                </a:solidFill>
                <a:latin typeface="Calibri"/>
              </a:rPr>
              <a:t>Fragmented HHI &lt; 1,500</a:t>
            </a:r>
          </a:p>
        </p:txBody>
      </p:sp>
      <p:sp>
        <p:nvSpPr>
          <p:cNvPr id="41" name="Rectangle 40"/>
          <p:cNvSpPr/>
          <p:nvPr/>
        </p:nvSpPr>
        <p:spPr>
          <a:xfrm>
            <a:off x="2124075" y="5505450"/>
            <a:ext cx="1847850"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12407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Moderate 1,500–2,500</a:t>
            </a:r>
          </a:p>
        </p:txBody>
      </p:sp>
      <p:sp>
        <p:nvSpPr>
          <p:cNvPr id="43" name="Rectangle 42"/>
          <p:cNvSpPr/>
          <p:nvPr/>
        </p:nvSpPr>
        <p:spPr>
          <a:xfrm>
            <a:off x="3971925" y="5505450"/>
            <a:ext cx="18478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7192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Concentrated &gt; 2,500</a:t>
            </a:r>
          </a:p>
        </p:txBody>
      </p:sp>
      <p:sp>
        <p:nvSpPr>
          <p:cNvPr id="45" name="TextBox 44"/>
          <p:cNvSpPr txBox="1"/>
          <p:nvPr/>
        </p:nvSpPr>
        <p:spPr>
          <a:xfrm>
            <a:off x="669665" y="5762625"/>
            <a:ext cx="1714500" cy="24765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6" name="TextBox 45"/>
          <p:cNvSpPr txBox="1"/>
          <p:nvPr/>
        </p:nvSpPr>
        <p:spPr>
          <a:xfrm>
            <a:off x="238125" y="5981700"/>
            <a:ext cx="5619750" cy="41910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7" name="Rounded Rectangle 46"/>
          <p:cNvSpPr/>
          <p:nvPr/>
        </p:nvSpPr>
        <p:spPr>
          <a:xfrm>
            <a:off x="6096000" y="1047750"/>
            <a:ext cx="5953125" cy="4000500"/>
          </a:xfrm>
          <a:prstGeom prst="roundRect">
            <a:avLst>
              <a:gd name="adj" fmla="val 12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91250" y="11049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Tier Profile Matrix</a:t>
            </a:r>
          </a:p>
        </p:txBody>
      </p:sp>
      <p:sp>
        <p:nvSpPr>
          <p:cNvPr id="49" name="TextBox 48"/>
          <p:cNvSpPr txBox="1"/>
          <p:nvPr/>
        </p:nvSpPr>
        <p:spPr>
          <a:xfrm>
            <a:off x="6191250" y="1304925"/>
            <a:ext cx="5762625" cy="247650"/>
          </a:xfrm>
          <a:prstGeom prst="rect">
            <a:avLst/>
          </a:prstGeom>
          <a:noFill/>
        </p:spPr>
        <p:txBody>
          <a:bodyPr wrap="square" lIns="28575" rIns="28575" tIns="9525" bIns="9525" anchor="ctr">
            <a:spAutoFit/>
          </a:bodyPr>
          <a:lstStyle/>
          <a:p>
            <a:pPr algn="l"/>
            <a:r>
              <a:rPr sz="1100" b="0">
                <a:solidFill>
                  <a:srgbClr val="6B7280"/>
                </a:solidFill>
                <a:latin typeface="Calibri"/>
              </a:rPr>
              <a:t>Size, growth and competitive characteristics of each tier</a:t>
            </a:r>
          </a:p>
        </p:txBody>
      </p:sp>
      <p:sp>
        <p:nvSpPr>
          <p:cNvPr id="50" name="Rectangle 49"/>
          <p:cNvSpPr/>
          <p:nvPr/>
        </p:nvSpPr>
        <p:spPr>
          <a:xfrm>
            <a:off x="6191250" y="1562100"/>
            <a:ext cx="16192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48400" y="1562100"/>
            <a:ext cx="1543050" cy="247650"/>
          </a:xfrm>
          <a:prstGeom prst="rect">
            <a:avLst/>
          </a:prstGeom>
          <a:noFill/>
        </p:spPr>
        <p:txBody>
          <a:bodyPr wrap="square" lIns="28575" rIns="28575" tIns="9525" bIns="9525" anchor="ctr">
            <a:spAutoFit/>
          </a:bodyPr>
          <a:lstStyle/>
          <a:p>
            <a:pPr algn="l"/>
            <a:r>
              <a:rPr sz="1100" b="1">
                <a:solidFill>
                  <a:srgbClr val="FFFFFF"/>
                </a:solidFill>
                <a:latin typeface="Calibri"/>
              </a:rPr>
              <a:t>Metric</a:t>
            </a:r>
          </a:p>
        </p:txBody>
      </p:sp>
      <p:sp>
        <p:nvSpPr>
          <p:cNvPr id="52" name="Rectangle 51"/>
          <p:cNvSpPr/>
          <p:nvPr/>
        </p:nvSpPr>
        <p:spPr>
          <a:xfrm>
            <a:off x="7810500" y="1562100"/>
            <a:ext cx="82867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105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54" name="Rectangle 53"/>
          <p:cNvSpPr/>
          <p:nvPr/>
        </p:nvSpPr>
        <p:spPr>
          <a:xfrm>
            <a:off x="8639175" y="1562100"/>
            <a:ext cx="828675" cy="247650"/>
          </a:xfrm>
          <a:prstGeom prst="rect">
            <a:avLst/>
          </a:prstGeom>
          <a:solidFill>
            <a:srgbClr val="2E6D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39175"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56" name="Rectangle 55"/>
          <p:cNvSpPr/>
          <p:nvPr/>
        </p:nvSpPr>
        <p:spPr>
          <a:xfrm>
            <a:off x="9467850" y="1562100"/>
            <a:ext cx="828675"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46785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58" name="Rectangle 57"/>
          <p:cNvSpPr/>
          <p:nvPr/>
        </p:nvSpPr>
        <p:spPr>
          <a:xfrm>
            <a:off x="10296525" y="1562100"/>
            <a:ext cx="828675" cy="247650"/>
          </a:xfrm>
          <a:prstGeom prst="rect">
            <a:avLst/>
          </a:prstGeom>
          <a:solidFill>
            <a:srgbClr val="9FC5E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296525" y="1562100"/>
            <a:ext cx="828675" cy="2476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60" name="Rectangle 59"/>
          <p:cNvSpPr/>
          <p:nvPr/>
        </p:nvSpPr>
        <p:spPr>
          <a:xfrm>
            <a:off x="11125200" y="1562100"/>
            <a:ext cx="828675" cy="247650"/>
          </a:xfrm>
          <a:prstGeom prst="rect">
            <a:avLst/>
          </a:prstGeom>
          <a:solidFill>
            <a:srgbClr val="10244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1252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Total</a:t>
            </a:r>
          </a:p>
        </p:txBody>
      </p:sp>
      <p:sp>
        <p:nvSpPr>
          <p:cNvPr id="62" name="Rectangle 61"/>
          <p:cNvSpPr/>
          <p:nvPr/>
        </p:nvSpPr>
        <p:spPr>
          <a:xfrm>
            <a:off x="6191250" y="1809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48400" y="1809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Players</a:t>
            </a:r>
          </a:p>
        </p:txBody>
      </p:sp>
      <p:sp>
        <p:nvSpPr>
          <p:cNvPr id="64" name="Rectangle 63"/>
          <p:cNvSpPr/>
          <p:nvPr/>
        </p:nvSpPr>
        <p:spPr>
          <a:xfrm>
            <a:off x="78105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82955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66" name="Rectangle 65"/>
          <p:cNvSpPr/>
          <p:nvPr/>
        </p:nvSpPr>
        <p:spPr>
          <a:xfrm>
            <a:off x="863917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5822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2</a:t>
            </a:r>
          </a:p>
        </p:txBody>
      </p:sp>
      <p:sp>
        <p:nvSpPr>
          <p:cNvPr id="68" name="Rectangle 67"/>
          <p:cNvSpPr/>
          <p:nvPr/>
        </p:nvSpPr>
        <p:spPr>
          <a:xfrm>
            <a:off x="946785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48690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70" name="Rectangle 69"/>
          <p:cNvSpPr/>
          <p:nvPr/>
        </p:nvSpPr>
        <p:spPr>
          <a:xfrm>
            <a:off x="1029652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31557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72" name="Rectangle 71"/>
          <p:cNvSpPr/>
          <p:nvPr/>
        </p:nvSpPr>
        <p:spPr>
          <a:xfrm>
            <a:off x="111252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1144250" y="18097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74" name="Rectangle 73"/>
          <p:cNvSpPr/>
          <p:nvPr/>
        </p:nvSpPr>
        <p:spPr>
          <a:xfrm>
            <a:off x="6191250" y="2038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248400" y="2038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Value 2026 (US$ Mn)</a:t>
            </a:r>
          </a:p>
        </p:txBody>
      </p:sp>
      <p:sp>
        <p:nvSpPr>
          <p:cNvPr id="76" name="Rectangle 75"/>
          <p:cNvSpPr/>
          <p:nvPr/>
        </p:nvSpPr>
        <p:spPr>
          <a:xfrm>
            <a:off x="78105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82955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78" name="Rectangle 77"/>
          <p:cNvSpPr/>
          <p:nvPr/>
        </p:nvSpPr>
        <p:spPr>
          <a:xfrm>
            <a:off x="863917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65822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0" name="Rectangle 79"/>
          <p:cNvSpPr/>
          <p:nvPr/>
        </p:nvSpPr>
        <p:spPr>
          <a:xfrm>
            <a:off x="946785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48690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2" name="Rectangle 81"/>
          <p:cNvSpPr/>
          <p:nvPr/>
        </p:nvSpPr>
        <p:spPr>
          <a:xfrm>
            <a:off x="1029652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31557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4" name="Rectangle 83"/>
          <p:cNvSpPr/>
          <p:nvPr/>
        </p:nvSpPr>
        <p:spPr>
          <a:xfrm>
            <a:off x="111252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1144250" y="2038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86" name="Rectangle 85"/>
          <p:cNvSpPr/>
          <p:nvPr/>
        </p:nvSpPr>
        <p:spPr>
          <a:xfrm>
            <a:off x="6191250" y="22669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248400" y="22669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2026</a:t>
            </a:r>
          </a:p>
        </p:txBody>
      </p:sp>
      <p:sp>
        <p:nvSpPr>
          <p:cNvPr id="88" name="Rectangle 87"/>
          <p:cNvSpPr/>
          <p:nvPr/>
        </p:nvSpPr>
        <p:spPr>
          <a:xfrm>
            <a:off x="78105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07624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0" name="TextBox 89"/>
          <p:cNvSpPr txBox="1"/>
          <p:nvPr/>
        </p:nvSpPr>
        <p:spPr>
          <a:xfrm>
            <a:off x="836390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1" name="Rectangle 90"/>
          <p:cNvSpPr/>
          <p:nvPr/>
        </p:nvSpPr>
        <p:spPr>
          <a:xfrm>
            <a:off x="863917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90492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3" name="TextBox 92"/>
          <p:cNvSpPr txBox="1"/>
          <p:nvPr/>
        </p:nvSpPr>
        <p:spPr>
          <a:xfrm>
            <a:off x="919257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4" name="Rectangle 93"/>
          <p:cNvSpPr/>
          <p:nvPr/>
        </p:nvSpPr>
        <p:spPr>
          <a:xfrm>
            <a:off x="946785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73359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6" name="TextBox 95"/>
          <p:cNvSpPr txBox="1"/>
          <p:nvPr/>
        </p:nvSpPr>
        <p:spPr>
          <a:xfrm>
            <a:off x="1002125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7" name="Rectangle 96"/>
          <p:cNvSpPr/>
          <p:nvPr/>
        </p:nvSpPr>
        <p:spPr>
          <a:xfrm>
            <a:off x="1029652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056227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9" name="TextBox 98"/>
          <p:cNvSpPr txBox="1"/>
          <p:nvPr/>
        </p:nvSpPr>
        <p:spPr>
          <a:xfrm>
            <a:off x="1084992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0" name="Rectangle 99"/>
          <p:cNvSpPr/>
          <p:nvPr/>
        </p:nvSpPr>
        <p:spPr>
          <a:xfrm>
            <a:off x="111252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1144250" y="22669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02" name="Rectangle 101"/>
          <p:cNvSpPr/>
          <p:nvPr/>
        </p:nvSpPr>
        <p:spPr>
          <a:xfrm>
            <a:off x="6191250" y="24955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248400" y="24955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2036</a:t>
            </a:r>
          </a:p>
        </p:txBody>
      </p:sp>
      <p:sp>
        <p:nvSpPr>
          <p:cNvPr id="104" name="Rectangle 103"/>
          <p:cNvSpPr/>
          <p:nvPr/>
        </p:nvSpPr>
        <p:spPr>
          <a:xfrm>
            <a:off x="78105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07624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6" name="TextBox 105"/>
          <p:cNvSpPr txBox="1"/>
          <p:nvPr/>
        </p:nvSpPr>
        <p:spPr>
          <a:xfrm>
            <a:off x="836390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7" name="Rectangle 106"/>
          <p:cNvSpPr/>
          <p:nvPr/>
        </p:nvSpPr>
        <p:spPr>
          <a:xfrm>
            <a:off x="863917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90492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9" name="TextBox 108"/>
          <p:cNvSpPr txBox="1"/>
          <p:nvPr/>
        </p:nvSpPr>
        <p:spPr>
          <a:xfrm>
            <a:off x="919257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0" name="Rectangle 109"/>
          <p:cNvSpPr/>
          <p:nvPr/>
        </p:nvSpPr>
        <p:spPr>
          <a:xfrm>
            <a:off x="946785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73359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2" name="TextBox 111"/>
          <p:cNvSpPr txBox="1"/>
          <p:nvPr/>
        </p:nvSpPr>
        <p:spPr>
          <a:xfrm>
            <a:off x="1002125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3" name="Rectangle 112"/>
          <p:cNvSpPr/>
          <p:nvPr/>
        </p:nvSpPr>
        <p:spPr>
          <a:xfrm>
            <a:off x="1029652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056227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5" name="TextBox 114"/>
          <p:cNvSpPr txBox="1"/>
          <p:nvPr/>
        </p:nvSpPr>
        <p:spPr>
          <a:xfrm>
            <a:off x="1084992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6" name="Rectangle 115"/>
          <p:cNvSpPr/>
          <p:nvPr/>
        </p:nvSpPr>
        <p:spPr>
          <a:xfrm>
            <a:off x="111252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1144250" y="24955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18" name="Rectangle 117"/>
          <p:cNvSpPr/>
          <p:nvPr/>
        </p:nvSpPr>
        <p:spPr>
          <a:xfrm>
            <a:off x="6191250" y="27241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248400" y="27241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change (pp)</a:t>
            </a:r>
          </a:p>
        </p:txBody>
      </p:sp>
      <p:sp>
        <p:nvSpPr>
          <p:cNvPr id="120" name="Rectangle 119"/>
          <p:cNvSpPr/>
          <p:nvPr/>
        </p:nvSpPr>
        <p:spPr>
          <a:xfrm>
            <a:off x="78105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97528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2" name="TextBox 121"/>
          <p:cNvSpPr txBox="1"/>
          <p:nvPr/>
        </p:nvSpPr>
        <p:spPr>
          <a:xfrm>
            <a:off x="810863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3" name="Rectangle 122"/>
          <p:cNvSpPr/>
          <p:nvPr/>
        </p:nvSpPr>
        <p:spPr>
          <a:xfrm>
            <a:off x="863917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80395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5" name="TextBox 124"/>
          <p:cNvSpPr txBox="1"/>
          <p:nvPr/>
        </p:nvSpPr>
        <p:spPr>
          <a:xfrm>
            <a:off x="893730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6" name="Rectangle 125"/>
          <p:cNvSpPr/>
          <p:nvPr/>
        </p:nvSpPr>
        <p:spPr>
          <a:xfrm>
            <a:off x="946785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963263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8" name="TextBox 127"/>
          <p:cNvSpPr txBox="1"/>
          <p:nvPr/>
        </p:nvSpPr>
        <p:spPr>
          <a:xfrm>
            <a:off x="976598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9" name="Rectangle 128"/>
          <p:cNvSpPr/>
          <p:nvPr/>
        </p:nvSpPr>
        <p:spPr>
          <a:xfrm>
            <a:off x="1029652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046130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31" name="TextBox 130"/>
          <p:cNvSpPr txBox="1"/>
          <p:nvPr/>
        </p:nvSpPr>
        <p:spPr>
          <a:xfrm>
            <a:off x="1059465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2" name="Rectangle 131"/>
          <p:cNvSpPr/>
          <p:nvPr/>
        </p:nvSpPr>
        <p:spPr>
          <a:xfrm>
            <a:off x="111252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1144250" y="27241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34" name="Rectangle 133"/>
          <p:cNvSpPr/>
          <p:nvPr/>
        </p:nvSpPr>
        <p:spPr>
          <a:xfrm>
            <a:off x="6191250" y="2952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248400" y="2952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CAGR 2026–2036</a:t>
            </a:r>
          </a:p>
        </p:txBody>
      </p:sp>
      <p:sp>
        <p:nvSpPr>
          <p:cNvPr id="136" name="Rectangle 135"/>
          <p:cNvSpPr/>
          <p:nvPr/>
        </p:nvSpPr>
        <p:spPr>
          <a:xfrm>
            <a:off x="78105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810863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8" name="TextBox 137"/>
          <p:cNvSpPr txBox="1"/>
          <p:nvPr/>
        </p:nvSpPr>
        <p:spPr>
          <a:xfrm>
            <a:off x="833151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39" name="Rectangle 138"/>
          <p:cNvSpPr/>
          <p:nvPr/>
        </p:nvSpPr>
        <p:spPr>
          <a:xfrm>
            <a:off x="863917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893730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1" name="TextBox 140"/>
          <p:cNvSpPr txBox="1"/>
          <p:nvPr/>
        </p:nvSpPr>
        <p:spPr>
          <a:xfrm>
            <a:off x="916019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2" name="Rectangle 141"/>
          <p:cNvSpPr/>
          <p:nvPr/>
        </p:nvSpPr>
        <p:spPr>
          <a:xfrm>
            <a:off x="946785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76598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4" name="TextBox 143"/>
          <p:cNvSpPr txBox="1"/>
          <p:nvPr/>
        </p:nvSpPr>
        <p:spPr>
          <a:xfrm>
            <a:off x="998886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5" name="Rectangle 144"/>
          <p:cNvSpPr/>
          <p:nvPr/>
        </p:nvSpPr>
        <p:spPr>
          <a:xfrm>
            <a:off x="1029652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059465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7" name="TextBox 146"/>
          <p:cNvSpPr txBox="1"/>
          <p:nvPr/>
        </p:nvSpPr>
        <p:spPr>
          <a:xfrm>
            <a:off x="1081754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8" name="Rectangle 147"/>
          <p:cNvSpPr/>
          <p:nvPr/>
        </p:nvSpPr>
        <p:spPr>
          <a:xfrm>
            <a:off x="111252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1423332" y="2952750"/>
            <a:ext cx="232410" cy="228600"/>
          </a:xfrm>
          <a:prstGeom prst="rect">
            <a:avLst/>
          </a:prstGeom>
          <a:noFill/>
        </p:spPr>
        <p:txBody>
          <a:bodyPr wrap="none" lIns="0" rIns="0" tIns="0" bIns="0" anchor="ctr">
            <a:spAutoFit/>
          </a:bodyPr>
          <a:lstStyle/>
          <a:p>
            <a:pPr algn="ctr"/>
            <a:r>
              <a:rPr sz="1100" b="1">
                <a:solidFill>
                  <a:srgbClr val="14213D"/>
                </a:solidFill>
                <a:latin typeface="Calibri"/>
              </a:rPr>
              <a:t> </a:t>
            </a:r>
          </a:p>
        </p:txBody>
      </p:sp>
      <p:sp>
        <p:nvSpPr>
          <p:cNvPr id="150" name="TextBox 149"/>
          <p:cNvSpPr txBox="1"/>
          <p:nvPr/>
        </p:nvSpPr>
        <p:spPr>
          <a:xfrm>
            <a:off x="11646218" y="2952750"/>
            <a:ext cx="133350" cy="228600"/>
          </a:xfrm>
          <a:prstGeom prst="rect">
            <a:avLst/>
          </a:prstGeom>
          <a:noFill/>
        </p:spPr>
        <p:txBody>
          <a:bodyPr wrap="none" lIns="0" rIns="0" tIns="0" bIns="0" anchor="ctr">
            <a:spAutoFit/>
          </a:bodyPr>
          <a:lstStyle/>
          <a:p>
            <a:pPr algn="l"/>
            <a:r>
              <a:rPr sz="1100" b="1">
                <a:solidFill>
                  <a:srgbClr val="14213D"/>
                </a:solidFill>
                <a:latin typeface="Calibri"/>
              </a:rPr>
              <a:t>%</a:t>
            </a:r>
          </a:p>
        </p:txBody>
      </p:sp>
      <p:sp>
        <p:nvSpPr>
          <p:cNvPr id="151" name="Rectangle 150"/>
          <p:cNvSpPr/>
          <p:nvPr/>
        </p:nvSpPr>
        <p:spPr>
          <a:xfrm>
            <a:off x="6191250" y="3181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248400" y="3181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Avg / player (US$ Mn)</a:t>
            </a:r>
          </a:p>
        </p:txBody>
      </p:sp>
      <p:sp>
        <p:nvSpPr>
          <p:cNvPr id="153" name="Rectangle 152"/>
          <p:cNvSpPr/>
          <p:nvPr/>
        </p:nvSpPr>
        <p:spPr>
          <a:xfrm>
            <a:off x="78105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782955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5" name="Rectangle 154"/>
          <p:cNvSpPr/>
          <p:nvPr/>
        </p:nvSpPr>
        <p:spPr>
          <a:xfrm>
            <a:off x="863917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865822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7" name="Rectangle 156"/>
          <p:cNvSpPr/>
          <p:nvPr/>
        </p:nvSpPr>
        <p:spPr>
          <a:xfrm>
            <a:off x="946785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948690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9" name="Rectangle 158"/>
          <p:cNvSpPr/>
          <p:nvPr/>
        </p:nvSpPr>
        <p:spPr>
          <a:xfrm>
            <a:off x="1029652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031557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a:t>
            </a:r>
          </a:p>
        </p:txBody>
      </p:sp>
      <p:sp>
        <p:nvSpPr>
          <p:cNvPr id="161" name="Rectangle 160"/>
          <p:cNvSpPr/>
          <p:nvPr/>
        </p:nvSpPr>
        <p:spPr>
          <a:xfrm>
            <a:off x="111252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1144250" y="3181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63" name="Rectangle 162"/>
          <p:cNvSpPr/>
          <p:nvPr/>
        </p:nvSpPr>
        <p:spPr>
          <a:xfrm>
            <a:off x="6191250" y="34099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248400" y="34099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Installed base share (units)</a:t>
            </a:r>
          </a:p>
        </p:txBody>
      </p:sp>
      <p:sp>
        <p:nvSpPr>
          <p:cNvPr id="165" name="Rectangle 164"/>
          <p:cNvSpPr/>
          <p:nvPr/>
        </p:nvSpPr>
        <p:spPr>
          <a:xfrm>
            <a:off x="78105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07624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67" name="TextBox 166"/>
          <p:cNvSpPr txBox="1"/>
          <p:nvPr/>
        </p:nvSpPr>
        <p:spPr>
          <a:xfrm>
            <a:off x="836390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68" name="Rectangle 167"/>
          <p:cNvSpPr/>
          <p:nvPr/>
        </p:nvSpPr>
        <p:spPr>
          <a:xfrm>
            <a:off x="863917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90492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0" name="TextBox 169"/>
          <p:cNvSpPr txBox="1"/>
          <p:nvPr/>
        </p:nvSpPr>
        <p:spPr>
          <a:xfrm>
            <a:off x="919257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1" name="Rectangle 170"/>
          <p:cNvSpPr/>
          <p:nvPr/>
        </p:nvSpPr>
        <p:spPr>
          <a:xfrm>
            <a:off x="946785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973359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3" name="TextBox 172"/>
          <p:cNvSpPr txBox="1"/>
          <p:nvPr/>
        </p:nvSpPr>
        <p:spPr>
          <a:xfrm>
            <a:off x="1002125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4" name="Rectangle 173"/>
          <p:cNvSpPr/>
          <p:nvPr/>
        </p:nvSpPr>
        <p:spPr>
          <a:xfrm>
            <a:off x="1029652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056227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6" name="TextBox 175"/>
          <p:cNvSpPr txBox="1"/>
          <p:nvPr/>
        </p:nvSpPr>
        <p:spPr>
          <a:xfrm>
            <a:off x="1084992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7" name="Rectangle 176"/>
          <p:cNvSpPr/>
          <p:nvPr/>
        </p:nvSpPr>
        <p:spPr>
          <a:xfrm>
            <a:off x="111252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11144250" y="3409950"/>
            <a:ext cx="790575" cy="32385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79" name="Rectangle 178"/>
          <p:cNvSpPr/>
          <p:nvPr/>
        </p:nvSpPr>
        <p:spPr>
          <a:xfrm>
            <a:off x="6191250" y="37338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248400" y="37338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Price positioning</a:t>
            </a:r>
          </a:p>
        </p:txBody>
      </p:sp>
      <p:sp>
        <p:nvSpPr>
          <p:cNvPr id="181" name="Rectangle 180"/>
          <p:cNvSpPr/>
          <p:nvPr/>
        </p:nvSpPr>
        <p:spPr>
          <a:xfrm>
            <a:off x="78105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82955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Premium</a:t>
            </a:r>
          </a:p>
        </p:txBody>
      </p:sp>
      <p:sp>
        <p:nvSpPr>
          <p:cNvPr id="183" name="Rectangle 182"/>
          <p:cNvSpPr/>
          <p:nvPr/>
        </p:nvSpPr>
        <p:spPr>
          <a:xfrm>
            <a:off x="863917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865822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Mid / value</a:t>
            </a:r>
          </a:p>
        </p:txBody>
      </p:sp>
      <p:sp>
        <p:nvSpPr>
          <p:cNvPr id="185" name="Rectangle 184"/>
          <p:cNvSpPr/>
          <p:nvPr/>
        </p:nvSpPr>
        <p:spPr>
          <a:xfrm>
            <a:off x="946785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948690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Value / entry</a:t>
            </a:r>
          </a:p>
        </p:txBody>
      </p:sp>
      <p:sp>
        <p:nvSpPr>
          <p:cNvPr id="187" name="Rectangle 186"/>
          <p:cNvSpPr/>
          <p:nvPr/>
        </p:nvSpPr>
        <p:spPr>
          <a:xfrm>
            <a:off x="1029652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1031557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Mixed</a:t>
            </a:r>
          </a:p>
        </p:txBody>
      </p:sp>
      <p:sp>
        <p:nvSpPr>
          <p:cNvPr id="189" name="Rectangle 188"/>
          <p:cNvSpPr/>
          <p:nvPr/>
        </p:nvSpPr>
        <p:spPr>
          <a:xfrm>
            <a:off x="111252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11144250" y="37338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191" name="Rectangle 190"/>
          <p:cNvSpPr/>
          <p:nvPr/>
        </p:nvSpPr>
        <p:spPr>
          <a:xfrm>
            <a:off x="6191250" y="40576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248400" y="40576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Route-to-market</a:t>
            </a:r>
          </a:p>
        </p:txBody>
      </p:sp>
      <p:sp>
        <p:nvSpPr>
          <p:cNvPr id="193" name="Rectangle 192"/>
          <p:cNvSpPr/>
          <p:nvPr/>
        </p:nvSpPr>
        <p:spPr>
          <a:xfrm>
            <a:off x="78105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782955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Direct / key accounts</a:t>
            </a:r>
          </a:p>
        </p:txBody>
      </p:sp>
      <p:sp>
        <p:nvSpPr>
          <p:cNvPr id="195" name="Rectangle 194"/>
          <p:cNvSpPr/>
          <p:nvPr/>
        </p:nvSpPr>
        <p:spPr>
          <a:xfrm>
            <a:off x="863917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865822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Distributors</a:t>
            </a:r>
          </a:p>
        </p:txBody>
      </p:sp>
      <p:sp>
        <p:nvSpPr>
          <p:cNvPr id="197" name="Rectangle 196"/>
          <p:cNvSpPr/>
          <p:nvPr/>
        </p:nvSpPr>
        <p:spPr>
          <a:xfrm>
            <a:off x="946785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948690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Regional partners</a:t>
            </a:r>
          </a:p>
        </p:txBody>
      </p:sp>
      <p:sp>
        <p:nvSpPr>
          <p:cNvPr id="199" name="Rectangle 198"/>
          <p:cNvSpPr/>
          <p:nvPr/>
        </p:nvSpPr>
        <p:spPr>
          <a:xfrm>
            <a:off x="1029652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1031557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Local / online</a:t>
            </a:r>
          </a:p>
        </p:txBody>
      </p:sp>
      <p:sp>
        <p:nvSpPr>
          <p:cNvPr id="201" name="Rectangle 200"/>
          <p:cNvSpPr/>
          <p:nvPr/>
        </p:nvSpPr>
        <p:spPr>
          <a:xfrm>
            <a:off x="111252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11144250" y="40576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03" name="Rectangle 202"/>
          <p:cNvSpPr/>
          <p:nvPr/>
        </p:nvSpPr>
        <p:spPr>
          <a:xfrm>
            <a:off x="6191250" y="43815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6248400" y="43815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Portfolio breadth</a:t>
            </a:r>
          </a:p>
        </p:txBody>
      </p:sp>
      <p:sp>
        <p:nvSpPr>
          <p:cNvPr id="205" name="Rectangle 204"/>
          <p:cNvSpPr/>
          <p:nvPr/>
        </p:nvSpPr>
        <p:spPr>
          <a:xfrm>
            <a:off x="78105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782955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Full portfolio</a:t>
            </a:r>
          </a:p>
        </p:txBody>
      </p:sp>
      <p:sp>
        <p:nvSpPr>
          <p:cNvPr id="207" name="Rectangle 206"/>
          <p:cNvSpPr/>
          <p:nvPr/>
        </p:nvSpPr>
        <p:spPr>
          <a:xfrm>
            <a:off x="863917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865822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2–3 core lines</a:t>
            </a:r>
          </a:p>
        </p:txBody>
      </p:sp>
      <p:sp>
        <p:nvSpPr>
          <p:cNvPr id="209" name="Rectangle 208"/>
          <p:cNvSpPr/>
          <p:nvPr/>
        </p:nvSpPr>
        <p:spPr>
          <a:xfrm>
            <a:off x="946785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948690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Single line</a:t>
            </a:r>
          </a:p>
        </p:txBody>
      </p:sp>
      <p:sp>
        <p:nvSpPr>
          <p:cNvPr id="211" name="Rectangle 210"/>
          <p:cNvSpPr/>
          <p:nvPr/>
        </p:nvSpPr>
        <p:spPr>
          <a:xfrm>
            <a:off x="1029652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1031557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Niche</a:t>
            </a:r>
          </a:p>
        </p:txBody>
      </p:sp>
      <p:sp>
        <p:nvSpPr>
          <p:cNvPr id="213" name="Rectangle 212"/>
          <p:cNvSpPr/>
          <p:nvPr/>
        </p:nvSpPr>
        <p:spPr>
          <a:xfrm>
            <a:off x="111252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11144250" y="43815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15" name="Rectangle 214"/>
          <p:cNvSpPr/>
          <p:nvPr/>
        </p:nvSpPr>
        <p:spPr>
          <a:xfrm>
            <a:off x="6191250" y="47053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6248400" y="47053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Strategic posture</a:t>
            </a:r>
          </a:p>
        </p:txBody>
      </p:sp>
      <p:sp>
        <p:nvSpPr>
          <p:cNvPr id="217" name="Rectangle 216"/>
          <p:cNvSpPr/>
          <p:nvPr/>
        </p:nvSpPr>
        <p:spPr>
          <a:xfrm>
            <a:off x="781050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78295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Defend &amp; bundle</a:t>
            </a:r>
          </a:p>
        </p:txBody>
      </p:sp>
      <p:sp>
        <p:nvSpPr>
          <p:cNvPr id="219" name="Rectangle 218"/>
          <p:cNvSpPr/>
          <p:nvPr/>
        </p:nvSpPr>
        <p:spPr>
          <a:xfrm>
            <a:off x="863917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865822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Niche deepening</a:t>
            </a:r>
          </a:p>
        </p:txBody>
      </p:sp>
      <p:sp>
        <p:nvSpPr>
          <p:cNvPr id="221" name="Rectangle 220"/>
          <p:cNvSpPr/>
          <p:nvPr/>
        </p:nvSpPr>
        <p:spPr>
          <a:xfrm>
            <a:off x="946785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948690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Scale-up or exit</a:t>
            </a:r>
          </a:p>
        </p:txBody>
      </p:sp>
      <p:sp>
        <p:nvSpPr>
          <p:cNvPr id="223" name="Rectangle 222"/>
          <p:cNvSpPr/>
          <p:nvPr/>
        </p:nvSpPr>
        <p:spPr>
          <a:xfrm>
            <a:off x="1029652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1031557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Long-tail</a:t>
            </a:r>
          </a:p>
        </p:txBody>
      </p:sp>
      <p:sp>
        <p:nvSpPr>
          <p:cNvPr id="225" name="Rectangle 224"/>
          <p:cNvSpPr/>
          <p:nvPr/>
        </p:nvSpPr>
        <p:spPr>
          <a:xfrm>
            <a:off x="11125200" y="47053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111442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27" name="Rounded Rectangle 226"/>
          <p:cNvSpPr/>
          <p:nvPr/>
        </p:nvSpPr>
        <p:spPr>
          <a:xfrm>
            <a:off x="6096000" y="5162550"/>
            <a:ext cx="5953125" cy="1466850"/>
          </a:xfrm>
          <a:prstGeom prst="roundRect">
            <a:avLst>
              <a:gd name="adj" fmla="val 12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27"/>
          <p:cNvSpPr txBox="1"/>
          <p:nvPr/>
        </p:nvSpPr>
        <p:spPr>
          <a:xfrm>
            <a:off x="6191250" y="52197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229" name="TextBox 228"/>
          <p:cNvSpPr txBox="1"/>
          <p:nvPr/>
        </p:nvSpPr>
        <p:spPr>
          <a:xfrm>
            <a:off x="6210300" y="54673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0" name="TextBox 229"/>
          <p:cNvSpPr txBox="1"/>
          <p:nvPr/>
        </p:nvSpPr>
        <p:spPr>
          <a:xfrm>
            <a:off x="6343650" y="5467350"/>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1" name="TextBox 230"/>
          <p:cNvSpPr txBox="1"/>
          <p:nvPr/>
        </p:nvSpPr>
        <p:spPr>
          <a:xfrm>
            <a:off x="6210300" y="58483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2" name="TextBox 231"/>
          <p:cNvSpPr txBox="1"/>
          <p:nvPr/>
        </p:nvSpPr>
        <p:spPr>
          <a:xfrm>
            <a:off x="6343650" y="5848350"/>
            <a:ext cx="5591175" cy="37147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3" name="TextBox 232"/>
          <p:cNvSpPr txBox="1"/>
          <p:nvPr/>
        </p:nvSpPr>
        <p:spPr>
          <a:xfrm>
            <a:off x="6210300" y="6067425"/>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4" name="TextBox 233"/>
          <p:cNvSpPr txBox="1"/>
          <p:nvPr/>
        </p:nvSpPr>
        <p:spPr>
          <a:xfrm>
            <a:off x="6343650" y="6067425"/>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5" name="TextBox 2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6" name="Picture 235" descr="lock.png"/>
          <p:cNvPicPr>
            <a:picLocks noChangeAspect="1"/>
          </p:cNvPicPr>
          <p:nvPr/>
        </p:nvPicPr>
        <p:blipFill>
          <a:blip r:embed="rId4"/>
          <a:stretch>
            <a:fillRect/>
          </a:stretch>
        </p:blipFill>
        <p:spPr>
          <a:xfrm>
            <a:off x="1631100" y="1620901"/>
            <a:ext cx="128699" cy="187198"/>
          </a:xfrm>
          <a:prstGeom prst="rect">
            <a:avLst/>
          </a:prstGeom>
        </p:spPr>
      </p:pic>
      <p:pic>
        <p:nvPicPr>
          <p:cNvPr id="237" name="Picture 236" descr="lock.png"/>
          <p:cNvPicPr>
            <a:picLocks noChangeAspect="1"/>
          </p:cNvPicPr>
          <p:nvPr/>
        </p:nvPicPr>
        <p:blipFill>
          <a:blip r:embed="rId4"/>
          <a:stretch>
            <a:fillRect/>
          </a:stretch>
        </p:blipFill>
        <p:spPr>
          <a:xfrm>
            <a:off x="1631100" y="2478151"/>
            <a:ext cx="128699" cy="187198"/>
          </a:xfrm>
          <a:prstGeom prst="rect">
            <a:avLst/>
          </a:prstGeom>
        </p:spPr>
      </p:pic>
      <p:pic>
        <p:nvPicPr>
          <p:cNvPr id="238" name="Picture 237" descr="lock.png"/>
          <p:cNvPicPr>
            <a:picLocks noChangeAspect="1"/>
          </p:cNvPicPr>
          <p:nvPr/>
        </p:nvPicPr>
        <p:blipFill>
          <a:blip r:embed="rId4"/>
          <a:stretch>
            <a:fillRect/>
          </a:stretch>
        </p:blipFill>
        <p:spPr>
          <a:xfrm>
            <a:off x="1631100" y="3335401"/>
            <a:ext cx="128699" cy="187198"/>
          </a:xfrm>
          <a:prstGeom prst="rect">
            <a:avLst/>
          </a:prstGeom>
        </p:spPr>
      </p:pic>
      <p:pic>
        <p:nvPicPr>
          <p:cNvPr id="239" name="Picture 238" descr="lock.png"/>
          <p:cNvPicPr>
            <a:picLocks noChangeAspect="1"/>
          </p:cNvPicPr>
          <p:nvPr/>
        </p:nvPicPr>
        <p:blipFill>
          <a:blip r:embed="rId4"/>
          <a:stretch>
            <a:fillRect/>
          </a:stretch>
        </p:blipFill>
        <p:spPr>
          <a:xfrm>
            <a:off x="1631100" y="4192651"/>
            <a:ext cx="128699" cy="187198"/>
          </a:xfrm>
          <a:prstGeom prst="rect">
            <a:avLst/>
          </a:prstGeom>
        </p:spPr>
      </p:pic>
      <p:pic>
        <p:nvPicPr>
          <p:cNvPr id="240" name="Picture 239" descr="lock.png"/>
          <p:cNvPicPr>
            <a:picLocks noChangeAspect="1"/>
          </p:cNvPicPr>
          <p:nvPr/>
        </p:nvPicPr>
        <p:blipFill>
          <a:blip r:embed="rId4"/>
          <a:stretch>
            <a:fillRect/>
          </a:stretch>
        </p:blipFill>
        <p:spPr>
          <a:xfrm>
            <a:off x="11475188" y="1830451"/>
            <a:ext cx="128699" cy="187198"/>
          </a:xfrm>
          <a:prstGeom prst="rect">
            <a:avLst/>
          </a:prstGeom>
        </p:spPr>
      </p:pic>
      <p:pic>
        <p:nvPicPr>
          <p:cNvPr id="241" name="Picture 240" descr="lock.png"/>
          <p:cNvPicPr>
            <a:picLocks noChangeAspect="1"/>
          </p:cNvPicPr>
          <p:nvPr/>
        </p:nvPicPr>
        <p:blipFill>
          <a:blip r:embed="rId4"/>
          <a:stretch>
            <a:fillRect/>
          </a:stretch>
        </p:blipFill>
        <p:spPr>
          <a:xfrm>
            <a:off x="8160488" y="2059051"/>
            <a:ext cx="128699" cy="187198"/>
          </a:xfrm>
          <a:prstGeom prst="rect">
            <a:avLst/>
          </a:prstGeom>
        </p:spPr>
      </p:pic>
      <p:pic>
        <p:nvPicPr>
          <p:cNvPr id="242" name="Picture 241" descr="lock.png"/>
          <p:cNvPicPr>
            <a:picLocks noChangeAspect="1"/>
          </p:cNvPicPr>
          <p:nvPr/>
        </p:nvPicPr>
        <p:blipFill>
          <a:blip r:embed="rId4"/>
          <a:stretch>
            <a:fillRect/>
          </a:stretch>
        </p:blipFill>
        <p:spPr>
          <a:xfrm>
            <a:off x="8989163" y="2059051"/>
            <a:ext cx="128699" cy="187198"/>
          </a:xfrm>
          <a:prstGeom prst="rect">
            <a:avLst/>
          </a:prstGeom>
        </p:spPr>
      </p:pic>
      <p:pic>
        <p:nvPicPr>
          <p:cNvPr id="243" name="Picture 242" descr="lock.png"/>
          <p:cNvPicPr>
            <a:picLocks noChangeAspect="1"/>
          </p:cNvPicPr>
          <p:nvPr/>
        </p:nvPicPr>
        <p:blipFill>
          <a:blip r:embed="rId4"/>
          <a:stretch>
            <a:fillRect/>
          </a:stretch>
        </p:blipFill>
        <p:spPr>
          <a:xfrm>
            <a:off x="9817838" y="2059051"/>
            <a:ext cx="128699" cy="187198"/>
          </a:xfrm>
          <a:prstGeom prst="rect">
            <a:avLst/>
          </a:prstGeom>
        </p:spPr>
      </p:pic>
      <p:pic>
        <p:nvPicPr>
          <p:cNvPr id="244" name="Picture 243" descr="lock.png"/>
          <p:cNvPicPr>
            <a:picLocks noChangeAspect="1"/>
          </p:cNvPicPr>
          <p:nvPr/>
        </p:nvPicPr>
        <p:blipFill>
          <a:blip r:embed="rId4"/>
          <a:stretch>
            <a:fillRect/>
          </a:stretch>
        </p:blipFill>
        <p:spPr>
          <a:xfrm>
            <a:off x="10646513" y="2059051"/>
            <a:ext cx="128699" cy="187198"/>
          </a:xfrm>
          <a:prstGeom prst="rect">
            <a:avLst/>
          </a:prstGeom>
        </p:spPr>
      </p:pic>
      <p:pic>
        <p:nvPicPr>
          <p:cNvPr id="245" name="Picture 244" descr="lock.png"/>
          <p:cNvPicPr>
            <a:picLocks noChangeAspect="1"/>
          </p:cNvPicPr>
          <p:nvPr/>
        </p:nvPicPr>
        <p:blipFill>
          <a:blip r:embed="rId4"/>
          <a:stretch>
            <a:fillRect/>
          </a:stretch>
        </p:blipFill>
        <p:spPr>
          <a:xfrm>
            <a:off x="11475188" y="2059051"/>
            <a:ext cx="128699" cy="187198"/>
          </a:xfrm>
          <a:prstGeom prst="rect">
            <a:avLst/>
          </a:prstGeom>
        </p:spPr>
      </p:pic>
      <p:pic>
        <p:nvPicPr>
          <p:cNvPr id="246" name="Picture 245" descr="lock.png"/>
          <p:cNvPicPr>
            <a:picLocks noChangeAspect="1"/>
          </p:cNvPicPr>
          <p:nvPr/>
        </p:nvPicPr>
        <p:blipFill>
          <a:blip r:embed="rId4"/>
          <a:stretch>
            <a:fillRect/>
          </a:stretch>
        </p:blipFill>
        <p:spPr>
          <a:xfrm>
            <a:off x="8160488" y="2287651"/>
            <a:ext cx="128699" cy="187198"/>
          </a:xfrm>
          <a:prstGeom prst="rect">
            <a:avLst/>
          </a:prstGeom>
        </p:spPr>
      </p:pic>
      <p:pic>
        <p:nvPicPr>
          <p:cNvPr id="247" name="Picture 246" descr="lock.png"/>
          <p:cNvPicPr>
            <a:picLocks noChangeAspect="1"/>
          </p:cNvPicPr>
          <p:nvPr/>
        </p:nvPicPr>
        <p:blipFill>
          <a:blip r:embed="rId4"/>
          <a:stretch>
            <a:fillRect/>
          </a:stretch>
        </p:blipFill>
        <p:spPr>
          <a:xfrm>
            <a:off x="8989162" y="2287651"/>
            <a:ext cx="128699" cy="187198"/>
          </a:xfrm>
          <a:prstGeom prst="rect">
            <a:avLst/>
          </a:prstGeom>
        </p:spPr>
      </p:pic>
      <p:pic>
        <p:nvPicPr>
          <p:cNvPr id="248" name="Picture 247" descr="lock.png"/>
          <p:cNvPicPr>
            <a:picLocks noChangeAspect="1"/>
          </p:cNvPicPr>
          <p:nvPr/>
        </p:nvPicPr>
        <p:blipFill>
          <a:blip r:embed="rId4"/>
          <a:stretch>
            <a:fillRect/>
          </a:stretch>
        </p:blipFill>
        <p:spPr>
          <a:xfrm>
            <a:off x="9817838" y="2287651"/>
            <a:ext cx="128699" cy="187198"/>
          </a:xfrm>
          <a:prstGeom prst="rect">
            <a:avLst/>
          </a:prstGeom>
        </p:spPr>
      </p:pic>
      <p:pic>
        <p:nvPicPr>
          <p:cNvPr id="249" name="Picture 248" descr="lock.png"/>
          <p:cNvPicPr>
            <a:picLocks noChangeAspect="1"/>
          </p:cNvPicPr>
          <p:nvPr/>
        </p:nvPicPr>
        <p:blipFill>
          <a:blip r:embed="rId4"/>
          <a:stretch>
            <a:fillRect/>
          </a:stretch>
        </p:blipFill>
        <p:spPr>
          <a:xfrm>
            <a:off x="10646512" y="2287651"/>
            <a:ext cx="128699" cy="187198"/>
          </a:xfrm>
          <a:prstGeom prst="rect">
            <a:avLst/>
          </a:prstGeom>
        </p:spPr>
      </p:pic>
      <p:pic>
        <p:nvPicPr>
          <p:cNvPr id="250" name="Picture 249" descr="lock.png"/>
          <p:cNvPicPr>
            <a:picLocks noChangeAspect="1"/>
          </p:cNvPicPr>
          <p:nvPr/>
        </p:nvPicPr>
        <p:blipFill>
          <a:blip r:embed="rId4"/>
          <a:stretch>
            <a:fillRect/>
          </a:stretch>
        </p:blipFill>
        <p:spPr>
          <a:xfrm>
            <a:off x="8160488" y="2516251"/>
            <a:ext cx="128699" cy="187198"/>
          </a:xfrm>
          <a:prstGeom prst="rect">
            <a:avLst/>
          </a:prstGeom>
        </p:spPr>
      </p:pic>
      <p:pic>
        <p:nvPicPr>
          <p:cNvPr id="251" name="Picture 250" descr="lock.png"/>
          <p:cNvPicPr>
            <a:picLocks noChangeAspect="1"/>
          </p:cNvPicPr>
          <p:nvPr/>
        </p:nvPicPr>
        <p:blipFill>
          <a:blip r:embed="rId4"/>
          <a:stretch>
            <a:fillRect/>
          </a:stretch>
        </p:blipFill>
        <p:spPr>
          <a:xfrm>
            <a:off x="8989162" y="2516251"/>
            <a:ext cx="128699" cy="187198"/>
          </a:xfrm>
          <a:prstGeom prst="rect">
            <a:avLst/>
          </a:prstGeom>
        </p:spPr>
      </p:pic>
      <p:pic>
        <p:nvPicPr>
          <p:cNvPr id="252" name="Picture 251" descr="lock.png"/>
          <p:cNvPicPr>
            <a:picLocks noChangeAspect="1"/>
          </p:cNvPicPr>
          <p:nvPr/>
        </p:nvPicPr>
        <p:blipFill>
          <a:blip r:embed="rId4"/>
          <a:stretch>
            <a:fillRect/>
          </a:stretch>
        </p:blipFill>
        <p:spPr>
          <a:xfrm>
            <a:off x="9817838" y="2516251"/>
            <a:ext cx="128699" cy="187198"/>
          </a:xfrm>
          <a:prstGeom prst="rect">
            <a:avLst/>
          </a:prstGeom>
        </p:spPr>
      </p:pic>
      <p:pic>
        <p:nvPicPr>
          <p:cNvPr id="253" name="Picture 252" descr="lock.png"/>
          <p:cNvPicPr>
            <a:picLocks noChangeAspect="1"/>
          </p:cNvPicPr>
          <p:nvPr/>
        </p:nvPicPr>
        <p:blipFill>
          <a:blip r:embed="rId4"/>
          <a:stretch>
            <a:fillRect/>
          </a:stretch>
        </p:blipFill>
        <p:spPr>
          <a:xfrm>
            <a:off x="10646512" y="2516251"/>
            <a:ext cx="128699" cy="187198"/>
          </a:xfrm>
          <a:prstGeom prst="rect">
            <a:avLst/>
          </a:prstGeom>
        </p:spPr>
      </p:pic>
      <p:pic>
        <p:nvPicPr>
          <p:cNvPr id="254" name="Picture 253" descr="lock.png"/>
          <p:cNvPicPr>
            <a:picLocks noChangeAspect="1"/>
          </p:cNvPicPr>
          <p:nvPr/>
        </p:nvPicPr>
        <p:blipFill>
          <a:blip r:embed="rId4"/>
          <a:stretch>
            <a:fillRect/>
          </a:stretch>
        </p:blipFill>
        <p:spPr>
          <a:xfrm>
            <a:off x="8160487" y="2744851"/>
            <a:ext cx="128699" cy="187198"/>
          </a:xfrm>
          <a:prstGeom prst="rect">
            <a:avLst/>
          </a:prstGeom>
        </p:spPr>
      </p:pic>
      <p:pic>
        <p:nvPicPr>
          <p:cNvPr id="255" name="Picture 254" descr="lock.png"/>
          <p:cNvPicPr>
            <a:picLocks noChangeAspect="1"/>
          </p:cNvPicPr>
          <p:nvPr/>
        </p:nvPicPr>
        <p:blipFill>
          <a:blip r:embed="rId4"/>
          <a:stretch>
            <a:fillRect/>
          </a:stretch>
        </p:blipFill>
        <p:spPr>
          <a:xfrm>
            <a:off x="8989163" y="2744851"/>
            <a:ext cx="128699" cy="187198"/>
          </a:xfrm>
          <a:prstGeom prst="rect">
            <a:avLst/>
          </a:prstGeom>
        </p:spPr>
      </p:pic>
      <p:pic>
        <p:nvPicPr>
          <p:cNvPr id="256" name="Picture 255" descr="lock.png"/>
          <p:cNvPicPr>
            <a:picLocks noChangeAspect="1"/>
          </p:cNvPicPr>
          <p:nvPr/>
        </p:nvPicPr>
        <p:blipFill>
          <a:blip r:embed="rId4"/>
          <a:stretch>
            <a:fillRect/>
          </a:stretch>
        </p:blipFill>
        <p:spPr>
          <a:xfrm>
            <a:off x="9817837" y="2744851"/>
            <a:ext cx="128699" cy="187198"/>
          </a:xfrm>
          <a:prstGeom prst="rect">
            <a:avLst/>
          </a:prstGeom>
        </p:spPr>
      </p:pic>
      <p:pic>
        <p:nvPicPr>
          <p:cNvPr id="257" name="Picture 256" descr="lock.png"/>
          <p:cNvPicPr>
            <a:picLocks noChangeAspect="1"/>
          </p:cNvPicPr>
          <p:nvPr/>
        </p:nvPicPr>
        <p:blipFill>
          <a:blip r:embed="rId4"/>
          <a:stretch>
            <a:fillRect/>
          </a:stretch>
        </p:blipFill>
        <p:spPr>
          <a:xfrm>
            <a:off x="10646513" y="2744851"/>
            <a:ext cx="128699" cy="187198"/>
          </a:xfrm>
          <a:prstGeom prst="rect">
            <a:avLst/>
          </a:prstGeom>
        </p:spPr>
      </p:pic>
      <p:pic>
        <p:nvPicPr>
          <p:cNvPr id="258" name="Picture 257" descr="lock.png"/>
          <p:cNvPicPr>
            <a:picLocks noChangeAspect="1"/>
          </p:cNvPicPr>
          <p:nvPr/>
        </p:nvPicPr>
        <p:blipFill>
          <a:blip r:embed="rId4"/>
          <a:stretch>
            <a:fillRect/>
          </a:stretch>
        </p:blipFill>
        <p:spPr>
          <a:xfrm>
            <a:off x="8160487" y="2973451"/>
            <a:ext cx="128699" cy="187198"/>
          </a:xfrm>
          <a:prstGeom prst="rect">
            <a:avLst/>
          </a:prstGeom>
        </p:spPr>
      </p:pic>
      <p:pic>
        <p:nvPicPr>
          <p:cNvPr id="259" name="Picture 258" descr="lock.png"/>
          <p:cNvPicPr>
            <a:picLocks noChangeAspect="1"/>
          </p:cNvPicPr>
          <p:nvPr/>
        </p:nvPicPr>
        <p:blipFill>
          <a:blip r:embed="rId4"/>
          <a:stretch>
            <a:fillRect/>
          </a:stretch>
        </p:blipFill>
        <p:spPr>
          <a:xfrm>
            <a:off x="8989163" y="2973451"/>
            <a:ext cx="128699" cy="187198"/>
          </a:xfrm>
          <a:prstGeom prst="rect">
            <a:avLst/>
          </a:prstGeom>
        </p:spPr>
      </p:pic>
      <p:pic>
        <p:nvPicPr>
          <p:cNvPr id="260" name="Picture 259" descr="lock.png"/>
          <p:cNvPicPr>
            <a:picLocks noChangeAspect="1"/>
          </p:cNvPicPr>
          <p:nvPr/>
        </p:nvPicPr>
        <p:blipFill>
          <a:blip r:embed="rId4"/>
          <a:stretch>
            <a:fillRect/>
          </a:stretch>
        </p:blipFill>
        <p:spPr>
          <a:xfrm>
            <a:off x="9817837" y="2973451"/>
            <a:ext cx="128699" cy="187198"/>
          </a:xfrm>
          <a:prstGeom prst="rect">
            <a:avLst/>
          </a:prstGeom>
        </p:spPr>
      </p:pic>
      <p:pic>
        <p:nvPicPr>
          <p:cNvPr id="261" name="Picture 260" descr="lock.png"/>
          <p:cNvPicPr>
            <a:picLocks noChangeAspect="1"/>
          </p:cNvPicPr>
          <p:nvPr/>
        </p:nvPicPr>
        <p:blipFill>
          <a:blip r:embed="rId4"/>
          <a:stretch>
            <a:fillRect/>
          </a:stretch>
        </p:blipFill>
        <p:spPr>
          <a:xfrm>
            <a:off x="10646513" y="2973451"/>
            <a:ext cx="128699" cy="187198"/>
          </a:xfrm>
          <a:prstGeom prst="rect">
            <a:avLst/>
          </a:prstGeom>
        </p:spPr>
      </p:pic>
      <p:pic>
        <p:nvPicPr>
          <p:cNvPr id="262" name="Picture 261" descr="lock.png"/>
          <p:cNvPicPr>
            <a:picLocks noChangeAspect="1"/>
          </p:cNvPicPr>
          <p:nvPr/>
        </p:nvPicPr>
        <p:blipFill>
          <a:blip r:embed="rId4"/>
          <a:stretch>
            <a:fillRect/>
          </a:stretch>
        </p:blipFill>
        <p:spPr>
          <a:xfrm>
            <a:off x="11475187" y="2973451"/>
            <a:ext cx="128699" cy="187198"/>
          </a:xfrm>
          <a:prstGeom prst="rect">
            <a:avLst/>
          </a:prstGeom>
        </p:spPr>
      </p:pic>
      <p:pic>
        <p:nvPicPr>
          <p:cNvPr id="263" name="Picture 262" descr="lock.png"/>
          <p:cNvPicPr>
            <a:picLocks noChangeAspect="1"/>
          </p:cNvPicPr>
          <p:nvPr/>
        </p:nvPicPr>
        <p:blipFill>
          <a:blip r:embed="rId4"/>
          <a:stretch>
            <a:fillRect/>
          </a:stretch>
        </p:blipFill>
        <p:spPr>
          <a:xfrm>
            <a:off x="8160488" y="3202051"/>
            <a:ext cx="128699" cy="187198"/>
          </a:xfrm>
          <a:prstGeom prst="rect">
            <a:avLst/>
          </a:prstGeom>
        </p:spPr>
      </p:pic>
      <p:pic>
        <p:nvPicPr>
          <p:cNvPr id="264" name="Picture 263" descr="lock.png"/>
          <p:cNvPicPr>
            <a:picLocks noChangeAspect="1"/>
          </p:cNvPicPr>
          <p:nvPr/>
        </p:nvPicPr>
        <p:blipFill>
          <a:blip r:embed="rId4"/>
          <a:stretch>
            <a:fillRect/>
          </a:stretch>
        </p:blipFill>
        <p:spPr>
          <a:xfrm>
            <a:off x="8989163" y="3202051"/>
            <a:ext cx="128699" cy="187198"/>
          </a:xfrm>
          <a:prstGeom prst="rect">
            <a:avLst/>
          </a:prstGeom>
        </p:spPr>
      </p:pic>
      <p:pic>
        <p:nvPicPr>
          <p:cNvPr id="265" name="Picture 264" descr="lock.png"/>
          <p:cNvPicPr>
            <a:picLocks noChangeAspect="1"/>
          </p:cNvPicPr>
          <p:nvPr/>
        </p:nvPicPr>
        <p:blipFill>
          <a:blip r:embed="rId4"/>
          <a:stretch>
            <a:fillRect/>
          </a:stretch>
        </p:blipFill>
        <p:spPr>
          <a:xfrm>
            <a:off x="9817838" y="3202051"/>
            <a:ext cx="128699" cy="187198"/>
          </a:xfrm>
          <a:prstGeom prst="rect">
            <a:avLst/>
          </a:prstGeom>
        </p:spPr>
      </p:pic>
      <p:pic>
        <p:nvPicPr>
          <p:cNvPr id="266" name="Picture 265" descr="lock.png"/>
          <p:cNvPicPr>
            <a:picLocks noChangeAspect="1"/>
          </p:cNvPicPr>
          <p:nvPr/>
        </p:nvPicPr>
        <p:blipFill>
          <a:blip r:embed="rId4"/>
          <a:stretch>
            <a:fillRect/>
          </a:stretch>
        </p:blipFill>
        <p:spPr>
          <a:xfrm>
            <a:off x="8160488" y="3478276"/>
            <a:ext cx="128699" cy="187198"/>
          </a:xfrm>
          <a:prstGeom prst="rect">
            <a:avLst/>
          </a:prstGeom>
        </p:spPr>
      </p:pic>
      <p:pic>
        <p:nvPicPr>
          <p:cNvPr id="267" name="Picture 266" descr="lock.png"/>
          <p:cNvPicPr>
            <a:picLocks noChangeAspect="1"/>
          </p:cNvPicPr>
          <p:nvPr/>
        </p:nvPicPr>
        <p:blipFill>
          <a:blip r:embed="rId4"/>
          <a:stretch>
            <a:fillRect/>
          </a:stretch>
        </p:blipFill>
        <p:spPr>
          <a:xfrm>
            <a:off x="8989162" y="3478276"/>
            <a:ext cx="128699" cy="187198"/>
          </a:xfrm>
          <a:prstGeom prst="rect">
            <a:avLst/>
          </a:prstGeom>
        </p:spPr>
      </p:pic>
      <p:pic>
        <p:nvPicPr>
          <p:cNvPr id="268" name="Picture 267" descr="lock.png"/>
          <p:cNvPicPr>
            <a:picLocks noChangeAspect="1"/>
          </p:cNvPicPr>
          <p:nvPr/>
        </p:nvPicPr>
        <p:blipFill>
          <a:blip r:embed="rId4"/>
          <a:stretch>
            <a:fillRect/>
          </a:stretch>
        </p:blipFill>
        <p:spPr>
          <a:xfrm>
            <a:off x="9817838" y="3478276"/>
            <a:ext cx="128699" cy="187198"/>
          </a:xfrm>
          <a:prstGeom prst="rect">
            <a:avLst/>
          </a:prstGeom>
        </p:spPr>
      </p:pic>
      <p:pic>
        <p:nvPicPr>
          <p:cNvPr id="269" name="Picture 268" descr="lock.png"/>
          <p:cNvPicPr>
            <a:picLocks noChangeAspect="1"/>
          </p:cNvPicPr>
          <p:nvPr/>
        </p:nvPicPr>
        <p:blipFill>
          <a:blip r:embed="rId4"/>
          <a:stretch>
            <a:fillRect/>
          </a:stretch>
        </p:blipFill>
        <p:spPr>
          <a:xfrm>
            <a:off x="10646512" y="3478276"/>
            <a:ext cx="128699" cy="187198"/>
          </a:xfrm>
          <a:prstGeom prst="rect">
            <a:avLst/>
          </a:prstGeom>
        </p:spPr>
      </p:pic>
      <p:sp>
        <p:nvSpPr>
          <p:cNvPr id="270" name="TextBox 269"/>
          <p:cNvSpPr txBox="1"/>
          <p:nvPr/>
        </p:nvSpPr>
        <p:spPr>
          <a:xfrm>
            <a:off x="266700" y="1344930"/>
            <a:ext cx="491480" cy="186689"/>
          </a:xfrm>
          <a:prstGeom prst="rect">
            <a:avLst/>
          </a:prstGeom>
          <a:noFill/>
        </p:spPr>
        <p:txBody>
          <a:bodyPr wrap="none" lIns="0" rIns="0" tIns="0" bIns="0">
            <a:spAutoFit/>
          </a:bodyPr>
          <a:lstStyle/>
          <a:p>
            <a:r>
              <a:rPr sz="1100" b="0">
                <a:solidFill>
                  <a:srgbClr val="6B7280"/>
                </a:solidFill>
                <a:latin typeface="Calibri"/>
              </a:rPr>
              <a:t>Market</a:t>
            </a:r>
          </a:p>
        </p:txBody>
      </p:sp>
      <p:pic>
        <p:nvPicPr>
          <p:cNvPr id="271" name="Picture 270" descr="lock.png"/>
          <p:cNvPicPr>
            <a:picLocks noChangeAspect="1"/>
          </p:cNvPicPr>
          <p:nvPr/>
        </p:nvPicPr>
        <p:blipFill>
          <a:blip r:embed="rId4"/>
          <a:stretch>
            <a:fillRect/>
          </a:stretch>
        </p:blipFill>
        <p:spPr>
          <a:xfrm>
            <a:off x="706231" y="1335151"/>
            <a:ext cx="128699" cy="187198"/>
          </a:xfrm>
          <a:prstGeom prst="rect">
            <a:avLst/>
          </a:prstGeom>
        </p:spPr>
      </p:pic>
      <p:sp>
        <p:nvSpPr>
          <p:cNvPr id="272" name="TextBox 271"/>
          <p:cNvSpPr txBox="1"/>
          <p:nvPr/>
        </p:nvSpPr>
        <p:spPr>
          <a:xfrm>
            <a:off x="873727" y="1344930"/>
            <a:ext cx="1290389" cy="186689"/>
          </a:xfrm>
          <a:prstGeom prst="rect">
            <a:avLst/>
          </a:prstGeom>
          <a:noFill/>
        </p:spPr>
        <p:txBody>
          <a:bodyPr wrap="none" lIns="0" rIns="0" tIns="0" bIns="0">
            <a:spAutoFit/>
          </a:bodyPr>
          <a:lstStyle/>
          <a:p>
            <a:r>
              <a:rPr sz="1100" b="0">
                <a:solidFill>
                  <a:srgbClr val="6B7280"/>
                </a:solidFill>
                <a:latin typeface="Calibri"/>
              </a:rPr>
              <a:t>US$ Mn · Tier 1 share</a:t>
            </a:r>
          </a:p>
        </p:txBody>
      </p:sp>
      <p:pic>
        <p:nvPicPr>
          <p:cNvPr id="273" name="Picture 272" descr="lock.png"/>
          <p:cNvPicPr>
            <a:picLocks noChangeAspect="1"/>
          </p:cNvPicPr>
          <p:nvPr/>
        </p:nvPicPr>
        <p:blipFill>
          <a:blip r:embed="rId4"/>
          <a:stretch>
            <a:fillRect/>
          </a:stretch>
        </p:blipFill>
        <p:spPr>
          <a:xfrm>
            <a:off x="2112168" y="1335151"/>
            <a:ext cx="128699" cy="187198"/>
          </a:xfrm>
          <a:prstGeom prst="rect">
            <a:avLst/>
          </a:prstGeom>
        </p:spPr>
      </p:pic>
      <p:sp>
        <p:nvSpPr>
          <p:cNvPr id="274" name="TextBox 273"/>
          <p:cNvSpPr txBox="1"/>
          <p:nvPr/>
        </p:nvSpPr>
        <p:spPr>
          <a:xfrm>
            <a:off x="2279664" y="1344930"/>
            <a:ext cx="202803" cy="186689"/>
          </a:xfrm>
          <a:prstGeom prst="rect">
            <a:avLst/>
          </a:prstGeom>
          <a:noFill/>
        </p:spPr>
        <p:txBody>
          <a:bodyPr wrap="none" lIns="0" rIns="0" tIns="0" bIns="0">
            <a:spAutoFit/>
          </a:bodyPr>
          <a:lstStyle/>
          <a:p>
            <a:r>
              <a:rPr sz="1100" b="0">
                <a:solidFill>
                  <a:srgbClr val="6B7280"/>
                </a:solidFill>
                <a:latin typeface="Calibri"/>
              </a:rPr>
              <a:t>→</a:t>
            </a:r>
          </a:p>
        </p:txBody>
      </p:sp>
      <p:pic>
        <p:nvPicPr>
          <p:cNvPr id="275" name="Picture 274" descr="lock.png"/>
          <p:cNvPicPr>
            <a:picLocks noChangeAspect="1"/>
          </p:cNvPicPr>
          <p:nvPr/>
        </p:nvPicPr>
        <p:blipFill>
          <a:blip r:embed="rId4"/>
          <a:stretch>
            <a:fillRect/>
          </a:stretch>
        </p:blipFill>
        <p:spPr>
          <a:xfrm>
            <a:off x="2430519" y="1335151"/>
            <a:ext cx="128699" cy="187198"/>
          </a:xfrm>
          <a:prstGeom prst="rect">
            <a:avLst/>
          </a:prstGeom>
        </p:spPr>
      </p:pic>
      <p:sp>
        <p:nvSpPr>
          <p:cNvPr id="276" name="TextBox 275"/>
          <p:cNvSpPr txBox="1"/>
          <p:nvPr/>
        </p:nvSpPr>
        <p:spPr>
          <a:xfrm>
            <a:off x="2598014" y="1344930"/>
            <a:ext cx="528315" cy="186689"/>
          </a:xfrm>
          <a:prstGeom prst="rect">
            <a:avLst/>
          </a:prstGeom>
          <a:noFill/>
        </p:spPr>
        <p:txBody>
          <a:bodyPr wrap="none" lIns="0" rIns="0" tIns="0" bIns="0">
            <a:spAutoFit/>
          </a:bodyPr>
          <a:lstStyle/>
          <a:p>
            <a:r>
              <a:rPr sz="1100" b="0">
                <a:solidFill>
                  <a:srgbClr val="6B7280"/>
                </a:solidFill>
                <a:latin typeface="Calibri"/>
              </a:rPr>
              <a:t>by 2036</a:t>
            </a:r>
          </a:p>
        </p:txBody>
      </p:sp>
      <p:pic>
        <p:nvPicPr>
          <p:cNvPr id="277" name="Picture 276" descr="lock.png"/>
          <p:cNvPicPr>
            <a:picLocks noChangeAspect="1"/>
          </p:cNvPicPr>
          <p:nvPr/>
        </p:nvPicPr>
        <p:blipFill>
          <a:blip r:embed="rId4"/>
          <a:stretch>
            <a:fillRect/>
          </a:stretch>
        </p:blipFill>
        <p:spPr>
          <a:xfrm>
            <a:off x="1377182" y="1839976"/>
            <a:ext cx="128699" cy="187198"/>
          </a:xfrm>
          <a:prstGeom prst="rect">
            <a:avLst/>
          </a:prstGeom>
        </p:spPr>
      </p:pic>
      <p:sp>
        <p:nvSpPr>
          <p:cNvPr id="278" name="TextBox 277"/>
          <p:cNvSpPr txBox="1"/>
          <p:nvPr/>
        </p:nvSpPr>
        <p:spPr>
          <a:xfrm>
            <a:off x="1544678" y="18497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79" name="Picture 278" descr="lock.png"/>
          <p:cNvPicPr>
            <a:picLocks noChangeAspect="1"/>
          </p:cNvPicPr>
          <p:nvPr/>
        </p:nvPicPr>
        <p:blipFill>
          <a:blip r:embed="rId4"/>
          <a:stretch>
            <a:fillRect/>
          </a:stretch>
        </p:blipFill>
        <p:spPr>
          <a:xfrm>
            <a:off x="2922273" y="1839976"/>
            <a:ext cx="128699" cy="187198"/>
          </a:xfrm>
          <a:prstGeom prst="rect">
            <a:avLst/>
          </a:prstGeom>
        </p:spPr>
      </p:pic>
      <p:sp>
        <p:nvSpPr>
          <p:cNvPr id="280" name="TextBox 279"/>
          <p:cNvSpPr txBox="1"/>
          <p:nvPr/>
        </p:nvSpPr>
        <p:spPr>
          <a:xfrm>
            <a:off x="3089769" y="18497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1" name="Picture 280" descr="lock.png"/>
          <p:cNvPicPr>
            <a:picLocks noChangeAspect="1"/>
          </p:cNvPicPr>
          <p:nvPr/>
        </p:nvPicPr>
        <p:blipFill>
          <a:blip r:embed="rId4"/>
          <a:stretch>
            <a:fillRect/>
          </a:stretch>
        </p:blipFill>
        <p:spPr>
          <a:xfrm>
            <a:off x="1377182" y="2697226"/>
            <a:ext cx="128699" cy="187198"/>
          </a:xfrm>
          <a:prstGeom prst="rect">
            <a:avLst/>
          </a:prstGeom>
        </p:spPr>
      </p:pic>
      <p:sp>
        <p:nvSpPr>
          <p:cNvPr id="282" name="TextBox 281"/>
          <p:cNvSpPr txBox="1"/>
          <p:nvPr/>
        </p:nvSpPr>
        <p:spPr>
          <a:xfrm>
            <a:off x="1544678" y="2707005"/>
            <a:ext cx="1429543" cy="186689"/>
          </a:xfrm>
          <a:prstGeom prst="rect">
            <a:avLst/>
          </a:prstGeom>
          <a:noFill/>
        </p:spPr>
        <p:txBody>
          <a:bodyPr wrap="none" lIns="0" rIns="0" tIns="0" bIns="0">
            <a:spAutoFit/>
          </a:bodyPr>
          <a:lstStyle/>
          <a:p>
            <a:r>
              <a:rPr sz="1100" b="0">
                <a:solidFill>
                  <a:srgbClr val="FFFFFF"/>
                </a:solidFill>
                <a:latin typeface="Calibri"/>
              </a:rPr>
              <a:t>US$ Mn · 2 players · avg</a:t>
            </a:r>
          </a:p>
        </p:txBody>
      </p:sp>
      <p:pic>
        <p:nvPicPr>
          <p:cNvPr id="283" name="Picture 282" descr="lock.png"/>
          <p:cNvPicPr>
            <a:picLocks noChangeAspect="1"/>
          </p:cNvPicPr>
          <p:nvPr/>
        </p:nvPicPr>
        <p:blipFill>
          <a:blip r:embed="rId4"/>
          <a:stretch>
            <a:fillRect/>
          </a:stretch>
        </p:blipFill>
        <p:spPr>
          <a:xfrm>
            <a:off x="2922273" y="2697226"/>
            <a:ext cx="128699" cy="187198"/>
          </a:xfrm>
          <a:prstGeom prst="rect">
            <a:avLst/>
          </a:prstGeom>
        </p:spPr>
      </p:pic>
      <p:sp>
        <p:nvSpPr>
          <p:cNvPr id="284" name="TextBox 283"/>
          <p:cNvSpPr txBox="1"/>
          <p:nvPr/>
        </p:nvSpPr>
        <p:spPr>
          <a:xfrm>
            <a:off x="3089769" y="270700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5" name="Picture 284" descr="lock.png"/>
          <p:cNvPicPr>
            <a:picLocks noChangeAspect="1"/>
          </p:cNvPicPr>
          <p:nvPr/>
        </p:nvPicPr>
        <p:blipFill>
          <a:blip r:embed="rId4"/>
          <a:stretch>
            <a:fillRect/>
          </a:stretch>
        </p:blipFill>
        <p:spPr>
          <a:xfrm>
            <a:off x="1377182" y="3554476"/>
            <a:ext cx="128699" cy="187198"/>
          </a:xfrm>
          <a:prstGeom prst="rect">
            <a:avLst/>
          </a:prstGeom>
        </p:spPr>
      </p:pic>
      <p:sp>
        <p:nvSpPr>
          <p:cNvPr id="286" name="TextBox 285"/>
          <p:cNvSpPr txBox="1"/>
          <p:nvPr/>
        </p:nvSpPr>
        <p:spPr>
          <a:xfrm>
            <a:off x="1544678" y="35642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87" name="Picture 286" descr="lock.png"/>
          <p:cNvPicPr>
            <a:picLocks noChangeAspect="1"/>
          </p:cNvPicPr>
          <p:nvPr/>
        </p:nvPicPr>
        <p:blipFill>
          <a:blip r:embed="rId4"/>
          <a:stretch>
            <a:fillRect/>
          </a:stretch>
        </p:blipFill>
        <p:spPr>
          <a:xfrm>
            <a:off x="2922273" y="3554476"/>
            <a:ext cx="128699" cy="187198"/>
          </a:xfrm>
          <a:prstGeom prst="rect">
            <a:avLst/>
          </a:prstGeom>
        </p:spPr>
      </p:pic>
      <p:sp>
        <p:nvSpPr>
          <p:cNvPr id="288" name="TextBox 287"/>
          <p:cNvSpPr txBox="1"/>
          <p:nvPr/>
        </p:nvSpPr>
        <p:spPr>
          <a:xfrm>
            <a:off x="3089769" y="35642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9" name="Picture 288" descr="lock.png"/>
          <p:cNvPicPr>
            <a:picLocks noChangeAspect="1"/>
          </p:cNvPicPr>
          <p:nvPr/>
        </p:nvPicPr>
        <p:blipFill>
          <a:blip r:embed="rId4"/>
          <a:stretch>
            <a:fillRect/>
          </a:stretch>
        </p:blipFill>
        <p:spPr>
          <a:xfrm>
            <a:off x="1377182" y="4411726"/>
            <a:ext cx="128699" cy="187198"/>
          </a:xfrm>
          <a:prstGeom prst="rect">
            <a:avLst/>
          </a:prstGeom>
        </p:spPr>
      </p:pic>
      <p:sp>
        <p:nvSpPr>
          <p:cNvPr id="290" name="TextBox 289"/>
          <p:cNvSpPr txBox="1"/>
          <p:nvPr/>
        </p:nvSpPr>
        <p:spPr>
          <a:xfrm>
            <a:off x="1544678" y="4421505"/>
            <a:ext cx="1247006" cy="186689"/>
          </a:xfrm>
          <a:prstGeom prst="rect">
            <a:avLst/>
          </a:prstGeom>
          <a:noFill/>
        </p:spPr>
        <p:txBody>
          <a:bodyPr wrap="none" lIns="0" rIns="0" tIns="0" bIns="0">
            <a:spAutoFit/>
          </a:bodyPr>
          <a:lstStyle/>
          <a:p>
            <a:r>
              <a:rPr sz="1100" b="0">
                <a:solidFill>
                  <a:srgbClr val="14213D"/>
                </a:solidFill>
                <a:latin typeface="Calibri"/>
              </a:rPr>
              <a:t>US$ Mn · – · long tail</a:t>
            </a:r>
          </a:p>
        </p:txBody>
      </p:sp>
      <p:sp>
        <p:nvSpPr>
          <p:cNvPr id="291" name="TextBox 290"/>
          <p:cNvSpPr txBox="1"/>
          <p:nvPr/>
        </p:nvSpPr>
        <p:spPr>
          <a:xfrm>
            <a:off x="1241169" y="5802630"/>
            <a:ext cx="493662" cy="186689"/>
          </a:xfrm>
          <a:prstGeom prst="rect">
            <a:avLst/>
          </a:prstGeom>
          <a:noFill/>
        </p:spPr>
        <p:txBody>
          <a:bodyPr wrap="none" lIns="0" rIns="0" tIns="0" bIns="0">
            <a:spAutoFit/>
          </a:bodyPr>
          <a:lstStyle/>
          <a:p>
            <a:r>
              <a:rPr sz="1100" b="1">
                <a:solidFill>
                  <a:srgbClr val="2E7D32"/>
                </a:solidFill>
                <a:latin typeface="Calibri"/>
              </a:rPr>
              <a:t>▲</a:t>
            </a:r>
            <a:r>
              <a:rPr sz="1100" b="1">
                <a:solidFill>
                  <a:srgbClr val="14213D"/>
                </a:solidFill>
                <a:latin typeface="Calibri"/>
              </a:rPr>
              <a:t> HHI =</a:t>
            </a:r>
          </a:p>
        </p:txBody>
      </p:sp>
      <p:pic>
        <p:nvPicPr>
          <p:cNvPr id="292" name="Picture 291" descr="lock.png"/>
          <p:cNvPicPr>
            <a:picLocks noChangeAspect="1"/>
          </p:cNvPicPr>
          <p:nvPr/>
        </p:nvPicPr>
        <p:blipFill>
          <a:blip r:embed="rId4"/>
          <a:stretch>
            <a:fillRect/>
          </a:stretch>
        </p:blipFill>
        <p:spPr>
          <a:xfrm>
            <a:off x="1682883" y="5792851"/>
            <a:ext cx="128699" cy="187198"/>
          </a:xfrm>
          <a:prstGeom prst="rect">
            <a:avLst/>
          </a:prstGeom>
        </p:spPr>
      </p:pic>
      <p:sp>
        <p:nvSpPr>
          <p:cNvPr id="293" name="TextBox 292"/>
          <p:cNvSpPr txBox="1"/>
          <p:nvPr/>
        </p:nvSpPr>
        <p:spPr>
          <a:xfrm>
            <a:off x="876202" y="6107430"/>
            <a:ext cx="400893" cy="186689"/>
          </a:xfrm>
          <a:prstGeom prst="rect">
            <a:avLst/>
          </a:prstGeom>
          <a:noFill/>
        </p:spPr>
        <p:txBody>
          <a:bodyPr wrap="none" lIns="0" rIns="0" tIns="0" bIns="0">
            <a:spAutoFit/>
          </a:bodyPr>
          <a:lstStyle/>
          <a:p>
            <a:r>
              <a:rPr sz="1100" b="1">
                <a:solidFill>
                  <a:srgbClr val="14213D"/>
                </a:solidFill>
                <a:latin typeface="Calibri"/>
              </a:rPr>
              <a:t>CR4 =</a:t>
            </a:r>
          </a:p>
        </p:txBody>
      </p:sp>
      <p:pic>
        <p:nvPicPr>
          <p:cNvPr id="294" name="Picture 293" descr="lock.png"/>
          <p:cNvPicPr>
            <a:picLocks noChangeAspect="1"/>
          </p:cNvPicPr>
          <p:nvPr/>
        </p:nvPicPr>
        <p:blipFill>
          <a:blip r:embed="rId4"/>
          <a:stretch>
            <a:fillRect/>
          </a:stretch>
        </p:blipFill>
        <p:spPr>
          <a:xfrm>
            <a:off x="1225147" y="6097651"/>
            <a:ext cx="128699" cy="187198"/>
          </a:xfrm>
          <a:prstGeom prst="rect">
            <a:avLst/>
          </a:prstGeom>
        </p:spPr>
      </p:pic>
      <p:sp>
        <p:nvSpPr>
          <p:cNvPr id="295" name="TextBox 294"/>
          <p:cNvSpPr txBox="1"/>
          <p:nvPr/>
        </p:nvSpPr>
        <p:spPr>
          <a:xfrm>
            <a:off x="1392643" y="6107430"/>
            <a:ext cx="1068288" cy="186689"/>
          </a:xfrm>
          <a:prstGeom prst="rect">
            <a:avLst/>
          </a:prstGeom>
          <a:noFill/>
        </p:spPr>
        <p:txBody>
          <a:bodyPr wrap="none" lIns="0" rIns="0" tIns="0" bIns="0">
            <a:spAutoFit/>
          </a:bodyPr>
          <a:lstStyle/>
          <a:p>
            <a:r>
              <a:rPr sz="1100" b="1">
                <a:solidFill>
                  <a:srgbClr val="14213D"/>
                </a:solidFill>
                <a:latin typeface="Calibri"/>
              </a:rPr>
              <a:t>· Tier 1 : Others =</a:t>
            </a:r>
          </a:p>
        </p:txBody>
      </p:sp>
      <p:pic>
        <p:nvPicPr>
          <p:cNvPr id="296" name="Picture 295" descr="lock.png"/>
          <p:cNvPicPr>
            <a:picLocks noChangeAspect="1"/>
          </p:cNvPicPr>
          <p:nvPr/>
        </p:nvPicPr>
        <p:blipFill>
          <a:blip r:embed="rId4"/>
          <a:stretch>
            <a:fillRect/>
          </a:stretch>
        </p:blipFill>
        <p:spPr>
          <a:xfrm>
            <a:off x="2408983" y="6097651"/>
            <a:ext cx="128699" cy="187198"/>
          </a:xfrm>
          <a:prstGeom prst="rect">
            <a:avLst/>
          </a:prstGeom>
        </p:spPr>
      </p:pic>
      <p:sp>
        <p:nvSpPr>
          <p:cNvPr id="297" name="TextBox 296"/>
          <p:cNvSpPr txBox="1"/>
          <p:nvPr/>
        </p:nvSpPr>
        <p:spPr>
          <a:xfrm>
            <a:off x="2576478" y="6107430"/>
            <a:ext cx="1397620" cy="186689"/>
          </a:xfrm>
          <a:prstGeom prst="rect">
            <a:avLst/>
          </a:prstGeom>
          <a:noFill/>
        </p:spPr>
        <p:txBody>
          <a:bodyPr wrap="none" lIns="0" rIns="0" tIns="0" bIns="0">
            <a:spAutoFit/>
          </a:bodyPr>
          <a:lstStyle/>
          <a:p>
            <a:r>
              <a:rPr sz="1100" b="1">
                <a:solidFill>
                  <a:srgbClr val="14213D"/>
                </a:solidFill>
                <a:latin typeface="Calibri"/>
              </a:rPr>
              <a:t>: 1 · Top-player share =</a:t>
            </a:r>
          </a:p>
        </p:txBody>
      </p:sp>
      <p:pic>
        <p:nvPicPr>
          <p:cNvPr id="298" name="Picture 297" descr="lock.png"/>
          <p:cNvPicPr>
            <a:picLocks noChangeAspect="1"/>
          </p:cNvPicPr>
          <p:nvPr/>
        </p:nvPicPr>
        <p:blipFill>
          <a:blip r:embed="rId4"/>
          <a:stretch>
            <a:fillRect/>
          </a:stretch>
        </p:blipFill>
        <p:spPr>
          <a:xfrm>
            <a:off x="3922150" y="6097651"/>
            <a:ext cx="128699" cy="187198"/>
          </a:xfrm>
          <a:prstGeom prst="rect">
            <a:avLst/>
          </a:prstGeom>
        </p:spPr>
      </p:pic>
      <p:sp>
        <p:nvSpPr>
          <p:cNvPr id="299" name="TextBox 298"/>
          <p:cNvSpPr txBox="1"/>
          <p:nvPr/>
        </p:nvSpPr>
        <p:spPr>
          <a:xfrm>
            <a:off x="4089646" y="6107430"/>
            <a:ext cx="1206351" cy="186689"/>
          </a:xfrm>
          <a:prstGeom prst="rect">
            <a:avLst/>
          </a:prstGeom>
          <a:noFill/>
        </p:spPr>
        <p:txBody>
          <a:bodyPr wrap="none" lIns="0" rIns="0" tIns="0" bIns="0">
            <a:spAutoFit/>
          </a:bodyPr>
          <a:lstStyle/>
          <a:p>
            <a:r>
              <a:rPr sz="1100" b="1">
                <a:solidFill>
                  <a:srgbClr val="14213D"/>
                </a:solidFill>
                <a:latin typeface="Calibri"/>
              </a:rPr>
              <a:t>· Class: Fragmented</a:t>
            </a:r>
          </a:p>
        </p:txBody>
      </p:sp>
      <p:sp>
        <p:nvSpPr>
          <p:cNvPr id="300" name="TextBox 299"/>
          <p:cNvSpPr txBox="1"/>
          <p:nvPr/>
        </p:nvSpPr>
        <p:spPr>
          <a:xfrm>
            <a:off x="6372225" y="5476875"/>
            <a:ext cx="471561" cy="186689"/>
          </a:xfrm>
          <a:prstGeom prst="rect">
            <a:avLst/>
          </a:prstGeom>
          <a:noFill/>
        </p:spPr>
        <p:txBody>
          <a:bodyPr wrap="none" lIns="0" rIns="0" tIns="0" bIns="0">
            <a:spAutoFit/>
          </a:bodyPr>
          <a:lstStyle/>
          <a:p>
            <a:r>
              <a:rPr sz="1100" b="0">
                <a:solidFill>
                  <a:srgbClr val="14213D"/>
                </a:solidFill>
                <a:latin typeface="Calibri"/>
              </a:rPr>
              <a:t>Tier 1 (</a:t>
            </a:r>
          </a:p>
        </p:txBody>
      </p:sp>
      <p:pic>
        <p:nvPicPr>
          <p:cNvPr id="301" name="Picture 300" descr="lock.png"/>
          <p:cNvPicPr>
            <a:picLocks noChangeAspect="1"/>
          </p:cNvPicPr>
          <p:nvPr/>
        </p:nvPicPr>
        <p:blipFill>
          <a:blip r:embed="rId4"/>
          <a:stretch>
            <a:fillRect/>
          </a:stretch>
        </p:blipFill>
        <p:spPr>
          <a:xfrm>
            <a:off x="6791838" y="5467095"/>
            <a:ext cx="128699" cy="187198"/>
          </a:xfrm>
          <a:prstGeom prst="rect">
            <a:avLst/>
          </a:prstGeom>
        </p:spPr>
      </p:pic>
      <p:sp>
        <p:nvSpPr>
          <p:cNvPr id="302" name="TextBox 301"/>
          <p:cNvSpPr txBox="1"/>
          <p:nvPr/>
        </p:nvSpPr>
        <p:spPr>
          <a:xfrm>
            <a:off x="6959334" y="5476875"/>
            <a:ext cx="2550145" cy="186689"/>
          </a:xfrm>
          <a:prstGeom prst="rect">
            <a:avLst/>
          </a:prstGeom>
          <a:noFill/>
        </p:spPr>
        <p:txBody>
          <a:bodyPr wrap="none" lIns="0" rIns="0" tIns="0" bIns="0">
            <a:spAutoFit/>
          </a:bodyPr>
          <a:lstStyle/>
          <a:p>
            <a:r>
              <a:rPr sz="1100" b="0">
                <a:solidFill>
                  <a:srgbClr val="14213D"/>
                </a:solidFill>
                <a:latin typeface="Calibri"/>
              </a:rPr>
              <a:t>) holds the largest single block of value on a</a:t>
            </a:r>
          </a:p>
        </p:txBody>
      </p:sp>
      <p:pic>
        <p:nvPicPr>
          <p:cNvPr id="303" name="Picture 302" descr="lock.png"/>
          <p:cNvPicPr>
            <a:picLocks noChangeAspect="1"/>
          </p:cNvPicPr>
          <p:nvPr/>
        </p:nvPicPr>
        <p:blipFill>
          <a:blip r:embed="rId4"/>
          <a:stretch>
            <a:fillRect/>
          </a:stretch>
        </p:blipFill>
        <p:spPr>
          <a:xfrm>
            <a:off x="9457531" y="5467095"/>
            <a:ext cx="128699" cy="187198"/>
          </a:xfrm>
          <a:prstGeom prst="rect">
            <a:avLst/>
          </a:prstGeom>
        </p:spPr>
      </p:pic>
      <p:sp>
        <p:nvSpPr>
          <p:cNvPr id="304" name="TextBox 303"/>
          <p:cNvSpPr txBox="1"/>
          <p:nvPr/>
        </p:nvSpPr>
        <p:spPr>
          <a:xfrm>
            <a:off x="9625026" y="5476875"/>
            <a:ext cx="1259830" cy="186689"/>
          </a:xfrm>
          <a:prstGeom prst="rect">
            <a:avLst/>
          </a:prstGeom>
          <a:noFill/>
        </p:spPr>
        <p:txBody>
          <a:bodyPr wrap="none" lIns="0" rIns="0" tIns="0" bIns="0">
            <a:spAutoFit/>
          </a:bodyPr>
          <a:lstStyle/>
          <a:p>
            <a:r>
              <a:rPr sz="1100" b="0">
                <a:solidFill>
                  <a:srgbClr val="14213D"/>
                </a:solidFill>
                <a:latin typeface="Calibri"/>
              </a:rPr>
              <a:t>US$ Mn base; CR4 of</a:t>
            </a:r>
          </a:p>
        </p:txBody>
      </p:sp>
      <p:pic>
        <p:nvPicPr>
          <p:cNvPr id="305" name="Picture 304" descr="lock.png"/>
          <p:cNvPicPr>
            <a:picLocks noChangeAspect="1"/>
          </p:cNvPicPr>
          <p:nvPr/>
        </p:nvPicPr>
        <p:blipFill>
          <a:blip r:embed="rId4"/>
          <a:stretch>
            <a:fillRect/>
          </a:stretch>
        </p:blipFill>
        <p:spPr>
          <a:xfrm>
            <a:off x="10832908" y="5467095"/>
            <a:ext cx="128699" cy="187198"/>
          </a:xfrm>
          <a:prstGeom prst="rect">
            <a:avLst/>
          </a:prstGeom>
        </p:spPr>
      </p:pic>
      <p:sp>
        <p:nvSpPr>
          <p:cNvPr id="306" name="TextBox 305"/>
          <p:cNvSpPr txBox="1"/>
          <p:nvPr/>
        </p:nvSpPr>
        <p:spPr>
          <a:xfrm>
            <a:off x="11000404" y="5476875"/>
            <a:ext cx="678656" cy="186689"/>
          </a:xfrm>
          <a:prstGeom prst="rect">
            <a:avLst/>
          </a:prstGeom>
          <a:noFill/>
        </p:spPr>
        <p:txBody>
          <a:bodyPr wrap="none" lIns="0" rIns="0" tIns="0" bIns="0">
            <a:spAutoFit/>
          </a:bodyPr>
          <a:lstStyle/>
          <a:p>
            <a:r>
              <a:rPr sz="1100" b="0">
                <a:solidFill>
                  <a:srgbClr val="14213D"/>
                </a:solidFill>
                <a:latin typeface="Calibri"/>
              </a:rPr>
              <a:t>and HHI of</a:t>
            </a:r>
          </a:p>
        </p:txBody>
      </p:sp>
      <p:pic>
        <p:nvPicPr>
          <p:cNvPr id="307" name="Picture 306" descr="lock.png"/>
          <p:cNvPicPr>
            <a:picLocks noChangeAspect="1"/>
          </p:cNvPicPr>
          <p:nvPr/>
        </p:nvPicPr>
        <p:blipFill>
          <a:blip r:embed="rId4"/>
          <a:stretch>
            <a:fillRect/>
          </a:stretch>
        </p:blipFill>
        <p:spPr>
          <a:xfrm>
            <a:off x="6358757" y="5634735"/>
            <a:ext cx="128699" cy="187198"/>
          </a:xfrm>
          <a:prstGeom prst="rect">
            <a:avLst/>
          </a:prstGeom>
        </p:spPr>
      </p:pic>
      <p:sp>
        <p:nvSpPr>
          <p:cNvPr id="308" name="TextBox 307"/>
          <p:cNvSpPr txBox="1"/>
          <p:nvPr/>
        </p:nvSpPr>
        <p:spPr>
          <a:xfrm>
            <a:off x="6526253" y="5644515"/>
            <a:ext cx="2030635" cy="186689"/>
          </a:xfrm>
          <a:prstGeom prst="rect">
            <a:avLst/>
          </a:prstGeom>
          <a:noFill/>
        </p:spPr>
        <p:txBody>
          <a:bodyPr wrap="none" lIns="0" rIns="0" tIns="0" bIns="0">
            <a:spAutoFit/>
          </a:bodyPr>
          <a:lstStyle/>
          <a:p>
            <a:r>
              <a:rPr sz="1100" b="0">
                <a:solidFill>
                  <a:srgbClr val="14213D"/>
                </a:solidFill>
                <a:latin typeface="Calibri"/>
              </a:rPr>
              <a:t>classify the market as fragmented.</a:t>
            </a:r>
          </a:p>
        </p:txBody>
      </p:sp>
      <p:sp>
        <p:nvSpPr>
          <p:cNvPr id="309" name="TextBox 308"/>
          <p:cNvSpPr txBox="1"/>
          <p:nvPr/>
        </p:nvSpPr>
        <p:spPr>
          <a:xfrm>
            <a:off x="6372225" y="5857875"/>
            <a:ext cx="1331044" cy="186689"/>
          </a:xfrm>
          <a:prstGeom prst="rect">
            <a:avLst/>
          </a:prstGeom>
          <a:noFill/>
        </p:spPr>
        <p:txBody>
          <a:bodyPr wrap="none" lIns="0" rIns="0" tIns="0" bIns="0">
            <a:spAutoFit/>
          </a:bodyPr>
          <a:lstStyle/>
          <a:p>
            <a:r>
              <a:rPr sz="1100" b="0">
                <a:solidFill>
                  <a:srgbClr val="14213D"/>
                </a:solidFill>
                <a:latin typeface="Calibri"/>
              </a:rPr>
              <a:t>Tier 2 grows fastest at</a:t>
            </a:r>
          </a:p>
        </p:txBody>
      </p:sp>
      <p:pic>
        <p:nvPicPr>
          <p:cNvPr id="310" name="Picture 309" descr="lock.png"/>
          <p:cNvPicPr>
            <a:picLocks noChangeAspect="1"/>
          </p:cNvPicPr>
          <p:nvPr/>
        </p:nvPicPr>
        <p:blipFill>
          <a:blip r:embed="rId4"/>
          <a:stretch>
            <a:fillRect/>
          </a:stretch>
        </p:blipFill>
        <p:spPr>
          <a:xfrm>
            <a:off x="7651320" y="5848095"/>
            <a:ext cx="128699" cy="187198"/>
          </a:xfrm>
          <a:prstGeom prst="rect">
            <a:avLst/>
          </a:prstGeom>
        </p:spPr>
      </p:pic>
      <p:sp>
        <p:nvSpPr>
          <p:cNvPr id="311" name="TextBox 310"/>
          <p:cNvSpPr txBox="1"/>
          <p:nvPr/>
        </p:nvSpPr>
        <p:spPr>
          <a:xfrm>
            <a:off x="7818816" y="5857875"/>
            <a:ext cx="982868" cy="186689"/>
          </a:xfrm>
          <a:prstGeom prst="rect">
            <a:avLst/>
          </a:prstGeom>
          <a:noFill/>
        </p:spPr>
        <p:txBody>
          <a:bodyPr wrap="none" lIns="0" rIns="0" tIns="0" bIns="0">
            <a:spAutoFit/>
          </a:bodyPr>
          <a:lstStyle/>
          <a:p>
            <a:r>
              <a:rPr sz="1100" b="0">
                <a:solidFill>
                  <a:srgbClr val="14213D"/>
                </a:solidFill>
                <a:latin typeface="Calibri"/>
              </a:rPr>
              <a:t>CAGR, moving +</a:t>
            </a:r>
          </a:p>
        </p:txBody>
      </p:sp>
      <p:pic>
        <p:nvPicPr>
          <p:cNvPr id="312" name="Picture 311" descr="lock.png"/>
          <p:cNvPicPr>
            <a:picLocks noChangeAspect="1"/>
          </p:cNvPicPr>
          <p:nvPr/>
        </p:nvPicPr>
        <p:blipFill>
          <a:blip r:embed="rId4"/>
          <a:stretch>
            <a:fillRect/>
          </a:stretch>
        </p:blipFill>
        <p:spPr>
          <a:xfrm>
            <a:off x="8749737" y="5848095"/>
            <a:ext cx="128699" cy="187198"/>
          </a:xfrm>
          <a:prstGeom prst="rect">
            <a:avLst/>
          </a:prstGeom>
        </p:spPr>
      </p:pic>
      <p:sp>
        <p:nvSpPr>
          <p:cNvPr id="313" name="TextBox 312"/>
          <p:cNvSpPr txBox="1"/>
          <p:nvPr/>
        </p:nvSpPr>
        <p:spPr>
          <a:xfrm>
            <a:off x="8917232" y="5857875"/>
            <a:ext cx="1234727" cy="186689"/>
          </a:xfrm>
          <a:prstGeom prst="rect">
            <a:avLst/>
          </a:prstGeom>
          <a:noFill/>
        </p:spPr>
        <p:txBody>
          <a:bodyPr wrap="none" lIns="0" rIns="0" tIns="0" bIns="0">
            <a:spAutoFit/>
          </a:bodyPr>
          <a:lstStyle/>
          <a:p>
            <a:r>
              <a:rPr sz="1100" b="0">
                <a:solidFill>
                  <a:srgbClr val="14213D"/>
                </a:solidFill>
                <a:latin typeface="Calibri"/>
              </a:rPr>
              <a:t>pp of share by 2036.</a:t>
            </a:r>
          </a:p>
        </p:txBody>
      </p:sp>
      <p:sp>
        <p:nvSpPr>
          <p:cNvPr id="314" name="TextBox 313"/>
          <p:cNvSpPr txBox="1"/>
          <p:nvPr/>
        </p:nvSpPr>
        <p:spPr>
          <a:xfrm>
            <a:off x="6372225" y="6076950"/>
            <a:ext cx="2161604" cy="186689"/>
          </a:xfrm>
          <a:prstGeom prst="rect">
            <a:avLst/>
          </a:prstGeom>
          <a:noFill/>
        </p:spPr>
        <p:txBody>
          <a:bodyPr wrap="none" lIns="0" rIns="0" tIns="0" bIns="0">
            <a:spAutoFit/>
          </a:bodyPr>
          <a:lstStyle/>
          <a:p>
            <a:r>
              <a:rPr sz="1100" b="0">
                <a:solidFill>
                  <a:srgbClr val="14213D"/>
                </a:solidFill>
                <a:latin typeface="Calibri"/>
              </a:rPr>
              <a:t>Tier 3 and the long tail together hold</a:t>
            </a:r>
          </a:p>
        </p:txBody>
      </p:sp>
      <p:pic>
        <p:nvPicPr>
          <p:cNvPr id="315" name="Picture 314" descr="lock.png"/>
          <p:cNvPicPr>
            <a:picLocks noChangeAspect="1"/>
          </p:cNvPicPr>
          <p:nvPr/>
        </p:nvPicPr>
        <p:blipFill>
          <a:blip r:embed="rId4"/>
          <a:stretch>
            <a:fillRect/>
          </a:stretch>
        </p:blipFill>
        <p:spPr>
          <a:xfrm>
            <a:off x="8481881" y="6067170"/>
            <a:ext cx="128699" cy="187198"/>
          </a:xfrm>
          <a:prstGeom prst="rect">
            <a:avLst/>
          </a:prstGeom>
        </p:spPr>
      </p:pic>
      <p:sp>
        <p:nvSpPr>
          <p:cNvPr id="316" name="TextBox 315"/>
          <p:cNvSpPr txBox="1"/>
          <p:nvPr/>
        </p:nvSpPr>
        <p:spPr>
          <a:xfrm>
            <a:off x="8649376" y="6076950"/>
            <a:ext cx="2127498" cy="186689"/>
          </a:xfrm>
          <a:prstGeom prst="rect">
            <a:avLst/>
          </a:prstGeom>
          <a:noFill/>
        </p:spPr>
        <p:txBody>
          <a:bodyPr wrap="none" lIns="0" rIns="0" tIns="0" bIns="0">
            <a:spAutoFit/>
          </a:bodyPr>
          <a:lstStyle/>
          <a:p>
            <a:r>
              <a:rPr sz="1100" b="0">
                <a:solidFill>
                  <a:srgbClr val="14213D"/>
                </a:solidFill>
                <a:latin typeface="Calibri"/>
              </a:rPr>
              <a:t>of value; the average Tier 3 player is</a:t>
            </a:r>
          </a:p>
        </p:txBody>
      </p:sp>
      <p:pic>
        <p:nvPicPr>
          <p:cNvPr id="317" name="Picture 316" descr="lock.png"/>
          <p:cNvPicPr>
            <a:picLocks noChangeAspect="1"/>
          </p:cNvPicPr>
          <p:nvPr/>
        </p:nvPicPr>
        <p:blipFill>
          <a:blip r:embed="rId4"/>
          <a:stretch>
            <a:fillRect/>
          </a:stretch>
        </p:blipFill>
        <p:spPr>
          <a:xfrm>
            <a:off x="10724926" y="6067170"/>
            <a:ext cx="128699" cy="187198"/>
          </a:xfrm>
          <a:prstGeom prst="rect">
            <a:avLst/>
          </a:prstGeom>
        </p:spPr>
      </p:pic>
      <p:sp>
        <p:nvSpPr>
          <p:cNvPr id="318" name="TextBox 317"/>
          <p:cNvSpPr txBox="1"/>
          <p:nvPr/>
        </p:nvSpPr>
        <p:spPr>
          <a:xfrm>
            <a:off x="10892422" y="6076950"/>
            <a:ext cx="876473" cy="186689"/>
          </a:xfrm>
          <a:prstGeom prst="rect">
            <a:avLst/>
          </a:prstGeom>
          <a:noFill/>
        </p:spPr>
        <p:txBody>
          <a:bodyPr wrap="none" lIns="0" rIns="0" tIns="0" bIns="0">
            <a:spAutoFit/>
          </a:bodyPr>
          <a:lstStyle/>
          <a:p>
            <a:r>
              <a:rPr sz="1100" b="0">
                <a:solidFill>
                  <a:srgbClr val="14213D"/>
                </a:solidFill>
                <a:latin typeface="Calibri"/>
              </a:rPr>
              <a:t>x smaller than</a:t>
            </a:r>
          </a:p>
        </p:txBody>
      </p:sp>
      <p:sp>
        <p:nvSpPr>
          <p:cNvPr id="319" name="TextBox 318"/>
          <p:cNvSpPr txBox="1"/>
          <p:nvPr/>
        </p:nvSpPr>
        <p:spPr>
          <a:xfrm>
            <a:off x="6372225" y="6244590"/>
            <a:ext cx="1020539" cy="186689"/>
          </a:xfrm>
          <a:prstGeom prst="rect">
            <a:avLst/>
          </a:prstGeom>
          <a:noFill/>
        </p:spPr>
        <p:txBody>
          <a:bodyPr wrap="none" lIns="0" rIns="0" tIns="0" bIns="0">
            <a:spAutoFit/>
          </a:bodyPr>
          <a:lstStyle/>
          <a:p>
            <a:r>
              <a:rPr sz="1100" b="0">
                <a:solidFill>
                  <a:srgbClr val="14213D"/>
                </a:solidFill>
                <a:latin typeface="Calibri"/>
              </a:rPr>
              <a:t>a Tier 1 supplier.</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Ear Wax Removal Products Market, Global 2026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10" name="Rounded Rectangle 9"/>
          <p:cNvSpPr/>
          <p:nvPr/>
        </p:nvSpPr>
        <p:spPr>
          <a:xfrm>
            <a:off x="142875" y="1047750"/>
            <a:ext cx="11906250" cy="2381250"/>
          </a:xfrm>
          <a:prstGeom prst="roundRect">
            <a:avLst>
              <a:gd name="adj" fmla="val 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04900"/>
            <a:ext cx="11715750"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Shift, 2026 → 2036 – Tier Migration and Entry / Exit</a:t>
            </a:r>
          </a:p>
        </p:txBody>
      </p:sp>
      <p:sp>
        <p:nvSpPr>
          <p:cNvPr id="12" name="Rounded Rectangle 11"/>
          <p:cNvSpPr/>
          <p:nvPr/>
        </p:nvSpPr>
        <p:spPr>
          <a:xfrm>
            <a:off x="257175" y="1390650"/>
            <a:ext cx="1905000" cy="876300"/>
          </a:xfrm>
          <a:prstGeom prst="roundRect">
            <a:avLst>
              <a:gd name="adj" fmla="val 4000"/>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71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14" name="TextBox 13"/>
          <p:cNvSpPr txBox="1"/>
          <p:nvPr/>
        </p:nvSpPr>
        <p:spPr>
          <a:xfrm>
            <a:off x="2571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Top / global players</a:t>
            </a:r>
          </a:p>
        </p:txBody>
      </p:sp>
      <p:sp>
        <p:nvSpPr>
          <p:cNvPr id="15" name="TextBox 14"/>
          <p:cNvSpPr txBox="1"/>
          <p:nvPr/>
        </p:nvSpPr>
        <p:spPr>
          <a:xfrm>
            <a:off x="2952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16" name="TextBox 15"/>
          <p:cNvSpPr txBox="1"/>
          <p:nvPr/>
        </p:nvSpPr>
        <p:spPr>
          <a:xfrm>
            <a:off x="22383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17" name="Connector 16"/>
          <p:cNvCxnSpPr/>
          <p:nvPr/>
        </p:nvCxnSpPr>
        <p:spPr>
          <a:xfrm>
            <a:off x="23145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22383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22383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33432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383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22" name="Rounded Rectangle 21"/>
          <p:cNvSpPr/>
          <p:nvPr/>
        </p:nvSpPr>
        <p:spPr>
          <a:xfrm>
            <a:off x="3514725" y="1390650"/>
            <a:ext cx="1905000" cy="876300"/>
          </a:xfrm>
          <a:prstGeom prst="roundRect">
            <a:avLst>
              <a:gd name="adj" fmla="val 4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1472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24" name="TextBox 23"/>
          <p:cNvSpPr txBox="1"/>
          <p:nvPr/>
        </p:nvSpPr>
        <p:spPr>
          <a:xfrm>
            <a:off x="351472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Mid-sized players</a:t>
            </a:r>
          </a:p>
        </p:txBody>
      </p:sp>
      <p:sp>
        <p:nvSpPr>
          <p:cNvPr id="25" name="TextBox 24"/>
          <p:cNvSpPr txBox="1"/>
          <p:nvPr/>
        </p:nvSpPr>
        <p:spPr>
          <a:xfrm>
            <a:off x="35528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26" name="TextBox 25"/>
          <p:cNvSpPr txBox="1"/>
          <p:nvPr/>
        </p:nvSpPr>
        <p:spPr>
          <a:xfrm>
            <a:off x="549592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27" name="Connector 26"/>
          <p:cNvCxnSpPr/>
          <p:nvPr/>
        </p:nvCxnSpPr>
        <p:spPr>
          <a:xfrm>
            <a:off x="557212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549592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549592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60082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9592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32" name="Rounded Rectangle 31"/>
          <p:cNvSpPr/>
          <p:nvPr/>
        </p:nvSpPr>
        <p:spPr>
          <a:xfrm>
            <a:off x="6772275" y="1390650"/>
            <a:ext cx="1905000" cy="876300"/>
          </a:xfrm>
          <a:prstGeom prst="roundRect">
            <a:avLst>
              <a:gd name="adj" fmla="val 4000"/>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722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34" name="TextBox 33"/>
          <p:cNvSpPr txBox="1"/>
          <p:nvPr/>
        </p:nvSpPr>
        <p:spPr>
          <a:xfrm>
            <a:off x="67722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Emerging / local players</a:t>
            </a:r>
          </a:p>
        </p:txBody>
      </p:sp>
      <p:sp>
        <p:nvSpPr>
          <p:cNvPr id="35" name="TextBox 34"/>
          <p:cNvSpPr txBox="1"/>
          <p:nvPr/>
        </p:nvSpPr>
        <p:spPr>
          <a:xfrm>
            <a:off x="68103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36" name="TextBox 35"/>
          <p:cNvSpPr txBox="1"/>
          <p:nvPr/>
        </p:nvSpPr>
        <p:spPr>
          <a:xfrm>
            <a:off x="87534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2 up-tier (M&amp;A)</a:t>
            </a:r>
          </a:p>
        </p:txBody>
      </p:sp>
      <p:cxnSp>
        <p:nvCxnSpPr>
          <p:cNvPr id="37" name="Connector 36"/>
          <p:cNvCxnSpPr/>
          <p:nvPr/>
        </p:nvCxnSpPr>
        <p:spPr>
          <a:xfrm>
            <a:off x="88296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87534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87534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40" name="Freeform 39"/>
          <p:cNvSpPr/>
          <p:nvPr/>
        </p:nvSpPr>
        <p:spPr>
          <a:xfrm>
            <a:off x="98583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534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1 down / exit</a:t>
            </a:r>
          </a:p>
        </p:txBody>
      </p:sp>
      <p:sp>
        <p:nvSpPr>
          <p:cNvPr id="42" name="Rounded Rectangle 41"/>
          <p:cNvSpPr/>
          <p:nvPr/>
        </p:nvSpPr>
        <p:spPr>
          <a:xfrm>
            <a:off x="10029825" y="1390650"/>
            <a:ext cx="1905000" cy="876300"/>
          </a:xfrm>
          <a:prstGeom prst="roundRect">
            <a:avLst>
              <a:gd name="adj" fmla="val 4000"/>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29825" y="1447800"/>
            <a:ext cx="1905000" cy="2095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44" name="TextBox 43"/>
          <p:cNvSpPr txBox="1"/>
          <p:nvPr/>
        </p:nvSpPr>
        <p:spPr>
          <a:xfrm>
            <a:off x="10029825" y="1676400"/>
            <a:ext cx="1905000" cy="17145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45" name="TextBox 44"/>
          <p:cNvSpPr txBox="1"/>
          <p:nvPr/>
        </p:nvSpPr>
        <p:spPr>
          <a:xfrm>
            <a:off x="100679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r>
          </a:p>
        </p:txBody>
      </p:sp>
      <p:sp>
        <p:nvSpPr>
          <p:cNvPr id="46" name="Rounded Rectangle 45"/>
          <p:cNvSpPr/>
          <p:nvPr/>
        </p:nvSpPr>
        <p:spPr>
          <a:xfrm>
            <a:off x="2571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MI KPI Value"/>
          <p:cNvSpPr txBox="1"/>
          <p:nvPr/>
        </p:nvSpPr>
        <p:spPr>
          <a:xfrm>
            <a:off x="3524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48" name="TextBox 47"/>
          <p:cNvSpPr txBox="1"/>
          <p:nvPr/>
        </p:nvSpPr>
        <p:spPr>
          <a:xfrm>
            <a:off x="11906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New entrants 2026–2036</a:t>
            </a:r>
          </a:p>
        </p:txBody>
      </p:sp>
      <p:sp>
        <p:nvSpPr>
          <p:cNvPr id="49" name="TextBox 48"/>
          <p:cNvSpPr txBox="1"/>
          <p:nvPr/>
        </p:nvSpPr>
        <p:spPr>
          <a:xfrm>
            <a:off x="11906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scaling up from the long tail</a:t>
            </a:r>
          </a:p>
        </p:txBody>
      </p:sp>
      <p:sp>
        <p:nvSpPr>
          <p:cNvPr id="50" name="Rounded Rectangle 49"/>
          <p:cNvSpPr/>
          <p:nvPr/>
        </p:nvSpPr>
        <p:spPr>
          <a:xfrm>
            <a:off x="32099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MI KPI Value"/>
          <p:cNvSpPr txBox="1"/>
          <p:nvPr/>
        </p:nvSpPr>
        <p:spPr>
          <a:xfrm>
            <a:off x="33051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2" name="TextBox 51"/>
          <p:cNvSpPr txBox="1"/>
          <p:nvPr/>
        </p:nvSpPr>
        <p:spPr>
          <a:xfrm>
            <a:off x="41433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Exits / acquisitions</a:t>
            </a:r>
          </a:p>
        </p:txBody>
      </p:sp>
      <p:sp>
        <p:nvSpPr>
          <p:cNvPr id="53" name="TextBox 52"/>
          <p:cNvSpPr txBox="1"/>
          <p:nvPr/>
        </p:nvSpPr>
        <p:spPr>
          <a:xfrm>
            <a:off x="41433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absorbed mainly by Tier 1–2 acquirers</a:t>
            </a:r>
          </a:p>
        </p:txBody>
      </p:sp>
      <p:sp>
        <p:nvSpPr>
          <p:cNvPr id="54" name="Rounded Rectangle 53"/>
          <p:cNvSpPr/>
          <p:nvPr/>
        </p:nvSpPr>
        <p:spPr>
          <a:xfrm>
            <a:off x="61626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MI KPI Value"/>
          <p:cNvSpPr txBox="1"/>
          <p:nvPr/>
        </p:nvSpPr>
        <p:spPr>
          <a:xfrm>
            <a:off x="62579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6" name="TextBox 55"/>
          <p:cNvSpPr txBox="1"/>
          <p:nvPr/>
        </p:nvSpPr>
        <p:spPr>
          <a:xfrm>
            <a:off x="70961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Net change in player count</a:t>
            </a:r>
          </a:p>
        </p:txBody>
      </p:sp>
      <p:sp>
        <p:nvSpPr>
          <p:cNvPr id="57" name="TextBox 56"/>
          <p:cNvSpPr txBox="1"/>
          <p:nvPr/>
        </p:nvSpPr>
        <p:spPr>
          <a:xfrm>
            <a:off x="70961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Between 2026 and 2036</a:t>
            </a:r>
          </a:p>
        </p:txBody>
      </p:sp>
      <p:sp>
        <p:nvSpPr>
          <p:cNvPr id="58" name="Rounded Rectangle 57"/>
          <p:cNvSpPr/>
          <p:nvPr/>
        </p:nvSpPr>
        <p:spPr>
          <a:xfrm>
            <a:off x="91154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MI KPI Value"/>
          <p:cNvSpPr txBox="1"/>
          <p:nvPr/>
        </p:nvSpPr>
        <p:spPr>
          <a:xfrm>
            <a:off x="92106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60" name="TextBox 59"/>
          <p:cNvSpPr txBox="1"/>
          <p:nvPr/>
        </p:nvSpPr>
        <p:spPr>
          <a:xfrm>
            <a:off x="100488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Share moving between tiers</a:t>
            </a:r>
          </a:p>
        </p:txBody>
      </p:sp>
      <p:sp>
        <p:nvSpPr>
          <p:cNvPr id="61" name="TextBox 60"/>
          <p:cNvSpPr txBox="1"/>
          <p:nvPr/>
        </p:nvSpPr>
        <p:spPr>
          <a:xfrm>
            <a:off x="100488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largest transfer: Others → Tier 2</a:t>
            </a:r>
          </a:p>
        </p:txBody>
      </p:sp>
      <p:sp>
        <p:nvSpPr>
          <p:cNvPr id="62" name="Rounded Rectangle 61"/>
          <p:cNvSpPr/>
          <p:nvPr/>
        </p:nvSpPr>
        <p:spPr>
          <a:xfrm>
            <a:off x="142875" y="3543300"/>
            <a:ext cx="7096125" cy="3086100"/>
          </a:xfrm>
          <a:prstGeom prst="roundRect">
            <a:avLst>
              <a:gd name="adj" fmla="val 107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38125" y="3600450"/>
            <a:ext cx="6905625"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Forces Shaping the Tier Structure (1 = weak, 5 = strong)</a:t>
            </a:r>
          </a:p>
        </p:txBody>
      </p:sp>
      <p:sp>
        <p:nvSpPr>
          <p:cNvPr id="64" name="Rectangle 63"/>
          <p:cNvSpPr/>
          <p:nvPr/>
        </p:nvSpPr>
        <p:spPr>
          <a:xfrm>
            <a:off x="238125" y="3867150"/>
            <a:ext cx="1428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95275" y="3867150"/>
            <a:ext cx="1352550" cy="247650"/>
          </a:xfrm>
          <a:prstGeom prst="rect">
            <a:avLst/>
          </a:prstGeom>
          <a:noFill/>
        </p:spPr>
        <p:txBody>
          <a:bodyPr wrap="square" lIns="28575" rIns="28575" tIns="9525" bIns="9525" anchor="ctr">
            <a:spAutoFit/>
          </a:bodyPr>
          <a:lstStyle/>
          <a:p>
            <a:pPr algn="l"/>
            <a:r>
              <a:rPr sz="1100" b="1">
                <a:solidFill>
                  <a:srgbClr val="FFFFFF"/>
                </a:solidFill>
                <a:latin typeface="Calibri"/>
              </a:rPr>
              <a:t>Force</a:t>
            </a:r>
          </a:p>
        </p:txBody>
      </p:sp>
      <p:sp>
        <p:nvSpPr>
          <p:cNvPr id="66" name="Rectangle 65"/>
          <p:cNvSpPr/>
          <p:nvPr/>
        </p:nvSpPr>
        <p:spPr>
          <a:xfrm>
            <a:off x="1666875" y="3867150"/>
            <a:ext cx="233362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724025" y="3867150"/>
            <a:ext cx="2257425" cy="247650"/>
          </a:xfrm>
          <a:prstGeom prst="rect">
            <a:avLst/>
          </a:prstGeom>
          <a:noFill/>
        </p:spPr>
        <p:txBody>
          <a:bodyPr wrap="square" lIns="28575" rIns="28575" tIns="9525" bIns="9525" anchor="ctr">
            <a:spAutoFit/>
          </a:bodyPr>
          <a:lstStyle/>
          <a:p>
            <a:pPr algn="l"/>
            <a:r>
              <a:rPr sz="1100" b="1">
                <a:solidFill>
                  <a:srgbClr val="FFFFFF"/>
                </a:solidFill>
                <a:latin typeface="Calibri"/>
              </a:rPr>
              <a:t>Drivers in the market</a:t>
            </a:r>
          </a:p>
        </p:txBody>
      </p:sp>
      <p:sp>
        <p:nvSpPr>
          <p:cNvPr id="68" name="Rectangle 67"/>
          <p:cNvSpPr/>
          <p:nvPr/>
        </p:nvSpPr>
        <p:spPr>
          <a:xfrm>
            <a:off x="4000500" y="3867150"/>
            <a:ext cx="666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057650" y="3867150"/>
            <a:ext cx="590550" cy="247650"/>
          </a:xfrm>
          <a:prstGeom prst="rect">
            <a:avLst/>
          </a:prstGeom>
          <a:noFill/>
        </p:spPr>
        <p:txBody>
          <a:bodyPr wrap="square" lIns="28575" rIns="28575" tIns="9525" bIns="9525" anchor="ctr">
            <a:spAutoFit/>
          </a:bodyPr>
          <a:lstStyle/>
          <a:p>
            <a:pPr algn="l"/>
            <a:r>
              <a:rPr sz="1100" b="1">
                <a:solidFill>
                  <a:srgbClr val="FFFFFF"/>
                </a:solidFill>
                <a:latin typeface="Calibri"/>
              </a:rPr>
              <a:t>Score</a:t>
            </a:r>
          </a:p>
        </p:txBody>
      </p:sp>
      <p:sp>
        <p:nvSpPr>
          <p:cNvPr id="70" name="Rectangle 69"/>
          <p:cNvSpPr/>
          <p:nvPr/>
        </p:nvSpPr>
        <p:spPr>
          <a:xfrm>
            <a:off x="4667250" y="3867150"/>
            <a:ext cx="2476500" cy="247650"/>
          </a:xfrm>
          <a:prstGeom prst="rect">
            <a:avLst/>
          </a:prstGeom>
          <a:solidFill>
            <a:srgbClr val="0E8C8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724400" y="3867150"/>
            <a:ext cx="2400300" cy="247650"/>
          </a:xfrm>
          <a:prstGeom prst="rect">
            <a:avLst/>
          </a:prstGeom>
          <a:noFill/>
        </p:spPr>
        <p:txBody>
          <a:bodyPr wrap="square" lIns="28575" rIns="28575" tIns="9525" bIns="9525" anchor="ctr">
            <a:spAutoFit/>
          </a:bodyPr>
          <a:lstStyle/>
          <a:p>
            <a:pPr algn="l"/>
            <a:r>
              <a:rPr sz="1100" b="1">
                <a:solidFill>
                  <a:srgbClr val="FFFFFF"/>
                </a:solidFill>
                <a:latin typeface="Calibri"/>
              </a:rPr>
              <a:t>Effect on tier structure</a:t>
            </a:r>
          </a:p>
        </p:txBody>
      </p:sp>
      <p:sp>
        <p:nvSpPr>
          <p:cNvPr id="72" name="Rectangle 71"/>
          <p:cNvSpPr/>
          <p:nvPr/>
        </p:nvSpPr>
        <p:spPr>
          <a:xfrm>
            <a:off x="238125" y="41148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95275" y="41148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Entry barriers</a:t>
            </a:r>
          </a:p>
        </p:txBody>
      </p:sp>
      <p:sp>
        <p:nvSpPr>
          <p:cNvPr id="74" name="Rectangle 73"/>
          <p:cNvSpPr/>
          <p:nvPr/>
        </p:nvSpPr>
        <p:spPr>
          <a:xfrm>
            <a:off x="1666875" y="41148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724025" y="41148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Certification, qualification, scale economics</a:t>
            </a:r>
          </a:p>
        </p:txBody>
      </p:sp>
      <p:sp>
        <p:nvSpPr>
          <p:cNvPr id="76" name="Rectangle 75"/>
          <p:cNvSpPr/>
          <p:nvPr/>
        </p:nvSpPr>
        <p:spPr>
          <a:xfrm>
            <a:off x="4000500" y="41148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57650" y="41148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78" name="Rectangle 77"/>
          <p:cNvSpPr/>
          <p:nvPr/>
        </p:nvSpPr>
        <p:spPr>
          <a:xfrm>
            <a:off x="4667250" y="41148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724400" y="41148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Protects Tier 1–2; slows new entry</a:t>
            </a:r>
          </a:p>
        </p:txBody>
      </p:sp>
      <p:sp>
        <p:nvSpPr>
          <p:cNvPr id="80" name="Rectangle 79"/>
          <p:cNvSpPr/>
          <p:nvPr/>
        </p:nvSpPr>
        <p:spPr>
          <a:xfrm>
            <a:off x="238125" y="45243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95275" y="45243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Buyer power</a:t>
            </a:r>
          </a:p>
        </p:txBody>
      </p:sp>
      <p:sp>
        <p:nvSpPr>
          <p:cNvPr id="82" name="Rectangle 81"/>
          <p:cNvSpPr/>
          <p:nvPr/>
        </p:nvSpPr>
        <p:spPr>
          <a:xfrm>
            <a:off x="1666875" y="45243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724025" y="452437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Key-account purchasing, multi-year supply contracts</a:t>
            </a:r>
          </a:p>
        </p:txBody>
      </p:sp>
      <p:sp>
        <p:nvSpPr>
          <p:cNvPr id="84" name="Rectangle 83"/>
          <p:cNvSpPr/>
          <p:nvPr/>
        </p:nvSpPr>
        <p:spPr>
          <a:xfrm>
            <a:off x="4000500" y="45243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057650" y="45243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86" name="Rectangle 85"/>
          <p:cNvSpPr/>
          <p:nvPr/>
        </p:nvSpPr>
        <p:spPr>
          <a:xfrm>
            <a:off x="4667250" y="45243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724400" y="452437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Compresses Tier 3 pricing</a:t>
            </a:r>
          </a:p>
        </p:txBody>
      </p:sp>
      <p:sp>
        <p:nvSpPr>
          <p:cNvPr id="88" name="Rectangle 87"/>
          <p:cNvSpPr/>
          <p:nvPr/>
        </p:nvSpPr>
        <p:spPr>
          <a:xfrm>
            <a:off x="238125" y="493395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95275" y="493395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Switching costs</a:t>
            </a:r>
          </a:p>
        </p:txBody>
      </p:sp>
      <p:sp>
        <p:nvSpPr>
          <p:cNvPr id="90" name="Rectangle 89"/>
          <p:cNvSpPr/>
          <p:nvPr/>
        </p:nvSpPr>
        <p:spPr>
          <a:xfrm>
            <a:off x="1666875" y="493395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724025" y="493395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Requalification, integration and retraining</a:t>
            </a:r>
          </a:p>
        </p:txBody>
      </p:sp>
      <p:sp>
        <p:nvSpPr>
          <p:cNvPr id="92" name="Rectangle 91"/>
          <p:cNvSpPr/>
          <p:nvPr/>
        </p:nvSpPr>
        <p:spPr>
          <a:xfrm>
            <a:off x="4000500" y="493395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057650" y="493395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94" name="Rectangle 93"/>
          <p:cNvSpPr/>
          <p:nvPr/>
        </p:nvSpPr>
        <p:spPr>
          <a:xfrm>
            <a:off x="4667250" y="493395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724400" y="493395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Locks in the installed base</a:t>
            </a:r>
          </a:p>
        </p:txBody>
      </p:sp>
      <p:sp>
        <p:nvSpPr>
          <p:cNvPr id="96" name="Rectangle 95"/>
          <p:cNvSpPr/>
          <p:nvPr/>
        </p:nvSpPr>
        <p:spPr>
          <a:xfrm>
            <a:off x="238125" y="534352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95275" y="534352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Technology substitution</a:t>
            </a:r>
          </a:p>
        </p:txBody>
      </p:sp>
      <p:sp>
        <p:nvSpPr>
          <p:cNvPr id="98" name="Rectangle 97"/>
          <p:cNvSpPr/>
          <p:nvPr/>
        </p:nvSpPr>
        <p:spPr>
          <a:xfrm>
            <a:off x="1666875" y="534352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724025" y="534352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Alternative materials and next-generation formats</a:t>
            </a:r>
          </a:p>
        </p:txBody>
      </p:sp>
      <p:sp>
        <p:nvSpPr>
          <p:cNvPr id="100" name="Rectangle 99"/>
          <p:cNvSpPr/>
          <p:nvPr/>
        </p:nvSpPr>
        <p:spPr>
          <a:xfrm>
            <a:off x="4000500" y="534352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057650" y="534352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02" name="Rectangle 101"/>
          <p:cNvSpPr/>
          <p:nvPr/>
        </p:nvSpPr>
        <p:spPr>
          <a:xfrm>
            <a:off x="4667250" y="534352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724400" y="534352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Opens demand to Tier 2–3 innovators</a:t>
            </a:r>
          </a:p>
        </p:txBody>
      </p:sp>
      <p:sp>
        <p:nvSpPr>
          <p:cNvPr id="104" name="Rectangle 103"/>
          <p:cNvSpPr/>
          <p:nvPr/>
        </p:nvSpPr>
        <p:spPr>
          <a:xfrm>
            <a:off x="238125" y="57531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95275" y="57531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Supplier power</a:t>
            </a:r>
          </a:p>
        </p:txBody>
      </p:sp>
      <p:sp>
        <p:nvSpPr>
          <p:cNvPr id="106" name="Rectangle 105"/>
          <p:cNvSpPr/>
          <p:nvPr/>
        </p:nvSpPr>
        <p:spPr>
          <a:xfrm>
            <a:off x="1666875" y="57531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724025" y="57531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Few qualified input and component suppliers</a:t>
            </a:r>
          </a:p>
        </p:txBody>
      </p:sp>
      <p:sp>
        <p:nvSpPr>
          <p:cNvPr id="108" name="Rectangle 107"/>
          <p:cNvSpPr/>
          <p:nvPr/>
        </p:nvSpPr>
        <p:spPr>
          <a:xfrm>
            <a:off x="4000500" y="57531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057650" y="57531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10" name="Rectangle 109"/>
          <p:cNvSpPr/>
          <p:nvPr/>
        </p:nvSpPr>
        <p:spPr>
          <a:xfrm>
            <a:off x="4667250" y="57531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724400" y="57531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Raises input cost for sub-scale players</a:t>
            </a:r>
          </a:p>
        </p:txBody>
      </p:sp>
      <p:sp>
        <p:nvSpPr>
          <p:cNvPr id="112" name="Rectangle 111"/>
          <p:cNvSpPr/>
          <p:nvPr/>
        </p:nvSpPr>
        <p:spPr>
          <a:xfrm>
            <a:off x="238125" y="61626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95275" y="61626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Overall structural pressure</a:t>
            </a:r>
          </a:p>
        </p:txBody>
      </p:sp>
      <p:sp>
        <p:nvSpPr>
          <p:cNvPr id="114" name="Rectangle 113"/>
          <p:cNvSpPr/>
          <p:nvPr/>
        </p:nvSpPr>
        <p:spPr>
          <a:xfrm>
            <a:off x="1666875" y="61626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724025" y="6162675"/>
            <a:ext cx="2238375"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Average of the five forces</a:t>
            </a:r>
          </a:p>
        </p:txBody>
      </p:sp>
      <p:sp>
        <p:nvSpPr>
          <p:cNvPr id="116" name="Rectangle 115"/>
          <p:cNvSpPr/>
          <p:nvPr/>
        </p:nvSpPr>
        <p:spPr>
          <a:xfrm>
            <a:off x="4000500" y="61626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057650" y="61626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18" name="Rectangle 117"/>
          <p:cNvSpPr/>
          <p:nvPr/>
        </p:nvSpPr>
        <p:spPr>
          <a:xfrm>
            <a:off x="4667250" y="61626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724400" y="6162675"/>
            <a:ext cx="238125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Structure broadly stable</a:t>
            </a:r>
          </a:p>
        </p:txBody>
      </p:sp>
      <p:sp>
        <p:nvSpPr>
          <p:cNvPr id="120" name="Rounded Rectangle 119"/>
          <p:cNvSpPr/>
          <p:nvPr/>
        </p:nvSpPr>
        <p:spPr>
          <a:xfrm>
            <a:off x="7381875" y="3543300"/>
            <a:ext cx="4667250" cy="3086100"/>
          </a:xfrm>
          <a:prstGeom prst="roundRect">
            <a:avLst>
              <a:gd name="adj" fmla="val 163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477125" y="3600450"/>
            <a:ext cx="4476750"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122" name="TextBox 121"/>
          <p:cNvSpPr txBox="1"/>
          <p:nvPr/>
        </p:nvSpPr>
        <p:spPr>
          <a:xfrm>
            <a:off x="7496175" y="384810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3" name="TextBox 122"/>
          <p:cNvSpPr txBox="1"/>
          <p:nvPr/>
        </p:nvSpPr>
        <p:spPr>
          <a:xfrm>
            <a:off x="7629525" y="3848100"/>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4" name="TextBox 123"/>
          <p:cNvSpPr txBox="1"/>
          <p:nvPr/>
        </p:nvSpPr>
        <p:spPr>
          <a:xfrm>
            <a:off x="7496175" y="4429125"/>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5" name="TextBox 124"/>
          <p:cNvSpPr txBox="1"/>
          <p:nvPr/>
        </p:nvSpPr>
        <p:spPr>
          <a:xfrm>
            <a:off x="7629525" y="4429125"/>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1 Tier 2 player is positioned to move up-tier by 2036 through M&amp;A and key-account wins – the main structural change of the decade.</a:t>
            </a:r>
          </a:p>
        </p:txBody>
      </p:sp>
      <p:sp>
        <p:nvSpPr>
          <p:cNvPr id="126" name="TextBox 125"/>
          <p:cNvSpPr txBox="1"/>
          <p:nvPr/>
        </p:nvSpPr>
        <p:spPr>
          <a:xfrm>
            <a:off x="7496175" y="50101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7" name="TextBox 126"/>
          <p:cNvSpPr txBox="1"/>
          <p:nvPr/>
        </p:nvSpPr>
        <p:spPr>
          <a:xfrm>
            <a:off x="7629525" y="50101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8" name="TextBox 127"/>
          <p:cNvSpPr txBox="1"/>
          <p:nvPr/>
        </p:nvSpPr>
        <p:spPr>
          <a:xfrm>
            <a:off x="7496175" y="54292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9" name="TextBox 128"/>
          <p:cNvSpPr txBox="1"/>
          <p:nvPr/>
        </p:nvSpPr>
        <p:spPr>
          <a:xfrm>
            <a:off x="7629525" y="54292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Buyer power (4 / 5) and technology substitution (4 / 5) are the dominant forces shaping the tier structure.</a:t>
            </a:r>
          </a:p>
        </p:txBody>
      </p:sp>
      <p:sp>
        <p:nvSpPr>
          <p:cNvPr id="130" name="TextBox 1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31" name="Picture 130" descr="lock.png"/>
          <p:cNvPicPr>
            <a:picLocks noChangeAspect="1"/>
          </p:cNvPicPr>
          <p:nvPr/>
        </p:nvPicPr>
        <p:blipFill>
          <a:blip r:embed="rId4"/>
          <a:stretch>
            <a:fillRect/>
          </a:stretch>
        </p:blipFill>
        <p:spPr>
          <a:xfrm>
            <a:off x="604726" y="2545080"/>
            <a:ext cx="257397" cy="374396"/>
          </a:xfrm>
          <a:prstGeom prst="rect">
            <a:avLst/>
          </a:prstGeom>
        </p:spPr>
      </p:pic>
      <p:pic>
        <p:nvPicPr>
          <p:cNvPr id="132" name="Picture 131" descr="lock.png"/>
          <p:cNvPicPr>
            <a:picLocks noChangeAspect="1"/>
          </p:cNvPicPr>
          <p:nvPr/>
        </p:nvPicPr>
        <p:blipFill>
          <a:blip r:embed="rId4"/>
          <a:stretch>
            <a:fillRect/>
          </a:stretch>
        </p:blipFill>
        <p:spPr>
          <a:xfrm>
            <a:off x="3557476" y="2545080"/>
            <a:ext cx="257397" cy="374396"/>
          </a:xfrm>
          <a:prstGeom prst="rect">
            <a:avLst/>
          </a:prstGeom>
        </p:spPr>
      </p:pic>
      <p:pic>
        <p:nvPicPr>
          <p:cNvPr id="133" name="Picture 132" descr="lock.png"/>
          <p:cNvPicPr>
            <a:picLocks noChangeAspect="1"/>
          </p:cNvPicPr>
          <p:nvPr/>
        </p:nvPicPr>
        <p:blipFill>
          <a:blip r:embed="rId4"/>
          <a:stretch>
            <a:fillRect/>
          </a:stretch>
        </p:blipFill>
        <p:spPr>
          <a:xfrm>
            <a:off x="6510226" y="2545080"/>
            <a:ext cx="257397" cy="374396"/>
          </a:xfrm>
          <a:prstGeom prst="rect">
            <a:avLst/>
          </a:prstGeom>
        </p:spPr>
      </p:pic>
      <p:pic>
        <p:nvPicPr>
          <p:cNvPr id="134" name="Picture 133" descr="lock.png"/>
          <p:cNvPicPr>
            <a:picLocks noChangeAspect="1"/>
          </p:cNvPicPr>
          <p:nvPr/>
        </p:nvPicPr>
        <p:blipFill>
          <a:blip r:embed="rId4"/>
          <a:stretch>
            <a:fillRect/>
          </a:stretch>
        </p:blipFill>
        <p:spPr>
          <a:xfrm>
            <a:off x="9462976" y="2545080"/>
            <a:ext cx="257397" cy="374396"/>
          </a:xfrm>
          <a:prstGeom prst="rect">
            <a:avLst/>
          </a:prstGeom>
        </p:spPr>
      </p:pic>
      <p:pic>
        <p:nvPicPr>
          <p:cNvPr id="135" name="Picture 134" descr="lock.png"/>
          <p:cNvPicPr>
            <a:picLocks noChangeAspect="1"/>
          </p:cNvPicPr>
          <p:nvPr/>
        </p:nvPicPr>
        <p:blipFill>
          <a:blip r:embed="rId4"/>
          <a:stretch>
            <a:fillRect/>
          </a:stretch>
        </p:blipFill>
        <p:spPr>
          <a:xfrm>
            <a:off x="4279050" y="4225988"/>
            <a:ext cx="128699" cy="187198"/>
          </a:xfrm>
          <a:prstGeom prst="rect">
            <a:avLst/>
          </a:prstGeom>
        </p:spPr>
      </p:pic>
      <p:pic>
        <p:nvPicPr>
          <p:cNvPr id="136" name="Picture 135" descr="lock.png"/>
          <p:cNvPicPr>
            <a:picLocks noChangeAspect="1"/>
          </p:cNvPicPr>
          <p:nvPr/>
        </p:nvPicPr>
        <p:blipFill>
          <a:blip r:embed="rId4"/>
          <a:stretch>
            <a:fillRect/>
          </a:stretch>
        </p:blipFill>
        <p:spPr>
          <a:xfrm>
            <a:off x="4279050" y="4635563"/>
            <a:ext cx="128699" cy="187198"/>
          </a:xfrm>
          <a:prstGeom prst="rect">
            <a:avLst/>
          </a:prstGeom>
        </p:spPr>
      </p:pic>
      <p:pic>
        <p:nvPicPr>
          <p:cNvPr id="137" name="Picture 136" descr="lock.png"/>
          <p:cNvPicPr>
            <a:picLocks noChangeAspect="1"/>
          </p:cNvPicPr>
          <p:nvPr/>
        </p:nvPicPr>
        <p:blipFill>
          <a:blip r:embed="rId4"/>
          <a:stretch>
            <a:fillRect/>
          </a:stretch>
        </p:blipFill>
        <p:spPr>
          <a:xfrm>
            <a:off x="4279050" y="5045138"/>
            <a:ext cx="128699" cy="187198"/>
          </a:xfrm>
          <a:prstGeom prst="rect">
            <a:avLst/>
          </a:prstGeom>
        </p:spPr>
      </p:pic>
      <p:pic>
        <p:nvPicPr>
          <p:cNvPr id="138" name="Picture 137" descr="lock.png"/>
          <p:cNvPicPr>
            <a:picLocks noChangeAspect="1"/>
          </p:cNvPicPr>
          <p:nvPr/>
        </p:nvPicPr>
        <p:blipFill>
          <a:blip r:embed="rId4"/>
          <a:stretch>
            <a:fillRect/>
          </a:stretch>
        </p:blipFill>
        <p:spPr>
          <a:xfrm>
            <a:off x="4279050" y="5454713"/>
            <a:ext cx="128699" cy="187198"/>
          </a:xfrm>
          <a:prstGeom prst="rect">
            <a:avLst/>
          </a:prstGeom>
        </p:spPr>
      </p:pic>
      <p:pic>
        <p:nvPicPr>
          <p:cNvPr id="139" name="Picture 138" descr="lock.png"/>
          <p:cNvPicPr>
            <a:picLocks noChangeAspect="1"/>
          </p:cNvPicPr>
          <p:nvPr/>
        </p:nvPicPr>
        <p:blipFill>
          <a:blip r:embed="rId4"/>
          <a:stretch>
            <a:fillRect/>
          </a:stretch>
        </p:blipFill>
        <p:spPr>
          <a:xfrm>
            <a:off x="4279050" y="5864288"/>
            <a:ext cx="128699" cy="187198"/>
          </a:xfrm>
          <a:prstGeom prst="rect">
            <a:avLst/>
          </a:prstGeom>
        </p:spPr>
      </p:pic>
      <p:pic>
        <p:nvPicPr>
          <p:cNvPr id="140" name="Picture 139" descr="lock.png"/>
          <p:cNvPicPr>
            <a:picLocks noChangeAspect="1"/>
          </p:cNvPicPr>
          <p:nvPr/>
        </p:nvPicPr>
        <p:blipFill>
          <a:blip r:embed="rId4"/>
          <a:stretch>
            <a:fillRect/>
          </a:stretch>
        </p:blipFill>
        <p:spPr>
          <a:xfrm>
            <a:off x="4279050" y="6273863"/>
            <a:ext cx="128699" cy="187198"/>
          </a:xfrm>
          <a:prstGeom prst="rect">
            <a:avLst/>
          </a:prstGeom>
        </p:spPr>
      </p:pic>
      <p:sp>
        <p:nvSpPr>
          <p:cNvPr id="141" name="TextBox 140"/>
          <p:cNvSpPr txBox="1"/>
          <p:nvPr/>
        </p:nvSpPr>
        <p:spPr>
          <a:xfrm>
            <a:off x="547018" y="1870710"/>
            <a:ext cx="929133" cy="186689"/>
          </a:xfrm>
          <a:prstGeom prst="rect">
            <a:avLst/>
          </a:prstGeom>
          <a:noFill/>
        </p:spPr>
        <p:txBody>
          <a:bodyPr wrap="none" lIns="0" rIns="0" tIns="0" bIns="0">
            <a:spAutoFit/>
          </a:bodyPr>
          <a:lstStyle/>
          <a:p>
            <a:r>
              <a:rPr sz="1100" b="1">
                <a:solidFill>
                  <a:srgbClr val="FFFFFF"/>
                </a:solidFill>
                <a:latin typeface="Calibri"/>
              </a:rPr>
              <a:t>4 → 5 players ·</a:t>
            </a:r>
          </a:p>
        </p:txBody>
      </p:sp>
      <p:pic>
        <p:nvPicPr>
          <p:cNvPr id="142" name="Picture 141" descr="lock.png"/>
          <p:cNvPicPr>
            <a:picLocks noChangeAspect="1"/>
          </p:cNvPicPr>
          <p:nvPr/>
        </p:nvPicPr>
        <p:blipFill>
          <a:blip r:embed="rId4"/>
          <a:stretch>
            <a:fillRect/>
          </a:stretch>
        </p:blipFill>
        <p:spPr>
          <a:xfrm>
            <a:off x="1424204" y="1860931"/>
            <a:ext cx="128699" cy="187198"/>
          </a:xfrm>
          <a:prstGeom prst="rect">
            <a:avLst/>
          </a:prstGeom>
        </p:spPr>
      </p:pic>
      <p:sp>
        <p:nvSpPr>
          <p:cNvPr id="143" name="TextBox 142"/>
          <p:cNvSpPr txBox="1"/>
          <p:nvPr/>
        </p:nvSpPr>
        <p:spPr>
          <a:xfrm>
            <a:off x="15916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4" name="Picture 143" descr="lock.png"/>
          <p:cNvPicPr>
            <a:picLocks noChangeAspect="1"/>
          </p:cNvPicPr>
          <p:nvPr/>
        </p:nvPicPr>
        <p:blipFill>
          <a:blip r:embed="rId4"/>
          <a:stretch>
            <a:fillRect/>
          </a:stretch>
        </p:blipFill>
        <p:spPr>
          <a:xfrm>
            <a:off x="1742554" y="1860931"/>
            <a:ext cx="128699" cy="187198"/>
          </a:xfrm>
          <a:prstGeom prst="rect">
            <a:avLst/>
          </a:prstGeom>
        </p:spPr>
      </p:pic>
      <p:sp>
        <p:nvSpPr>
          <p:cNvPr id="145" name="TextBox 144"/>
          <p:cNvSpPr txBox="1"/>
          <p:nvPr/>
        </p:nvSpPr>
        <p:spPr>
          <a:xfrm>
            <a:off x="10497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46" name="TextBox 145"/>
          <p:cNvSpPr txBox="1"/>
          <p:nvPr/>
        </p:nvSpPr>
        <p:spPr>
          <a:xfrm>
            <a:off x="3804568" y="1870710"/>
            <a:ext cx="929133" cy="186689"/>
          </a:xfrm>
          <a:prstGeom prst="rect">
            <a:avLst/>
          </a:prstGeom>
          <a:noFill/>
        </p:spPr>
        <p:txBody>
          <a:bodyPr wrap="none" lIns="0" rIns="0" tIns="0" bIns="0">
            <a:spAutoFit/>
          </a:bodyPr>
          <a:lstStyle/>
          <a:p>
            <a:r>
              <a:rPr sz="1100" b="1">
                <a:solidFill>
                  <a:srgbClr val="FFFFFF"/>
                </a:solidFill>
                <a:latin typeface="Calibri"/>
              </a:rPr>
              <a:t>2 → 2 players ·</a:t>
            </a:r>
          </a:p>
        </p:txBody>
      </p:sp>
      <p:pic>
        <p:nvPicPr>
          <p:cNvPr id="147" name="Picture 146" descr="lock.png"/>
          <p:cNvPicPr>
            <a:picLocks noChangeAspect="1"/>
          </p:cNvPicPr>
          <p:nvPr/>
        </p:nvPicPr>
        <p:blipFill>
          <a:blip r:embed="rId4"/>
          <a:stretch>
            <a:fillRect/>
          </a:stretch>
        </p:blipFill>
        <p:spPr>
          <a:xfrm>
            <a:off x="4681754" y="1860931"/>
            <a:ext cx="128699" cy="187198"/>
          </a:xfrm>
          <a:prstGeom prst="rect">
            <a:avLst/>
          </a:prstGeom>
        </p:spPr>
      </p:pic>
      <p:sp>
        <p:nvSpPr>
          <p:cNvPr id="148" name="TextBox 147"/>
          <p:cNvSpPr txBox="1"/>
          <p:nvPr/>
        </p:nvSpPr>
        <p:spPr>
          <a:xfrm>
            <a:off x="484924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9" name="Picture 148" descr="lock.png"/>
          <p:cNvPicPr>
            <a:picLocks noChangeAspect="1"/>
          </p:cNvPicPr>
          <p:nvPr/>
        </p:nvPicPr>
        <p:blipFill>
          <a:blip r:embed="rId4"/>
          <a:stretch>
            <a:fillRect/>
          </a:stretch>
        </p:blipFill>
        <p:spPr>
          <a:xfrm>
            <a:off x="5000104" y="1860931"/>
            <a:ext cx="128699" cy="187198"/>
          </a:xfrm>
          <a:prstGeom prst="rect">
            <a:avLst/>
          </a:prstGeom>
        </p:spPr>
      </p:pic>
      <p:sp>
        <p:nvSpPr>
          <p:cNvPr id="150" name="TextBox 149"/>
          <p:cNvSpPr txBox="1"/>
          <p:nvPr/>
        </p:nvSpPr>
        <p:spPr>
          <a:xfrm>
            <a:off x="430733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51" name="TextBox 150"/>
          <p:cNvSpPr txBox="1"/>
          <p:nvPr/>
        </p:nvSpPr>
        <p:spPr>
          <a:xfrm>
            <a:off x="7062118" y="1870710"/>
            <a:ext cx="929133" cy="186689"/>
          </a:xfrm>
          <a:prstGeom prst="rect">
            <a:avLst/>
          </a:prstGeom>
          <a:noFill/>
        </p:spPr>
        <p:txBody>
          <a:bodyPr wrap="none" lIns="0" rIns="0" tIns="0" bIns="0">
            <a:spAutoFit/>
          </a:bodyPr>
          <a:lstStyle/>
          <a:p>
            <a:r>
              <a:rPr sz="1100" b="1">
                <a:solidFill>
                  <a:srgbClr val="FFFFFF"/>
                </a:solidFill>
                <a:latin typeface="Calibri"/>
              </a:rPr>
              <a:t>4 → 4 players ·</a:t>
            </a:r>
          </a:p>
        </p:txBody>
      </p:sp>
      <p:pic>
        <p:nvPicPr>
          <p:cNvPr id="152" name="Picture 151" descr="lock.png"/>
          <p:cNvPicPr>
            <a:picLocks noChangeAspect="1"/>
          </p:cNvPicPr>
          <p:nvPr/>
        </p:nvPicPr>
        <p:blipFill>
          <a:blip r:embed="rId4"/>
          <a:stretch>
            <a:fillRect/>
          </a:stretch>
        </p:blipFill>
        <p:spPr>
          <a:xfrm>
            <a:off x="7939304" y="1860931"/>
            <a:ext cx="128699" cy="187198"/>
          </a:xfrm>
          <a:prstGeom prst="rect">
            <a:avLst/>
          </a:prstGeom>
        </p:spPr>
      </p:pic>
      <p:sp>
        <p:nvSpPr>
          <p:cNvPr id="153" name="TextBox 152"/>
          <p:cNvSpPr txBox="1"/>
          <p:nvPr/>
        </p:nvSpPr>
        <p:spPr>
          <a:xfrm>
            <a:off x="81067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54" name="Picture 153" descr="lock.png"/>
          <p:cNvPicPr>
            <a:picLocks noChangeAspect="1"/>
          </p:cNvPicPr>
          <p:nvPr/>
        </p:nvPicPr>
        <p:blipFill>
          <a:blip r:embed="rId4"/>
          <a:stretch>
            <a:fillRect/>
          </a:stretch>
        </p:blipFill>
        <p:spPr>
          <a:xfrm>
            <a:off x="8257654" y="1860931"/>
            <a:ext cx="128699" cy="187198"/>
          </a:xfrm>
          <a:prstGeom prst="rect">
            <a:avLst/>
          </a:prstGeom>
        </p:spPr>
      </p:pic>
      <p:sp>
        <p:nvSpPr>
          <p:cNvPr id="155" name="TextBox 154"/>
          <p:cNvSpPr txBox="1"/>
          <p:nvPr/>
        </p:nvSpPr>
        <p:spPr>
          <a:xfrm>
            <a:off x="75648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56" name="TextBox 155"/>
          <p:cNvSpPr txBox="1"/>
          <p:nvPr/>
        </p:nvSpPr>
        <p:spPr>
          <a:xfrm>
            <a:off x="10286075" y="1954530"/>
            <a:ext cx="638819" cy="186689"/>
          </a:xfrm>
          <a:prstGeom prst="rect">
            <a:avLst/>
          </a:prstGeom>
          <a:noFill/>
        </p:spPr>
        <p:txBody>
          <a:bodyPr wrap="none" lIns="0" rIns="0" tIns="0" bIns="0">
            <a:spAutoFit/>
          </a:bodyPr>
          <a:lstStyle/>
          <a:p>
            <a:r>
              <a:rPr sz="1100" b="1">
                <a:solidFill>
                  <a:srgbClr val="14213D"/>
                </a:solidFill>
                <a:latin typeface="Calibri"/>
              </a:rPr>
              <a:t>Long tail ·</a:t>
            </a:r>
          </a:p>
        </p:txBody>
      </p:sp>
      <p:pic>
        <p:nvPicPr>
          <p:cNvPr id="157" name="Picture 156" descr="lock.png"/>
          <p:cNvPicPr>
            <a:picLocks noChangeAspect="1"/>
          </p:cNvPicPr>
          <p:nvPr/>
        </p:nvPicPr>
        <p:blipFill>
          <a:blip r:embed="rId4"/>
          <a:stretch>
            <a:fillRect/>
          </a:stretch>
        </p:blipFill>
        <p:spPr>
          <a:xfrm>
            <a:off x="10872946" y="1944751"/>
            <a:ext cx="128699" cy="187198"/>
          </a:xfrm>
          <a:prstGeom prst="rect">
            <a:avLst/>
          </a:prstGeom>
        </p:spPr>
      </p:pic>
      <p:sp>
        <p:nvSpPr>
          <p:cNvPr id="158" name="TextBox 157"/>
          <p:cNvSpPr txBox="1"/>
          <p:nvPr/>
        </p:nvSpPr>
        <p:spPr>
          <a:xfrm>
            <a:off x="11040442" y="1954530"/>
            <a:ext cx="202803" cy="186689"/>
          </a:xfrm>
          <a:prstGeom prst="rect">
            <a:avLst/>
          </a:prstGeom>
          <a:noFill/>
        </p:spPr>
        <p:txBody>
          <a:bodyPr wrap="none" lIns="0" rIns="0" tIns="0" bIns="0">
            <a:spAutoFit/>
          </a:bodyPr>
          <a:lstStyle/>
          <a:p>
            <a:r>
              <a:rPr sz="1100" b="1">
                <a:solidFill>
                  <a:srgbClr val="14213D"/>
                </a:solidFill>
                <a:latin typeface="Calibri"/>
              </a:rPr>
              <a:t>→</a:t>
            </a:r>
          </a:p>
        </p:txBody>
      </p:sp>
      <p:pic>
        <p:nvPicPr>
          <p:cNvPr id="159" name="Picture 158" descr="lock.png"/>
          <p:cNvPicPr>
            <a:picLocks noChangeAspect="1"/>
          </p:cNvPicPr>
          <p:nvPr/>
        </p:nvPicPr>
        <p:blipFill>
          <a:blip r:embed="rId4"/>
          <a:stretch>
            <a:fillRect/>
          </a:stretch>
        </p:blipFill>
        <p:spPr>
          <a:xfrm>
            <a:off x="11191297" y="1944751"/>
            <a:ext cx="128699" cy="187198"/>
          </a:xfrm>
          <a:prstGeom prst="rect">
            <a:avLst/>
          </a:prstGeom>
        </p:spPr>
      </p:pic>
      <p:sp>
        <p:nvSpPr>
          <p:cNvPr id="160" name="TextBox 159"/>
          <p:cNvSpPr txBox="1"/>
          <p:nvPr/>
        </p:nvSpPr>
        <p:spPr>
          <a:xfrm>
            <a:off x="11358792" y="1954530"/>
            <a:ext cx="395982" cy="186689"/>
          </a:xfrm>
          <a:prstGeom prst="rect">
            <a:avLst/>
          </a:prstGeom>
          <a:noFill/>
        </p:spPr>
        <p:txBody>
          <a:bodyPr wrap="none" lIns="0" rIns="0" tIns="0" bIns="0">
            <a:spAutoFit/>
          </a:bodyPr>
          <a:lstStyle/>
          <a:p>
            <a:r>
              <a:rPr sz="1100" b="1">
                <a:solidFill>
                  <a:srgbClr val="14213D"/>
                </a:solidFill>
                <a:latin typeface="Calibri"/>
              </a:rPr>
              <a:t>share</a:t>
            </a:r>
          </a:p>
        </p:txBody>
      </p:sp>
      <p:sp>
        <p:nvSpPr>
          <p:cNvPr id="161" name="TextBox 160"/>
          <p:cNvSpPr txBox="1"/>
          <p:nvPr/>
        </p:nvSpPr>
        <p:spPr>
          <a:xfrm>
            <a:off x="7658100" y="3857625"/>
            <a:ext cx="1828179" cy="186689"/>
          </a:xfrm>
          <a:prstGeom prst="rect">
            <a:avLst/>
          </a:prstGeom>
          <a:noFill/>
        </p:spPr>
        <p:txBody>
          <a:bodyPr wrap="none" lIns="0" rIns="0" tIns="0" bIns="0">
            <a:spAutoFit/>
          </a:bodyPr>
          <a:lstStyle/>
          <a:p>
            <a:r>
              <a:rPr sz="1100" b="0">
                <a:solidFill>
                  <a:srgbClr val="14213D"/>
                </a:solidFill>
                <a:latin typeface="Calibri"/>
              </a:rPr>
              <a:t>The market is fragmented (HHI</a:t>
            </a:r>
          </a:p>
        </p:txBody>
      </p:sp>
      <p:pic>
        <p:nvPicPr>
          <p:cNvPr id="162" name="Picture 161" descr="lock.png"/>
          <p:cNvPicPr>
            <a:picLocks noChangeAspect="1"/>
          </p:cNvPicPr>
          <p:nvPr/>
        </p:nvPicPr>
        <p:blipFill>
          <a:blip r:embed="rId4"/>
          <a:stretch>
            <a:fillRect/>
          </a:stretch>
        </p:blipFill>
        <p:spPr>
          <a:xfrm>
            <a:off x="9434331" y="3847846"/>
            <a:ext cx="128699" cy="187198"/>
          </a:xfrm>
          <a:prstGeom prst="rect">
            <a:avLst/>
          </a:prstGeom>
        </p:spPr>
      </p:pic>
      <p:sp>
        <p:nvSpPr>
          <p:cNvPr id="163" name="TextBox 162"/>
          <p:cNvSpPr txBox="1"/>
          <p:nvPr/>
        </p:nvSpPr>
        <p:spPr>
          <a:xfrm>
            <a:off x="9601827" y="3857625"/>
            <a:ext cx="2068562" cy="186689"/>
          </a:xfrm>
          <a:prstGeom prst="rect">
            <a:avLst/>
          </a:prstGeom>
          <a:noFill/>
        </p:spPr>
        <p:txBody>
          <a:bodyPr wrap="none" lIns="0" rIns="0" tIns="0" bIns="0">
            <a:spAutoFit/>
          </a:bodyPr>
          <a:lstStyle/>
          <a:p>
            <a:r>
              <a:rPr sz="1100" b="0">
                <a:solidFill>
                  <a:srgbClr val="14213D"/>
                </a:solidFill>
                <a:latin typeface="Calibri"/>
              </a:rPr>
              <a:t>); Tier 1 sets pricing and innovation</a:t>
            </a:r>
          </a:p>
        </p:txBody>
      </p:sp>
      <p:sp>
        <p:nvSpPr>
          <p:cNvPr id="164" name="TextBox 163"/>
          <p:cNvSpPr txBox="1"/>
          <p:nvPr/>
        </p:nvSpPr>
        <p:spPr>
          <a:xfrm>
            <a:off x="7658100" y="4025265"/>
            <a:ext cx="2124769" cy="186689"/>
          </a:xfrm>
          <a:prstGeom prst="rect">
            <a:avLst/>
          </a:prstGeom>
          <a:noFill/>
        </p:spPr>
        <p:txBody>
          <a:bodyPr wrap="none" lIns="0" rIns="0" tIns="0" bIns="0">
            <a:spAutoFit/>
          </a:bodyPr>
          <a:lstStyle/>
          <a:p>
            <a:r>
              <a:rPr sz="1100" b="0">
                <a:solidFill>
                  <a:srgbClr val="14213D"/>
                </a:solidFill>
                <a:latin typeface="Calibri"/>
              </a:rPr>
              <a:t>benchmarks and is expected to hold</a:t>
            </a:r>
          </a:p>
        </p:txBody>
      </p:sp>
      <p:pic>
        <p:nvPicPr>
          <p:cNvPr id="165" name="Picture 164" descr="lock.png"/>
          <p:cNvPicPr>
            <a:picLocks noChangeAspect="1"/>
          </p:cNvPicPr>
          <p:nvPr/>
        </p:nvPicPr>
        <p:blipFill>
          <a:blip r:embed="rId4"/>
          <a:stretch>
            <a:fillRect/>
          </a:stretch>
        </p:blipFill>
        <p:spPr>
          <a:xfrm>
            <a:off x="9730921" y="4015486"/>
            <a:ext cx="128699" cy="187198"/>
          </a:xfrm>
          <a:prstGeom prst="rect">
            <a:avLst/>
          </a:prstGeom>
        </p:spPr>
      </p:pic>
      <p:sp>
        <p:nvSpPr>
          <p:cNvPr id="166" name="TextBox 165"/>
          <p:cNvSpPr txBox="1"/>
          <p:nvPr/>
        </p:nvSpPr>
        <p:spPr>
          <a:xfrm>
            <a:off x="9898416" y="4025265"/>
            <a:ext cx="1016992" cy="186689"/>
          </a:xfrm>
          <a:prstGeom prst="rect">
            <a:avLst/>
          </a:prstGeom>
          <a:noFill/>
        </p:spPr>
        <p:txBody>
          <a:bodyPr wrap="none" lIns="0" rIns="0" tIns="0" bIns="0">
            <a:spAutoFit/>
          </a:bodyPr>
          <a:lstStyle/>
          <a:p>
            <a:r>
              <a:rPr sz="1100" b="0">
                <a:solidFill>
                  <a:srgbClr val="14213D"/>
                </a:solidFill>
                <a:latin typeface="Calibri"/>
              </a:rPr>
              <a:t>of value in 2036.</a:t>
            </a:r>
          </a:p>
        </p:txBody>
      </p:sp>
      <p:sp>
        <p:nvSpPr>
          <p:cNvPr id="167" name="TextBox 166"/>
          <p:cNvSpPr txBox="1"/>
          <p:nvPr/>
        </p:nvSpPr>
        <p:spPr>
          <a:xfrm>
            <a:off x="7658100" y="5019675"/>
            <a:ext cx="3471019" cy="186689"/>
          </a:xfrm>
          <a:prstGeom prst="rect">
            <a:avLst/>
          </a:prstGeom>
          <a:noFill/>
        </p:spPr>
        <p:txBody>
          <a:bodyPr wrap="none" lIns="0" rIns="0" tIns="0" bIns="0">
            <a:spAutoFit/>
          </a:bodyPr>
          <a:lstStyle/>
          <a:p>
            <a:r>
              <a:rPr sz="1100" b="0">
                <a:solidFill>
                  <a:srgbClr val="14213D"/>
                </a:solidFill>
                <a:latin typeface="Calibri"/>
              </a:rPr>
              <a:t>Tier 3 and the long tail face the highest structural pressure (</a:t>
            </a:r>
          </a:p>
        </p:txBody>
      </p:sp>
      <p:pic>
        <p:nvPicPr>
          <p:cNvPr id="168" name="Picture 167" descr="lock.png"/>
          <p:cNvPicPr>
            <a:picLocks noChangeAspect="1"/>
          </p:cNvPicPr>
          <p:nvPr/>
        </p:nvPicPr>
        <p:blipFill>
          <a:blip r:embed="rId4"/>
          <a:stretch>
            <a:fillRect/>
          </a:stretch>
        </p:blipFill>
        <p:spPr>
          <a:xfrm>
            <a:off x="11077170" y="5009895"/>
            <a:ext cx="128699" cy="187198"/>
          </a:xfrm>
          <a:prstGeom prst="rect">
            <a:avLst/>
          </a:prstGeom>
        </p:spPr>
      </p:pic>
      <p:sp>
        <p:nvSpPr>
          <p:cNvPr id="169" name="TextBox 168"/>
          <p:cNvSpPr txBox="1"/>
          <p:nvPr/>
        </p:nvSpPr>
        <p:spPr>
          <a:xfrm>
            <a:off x="11244666" y="5019675"/>
            <a:ext cx="415081" cy="186689"/>
          </a:xfrm>
          <a:prstGeom prst="rect">
            <a:avLst/>
          </a:prstGeom>
          <a:noFill/>
        </p:spPr>
        <p:txBody>
          <a:bodyPr wrap="none" lIns="0" rIns="0" tIns="0" bIns="0">
            <a:spAutoFit/>
          </a:bodyPr>
          <a:lstStyle/>
          <a:p>
            <a:r>
              <a:rPr sz="1100" b="0">
                <a:solidFill>
                  <a:srgbClr val="14213D"/>
                </a:solidFill>
                <a:latin typeface="Calibri"/>
              </a:rPr>
              <a:t>/ 5); 2</a:t>
            </a:r>
          </a:p>
        </p:txBody>
      </p:sp>
      <p:sp>
        <p:nvSpPr>
          <p:cNvPr id="170" name="TextBox 169"/>
          <p:cNvSpPr txBox="1"/>
          <p:nvPr/>
        </p:nvSpPr>
        <p:spPr>
          <a:xfrm>
            <a:off x="7658100" y="5187315"/>
            <a:ext cx="2541413" cy="186689"/>
          </a:xfrm>
          <a:prstGeom prst="rect">
            <a:avLst/>
          </a:prstGeom>
          <a:noFill/>
        </p:spPr>
        <p:txBody>
          <a:bodyPr wrap="none" lIns="0" rIns="0" tIns="0" bIns="0">
            <a:spAutoFit/>
          </a:bodyPr>
          <a:lstStyle/>
          <a:p>
            <a:r>
              <a:rPr sz="1100" b="0">
                <a:solidFill>
                  <a:srgbClr val="14213D"/>
                </a:solidFill>
                <a:latin typeface="Calibri"/>
              </a:rPr>
              <a:t>players are expected to exit or be acquired.</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Competitive Dashboard View (2026)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companies on portfolio, coverage, revenue, share, regional presence and strategy</a:t>
            </a:r>
          </a:p>
        </p:txBody>
      </p:sp>
      <p:sp>
        <p:nvSpPr>
          <p:cNvPr id="10" name="TextBox 9"/>
          <p:cNvSpPr txBox="1"/>
          <p:nvPr/>
        </p:nvSpPr>
        <p:spPr>
          <a:xfrm>
            <a:off x="285750" y="970754"/>
            <a:ext cx="10477500" cy="164283"/>
          </a:xfrm>
          <a:prstGeom prst="rect">
            <a:avLst/>
          </a:prstGeom>
          <a:noFill/>
        </p:spPr>
        <p:txBody>
          <a:bodyPr wrap="square" lIns="0" rIns="19050" tIns="0" bIns="0">
            <a:spAutoFit/>
          </a:bodyPr>
          <a:lstStyle/>
          <a:p>
            <a:pPr algn="l"/>
            <a:r>
              <a:rPr sz="1100" b="0">
                <a:solidFill>
                  <a:srgbClr val="6C7A89"/>
                </a:solidFill>
                <a:latin typeface="Calibri"/>
              </a:rPr>
              <a:t>Intensified competition across the leading players portfolio, revenue, share, regional presence and strategy.  All figures 2026.</a:t>
            </a:r>
          </a:p>
        </p:txBody>
      </p:sp>
      <p:sp>
        <p:nvSpPr>
          <p:cNvPr id="11" name="Rounded Rectangle 10"/>
          <p:cNvSpPr/>
          <p:nvPr/>
        </p:nvSpPr>
        <p:spPr>
          <a:xfrm>
            <a:off x="133350" y="1153291"/>
            <a:ext cx="11925300" cy="4563424"/>
          </a:xfrm>
          <a:prstGeom prst="roundRect">
            <a:avLst>
              <a:gd name="adj" fmla="val 16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33350" y="1171544"/>
            <a:ext cx="11925300" cy="36507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3350" y="1171544"/>
            <a:ext cx="1143000" cy="4526917"/>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33350" y="153661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3350" y="179217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3350" y="263184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3350" y="2960407"/>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3350" y="3288973"/>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33350" y="4055629"/>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3350" y="504132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954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3717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4480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5243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007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6770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5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8296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9060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9823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33350" y="5698461"/>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71450" y="1536618"/>
            <a:ext cx="1085850" cy="255552"/>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Company / Brand</a:t>
            </a:r>
          </a:p>
        </p:txBody>
      </p:sp>
      <p:sp>
        <p:nvSpPr>
          <p:cNvPr id="36" name="TextBox 35"/>
          <p:cNvSpPr txBox="1"/>
          <p:nvPr/>
        </p:nvSpPr>
        <p:spPr>
          <a:xfrm>
            <a:off x="171450" y="1792170"/>
            <a:ext cx="1085850" cy="839670"/>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Product Portfolio</a:t>
            </a:r>
          </a:p>
        </p:txBody>
      </p:sp>
      <p:sp>
        <p:nvSpPr>
          <p:cNvPr id="37" name="TextBox 36"/>
          <p:cNvSpPr txBox="1"/>
          <p:nvPr/>
        </p:nvSpPr>
        <p:spPr>
          <a:xfrm>
            <a:off x="171450" y="2631840"/>
            <a:ext cx="1085850" cy="328567"/>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Overall Rev (US$ Mn)</a:t>
            </a:r>
          </a:p>
        </p:txBody>
      </p:sp>
      <p:sp>
        <p:nvSpPr>
          <p:cNvPr id="38" name="TextBox 37"/>
          <p:cNvSpPr txBox="1"/>
          <p:nvPr/>
        </p:nvSpPr>
        <p:spPr>
          <a:xfrm>
            <a:off x="171450" y="2960407"/>
            <a:ext cx="1085850" cy="328567"/>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Target Rev (US$ Mn)</a:t>
            </a:r>
          </a:p>
        </p:txBody>
      </p:sp>
      <p:sp>
        <p:nvSpPr>
          <p:cNvPr id="39" name="TextBox 38"/>
          <p:cNvSpPr txBox="1"/>
          <p:nvPr/>
        </p:nvSpPr>
        <p:spPr>
          <a:xfrm>
            <a:off x="171450" y="3288973"/>
            <a:ext cx="1085850" cy="766655"/>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Market Share (%)</a:t>
            </a:r>
          </a:p>
        </p:txBody>
      </p:sp>
      <p:sp>
        <p:nvSpPr>
          <p:cNvPr id="40" name="TextBox 39"/>
          <p:cNvSpPr txBox="1"/>
          <p:nvPr/>
        </p:nvSpPr>
        <p:spPr>
          <a:xfrm>
            <a:off x="171450" y="4055629"/>
            <a:ext cx="1085850" cy="985700"/>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Regional Presence</a:t>
            </a:r>
          </a:p>
        </p:txBody>
      </p:sp>
      <p:sp>
        <p:nvSpPr>
          <p:cNvPr id="41" name="TextBox 40"/>
          <p:cNvSpPr txBox="1"/>
          <p:nvPr/>
        </p:nvSpPr>
        <p:spPr>
          <a:xfrm>
            <a:off x="171450" y="5041328"/>
            <a:ext cx="1085850" cy="657133"/>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Strategies</a:t>
            </a:r>
          </a:p>
        </p:txBody>
      </p:sp>
      <p:sp>
        <p:nvSpPr>
          <p:cNvPr id="42" name="TextBox 41"/>
          <p:cNvSpPr txBox="1"/>
          <p:nvPr/>
        </p:nvSpPr>
        <p:spPr>
          <a:xfrm>
            <a:off x="13239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Prestige Consumer Healthcare</a:t>
            </a:r>
          </a:p>
        </p:txBody>
      </p:sp>
      <p:cxnSp>
        <p:nvCxnSpPr>
          <p:cNvPr id="43" name="Connector 42"/>
          <p:cNvCxnSpPr/>
          <p:nvPr/>
        </p:nvCxnSpPr>
        <p:spPr>
          <a:xfrm>
            <a:off x="16049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3239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A</a:t>
            </a:r>
          </a:p>
        </p:txBody>
      </p:sp>
      <p:sp>
        <p:nvSpPr>
          <p:cNvPr id="45" name="TextBox 44"/>
          <p:cNvSpPr txBox="1"/>
          <p:nvPr/>
        </p:nvSpPr>
        <p:spPr>
          <a:xfrm>
            <a:off x="13144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46" name="TextBox 45"/>
          <p:cNvSpPr txBox="1"/>
          <p:nvPr/>
        </p:nvSpPr>
        <p:spPr>
          <a:xfrm>
            <a:off x="13144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47" name="Rectangle 46"/>
          <p:cNvSpPr/>
          <p:nvPr/>
        </p:nvSpPr>
        <p:spPr>
          <a:xfrm>
            <a:off x="16049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7764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9478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3239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51" name="TextBox 50"/>
          <p:cNvSpPr txBox="1"/>
          <p:nvPr/>
        </p:nvSpPr>
        <p:spPr>
          <a:xfrm>
            <a:off x="13239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52" name="Oval 51"/>
          <p:cNvSpPr/>
          <p:nvPr/>
        </p:nvSpPr>
        <p:spPr>
          <a:xfrm>
            <a:off x="15859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1828800" y="3416749"/>
            <a:ext cx="209550" cy="237298"/>
          </a:xfrm>
          <a:custGeom>
            <a:avLst/>
            <a:gdLst/>
            <a:ahLst/>
            <a:cxnLst/>
            <a:rect l="l" t="t" r="r" b="b"/>
            <a:pathLst>
              <a:path w="22" h="26">
                <a:moveTo>
                  <a:pt x="0" y="26"/>
                </a:moveTo>
                <a:lnTo>
                  <a:pt x="0" y="0"/>
                </a:lnTo>
                <a:lnTo>
                  <a:pt x="4" y="0"/>
                </a:lnTo>
                <a:lnTo>
                  <a:pt x="8" y="1"/>
                </a:lnTo>
                <a:lnTo>
                  <a:pt x="11" y="2"/>
                </a:lnTo>
                <a:lnTo>
                  <a:pt x="14" y="4"/>
                </a:lnTo>
                <a:lnTo>
                  <a:pt x="17" y="6"/>
                </a:lnTo>
                <a:lnTo>
                  <a:pt x="20" y="8"/>
                </a:lnTo>
                <a:lnTo>
                  <a:pt x="22" y="1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6948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585912" y="3590159"/>
            <a:ext cx="495300" cy="127776"/>
          </a:xfrm>
          <a:prstGeom prst="rect">
            <a:avLst/>
          </a:prstGeom>
          <a:noFill/>
        </p:spPr>
        <p:txBody>
          <a:bodyPr wrap="square" lIns="28575" rIns="28575" tIns="9525" bIns="9525" anchor="ctr">
            <a:spAutoFit/>
          </a:bodyPr>
          <a:lstStyle/>
          <a:p>
            <a:pPr algn="ctr"/>
            <a:r>
              <a:rPr sz="1100" b="1">
                <a:solidFill>
                  <a:srgbClr val="0B2E4A"/>
                </a:solidFill>
                <a:latin typeface="Calibri"/>
              </a:rPr>
              <a:t> </a:t>
            </a:r>
          </a:p>
        </p:txBody>
      </p:sp>
      <p:sp>
        <p:nvSpPr>
          <p:cNvPr id="56" name="TextBox 55"/>
          <p:cNvSpPr txBox="1"/>
          <p:nvPr/>
        </p:nvSpPr>
        <p:spPr>
          <a:xfrm>
            <a:off x="13430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57" name="Oval 56"/>
          <p:cNvSpPr/>
          <p:nvPr/>
        </p:nvSpPr>
        <p:spPr>
          <a:xfrm>
            <a:off x="14287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4287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59" name="Oval 58"/>
          <p:cNvSpPr/>
          <p:nvPr/>
        </p:nvSpPr>
        <p:spPr>
          <a:xfrm>
            <a:off x="16383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6383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61" name="Oval 60"/>
          <p:cNvSpPr/>
          <p:nvPr/>
        </p:nvSpPr>
        <p:spPr>
          <a:xfrm>
            <a:off x="18478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8478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63" name="Oval 62"/>
          <p:cNvSpPr/>
          <p:nvPr/>
        </p:nvSpPr>
        <p:spPr>
          <a:xfrm>
            <a:off x="20574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057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65" name="Oval 64"/>
          <p:cNvSpPr/>
          <p:nvPr/>
        </p:nvSpPr>
        <p:spPr>
          <a:xfrm>
            <a:off x="15335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5335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67" name="Oval 66"/>
          <p:cNvSpPr/>
          <p:nvPr/>
        </p:nvSpPr>
        <p:spPr>
          <a:xfrm>
            <a:off x="17430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7430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69" name="Oval 68"/>
          <p:cNvSpPr/>
          <p:nvPr/>
        </p:nvSpPr>
        <p:spPr>
          <a:xfrm>
            <a:off x="19526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9526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71" name="TextBox 70"/>
          <p:cNvSpPr txBox="1"/>
          <p:nvPr/>
        </p:nvSpPr>
        <p:spPr>
          <a:xfrm>
            <a:off x="24003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Diomed Group</a:t>
            </a:r>
          </a:p>
        </p:txBody>
      </p:sp>
      <p:cxnSp>
        <p:nvCxnSpPr>
          <p:cNvPr id="72" name="Connector 71"/>
          <p:cNvCxnSpPr/>
          <p:nvPr/>
        </p:nvCxnSpPr>
        <p:spPr>
          <a:xfrm>
            <a:off x="26812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24003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B</a:t>
            </a:r>
          </a:p>
        </p:txBody>
      </p:sp>
      <p:sp>
        <p:nvSpPr>
          <p:cNvPr id="74" name="TextBox 73"/>
          <p:cNvSpPr txBox="1"/>
          <p:nvPr/>
        </p:nvSpPr>
        <p:spPr>
          <a:xfrm>
            <a:off x="23907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75" name="TextBox 74"/>
          <p:cNvSpPr txBox="1"/>
          <p:nvPr/>
        </p:nvSpPr>
        <p:spPr>
          <a:xfrm>
            <a:off x="23907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76" name="Rectangle 75"/>
          <p:cNvSpPr/>
          <p:nvPr/>
        </p:nvSpPr>
        <p:spPr>
          <a:xfrm>
            <a:off x="26812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8527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0241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4003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80" name="TextBox 79"/>
          <p:cNvSpPr txBox="1"/>
          <p:nvPr/>
        </p:nvSpPr>
        <p:spPr>
          <a:xfrm>
            <a:off x="24003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81" name="Oval 80"/>
          <p:cNvSpPr/>
          <p:nvPr/>
        </p:nvSpPr>
        <p:spPr>
          <a:xfrm>
            <a:off x="26622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2914650" y="3416749"/>
            <a:ext cx="180975" cy="237298"/>
          </a:xfrm>
          <a:custGeom>
            <a:avLst/>
            <a:gdLst/>
            <a:ahLst/>
            <a:cxnLst/>
            <a:rect l="l" t="t" r="r" b="b"/>
            <a:pathLst>
              <a:path w="19" h="26">
                <a:moveTo>
                  <a:pt x="0" y="26"/>
                </a:moveTo>
                <a:lnTo>
                  <a:pt x="0" y="0"/>
                </a:lnTo>
                <a:lnTo>
                  <a:pt x="3" y="0"/>
                </a:lnTo>
                <a:lnTo>
                  <a:pt x="7" y="1"/>
                </a:lnTo>
                <a:lnTo>
                  <a:pt x="10" y="2"/>
                </a:lnTo>
                <a:lnTo>
                  <a:pt x="13" y="4"/>
                </a:lnTo>
                <a:lnTo>
                  <a:pt x="16" y="6"/>
                </a:lnTo>
                <a:lnTo>
                  <a:pt x="19" y="9"/>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7712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662238" y="3590159"/>
            <a:ext cx="495300" cy="127776"/>
          </a:xfrm>
          <a:prstGeom prst="rect">
            <a:avLst/>
          </a:prstGeom>
          <a:noFill/>
        </p:spPr>
        <p:txBody>
          <a:bodyPr wrap="square" lIns="28575" rIns="28575" tIns="9525" bIns="9525" anchor="ctr">
            <a:spAutoFit/>
          </a:bodyPr>
          <a:lstStyle/>
          <a:p>
            <a:pPr algn="ctr"/>
            <a:r>
              <a:rPr sz="1100" b="1">
                <a:solidFill>
                  <a:srgbClr val="0B2E4A"/>
                </a:solidFill>
                <a:latin typeface="Calibri"/>
              </a:rPr>
              <a:t> </a:t>
            </a:r>
          </a:p>
        </p:txBody>
      </p:sp>
      <p:sp>
        <p:nvSpPr>
          <p:cNvPr id="85" name="TextBox 84"/>
          <p:cNvSpPr txBox="1"/>
          <p:nvPr/>
        </p:nvSpPr>
        <p:spPr>
          <a:xfrm>
            <a:off x="24193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86" name="Oval 85"/>
          <p:cNvSpPr/>
          <p:nvPr/>
        </p:nvSpPr>
        <p:spPr>
          <a:xfrm>
            <a:off x="25050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5050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88" name="Oval 87"/>
          <p:cNvSpPr/>
          <p:nvPr/>
        </p:nvSpPr>
        <p:spPr>
          <a:xfrm>
            <a:off x="27146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7146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90" name="Oval 89"/>
          <p:cNvSpPr/>
          <p:nvPr/>
        </p:nvSpPr>
        <p:spPr>
          <a:xfrm>
            <a:off x="29241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9241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92" name="Oval 91"/>
          <p:cNvSpPr/>
          <p:nvPr/>
        </p:nvSpPr>
        <p:spPr>
          <a:xfrm>
            <a:off x="3133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133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94" name="Oval 93"/>
          <p:cNvSpPr/>
          <p:nvPr/>
        </p:nvSpPr>
        <p:spPr>
          <a:xfrm>
            <a:off x="26098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6098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96" name="Oval 95"/>
          <p:cNvSpPr/>
          <p:nvPr/>
        </p:nvSpPr>
        <p:spPr>
          <a:xfrm>
            <a:off x="28194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8194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98" name="Oval 97"/>
          <p:cNvSpPr/>
          <p:nvPr/>
        </p:nvSpPr>
        <p:spPr>
          <a:xfrm>
            <a:off x="30289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0289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00" name="TextBox 99"/>
          <p:cNvSpPr txBox="1"/>
          <p:nvPr/>
        </p:nvSpPr>
        <p:spPr>
          <a:xfrm>
            <a:off x="34766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NeilMed Pharmaceuticals</a:t>
            </a:r>
          </a:p>
        </p:txBody>
      </p:sp>
      <p:cxnSp>
        <p:nvCxnSpPr>
          <p:cNvPr id="101" name="Connector 100"/>
          <p:cNvCxnSpPr/>
          <p:nvPr/>
        </p:nvCxnSpPr>
        <p:spPr>
          <a:xfrm>
            <a:off x="375761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34766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C</a:t>
            </a:r>
          </a:p>
        </p:txBody>
      </p:sp>
      <p:sp>
        <p:nvSpPr>
          <p:cNvPr id="103" name="TextBox 102"/>
          <p:cNvSpPr txBox="1"/>
          <p:nvPr/>
        </p:nvSpPr>
        <p:spPr>
          <a:xfrm>
            <a:off x="34671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04" name="TextBox 103"/>
          <p:cNvSpPr txBox="1"/>
          <p:nvPr/>
        </p:nvSpPr>
        <p:spPr>
          <a:xfrm>
            <a:off x="346710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05" name="Rectangle 104"/>
          <p:cNvSpPr/>
          <p:nvPr/>
        </p:nvSpPr>
        <p:spPr>
          <a:xfrm>
            <a:off x="37576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39290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41005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4766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09" name="TextBox 108"/>
          <p:cNvSpPr txBox="1"/>
          <p:nvPr/>
        </p:nvSpPr>
        <p:spPr>
          <a:xfrm>
            <a:off x="34766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10" name="Oval 109"/>
          <p:cNvSpPr/>
          <p:nvPr/>
        </p:nvSpPr>
        <p:spPr>
          <a:xfrm>
            <a:off x="37385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Freeform 110"/>
          <p:cNvSpPr/>
          <p:nvPr/>
        </p:nvSpPr>
        <p:spPr>
          <a:xfrm>
            <a:off x="3981450" y="3416749"/>
            <a:ext cx="142875" cy="237298"/>
          </a:xfrm>
          <a:custGeom>
            <a:avLst/>
            <a:gdLst/>
            <a:ahLst/>
            <a:cxnLst/>
            <a:rect l="l" t="t" r="r" b="b"/>
            <a:pathLst>
              <a:path w="15" h="26">
                <a:moveTo>
                  <a:pt x="0" y="26"/>
                </a:moveTo>
                <a:lnTo>
                  <a:pt x="0" y="0"/>
                </a:lnTo>
                <a:lnTo>
                  <a:pt x="4" y="0"/>
                </a:lnTo>
                <a:lnTo>
                  <a:pt x="8" y="1"/>
                </a:lnTo>
                <a:lnTo>
                  <a:pt x="12" y="2"/>
                </a:lnTo>
                <a:lnTo>
                  <a:pt x="15" y="4"/>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84752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373856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14" name="TextBox 113"/>
          <p:cNvSpPr txBox="1"/>
          <p:nvPr/>
        </p:nvSpPr>
        <p:spPr>
          <a:xfrm>
            <a:off x="34956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115" name="Oval 114"/>
          <p:cNvSpPr/>
          <p:nvPr/>
        </p:nvSpPr>
        <p:spPr>
          <a:xfrm>
            <a:off x="35814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581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17" name="Oval 116"/>
          <p:cNvSpPr/>
          <p:nvPr/>
        </p:nvSpPr>
        <p:spPr>
          <a:xfrm>
            <a:off x="37909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37909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19" name="Oval 118"/>
          <p:cNvSpPr/>
          <p:nvPr/>
        </p:nvSpPr>
        <p:spPr>
          <a:xfrm>
            <a:off x="40005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0005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21" name="Oval 120"/>
          <p:cNvSpPr/>
          <p:nvPr/>
        </p:nvSpPr>
        <p:spPr>
          <a:xfrm>
            <a:off x="42100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4210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23" name="Oval 122"/>
          <p:cNvSpPr/>
          <p:nvPr/>
        </p:nvSpPr>
        <p:spPr>
          <a:xfrm>
            <a:off x="36861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36861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25" name="Oval 124"/>
          <p:cNvSpPr/>
          <p:nvPr/>
        </p:nvSpPr>
        <p:spPr>
          <a:xfrm>
            <a:off x="38957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38957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27" name="Oval 126"/>
          <p:cNvSpPr/>
          <p:nvPr/>
        </p:nvSpPr>
        <p:spPr>
          <a:xfrm>
            <a:off x="41052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1052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29" name="TextBox 128"/>
          <p:cNvSpPr txBox="1"/>
          <p:nvPr/>
        </p:nvSpPr>
        <p:spPr>
          <a:xfrm>
            <a:off x="45529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Quest Products</a:t>
            </a:r>
          </a:p>
        </p:txBody>
      </p:sp>
      <p:cxnSp>
        <p:nvCxnSpPr>
          <p:cNvPr id="130" name="Connector 129"/>
          <p:cNvCxnSpPr/>
          <p:nvPr/>
        </p:nvCxnSpPr>
        <p:spPr>
          <a:xfrm>
            <a:off x="483393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45529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D</a:t>
            </a:r>
          </a:p>
        </p:txBody>
      </p:sp>
      <p:sp>
        <p:nvSpPr>
          <p:cNvPr id="132" name="TextBox 131"/>
          <p:cNvSpPr txBox="1"/>
          <p:nvPr/>
        </p:nvSpPr>
        <p:spPr>
          <a:xfrm>
            <a:off x="45434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133" name="TextBox 132"/>
          <p:cNvSpPr txBox="1"/>
          <p:nvPr/>
        </p:nvSpPr>
        <p:spPr>
          <a:xfrm>
            <a:off x="45434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134" name="Rectangle 133"/>
          <p:cNvSpPr/>
          <p:nvPr/>
        </p:nvSpPr>
        <p:spPr>
          <a:xfrm>
            <a:off x="48339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50053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51768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45529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8" name="TextBox 137"/>
          <p:cNvSpPr txBox="1"/>
          <p:nvPr/>
        </p:nvSpPr>
        <p:spPr>
          <a:xfrm>
            <a:off x="45529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9" name="Oval 138"/>
          <p:cNvSpPr/>
          <p:nvPr/>
        </p:nvSpPr>
        <p:spPr>
          <a:xfrm>
            <a:off x="48148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5067300" y="3416749"/>
            <a:ext cx="95250" cy="237298"/>
          </a:xfrm>
          <a:custGeom>
            <a:avLst/>
            <a:gdLst/>
            <a:ahLst/>
            <a:cxnLst/>
            <a:rect l="l" t="t" r="r" b="b"/>
            <a:pathLst>
              <a:path w="10" h="26">
                <a:moveTo>
                  <a:pt x="0" y="26"/>
                </a:moveTo>
                <a:lnTo>
                  <a:pt x="0" y="0"/>
                </a:lnTo>
                <a:lnTo>
                  <a:pt x="3" y="0"/>
                </a:lnTo>
                <a:lnTo>
                  <a:pt x="7"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49238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481488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43" name="TextBox 142"/>
          <p:cNvSpPr txBox="1"/>
          <p:nvPr/>
        </p:nvSpPr>
        <p:spPr>
          <a:xfrm>
            <a:off x="45720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144" name="Oval 143"/>
          <p:cNvSpPr/>
          <p:nvPr/>
        </p:nvSpPr>
        <p:spPr>
          <a:xfrm>
            <a:off x="4657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4657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46" name="Oval 145"/>
          <p:cNvSpPr/>
          <p:nvPr/>
        </p:nvSpPr>
        <p:spPr>
          <a:xfrm>
            <a:off x="48672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48672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48" name="Oval 147"/>
          <p:cNvSpPr/>
          <p:nvPr/>
        </p:nvSpPr>
        <p:spPr>
          <a:xfrm>
            <a:off x="50768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50768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50" name="Oval 149"/>
          <p:cNvSpPr/>
          <p:nvPr/>
        </p:nvSpPr>
        <p:spPr>
          <a:xfrm>
            <a:off x="5286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286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52" name="Oval 151"/>
          <p:cNvSpPr/>
          <p:nvPr/>
        </p:nvSpPr>
        <p:spPr>
          <a:xfrm>
            <a:off x="47625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47625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54" name="Oval 153"/>
          <p:cNvSpPr/>
          <p:nvPr/>
        </p:nvSpPr>
        <p:spPr>
          <a:xfrm>
            <a:off x="49720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49720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56" name="Oval 155"/>
          <p:cNvSpPr/>
          <p:nvPr/>
        </p:nvSpPr>
        <p:spPr>
          <a:xfrm>
            <a:off x="51816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51816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58" name="TextBox 157"/>
          <p:cNvSpPr txBox="1"/>
          <p:nvPr/>
        </p:nvSpPr>
        <p:spPr>
          <a:xfrm>
            <a:off x="56292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Eosera</a:t>
            </a:r>
          </a:p>
        </p:txBody>
      </p:sp>
      <p:cxnSp>
        <p:nvCxnSpPr>
          <p:cNvPr id="159" name="Connector 158"/>
          <p:cNvCxnSpPr/>
          <p:nvPr/>
        </p:nvCxnSpPr>
        <p:spPr>
          <a:xfrm>
            <a:off x="59102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60" name="TextBox 159"/>
          <p:cNvSpPr txBox="1"/>
          <p:nvPr/>
        </p:nvSpPr>
        <p:spPr>
          <a:xfrm>
            <a:off x="56292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E</a:t>
            </a:r>
          </a:p>
        </p:txBody>
      </p:sp>
      <p:sp>
        <p:nvSpPr>
          <p:cNvPr id="161" name="TextBox 160"/>
          <p:cNvSpPr txBox="1"/>
          <p:nvPr/>
        </p:nvSpPr>
        <p:spPr>
          <a:xfrm>
            <a:off x="56197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162" name="TextBox 161"/>
          <p:cNvSpPr txBox="1"/>
          <p:nvPr/>
        </p:nvSpPr>
        <p:spPr>
          <a:xfrm>
            <a:off x="56197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163" name="Rectangle 162"/>
          <p:cNvSpPr/>
          <p:nvPr/>
        </p:nvSpPr>
        <p:spPr>
          <a:xfrm>
            <a:off x="59102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60817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62531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56292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7" name="TextBox 166"/>
          <p:cNvSpPr txBox="1"/>
          <p:nvPr/>
        </p:nvSpPr>
        <p:spPr>
          <a:xfrm>
            <a:off x="56292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8" name="Oval 167"/>
          <p:cNvSpPr/>
          <p:nvPr/>
        </p:nvSpPr>
        <p:spPr>
          <a:xfrm>
            <a:off x="58912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Freeform 168"/>
          <p:cNvSpPr/>
          <p:nvPr/>
        </p:nvSpPr>
        <p:spPr>
          <a:xfrm>
            <a:off x="6134100" y="3416749"/>
            <a:ext cx="104775" cy="237298"/>
          </a:xfrm>
          <a:custGeom>
            <a:avLst/>
            <a:gdLst/>
            <a:ahLst/>
            <a:cxnLst/>
            <a:rect l="l" t="t" r="r" b="b"/>
            <a:pathLst>
              <a:path w="11" h="26">
                <a:moveTo>
                  <a:pt x="0" y="26"/>
                </a:moveTo>
                <a:lnTo>
                  <a:pt x="0" y="0"/>
                </a:lnTo>
                <a:lnTo>
                  <a:pt x="4" y="0"/>
                </a:lnTo>
                <a:lnTo>
                  <a:pt x="7" y="1"/>
                </a:lnTo>
                <a:lnTo>
                  <a:pt x="11"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600017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589121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72" name="TextBox 171"/>
          <p:cNvSpPr txBox="1"/>
          <p:nvPr/>
        </p:nvSpPr>
        <p:spPr>
          <a:xfrm>
            <a:off x="56483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Latin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9AA3A8"/>
                </a:solidFill>
                <a:latin typeface="Calibri"/>
              </a:rPr>
              <a:t>▲</a:t>
            </a:r>
          </a:p>
        </p:txBody>
      </p:sp>
      <p:sp>
        <p:nvSpPr>
          <p:cNvPr id="173" name="Oval 172"/>
          <p:cNvSpPr/>
          <p:nvPr/>
        </p:nvSpPr>
        <p:spPr>
          <a:xfrm>
            <a:off x="57340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5734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75" name="Oval 174"/>
          <p:cNvSpPr/>
          <p:nvPr/>
        </p:nvSpPr>
        <p:spPr>
          <a:xfrm>
            <a:off x="59436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59436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77" name="Oval 176"/>
          <p:cNvSpPr/>
          <p:nvPr/>
        </p:nvSpPr>
        <p:spPr>
          <a:xfrm>
            <a:off x="61531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1531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79" name="Oval 178"/>
          <p:cNvSpPr/>
          <p:nvPr/>
        </p:nvSpPr>
        <p:spPr>
          <a:xfrm>
            <a:off x="63627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362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81" name="Oval 180"/>
          <p:cNvSpPr/>
          <p:nvPr/>
        </p:nvSpPr>
        <p:spPr>
          <a:xfrm>
            <a:off x="58388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58388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83" name="Oval 182"/>
          <p:cNvSpPr/>
          <p:nvPr/>
        </p:nvSpPr>
        <p:spPr>
          <a:xfrm>
            <a:off x="60483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60483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85" name="Oval 184"/>
          <p:cNvSpPr/>
          <p:nvPr/>
        </p:nvSpPr>
        <p:spPr>
          <a:xfrm>
            <a:off x="62579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62579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87" name="TextBox 186"/>
          <p:cNvSpPr txBox="1"/>
          <p:nvPr/>
        </p:nvSpPr>
        <p:spPr>
          <a:xfrm>
            <a:off x="67056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Coopération Pharmaceutique Française</a:t>
            </a:r>
          </a:p>
        </p:txBody>
      </p:sp>
      <p:cxnSp>
        <p:nvCxnSpPr>
          <p:cNvPr id="188" name="Connector 187"/>
          <p:cNvCxnSpPr/>
          <p:nvPr/>
        </p:nvCxnSpPr>
        <p:spPr>
          <a:xfrm>
            <a:off x="69865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89" name="TextBox 188"/>
          <p:cNvSpPr txBox="1"/>
          <p:nvPr/>
        </p:nvSpPr>
        <p:spPr>
          <a:xfrm>
            <a:off x="67056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F</a:t>
            </a:r>
          </a:p>
        </p:txBody>
      </p:sp>
      <p:sp>
        <p:nvSpPr>
          <p:cNvPr id="190" name="TextBox 189"/>
          <p:cNvSpPr txBox="1"/>
          <p:nvPr/>
        </p:nvSpPr>
        <p:spPr>
          <a:xfrm>
            <a:off x="66960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91" name="TextBox 190"/>
          <p:cNvSpPr txBox="1"/>
          <p:nvPr/>
        </p:nvSpPr>
        <p:spPr>
          <a:xfrm>
            <a:off x="6696075"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92" name="Rectangle 191"/>
          <p:cNvSpPr/>
          <p:nvPr/>
        </p:nvSpPr>
        <p:spPr>
          <a:xfrm>
            <a:off x="69865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71580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73294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67056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6" name="TextBox 195"/>
          <p:cNvSpPr txBox="1"/>
          <p:nvPr/>
        </p:nvSpPr>
        <p:spPr>
          <a:xfrm>
            <a:off x="67056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7" name="Oval 196"/>
          <p:cNvSpPr/>
          <p:nvPr/>
        </p:nvSpPr>
        <p:spPr>
          <a:xfrm>
            <a:off x="69675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Freeform 197"/>
          <p:cNvSpPr/>
          <p:nvPr/>
        </p:nvSpPr>
        <p:spPr>
          <a:xfrm>
            <a:off x="7219950" y="3416749"/>
            <a:ext cx="95250" cy="237298"/>
          </a:xfrm>
          <a:custGeom>
            <a:avLst/>
            <a:gdLst/>
            <a:ahLst/>
            <a:cxnLst/>
            <a:rect l="l" t="t" r="r" b="b"/>
            <a:pathLst>
              <a:path w="10" h="26">
                <a:moveTo>
                  <a:pt x="0" y="26"/>
                </a:moveTo>
                <a:lnTo>
                  <a:pt x="0" y="0"/>
                </a:lnTo>
                <a:lnTo>
                  <a:pt x="3" y="0"/>
                </a:lnTo>
                <a:lnTo>
                  <a:pt x="6"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70765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696753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01" name="TextBox 200"/>
          <p:cNvSpPr txBox="1"/>
          <p:nvPr/>
        </p:nvSpPr>
        <p:spPr>
          <a:xfrm>
            <a:off x="67246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Middle East &amp; Africa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9AA3A8"/>
                </a:solidFill>
                <a:latin typeface="Calibri"/>
              </a:rPr>
              <a:t>▲</a:t>
            </a:r>
          </a:p>
        </p:txBody>
      </p:sp>
      <p:sp>
        <p:nvSpPr>
          <p:cNvPr id="202" name="Oval 201"/>
          <p:cNvSpPr/>
          <p:nvPr/>
        </p:nvSpPr>
        <p:spPr>
          <a:xfrm>
            <a:off x="6810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6810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04" name="Oval 203"/>
          <p:cNvSpPr/>
          <p:nvPr/>
        </p:nvSpPr>
        <p:spPr>
          <a:xfrm>
            <a:off x="70199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70199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06" name="Oval 205"/>
          <p:cNvSpPr/>
          <p:nvPr/>
        </p:nvSpPr>
        <p:spPr>
          <a:xfrm>
            <a:off x="72294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72294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08" name="Oval 207"/>
          <p:cNvSpPr/>
          <p:nvPr/>
        </p:nvSpPr>
        <p:spPr>
          <a:xfrm>
            <a:off x="7439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7439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10" name="Oval 209"/>
          <p:cNvSpPr/>
          <p:nvPr/>
        </p:nvSpPr>
        <p:spPr>
          <a:xfrm>
            <a:off x="69151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69151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12" name="Oval 211"/>
          <p:cNvSpPr/>
          <p:nvPr/>
        </p:nvSpPr>
        <p:spPr>
          <a:xfrm>
            <a:off x="71247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71247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14" name="Oval 213"/>
          <p:cNvSpPr/>
          <p:nvPr/>
        </p:nvSpPr>
        <p:spPr>
          <a:xfrm>
            <a:off x="73342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73342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16" name="TextBox 215"/>
          <p:cNvSpPr txBox="1"/>
          <p:nvPr/>
        </p:nvSpPr>
        <p:spPr>
          <a:xfrm>
            <a:off x="77819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Orion Pharma</a:t>
            </a:r>
          </a:p>
        </p:txBody>
      </p:sp>
      <p:cxnSp>
        <p:nvCxnSpPr>
          <p:cNvPr id="217" name="Connector 216"/>
          <p:cNvCxnSpPr/>
          <p:nvPr/>
        </p:nvCxnSpPr>
        <p:spPr>
          <a:xfrm>
            <a:off x="806291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18" name="TextBox 217"/>
          <p:cNvSpPr txBox="1"/>
          <p:nvPr/>
        </p:nvSpPr>
        <p:spPr>
          <a:xfrm>
            <a:off x="77819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G</a:t>
            </a:r>
          </a:p>
        </p:txBody>
      </p:sp>
      <p:sp>
        <p:nvSpPr>
          <p:cNvPr id="219" name="TextBox 218"/>
          <p:cNvSpPr txBox="1"/>
          <p:nvPr/>
        </p:nvSpPr>
        <p:spPr>
          <a:xfrm>
            <a:off x="77724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220" name="TextBox 219"/>
          <p:cNvSpPr txBox="1"/>
          <p:nvPr/>
        </p:nvSpPr>
        <p:spPr>
          <a:xfrm>
            <a:off x="777240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221" name="Rectangle 220"/>
          <p:cNvSpPr/>
          <p:nvPr/>
        </p:nvSpPr>
        <p:spPr>
          <a:xfrm>
            <a:off x="80629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82343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84058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77819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5" name="TextBox 224"/>
          <p:cNvSpPr txBox="1"/>
          <p:nvPr/>
        </p:nvSpPr>
        <p:spPr>
          <a:xfrm>
            <a:off x="77819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6" name="Oval 225"/>
          <p:cNvSpPr/>
          <p:nvPr/>
        </p:nvSpPr>
        <p:spPr>
          <a:xfrm>
            <a:off x="80438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Freeform 226"/>
          <p:cNvSpPr/>
          <p:nvPr/>
        </p:nvSpPr>
        <p:spPr>
          <a:xfrm>
            <a:off x="8286750" y="3416749"/>
            <a:ext cx="85725" cy="237298"/>
          </a:xfrm>
          <a:custGeom>
            <a:avLst/>
            <a:gdLst/>
            <a:ahLst/>
            <a:cxnLst/>
            <a:rect l="l" t="t" r="r" b="b"/>
            <a:pathLst>
              <a:path w="9" h="26">
                <a:moveTo>
                  <a:pt x="0" y="26"/>
                </a:moveTo>
                <a:lnTo>
                  <a:pt x="0" y="0"/>
                </a:lnTo>
                <a:lnTo>
                  <a:pt x="5" y="0"/>
                </a:lnTo>
                <a:lnTo>
                  <a:pt x="9" y="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815282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804386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30" name="TextBox 229"/>
          <p:cNvSpPr txBox="1"/>
          <p:nvPr/>
        </p:nvSpPr>
        <p:spPr>
          <a:xfrm>
            <a:off x="78009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231" name="Oval 230"/>
          <p:cNvSpPr/>
          <p:nvPr/>
        </p:nvSpPr>
        <p:spPr>
          <a:xfrm>
            <a:off x="78867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7886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33" name="Oval 232"/>
          <p:cNvSpPr/>
          <p:nvPr/>
        </p:nvSpPr>
        <p:spPr>
          <a:xfrm>
            <a:off x="80962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80962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35" name="Oval 234"/>
          <p:cNvSpPr/>
          <p:nvPr/>
        </p:nvSpPr>
        <p:spPr>
          <a:xfrm>
            <a:off x="83058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83058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37" name="Oval 236"/>
          <p:cNvSpPr/>
          <p:nvPr/>
        </p:nvSpPr>
        <p:spPr>
          <a:xfrm>
            <a:off x="85153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8515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39" name="Oval 238"/>
          <p:cNvSpPr/>
          <p:nvPr/>
        </p:nvSpPr>
        <p:spPr>
          <a:xfrm>
            <a:off x="79914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79914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41" name="Oval 240"/>
          <p:cNvSpPr/>
          <p:nvPr/>
        </p:nvSpPr>
        <p:spPr>
          <a:xfrm>
            <a:off x="82010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82010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43" name="Oval 242"/>
          <p:cNvSpPr/>
          <p:nvPr/>
        </p:nvSpPr>
        <p:spPr>
          <a:xfrm>
            <a:off x="84105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84105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45" name="TextBox 244"/>
          <p:cNvSpPr txBox="1"/>
          <p:nvPr/>
        </p:nvSpPr>
        <p:spPr>
          <a:xfrm>
            <a:off x="88582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Farmacia Nordic</a:t>
            </a:r>
          </a:p>
        </p:txBody>
      </p:sp>
      <p:cxnSp>
        <p:nvCxnSpPr>
          <p:cNvPr id="246" name="Connector 245"/>
          <p:cNvCxnSpPr/>
          <p:nvPr/>
        </p:nvCxnSpPr>
        <p:spPr>
          <a:xfrm>
            <a:off x="913923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47" name="TextBox 246"/>
          <p:cNvSpPr txBox="1"/>
          <p:nvPr/>
        </p:nvSpPr>
        <p:spPr>
          <a:xfrm>
            <a:off x="88582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H</a:t>
            </a:r>
          </a:p>
        </p:txBody>
      </p:sp>
      <p:sp>
        <p:nvSpPr>
          <p:cNvPr id="248" name="TextBox 247"/>
          <p:cNvSpPr txBox="1"/>
          <p:nvPr/>
        </p:nvSpPr>
        <p:spPr>
          <a:xfrm>
            <a:off x="88487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249" name="TextBox 248"/>
          <p:cNvSpPr txBox="1"/>
          <p:nvPr/>
        </p:nvSpPr>
        <p:spPr>
          <a:xfrm>
            <a:off x="88487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250" name="Rectangle 249"/>
          <p:cNvSpPr/>
          <p:nvPr/>
        </p:nvSpPr>
        <p:spPr>
          <a:xfrm>
            <a:off x="91392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93106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94821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88582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4" name="TextBox 253"/>
          <p:cNvSpPr txBox="1"/>
          <p:nvPr/>
        </p:nvSpPr>
        <p:spPr>
          <a:xfrm>
            <a:off x="88582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5" name="Oval 254"/>
          <p:cNvSpPr/>
          <p:nvPr/>
        </p:nvSpPr>
        <p:spPr>
          <a:xfrm>
            <a:off x="91201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Freeform 255"/>
          <p:cNvSpPr/>
          <p:nvPr/>
        </p:nvSpPr>
        <p:spPr>
          <a:xfrm>
            <a:off x="9372600" y="3416749"/>
            <a:ext cx="47625" cy="237298"/>
          </a:xfrm>
          <a:custGeom>
            <a:avLst/>
            <a:gdLst/>
            <a:ahLst/>
            <a:cxnLst/>
            <a:rect l="l" t="t" r="r" b="b"/>
            <a:pathLst>
              <a:path w="5" h="26">
                <a:moveTo>
                  <a:pt x="0" y="26"/>
                </a:moveTo>
                <a:lnTo>
                  <a:pt x="0" y="0"/>
                </a:lnTo>
                <a:lnTo>
                  <a:pt x="2" y="0"/>
                </a:lnTo>
                <a:lnTo>
                  <a:pt x="5"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92291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912018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59" name="TextBox 258"/>
          <p:cNvSpPr txBox="1"/>
          <p:nvPr/>
        </p:nvSpPr>
        <p:spPr>
          <a:xfrm>
            <a:off x="88773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260" name="Oval 259"/>
          <p:cNvSpPr/>
          <p:nvPr/>
        </p:nvSpPr>
        <p:spPr>
          <a:xfrm>
            <a:off x="8963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8963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62" name="Oval 261"/>
          <p:cNvSpPr/>
          <p:nvPr/>
        </p:nvSpPr>
        <p:spPr>
          <a:xfrm>
            <a:off x="91725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91725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64" name="Oval 263"/>
          <p:cNvSpPr/>
          <p:nvPr/>
        </p:nvSpPr>
        <p:spPr>
          <a:xfrm>
            <a:off x="93821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93821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66" name="Oval 265"/>
          <p:cNvSpPr/>
          <p:nvPr/>
        </p:nvSpPr>
        <p:spPr>
          <a:xfrm>
            <a:off x="9591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9591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68" name="Oval 267"/>
          <p:cNvSpPr/>
          <p:nvPr/>
        </p:nvSpPr>
        <p:spPr>
          <a:xfrm>
            <a:off x="90678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90678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70" name="Oval 269"/>
          <p:cNvSpPr/>
          <p:nvPr/>
        </p:nvSpPr>
        <p:spPr>
          <a:xfrm>
            <a:off x="92773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92773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72" name="Oval 271"/>
          <p:cNvSpPr/>
          <p:nvPr/>
        </p:nvSpPr>
        <p:spPr>
          <a:xfrm>
            <a:off x="94869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94869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74" name="TextBox 273"/>
          <p:cNvSpPr txBox="1"/>
          <p:nvPr/>
        </p:nvSpPr>
        <p:spPr>
          <a:xfrm>
            <a:off x="99345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Key Pharmaceuticals</a:t>
            </a:r>
          </a:p>
        </p:txBody>
      </p:sp>
      <p:cxnSp>
        <p:nvCxnSpPr>
          <p:cNvPr id="275" name="Connector 274"/>
          <p:cNvCxnSpPr/>
          <p:nvPr/>
        </p:nvCxnSpPr>
        <p:spPr>
          <a:xfrm>
            <a:off x="102155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76" name="TextBox 275"/>
          <p:cNvSpPr txBox="1"/>
          <p:nvPr/>
        </p:nvSpPr>
        <p:spPr>
          <a:xfrm>
            <a:off x="99345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I</a:t>
            </a:r>
          </a:p>
        </p:txBody>
      </p:sp>
      <p:sp>
        <p:nvSpPr>
          <p:cNvPr id="277" name="TextBox 276"/>
          <p:cNvSpPr txBox="1"/>
          <p:nvPr/>
        </p:nvSpPr>
        <p:spPr>
          <a:xfrm>
            <a:off x="99250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278" name="TextBox 277"/>
          <p:cNvSpPr txBox="1"/>
          <p:nvPr/>
        </p:nvSpPr>
        <p:spPr>
          <a:xfrm>
            <a:off x="992505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279" name="Rectangle 278"/>
          <p:cNvSpPr/>
          <p:nvPr/>
        </p:nvSpPr>
        <p:spPr>
          <a:xfrm>
            <a:off x="102155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103870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105584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TextBox 281"/>
          <p:cNvSpPr txBox="1"/>
          <p:nvPr/>
        </p:nvSpPr>
        <p:spPr>
          <a:xfrm>
            <a:off x="99345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3" name="TextBox 282"/>
          <p:cNvSpPr txBox="1"/>
          <p:nvPr/>
        </p:nvSpPr>
        <p:spPr>
          <a:xfrm>
            <a:off x="99345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4" name="Oval 283"/>
          <p:cNvSpPr/>
          <p:nvPr/>
        </p:nvSpPr>
        <p:spPr>
          <a:xfrm>
            <a:off x="101965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Freeform 284"/>
          <p:cNvSpPr/>
          <p:nvPr/>
        </p:nvSpPr>
        <p:spPr>
          <a:xfrm>
            <a:off x="10439400" y="3416749"/>
            <a:ext cx="38100" cy="237298"/>
          </a:xfrm>
          <a:custGeom>
            <a:avLst/>
            <a:gdLst/>
            <a:ahLst/>
            <a:cxnLst/>
            <a:rect l="l" t="t" r="r" b="b"/>
            <a:pathLst>
              <a:path w="4" h="26">
                <a:moveTo>
                  <a:pt x="0" y="26"/>
                </a:moveTo>
                <a:lnTo>
                  <a:pt x="0" y="0"/>
                </a:lnTo>
                <a:lnTo>
                  <a:pt x="2" y="0"/>
                </a:lnTo>
                <a:lnTo>
                  <a:pt x="4"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Oval 285"/>
          <p:cNvSpPr/>
          <p:nvPr/>
        </p:nvSpPr>
        <p:spPr>
          <a:xfrm>
            <a:off x="103054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1019651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88" name="TextBox 287"/>
          <p:cNvSpPr txBox="1"/>
          <p:nvPr/>
        </p:nvSpPr>
        <p:spPr>
          <a:xfrm>
            <a:off x="99536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289" name="Oval 288"/>
          <p:cNvSpPr/>
          <p:nvPr/>
        </p:nvSpPr>
        <p:spPr>
          <a:xfrm>
            <a:off x="100393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TextBox 289"/>
          <p:cNvSpPr txBox="1"/>
          <p:nvPr/>
        </p:nvSpPr>
        <p:spPr>
          <a:xfrm>
            <a:off x="10039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91" name="Oval 290"/>
          <p:cNvSpPr/>
          <p:nvPr/>
        </p:nvSpPr>
        <p:spPr>
          <a:xfrm>
            <a:off x="102489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102489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93" name="Oval 292"/>
          <p:cNvSpPr/>
          <p:nvPr/>
        </p:nvSpPr>
        <p:spPr>
          <a:xfrm>
            <a:off x="104584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TextBox 293"/>
          <p:cNvSpPr txBox="1"/>
          <p:nvPr/>
        </p:nvSpPr>
        <p:spPr>
          <a:xfrm>
            <a:off x="104584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95" name="Oval 294"/>
          <p:cNvSpPr/>
          <p:nvPr/>
        </p:nvSpPr>
        <p:spPr>
          <a:xfrm>
            <a:off x="106680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TextBox 295"/>
          <p:cNvSpPr txBox="1"/>
          <p:nvPr/>
        </p:nvSpPr>
        <p:spPr>
          <a:xfrm>
            <a:off x="106680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97" name="Oval 296"/>
          <p:cNvSpPr/>
          <p:nvPr/>
        </p:nvSpPr>
        <p:spPr>
          <a:xfrm>
            <a:off x="101441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TextBox 297"/>
          <p:cNvSpPr txBox="1"/>
          <p:nvPr/>
        </p:nvSpPr>
        <p:spPr>
          <a:xfrm>
            <a:off x="101441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99" name="Oval 298"/>
          <p:cNvSpPr/>
          <p:nvPr/>
        </p:nvSpPr>
        <p:spPr>
          <a:xfrm>
            <a:off x="103536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TextBox 299"/>
          <p:cNvSpPr txBox="1"/>
          <p:nvPr/>
        </p:nvSpPr>
        <p:spPr>
          <a:xfrm>
            <a:off x="103536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01" name="Oval 300"/>
          <p:cNvSpPr/>
          <p:nvPr/>
        </p:nvSpPr>
        <p:spPr>
          <a:xfrm>
            <a:off x="105632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TextBox 301"/>
          <p:cNvSpPr txBox="1"/>
          <p:nvPr/>
        </p:nvSpPr>
        <p:spPr>
          <a:xfrm>
            <a:off x="105632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03" name="TextBox 302"/>
          <p:cNvSpPr txBox="1"/>
          <p:nvPr/>
        </p:nvSpPr>
        <p:spPr>
          <a:xfrm>
            <a:off x="110109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Lanes Health</a:t>
            </a:r>
          </a:p>
        </p:txBody>
      </p:sp>
      <p:cxnSp>
        <p:nvCxnSpPr>
          <p:cNvPr id="304" name="Connector 303"/>
          <p:cNvCxnSpPr/>
          <p:nvPr/>
        </p:nvCxnSpPr>
        <p:spPr>
          <a:xfrm>
            <a:off x="112918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05" name="TextBox 304"/>
          <p:cNvSpPr txBox="1"/>
          <p:nvPr/>
        </p:nvSpPr>
        <p:spPr>
          <a:xfrm>
            <a:off x="110109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J</a:t>
            </a:r>
          </a:p>
        </p:txBody>
      </p:sp>
      <p:sp>
        <p:nvSpPr>
          <p:cNvPr id="306" name="TextBox 305"/>
          <p:cNvSpPr txBox="1"/>
          <p:nvPr/>
        </p:nvSpPr>
        <p:spPr>
          <a:xfrm>
            <a:off x="110013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307" name="TextBox 306"/>
          <p:cNvSpPr txBox="1"/>
          <p:nvPr/>
        </p:nvSpPr>
        <p:spPr>
          <a:xfrm>
            <a:off x="110013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308" name="Rectangle 307"/>
          <p:cNvSpPr/>
          <p:nvPr/>
        </p:nvSpPr>
        <p:spPr>
          <a:xfrm>
            <a:off x="112918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114633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angle 309"/>
          <p:cNvSpPr/>
          <p:nvPr/>
        </p:nvSpPr>
        <p:spPr>
          <a:xfrm>
            <a:off x="116347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110109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12" name="TextBox 311"/>
          <p:cNvSpPr txBox="1"/>
          <p:nvPr/>
        </p:nvSpPr>
        <p:spPr>
          <a:xfrm>
            <a:off x="110109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13" name="Oval 312"/>
          <p:cNvSpPr/>
          <p:nvPr/>
        </p:nvSpPr>
        <p:spPr>
          <a:xfrm>
            <a:off x="112728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Freeform 313"/>
          <p:cNvSpPr/>
          <p:nvPr/>
        </p:nvSpPr>
        <p:spPr>
          <a:xfrm>
            <a:off x="11525250" y="3416749"/>
            <a:ext cx="28575" cy="237298"/>
          </a:xfrm>
          <a:custGeom>
            <a:avLst/>
            <a:gdLst/>
            <a:ahLst/>
            <a:cxnLst/>
            <a:rect l="l" t="t" r="r" b="b"/>
            <a:pathLst>
              <a:path w="3" h="26">
                <a:moveTo>
                  <a:pt x="0" y="26"/>
                </a:moveTo>
                <a:lnTo>
                  <a:pt x="0" y="0"/>
                </a:lnTo>
                <a:lnTo>
                  <a:pt x="1" y="0"/>
                </a:lnTo>
                <a:lnTo>
                  <a:pt x="3"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113818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TextBox 315"/>
          <p:cNvSpPr txBox="1"/>
          <p:nvPr/>
        </p:nvSpPr>
        <p:spPr>
          <a:xfrm>
            <a:off x="1127283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317" name="TextBox 316"/>
          <p:cNvSpPr txBox="1"/>
          <p:nvPr/>
        </p:nvSpPr>
        <p:spPr>
          <a:xfrm>
            <a:off x="110299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318" name="Oval 317"/>
          <p:cNvSpPr/>
          <p:nvPr/>
        </p:nvSpPr>
        <p:spPr>
          <a:xfrm>
            <a:off x="11115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TextBox 318"/>
          <p:cNvSpPr txBox="1"/>
          <p:nvPr/>
        </p:nvSpPr>
        <p:spPr>
          <a:xfrm>
            <a:off x="11115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20" name="Oval 319"/>
          <p:cNvSpPr/>
          <p:nvPr/>
        </p:nvSpPr>
        <p:spPr>
          <a:xfrm>
            <a:off x="113252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TextBox 320"/>
          <p:cNvSpPr txBox="1"/>
          <p:nvPr/>
        </p:nvSpPr>
        <p:spPr>
          <a:xfrm>
            <a:off x="113252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22" name="Oval 321"/>
          <p:cNvSpPr/>
          <p:nvPr/>
        </p:nvSpPr>
        <p:spPr>
          <a:xfrm>
            <a:off x="115347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TextBox 322"/>
          <p:cNvSpPr txBox="1"/>
          <p:nvPr/>
        </p:nvSpPr>
        <p:spPr>
          <a:xfrm>
            <a:off x="115347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24" name="Oval 323"/>
          <p:cNvSpPr/>
          <p:nvPr/>
        </p:nvSpPr>
        <p:spPr>
          <a:xfrm>
            <a:off x="117443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TextBox 324"/>
          <p:cNvSpPr txBox="1"/>
          <p:nvPr/>
        </p:nvSpPr>
        <p:spPr>
          <a:xfrm>
            <a:off x="117443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26" name="Oval 325"/>
          <p:cNvSpPr/>
          <p:nvPr/>
        </p:nvSpPr>
        <p:spPr>
          <a:xfrm>
            <a:off x="112204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112204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28" name="Oval 327"/>
          <p:cNvSpPr/>
          <p:nvPr/>
        </p:nvSpPr>
        <p:spPr>
          <a:xfrm>
            <a:off x="114300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TextBox 328"/>
          <p:cNvSpPr txBox="1"/>
          <p:nvPr/>
        </p:nvSpPr>
        <p:spPr>
          <a:xfrm>
            <a:off x="114300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30" name="Oval 329"/>
          <p:cNvSpPr/>
          <p:nvPr/>
        </p:nvSpPr>
        <p:spPr>
          <a:xfrm>
            <a:off x="116395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TextBox 330"/>
          <p:cNvSpPr txBox="1"/>
          <p:nvPr/>
        </p:nvSpPr>
        <p:spPr>
          <a:xfrm>
            <a:off x="116395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32" name="TextBox 331"/>
          <p:cNvSpPr txBox="1"/>
          <p:nvPr/>
        </p:nvSpPr>
        <p:spPr>
          <a:xfrm>
            <a:off x="285750" y="5716715"/>
            <a:ext cx="1116806" cy="164283"/>
          </a:xfrm>
          <a:prstGeom prst="rect">
            <a:avLst/>
          </a:prstGeom>
          <a:noFill/>
        </p:spPr>
        <p:txBody>
          <a:bodyPr wrap="square" lIns="0" rIns="0" tIns="0" bIns="0" anchor="ctr">
            <a:spAutoFit/>
          </a:bodyPr>
          <a:lstStyle/>
          <a:p>
            <a:pPr algn="l"/>
            <a:r>
              <a:rPr sz="1100" b="1">
                <a:solidFill>
                  <a:srgbClr val="2E2E2E"/>
                </a:solidFill>
                <a:latin typeface="Calibri"/>
              </a:rPr>
              <a:t>Product Portfolio:</a:t>
            </a:r>
          </a:p>
        </p:txBody>
      </p:sp>
      <p:sp>
        <p:nvSpPr>
          <p:cNvPr id="333" name="Rectangle 332"/>
          <p:cNvSpPr/>
          <p:nvPr/>
        </p:nvSpPr>
        <p:spPr>
          <a:xfrm>
            <a:off x="1383506" y="5744096"/>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TextBox 333"/>
          <p:cNvSpPr txBox="1"/>
          <p:nvPr/>
        </p:nvSpPr>
        <p:spPr>
          <a:xfrm>
            <a:off x="1535906" y="5716715"/>
            <a:ext cx="2009775" cy="164283"/>
          </a:xfrm>
          <a:prstGeom prst="rect">
            <a:avLst/>
          </a:prstGeom>
          <a:noFill/>
        </p:spPr>
        <p:txBody>
          <a:bodyPr wrap="square" lIns="0" rIns="0" tIns="0" bIns="0" anchor="ctr">
            <a:spAutoFit/>
          </a:bodyPr>
          <a:lstStyle/>
          <a:p>
            <a:pPr algn="l"/>
            <a:r>
              <a:rPr sz="1100" b="0">
                <a:solidFill>
                  <a:srgbClr val="2E2E2E"/>
                </a:solidFill>
                <a:latin typeface="Calibri"/>
              </a:rPr>
              <a:t>Irrigation Devices and Accessories</a:t>
            </a:r>
          </a:p>
        </p:txBody>
      </p:sp>
      <p:sp>
        <p:nvSpPr>
          <p:cNvPr id="335" name="Rectangle 334"/>
          <p:cNvSpPr/>
          <p:nvPr/>
        </p:nvSpPr>
        <p:spPr>
          <a:xfrm>
            <a:off x="3602831" y="5744096"/>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3755231" y="5716715"/>
            <a:ext cx="630994" cy="164283"/>
          </a:xfrm>
          <a:prstGeom prst="rect">
            <a:avLst/>
          </a:prstGeom>
          <a:noFill/>
        </p:spPr>
        <p:txBody>
          <a:bodyPr wrap="square" lIns="0" rIns="0" tIns="0" bIns="0" anchor="ctr">
            <a:spAutoFit/>
          </a:bodyPr>
          <a:lstStyle/>
          <a:p>
            <a:pPr algn="l"/>
            <a:r>
              <a:rPr sz="1100" b="0">
                <a:solidFill>
                  <a:srgbClr val="2E2E2E"/>
                </a:solidFill>
                <a:latin typeface="Calibri"/>
              </a:rPr>
              <a:t>Ear Drops</a:t>
            </a:r>
          </a:p>
        </p:txBody>
      </p:sp>
      <p:sp>
        <p:nvSpPr>
          <p:cNvPr id="337" name="Rectangle 336"/>
          <p:cNvSpPr/>
          <p:nvPr/>
        </p:nvSpPr>
        <p:spPr>
          <a:xfrm>
            <a:off x="4443375" y="5744096"/>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TextBox 337"/>
          <p:cNvSpPr txBox="1"/>
          <p:nvPr/>
        </p:nvSpPr>
        <p:spPr>
          <a:xfrm>
            <a:off x="4595775" y="5716715"/>
            <a:ext cx="666713" cy="164283"/>
          </a:xfrm>
          <a:prstGeom prst="rect">
            <a:avLst/>
          </a:prstGeom>
          <a:noFill/>
        </p:spPr>
        <p:txBody>
          <a:bodyPr wrap="square" lIns="0" rIns="0" tIns="0" bIns="0" anchor="ctr">
            <a:spAutoFit/>
          </a:bodyPr>
          <a:lstStyle/>
          <a:p>
            <a:pPr algn="l"/>
            <a:r>
              <a:rPr sz="1100" b="0">
                <a:solidFill>
                  <a:srgbClr val="2E2E2E"/>
                </a:solidFill>
                <a:latin typeface="Calibri"/>
              </a:rPr>
              <a:t>Ear Sprays</a:t>
            </a:r>
          </a:p>
        </p:txBody>
      </p:sp>
      <p:sp>
        <p:nvSpPr>
          <p:cNvPr id="339" name="Rectangle 338"/>
          <p:cNvSpPr/>
          <p:nvPr/>
        </p:nvSpPr>
        <p:spPr>
          <a:xfrm>
            <a:off x="5319638" y="5744096"/>
            <a:ext cx="114300" cy="109522"/>
          </a:xfrm>
          <a:prstGeom prst="rect">
            <a:avLst/>
          </a:prstGeom>
          <a:solidFill>
            <a:srgbClr val="FFFFFF"/>
          </a:solidFill>
          <a:ln w="12700">
            <a:solidFill>
              <a:srgbClr val="6C7A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TextBox 339"/>
          <p:cNvSpPr txBox="1"/>
          <p:nvPr/>
        </p:nvSpPr>
        <p:spPr>
          <a:xfrm>
            <a:off x="5472038" y="5716715"/>
            <a:ext cx="740569" cy="164283"/>
          </a:xfrm>
          <a:prstGeom prst="rect">
            <a:avLst/>
          </a:prstGeom>
          <a:noFill/>
        </p:spPr>
        <p:txBody>
          <a:bodyPr wrap="square" lIns="0" rIns="0" tIns="0" bIns="0" anchor="ctr">
            <a:spAutoFit/>
          </a:bodyPr>
          <a:lstStyle/>
          <a:p>
            <a:pPr algn="l"/>
            <a:r>
              <a:rPr sz="1100" b="0">
                <a:solidFill>
                  <a:srgbClr val="2E2E2E"/>
                </a:solidFill>
                <a:latin typeface="Calibri"/>
              </a:rPr>
              <a:t>Not offered</a:t>
            </a:r>
          </a:p>
        </p:txBody>
      </p:sp>
      <p:sp>
        <p:nvSpPr>
          <p:cNvPr id="341" name="TextBox 340"/>
          <p:cNvSpPr txBox="1"/>
          <p:nvPr/>
        </p:nvSpPr>
        <p:spPr>
          <a:xfrm>
            <a:off x="285750" y="5890125"/>
            <a:ext cx="208915" cy="164283"/>
          </a:xfrm>
          <a:prstGeom prst="rect">
            <a:avLst/>
          </a:prstGeom>
          <a:noFill/>
        </p:spPr>
        <p:txBody>
          <a:bodyPr wrap="none" lIns="0" rIns="0" tIns="0" bIns="0" anchor="ctr">
            <a:spAutoFit/>
          </a:bodyPr>
          <a:lstStyle/>
          <a:p>
            <a:pPr algn="l"/>
            <a:r>
              <a:rPr sz="1100" b="1">
                <a:solidFill>
                  <a:srgbClr val="008189"/>
                </a:solidFill>
                <a:latin typeface="Calibri"/>
              </a:rPr>
              <a:t>✔</a:t>
            </a:r>
          </a:p>
        </p:txBody>
      </p:sp>
      <p:sp>
        <p:nvSpPr>
          <p:cNvPr id="342" name="TextBox 341"/>
          <p:cNvSpPr txBox="1"/>
          <p:nvPr/>
        </p:nvSpPr>
        <p:spPr>
          <a:xfrm>
            <a:off x="475615" y="5890125"/>
            <a:ext cx="457200" cy="164283"/>
          </a:xfrm>
          <a:prstGeom prst="rect">
            <a:avLst/>
          </a:prstGeom>
          <a:noFill/>
        </p:spPr>
        <p:txBody>
          <a:bodyPr wrap="square" lIns="0" rIns="0" tIns="0" bIns="0" anchor="ctr">
            <a:spAutoFit/>
          </a:bodyPr>
          <a:lstStyle/>
          <a:p>
            <a:pPr algn="l"/>
            <a:r>
              <a:rPr sz="1100" b="0">
                <a:solidFill>
                  <a:srgbClr val="2E2E2E"/>
                </a:solidFill>
                <a:latin typeface="Calibri"/>
              </a:rPr>
              <a:t>served</a:t>
            </a:r>
          </a:p>
        </p:txBody>
      </p:sp>
      <p:sp>
        <p:nvSpPr>
          <p:cNvPr id="343" name="TextBox 342"/>
          <p:cNvSpPr txBox="1"/>
          <p:nvPr/>
        </p:nvSpPr>
        <p:spPr>
          <a:xfrm>
            <a:off x="913765" y="5890125"/>
            <a:ext cx="208915" cy="164283"/>
          </a:xfrm>
          <a:prstGeom prst="rect">
            <a:avLst/>
          </a:prstGeom>
          <a:noFill/>
        </p:spPr>
        <p:txBody>
          <a:bodyPr wrap="none" lIns="0" rIns="0" tIns="0" bIns="0" anchor="ctr">
            <a:spAutoFit/>
          </a:bodyPr>
          <a:lstStyle/>
          <a:p>
            <a:pPr algn="l"/>
            <a:r>
              <a:rPr sz="1100" b="1">
                <a:solidFill>
                  <a:srgbClr val="E44D3A"/>
                </a:solidFill>
                <a:latin typeface="Calibri"/>
              </a:rPr>
              <a:t>✘</a:t>
            </a:r>
          </a:p>
        </p:txBody>
      </p:sp>
      <p:sp>
        <p:nvSpPr>
          <p:cNvPr id="344" name="TextBox 343"/>
          <p:cNvSpPr txBox="1"/>
          <p:nvPr/>
        </p:nvSpPr>
        <p:spPr>
          <a:xfrm>
            <a:off x="1103630" y="5890125"/>
            <a:ext cx="683419" cy="164283"/>
          </a:xfrm>
          <a:prstGeom prst="rect">
            <a:avLst/>
          </a:prstGeom>
          <a:noFill/>
        </p:spPr>
        <p:txBody>
          <a:bodyPr wrap="square" lIns="0" rIns="0" tIns="0" bIns="0" anchor="ctr">
            <a:spAutoFit/>
          </a:bodyPr>
          <a:lstStyle/>
          <a:p>
            <a:pPr algn="l"/>
            <a:r>
              <a:rPr sz="1100" b="0">
                <a:solidFill>
                  <a:srgbClr val="2E2E2E"/>
                </a:solidFill>
                <a:latin typeface="Calibri"/>
              </a:rPr>
              <a:t>not served</a:t>
            </a:r>
          </a:p>
        </p:txBody>
      </p:sp>
      <p:sp>
        <p:nvSpPr>
          <p:cNvPr id="345" name="TextBox 344"/>
          <p:cNvSpPr txBox="1"/>
          <p:nvPr/>
        </p:nvSpPr>
        <p:spPr>
          <a:xfrm>
            <a:off x="1939449" y="5890125"/>
            <a:ext cx="1183481" cy="164283"/>
          </a:xfrm>
          <a:prstGeom prst="rect">
            <a:avLst/>
          </a:prstGeom>
          <a:noFill/>
        </p:spPr>
        <p:txBody>
          <a:bodyPr wrap="square" lIns="0" rIns="0" tIns="0" bIns="0" anchor="ctr">
            <a:spAutoFit/>
          </a:bodyPr>
          <a:lstStyle/>
          <a:p>
            <a:pPr algn="l"/>
            <a:r>
              <a:rPr sz="1100" b="1">
                <a:solidFill>
                  <a:srgbClr val="2E2E2E"/>
                </a:solidFill>
                <a:latin typeface="Calibri"/>
              </a:rPr>
              <a:t>Regional presence:</a:t>
            </a:r>
          </a:p>
        </p:txBody>
      </p:sp>
      <p:sp>
        <p:nvSpPr>
          <p:cNvPr id="346" name="TextBox 345"/>
          <p:cNvSpPr txBox="1"/>
          <p:nvPr/>
        </p:nvSpPr>
        <p:spPr>
          <a:xfrm>
            <a:off x="3103880" y="5890125"/>
            <a:ext cx="208915" cy="164283"/>
          </a:xfrm>
          <a:prstGeom prst="rect">
            <a:avLst/>
          </a:prstGeom>
          <a:noFill/>
        </p:spPr>
        <p:txBody>
          <a:bodyPr wrap="none" lIns="0" rIns="0" tIns="0" bIns="0" anchor="ctr">
            <a:spAutoFit/>
          </a:bodyPr>
          <a:lstStyle/>
          <a:p>
            <a:pPr algn="l"/>
            <a:r>
              <a:rPr sz="1100" b="1">
                <a:solidFill>
                  <a:srgbClr val="0E72AE"/>
                </a:solidFill>
                <a:latin typeface="Calibri"/>
              </a:rPr>
              <a:t>▲</a:t>
            </a:r>
          </a:p>
        </p:txBody>
      </p:sp>
      <p:sp>
        <p:nvSpPr>
          <p:cNvPr id="347" name="TextBox 346"/>
          <p:cNvSpPr txBox="1"/>
          <p:nvPr/>
        </p:nvSpPr>
        <p:spPr>
          <a:xfrm>
            <a:off x="3293745" y="5890125"/>
            <a:ext cx="338138" cy="164283"/>
          </a:xfrm>
          <a:prstGeom prst="rect">
            <a:avLst/>
          </a:prstGeom>
          <a:noFill/>
        </p:spPr>
        <p:txBody>
          <a:bodyPr wrap="none" lIns="0" rIns="0" tIns="0" bIns="0" anchor="ctr">
            <a:spAutoFit/>
          </a:bodyPr>
          <a:lstStyle/>
          <a:p>
            <a:pPr algn="l"/>
            <a:r>
              <a:rPr sz="1100" b="0">
                <a:solidFill>
                  <a:srgbClr val="2E2E2E"/>
                </a:solidFill>
                <a:latin typeface="Calibri"/>
              </a:rPr>
              <a:t>High</a:t>
            </a:r>
          </a:p>
        </p:txBody>
      </p:sp>
      <p:sp>
        <p:nvSpPr>
          <p:cNvPr id="348" name="TextBox 347"/>
          <p:cNvSpPr txBox="1"/>
          <p:nvPr/>
        </p:nvSpPr>
        <p:spPr>
          <a:xfrm>
            <a:off x="3612832" y="5890125"/>
            <a:ext cx="208915" cy="164283"/>
          </a:xfrm>
          <a:prstGeom prst="rect">
            <a:avLst/>
          </a:prstGeom>
          <a:noFill/>
        </p:spPr>
        <p:txBody>
          <a:bodyPr wrap="none" lIns="0" rIns="0" tIns="0" bIns="0" anchor="ctr">
            <a:spAutoFit/>
          </a:bodyPr>
          <a:lstStyle/>
          <a:p>
            <a:pPr algn="l"/>
            <a:r>
              <a:rPr sz="1100" b="1">
                <a:solidFill>
                  <a:srgbClr val="A86F00"/>
                </a:solidFill>
                <a:latin typeface="Calibri"/>
              </a:rPr>
              <a:t>▲</a:t>
            </a:r>
          </a:p>
        </p:txBody>
      </p:sp>
      <p:sp>
        <p:nvSpPr>
          <p:cNvPr id="349" name="TextBox 348"/>
          <p:cNvSpPr txBox="1"/>
          <p:nvPr/>
        </p:nvSpPr>
        <p:spPr>
          <a:xfrm>
            <a:off x="3802698" y="5890125"/>
            <a:ext cx="576262" cy="164283"/>
          </a:xfrm>
          <a:prstGeom prst="rect">
            <a:avLst/>
          </a:prstGeom>
          <a:noFill/>
        </p:spPr>
        <p:txBody>
          <a:bodyPr wrap="square" lIns="0" rIns="0" tIns="0" bIns="0" anchor="ctr">
            <a:spAutoFit/>
          </a:bodyPr>
          <a:lstStyle/>
          <a:p>
            <a:pPr algn="l"/>
            <a:r>
              <a:rPr sz="1100" b="0">
                <a:solidFill>
                  <a:srgbClr val="2E2E2E"/>
                </a:solidFill>
                <a:latin typeface="Calibri"/>
              </a:rPr>
              <a:t>Medium</a:t>
            </a:r>
          </a:p>
        </p:txBody>
      </p:sp>
      <p:sp>
        <p:nvSpPr>
          <p:cNvPr id="350" name="TextBox 349"/>
          <p:cNvSpPr txBox="1"/>
          <p:nvPr/>
        </p:nvSpPr>
        <p:spPr>
          <a:xfrm>
            <a:off x="4340860" y="5890125"/>
            <a:ext cx="208915" cy="164283"/>
          </a:xfrm>
          <a:prstGeom prst="rect">
            <a:avLst/>
          </a:prstGeom>
          <a:noFill/>
        </p:spPr>
        <p:txBody>
          <a:bodyPr wrap="none" lIns="0" rIns="0" tIns="0" bIns="0" anchor="ctr">
            <a:spAutoFit/>
          </a:bodyPr>
          <a:lstStyle/>
          <a:p>
            <a:pPr algn="l"/>
            <a:r>
              <a:rPr sz="1100" b="1">
                <a:solidFill>
                  <a:srgbClr val="9AA3A8"/>
                </a:solidFill>
                <a:latin typeface="Calibri"/>
              </a:rPr>
              <a:t>▲</a:t>
            </a:r>
          </a:p>
        </p:txBody>
      </p:sp>
      <p:sp>
        <p:nvSpPr>
          <p:cNvPr id="351" name="TextBox 350"/>
          <p:cNvSpPr txBox="1"/>
          <p:nvPr/>
        </p:nvSpPr>
        <p:spPr>
          <a:xfrm>
            <a:off x="4530725" y="5890125"/>
            <a:ext cx="309562" cy="164283"/>
          </a:xfrm>
          <a:prstGeom prst="rect">
            <a:avLst/>
          </a:prstGeom>
          <a:noFill/>
        </p:spPr>
        <p:txBody>
          <a:bodyPr wrap="none" lIns="0" rIns="0" tIns="0" bIns="0" anchor="ctr">
            <a:spAutoFit/>
          </a:bodyPr>
          <a:lstStyle/>
          <a:p>
            <a:pPr algn="l"/>
            <a:r>
              <a:rPr sz="1100" b="0">
                <a:solidFill>
                  <a:srgbClr val="2E2E2E"/>
                </a:solidFill>
                <a:latin typeface="Calibri"/>
              </a:rPr>
              <a:t>Low</a:t>
            </a:r>
          </a:p>
        </p:txBody>
      </p:sp>
      <p:sp>
        <p:nvSpPr>
          <p:cNvPr id="352" name="Oval 351"/>
          <p:cNvSpPr/>
          <p:nvPr/>
        </p:nvSpPr>
        <p:spPr>
          <a:xfrm>
            <a:off x="285750"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TextBox 352"/>
          <p:cNvSpPr txBox="1"/>
          <p:nvPr/>
        </p:nvSpPr>
        <p:spPr>
          <a:xfrm>
            <a:off x="285750"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54" name="TextBox 353"/>
          <p:cNvSpPr txBox="1"/>
          <p:nvPr/>
        </p:nvSpPr>
        <p:spPr>
          <a:xfrm>
            <a:off x="495300" y="6072662"/>
            <a:ext cx="657225" cy="182537"/>
          </a:xfrm>
          <a:prstGeom prst="rect">
            <a:avLst/>
          </a:prstGeom>
          <a:noFill/>
        </p:spPr>
        <p:txBody>
          <a:bodyPr wrap="square" lIns="0" rIns="0" tIns="0" bIns="0" anchor="ctr">
            <a:spAutoFit/>
          </a:bodyPr>
          <a:lstStyle/>
          <a:p>
            <a:pPr algn="l"/>
            <a:r>
              <a:rPr sz="1100" b="0">
                <a:solidFill>
                  <a:srgbClr val="2E2E2E"/>
                </a:solidFill>
                <a:latin typeface="Calibri"/>
              </a:rPr>
              <a:t>Expansion</a:t>
            </a:r>
          </a:p>
        </p:txBody>
      </p:sp>
      <p:sp>
        <p:nvSpPr>
          <p:cNvPr id="355" name="Oval 354"/>
          <p:cNvSpPr/>
          <p:nvPr/>
        </p:nvSpPr>
        <p:spPr>
          <a:xfrm>
            <a:off x="124777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TextBox 355"/>
          <p:cNvSpPr txBox="1"/>
          <p:nvPr/>
        </p:nvSpPr>
        <p:spPr>
          <a:xfrm>
            <a:off x="124777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57" name="TextBox 356"/>
          <p:cNvSpPr txBox="1"/>
          <p:nvPr/>
        </p:nvSpPr>
        <p:spPr>
          <a:xfrm>
            <a:off x="1457325" y="6072662"/>
            <a:ext cx="1012031" cy="182537"/>
          </a:xfrm>
          <a:prstGeom prst="rect">
            <a:avLst/>
          </a:prstGeom>
          <a:noFill/>
        </p:spPr>
        <p:txBody>
          <a:bodyPr wrap="square" lIns="0" rIns="0" tIns="0" bIns="0" anchor="ctr">
            <a:spAutoFit/>
          </a:bodyPr>
          <a:lstStyle/>
          <a:p>
            <a:pPr algn="l"/>
            <a:r>
              <a:rPr sz="1100" b="0">
                <a:solidFill>
                  <a:srgbClr val="2E2E2E"/>
                </a:solidFill>
                <a:latin typeface="Calibri"/>
              </a:rPr>
              <a:t>R&amp;D Investment</a:t>
            </a:r>
          </a:p>
        </p:txBody>
      </p:sp>
      <p:sp>
        <p:nvSpPr>
          <p:cNvPr id="358" name="Oval 357"/>
          <p:cNvSpPr/>
          <p:nvPr/>
        </p:nvSpPr>
        <p:spPr>
          <a:xfrm>
            <a:off x="25646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TextBox 358"/>
          <p:cNvSpPr txBox="1"/>
          <p:nvPr/>
        </p:nvSpPr>
        <p:spPr>
          <a:xfrm>
            <a:off x="25646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60" name="TextBox 359"/>
          <p:cNvSpPr txBox="1"/>
          <p:nvPr/>
        </p:nvSpPr>
        <p:spPr>
          <a:xfrm>
            <a:off x="2774156" y="6072662"/>
            <a:ext cx="800100" cy="182537"/>
          </a:xfrm>
          <a:prstGeom prst="rect">
            <a:avLst/>
          </a:prstGeom>
          <a:noFill/>
        </p:spPr>
        <p:txBody>
          <a:bodyPr wrap="square" lIns="0" rIns="0" tIns="0" bIns="0" anchor="ctr">
            <a:spAutoFit/>
          </a:bodyPr>
          <a:lstStyle/>
          <a:p>
            <a:pPr algn="l"/>
            <a:r>
              <a:rPr sz="1100" b="0">
                <a:solidFill>
                  <a:srgbClr val="2E2E2E"/>
                </a:solidFill>
                <a:latin typeface="Calibri"/>
              </a:rPr>
              <a:t>Financial Aid</a:t>
            </a:r>
          </a:p>
        </p:txBody>
      </p:sp>
      <p:sp>
        <p:nvSpPr>
          <p:cNvPr id="361" name="Oval 360"/>
          <p:cNvSpPr/>
          <p:nvPr/>
        </p:nvSpPr>
        <p:spPr>
          <a:xfrm>
            <a:off x="36695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36695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63" name="TextBox 362"/>
          <p:cNvSpPr txBox="1"/>
          <p:nvPr/>
        </p:nvSpPr>
        <p:spPr>
          <a:xfrm>
            <a:off x="3879056" y="6072662"/>
            <a:ext cx="1328738" cy="182537"/>
          </a:xfrm>
          <a:prstGeom prst="rect">
            <a:avLst/>
          </a:prstGeom>
          <a:noFill/>
        </p:spPr>
        <p:txBody>
          <a:bodyPr wrap="square" lIns="0" rIns="0" tIns="0" bIns="0" anchor="ctr">
            <a:spAutoFit/>
          </a:bodyPr>
          <a:lstStyle/>
          <a:p>
            <a:pPr algn="l"/>
            <a:r>
              <a:rPr sz="1100" b="0">
                <a:solidFill>
                  <a:srgbClr val="2E2E2E"/>
                </a:solidFill>
                <a:latin typeface="Calibri"/>
              </a:rPr>
              <a:t>Product Development</a:t>
            </a:r>
          </a:p>
        </p:txBody>
      </p:sp>
      <p:sp>
        <p:nvSpPr>
          <p:cNvPr id="364" name="Oval 363"/>
          <p:cNvSpPr/>
          <p:nvPr/>
        </p:nvSpPr>
        <p:spPr>
          <a:xfrm>
            <a:off x="5303044"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TextBox 364"/>
          <p:cNvSpPr txBox="1"/>
          <p:nvPr/>
        </p:nvSpPr>
        <p:spPr>
          <a:xfrm>
            <a:off x="5303044"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66" name="TextBox 365"/>
          <p:cNvSpPr txBox="1"/>
          <p:nvPr/>
        </p:nvSpPr>
        <p:spPr>
          <a:xfrm>
            <a:off x="5512594" y="6072662"/>
            <a:ext cx="714375" cy="182537"/>
          </a:xfrm>
          <a:prstGeom prst="rect">
            <a:avLst/>
          </a:prstGeom>
          <a:noFill/>
        </p:spPr>
        <p:txBody>
          <a:bodyPr wrap="square" lIns="0" rIns="0" tIns="0" bIns="0" anchor="ctr">
            <a:spAutoFit/>
          </a:bodyPr>
          <a:lstStyle/>
          <a:p>
            <a:pPr algn="l"/>
            <a:r>
              <a:rPr sz="1100" b="0">
                <a:solidFill>
                  <a:srgbClr val="2E2E2E"/>
                </a:solidFill>
                <a:latin typeface="Calibri"/>
              </a:rPr>
              <a:t>Acquisition</a:t>
            </a:r>
          </a:p>
        </p:txBody>
      </p:sp>
      <p:sp>
        <p:nvSpPr>
          <p:cNvPr id="367" name="Oval 366"/>
          <p:cNvSpPr/>
          <p:nvPr/>
        </p:nvSpPr>
        <p:spPr>
          <a:xfrm>
            <a:off x="6322219"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TextBox 367"/>
          <p:cNvSpPr txBox="1"/>
          <p:nvPr/>
        </p:nvSpPr>
        <p:spPr>
          <a:xfrm>
            <a:off x="6322219"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69" name="TextBox 368"/>
          <p:cNvSpPr txBox="1"/>
          <p:nvPr/>
        </p:nvSpPr>
        <p:spPr>
          <a:xfrm>
            <a:off x="6531769" y="6072662"/>
            <a:ext cx="964406" cy="182537"/>
          </a:xfrm>
          <a:prstGeom prst="rect">
            <a:avLst/>
          </a:prstGeom>
          <a:noFill/>
        </p:spPr>
        <p:txBody>
          <a:bodyPr wrap="square" lIns="0" rIns="0" tIns="0" bIns="0" anchor="ctr">
            <a:spAutoFit/>
          </a:bodyPr>
          <a:lstStyle/>
          <a:p>
            <a:pPr algn="l"/>
            <a:r>
              <a:rPr sz="1100" b="0">
                <a:solidFill>
                  <a:srgbClr val="2E2E2E"/>
                </a:solidFill>
                <a:latin typeface="Calibri"/>
              </a:rPr>
              <a:t>Product Launch</a:t>
            </a:r>
          </a:p>
        </p:txBody>
      </p:sp>
      <p:sp>
        <p:nvSpPr>
          <p:cNvPr id="370" name="Oval 369"/>
          <p:cNvSpPr/>
          <p:nvPr/>
        </p:nvSpPr>
        <p:spPr>
          <a:xfrm>
            <a:off x="759142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TextBox 370"/>
          <p:cNvSpPr txBox="1"/>
          <p:nvPr/>
        </p:nvSpPr>
        <p:spPr>
          <a:xfrm>
            <a:off x="759142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72" name="TextBox 371"/>
          <p:cNvSpPr txBox="1"/>
          <p:nvPr/>
        </p:nvSpPr>
        <p:spPr>
          <a:xfrm>
            <a:off x="7800975" y="6072662"/>
            <a:ext cx="781050" cy="182537"/>
          </a:xfrm>
          <a:prstGeom prst="rect">
            <a:avLst/>
          </a:prstGeom>
          <a:noFill/>
        </p:spPr>
        <p:txBody>
          <a:bodyPr wrap="square" lIns="0" rIns="0" tIns="0" bIns="0" anchor="ctr">
            <a:spAutoFit/>
          </a:bodyPr>
          <a:lstStyle/>
          <a:p>
            <a:pPr algn="l"/>
            <a:r>
              <a:rPr sz="1100" b="0">
                <a:solidFill>
                  <a:srgbClr val="2E2E2E"/>
                </a:solidFill>
                <a:latin typeface="Calibri"/>
              </a:rPr>
              <a:t>Certification</a:t>
            </a:r>
          </a:p>
        </p:txBody>
      </p:sp>
      <p:sp>
        <p:nvSpPr>
          <p:cNvPr id="373" name="TextBox 372"/>
          <p:cNvSpPr txBox="1"/>
          <p:nvPr/>
        </p:nvSpPr>
        <p:spPr>
          <a:xfrm>
            <a:off x="285750" y="6273453"/>
            <a:ext cx="11620500" cy="155156"/>
          </a:xfrm>
          <a:prstGeom prst="rect">
            <a:avLst/>
          </a:prstGeom>
          <a:noFill/>
        </p:spPr>
        <p:txBody>
          <a:bodyPr wrap="square" lIns="0" rIns="0" tIns="0" bIns="0">
            <a:spAutoFit/>
          </a:bodyPr>
          <a:lstStyle/>
          <a:p>
            <a:pPr algn="l"/>
            <a:r>
              <a:rPr sz="1100" b="1">
                <a:solidFill>
                  <a:srgbClr val="A35313"/>
                </a:solidFill>
                <a:latin typeface="Calibri"/>
              </a:rPr>
              <a:t>Note: Market Share indicates the contribution of target revenue in Market</a:t>
            </a:r>
          </a:p>
        </p:txBody>
      </p:sp>
      <p:sp>
        <p:nvSpPr>
          <p:cNvPr id="374" name="TextBox 373"/>
          <p:cNvSpPr txBox="1"/>
          <p:nvPr/>
        </p:nvSpPr>
        <p:spPr>
          <a:xfrm>
            <a:off x="285750" y="6428609"/>
            <a:ext cx="11620500" cy="155156"/>
          </a:xfrm>
          <a:prstGeom prst="rect">
            <a:avLst/>
          </a:prstGeom>
          <a:noFill/>
        </p:spPr>
        <p:txBody>
          <a:bodyPr wrap="square" lIns="0" rIns="0" tIns="0" bIns="0">
            <a:spAutoFit/>
          </a:bodyPr>
          <a:lstStyle/>
          <a:p>
            <a:pPr algn="l"/>
            <a:r>
              <a:rPr sz="1100" b="1">
                <a:solidFill>
                  <a:srgbClr val="A35313"/>
                </a:solidFill>
                <a:latin typeface="Calibri"/>
              </a:rPr>
              <a:t>Revenue represents sales of the company from target market</a:t>
            </a:r>
          </a:p>
        </p:txBody>
      </p:sp>
      <p:sp>
        <p:nvSpPr>
          <p:cNvPr id="375" name="TextBox 37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76" name="Picture 375" descr="lock.png"/>
          <p:cNvPicPr>
            <a:picLocks noChangeAspect="1"/>
          </p:cNvPicPr>
          <p:nvPr/>
        </p:nvPicPr>
        <p:blipFill>
          <a:blip r:embed="rId4"/>
          <a:stretch>
            <a:fillRect/>
          </a:stretch>
        </p:blipFill>
        <p:spPr>
          <a:xfrm>
            <a:off x="1769213" y="2702524"/>
            <a:ext cx="128699" cy="187198"/>
          </a:xfrm>
          <a:prstGeom prst="rect">
            <a:avLst/>
          </a:prstGeom>
        </p:spPr>
      </p:pic>
      <p:pic>
        <p:nvPicPr>
          <p:cNvPr id="377" name="Picture 376" descr="lock.png"/>
          <p:cNvPicPr>
            <a:picLocks noChangeAspect="1"/>
          </p:cNvPicPr>
          <p:nvPr/>
        </p:nvPicPr>
        <p:blipFill>
          <a:blip r:embed="rId4"/>
          <a:stretch>
            <a:fillRect/>
          </a:stretch>
        </p:blipFill>
        <p:spPr>
          <a:xfrm>
            <a:off x="1769213" y="3031091"/>
            <a:ext cx="128699" cy="187198"/>
          </a:xfrm>
          <a:prstGeom prst="rect">
            <a:avLst/>
          </a:prstGeom>
        </p:spPr>
      </p:pic>
      <p:pic>
        <p:nvPicPr>
          <p:cNvPr id="378" name="Picture 377" descr="lock.png"/>
          <p:cNvPicPr>
            <a:picLocks noChangeAspect="1"/>
          </p:cNvPicPr>
          <p:nvPr/>
        </p:nvPicPr>
        <p:blipFill>
          <a:blip r:embed="rId4"/>
          <a:stretch>
            <a:fillRect/>
          </a:stretch>
        </p:blipFill>
        <p:spPr>
          <a:xfrm>
            <a:off x="1769212" y="3560448"/>
            <a:ext cx="128699" cy="187198"/>
          </a:xfrm>
          <a:prstGeom prst="rect">
            <a:avLst/>
          </a:prstGeom>
        </p:spPr>
      </p:pic>
      <p:pic>
        <p:nvPicPr>
          <p:cNvPr id="379" name="Picture 378" descr="lock.png"/>
          <p:cNvPicPr>
            <a:picLocks noChangeAspect="1"/>
          </p:cNvPicPr>
          <p:nvPr/>
        </p:nvPicPr>
        <p:blipFill>
          <a:blip r:embed="rId4"/>
          <a:stretch>
            <a:fillRect/>
          </a:stretch>
        </p:blipFill>
        <p:spPr>
          <a:xfrm>
            <a:off x="2845538" y="2702524"/>
            <a:ext cx="128699" cy="187198"/>
          </a:xfrm>
          <a:prstGeom prst="rect">
            <a:avLst/>
          </a:prstGeom>
        </p:spPr>
      </p:pic>
      <p:pic>
        <p:nvPicPr>
          <p:cNvPr id="380" name="Picture 379" descr="lock.png"/>
          <p:cNvPicPr>
            <a:picLocks noChangeAspect="1"/>
          </p:cNvPicPr>
          <p:nvPr/>
        </p:nvPicPr>
        <p:blipFill>
          <a:blip r:embed="rId4"/>
          <a:stretch>
            <a:fillRect/>
          </a:stretch>
        </p:blipFill>
        <p:spPr>
          <a:xfrm>
            <a:off x="2845538" y="3031091"/>
            <a:ext cx="128699" cy="187198"/>
          </a:xfrm>
          <a:prstGeom prst="rect">
            <a:avLst/>
          </a:prstGeom>
        </p:spPr>
      </p:pic>
      <p:pic>
        <p:nvPicPr>
          <p:cNvPr id="381" name="Picture 380" descr="lock.png"/>
          <p:cNvPicPr>
            <a:picLocks noChangeAspect="1"/>
          </p:cNvPicPr>
          <p:nvPr/>
        </p:nvPicPr>
        <p:blipFill>
          <a:blip r:embed="rId4"/>
          <a:stretch>
            <a:fillRect/>
          </a:stretch>
        </p:blipFill>
        <p:spPr>
          <a:xfrm>
            <a:off x="2845538" y="3560448"/>
            <a:ext cx="128699" cy="187198"/>
          </a:xfrm>
          <a:prstGeom prst="rect">
            <a:avLst/>
          </a:prstGeom>
        </p:spPr>
      </p:pic>
      <p:pic>
        <p:nvPicPr>
          <p:cNvPr id="382" name="Picture 381" descr="lock.png"/>
          <p:cNvPicPr>
            <a:picLocks noChangeAspect="1"/>
          </p:cNvPicPr>
          <p:nvPr/>
        </p:nvPicPr>
        <p:blipFill>
          <a:blip r:embed="rId4"/>
          <a:stretch>
            <a:fillRect/>
          </a:stretch>
        </p:blipFill>
        <p:spPr>
          <a:xfrm>
            <a:off x="3921863" y="2702524"/>
            <a:ext cx="128699" cy="187198"/>
          </a:xfrm>
          <a:prstGeom prst="rect">
            <a:avLst/>
          </a:prstGeom>
        </p:spPr>
      </p:pic>
      <p:pic>
        <p:nvPicPr>
          <p:cNvPr id="383" name="Picture 382" descr="lock.png"/>
          <p:cNvPicPr>
            <a:picLocks noChangeAspect="1"/>
          </p:cNvPicPr>
          <p:nvPr/>
        </p:nvPicPr>
        <p:blipFill>
          <a:blip r:embed="rId4"/>
          <a:stretch>
            <a:fillRect/>
          </a:stretch>
        </p:blipFill>
        <p:spPr>
          <a:xfrm>
            <a:off x="3921863" y="3031091"/>
            <a:ext cx="128699" cy="187198"/>
          </a:xfrm>
          <a:prstGeom prst="rect">
            <a:avLst/>
          </a:prstGeom>
        </p:spPr>
      </p:pic>
      <p:pic>
        <p:nvPicPr>
          <p:cNvPr id="384" name="Picture 383" descr="lock.png"/>
          <p:cNvPicPr>
            <a:picLocks noChangeAspect="1"/>
          </p:cNvPicPr>
          <p:nvPr/>
        </p:nvPicPr>
        <p:blipFill>
          <a:blip r:embed="rId4"/>
          <a:stretch>
            <a:fillRect/>
          </a:stretch>
        </p:blipFill>
        <p:spPr>
          <a:xfrm>
            <a:off x="3921862" y="3560448"/>
            <a:ext cx="128699" cy="187198"/>
          </a:xfrm>
          <a:prstGeom prst="rect">
            <a:avLst/>
          </a:prstGeom>
        </p:spPr>
      </p:pic>
      <p:pic>
        <p:nvPicPr>
          <p:cNvPr id="385" name="Picture 384" descr="lock.png"/>
          <p:cNvPicPr>
            <a:picLocks noChangeAspect="1"/>
          </p:cNvPicPr>
          <p:nvPr/>
        </p:nvPicPr>
        <p:blipFill>
          <a:blip r:embed="rId4"/>
          <a:stretch>
            <a:fillRect/>
          </a:stretch>
        </p:blipFill>
        <p:spPr>
          <a:xfrm>
            <a:off x="4998188" y="2702524"/>
            <a:ext cx="128699" cy="187198"/>
          </a:xfrm>
          <a:prstGeom prst="rect">
            <a:avLst/>
          </a:prstGeom>
        </p:spPr>
      </p:pic>
      <p:pic>
        <p:nvPicPr>
          <p:cNvPr id="386" name="Picture 385" descr="lock.png"/>
          <p:cNvPicPr>
            <a:picLocks noChangeAspect="1"/>
          </p:cNvPicPr>
          <p:nvPr/>
        </p:nvPicPr>
        <p:blipFill>
          <a:blip r:embed="rId4"/>
          <a:stretch>
            <a:fillRect/>
          </a:stretch>
        </p:blipFill>
        <p:spPr>
          <a:xfrm>
            <a:off x="4998188" y="3031091"/>
            <a:ext cx="128699" cy="187198"/>
          </a:xfrm>
          <a:prstGeom prst="rect">
            <a:avLst/>
          </a:prstGeom>
        </p:spPr>
      </p:pic>
      <p:pic>
        <p:nvPicPr>
          <p:cNvPr id="387" name="Picture 386" descr="lock.png"/>
          <p:cNvPicPr>
            <a:picLocks noChangeAspect="1"/>
          </p:cNvPicPr>
          <p:nvPr/>
        </p:nvPicPr>
        <p:blipFill>
          <a:blip r:embed="rId4"/>
          <a:stretch>
            <a:fillRect/>
          </a:stretch>
        </p:blipFill>
        <p:spPr>
          <a:xfrm>
            <a:off x="4998188" y="3560448"/>
            <a:ext cx="128699" cy="187198"/>
          </a:xfrm>
          <a:prstGeom prst="rect">
            <a:avLst/>
          </a:prstGeom>
        </p:spPr>
      </p:pic>
      <p:pic>
        <p:nvPicPr>
          <p:cNvPr id="388" name="Picture 387" descr="lock.png"/>
          <p:cNvPicPr>
            <a:picLocks noChangeAspect="1"/>
          </p:cNvPicPr>
          <p:nvPr/>
        </p:nvPicPr>
        <p:blipFill>
          <a:blip r:embed="rId4"/>
          <a:stretch>
            <a:fillRect/>
          </a:stretch>
        </p:blipFill>
        <p:spPr>
          <a:xfrm>
            <a:off x="6074513" y="2702524"/>
            <a:ext cx="128699" cy="187198"/>
          </a:xfrm>
          <a:prstGeom prst="rect">
            <a:avLst/>
          </a:prstGeom>
        </p:spPr>
      </p:pic>
      <p:pic>
        <p:nvPicPr>
          <p:cNvPr id="389" name="Picture 388" descr="lock.png"/>
          <p:cNvPicPr>
            <a:picLocks noChangeAspect="1"/>
          </p:cNvPicPr>
          <p:nvPr/>
        </p:nvPicPr>
        <p:blipFill>
          <a:blip r:embed="rId4"/>
          <a:stretch>
            <a:fillRect/>
          </a:stretch>
        </p:blipFill>
        <p:spPr>
          <a:xfrm>
            <a:off x="6074513" y="3031091"/>
            <a:ext cx="128699" cy="187198"/>
          </a:xfrm>
          <a:prstGeom prst="rect">
            <a:avLst/>
          </a:prstGeom>
        </p:spPr>
      </p:pic>
      <p:pic>
        <p:nvPicPr>
          <p:cNvPr id="390" name="Picture 389" descr="lock.png"/>
          <p:cNvPicPr>
            <a:picLocks noChangeAspect="1"/>
          </p:cNvPicPr>
          <p:nvPr/>
        </p:nvPicPr>
        <p:blipFill>
          <a:blip r:embed="rId4"/>
          <a:stretch>
            <a:fillRect/>
          </a:stretch>
        </p:blipFill>
        <p:spPr>
          <a:xfrm>
            <a:off x="6074512" y="3560448"/>
            <a:ext cx="128699" cy="187198"/>
          </a:xfrm>
          <a:prstGeom prst="rect">
            <a:avLst/>
          </a:prstGeom>
        </p:spPr>
      </p:pic>
      <p:pic>
        <p:nvPicPr>
          <p:cNvPr id="391" name="Picture 390" descr="lock.png"/>
          <p:cNvPicPr>
            <a:picLocks noChangeAspect="1"/>
          </p:cNvPicPr>
          <p:nvPr/>
        </p:nvPicPr>
        <p:blipFill>
          <a:blip r:embed="rId4"/>
          <a:stretch>
            <a:fillRect/>
          </a:stretch>
        </p:blipFill>
        <p:spPr>
          <a:xfrm>
            <a:off x="7150838" y="2702524"/>
            <a:ext cx="128699" cy="187198"/>
          </a:xfrm>
          <a:prstGeom prst="rect">
            <a:avLst/>
          </a:prstGeom>
        </p:spPr>
      </p:pic>
      <p:pic>
        <p:nvPicPr>
          <p:cNvPr id="392" name="Picture 391" descr="lock.png"/>
          <p:cNvPicPr>
            <a:picLocks noChangeAspect="1"/>
          </p:cNvPicPr>
          <p:nvPr/>
        </p:nvPicPr>
        <p:blipFill>
          <a:blip r:embed="rId4"/>
          <a:stretch>
            <a:fillRect/>
          </a:stretch>
        </p:blipFill>
        <p:spPr>
          <a:xfrm>
            <a:off x="7150838" y="3031091"/>
            <a:ext cx="128699" cy="187198"/>
          </a:xfrm>
          <a:prstGeom prst="rect">
            <a:avLst/>
          </a:prstGeom>
        </p:spPr>
      </p:pic>
      <p:pic>
        <p:nvPicPr>
          <p:cNvPr id="393" name="Picture 392" descr="lock.png"/>
          <p:cNvPicPr>
            <a:picLocks noChangeAspect="1"/>
          </p:cNvPicPr>
          <p:nvPr/>
        </p:nvPicPr>
        <p:blipFill>
          <a:blip r:embed="rId4"/>
          <a:stretch>
            <a:fillRect/>
          </a:stretch>
        </p:blipFill>
        <p:spPr>
          <a:xfrm>
            <a:off x="7150838" y="3560448"/>
            <a:ext cx="128699" cy="187198"/>
          </a:xfrm>
          <a:prstGeom prst="rect">
            <a:avLst/>
          </a:prstGeom>
        </p:spPr>
      </p:pic>
      <p:pic>
        <p:nvPicPr>
          <p:cNvPr id="394" name="Picture 393" descr="lock.png"/>
          <p:cNvPicPr>
            <a:picLocks noChangeAspect="1"/>
          </p:cNvPicPr>
          <p:nvPr/>
        </p:nvPicPr>
        <p:blipFill>
          <a:blip r:embed="rId4"/>
          <a:stretch>
            <a:fillRect/>
          </a:stretch>
        </p:blipFill>
        <p:spPr>
          <a:xfrm>
            <a:off x="8227163" y="2702524"/>
            <a:ext cx="128699" cy="187198"/>
          </a:xfrm>
          <a:prstGeom prst="rect">
            <a:avLst/>
          </a:prstGeom>
        </p:spPr>
      </p:pic>
      <p:pic>
        <p:nvPicPr>
          <p:cNvPr id="395" name="Picture 394" descr="lock.png"/>
          <p:cNvPicPr>
            <a:picLocks noChangeAspect="1"/>
          </p:cNvPicPr>
          <p:nvPr/>
        </p:nvPicPr>
        <p:blipFill>
          <a:blip r:embed="rId4"/>
          <a:stretch>
            <a:fillRect/>
          </a:stretch>
        </p:blipFill>
        <p:spPr>
          <a:xfrm>
            <a:off x="8227163" y="3031091"/>
            <a:ext cx="128699" cy="187198"/>
          </a:xfrm>
          <a:prstGeom prst="rect">
            <a:avLst/>
          </a:prstGeom>
        </p:spPr>
      </p:pic>
      <p:pic>
        <p:nvPicPr>
          <p:cNvPr id="396" name="Picture 395" descr="lock.png"/>
          <p:cNvPicPr>
            <a:picLocks noChangeAspect="1"/>
          </p:cNvPicPr>
          <p:nvPr/>
        </p:nvPicPr>
        <p:blipFill>
          <a:blip r:embed="rId4"/>
          <a:stretch>
            <a:fillRect/>
          </a:stretch>
        </p:blipFill>
        <p:spPr>
          <a:xfrm>
            <a:off x="8227162" y="3560448"/>
            <a:ext cx="128699" cy="187198"/>
          </a:xfrm>
          <a:prstGeom prst="rect">
            <a:avLst/>
          </a:prstGeom>
        </p:spPr>
      </p:pic>
      <p:pic>
        <p:nvPicPr>
          <p:cNvPr id="397" name="Picture 396" descr="lock.png"/>
          <p:cNvPicPr>
            <a:picLocks noChangeAspect="1"/>
          </p:cNvPicPr>
          <p:nvPr/>
        </p:nvPicPr>
        <p:blipFill>
          <a:blip r:embed="rId4"/>
          <a:stretch>
            <a:fillRect/>
          </a:stretch>
        </p:blipFill>
        <p:spPr>
          <a:xfrm>
            <a:off x="9303488" y="2702524"/>
            <a:ext cx="128699" cy="187198"/>
          </a:xfrm>
          <a:prstGeom prst="rect">
            <a:avLst/>
          </a:prstGeom>
        </p:spPr>
      </p:pic>
      <p:pic>
        <p:nvPicPr>
          <p:cNvPr id="398" name="Picture 397" descr="lock.png"/>
          <p:cNvPicPr>
            <a:picLocks noChangeAspect="1"/>
          </p:cNvPicPr>
          <p:nvPr/>
        </p:nvPicPr>
        <p:blipFill>
          <a:blip r:embed="rId4"/>
          <a:stretch>
            <a:fillRect/>
          </a:stretch>
        </p:blipFill>
        <p:spPr>
          <a:xfrm>
            <a:off x="9303488" y="3031091"/>
            <a:ext cx="128699" cy="187198"/>
          </a:xfrm>
          <a:prstGeom prst="rect">
            <a:avLst/>
          </a:prstGeom>
        </p:spPr>
      </p:pic>
      <p:pic>
        <p:nvPicPr>
          <p:cNvPr id="399" name="Picture 398" descr="lock.png"/>
          <p:cNvPicPr>
            <a:picLocks noChangeAspect="1"/>
          </p:cNvPicPr>
          <p:nvPr/>
        </p:nvPicPr>
        <p:blipFill>
          <a:blip r:embed="rId4"/>
          <a:stretch>
            <a:fillRect/>
          </a:stretch>
        </p:blipFill>
        <p:spPr>
          <a:xfrm>
            <a:off x="9303488" y="3560448"/>
            <a:ext cx="128699" cy="187198"/>
          </a:xfrm>
          <a:prstGeom prst="rect">
            <a:avLst/>
          </a:prstGeom>
        </p:spPr>
      </p:pic>
      <p:pic>
        <p:nvPicPr>
          <p:cNvPr id="400" name="Picture 399" descr="lock.png"/>
          <p:cNvPicPr>
            <a:picLocks noChangeAspect="1"/>
          </p:cNvPicPr>
          <p:nvPr/>
        </p:nvPicPr>
        <p:blipFill>
          <a:blip r:embed="rId4"/>
          <a:stretch>
            <a:fillRect/>
          </a:stretch>
        </p:blipFill>
        <p:spPr>
          <a:xfrm>
            <a:off x="10379813" y="2702524"/>
            <a:ext cx="128699" cy="187198"/>
          </a:xfrm>
          <a:prstGeom prst="rect">
            <a:avLst/>
          </a:prstGeom>
        </p:spPr>
      </p:pic>
      <p:pic>
        <p:nvPicPr>
          <p:cNvPr id="401" name="Picture 400" descr="lock.png"/>
          <p:cNvPicPr>
            <a:picLocks noChangeAspect="1"/>
          </p:cNvPicPr>
          <p:nvPr/>
        </p:nvPicPr>
        <p:blipFill>
          <a:blip r:embed="rId4"/>
          <a:stretch>
            <a:fillRect/>
          </a:stretch>
        </p:blipFill>
        <p:spPr>
          <a:xfrm>
            <a:off x="10379813" y="3031091"/>
            <a:ext cx="128699" cy="187198"/>
          </a:xfrm>
          <a:prstGeom prst="rect">
            <a:avLst/>
          </a:prstGeom>
        </p:spPr>
      </p:pic>
      <p:pic>
        <p:nvPicPr>
          <p:cNvPr id="402" name="Picture 401" descr="lock.png"/>
          <p:cNvPicPr>
            <a:picLocks noChangeAspect="1"/>
          </p:cNvPicPr>
          <p:nvPr/>
        </p:nvPicPr>
        <p:blipFill>
          <a:blip r:embed="rId4"/>
          <a:stretch>
            <a:fillRect/>
          </a:stretch>
        </p:blipFill>
        <p:spPr>
          <a:xfrm>
            <a:off x="10379812" y="3560448"/>
            <a:ext cx="128699" cy="187198"/>
          </a:xfrm>
          <a:prstGeom prst="rect">
            <a:avLst/>
          </a:prstGeom>
        </p:spPr>
      </p:pic>
      <p:pic>
        <p:nvPicPr>
          <p:cNvPr id="403" name="Picture 402" descr="lock.png"/>
          <p:cNvPicPr>
            <a:picLocks noChangeAspect="1"/>
          </p:cNvPicPr>
          <p:nvPr/>
        </p:nvPicPr>
        <p:blipFill>
          <a:blip r:embed="rId4"/>
          <a:stretch>
            <a:fillRect/>
          </a:stretch>
        </p:blipFill>
        <p:spPr>
          <a:xfrm>
            <a:off x="11456138" y="2702524"/>
            <a:ext cx="128699" cy="187198"/>
          </a:xfrm>
          <a:prstGeom prst="rect">
            <a:avLst/>
          </a:prstGeom>
        </p:spPr>
      </p:pic>
      <p:pic>
        <p:nvPicPr>
          <p:cNvPr id="404" name="Picture 403" descr="lock.png"/>
          <p:cNvPicPr>
            <a:picLocks noChangeAspect="1"/>
          </p:cNvPicPr>
          <p:nvPr/>
        </p:nvPicPr>
        <p:blipFill>
          <a:blip r:embed="rId4"/>
          <a:stretch>
            <a:fillRect/>
          </a:stretch>
        </p:blipFill>
        <p:spPr>
          <a:xfrm>
            <a:off x="11456138" y="3031091"/>
            <a:ext cx="128699" cy="187198"/>
          </a:xfrm>
          <a:prstGeom prst="rect">
            <a:avLst/>
          </a:prstGeom>
        </p:spPr>
      </p:pic>
      <p:pic>
        <p:nvPicPr>
          <p:cNvPr id="405" name="Picture 404" descr="lock.png"/>
          <p:cNvPicPr>
            <a:picLocks noChangeAspect="1"/>
          </p:cNvPicPr>
          <p:nvPr/>
        </p:nvPicPr>
        <p:blipFill>
          <a:blip r:embed="rId4"/>
          <a:stretch>
            <a:fillRect/>
          </a:stretch>
        </p:blipFill>
        <p:spPr>
          <a:xfrm>
            <a:off x="11456138" y="3560448"/>
            <a:ext cx="128699" cy="187198"/>
          </a:xfrm>
          <a:prstGeom prst="rect">
            <a:avLst/>
          </a:prstGeom>
        </p:spPr>
      </p:pic>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Market Share by Leading Players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Advice for Vendors &amp; Suppliers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Value Share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Who Shaped Growth</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Advice for Market Vendors / Suppliers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Strategic advice for vendors and suppliers on pricing, product, geography, channel and competitive risk</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Strategic advice for vendors and suppliers where to compete, how to price, and which risks to manage across the Ear Wax Removal Products Market.</a:t>
            </a:r>
          </a:p>
        </p:txBody>
      </p:sp>
      <p:sp>
        <p:nvSpPr>
          <p:cNvPr id="11" name="Rounded Rectangle 10"/>
          <p:cNvSpPr/>
          <p:nvPr/>
        </p:nvSpPr>
        <p:spPr>
          <a:xfrm>
            <a:off x="142875" y="1354081"/>
            <a:ext cx="5857875"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1439806"/>
            <a:ext cx="5591175" cy="209550"/>
          </a:xfrm>
          <a:prstGeom prst="rect">
            <a:avLst/>
          </a:prstGeom>
          <a:noFill/>
        </p:spPr>
        <p:txBody>
          <a:bodyPr wrap="square" lIns="0" rIns="19050" tIns="9525" bIns="9525">
            <a:spAutoFit/>
          </a:bodyPr>
          <a:lstStyle/>
          <a:p>
            <a:pPr algn="l"/>
            <a:r>
              <a:rPr sz="1300" b="1">
                <a:solidFill>
                  <a:srgbClr val="0B2E4A"/>
                </a:solidFill>
                <a:latin typeface="Calibri"/>
              </a:rPr>
              <a:t>Pricing &amp; Margin Strategy</a:t>
            </a:r>
          </a:p>
        </p:txBody>
      </p:sp>
      <p:sp>
        <p:nvSpPr>
          <p:cNvPr id="13" name="Rectangle 12"/>
          <p:cNvSpPr/>
          <p:nvPr/>
        </p:nvSpPr>
        <p:spPr>
          <a:xfrm>
            <a:off x="276225" y="1677931"/>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5" name="Rounded Rectangle 14"/>
          <p:cNvSpPr/>
          <p:nvPr/>
        </p:nvSpPr>
        <p:spPr>
          <a:xfrm>
            <a:off x="6191250" y="1354081"/>
            <a:ext cx="5857875"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4600" y="1439806"/>
            <a:ext cx="5591175" cy="209550"/>
          </a:xfrm>
          <a:prstGeom prst="rect">
            <a:avLst/>
          </a:prstGeom>
          <a:noFill/>
        </p:spPr>
        <p:txBody>
          <a:bodyPr wrap="square" lIns="0" rIns="19050" tIns="9525" bIns="9525">
            <a:spAutoFit/>
          </a:bodyPr>
          <a:lstStyle/>
          <a:p>
            <a:pPr algn="l"/>
            <a:r>
              <a:rPr sz="1300" b="1">
                <a:solidFill>
                  <a:srgbClr val="0B2E4A"/>
                </a:solidFill>
                <a:latin typeface="Calibri"/>
              </a:rPr>
              <a:t>Product &amp; Innovation</a:t>
            </a:r>
          </a:p>
        </p:txBody>
      </p:sp>
      <p:sp>
        <p:nvSpPr>
          <p:cNvPr id="17" name="Rectangle 16"/>
          <p:cNvSpPr/>
          <p:nvPr/>
        </p:nvSpPr>
        <p:spPr>
          <a:xfrm>
            <a:off x="6324600" y="1677931"/>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4600"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Rounded Rectangle 18"/>
          <p:cNvSpPr/>
          <p:nvPr/>
        </p:nvSpPr>
        <p:spPr>
          <a:xfrm>
            <a:off x="142875" y="4046502"/>
            <a:ext cx="5857875" cy="2509883"/>
          </a:xfrm>
          <a:prstGeom prst="roundRect">
            <a:avLst>
              <a:gd name="adj" fmla="val 30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132227"/>
            <a:ext cx="5591175" cy="209550"/>
          </a:xfrm>
          <a:prstGeom prst="rect">
            <a:avLst/>
          </a:prstGeom>
          <a:noFill/>
        </p:spPr>
        <p:txBody>
          <a:bodyPr wrap="square" lIns="0" rIns="19050" tIns="9525" bIns="9525">
            <a:spAutoFit/>
          </a:bodyPr>
          <a:lstStyle/>
          <a:p>
            <a:pPr algn="l"/>
            <a:r>
              <a:rPr sz="1300" b="1">
                <a:solidFill>
                  <a:srgbClr val="0B2E4A"/>
                </a:solidFill>
                <a:latin typeface="Calibri"/>
              </a:rPr>
              <a:t>Geographic &amp; Channel Expansion</a:t>
            </a:r>
          </a:p>
        </p:txBody>
      </p:sp>
      <p:sp>
        <p:nvSpPr>
          <p:cNvPr id="21" name="Rectangle 20"/>
          <p:cNvSpPr/>
          <p:nvPr/>
        </p:nvSpPr>
        <p:spPr>
          <a:xfrm>
            <a:off x="276225" y="4370352"/>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Expand selectively into under-penetrated regions where the leaders are thin, rather than head-on in saturated markets.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Balance retail, hospital/clinic and online channels online is the fastest-shifting route to end customers.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Build reliable distribution and logistics partnerships to convert demand into fulfilled volume.</a:t>
            </a:r>
          </a:p>
        </p:txBody>
      </p:sp>
      <p:sp>
        <p:nvSpPr>
          <p:cNvPr id="23" name="Rounded Rectangle 22"/>
          <p:cNvSpPr/>
          <p:nvPr/>
        </p:nvSpPr>
        <p:spPr>
          <a:xfrm>
            <a:off x="6191250" y="4046502"/>
            <a:ext cx="5857875" cy="2509883"/>
          </a:xfrm>
          <a:prstGeom prst="roundRect">
            <a:avLst>
              <a:gd name="adj" fmla="val 30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4600" y="4132227"/>
            <a:ext cx="5591175" cy="209550"/>
          </a:xfrm>
          <a:prstGeom prst="rect">
            <a:avLst/>
          </a:prstGeom>
          <a:noFill/>
        </p:spPr>
        <p:txBody>
          <a:bodyPr wrap="square" lIns="0" rIns="19050" tIns="9525" bIns="9525">
            <a:spAutoFit/>
          </a:bodyPr>
          <a:lstStyle/>
          <a:p>
            <a:pPr algn="l"/>
            <a:r>
              <a:rPr sz="1300" b="1">
                <a:solidFill>
                  <a:srgbClr val="0B2E4A"/>
                </a:solidFill>
                <a:latin typeface="Calibri"/>
              </a:rPr>
              <a:t>Competitive &amp; Risk Positioning</a:t>
            </a:r>
          </a:p>
        </p:txBody>
      </p:sp>
      <p:sp>
        <p:nvSpPr>
          <p:cNvPr id="25" name="Rectangle 24"/>
          <p:cNvSpPr/>
          <p:nvPr/>
        </p:nvSpPr>
        <p:spPr>
          <a:xfrm>
            <a:off x="6324600" y="4370352"/>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24600"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8" name="TextBox 27"/>
          <p:cNvSpPr txBox="1"/>
          <p:nvPr/>
        </p:nvSpPr>
        <p:spPr>
          <a:xfrm>
            <a:off x="276225" y="1773181"/>
            <a:ext cx="3235387" cy="194310"/>
          </a:xfrm>
          <a:prstGeom prst="rect">
            <a:avLst/>
          </a:prstGeom>
          <a:noFill/>
        </p:spPr>
        <p:txBody>
          <a:bodyPr wrap="none" lIns="0" rIns="0" tIns="0" bIns="0">
            <a:spAutoFit/>
          </a:bodyPr>
          <a:lstStyle/>
          <a:p>
            <a:r>
              <a:rPr sz="1150" b="0">
                <a:solidFill>
                  <a:srgbClr val="2E2E2E"/>
                </a:solidFill>
                <a:latin typeface="Calibri"/>
              </a:rPr>
              <a:t>▪ Hold price discipline: with the top three players at ~</a:t>
            </a:r>
          </a:p>
        </p:txBody>
      </p:sp>
      <p:pic>
        <p:nvPicPr>
          <p:cNvPr id="29" name="Picture 28" descr="lock.png"/>
          <p:cNvPicPr>
            <a:picLocks noChangeAspect="1"/>
          </p:cNvPicPr>
          <p:nvPr/>
        </p:nvPicPr>
        <p:blipFill>
          <a:blip r:embed="rId4"/>
          <a:stretch>
            <a:fillRect/>
          </a:stretch>
        </p:blipFill>
        <p:spPr>
          <a:xfrm>
            <a:off x="3460765" y="1762957"/>
            <a:ext cx="134549" cy="195707"/>
          </a:xfrm>
          <a:prstGeom prst="rect">
            <a:avLst/>
          </a:prstGeom>
        </p:spPr>
      </p:pic>
      <p:sp>
        <p:nvSpPr>
          <p:cNvPr id="30" name="TextBox 29"/>
          <p:cNvSpPr txBox="1"/>
          <p:nvPr/>
        </p:nvSpPr>
        <p:spPr>
          <a:xfrm>
            <a:off x="3635875" y="1773181"/>
            <a:ext cx="1859892" cy="194310"/>
          </a:xfrm>
          <a:prstGeom prst="rect">
            <a:avLst/>
          </a:prstGeom>
          <a:noFill/>
        </p:spPr>
        <p:txBody>
          <a:bodyPr wrap="none" lIns="0" rIns="0" tIns="0" bIns="0">
            <a:spAutoFit/>
          </a:bodyPr>
          <a:lstStyle/>
          <a:p>
            <a:r>
              <a:rPr sz="1150" b="0">
                <a:solidFill>
                  <a:srgbClr val="2E2E2E"/>
                </a:solidFill>
                <a:latin typeface="Calibri"/>
              </a:rPr>
              <a:t>share, avoid value-destructive</a:t>
            </a:r>
          </a:p>
        </p:txBody>
      </p:sp>
      <p:sp>
        <p:nvSpPr>
          <p:cNvPr id="31" name="TextBox 30"/>
          <p:cNvSpPr txBox="1"/>
          <p:nvPr/>
        </p:nvSpPr>
        <p:spPr>
          <a:xfrm>
            <a:off x="276225" y="1948441"/>
            <a:ext cx="3646723" cy="194310"/>
          </a:xfrm>
          <a:prstGeom prst="rect">
            <a:avLst/>
          </a:prstGeom>
          <a:noFill/>
        </p:spPr>
        <p:txBody>
          <a:bodyPr wrap="none" lIns="0" rIns="0" tIns="0" bIns="0">
            <a:spAutoFit/>
          </a:bodyPr>
          <a:lstStyle/>
          <a:p>
            <a:r>
              <a:rPr sz="1150" b="0">
                <a:solidFill>
                  <a:srgbClr val="2E2E2E"/>
                </a:solidFill>
                <a:latin typeface="Calibri"/>
              </a:rPr>
              <a:t>discounting compete on mix and service, not headline price.</a:t>
            </a:r>
          </a:p>
        </p:txBody>
      </p:sp>
      <p:sp>
        <p:nvSpPr>
          <p:cNvPr id="32" name="TextBox 31"/>
          <p:cNvSpPr txBox="1"/>
          <p:nvPr/>
        </p:nvSpPr>
        <p:spPr>
          <a:xfrm>
            <a:off x="276225" y="2176279"/>
            <a:ext cx="5505437" cy="194310"/>
          </a:xfrm>
          <a:prstGeom prst="rect">
            <a:avLst/>
          </a:prstGeom>
          <a:noFill/>
        </p:spPr>
        <p:txBody>
          <a:bodyPr wrap="none" lIns="0" rIns="0" tIns="0" bIns="0">
            <a:spAutoFit/>
          </a:bodyPr>
          <a:lstStyle/>
          <a:p>
            <a:r>
              <a:rPr sz="1150" b="0">
                <a:solidFill>
                  <a:srgbClr val="2E2E2E"/>
                </a:solidFill>
                <a:latin typeface="Calibri"/>
              </a:rPr>
              <a:t>▪ Premiumise toward higher-value formulations (e.g. 'Irrigation Devices and Accessories') to</a:t>
            </a:r>
          </a:p>
        </p:txBody>
      </p:sp>
      <p:sp>
        <p:nvSpPr>
          <p:cNvPr id="33" name="TextBox 32"/>
          <p:cNvSpPr txBox="1"/>
          <p:nvPr/>
        </p:nvSpPr>
        <p:spPr>
          <a:xfrm>
            <a:off x="276225" y="2351539"/>
            <a:ext cx="3419375" cy="194310"/>
          </a:xfrm>
          <a:prstGeom prst="rect">
            <a:avLst/>
          </a:prstGeom>
          <a:noFill/>
        </p:spPr>
        <p:txBody>
          <a:bodyPr wrap="none" lIns="0" rIns="0" tIns="0" bIns="0">
            <a:spAutoFit/>
          </a:bodyPr>
          <a:lstStyle/>
          <a:p>
            <a:r>
              <a:rPr sz="1150" b="0">
                <a:solidFill>
                  <a:srgbClr val="2E2E2E"/>
                </a:solidFill>
                <a:latin typeface="Calibri"/>
              </a:rPr>
              <a:t>lift blended ASP and defend margin as input costs move.</a:t>
            </a:r>
          </a:p>
        </p:txBody>
      </p:sp>
      <p:sp>
        <p:nvSpPr>
          <p:cNvPr id="34" name="TextBox 33"/>
          <p:cNvSpPr txBox="1"/>
          <p:nvPr/>
        </p:nvSpPr>
        <p:spPr>
          <a:xfrm>
            <a:off x="276225" y="2579377"/>
            <a:ext cx="4816264" cy="194310"/>
          </a:xfrm>
          <a:prstGeom prst="rect">
            <a:avLst/>
          </a:prstGeom>
          <a:noFill/>
        </p:spPr>
        <p:txBody>
          <a:bodyPr wrap="none" lIns="0" rIns="0" tIns="0" bIns="0">
            <a:spAutoFit/>
          </a:bodyPr>
          <a:lstStyle/>
          <a:p>
            <a:r>
              <a:rPr sz="1150" b="0">
                <a:solidFill>
                  <a:srgbClr val="2E2E2E"/>
                </a:solidFill>
                <a:latin typeface="Calibri"/>
              </a:rPr>
              <a:t>▪ Set transparent, corridor-based regional pricing to limit grey-market arbitrage.</a:t>
            </a:r>
          </a:p>
        </p:txBody>
      </p:sp>
      <p:sp>
        <p:nvSpPr>
          <p:cNvPr id="35" name="TextBox 34"/>
          <p:cNvSpPr txBox="1"/>
          <p:nvPr/>
        </p:nvSpPr>
        <p:spPr>
          <a:xfrm>
            <a:off x="6324600" y="1773181"/>
            <a:ext cx="5495453" cy="194310"/>
          </a:xfrm>
          <a:prstGeom prst="rect">
            <a:avLst/>
          </a:prstGeom>
          <a:noFill/>
        </p:spPr>
        <p:txBody>
          <a:bodyPr wrap="none" lIns="0" rIns="0" tIns="0" bIns="0">
            <a:spAutoFit/>
          </a:bodyPr>
          <a:lstStyle/>
          <a:p>
            <a:r>
              <a:rPr sz="1150" b="0">
                <a:solidFill>
                  <a:srgbClr val="2E2E2E"/>
                </a:solidFill>
                <a:latin typeface="Calibri"/>
              </a:rPr>
              <a:t>▪ Prioritise R&amp;D in the fastest-growing formulations a differentiated portfolio is the clearest</a:t>
            </a:r>
          </a:p>
        </p:txBody>
      </p:sp>
      <p:sp>
        <p:nvSpPr>
          <p:cNvPr id="36" name="TextBox 35"/>
          <p:cNvSpPr txBox="1"/>
          <p:nvPr/>
        </p:nvSpPr>
        <p:spPr>
          <a:xfrm>
            <a:off x="6324600" y="1948441"/>
            <a:ext cx="1660500" cy="194310"/>
          </a:xfrm>
          <a:prstGeom prst="rect">
            <a:avLst/>
          </a:prstGeom>
          <a:noFill/>
        </p:spPr>
        <p:txBody>
          <a:bodyPr wrap="none" lIns="0" rIns="0" tIns="0" bIns="0">
            <a:spAutoFit/>
          </a:bodyPr>
          <a:lstStyle/>
          <a:p>
            <a:r>
              <a:rPr sz="1150" b="0">
                <a:solidFill>
                  <a:srgbClr val="2E2E2E"/>
                </a:solidFill>
                <a:latin typeface="Calibri"/>
              </a:rPr>
              <a:t>route to out-growing the ~</a:t>
            </a:r>
          </a:p>
        </p:txBody>
      </p:sp>
      <p:pic>
        <p:nvPicPr>
          <p:cNvPr id="37" name="Picture 36" descr="lock.png"/>
          <p:cNvPicPr>
            <a:picLocks noChangeAspect="1"/>
          </p:cNvPicPr>
          <p:nvPr/>
        </p:nvPicPr>
        <p:blipFill>
          <a:blip r:embed="rId4"/>
          <a:stretch>
            <a:fillRect/>
          </a:stretch>
        </p:blipFill>
        <p:spPr>
          <a:xfrm>
            <a:off x="7934254" y="1938217"/>
            <a:ext cx="134549" cy="195707"/>
          </a:xfrm>
          <a:prstGeom prst="rect">
            <a:avLst/>
          </a:prstGeom>
        </p:spPr>
      </p:pic>
      <p:sp>
        <p:nvSpPr>
          <p:cNvPr id="38" name="TextBox 37"/>
          <p:cNvSpPr txBox="1"/>
          <p:nvPr/>
        </p:nvSpPr>
        <p:spPr>
          <a:xfrm>
            <a:off x="8109363" y="1948441"/>
            <a:ext cx="905700" cy="194310"/>
          </a:xfrm>
          <a:prstGeom prst="rect">
            <a:avLst/>
          </a:prstGeom>
          <a:noFill/>
        </p:spPr>
        <p:txBody>
          <a:bodyPr wrap="none" lIns="0" rIns="0" tIns="0" bIns="0">
            <a:spAutoFit/>
          </a:bodyPr>
          <a:lstStyle/>
          <a:p>
            <a:r>
              <a:rPr sz="1150" b="0">
                <a:solidFill>
                  <a:srgbClr val="2E2E2E"/>
                </a:solidFill>
                <a:latin typeface="Calibri"/>
              </a:rPr>
              <a:t>market CAGR.</a:t>
            </a:r>
          </a:p>
        </p:txBody>
      </p:sp>
      <p:sp>
        <p:nvSpPr>
          <p:cNvPr id="39" name="TextBox 38"/>
          <p:cNvSpPr txBox="1"/>
          <p:nvPr/>
        </p:nvSpPr>
        <p:spPr>
          <a:xfrm>
            <a:off x="6324600" y="2176279"/>
            <a:ext cx="5383919" cy="194310"/>
          </a:xfrm>
          <a:prstGeom prst="rect">
            <a:avLst/>
          </a:prstGeom>
          <a:noFill/>
        </p:spPr>
        <p:txBody>
          <a:bodyPr wrap="none" lIns="0" rIns="0" tIns="0" bIns="0">
            <a:spAutoFit/>
          </a:bodyPr>
          <a:lstStyle/>
          <a:p>
            <a:r>
              <a:rPr sz="1150" b="0">
                <a:solidFill>
                  <a:srgbClr val="2E2E2E"/>
                </a:solidFill>
                <a:latin typeface="Calibri"/>
              </a:rPr>
              <a:t>▪ Pursue certification and clinical validation to build switching costs and support premium</a:t>
            </a:r>
          </a:p>
        </p:txBody>
      </p:sp>
      <p:sp>
        <p:nvSpPr>
          <p:cNvPr id="40" name="TextBox 39"/>
          <p:cNvSpPr txBox="1"/>
          <p:nvPr/>
        </p:nvSpPr>
        <p:spPr>
          <a:xfrm>
            <a:off x="6324600" y="2351539"/>
            <a:ext cx="773075" cy="194310"/>
          </a:xfrm>
          <a:prstGeom prst="rect">
            <a:avLst/>
          </a:prstGeom>
          <a:noFill/>
        </p:spPr>
        <p:txBody>
          <a:bodyPr wrap="none" lIns="0" rIns="0" tIns="0" bIns="0">
            <a:spAutoFit/>
          </a:bodyPr>
          <a:lstStyle/>
          <a:p>
            <a:r>
              <a:rPr sz="1150" b="0">
                <a:solidFill>
                  <a:srgbClr val="2E2E2E"/>
                </a:solidFill>
                <a:latin typeface="Calibri"/>
              </a:rPr>
              <a:t>positioning.</a:t>
            </a:r>
          </a:p>
        </p:txBody>
      </p:sp>
      <p:sp>
        <p:nvSpPr>
          <p:cNvPr id="41" name="TextBox 40"/>
          <p:cNvSpPr txBox="1"/>
          <p:nvPr/>
        </p:nvSpPr>
        <p:spPr>
          <a:xfrm>
            <a:off x="6324600" y="2579377"/>
            <a:ext cx="3931406" cy="194310"/>
          </a:xfrm>
          <a:prstGeom prst="rect">
            <a:avLst/>
          </a:prstGeom>
          <a:noFill/>
        </p:spPr>
        <p:txBody>
          <a:bodyPr wrap="none" lIns="0" rIns="0" tIns="0" bIns="0">
            <a:spAutoFit/>
          </a:bodyPr>
          <a:lstStyle/>
          <a:p>
            <a:r>
              <a:rPr sz="1150" b="0">
                <a:solidFill>
                  <a:srgbClr val="2E2E2E"/>
                </a:solidFill>
                <a:latin typeface="Calibri"/>
              </a:rPr>
              <a:t>▪ Localise formats and pack sizes to each channel and geography.</a:t>
            </a:r>
          </a:p>
        </p:txBody>
      </p:sp>
      <p:sp>
        <p:nvSpPr>
          <p:cNvPr id="42" name="TextBox 41"/>
          <p:cNvSpPr txBox="1"/>
          <p:nvPr/>
        </p:nvSpPr>
        <p:spPr>
          <a:xfrm>
            <a:off x="6324600" y="4465602"/>
            <a:ext cx="4049216" cy="194310"/>
          </a:xfrm>
          <a:prstGeom prst="rect">
            <a:avLst/>
          </a:prstGeom>
          <a:noFill/>
        </p:spPr>
        <p:txBody>
          <a:bodyPr wrap="none" lIns="0" rIns="0" tIns="0" bIns="0">
            <a:spAutoFit/>
          </a:bodyPr>
          <a:lstStyle/>
          <a:p>
            <a:r>
              <a:rPr sz="1150" b="0">
                <a:solidFill>
                  <a:srgbClr val="2E2E2E"/>
                </a:solidFill>
                <a:latin typeface="Calibri"/>
              </a:rPr>
              <a:t>▪ Benchmark relentlessly against 'Prestige Consumer Healthcare' (~</a:t>
            </a:r>
          </a:p>
        </p:txBody>
      </p:sp>
      <p:pic>
        <p:nvPicPr>
          <p:cNvPr id="43" name="Picture 42" descr="lock.png"/>
          <p:cNvPicPr>
            <a:picLocks noChangeAspect="1"/>
          </p:cNvPicPr>
          <p:nvPr/>
        </p:nvPicPr>
        <p:blipFill>
          <a:blip r:embed="rId4"/>
          <a:stretch>
            <a:fillRect/>
          </a:stretch>
        </p:blipFill>
        <p:spPr>
          <a:xfrm>
            <a:off x="10322970" y="4455378"/>
            <a:ext cx="134549" cy="195707"/>
          </a:xfrm>
          <a:prstGeom prst="rect">
            <a:avLst/>
          </a:prstGeom>
        </p:spPr>
      </p:pic>
      <p:sp>
        <p:nvSpPr>
          <p:cNvPr id="44" name="TextBox 43"/>
          <p:cNvSpPr txBox="1"/>
          <p:nvPr/>
        </p:nvSpPr>
        <p:spPr>
          <a:xfrm>
            <a:off x="10498079" y="4465602"/>
            <a:ext cx="1042069" cy="194310"/>
          </a:xfrm>
          <a:prstGeom prst="rect">
            <a:avLst/>
          </a:prstGeom>
          <a:noFill/>
        </p:spPr>
        <p:txBody>
          <a:bodyPr wrap="none" lIns="0" rIns="0" tIns="0" bIns="0">
            <a:spAutoFit/>
          </a:bodyPr>
          <a:lstStyle/>
          <a:p>
            <a:r>
              <a:rPr sz="1150" b="0">
                <a:solidFill>
                  <a:srgbClr val="2E2E2E"/>
                </a:solidFill>
                <a:latin typeface="Calibri"/>
              </a:rPr>
              <a:t>share) match on</a:t>
            </a:r>
          </a:p>
        </p:txBody>
      </p:sp>
      <p:sp>
        <p:nvSpPr>
          <p:cNvPr id="45" name="TextBox 44"/>
          <p:cNvSpPr txBox="1"/>
          <p:nvPr/>
        </p:nvSpPr>
        <p:spPr>
          <a:xfrm>
            <a:off x="6324600" y="4640861"/>
            <a:ext cx="2737904" cy="194310"/>
          </a:xfrm>
          <a:prstGeom prst="rect">
            <a:avLst/>
          </a:prstGeom>
          <a:noFill/>
        </p:spPr>
        <p:txBody>
          <a:bodyPr wrap="none" lIns="0" rIns="0" tIns="0" bIns="0">
            <a:spAutoFit/>
          </a:bodyPr>
          <a:lstStyle/>
          <a:p>
            <a:r>
              <a:rPr sz="1150" b="0">
                <a:solidFill>
                  <a:srgbClr val="2E2E2E"/>
                </a:solidFill>
                <a:latin typeface="Calibri"/>
              </a:rPr>
              <a:t>service and lead on innovation to take share.</a:t>
            </a:r>
          </a:p>
        </p:txBody>
      </p:sp>
      <p:sp>
        <p:nvSpPr>
          <p:cNvPr id="46" name="TextBox 45"/>
          <p:cNvSpPr txBox="1"/>
          <p:nvPr/>
        </p:nvSpPr>
        <p:spPr>
          <a:xfrm>
            <a:off x="6324600" y="4868699"/>
            <a:ext cx="5455518" cy="194310"/>
          </a:xfrm>
          <a:prstGeom prst="rect">
            <a:avLst/>
          </a:prstGeom>
          <a:noFill/>
        </p:spPr>
        <p:txBody>
          <a:bodyPr wrap="none" lIns="0" rIns="0" tIns="0" bIns="0">
            <a:spAutoFit/>
          </a:bodyPr>
          <a:lstStyle/>
          <a:p>
            <a:r>
              <a:rPr sz="1150" b="0">
                <a:solidFill>
                  <a:srgbClr val="2E2E2E"/>
                </a:solidFill>
                <a:latin typeface="Calibri"/>
              </a:rPr>
              <a:t>▪ Diversify the customer base to cut dependence on a few large accounts and single-region</a:t>
            </a:r>
          </a:p>
        </p:txBody>
      </p:sp>
      <p:sp>
        <p:nvSpPr>
          <p:cNvPr id="47" name="TextBox 46"/>
          <p:cNvSpPr txBox="1"/>
          <p:nvPr/>
        </p:nvSpPr>
        <p:spPr>
          <a:xfrm>
            <a:off x="6324600" y="5043959"/>
            <a:ext cx="660400" cy="194310"/>
          </a:xfrm>
          <a:prstGeom prst="rect">
            <a:avLst/>
          </a:prstGeom>
          <a:noFill/>
        </p:spPr>
        <p:txBody>
          <a:bodyPr wrap="none" lIns="0" rIns="0" tIns="0" bIns="0">
            <a:spAutoFit/>
          </a:bodyPr>
          <a:lstStyle/>
          <a:p>
            <a:r>
              <a:rPr sz="1150" b="0">
                <a:solidFill>
                  <a:srgbClr val="2E2E2E"/>
                </a:solidFill>
                <a:latin typeface="Calibri"/>
              </a:rPr>
              <a:t>exposure.</a:t>
            </a:r>
          </a:p>
        </p:txBody>
      </p:sp>
      <p:sp>
        <p:nvSpPr>
          <p:cNvPr id="48" name="TextBox 47"/>
          <p:cNvSpPr txBox="1"/>
          <p:nvPr/>
        </p:nvSpPr>
        <p:spPr>
          <a:xfrm>
            <a:off x="6324600" y="5271797"/>
            <a:ext cx="5230167" cy="194310"/>
          </a:xfrm>
          <a:prstGeom prst="rect">
            <a:avLst/>
          </a:prstGeom>
          <a:noFill/>
        </p:spPr>
        <p:txBody>
          <a:bodyPr wrap="none" lIns="0" rIns="0" tIns="0" bIns="0">
            <a:spAutoFit/>
          </a:bodyPr>
          <a:lstStyle/>
          <a:p>
            <a:r>
              <a:rPr sz="1150" b="0">
                <a:solidFill>
                  <a:srgbClr val="2E2E2E"/>
                </a:solidFill>
                <a:latin typeface="Calibri"/>
              </a:rPr>
              <a:t>▪ Stress-test for regulatory, currency and supply shocks; keep flexible capacity and dual</a:t>
            </a:r>
          </a:p>
        </p:txBody>
      </p:sp>
      <p:sp>
        <p:nvSpPr>
          <p:cNvPr id="49" name="TextBox 48"/>
          <p:cNvSpPr txBox="1"/>
          <p:nvPr/>
        </p:nvSpPr>
        <p:spPr>
          <a:xfrm>
            <a:off x="6324600" y="5447057"/>
            <a:ext cx="615900" cy="194310"/>
          </a:xfrm>
          <a:prstGeom prst="rect">
            <a:avLst/>
          </a:prstGeom>
          <a:noFill/>
        </p:spPr>
        <p:txBody>
          <a:bodyPr wrap="none" lIns="0" rIns="0" tIns="0" bIns="0">
            <a:spAutoFit/>
          </a:bodyPr>
          <a:lstStyle/>
          <a:p>
            <a:r>
              <a:rPr sz="1150" b="0">
                <a:solidFill>
                  <a:srgbClr val="2E2E2E"/>
                </a:solidFill>
                <a:latin typeface="Calibri"/>
              </a:rPr>
              <a:t>sourcing.</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Company Value Share (Global)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company in the global market, 2025, highlighting leadership and the long tail</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Target market value share by key companies leadership, concentration and how the competitive mix shifts by region.</a:t>
            </a:r>
          </a:p>
        </p:txBody>
      </p:sp>
      <p:sp>
        <p:nvSpPr>
          <p:cNvPr id="11" name="Rounded Rectangle 10"/>
          <p:cNvSpPr/>
          <p:nvPr/>
        </p:nvSpPr>
        <p:spPr>
          <a:xfrm>
            <a:off x="142875" y="1354081"/>
            <a:ext cx="754380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7353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by Key Company (US$ Mn, 2026)</a:t>
            </a:r>
          </a:p>
        </p:txBody>
      </p:sp>
      <p:graphicFrame>
        <p:nvGraphicFramePr>
          <p:cNvPr id="13" name="Chart 12"/>
          <p:cNvGraphicFramePr>
            <a:graphicFrameLocks noGrp="1"/>
          </p:cNvGraphicFramePr>
          <p:nvPr/>
        </p:nvGraphicFramePr>
        <p:xfrm>
          <a:off x="238125" y="1639831"/>
          <a:ext cx="7353300" cy="4877658"/>
        </p:xfrm>
        <a:graphic>
          <a:graphicData uri="http://schemas.openxmlformats.org/drawingml/2006/chart">
            <c:chart xmlns:c="http://schemas.openxmlformats.org/drawingml/2006/chart" r:id="rId3"/>
          </a:graphicData>
        </a:graphic>
      </p:graphicFrame>
      <p:sp>
        <p:nvSpPr>
          <p:cNvPr id="14" name="TextBox 13"/>
          <p:cNvSpPr txBox="1"/>
          <p:nvPr/>
        </p:nvSpPr>
        <p:spPr>
          <a:xfrm>
            <a:off x="2049780" y="3878635"/>
            <a:ext cx="1524000" cy="400050"/>
          </a:xfrm>
          <a:prstGeom prst="rect">
            <a:avLst/>
          </a:prstGeom>
          <a:noFill/>
        </p:spPr>
        <p:txBody>
          <a:bodyPr wrap="square" lIns="28575" rIns="28575" tIns="9525" bIns="9525" anchor="ctr">
            <a:spAutoFit/>
          </a:bodyPr>
          <a:lstStyle/>
          <a:p>
            <a:pPr algn="ctr"/>
            <a:r>
              <a:rPr sz="1300" b="1">
                <a:solidFill>
                  <a:srgbClr val="2E2E2E"/>
                </a:solidFill>
                <a:latin typeface="Calibri"/>
              </a:rPr>
              <a:t/>
            </a:r>
          </a:p>
          <a:p>
            <a:pPr algn="ctr"/>
            <a:r>
              <a:rPr sz="1300" b="1">
                <a:solidFill>
                  <a:srgbClr val="2E2E2E"/>
                </a:solidFill>
                <a:latin typeface="Calibri"/>
              </a:rPr>
              <a:t/>
            </a:r>
          </a:p>
        </p:txBody>
      </p:sp>
      <p:sp>
        <p:nvSpPr>
          <p:cNvPr id="15" name="Rounded Rectangle 14"/>
          <p:cNvSpPr/>
          <p:nvPr/>
        </p:nvSpPr>
        <p:spPr>
          <a:xfrm>
            <a:off x="7800975" y="1354081"/>
            <a:ext cx="4248150" cy="5220558"/>
          </a:xfrm>
          <a:prstGeom prst="roundRect">
            <a:avLst>
              <a:gd name="adj" fmla="val 17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4325" y="1439806"/>
            <a:ext cx="39814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7" name="Rectangle 16"/>
          <p:cNvSpPr/>
          <p:nvPr/>
        </p:nvSpPr>
        <p:spPr>
          <a:xfrm>
            <a:off x="7934325" y="1677931"/>
            <a:ext cx="39814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34325" y="1763656"/>
            <a:ext cx="3981450" cy="4734783"/>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5"/>
          <a:stretch>
            <a:fillRect/>
          </a:stretch>
        </p:blipFill>
        <p:spPr>
          <a:xfrm>
            <a:off x="2533173" y="3678610"/>
            <a:ext cx="523875" cy="762000"/>
          </a:xfrm>
          <a:prstGeom prst="rect">
            <a:avLst/>
          </a:prstGeom>
        </p:spPr>
      </p:pic>
      <p:sp>
        <p:nvSpPr>
          <p:cNvPr id="21" name="TextBox 20"/>
          <p:cNvSpPr txBox="1"/>
          <p:nvPr/>
        </p:nvSpPr>
        <p:spPr>
          <a:xfrm>
            <a:off x="2634865" y="3914616"/>
            <a:ext cx="430029" cy="161696"/>
          </a:xfrm>
          <a:prstGeom prst="rect">
            <a:avLst/>
          </a:prstGeom>
          <a:noFill/>
        </p:spPr>
        <p:txBody>
          <a:bodyPr wrap="none" lIns="0" rIns="0" tIns="0" bIns="0">
            <a:spAutoFit/>
          </a:bodyPr>
          <a:lstStyle/>
          <a:p>
            <a:r>
              <a:rPr sz="935" b="1">
                <a:solidFill>
                  <a:srgbClr val="2E2E2E"/>
                </a:solidFill>
                <a:latin typeface="Calibri"/>
              </a:rPr>
              <a:t>100% =</a:t>
            </a:r>
          </a:p>
        </p:txBody>
      </p:sp>
      <p:pic>
        <p:nvPicPr>
          <p:cNvPr id="22" name="Picture 21" descr="lock.png"/>
          <p:cNvPicPr>
            <a:picLocks noChangeAspect="1"/>
          </p:cNvPicPr>
          <p:nvPr/>
        </p:nvPicPr>
        <p:blipFill>
          <a:blip r:embed="rId5"/>
          <a:stretch>
            <a:fillRect/>
          </a:stretch>
        </p:blipFill>
        <p:spPr>
          <a:xfrm>
            <a:off x="2540344" y="4091735"/>
            <a:ext cx="109510" cy="159288"/>
          </a:xfrm>
          <a:prstGeom prst="rect">
            <a:avLst/>
          </a:prstGeom>
        </p:spPr>
      </p:pic>
      <p:sp>
        <p:nvSpPr>
          <p:cNvPr id="23" name="TextBox 22"/>
          <p:cNvSpPr txBox="1"/>
          <p:nvPr/>
        </p:nvSpPr>
        <p:spPr>
          <a:xfrm>
            <a:off x="2682868" y="4100056"/>
            <a:ext cx="465087" cy="161696"/>
          </a:xfrm>
          <a:prstGeom prst="rect">
            <a:avLst/>
          </a:prstGeom>
          <a:noFill/>
        </p:spPr>
        <p:txBody>
          <a:bodyPr wrap="none" lIns="0" rIns="0" tIns="0" bIns="0">
            <a:spAutoFit/>
          </a:bodyPr>
          <a:lstStyle/>
          <a:p>
            <a:r>
              <a:rPr sz="935" b="1">
                <a:solidFill>
                  <a:srgbClr val="2E2E2E"/>
                </a:solidFill>
                <a:latin typeface="Calibri"/>
              </a:rPr>
              <a:t>US$ Mn</a:t>
            </a:r>
          </a:p>
        </p:txBody>
      </p:sp>
      <p:sp>
        <p:nvSpPr>
          <p:cNvPr id="24" name="TextBox 23"/>
          <p:cNvSpPr txBox="1"/>
          <p:nvPr/>
        </p:nvSpPr>
        <p:spPr>
          <a:xfrm>
            <a:off x="7934325" y="1773181"/>
            <a:ext cx="3921137" cy="194310"/>
          </a:xfrm>
          <a:prstGeom prst="rect">
            <a:avLst/>
          </a:prstGeom>
          <a:noFill/>
        </p:spPr>
        <p:txBody>
          <a:bodyPr wrap="none" lIns="0" rIns="0" tIns="0" bIns="0">
            <a:spAutoFit/>
          </a:bodyPr>
          <a:lstStyle/>
          <a:p>
            <a:r>
              <a:rPr sz="1150" b="0">
                <a:solidFill>
                  <a:srgbClr val="2E2E2E"/>
                </a:solidFill>
                <a:latin typeface="Calibri"/>
              </a:rPr>
              <a:t>Prestige Consumer Healthcare accounted for the largest share of</a:t>
            </a:r>
          </a:p>
        </p:txBody>
      </p:sp>
      <p:sp>
        <p:nvSpPr>
          <p:cNvPr id="25" name="TextBox 24"/>
          <p:cNvSpPr txBox="1"/>
          <p:nvPr/>
        </p:nvSpPr>
        <p:spPr>
          <a:xfrm>
            <a:off x="7934325" y="1948441"/>
            <a:ext cx="3860093" cy="194310"/>
          </a:xfrm>
          <a:prstGeom prst="rect">
            <a:avLst/>
          </a:prstGeom>
          <a:noFill/>
        </p:spPr>
        <p:txBody>
          <a:bodyPr wrap="none" lIns="0" rIns="0" tIns="0" bIns="0">
            <a:spAutoFit/>
          </a:bodyPr>
          <a:lstStyle/>
          <a:p>
            <a:r>
              <a:rPr sz="1150" b="0">
                <a:solidFill>
                  <a:srgbClr val="2E2E2E"/>
                </a:solidFill>
                <a:latin typeface="Calibri"/>
              </a:rPr>
              <a:t>the global ear wax removal products market in 2026. The global</a:t>
            </a:r>
          </a:p>
        </p:txBody>
      </p:sp>
      <p:sp>
        <p:nvSpPr>
          <p:cNvPr id="26" name="TextBox 25"/>
          <p:cNvSpPr txBox="1"/>
          <p:nvPr/>
        </p:nvSpPr>
        <p:spPr>
          <a:xfrm>
            <a:off x="7934325" y="2123701"/>
            <a:ext cx="3735722" cy="194310"/>
          </a:xfrm>
          <a:prstGeom prst="rect">
            <a:avLst/>
          </a:prstGeom>
          <a:noFill/>
        </p:spPr>
        <p:txBody>
          <a:bodyPr wrap="none" lIns="0" rIns="0" tIns="0" bIns="0">
            <a:spAutoFit/>
          </a:bodyPr>
          <a:lstStyle/>
          <a:p>
            <a:r>
              <a:rPr sz="1150" b="0">
                <a:solidFill>
                  <a:srgbClr val="2E2E2E"/>
                </a:solidFill>
                <a:latin typeface="Calibri"/>
              </a:rPr>
              <a:t>ear wax removal products market is fragmented, with the top</a:t>
            </a:r>
          </a:p>
        </p:txBody>
      </p:sp>
      <p:sp>
        <p:nvSpPr>
          <p:cNvPr id="27" name="TextBox 26"/>
          <p:cNvSpPr txBox="1"/>
          <p:nvPr/>
        </p:nvSpPr>
        <p:spPr>
          <a:xfrm>
            <a:off x="7934325" y="2298961"/>
            <a:ext cx="2560476" cy="194310"/>
          </a:xfrm>
          <a:prstGeom prst="rect">
            <a:avLst/>
          </a:prstGeom>
          <a:noFill/>
        </p:spPr>
        <p:txBody>
          <a:bodyPr wrap="none" lIns="0" rIns="0" tIns="0" bIns="0">
            <a:spAutoFit/>
          </a:bodyPr>
          <a:lstStyle/>
          <a:p>
            <a:r>
              <a:rPr sz="1150" b="0">
                <a:solidFill>
                  <a:srgbClr val="2E2E2E"/>
                </a:solidFill>
                <a:latin typeface="Calibri"/>
              </a:rPr>
              <a:t>three players accounting for an estimated</a:t>
            </a:r>
          </a:p>
        </p:txBody>
      </p:sp>
      <p:pic>
        <p:nvPicPr>
          <p:cNvPr id="28" name="Picture 27" descr="lock.png"/>
          <p:cNvPicPr>
            <a:picLocks noChangeAspect="1"/>
          </p:cNvPicPr>
          <p:nvPr/>
        </p:nvPicPr>
        <p:blipFill>
          <a:blip r:embed="rId5"/>
          <a:stretch>
            <a:fillRect/>
          </a:stretch>
        </p:blipFill>
        <p:spPr>
          <a:xfrm>
            <a:off x="10443955" y="2288737"/>
            <a:ext cx="134549" cy="195707"/>
          </a:xfrm>
          <a:prstGeom prst="rect">
            <a:avLst/>
          </a:prstGeom>
        </p:spPr>
      </p:pic>
      <p:sp>
        <p:nvSpPr>
          <p:cNvPr id="29" name="TextBox 28"/>
          <p:cNvSpPr txBox="1"/>
          <p:nvPr/>
        </p:nvSpPr>
        <p:spPr>
          <a:xfrm>
            <a:off x="10619064" y="2298961"/>
            <a:ext cx="789905" cy="194310"/>
          </a:xfrm>
          <a:prstGeom prst="rect">
            <a:avLst/>
          </a:prstGeom>
          <a:noFill/>
        </p:spPr>
        <p:txBody>
          <a:bodyPr wrap="none" lIns="0" rIns="0" tIns="0" bIns="0">
            <a:spAutoFit/>
          </a:bodyPr>
          <a:lstStyle/>
          <a:p>
            <a:r>
              <a:rPr sz="1150" b="0">
                <a:solidFill>
                  <a:srgbClr val="2E2E2E"/>
                </a:solidFill>
                <a:latin typeface="Calibri"/>
              </a:rPr>
              <a:t>share of the</a:t>
            </a:r>
          </a:p>
        </p:txBody>
      </p:sp>
      <p:sp>
        <p:nvSpPr>
          <p:cNvPr id="30" name="TextBox 29"/>
          <p:cNvSpPr txBox="1"/>
          <p:nvPr/>
        </p:nvSpPr>
        <p:spPr>
          <a:xfrm>
            <a:off x="7934325" y="2474221"/>
            <a:ext cx="1012118" cy="194310"/>
          </a:xfrm>
          <a:prstGeom prst="rect">
            <a:avLst/>
          </a:prstGeom>
          <a:noFill/>
        </p:spPr>
        <p:txBody>
          <a:bodyPr wrap="none" lIns="0" rIns="0" tIns="0" bIns="0">
            <a:spAutoFit/>
          </a:bodyPr>
          <a:lstStyle/>
          <a:p>
            <a:r>
              <a:rPr sz="1150" b="0">
                <a:solidFill>
                  <a:srgbClr val="2E2E2E"/>
                </a:solidFill>
                <a:latin typeface="Calibri"/>
              </a:rPr>
              <a:t>market in 2026.</a:t>
            </a:r>
          </a:p>
        </p:txBody>
      </p:sp>
      <p:sp>
        <p:nvSpPr>
          <p:cNvPr id="31" name="TextBox 30"/>
          <p:cNvSpPr txBox="1"/>
          <p:nvPr/>
        </p:nvSpPr>
        <p:spPr>
          <a:xfrm>
            <a:off x="7934325" y="2702058"/>
            <a:ext cx="3549451" cy="194310"/>
          </a:xfrm>
          <a:prstGeom prst="rect">
            <a:avLst/>
          </a:prstGeom>
          <a:noFill/>
        </p:spPr>
        <p:txBody>
          <a:bodyPr wrap="none" lIns="0" rIns="0" tIns="0" bIns="0">
            <a:spAutoFit/>
          </a:bodyPr>
          <a:lstStyle/>
          <a:p>
            <a:r>
              <a:rPr sz="1150" b="0">
                <a:solidFill>
                  <a:srgbClr val="2E2E2E"/>
                </a:solidFill>
                <a:latin typeface="Calibri"/>
              </a:rPr>
              <a:t>Prestige Consumer Healthcare accounted for an estimated</a:t>
            </a:r>
          </a:p>
        </p:txBody>
      </p:sp>
      <p:pic>
        <p:nvPicPr>
          <p:cNvPr id="32" name="Picture 31" descr="lock.png"/>
          <p:cNvPicPr>
            <a:picLocks noChangeAspect="1"/>
          </p:cNvPicPr>
          <p:nvPr/>
        </p:nvPicPr>
        <p:blipFill>
          <a:blip r:embed="rId5"/>
          <a:stretch>
            <a:fillRect/>
          </a:stretch>
        </p:blipFill>
        <p:spPr>
          <a:xfrm>
            <a:off x="11432930" y="2691835"/>
            <a:ext cx="134549" cy="195707"/>
          </a:xfrm>
          <a:prstGeom prst="rect">
            <a:avLst/>
          </a:prstGeom>
        </p:spPr>
      </p:pic>
      <p:sp>
        <p:nvSpPr>
          <p:cNvPr id="33" name="TextBox 32"/>
          <p:cNvSpPr txBox="1"/>
          <p:nvPr/>
        </p:nvSpPr>
        <p:spPr>
          <a:xfrm>
            <a:off x="7934325" y="2877318"/>
            <a:ext cx="3217701" cy="194310"/>
          </a:xfrm>
          <a:prstGeom prst="rect">
            <a:avLst/>
          </a:prstGeom>
          <a:noFill/>
        </p:spPr>
        <p:txBody>
          <a:bodyPr wrap="none" lIns="0" rIns="0" tIns="0" bIns="0">
            <a:spAutoFit/>
          </a:bodyPr>
          <a:lstStyle/>
          <a:p>
            <a:r>
              <a:rPr sz="1150" b="0">
                <a:solidFill>
                  <a:srgbClr val="2E2E2E"/>
                </a:solidFill>
                <a:latin typeface="Calibri"/>
              </a:rPr>
              <a:t>share of the market, followed by Diomed Group with</a:t>
            </a:r>
          </a:p>
        </p:txBody>
      </p:sp>
      <p:pic>
        <p:nvPicPr>
          <p:cNvPr id="34" name="Picture 33" descr="lock.png"/>
          <p:cNvPicPr>
            <a:picLocks noChangeAspect="1"/>
          </p:cNvPicPr>
          <p:nvPr/>
        </p:nvPicPr>
        <p:blipFill>
          <a:blip r:embed="rId5"/>
          <a:stretch>
            <a:fillRect/>
          </a:stretch>
        </p:blipFill>
        <p:spPr>
          <a:xfrm>
            <a:off x="11101180" y="2867095"/>
            <a:ext cx="134549" cy="195707"/>
          </a:xfrm>
          <a:prstGeom prst="rect">
            <a:avLst/>
          </a:prstGeom>
        </p:spPr>
      </p:pic>
      <p:sp>
        <p:nvSpPr>
          <p:cNvPr id="35" name="TextBox 34"/>
          <p:cNvSpPr txBox="1"/>
          <p:nvPr/>
        </p:nvSpPr>
        <p:spPr>
          <a:xfrm>
            <a:off x="11276289" y="2877318"/>
            <a:ext cx="360843" cy="194310"/>
          </a:xfrm>
          <a:prstGeom prst="rect">
            <a:avLst/>
          </a:prstGeom>
          <a:noFill/>
        </p:spPr>
        <p:txBody>
          <a:bodyPr wrap="none" lIns="0" rIns="0" tIns="0" bIns="0">
            <a:spAutoFit/>
          </a:bodyPr>
          <a:lstStyle/>
          <a:p>
            <a:r>
              <a:rPr sz="1150" b="0">
                <a:solidFill>
                  <a:srgbClr val="2E2E2E"/>
                </a:solidFill>
                <a:latin typeface="Calibri"/>
              </a:rPr>
              <a:t>. Key</a:t>
            </a:r>
          </a:p>
        </p:txBody>
      </p:sp>
      <p:sp>
        <p:nvSpPr>
          <p:cNvPr id="36" name="TextBox 35"/>
          <p:cNvSpPr txBox="1"/>
          <p:nvPr/>
        </p:nvSpPr>
        <p:spPr>
          <a:xfrm>
            <a:off x="7934325" y="3052578"/>
            <a:ext cx="3962400" cy="194310"/>
          </a:xfrm>
          <a:prstGeom prst="rect">
            <a:avLst/>
          </a:prstGeom>
          <a:noFill/>
        </p:spPr>
        <p:txBody>
          <a:bodyPr wrap="none" lIns="0" rIns="0" tIns="0" bIns="0">
            <a:spAutoFit/>
          </a:bodyPr>
          <a:lstStyle/>
          <a:p>
            <a:r>
              <a:rPr sz="1150" b="0">
                <a:solidFill>
                  <a:srgbClr val="2E2E2E"/>
                </a:solidFill>
                <a:latin typeface="Calibri"/>
              </a:rPr>
              <a:t>players are focusing on product innovation, geographic expansion</a:t>
            </a:r>
          </a:p>
        </p:txBody>
      </p:sp>
      <p:sp>
        <p:nvSpPr>
          <p:cNvPr id="37" name="TextBox 36"/>
          <p:cNvSpPr txBox="1"/>
          <p:nvPr/>
        </p:nvSpPr>
        <p:spPr>
          <a:xfrm>
            <a:off x="7934325" y="3227838"/>
            <a:ext cx="3796481" cy="194310"/>
          </a:xfrm>
          <a:prstGeom prst="rect">
            <a:avLst/>
          </a:prstGeom>
          <a:noFill/>
        </p:spPr>
        <p:txBody>
          <a:bodyPr wrap="none" lIns="0" rIns="0" tIns="0" bIns="0">
            <a:spAutoFit/>
          </a:bodyPr>
          <a:lstStyle/>
          <a:p>
            <a:r>
              <a:rPr sz="1150" b="0">
                <a:solidFill>
                  <a:srgbClr val="2E2E2E"/>
                </a:solidFill>
                <a:latin typeface="Calibri"/>
              </a:rPr>
              <a:t>and strategic partnerships to strengthen their market position.</a:t>
            </a:r>
          </a:p>
        </p:txBody>
      </p:sp>
      <p:sp>
        <p:nvSpPr>
          <p:cNvPr id="38" name="TextBox 37"/>
          <p:cNvSpPr txBox="1"/>
          <p:nvPr/>
        </p:nvSpPr>
        <p:spPr>
          <a:xfrm>
            <a:off x="7934325" y="3455676"/>
            <a:ext cx="3647864" cy="194310"/>
          </a:xfrm>
          <a:prstGeom prst="rect">
            <a:avLst/>
          </a:prstGeom>
          <a:noFill/>
        </p:spPr>
        <p:txBody>
          <a:bodyPr wrap="none" lIns="0" rIns="0" tIns="0" bIns="0">
            <a:spAutoFit/>
          </a:bodyPr>
          <a:lstStyle/>
          <a:p>
            <a:r>
              <a:rPr sz="1150" b="0">
                <a:solidFill>
                  <a:srgbClr val="2E2E2E"/>
                </a:solidFill>
                <a:latin typeface="Calibri"/>
              </a:rPr>
              <a:t>Regional share differs from the global picture use the region</a:t>
            </a:r>
          </a:p>
        </p:txBody>
      </p:sp>
      <p:sp>
        <p:nvSpPr>
          <p:cNvPr id="39" name="TextBox 38"/>
          <p:cNvSpPr txBox="1"/>
          <p:nvPr/>
        </p:nvSpPr>
        <p:spPr>
          <a:xfrm>
            <a:off x="7934325" y="3630936"/>
            <a:ext cx="3444763" cy="194310"/>
          </a:xfrm>
          <a:prstGeom prst="rect">
            <a:avLst/>
          </a:prstGeom>
          <a:noFill/>
        </p:spPr>
        <p:txBody>
          <a:bodyPr wrap="none" lIns="0" rIns="0" tIns="0" bIns="0">
            <a:spAutoFit/>
          </a:bodyPr>
          <a:lstStyle/>
          <a:p>
            <a:r>
              <a:rPr sz="1150" b="0">
                <a:solidFill>
                  <a:srgbClr val="2E2E2E"/>
                </a:solidFill>
                <a:latin typeface="Calibri"/>
              </a:rPr>
              <a:t>selector to see how leadership shifts across geographies.</a:t>
            </a:r>
          </a:p>
        </p:txBody>
      </p:sp>
      <p:sp>
        <p:nvSpPr>
          <p:cNvPr id="40" name="lockshield_13"/>
          <p:cNvSpPr/>
          <p:nvPr/>
        </p:nvSpPr>
        <p:spPr>
          <a:xfrm>
            <a:off x="238125" y="1639831"/>
            <a:ext cx="7353300" cy="4877658"/>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Company Share by Product Type (Top 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company value share within each leading product type, highlighting where leadership differs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leading product types where each player concentrates, and how leadership varies by formulation.</a:t>
            </a:r>
          </a:p>
        </p:txBody>
      </p:sp>
      <p:sp>
        <p:nvSpPr>
          <p:cNvPr id="11" name="Rounded Rectangle 10"/>
          <p:cNvSpPr/>
          <p:nvPr/>
        </p:nvSpPr>
        <p:spPr>
          <a:xfrm>
            <a:off x="14287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Irrigation Devices and Accessories</a:t>
            </a:r>
          </a:p>
        </p:txBody>
      </p:sp>
      <p:graphicFrame>
        <p:nvGraphicFramePr>
          <p:cNvPr id="13" name="Chart 12"/>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4" name="Rounded Rectangle 13"/>
          <p:cNvSpPr/>
          <p:nvPr/>
        </p:nvSpPr>
        <p:spPr>
          <a:xfrm>
            <a:off x="412432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Ear Drops</a:t>
            </a:r>
          </a:p>
        </p:txBody>
      </p:sp>
      <p:graphicFrame>
        <p:nvGraphicFramePr>
          <p:cNvPr id="16" name="Chart 15"/>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7" name="Rounded Rectangle 16"/>
          <p:cNvSpPr/>
          <p:nvPr/>
        </p:nvSpPr>
        <p:spPr>
          <a:xfrm>
            <a:off x="8105775" y="1299320"/>
            <a:ext cx="39433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Ear Sprays</a:t>
            </a:r>
          </a:p>
        </p:txBody>
      </p:sp>
      <p:graphicFrame>
        <p:nvGraphicFramePr>
          <p:cNvPr id="19" name="Chart 18"/>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20" name="Rounded Rectangle 19"/>
          <p:cNvSpPr/>
          <p:nvPr/>
        </p:nvSpPr>
        <p:spPr>
          <a:xfrm>
            <a:off x="142875" y="4603240"/>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2709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1233011" y="2619895"/>
            <a:ext cx="523875" cy="762000"/>
          </a:xfrm>
          <a:prstGeom prst="rect">
            <a:avLst/>
          </a:prstGeom>
        </p:spPr>
      </p:pic>
      <p:pic>
        <p:nvPicPr>
          <p:cNvPr id="26" name="Picture 25" descr="lock.png"/>
          <p:cNvPicPr>
            <a:picLocks noChangeAspect="1"/>
          </p:cNvPicPr>
          <p:nvPr/>
        </p:nvPicPr>
        <p:blipFill>
          <a:blip r:embed="rId7"/>
          <a:stretch>
            <a:fillRect/>
          </a:stretch>
        </p:blipFill>
        <p:spPr>
          <a:xfrm>
            <a:off x="5214461" y="2619895"/>
            <a:ext cx="523875" cy="762000"/>
          </a:xfrm>
          <a:prstGeom prst="rect">
            <a:avLst/>
          </a:prstGeom>
        </p:spPr>
      </p:pic>
      <p:pic>
        <p:nvPicPr>
          <p:cNvPr id="27" name="Picture 26" descr="lock.png"/>
          <p:cNvPicPr>
            <a:picLocks noChangeAspect="1"/>
          </p:cNvPicPr>
          <p:nvPr/>
        </p:nvPicPr>
        <p:blipFill>
          <a:blip r:embed="rId7"/>
          <a:stretch>
            <a:fillRect/>
          </a:stretch>
        </p:blipFill>
        <p:spPr>
          <a:xfrm>
            <a:off x="9235916" y="2619895"/>
            <a:ext cx="523875" cy="762000"/>
          </a:xfrm>
          <a:prstGeom prst="rect">
            <a:avLst/>
          </a:prstGeom>
        </p:spPr>
      </p:pic>
      <p:sp>
        <p:nvSpPr>
          <p:cNvPr id="28" name="TextBox 27"/>
          <p:cNvSpPr txBox="1"/>
          <p:nvPr/>
        </p:nvSpPr>
        <p:spPr>
          <a:xfrm>
            <a:off x="276225" y="5022340"/>
            <a:ext cx="4509219" cy="186689"/>
          </a:xfrm>
          <a:prstGeom prst="rect">
            <a:avLst/>
          </a:prstGeom>
          <a:noFill/>
        </p:spPr>
        <p:txBody>
          <a:bodyPr wrap="none" lIns="0" rIns="0" tIns="0" bIns="0">
            <a:spAutoFit/>
          </a:bodyPr>
          <a:lstStyle/>
          <a:p>
            <a:r>
              <a:rPr sz="1100" b="0">
                <a:solidFill>
                  <a:srgbClr val="2E2E2E"/>
                </a:solidFill>
                <a:latin typeface="Calibri"/>
              </a:rPr>
              <a:t>▪ Irrigation Devices and Accessories: 'Prestige Consumer Healthcare' leads at ~</a:t>
            </a:r>
          </a:p>
        </p:txBody>
      </p:sp>
      <p:pic>
        <p:nvPicPr>
          <p:cNvPr id="29" name="Picture 28" descr="lock.png"/>
          <p:cNvPicPr>
            <a:picLocks noChangeAspect="1"/>
          </p:cNvPicPr>
          <p:nvPr/>
        </p:nvPicPr>
        <p:blipFill>
          <a:blip r:embed="rId7"/>
          <a:stretch>
            <a:fillRect/>
          </a:stretch>
        </p:blipFill>
        <p:spPr>
          <a:xfrm>
            <a:off x="4733495" y="5012560"/>
            <a:ext cx="128699" cy="187198"/>
          </a:xfrm>
          <a:prstGeom prst="rect">
            <a:avLst/>
          </a:prstGeom>
        </p:spPr>
      </p:pic>
      <p:sp>
        <p:nvSpPr>
          <p:cNvPr id="30" name="TextBox 29"/>
          <p:cNvSpPr txBox="1"/>
          <p:nvPr/>
        </p:nvSpPr>
        <p:spPr>
          <a:xfrm>
            <a:off x="4900991" y="5022340"/>
            <a:ext cx="1750144" cy="186689"/>
          </a:xfrm>
          <a:prstGeom prst="rect">
            <a:avLst/>
          </a:prstGeom>
          <a:noFill/>
        </p:spPr>
        <p:txBody>
          <a:bodyPr wrap="none" lIns="0" rIns="0" tIns="0" bIns="0">
            <a:spAutoFit/>
          </a:bodyPr>
          <a:lstStyle/>
          <a:p>
            <a:r>
              <a:rPr sz="1100" b="0">
                <a:solidFill>
                  <a:srgbClr val="2E2E2E"/>
                </a:solidFill>
                <a:latin typeface="Calibri"/>
              </a:rPr>
              <a:t>, ahead of 'Quest Products' (~</a:t>
            </a:r>
          </a:p>
        </p:txBody>
      </p:sp>
      <p:pic>
        <p:nvPicPr>
          <p:cNvPr id="31" name="Picture 30" descr="lock.png"/>
          <p:cNvPicPr>
            <a:picLocks noChangeAspect="1"/>
          </p:cNvPicPr>
          <p:nvPr/>
        </p:nvPicPr>
        <p:blipFill>
          <a:blip r:embed="rId7"/>
          <a:stretch>
            <a:fillRect/>
          </a:stretch>
        </p:blipFill>
        <p:spPr>
          <a:xfrm>
            <a:off x="6599187" y="5012560"/>
            <a:ext cx="128699" cy="187198"/>
          </a:xfrm>
          <a:prstGeom prst="rect">
            <a:avLst/>
          </a:prstGeom>
        </p:spPr>
      </p:pic>
      <p:sp>
        <p:nvSpPr>
          <p:cNvPr id="32" name="TextBox 31"/>
          <p:cNvSpPr txBox="1"/>
          <p:nvPr/>
        </p:nvSpPr>
        <p:spPr>
          <a:xfrm>
            <a:off x="6766683" y="5022340"/>
            <a:ext cx="1328588" cy="186689"/>
          </a:xfrm>
          <a:prstGeom prst="rect">
            <a:avLst/>
          </a:prstGeom>
          <a:noFill/>
        </p:spPr>
        <p:txBody>
          <a:bodyPr wrap="none" lIns="0" rIns="0" tIns="0" bIns="0">
            <a:spAutoFit/>
          </a:bodyPr>
          <a:lstStyle/>
          <a:p>
            <a:r>
              <a:rPr sz="1100" b="0">
                <a:solidFill>
                  <a:srgbClr val="2E2E2E"/>
                </a:solidFill>
                <a:latin typeface="Calibri"/>
              </a:rPr>
              <a:t>); the top three hold ~</a:t>
            </a:r>
          </a:p>
        </p:txBody>
      </p:sp>
      <p:pic>
        <p:nvPicPr>
          <p:cNvPr id="33" name="Picture 32" descr="lock.png"/>
          <p:cNvPicPr>
            <a:picLocks noChangeAspect="1"/>
          </p:cNvPicPr>
          <p:nvPr/>
        </p:nvPicPr>
        <p:blipFill>
          <a:blip r:embed="rId7"/>
          <a:stretch>
            <a:fillRect/>
          </a:stretch>
        </p:blipFill>
        <p:spPr>
          <a:xfrm>
            <a:off x="8043323" y="5012560"/>
            <a:ext cx="128699" cy="187198"/>
          </a:xfrm>
          <a:prstGeom prst="rect">
            <a:avLst/>
          </a:prstGeom>
        </p:spPr>
      </p:pic>
      <p:sp>
        <p:nvSpPr>
          <p:cNvPr id="34" name="TextBox 33"/>
          <p:cNvSpPr txBox="1"/>
          <p:nvPr/>
        </p:nvSpPr>
        <p:spPr>
          <a:xfrm>
            <a:off x="8210819" y="5022340"/>
            <a:ext cx="1539775" cy="186689"/>
          </a:xfrm>
          <a:prstGeom prst="rect">
            <a:avLst/>
          </a:prstGeom>
          <a:noFill/>
        </p:spPr>
        <p:txBody>
          <a:bodyPr wrap="none" lIns="0" rIns="0" tIns="0" bIns="0">
            <a:spAutoFit/>
          </a:bodyPr>
          <a:lstStyle/>
          <a:p>
            <a:r>
              <a:rPr sz="1100" b="0">
                <a:solidFill>
                  <a:srgbClr val="2E2E2E"/>
                </a:solidFill>
                <a:latin typeface="Calibri"/>
              </a:rPr>
              <a:t>and a long tail ('Others') ~</a:t>
            </a:r>
          </a:p>
        </p:txBody>
      </p:sp>
      <p:pic>
        <p:nvPicPr>
          <p:cNvPr id="35" name="Picture 34" descr="lock.png"/>
          <p:cNvPicPr>
            <a:picLocks noChangeAspect="1"/>
          </p:cNvPicPr>
          <p:nvPr/>
        </p:nvPicPr>
        <p:blipFill>
          <a:blip r:embed="rId7"/>
          <a:stretch>
            <a:fillRect/>
          </a:stretch>
        </p:blipFill>
        <p:spPr>
          <a:xfrm>
            <a:off x="9698646" y="5012560"/>
            <a:ext cx="128699" cy="187198"/>
          </a:xfrm>
          <a:prstGeom prst="rect">
            <a:avLst/>
          </a:prstGeom>
        </p:spPr>
      </p:pic>
      <p:sp>
        <p:nvSpPr>
          <p:cNvPr id="36" name="TextBox 35"/>
          <p:cNvSpPr txBox="1"/>
          <p:nvPr/>
        </p:nvSpPr>
        <p:spPr>
          <a:xfrm>
            <a:off x="9866142" y="502234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7" name="TextBox 36"/>
          <p:cNvSpPr txBox="1"/>
          <p:nvPr/>
        </p:nvSpPr>
        <p:spPr>
          <a:xfrm>
            <a:off x="276225" y="5240272"/>
            <a:ext cx="2867164" cy="186689"/>
          </a:xfrm>
          <a:prstGeom prst="rect">
            <a:avLst/>
          </a:prstGeom>
          <a:noFill/>
        </p:spPr>
        <p:txBody>
          <a:bodyPr wrap="none" lIns="0" rIns="0" tIns="0" bIns="0">
            <a:spAutoFit/>
          </a:bodyPr>
          <a:lstStyle/>
          <a:p>
            <a:r>
              <a:rPr sz="1100" b="0">
                <a:solidFill>
                  <a:srgbClr val="2E2E2E"/>
                </a:solidFill>
                <a:latin typeface="Calibri"/>
              </a:rPr>
              <a:t>▪ Ear Drops: 'NeilMed Pharmaceuticals' leads at ~</a:t>
            </a:r>
          </a:p>
        </p:txBody>
      </p:sp>
      <p:pic>
        <p:nvPicPr>
          <p:cNvPr id="38" name="Picture 37" descr="lock.png"/>
          <p:cNvPicPr>
            <a:picLocks noChangeAspect="1"/>
          </p:cNvPicPr>
          <p:nvPr/>
        </p:nvPicPr>
        <p:blipFill>
          <a:blip r:embed="rId7"/>
          <a:stretch>
            <a:fillRect/>
          </a:stretch>
        </p:blipFill>
        <p:spPr>
          <a:xfrm>
            <a:off x="3091441" y="5230492"/>
            <a:ext cx="128699" cy="187198"/>
          </a:xfrm>
          <a:prstGeom prst="rect">
            <a:avLst/>
          </a:prstGeom>
        </p:spPr>
      </p:pic>
      <p:sp>
        <p:nvSpPr>
          <p:cNvPr id="39" name="TextBox 38"/>
          <p:cNvSpPr txBox="1"/>
          <p:nvPr/>
        </p:nvSpPr>
        <p:spPr>
          <a:xfrm>
            <a:off x="3258936" y="5240272"/>
            <a:ext cx="1713036" cy="186689"/>
          </a:xfrm>
          <a:prstGeom prst="rect">
            <a:avLst/>
          </a:prstGeom>
          <a:noFill/>
        </p:spPr>
        <p:txBody>
          <a:bodyPr wrap="none" lIns="0" rIns="0" tIns="0" bIns="0">
            <a:spAutoFit/>
          </a:bodyPr>
          <a:lstStyle/>
          <a:p>
            <a:r>
              <a:rPr sz="1100" b="0">
                <a:solidFill>
                  <a:srgbClr val="2E2E2E"/>
                </a:solidFill>
                <a:latin typeface="Calibri"/>
              </a:rPr>
              <a:t>, ahead of 'Diomed Group' (~</a:t>
            </a:r>
          </a:p>
        </p:txBody>
      </p:sp>
      <p:pic>
        <p:nvPicPr>
          <p:cNvPr id="40" name="Picture 39" descr="lock.png"/>
          <p:cNvPicPr>
            <a:picLocks noChangeAspect="1"/>
          </p:cNvPicPr>
          <p:nvPr/>
        </p:nvPicPr>
        <p:blipFill>
          <a:blip r:embed="rId7"/>
          <a:stretch>
            <a:fillRect/>
          </a:stretch>
        </p:blipFill>
        <p:spPr>
          <a:xfrm>
            <a:off x="4920025" y="5230492"/>
            <a:ext cx="128699" cy="187198"/>
          </a:xfrm>
          <a:prstGeom prst="rect">
            <a:avLst/>
          </a:prstGeom>
        </p:spPr>
      </p:pic>
      <p:sp>
        <p:nvSpPr>
          <p:cNvPr id="41" name="TextBox 40"/>
          <p:cNvSpPr txBox="1"/>
          <p:nvPr/>
        </p:nvSpPr>
        <p:spPr>
          <a:xfrm>
            <a:off x="5087520" y="5240272"/>
            <a:ext cx="1328588" cy="186689"/>
          </a:xfrm>
          <a:prstGeom prst="rect">
            <a:avLst/>
          </a:prstGeom>
          <a:noFill/>
        </p:spPr>
        <p:txBody>
          <a:bodyPr wrap="none" lIns="0" rIns="0" tIns="0" bIns="0">
            <a:spAutoFit/>
          </a:bodyPr>
          <a:lstStyle/>
          <a:p>
            <a:r>
              <a:rPr sz="1100" b="0">
                <a:solidFill>
                  <a:srgbClr val="2E2E2E"/>
                </a:solidFill>
                <a:latin typeface="Calibri"/>
              </a:rPr>
              <a:t>); the top three hold ~</a:t>
            </a:r>
          </a:p>
        </p:txBody>
      </p:sp>
      <p:pic>
        <p:nvPicPr>
          <p:cNvPr id="42" name="Picture 41" descr="lock.png"/>
          <p:cNvPicPr>
            <a:picLocks noChangeAspect="1"/>
          </p:cNvPicPr>
          <p:nvPr/>
        </p:nvPicPr>
        <p:blipFill>
          <a:blip r:embed="rId7"/>
          <a:stretch>
            <a:fillRect/>
          </a:stretch>
        </p:blipFill>
        <p:spPr>
          <a:xfrm>
            <a:off x="6364161" y="5230492"/>
            <a:ext cx="128699" cy="187198"/>
          </a:xfrm>
          <a:prstGeom prst="rect">
            <a:avLst/>
          </a:prstGeom>
        </p:spPr>
      </p:pic>
      <p:sp>
        <p:nvSpPr>
          <p:cNvPr id="43" name="TextBox 42"/>
          <p:cNvSpPr txBox="1"/>
          <p:nvPr/>
        </p:nvSpPr>
        <p:spPr>
          <a:xfrm>
            <a:off x="6531656" y="5240272"/>
            <a:ext cx="1539775" cy="186689"/>
          </a:xfrm>
          <a:prstGeom prst="rect">
            <a:avLst/>
          </a:prstGeom>
          <a:noFill/>
        </p:spPr>
        <p:txBody>
          <a:bodyPr wrap="none" lIns="0" rIns="0" tIns="0" bIns="0">
            <a:spAutoFit/>
          </a:bodyPr>
          <a:lstStyle/>
          <a:p>
            <a:r>
              <a:rPr sz="1100" b="0">
                <a:solidFill>
                  <a:srgbClr val="2E2E2E"/>
                </a:solidFill>
                <a:latin typeface="Calibri"/>
              </a:rPr>
              <a:t>and a long tail ('Others') ~</a:t>
            </a:r>
          </a:p>
        </p:txBody>
      </p:sp>
      <p:pic>
        <p:nvPicPr>
          <p:cNvPr id="44" name="Picture 43" descr="lock.png"/>
          <p:cNvPicPr>
            <a:picLocks noChangeAspect="1"/>
          </p:cNvPicPr>
          <p:nvPr/>
        </p:nvPicPr>
        <p:blipFill>
          <a:blip r:embed="rId7"/>
          <a:stretch>
            <a:fillRect/>
          </a:stretch>
        </p:blipFill>
        <p:spPr>
          <a:xfrm>
            <a:off x="8019484" y="5230492"/>
            <a:ext cx="128699" cy="187198"/>
          </a:xfrm>
          <a:prstGeom prst="rect">
            <a:avLst/>
          </a:prstGeom>
        </p:spPr>
      </p:pic>
      <p:sp>
        <p:nvSpPr>
          <p:cNvPr id="45" name="TextBox 44"/>
          <p:cNvSpPr txBox="1"/>
          <p:nvPr/>
        </p:nvSpPr>
        <p:spPr>
          <a:xfrm>
            <a:off x="8186980" y="5240272"/>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276225" y="5458204"/>
            <a:ext cx="3172485" cy="186689"/>
          </a:xfrm>
          <a:prstGeom prst="rect">
            <a:avLst/>
          </a:prstGeom>
          <a:noFill/>
        </p:spPr>
        <p:txBody>
          <a:bodyPr wrap="none" lIns="0" rIns="0" tIns="0" bIns="0">
            <a:spAutoFit/>
          </a:bodyPr>
          <a:lstStyle/>
          <a:p>
            <a:r>
              <a:rPr sz="1100" b="0">
                <a:solidFill>
                  <a:srgbClr val="2E2E2E"/>
                </a:solidFill>
                <a:latin typeface="Calibri"/>
              </a:rPr>
              <a:t>▪ Ear Sprays: 'Prestige Consumer Healthcare' leads at ~</a:t>
            </a:r>
          </a:p>
        </p:txBody>
      </p:sp>
      <p:pic>
        <p:nvPicPr>
          <p:cNvPr id="47" name="Picture 46" descr="lock.png"/>
          <p:cNvPicPr>
            <a:picLocks noChangeAspect="1"/>
          </p:cNvPicPr>
          <p:nvPr/>
        </p:nvPicPr>
        <p:blipFill>
          <a:blip r:embed="rId7"/>
          <a:stretch>
            <a:fillRect/>
          </a:stretch>
        </p:blipFill>
        <p:spPr>
          <a:xfrm>
            <a:off x="3396762" y="5448424"/>
            <a:ext cx="128699" cy="187198"/>
          </a:xfrm>
          <a:prstGeom prst="rect">
            <a:avLst/>
          </a:prstGeom>
        </p:spPr>
      </p:pic>
      <p:sp>
        <p:nvSpPr>
          <p:cNvPr id="48" name="TextBox 47"/>
          <p:cNvSpPr txBox="1"/>
          <p:nvPr/>
        </p:nvSpPr>
        <p:spPr>
          <a:xfrm>
            <a:off x="3564257" y="5458204"/>
            <a:ext cx="1713036" cy="186689"/>
          </a:xfrm>
          <a:prstGeom prst="rect">
            <a:avLst/>
          </a:prstGeom>
          <a:noFill/>
        </p:spPr>
        <p:txBody>
          <a:bodyPr wrap="none" lIns="0" rIns="0" tIns="0" bIns="0">
            <a:spAutoFit/>
          </a:bodyPr>
          <a:lstStyle/>
          <a:p>
            <a:r>
              <a:rPr sz="1100" b="0">
                <a:solidFill>
                  <a:srgbClr val="2E2E2E"/>
                </a:solidFill>
                <a:latin typeface="Calibri"/>
              </a:rPr>
              <a:t>, ahead of 'Diomed Group' (~</a:t>
            </a:r>
          </a:p>
        </p:txBody>
      </p:sp>
      <p:pic>
        <p:nvPicPr>
          <p:cNvPr id="49" name="Picture 48" descr="lock.png"/>
          <p:cNvPicPr>
            <a:picLocks noChangeAspect="1"/>
          </p:cNvPicPr>
          <p:nvPr/>
        </p:nvPicPr>
        <p:blipFill>
          <a:blip r:embed="rId7"/>
          <a:stretch>
            <a:fillRect/>
          </a:stretch>
        </p:blipFill>
        <p:spPr>
          <a:xfrm>
            <a:off x="5225345" y="5448424"/>
            <a:ext cx="128699" cy="187198"/>
          </a:xfrm>
          <a:prstGeom prst="rect">
            <a:avLst/>
          </a:prstGeom>
        </p:spPr>
      </p:pic>
      <p:sp>
        <p:nvSpPr>
          <p:cNvPr id="50" name="TextBox 49"/>
          <p:cNvSpPr txBox="1"/>
          <p:nvPr/>
        </p:nvSpPr>
        <p:spPr>
          <a:xfrm>
            <a:off x="5392841" y="5458204"/>
            <a:ext cx="1328588" cy="186689"/>
          </a:xfrm>
          <a:prstGeom prst="rect">
            <a:avLst/>
          </a:prstGeom>
          <a:noFill/>
        </p:spPr>
        <p:txBody>
          <a:bodyPr wrap="none" lIns="0" rIns="0" tIns="0" bIns="0">
            <a:spAutoFit/>
          </a:bodyPr>
          <a:lstStyle/>
          <a:p>
            <a:r>
              <a:rPr sz="1100" b="0">
                <a:solidFill>
                  <a:srgbClr val="2E2E2E"/>
                </a:solidFill>
                <a:latin typeface="Calibri"/>
              </a:rPr>
              <a:t>); the top three hold ~</a:t>
            </a:r>
          </a:p>
        </p:txBody>
      </p:sp>
      <p:pic>
        <p:nvPicPr>
          <p:cNvPr id="51" name="Picture 50" descr="lock.png"/>
          <p:cNvPicPr>
            <a:picLocks noChangeAspect="1"/>
          </p:cNvPicPr>
          <p:nvPr/>
        </p:nvPicPr>
        <p:blipFill>
          <a:blip r:embed="rId7"/>
          <a:stretch>
            <a:fillRect/>
          </a:stretch>
        </p:blipFill>
        <p:spPr>
          <a:xfrm>
            <a:off x="6669482" y="5448424"/>
            <a:ext cx="128699" cy="187198"/>
          </a:xfrm>
          <a:prstGeom prst="rect">
            <a:avLst/>
          </a:prstGeom>
        </p:spPr>
      </p:pic>
      <p:sp>
        <p:nvSpPr>
          <p:cNvPr id="52" name="TextBox 51"/>
          <p:cNvSpPr txBox="1"/>
          <p:nvPr/>
        </p:nvSpPr>
        <p:spPr>
          <a:xfrm>
            <a:off x="6836977" y="5458204"/>
            <a:ext cx="1539775" cy="186689"/>
          </a:xfrm>
          <a:prstGeom prst="rect">
            <a:avLst/>
          </a:prstGeom>
          <a:noFill/>
        </p:spPr>
        <p:txBody>
          <a:bodyPr wrap="none" lIns="0" rIns="0" tIns="0" bIns="0">
            <a:spAutoFit/>
          </a:bodyPr>
          <a:lstStyle/>
          <a:p>
            <a:r>
              <a:rPr sz="1100" b="0">
                <a:solidFill>
                  <a:srgbClr val="2E2E2E"/>
                </a:solidFill>
                <a:latin typeface="Calibri"/>
              </a:rPr>
              <a:t>and a long tail ('Others') ~</a:t>
            </a:r>
          </a:p>
        </p:txBody>
      </p:sp>
      <p:pic>
        <p:nvPicPr>
          <p:cNvPr id="53" name="Picture 52" descr="lock.png"/>
          <p:cNvPicPr>
            <a:picLocks noChangeAspect="1"/>
          </p:cNvPicPr>
          <p:nvPr/>
        </p:nvPicPr>
        <p:blipFill>
          <a:blip r:embed="rId7"/>
          <a:stretch>
            <a:fillRect/>
          </a:stretch>
        </p:blipFill>
        <p:spPr>
          <a:xfrm>
            <a:off x="8324805" y="5448424"/>
            <a:ext cx="128699" cy="187198"/>
          </a:xfrm>
          <a:prstGeom prst="rect">
            <a:avLst/>
          </a:prstGeom>
        </p:spPr>
      </p:pic>
      <p:sp>
        <p:nvSpPr>
          <p:cNvPr id="54" name="TextBox 53"/>
          <p:cNvSpPr txBox="1"/>
          <p:nvPr/>
        </p:nvSpPr>
        <p:spPr>
          <a:xfrm>
            <a:off x="8492301" y="5458204"/>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55" name="TextBox 54"/>
          <p:cNvSpPr txBox="1"/>
          <p:nvPr/>
        </p:nvSpPr>
        <p:spPr>
          <a:xfrm>
            <a:off x="276225" y="5676136"/>
            <a:ext cx="8524502" cy="186689"/>
          </a:xfrm>
          <a:prstGeom prst="rect">
            <a:avLst/>
          </a:prstGeom>
          <a:noFill/>
        </p:spPr>
        <p:txBody>
          <a:bodyPr wrap="none" lIns="0" rIns="0" tIns="0" bIns="0">
            <a:spAutoFit/>
          </a:bodyPr>
          <a:lstStyle/>
          <a:p>
            <a:r>
              <a:rPr sz="1100" b="0">
                <a:solidFill>
                  <a:srgbClr val="2E2E2E"/>
                </a:solidFill>
                <a:latin typeface="Calibri"/>
              </a:rPr>
              <a:t>▪ Leadership shifts across formulations a strong position in one product type does not carry over to the others, so product-level targeting is essential.</a:t>
            </a:r>
          </a:p>
        </p:txBody>
      </p:sp>
      <p:sp>
        <p:nvSpPr>
          <p:cNvPr id="56" name="TextBox 55"/>
          <p:cNvSpPr txBox="1"/>
          <p:nvPr/>
        </p:nvSpPr>
        <p:spPr>
          <a:xfrm>
            <a:off x="276225" y="5894068"/>
            <a:ext cx="6908403" cy="186689"/>
          </a:xfrm>
          <a:prstGeom prst="rect">
            <a:avLst/>
          </a:prstGeom>
          <a:noFill/>
        </p:spPr>
        <p:txBody>
          <a:bodyPr wrap="none" lIns="0" rIns="0" tIns="0" bIns="0">
            <a:spAutoFit/>
          </a:bodyPr>
          <a:lstStyle/>
          <a:p>
            <a:r>
              <a:rPr sz="1100" b="0">
                <a:solidFill>
                  <a:srgbClr val="2E2E2E"/>
                </a:solidFill>
                <a:latin typeface="Calibri"/>
              </a:rPr>
              <a:t>▪ Note: competitor figures are indicative derived from market modelling and expert validation, not company disclosures.</a:t>
            </a:r>
          </a:p>
        </p:txBody>
      </p:sp>
      <p:sp>
        <p:nvSpPr>
          <p:cNvPr id="57" name="lockshield_13"/>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6"/>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19"/>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Company Share by Region (Top 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Company value share within the largest regions, highlighting where leadership shifts across geographies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largest regions where each player concentrates, and how leadership varies by geography.</a:t>
            </a:r>
          </a:p>
        </p:txBody>
      </p:sp>
      <p:sp>
        <p:nvSpPr>
          <p:cNvPr id="11" name="Rounded Rectangle 10"/>
          <p:cNvSpPr/>
          <p:nvPr/>
        </p:nvSpPr>
        <p:spPr>
          <a:xfrm>
            <a:off x="14287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a:t>
            </a:r>
          </a:p>
        </p:txBody>
      </p:sp>
      <p:graphicFrame>
        <p:nvGraphicFramePr>
          <p:cNvPr id="13" name="Chart 12"/>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4" name="Rounded Rectangle 13"/>
          <p:cNvSpPr/>
          <p:nvPr/>
        </p:nvSpPr>
        <p:spPr>
          <a:xfrm>
            <a:off x="412432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a:t>
            </a:r>
          </a:p>
        </p:txBody>
      </p:sp>
      <p:graphicFrame>
        <p:nvGraphicFramePr>
          <p:cNvPr id="16" name="Chart 15"/>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7" name="Rounded Rectangle 16"/>
          <p:cNvSpPr/>
          <p:nvPr/>
        </p:nvSpPr>
        <p:spPr>
          <a:xfrm>
            <a:off x="8105775" y="1299320"/>
            <a:ext cx="39433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South Asia &amp; Pacific</a:t>
            </a:r>
          </a:p>
        </p:txBody>
      </p:sp>
      <p:graphicFrame>
        <p:nvGraphicFramePr>
          <p:cNvPr id="19" name="Chart 18"/>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20" name="Rounded Rectangle 19"/>
          <p:cNvSpPr/>
          <p:nvPr/>
        </p:nvSpPr>
        <p:spPr>
          <a:xfrm>
            <a:off x="142875" y="4603240"/>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2709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1233011" y="2619895"/>
            <a:ext cx="523875" cy="762000"/>
          </a:xfrm>
          <a:prstGeom prst="rect">
            <a:avLst/>
          </a:prstGeom>
        </p:spPr>
      </p:pic>
      <p:pic>
        <p:nvPicPr>
          <p:cNvPr id="26" name="Picture 25" descr="lock.png"/>
          <p:cNvPicPr>
            <a:picLocks noChangeAspect="1"/>
          </p:cNvPicPr>
          <p:nvPr/>
        </p:nvPicPr>
        <p:blipFill>
          <a:blip r:embed="rId7"/>
          <a:stretch>
            <a:fillRect/>
          </a:stretch>
        </p:blipFill>
        <p:spPr>
          <a:xfrm>
            <a:off x="5214461" y="2619895"/>
            <a:ext cx="523875" cy="762000"/>
          </a:xfrm>
          <a:prstGeom prst="rect">
            <a:avLst/>
          </a:prstGeom>
        </p:spPr>
      </p:pic>
      <p:pic>
        <p:nvPicPr>
          <p:cNvPr id="27" name="Picture 26" descr="lock.png"/>
          <p:cNvPicPr>
            <a:picLocks noChangeAspect="1"/>
          </p:cNvPicPr>
          <p:nvPr/>
        </p:nvPicPr>
        <p:blipFill>
          <a:blip r:embed="rId7"/>
          <a:stretch>
            <a:fillRect/>
          </a:stretch>
        </p:blipFill>
        <p:spPr>
          <a:xfrm>
            <a:off x="9235916" y="2619895"/>
            <a:ext cx="523875" cy="762000"/>
          </a:xfrm>
          <a:prstGeom prst="rect">
            <a:avLst/>
          </a:prstGeom>
        </p:spPr>
      </p:pic>
      <p:sp>
        <p:nvSpPr>
          <p:cNvPr id="28" name="TextBox 27"/>
          <p:cNvSpPr txBox="1"/>
          <p:nvPr/>
        </p:nvSpPr>
        <p:spPr>
          <a:xfrm>
            <a:off x="276225" y="5022340"/>
            <a:ext cx="3571701" cy="194310"/>
          </a:xfrm>
          <a:prstGeom prst="rect">
            <a:avLst/>
          </a:prstGeom>
          <a:noFill/>
        </p:spPr>
        <p:txBody>
          <a:bodyPr wrap="none" lIns="0" rIns="0" tIns="0" bIns="0">
            <a:spAutoFit/>
          </a:bodyPr>
          <a:lstStyle/>
          <a:p>
            <a:r>
              <a:rPr sz="1150" b="0">
                <a:solidFill>
                  <a:srgbClr val="2E2E2E"/>
                </a:solidFill>
                <a:latin typeface="Calibri"/>
              </a:rPr>
              <a:t>▪ North America: 'Prestige Consumer Healthcare' leads at ~</a:t>
            </a:r>
          </a:p>
        </p:txBody>
      </p:sp>
      <p:pic>
        <p:nvPicPr>
          <p:cNvPr id="29" name="Picture 28" descr="lock.png"/>
          <p:cNvPicPr>
            <a:picLocks noChangeAspect="1"/>
          </p:cNvPicPr>
          <p:nvPr/>
        </p:nvPicPr>
        <p:blipFill>
          <a:blip r:embed="rId7"/>
          <a:stretch>
            <a:fillRect/>
          </a:stretch>
        </p:blipFill>
        <p:spPr>
          <a:xfrm>
            <a:off x="3797080" y="5012116"/>
            <a:ext cx="134549" cy="195707"/>
          </a:xfrm>
          <a:prstGeom prst="rect">
            <a:avLst/>
          </a:prstGeom>
        </p:spPr>
      </p:pic>
      <p:sp>
        <p:nvSpPr>
          <p:cNvPr id="30" name="TextBox 29"/>
          <p:cNvSpPr txBox="1"/>
          <p:nvPr/>
        </p:nvSpPr>
        <p:spPr>
          <a:xfrm>
            <a:off x="3972189" y="5022340"/>
            <a:ext cx="1787438" cy="194310"/>
          </a:xfrm>
          <a:prstGeom prst="rect">
            <a:avLst/>
          </a:prstGeom>
          <a:noFill/>
        </p:spPr>
        <p:txBody>
          <a:bodyPr wrap="none" lIns="0" rIns="0" tIns="0" bIns="0">
            <a:spAutoFit/>
          </a:bodyPr>
          <a:lstStyle/>
          <a:p>
            <a:r>
              <a:rPr sz="1150" b="0">
                <a:solidFill>
                  <a:srgbClr val="2E2E2E"/>
                </a:solidFill>
                <a:latin typeface="Calibri"/>
              </a:rPr>
              <a:t>, ahead of 'Diomed Group' (~</a:t>
            </a:r>
          </a:p>
        </p:txBody>
      </p:sp>
      <p:pic>
        <p:nvPicPr>
          <p:cNvPr id="31" name="Picture 30" descr="lock.png"/>
          <p:cNvPicPr>
            <a:picLocks noChangeAspect="1"/>
          </p:cNvPicPr>
          <p:nvPr/>
        </p:nvPicPr>
        <p:blipFill>
          <a:blip r:embed="rId7"/>
          <a:stretch>
            <a:fillRect/>
          </a:stretch>
        </p:blipFill>
        <p:spPr>
          <a:xfrm>
            <a:off x="5708781" y="5012116"/>
            <a:ext cx="134549" cy="195707"/>
          </a:xfrm>
          <a:prstGeom prst="rect">
            <a:avLst/>
          </a:prstGeom>
        </p:spPr>
      </p:pic>
      <p:sp>
        <p:nvSpPr>
          <p:cNvPr id="32" name="TextBox 31"/>
          <p:cNvSpPr txBox="1"/>
          <p:nvPr/>
        </p:nvSpPr>
        <p:spPr>
          <a:xfrm>
            <a:off x="5883890"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3" name="Picture 32" descr="lock.png"/>
          <p:cNvPicPr>
            <a:picLocks noChangeAspect="1"/>
          </p:cNvPicPr>
          <p:nvPr/>
        </p:nvPicPr>
        <p:blipFill>
          <a:blip r:embed="rId7"/>
          <a:stretch>
            <a:fillRect/>
          </a:stretch>
        </p:blipFill>
        <p:spPr>
          <a:xfrm>
            <a:off x="7218560" y="5012116"/>
            <a:ext cx="134549" cy="195707"/>
          </a:xfrm>
          <a:prstGeom prst="rect">
            <a:avLst/>
          </a:prstGeom>
        </p:spPr>
      </p:pic>
      <p:sp>
        <p:nvSpPr>
          <p:cNvPr id="34" name="TextBox 33"/>
          <p:cNvSpPr txBox="1"/>
          <p:nvPr/>
        </p:nvSpPr>
        <p:spPr>
          <a:xfrm>
            <a:off x="7393669"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5" name="Picture 34" descr="lock.png"/>
          <p:cNvPicPr>
            <a:picLocks noChangeAspect="1"/>
          </p:cNvPicPr>
          <p:nvPr/>
        </p:nvPicPr>
        <p:blipFill>
          <a:blip r:embed="rId7"/>
          <a:stretch>
            <a:fillRect/>
          </a:stretch>
        </p:blipFill>
        <p:spPr>
          <a:xfrm>
            <a:off x="8949125" y="5012116"/>
            <a:ext cx="134549" cy="195707"/>
          </a:xfrm>
          <a:prstGeom prst="rect">
            <a:avLst/>
          </a:prstGeom>
        </p:spPr>
      </p:pic>
      <p:sp>
        <p:nvSpPr>
          <p:cNvPr id="36" name="TextBox 35"/>
          <p:cNvSpPr txBox="1"/>
          <p:nvPr/>
        </p:nvSpPr>
        <p:spPr>
          <a:xfrm>
            <a:off x="9124234"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7" name="TextBox 36"/>
          <p:cNvSpPr txBox="1"/>
          <p:nvPr/>
        </p:nvSpPr>
        <p:spPr>
          <a:xfrm>
            <a:off x="276225" y="5250177"/>
            <a:ext cx="3125564" cy="194310"/>
          </a:xfrm>
          <a:prstGeom prst="rect">
            <a:avLst/>
          </a:prstGeom>
          <a:noFill/>
        </p:spPr>
        <p:txBody>
          <a:bodyPr wrap="none" lIns="0" rIns="0" tIns="0" bIns="0">
            <a:spAutoFit/>
          </a:bodyPr>
          <a:lstStyle/>
          <a:p>
            <a:r>
              <a:rPr sz="1150" b="0">
                <a:solidFill>
                  <a:srgbClr val="2E2E2E"/>
                </a:solidFill>
                <a:latin typeface="Calibri"/>
              </a:rPr>
              <a:t>▪ Europe: 'Prestige Consumer Healthcare' leads at ~</a:t>
            </a:r>
          </a:p>
        </p:txBody>
      </p:sp>
      <p:pic>
        <p:nvPicPr>
          <p:cNvPr id="38" name="Picture 37" descr="lock.png"/>
          <p:cNvPicPr>
            <a:picLocks noChangeAspect="1"/>
          </p:cNvPicPr>
          <p:nvPr/>
        </p:nvPicPr>
        <p:blipFill>
          <a:blip r:embed="rId7"/>
          <a:stretch>
            <a:fillRect/>
          </a:stretch>
        </p:blipFill>
        <p:spPr>
          <a:xfrm>
            <a:off x="3350943" y="5239954"/>
            <a:ext cx="134549" cy="195707"/>
          </a:xfrm>
          <a:prstGeom prst="rect">
            <a:avLst/>
          </a:prstGeom>
        </p:spPr>
      </p:pic>
      <p:sp>
        <p:nvSpPr>
          <p:cNvPr id="39" name="TextBox 38"/>
          <p:cNvSpPr txBox="1"/>
          <p:nvPr/>
        </p:nvSpPr>
        <p:spPr>
          <a:xfrm>
            <a:off x="3526052" y="5250177"/>
            <a:ext cx="1826232" cy="194310"/>
          </a:xfrm>
          <a:prstGeom prst="rect">
            <a:avLst/>
          </a:prstGeom>
          <a:noFill/>
        </p:spPr>
        <p:txBody>
          <a:bodyPr wrap="none" lIns="0" rIns="0" tIns="0" bIns="0">
            <a:spAutoFit/>
          </a:bodyPr>
          <a:lstStyle/>
          <a:p>
            <a:r>
              <a:rPr sz="1150" b="0">
                <a:solidFill>
                  <a:srgbClr val="2E2E2E"/>
                </a:solidFill>
                <a:latin typeface="Calibri"/>
              </a:rPr>
              <a:t>, ahead of 'Quest Products' (~</a:t>
            </a:r>
          </a:p>
        </p:txBody>
      </p:sp>
      <p:pic>
        <p:nvPicPr>
          <p:cNvPr id="40" name="Picture 39" descr="lock.png"/>
          <p:cNvPicPr>
            <a:picLocks noChangeAspect="1"/>
          </p:cNvPicPr>
          <p:nvPr/>
        </p:nvPicPr>
        <p:blipFill>
          <a:blip r:embed="rId7"/>
          <a:stretch>
            <a:fillRect/>
          </a:stretch>
        </p:blipFill>
        <p:spPr>
          <a:xfrm>
            <a:off x="5301439" y="5239954"/>
            <a:ext cx="134549" cy="195707"/>
          </a:xfrm>
          <a:prstGeom prst="rect">
            <a:avLst/>
          </a:prstGeom>
        </p:spPr>
      </p:pic>
      <p:sp>
        <p:nvSpPr>
          <p:cNvPr id="41" name="TextBox 40"/>
          <p:cNvSpPr txBox="1"/>
          <p:nvPr/>
        </p:nvSpPr>
        <p:spPr>
          <a:xfrm>
            <a:off x="5476548"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2" name="Picture 41" descr="lock.png"/>
          <p:cNvPicPr>
            <a:picLocks noChangeAspect="1"/>
          </p:cNvPicPr>
          <p:nvPr/>
        </p:nvPicPr>
        <p:blipFill>
          <a:blip r:embed="rId7"/>
          <a:stretch>
            <a:fillRect/>
          </a:stretch>
        </p:blipFill>
        <p:spPr>
          <a:xfrm>
            <a:off x="6811217" y="5239954"/>
            <a:ext cx="134549" cy="195707"/>
          </a:xfrm>
          <a:prstGeom prst="rect">
            <a:avLst/>
          </a:prstGeom>
        </p:spPr>
      </p:pic>
      <p:sp>
        <p:nvSpPr>
          <p:cNvPr id="43" name="TextBox 42"/>
          <p:cNvSpPr txBox="1"/>
          <p:nvPr/>
        </p:nvSpPr>
        <p:spPr>
          <a:xfrm>
            <a:off x="6986327"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4" name="Picture 43" descr="lock.png"/>
          <p:cNvPicPr>
            <a:picLocks noChangeAspect="1"/>
          </p:cNvPicPr>
          <p:nvPr/>
        </p:nvPicPr>
        <p:blipFill>
          <a:blip r:embed="rId7"/>
          <a:stretch>
            <a:fillRect/>
          </a:stretch>
        </p:blipFill>
        <p:spPr>
          <a:xfrm>
            <a:off x="8541782" y="5239954"/>
            <a:ext cx="134549" cy="195707"/>
          </a:xfrm>
          <a:prstGeom prst="rect">
            <a:avLst/>
          </a:prstGeom>
        </p:spPr>
      </p:pic>
      <p:sp>
        <p:nvSpPr>
          <p:cNvPr id="45" name="TextBox 44"/>
          <p:cNvSpPr txBox="1"/>
          <p:nvPr/>
        </p:nvSpPr>
        <p:spPr>
          <a:xfrm>
            <a:off x="8716892"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5478015"/>
            <a:ext cx="3588531" cy="194310"/>
          </a:xfrm>
          <a:prstGeom prst="rect">
            <a:avLst/>
          </a:prstGeom>
          <a:noFill/>
        </p:spPr>
        <p:txBody>
          <a:bodyPr wrap="none" lIns="0" rIns="0" tIns="0" bIns="0">
            <a:spAutoFit/>
          </a:bodyPr>
          <a:lstStyle/>
          <a:p>
            <a:r>
              <a:rPr sz="1150" b="0">
                <a:solidFill>
                  <a:srgbClr val="2E2E2E"/>
                </a:solidFill>
                <a:latin typeface="Calibri"/>
              </a:rPr>
              <a:t>▪ South Asia &amp; Pacific: 'NeilMed Pharmaceuticals' leads at ~</a:t>
            </a:r>
          </a:p>
        </p:txBody>
      </p:sp>
      <p:pic>
        <p:nvPicPr>
          <p:cNvPr id="47" name="Picture 46" descr="lock.png"/>
          <p:cNvPicPr>
            <a:picLocks noChangeAspect="1"/>
          </p:cNvPicPr>
          <p:nvPr/>
        </p:nvPicPr>
        <p:blipFill>
          <a:blip r:embed="rId7"/>
          <a:stretch>
            <a:fillRect/>
          </a:stretch>
        </p:blipFill>
        <p:spPr>
          <a:xfrm>
            <a:off x="3813910" y="5467792"/>
            <a:ext cx="134549" cy="195707"/>
          </a:xfrm>
          <a:prstGeom prst="rect">
            <a:avLst/>
          </a:prstGeom>
        </p:spPr>
      </p:pic>
      <p:sp>
        <p:nvSpPr>
          <p:cNvPr id="48" name="TextBox 47"/>
          <p:cNvSpPr txBox="1"/>
          <p:nvPr/>
        </p:nvSpPr>
        <p:spPr>
          <a:xfrm>
            <a:off x="3989019" y="5478015"/>
            <a:ext cx="1787438" cy="194310"/>
          </a:xfrm>
          <a:prstGeom prst="rect">
            <a:avLst/>
          </a:prstGeom>
          <a:noFill/>
        </p:spPr>
        <p:txBody>
          <a:bodyPr wrap="none" lIns="0" rIns="0" tIns="0" bIns="0">
            <a:spAutoFit/>
          </a:bodyPr>
          <a:lstStyle/>
          <a:p>
            <a:r>
              <a:rPr sz="1150" b="0">
                <a:solidFill>
                  <a:srgbClr val="2E2E2E"/>
                </a:solidFill>
                <a:latin typeface="Calibri"/>
              </a:rPr>
              <a:t>, ahead of 'Diomed Group' (~</a:t>
            </a:r>
          </a:p>
        </p:txBody>
      </p:sp>
      <p:pic>
        <p:nvPicPr>
          <p:cNvPr id="49" name="Picture 48" descr="lock.png"/>
          <p:cNvPicPr>
            <a:picLocks noChangeAspect="1"/>
          </p:cNvPicPr>
          <p:nvPr/>
        </p:nvPicPr>
        <p:blipFill>
          <a:blip r:embed="rId7"/>
          <a:stretch>
            <a:fillRect/>
          </a:stretch>
        </p:blipFill>
        <p:spPr>
          <a:xfrm>
            <a:off x="5725611" y="5467792"/>
            <a:ext cx="134549" cy="195707"/>
          </a:xfrm>
          <a:prstGeom prst="rect">
            <a:avLst/>
          </a:prstGeom>
        </p:spPr>
      </p:pic>
      <p:sp>
        <p:nvSpPr>
          <p:cNvPr id="50" name="TextBox 49"/>
          <p:cNvSpPr txBox="1"/>
          <p:nvPr/>
        </p:nvSpPr>
        <p:spPr>
          <a:xfrm>
            <a:off x="5900720" y="5478015"/>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51" name="Picture 50" descr="lock.png"/>
          <p:cNvPicPr>
            <a:picLocks noChangeAspect="1"/>
          </p:cNvPicPr>
          <p:nvPr/>
        </p:nvPicPr>
        <p:blipFill>
          <a:blip r:embed="rId7"/>
          <a:stretch>
            <a:fillRect/>
          </a:stretch>
        </p:blipFill>
        <p:spPr>
          <a:xfrm>
            <a:off x="7235390" y="5467792"/>
            <a:ext cx="134549" cy="195707"/>
          </a:xfrm>
          <a:prstGeom prst="rect">
            <a:avLst/>
          </a:prstGeom>
        </p:spPr>
      </p:pic>
      <p:sp>
        <p:nvSpPr>
          <p:cNvPr id="52" name="TextBox 51"/>
          <p:cNvSpPr txBox="1"/>
          <p:nvPr/>
        </p:nvSpPr>
        <p:spPr>
          <a:xfrm>
            <a:off x="7410499" y="5478015"/>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53" name="Picture 52" descr="lock.png"/>
          <p:cNvPicPr>
            <a:picLocks noChangeAspect="1"/>
          </p:cNvPicPr>
          <p:nvPr/>
        </p:nvPicPr>
        <p:blipFill>
          <a:blip r:embed="rId7"/>
          <a:stretch>
            <a:fillRect/>
          </a:stretch>
        </p:blipFill>
        <p:spPr>
          <a:xfrm>
            <a:off x="8965955" y="5467792"/>
            <a:ext cx="134549" cy="195707"/>
          </a:xfrm>
          <a:prstGeom prst="rect">
            <a:avLst/>
          </a:prstGeom>
        </p:spPr>
      </p:pic>
      <p:sp>
        <p:nvSpPr>
          <p:cNvPr id="54" name="TextBox 53"/>
          <p:cNvSpPr txBox="1"/>
          <p:nvPr/>
        </p:nvSpPr>
        <p:spPr>
          <a:xfrm>
            <a:off x="9141064" y="547801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5" name="TextBox 54"/>
          <p:cNvSpPr txBox="1"/>
          <p:nvPr/>
        </p:nvSpPr>
        <p:spPr>
          <a:xfrm>
            <a:off x="276225" y="5705853"/>
            <a:ext cx="9705801" cy="194310"/>
          </a:xfrm>
          <a:prstGeom prst="rect">
            <a:avLst/>
          </a:prstGeom>
          <a:noFill/>
        </p:spPr>
        <p:txBody>
          <a:bodyPr wrap="none" lIns="0" rIns="0" tIns="0" bIns="0">
            <a:spAutoFit/>
          </a:bodyPr>
          <a:lstStyle/>
          <a:p>
            <a:r>
              <a:rPr sz="1150" b="0">
                <a:solidFill>
                  <a:srgbClr val="2E2E2E"/>
                </a:solidFill>
                <a:latin typeface="Calibri"/>
              </a:rPr>
              <a:t>▪ Leadership is not uniform across geographies a strong position in one region does not carry over to the others, so region-level go-to-market planning is essential.</a:t>
            </a:r>
          </a:p>
        </p:txBody>
      </p:sp>
      <p:sp>
        <p:nvSpPr>
          <p:cNvPr id="56" name="TextBox 55"/>
          <p:cNvSpPr txBox="1"/>
          <p:nvPr/>
        </p:nvSpPr>
        <p:spPr>
          <a:xfrm>
            <a:off x="276225" y="5933691"/>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7" name="lockshield_13"/>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6"/>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19"/>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Ear Wax Removal Products Market Who Shaped Growth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Ranking of the players that shaped growth, by value share, growth role and signature move</a:t>
            </a:r>
          </a:p>
        </p:txBody>
      </p:sp>
      <p:sp>
        <p:nvSpPr>
          <p:cNvPr id="10" name="TextBox 9"/>
          <p:cNvSpPr txBox="1"/>
          <p:nvPr/>
        </p:nvSpPr>
        <p:spPr>
          <a:xfrm>
            <a:off x="142875" y="970754"/>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A framework to identify the companies that most influenced annual Ear Wax Removal Products Market growth, ranked by growth-shaping impact.</a:t>
            </a:r>
          </a:p>
        </p:txBody>
      </p:sp>
      <p:sp>
        <p:nvSpPr>
          <p:cNvPr id="11" name="Rounded Rectangle 10"/>
          <p:cNvSpPr/>
          <p:nvPr/>
        </p:nvSpPr>
        <p:spPr>
          <a:xfrm>
            <a:off x="3619500" y="1189798"/>
            <a:ext cx="4953000" cy="419835"/>
          </a:xfrm>
          <a:prstGeom prst="roundRect">
            <a:avLst>
              <a:gd name="adj" fmla="val 1538"/>
            </a:avLst>
          </a:prstGeom>
          <a:solidFill>
            <a:srgbClr val="F4F8FB"/>
          </a:solidFill>
          <a:ln w="12700">
            <a:solidFill>
              <a:srgbClr val="CF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33800" y="1226305"/>
            <a:ext cx="4724400" cy="173410"/>
          </a:xfrm>
          <a:prstGeom prst="rect">
            <a:avLst/>
          </a:prstGeom>
          <a:noFill/>
        </p:spPr>
        <p:txBody>
          <a:bodyPr wrap="square" lIns="28575" rIns="28575" tIns="9525" bIns="9525" anchor="ctr">
            <a:spAutoFit/>
          </a:bodyPr>
          <a:lstStyle/>
          <a:p>
            <a:pPr algn="ctr"/>
            <a:r>
              <a:rPr sz="1100" b="1">
                <a:solidFill>
                  <a:srgbClr val="0B2E4A"/>
                </a:solidFill>
                <a:latin typeface="Calibri"/>
              </a:rPr>
              <a:t>RANKED BY GROWTH-SHAPING IMPACT</a:t>
            </a:r>
          </a:p>
        </p:txBody>
      </p:sp>
      <p:sp>
        <p:nvSpPr>
          <p:cNvPr id="13" name="TextBox 12"/>
          <p:cNvSpPr txBox="1"/>
          <p:nvPr/>
        </p:nvSpPr>
        <p:spPr>
          <a:xfrm>
            <a:off x="3733800" y="1399716"/>
            <a:ext cx="4724400" cy="173410"/>
          </a:xfrm>
          <a:prstGeom prst="rect">
            <a:avLst/>
          </a:prstGeom>
          <a:noFill/>
        </p:spPr>
        <p:txBody>
          <a:bodyPr wrap="square" lIns="28575" rIns="28575" tIns="9525" bIns="9525" anchor="ctr">
            <a:spAutoFit/>
          </a:bodyPr>
          <a:lstStyle/>
          <a:p>
            <a:pPr algn="ctr"/>
            <a:r>
              <a:rPr sz="1100" b="0">
                <a:solidFill>
                  <a:srgbClr val="6C7A89"/>
                </a:solidFill>
                <a:latin typeface="Calibri"/>
              </a:rPr>
              <a:t>Ranked by overall contribution to category growth, not share alone.</a:t>
            </a:r>
          </a:p>
        </p:txBody>
      </p:sp>
      <p:cxnSp>
        <p:nvCxnSpPr>
          <p:cNvPr id="14" name="Connector 13"/>
          <p:cNvCxnSpPr/>
          <p:nvPr/>
        </p:nvCxnSpPr>
        <p:spPr>
          <a:xfrm>
            <a:off x="428625"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743950"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23875" y="1792170"/>
            <a:ext cx="11106150" cy="0"/>
          </a:xfrm>
          <a:prstGeom prst="line">
            <a:avLst/>
          </a:prstGeom>
          <a:ln w="25400">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11630025" y="1728282"/>
            <a:ext cx="171450" cy="127776"/>
          </a:xfrm>
          <a:custGeom>
            <a:avLst/>
            <a:gdLst/>
            <a:ahLst/>
            <a:cxnLst/>
            <a:rect l="l" t="t" r="r" b="b"/>
            <a:pathLst>
              <a:path w="18" h="14">
                <a:moveTo>
                  <a:pt x="0" y="0"/>
                </a:moveTo>
                <a:lnTo>
                  <a:pt x="18" y="7"/>
                </a:lnTo>
                <a:lnTo>
                  <a:pt x="0" y="14"/>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52525" y="1655267"/>
            <a:ext cx="285750" cy="273805"/>
          </a:xfrm>
          <a:prstGeom prst="ellipse">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525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0" name="Rounded Rectangle 19"/>
          <p:cNvSpPr/>
          <p:nvPr/>
        </p:nvSpPr>
        <p:spPr>
          <a:xfrm>
            <a:off x="142875" y="1992961"/>
            <a:ext cx="2305050" cy="2135683"/>
          </a:xfrm>
          <a:prstGeom prst="roundRect">
            <a:avLst>
              <a:gd name="adj" fmla="val 3719"/>
            </a:avLst>
          </a:prstGeom>
          <a:solidFill>
            <a:srgbClr val="FFFFFF"/>
          </a:solidFill>
          <a:ln w="2032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42875" y="1992961"/>
            <a:ext cx="2305050" cy="310313"/>
          </a:xfrm>
          <a:prstGeom prst="roundRect">
            <a:avLst>
              <a:gd name="adj" fmla="val 3719"/>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71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71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24" name="TextBox 23"/>
          <p:cNvSpPr txBox="1"/>
          <p:nvPr/>
        </p:nvSpPr>
        <p:spPr>
          <a:xfrm>
            <a:off x="5238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Prestige Consumer Healthcare</a:t>
            </a:r>
          </a:p>
        </p:txBody>
      </p:sp>
      <p:sp>
        <p:nvSpPr>
          <p:cNvPr id="25" name="TextBox 24"/>
          <p:cNvSpPr txBox="1"/>
          <p:nvPr/>
        </p:nvSpPr>
        <p:spPr>
          <a:xfrm>
            <a:off x="2381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4286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27" name="Connector 26"/>
          <p:cNvCxnSpPr/>
          <p:nvPr/>
        </p:nvCxnSpPr>
        <p:spPr>
          <a:xfrm>
            <a:off x="2381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381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4286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30" name="TextBox 29"/>
          <p:cNvSpPr txBox="1"/>
          <p:nvPr/>
        </p:nvSpPr>
        <p:spPr>
          <a:xfrm>
            <a:off x="428625" y="2805250"/>
            <a:ext cx="1924050" cy="164283"/>
          </a:xfrm>
          <a:prstGeom prst="rect">
            <a:avLst/>
          </a:prstGeom>
          <a:noFill/>
        </p:spPr>
        <p:txBody>
          <a:bodyPr wrap="square" lIns="28575" rIns="28575" tIns="9525" bIns="9525" anchor="ctr">
            <a:spAutoFit/>
          </a:bodyPr>
          <a:lstStyle/>
          <a:p>
            <a:pPr algn="l"/>
            <a:r>
              <a:rPr sz="1100" b="1">
                <a:solidFill>
                  <a:srgbClr val="0E72AE"/>
                </a:solidFill>
                <a:latin typeface="Calibri"/>
              </a:rPr>
              <a:t>Market leader</a:t>
            </a:r>
          </a:p>
        </p:txBody>
      </p:sp>
      <p:cxnSp>
        <p:nvCxnSpPr>
          <p:cNvPr id="31" name="Connector 30"/>
          <p:cNvCxnSpPr/>
          <p:nvPr/>
        </p:nvCxnSpPr>
        <p:spPr>
          <a:xfrm>
            <a:off x="2381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381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3" name="TextBox 32"/>
          <p:cNvSpPr txBox="1"/>
          <p:nvPr/>
        </p:nvSpPr>
        <p:spPr>
          <a:xfrm>
            <a:off x="4286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34" name="TextBox 33"/>
          <p:cNvSpPr txBox="1"/>
          <p:nvPr/>
        </p:nvSpPr>
        <p:spPr>
          <a:xfrm>
            <a:off x="4286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Expanded reach across its core segment</a:t>
            </a:r>
          </a:p>
        </p:txBody>
      </p:sp>
      <p:cxnSp>
        <p:nvCxnSpPr>
          <p:cNvPr id="35" name="Connector 34"/>
          <p:cNvCxnSpPr/>
          <p:nvPr/>
        </p:nvCxnSpPr>
        <p:spPr>
          <a:xfrm>
            <a:off x="2381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381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7" name="TextBox 36"/>
          <p:cNvSpPr txBox="1"/>
          <p:nvPr/>
        </p:nvSpPr>
        <p:spPr>
          <a:xfrm>
            <a:off x="4286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38" name="TextBox 37"/>
          <p:cNvSpPr txBox="1"/>
          <p:nvPr/>
        </p:nvSpPr>
        <p:spPr>
          <a:xfrm>
            <a:off x="4286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New launch</a:t>
            </a:r>
          </a:p>
        </p:txBody>
      </p:sp>
      <p:sp>
        <p:nvSpPr>
          <p:cNvPr id="39" name="Oval 38"/>
          <p:cNvSpPr/>
          <p:nvPr/>
        </p:nvSpPr>
        <p:spPr>
          <a:xfrm>
            <a:off x="3552825" y="1655267"/>
            <a:ext cx="285750" cy="27380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528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1" name="Rounded Rectangle 40"/>
          <p:cNvSpPr/>
          <p:nvPr/>
        </p:nvSpPr>
        <p:spPr>
          <a:xfrm>
            <a:off x="2543175" y="1992961"/>
            <a:ext cx="2305050" cy="2135683"/>
          </a:xfrm>
          <a:prstGeom prst="roundRect">
            <a:avLst>
              <a:gd name="adj" fmla="val 3719"/>
            </a:avLst>
          </a:prstGeom>
          <a:solidFill>
            <a:srgbClr val="FFFFFF"/>
          </a:solidFill>
          <a:ln w="2032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543175" y="1992961"/>
            <a:ext cx="2305050" cy="310313"/>
          </a:xfrm>
          <a:prstGeom prst="roundRect">
            <a:avLst>
              <a:gd name="adj" fmla="val 3719"/>
            </a:avLst>
          </a:prstGeom>
          <a:solidFill>
            <a:srgbClr val="A35313"/>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6574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574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45" name="TextBox 44"/>
          <p:cNvSpPr txBox="1"/>
          <p:nvPr/>
        </p:nvSpPr>
        <p:spPr>
          <a:xfrm>
            <a:off x="29241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Diomed Group</a:t>
            </a:r>
          </a:p>
        </p:txBody>
      </p:sp>
      <p:sp>
        <p:nvSpPr>
          <p:cNvPr id="46" name="TextBox 45"/>
          <p:cNvSpPr txBox="1"/>
          <p:nvPr/>
        </p:nvSpPr>
        <p:spPr>
          <a:xfrm>
            <a:off x="26384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7" name="TextBox 46"/>
          <p:cNvSpPr txBox="1"/>
          <p:nvPr/>
        </p:nvSpPr>
        <p:spPr>
          <a:xfrm>
            <a:off x="28289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48" name="Connector 47"/>
          <p:cNvCxnSpPr/>
          <p:nvPr/>
        </p:nvCxnSpPr>
        <p:spPr>
          <a:xfrm>
            <a:off x="26384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6384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0" name="TextBox 49"/>
          <p:cNvSpPr txBox="1"/>
          <p:nvPr/>
        </p:nvSpPr>
        <p:spPr>
          <a:xfrm>
            <a:off x="28289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51" name="TextBox 50"/>
          <p:cNvSpPr txBox="1"/>
          <p:nvPr/>
        </p:nvSpPr>
        <p:spPr>
          <a:xfrm>
            <a:off x="2828925" y="2805250"/>
            <a:ext cx="1924050" cy="164283"/>
          </a:xfrm>
          <a:prstGeom prst="rect">
            <a:avLst/>
          </a:prstGeom>
          <a:noFill/>
        </p:spPr>
        <p:txBody>
          <a:bodyPr wrap="square" lIns="28575" rIns="28575" tIns="9525" bIns="9525" anchor="ctr">
            <a:spAutoFit/>
          </a:bodyPr>
          <a:lstStyle/>
          <a:p>
            <a:pPr algn="l"/>
            <a:r>
              <a:rPr sz="1100" b="1">
                <a:solidFill>
                  <a:srgbClr val="A35313"/>
                </a:solidFill>
                <a:latin typeface="Calibri"/>
              </a:rPr>
              <a:t>Portfolio expander</a:t>
            </a:r>
          </a:p>
        </p:txBody>
      </p:sp>
      <p:cxnSp>
        <p:nvCxnSpPr>
          <p:cNvPr id="52" name="Connector 51"/>
          <p:cNvCxnSpPr/>
          <p:nvPr/>
        </p:nvCxnSpPr>
        <p:spPr>
          <a:xfrm>
            <a:off x="26384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26384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4" name="TextBox 53"/>
          <p:cNvSpPr txBox="1"/>
          <p:nvPr/>
        </p:nvSpPr>
        <p:spPr>
          <a:xfrm>
            <a:off x="28289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55" name="TextBox 54"/>
          <p:cNvSpPr txBox="1"/>
          <p:nvPr/>
        </p:nvSpPr>
        <p:spPr>
          <a:xfrm>
            <a:off x="28289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Drove new customer adoption</a:t>
            </a:r>
          </a:p>
        </p:txBody>
      </p:sp>
      <p:cxnSp>
        <p:nvCxnSpPr>
          <p:cNvPr id="56" name="Connector 55"/>
          <p:cNvCxnSpPr/>
          <p:nvPr/>
        </p:nvCxnSpPr>
        <p:spPr>
          <a:xfrm>
            <a:off x="26384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26384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8" name="TextBox 57"/>
          <p:cNvSpPr txBox="1"/>
          <p:nvPr/>
        </p:nvSpPr>
        <p:spPr>
          <a:xfrm>
            <a:off x="28289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59" name="TextBox 58"/>
          <p:cNvSpPr txBox="1"/>
          <p:nvPr/>
        </p:nvSpPr>
        <p:spPr>
          <a:xfrm>
            <a:off x="28289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expansion</a:t>
            </a:r>
          </a:p>
        </p:txBody>
      </p:sp>
      <p:sp>
        <p:nvSpPr>
          <p:cNvPr id="60" name="Oval 59"/>
          <p:cNvSpPr/>
          <p:nvPr/>
        </p:nvSpPr>
        <p:spPr>
          <a:xfrm>
            <a:off x="5953125" y="1655267"/>
            <a:ext cx="285750" cy="273805"/>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531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62" name="Rounded Rectangle 61"/>
          <p:cNvSpPr/>
          <p:nvPr/>
        </p:nvSpPr>
        <p:spPr>
          <a:xfrm>
            <a:off x="4943475" y="1992961"/>
            <a:ext cx="2305050" cy="2135683"/>
          </a:xfrm>
          <a:prstGeom prst="roundRect">
            <a:avLst>
              <a:gd name="adj" fmla="val 3719"/>
            </a:avLst>
          </a:prstGeom>
          <a:solidFill>
            <a:srgbClr val="FFFFFF"/>
          </a:solidFill>
          <a:ln w="2032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4943475" y="1992961"/>
            <a:ext cx="2305050" cy="310313"/>
          </a:xfrm>
          <a:prstGeom prst="roundRect">
            <a:avLst>
              <a:gd name="adj" fmla="val 3719"/>
            </a:avLst>
          </a:prstGeom>
          <a:solidFill>
            <a:srgbClr val="69B1E0"/>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50577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577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66" name="TextBox 65"/>
          <p:cNvSpPr txBox="1"/>
          <p:nvPr/>
        </p:nvSpPr>
        <p:spPr>
          <a:xfrm>
            <a:off x="53244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NeilMed Pharmaceuticals</a:t>
            </a:r>
          </a:p>
        </p:txBody>
      </p:sp>
      <p:sp>
        <p:nvSpPr>
          <p:cNvPr id="67" name="TextBox 66"/>
          <p:cNvSpPr txBox="1"/>
          <p:nvPr/>
        </p:nvSpPr>
        <p:spPr>
          <a:xfrm>
            <a:off x="50387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52292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69" name="Connector 68"/>
          <p:cNvCxnSpPr/>
          <p:nvPr/>
        </p:nvCxnSpPr>
        <p:spPr>
          <a:xfrm>
            <a:off x="50387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50387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1" name="TextBox 70"/>
          <p:cNvSpPr txBox="1"/>
          <p:nvPr/>
        </p:nvSpPr>
        <p:spPr>
          <a:xfrm>
            <a:off x="52292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72" name="TextBox 71"/>
          <p:cNvSpPr txBox="1"/>
          <p:nvPr/>
        </p:nvSpPr>
        <p:spPr>
          <a:xfrm>
            <a:off x="5229225" y="2805250"/>
            <a:ext cx="1924050" cy="164283"/>
          </a:xfrm>
          <a:prstGeom prst="rect">
            <a:avLst/>
          </a:prstGeom>
          <a:noFill/>
        </p:spPr>
        <p:txBody>
          <a:bodyPr wrap="square" lIns="28575" rIns="28575" tIns="9525" bIns="9525" anchor="ctr">
            <a:spAutoFit/>
          </a:bodyPr>
          <a:lstStyle/>
          <a:p>
            <a:pPr algn="l"/>
            <a:r>
              <a:rPr sz="1100" b="1">
                <a:solidFill>
                  <a:srgbClr val="69B1E0"/>
                </a:solidFill>
                <a:latin typeface="Calibri"/>
              </a:rPr>
              <a:t>Access builder</a:t>
            </a:r>
          </a:p>
        </p:txBody>
      </p:sp>
      <p:cxnSp>
        <p:nvCxnSpPr>
          <p:cNvPr id="73" name="Connector 72"/>
          <p:cNvCxnSpPr/>
          <p:nvPr/>
        </p:nvCxnSpPr>
        <p:spPr>
          <a:xfrm>
            <a:off x="50387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0387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5" name="TextBox 74"/>
          <p:cNvSpPr txBox="1"/>
          <p:nvPr/>
        </p:nvSpPr>
        <p:spPr>
          <a:xfrm>
            <a:off x="52292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76" name="TextBox 75"/>
          <p:cNvSpPr txBox="1"/>
          <p:nvPr/>
        </p:nvSpPr>
        <p:spPr>
          <a:xfrm>
            <a:off x="52292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Won through wider channel availability</a:t>
            </a:r>
          </a:p>
        </p:txBody>
      </p:sp>
      <p:cxnSp>
        <p:nvCxnSpPr>
          <p:cNvPr id="77" name="Connector 76"/>
          <p:cNvCxnSpPr/>
          <p:nvPr/>
        </p:nvCxnSpPr>
        <p:spPr>
          <a:xfrm>
            <a:off x="50387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0387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9" name="TextBox 78"/>
          <p:cNvSpPr txBox="1"/>
          <p:nvPr/>
        </p:nvSpPr>
        <p:spPr>
          <a:xfrm>
            <a:off x="52292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80" name="TextBox 79"/>
          <p:cNvSpPr txBox="1"/>
          <p:nvPr/>
        </p:nvSpPr>
        <p:spPr>
          <a:xfrm>
            <a:off x="52292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Pricing strategy</a:t>
            </a:r>
          </a:p>
        </p:txBody>
      </p:sp>
      <p:sp>
        <p:nvSpPr>
          <p:cNvPr id="81" name="Oval 80"/>
          <p:cNvSpPr/>
          <p:nvPr/>
        </p:nvSpPr>
        <p:spPr>
          <a:xfrm>
            <a:off x="8353425" y="1655267"/>
            <a:ext cx="285750" cy="273805"/>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3534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83" name="Rounded Rectangle 82"/>
          <p:cNvSpPr/>
          <p:nvPr/>
        </p:nvSpPr>
        <p:spPr>
          <a:xfrm>
            <a:off x="7343775" y="1992961"/>
            <a:ext cx="2305050" cy="2135683"/>
          </a:xfrm>
          <a:prstGeom prst="roundRect">
            <a:avLst>
              <a:gd name="adj" fmla="val 3719"/>
            </a:avLst>
          </a:prstGeom>
          <a:solidFill>
            <a:srgbClr val="FFFFFF"/>
          </a:solid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7343775" y="1992961"/>
            <a:ext cx="2305050" cy="310313"/>
          </a:xfrm>
          <a:prstGeom prst="roundRect">
            <a:avLst>
              <a:gd name="adj" fmla="val 3719"/>
            </a:avLst>
          </a:prstGeom>
          <a:solidFill>
            <a:srgbClr val="6F3CC2"/>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4580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4580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87" name="TextBox 86"/>
          <p:cNvSpPr txBox="1"/>
          <p:nvPr/>
        </p:nvSpPr>
        <p:spPr>
          <a:xfrm>
            <a:off x="77247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Quest Products</a:t>
            </a:r>
          </a:p>
        </p:txBody>
      </p:sp>
      <p:sp>
        <p:nvSpPr>
          <p:cNvPr id="88" name="TextBox 87"/>
          <p:cNvSpPr txBox="1"/>
          <p:nvPr/>
        </p:nvSpPr>
        <p:spPr>
          <a:xfrm>
            <a:off x="74390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9" name="TextBox 88"/>
          <p:cNvSpPr txBox="1"/>
          <p:nvPr/>
        </p:nvSpPr>
        <p:spPr>
          <a:xfrm>
            <a:off x="76295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90" name="Connector 89"/>
          <p:cNvCxnSpPr/>
          <p:nvPr/>
        </p:nvCxnSpPr>
        <p:spPr>
          <a:xfrm>
            <a:off x="74390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74390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2" name="TextBox 91"/>
          <p:cNvSpPr txBox="1"/>
          <p:nvPr/>
        </p:nvSpPr>
        <p:spPr>
          <a:xfrm>
            <a:off x="76295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93" name="TextBox 92"/>
          <p:cNvSpPr txBox="1"/>
          <p:nvPr/>
        </p:nvSpPr>
        <p:spPr>
          <a:xfrm>
            <a:off x="7629525" y="2805250"/>
            <a:ext cx="1924050" cy="164283"/>
          </a:xfrm>
          <a:prstGeom prst="rect">
            <a:avLst/>
          </a:prstGeom>
          <a:noFill/>
        </p:spPr>
        <p:txBody>
          <a:bodyPr wrap="square" lIns="28575" rIns="28575" tIns="9525" bIns="9525" anchor="ctr">
            <a:spAutoFit/>
          </a:bodyPr>
          <a:lstStyle/>
          <a:p>
            <a:pPr algn="l"/>
            <a:r>
              <a:rPr sz="1100" b="1">
                <a:solidFill>
                  <a:srgbClr val="6F3CC2"/>
                </a:solidFill>
                <a:latin typeface="Calibri"/>
              </a:rPr>
              <a:t>Premiumiser</a:t>
            </a:r>
          </a:p>
        </p:txBody>
      </p:sp>
      <p:cxnSp>
        <p:nvCxnSpPr>
          <p:cNvPr id="94" name="Connector 93"/>
          <p:cNvCxnSpPr/>
          <p:nvPr/>
        </p:nvCxnSpPr>
        <p:spPr>
          <a:xfrm>
            <a:off x="74390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74390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6" name="TextBox 95"/>
          <p:cNvSpPr txBox="1"/>
          <p:nvPr/>
        </p:nvSpPr>
        <p:spPr>
          <a:xfrm>
            <a:off x="76295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97" name="TextBox 96"/>
          <p:cNvSpPr txBox="1"/>
          <p:nvPr/>
        </p:nvSpPr>
        <p:spPr>
          <a:xfrm>
            <a:off x="76295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Supported premium SKU growth</a:t>
            </a:r>
          </a:p>
        </p:txBody>
      </p:sp>
      <p:cxnSp>
        <p:nvCxnSpPr>
          <p:cNvPr id="98" name="Connector 97"/>
          <p:cNvCxnSpPr/>
          <p:nvPr/>
        </p:nvCxnSpPr>
        <p:spPr>
          <a:xfrm>
            <a:off x="74390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74390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0" name="TextBox 99"/>
          <p:cNvSpPr txBox="1"/>
          <p:nvPr/>
        </p:nvSpPr>
        <p:spPr>
          <a:xfrm>
            <a:off x="76295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01" name="TextBox 100"/>
          <p:cNvSpPr txBox="1"/>
          <p:nvPr/>
        </p:nvSpPr>
        <p:spPr>
          <a:xfrm>
            <a:off x="76295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Portfolio/brand investment</a:t>
            </a:r>
          </a:p>
        </p:txBody>
      </p:sp>
      <p:sp>
        <p:nvSpPr>
          <p:cNvPr id="102" name="Oval 101"/>
          <p:cNvSpPr/>
          <p:nvPr/>
        </p:nvSpPr>
        <p:spPr>
          <a:xfrm>
            <a:off x="10753725" y="1655267"/>
            <a:ext cx="285750" cy="27380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07537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104" name="Rounded Rectangle 103"/>
          <p:cNvSpPr/>
          <p:nvPr/>
        </p:nvSpPr>
        <p:spPr>
          <a:xfrm>
            <a:off x="9744075" y="1992961"/>
            <a:ext cx="2305050" cy="2135683"/>
          </a:xfrm>
          <a:prstGeom prst="roundRect">
            <a:avLst>
              <a:gd name="adj" fmla="val 3719"/>
            </a:avLst>
          </a:prstGeom>
          <a:solidFill>
            <a:srgbClr val="FFFFFF"/>
          </a:solidFill>
          <a:ln w="2032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ounded Rectangle 104"/>
          <p:cNvSpPr/>
          <p:nvPr/>
        </p:nvSpPr>
        <p:spPr>
          <a:xfrm>
            <a:off x="9744075" y="1992961"/>
            <a:ext cx="2305050" cy="310313"/>
          </a:xfrm>
          <a:prstGeom prst="roundRect">
            <a:avLst>
              <a:gd name="adj" fmla="val 3719"/>
            </a:avLst>
          </a:prstGeom>
          <a:solidFill>
            <a:srgbClr val="A86F00"/>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98583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8583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108" name="TextBox 107"/>
          <p:cNvSpPr txBox="1"/>
          <p:nvPr/>
        </p:nvSpPr>
        <p:spPr>
          <a:xfrm>
            <a:off x="101250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Eosera</a:t>
            </a:r>
          </a:p>
        </p:txBody>
      </p:sp>
      <p:sp>
        <p:nvSpPr>
          <p:cNvPr id="109" name="TextBox 108"/>
          <p:cNvSpPr txBox="1"/>
          <p:nvPr/>
        </p:nvSpPr>
        <p:spPr>
          <a:xfrm>
            <a:off x="98393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0" name="TextBox 109"/>
          <p:cNvSpPr txBox="1"/>
          <p:nvPr/>
        </p:nvSpPr>
        <p:spPr>
          <a:xfrm>
            <a:off x="100298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111" name="Connector 110"/>
          <p:cNvCxnSpPr/>
          <p:nvPr/>
        </p:nvCxnSpPr>
        <p:spPr>
          <a:xfrm>
            <a:off x="98393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98393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3" name="TextBox 112"/>
          <p:cNvSpPr txBox="1"/>
          <p:nvPr/>
        </p:nvSpPr>
        <p:spPr>
          <a:xfrm>
            <a:off x="100298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114" name="TextBox 113"/>
          <p:cNvSpPr txBox="1"/>
          <p:nvPr/>
        </p:nvSpPr>
        <p:spPr>
          <a:xfrm>
            <a:off x="10029825" y="2805250"/>
            <a:ext cx="1924050" cy="164283"/>
          </a:xfrm>
          <a:prstGeom prst="rect">
            <a:avLst/>
          </a:prstGeom>
          <a:noFill/>
        </p:spPr>
        <p:txBody>
          <a:bodyPr wrap="square" lIns="28575" rIns="28575" tIns="9525" bIns="9525" anchor="ctr">
            <a:spAutoFit/>
          </a:bodyPr>
          <a:lstStyle/>
          <a:p>
            <a:pPr algn="l"/>
            <a:r>
              <a:rPr sz="1100" b="1">
                <a:solidFill>
                  <a:srgbClr val="A86F00"/>
                </a:solidFill>
                <a:latin typeface="Calibri"/>
              </a:rPr>
              <a:t>Disruptor</a:t>
            </a:r>
          </a:p>
        </p:txBody>
      </p:sp>
      <p:cxnSp>
        <p:nvCxnSpPr>
          <p:cNvPr id="115" name="Connector 114"/>
          <p:cNvCxnSpPr/>
          <p:nvPr/>
        </p:nvCxnSpPr>
        <p:spPr>
          <a:xfrm>
            <a:off x="98393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98393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7" name="TextBox 116"/>
          <p:cNvSpPr txBox="1"/>
          <p:nvPr/>
        </p:nvSpPr>
        <p:spPr>
          <a:xfrm>
            <a:off x="100298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118" name="TextBox 117"/>
          <p:cNvSpPr txBox="1"/>
          <p:nvPr/>
        </p:nvSpPr>
        <p:spPr>
          <a:xfrm>
            <a:off x="100298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Strengthened end-user and specifier pull</a:t>
            </a:r>
          </a:p>
        </p:txBody>
      </p:sp>
      <p:cxnSp>
        <p:nvCxnSpPr>
          <p:cNvPr id="119" name="Connector 118"/>
          <p:cNvCxnSpPr/>
          <p:nvPr/>
        </p:nvCxnSpPr>
        <p:spPr>
          <a:xfrm>
            <a:off x="98393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98393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1" name="TextBox 120"/>
          <p:cNvSpPr txBox="1"/>
          <p:nvPr/>
        </p:nvSpPr>
        <p:spPr>
          <a:xfrm>
            <a:off x="100298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22" name="TextBox 121"/>
          <p:cNvSpPr txBox="1"/>
          <p:nvPr/>
        </p:nvSpPr>
        <p:spPr>
          <a:xfrm>
            <a:off x="100298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Partnership / acquisition</a:t>
            </a:r>
          </a:p>
        </p:txBody>
      </p:sp>
      <p:sp>
        <p:nvSpPr>
          <p:cNvPr id="123" name="Rounded Rectangle 122"/>
          <p:cNvSpPr/>
          <p:nvPr/>
        </p:nvSpPr>
        <p:spPr>
          <a:xfrm>
            <a:off x="142875" y="4238166"/>
            <a:ext cx="7886700" cy="2391234"/>
          </a:xfrm>
          <a:prstGeom prst="roundRect">
            <a:avLst>
              <a:gd name="adj" fmla="val 1086"/>
            </a:avLst>
          </a:prstGeom>
          <a:solidFill>
            <a:srgbClr val="F7FAFC"/>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42875" y="4311180"/>
            <a:ext cx="7886700" cy="182537"/>
          </a:xfrm>
          <a:prstGeom prst="rect">
            <a:avLst/>
          </a:prstGeom>
          <a:noFill/>
        </p:spPr>
        <p:txBody>
          <a:bodyPr wrap="square" lIns="28575" rIns="28575" tIns="9525" bIns="9525" anchor="ctr">
            <a:spAutoFit/>
          </a:bodyPr>
          <a:lstStyle/>
          <a:p>
            <a:pPr algn="ctr"/>
            <a:r>
              <a:rPr sz="1100" b="1">
                <a:solidFill>
                  <a:srgbClr val="0B2E4A"/>
                </a:solidFill>
                <a:latin typeface="Calibri"/>
              </a:rPr>
              <a:t>HOW TO DECIDE WHO SHAPED GROWTH</a:t>
            </a:r>
          </a:p>
        </p:txBody>
      </p:sp>
      <p:sp>
        <p:nvSpPr>
          <p:cNvPr id="125" name="Oval 124"/>
          <p:cNvSpPr/>
          <p:nvPr/>
        </p:nvSpPr>
        <p:spPr>
          <a:xfrm>
            <a:off x="815340" y="4539352"/>
            <a:ext cx="400050" cy="383328"/>
          </a:xfrm>
          <a:prstGeom prst="ellipse">
            <a:avLst/>
          </a:prstGeom>
          <a:solidFill>
            <a:srgbClr val="FFFFFF"/>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81534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27" name="TextBox 126"/>
          <p:cNvSpPr txBox="1"/>
          <p:nvPr/>
        </p:nvSpPr>
        <p:spPr>
          <a:xfrm>
            <a:off x="27622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0E72AE"/>
                </a:solidFill>
                <a:latin typeface="Calibri"/>
              </a:rPr>
              <a:t>1. SHARE GAIN</a:t>
            </a:r>
          </a:p>
        </p:txBody>
      </p:sp>
      <p:sp>
        <p:nvSpPr>
          <p:cNvPr id="128" name="TextBox 127"/>
          <p:cNvSpPr txBox="1"/>
          <p:nvPr/>
        </p:nvSpPr>
        <p:spPr>
          <a:xfrm>
            <a:off x="27622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Company gained value or volume share</a:t>
            </a:r>
          </a:p>
        </p:txBody>
      </p:sp>
      <p:sp>
        <p:nvSpPr>
          <p:cNvPr id="129" name="Rounded Rectangle 128"/>
          <p:cNvSpPr/>
          <p:nvPr/>
        </p:nvSpPr>
        <p:spPr>
          <a:xfrm>
            <a:off x="520065" y="6027028"/>
            <a:ext cx="990600" cy="237298"/>
          </a:xfrm>
          <a:prstGeom prst="roundRect">
            <a:avLst>
              <a:gd name="adj" fmla="val 11538"/>
            </a:avLst>
          </a:prstGeom>
          <a:solidFill>
            <a:srgbClr val="FFFFFF"/>
          </a:solidFill>
          <a:ln w="1524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520065" y="6036155"/>
            <a:ext cx="990600" cy="219044"/>
          </a:xfrm>
          <a:prstGeom prst="rect">
            <a:avLst/>
          </a:prstGeom>
          <a:noFill/>
        </p:spPr>
        <p:txBody>
          <a:bodyPr wrap="square" lIns="28575" rIns="28575" tIns="9525" bIns="9525" anchor="ctr">
            <a:spAutoFit/>
          </a:bodyPr>
          <a:lstStyle/>
          <a:p>
            <a:pPr algn="ctr"/>
            <a:r>
              <a:rPr sz="1100" b="1">
                <a:solidFill>
                  <a:srgbClr val="0E72AE"/>
                </a:solidFill>
                <a:latin typeface="Calibri"/>
              </a:rPr>
              <a:t> </a:t>
            </a:r>
          </a:p>
        </p:txBody>
      </p:sp>
      <p:sp>
        <p:nvSpPr>
          <p:cNvPr id="131" name="TextBox 130"/>
          <p:cNvSpPr txBox="1"/>
          <p:nvPr/>
        </p:nvSpPr>
        <p:spPr>
          <a:xfrm>
            <a:off x="175450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2" name="Oval 131"/>
          <p:cNvSpPr/>
          <p:nvPr/>
        </p:nvSpPr>
        <p:spPr>
          <a:xfrm>
            <a:off x="2350770" y="4539352"/>
            <a:ext cx="400050" cy="383328"/>
          </a:xfrm>
          <a:prstGeom prst="ellipse">
            <a:avLst/>
          </a:prstGeom>
          <a:solidFill>
            <a:srgbClr val="FFFFFF"/>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35077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34" name="TextBox 133"/>
          <p:cNvSpPr txBox="1"/>
          <p:nvPr/>
        </p:nvSpPr>
        <p:spPr>
          <a:xfrm>
            <a:off x="181165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35313"/>
                </a:solidFill>
                <a:latin typeface="Calibri"/>
              </a:rPr>
              <a:t>2. DISTRIBUTION EXPANSION</a:t>
            </a:r>
          </a:p>
        </p:txBody>
      </p:sp>
      <p:sp>
        <p:nvSpPr>
          <p:cNvPr id="135" name="TextBox 134"/>
          <p:cNvSpPr txBox="1"/>
          <p:nvPr/>
        </p:nvSpPr>
        <p:spPr>
          <a:xfrm>
            <a:off x="181165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Expanded channel, retail or e-commerce reach</a:t>
            </a:r>
          </a:p>
        </p:txBody>
      </p:sp>
      <p:sp>
        <p:nvSpPr>
          <p:cNvPr id="136" name="Rounded Rectangle 135"/>
          <p:cNvSpPr/>
          <p:nvPr/>
        </p:nvSpPr>
        <p:spPr>
          <a:xfrm>
            <a:off x="2055495" y="6027028"/>
            <a:ext cx="990600" cy="237298"/>
          </a:xfrm>
          <a:prstGeom prst="roundRect">
            <a:avLst>
              <a:gd name="adj" fmla="val 11538"/>
            </a:avLst>
          </a:prstGeom>
          <a:solidFill>
            <a:srgbClr val="FFFFFF"/>
          </a:solidFill>
          <a:ln w="1524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055495" y="6036155"/>
            <a:ext cx="990600" cy="219044"/>
          </a:xfrm>
          <a:prstGeom prst="rect">
            <a:avLst/>
          </a:prstGeom>
          <a:noFill/>
        </p:spPr>
        <p:txBody>
          <a:bodyPr wrap="square" lIns="28575" rIns="28575" tIns="9525" bIns="9525" anchor="ctr">
            <a:spAutoFit/>
          </a:bodyPr>
          <a:lstStyle/>
          <a:p>
            <a:pPr algn="ctr"/>
            <a:r>
              <a:rPr sz="1100" b="1">
                <a:solidFill>
                  <a:srgbClr val="A35313"/>
                </a:solidFill>
                <a:latin typeface="Calibri"/>
              </a:rPr>
              <a:t> </a:t>
            </a:r>
          </a:p>
        </p:txBody>
      </p:sp>
      <p:sp>
        <p:nvSpPr>
          <p:cNvPr id="138" name="TextBox 137"/>
          <p:cNvSpPr txBox="1"/>
          <p:nvPr/>
        </p:nvSpPr>
        <p:spPr>
          <a:xfrm>
            <a:off x="328993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9" name="Oval 138"/>
          <p:cNvSpPr/>
          <p:nvPr/>
        </p:nvSpPr>
        <p:spPr>
          <a:xfrm>
            <a:off x="3886200" y="4539352"/>
            <a:ext cx="400050" cy="383328"/>
          </a:xfrm>
          <a:prstGeom prst="ellipse">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388620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1" name="TextBox 140"/>
          <p:cNvSpPr txBox="1"/>
          <p:nvPr/>
        </p:nvSpPr>
        <p:spPr>
          <a:xfrm>
            <a:off x="334708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9B1E0"/>
                </a:solidFill>
                <a:latin typeface="Calibri"/>
              </a:rPr>
              <a:t>3. INNOVATION / LAUNCHES</a:t>
            </a:r>
          </a:p>
        </p:txBody>
      </p:sp>
      <p:sp>
        <p:nvSpPr>
          <p:cNvPr id="142" name="TextBox 141"/>
          <p:cNvSpPr txBox="1"/>
          <p:nvPr/>
        </p:nvSpPr>
        <p:spPr>
          <a:xfrm>
            <a:off x="334708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New SKUs, pack sizes or product improvements</a:t>
            </a:r>
          </a:p>
        </p:txBody>
      </p:sp>
      <p:sp>
        <p:nvSpPr>
          <p:cNvPr id="143" name="Rounded Rectangle 142"/>
          <p:cNvSpPr/>
          <p:nvPr/>
        </p:nvSpPr>
        <p:spPr>
          <a:xfrm>
            <a:off x="3590925" y="6027028"/>
            <a:ext cx="990600" cy="237298"/>
          </a:xfrm>
          <a:prstGeom prst="roundRect">
            <a:avLst>
              <a:gd name="adj" fmla="val 11538"/>
            </a:avLst>
          </a:prstGeom>
          <a:solidFill>
            <a:srgbClr val="FFFFFF"/>
          </a:solidFill>
          <a:ln w="1524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590925" y="6036155"/>
            <a:ext cx="990600" cy="219044"/>
          </a:xfrm>
          <a:prstGeom prst="rect">
            <a:avLst/>
          </a:prstGeom>
          <a:noFill/>
        </p:spPr>
        <p:txBody>
          <a:bodyPr wrap="square" lIns="28575" rIns="28575" tIns="9525" bIns="9525" anchor="ctr">
            <a:spAutoFit/>
          </a:bodyPr>
          <a:lstStyle/>
          <a:p>
            <a:pPr algn="ctr"/>
            <a:r>
              <a:rPr sz="1100" b="1">
                <a:solidFill>
                  <a:srgbClr val="69B1E0"/>
                </a:solidFill>
                <a:latin typeface="Calibri"/>
              </a:rPr>
              <a:t> </a:t>
            </a:r>
          </a:p>
        </p:txBody>
      </p:sp>
      <p:sp>
        <p:nvSpPr>
          <p:cNvPr id="145" name="TextBox 144"/>
          <p:cNvSpPr txBox="1"/>
          <p:nvPr/>
        </p:nvSpPr>
        <p:spPr>
          <a:xfrm>
            <a:off x="482536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46" name="Oval 145"/>
          <p:cNvSpPr/>
          <p:nvPr/>
        </p:nvSpPr>
        <p:spPr>
          <a:xfrm>
            <a:off x="5421630" y="4539352"/>
            <a:ext cx="400050" cy="383328"/>
          </a:xfrm>
          <a:prstGeom prst="ellipse">
            <a:avLst/>
          </a:prstGeom>
          <a:solidFill>
            <a:srgbClr val="FFFFFF"/>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542163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8" name="TextBox 147"/>
          <p:cNvSpPr txBox="1"/>
          <p:nvPr/>
        </p:nvSpPr>
        <p:spPr>
          <a:xfrm>
            <a:off x="488251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F3CC2"/>
                </a:solidFill>
                <a:latin typeface="Calibri"/>
              </a:rPr>
              <a:t>4. BUYER INFLUENCE</a:t>
            </a:r>
          </a:p>
        </p:txBody>
      </p:sp>
      <p:sp>
        <p:nvSpPr>
          <p:cNvPr id="149" name="TextBox 148"/>
          <p:cNvSpPr txBox="1"/>
          <p:nvPr/>
        </p:nvSpPr>
        <p:spPr>
          <a:xfrm>
            <a:off x="488251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Stronger specifier, channel or end-user pull</a:t>
            </a:r>
          </a:p>
        </p:txBody>
      </p:sp>
      <p:sp>
        <p:nvSpPr>
          <p:cNvPr id="150" name="Rounded Rectangle 149"/>
          <p:cNvSpPr/>
          <p:nvPr/>
        </p:nvSpPr>
        <p:spPr>
          <a:xfrm>
            <a:off x="5126355" y="6027028"/>
            <a:ext cx="990600" cy="237298"/>
          </a:xfrm>
          <a:prstGeom prst="roundRect">
            <a:avLst>
              <a:gd name="adj" fmla="val 11538"/>
            </a:avLst>
          </a:prstGeom>
          <a:solidFill>
            <a:srgbClr val="FFFFFF"/>
          </a:solidFill>
          <a:ln w="1524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126355" y="6036155"/>
            <a:ext cx="990600" cy="219044"/>
          </a:xfrm>
          <a:prstGeom prst="rect">
            <a:avLst/>
          </a:prstGeom>
          <a:noFill/>
        </p:spPr>
        <p:txBody>
          <a:bodyPr wrap="square" lIns="28575" rIns="28575" tIns="9525" bIns="9525" anchor="ctr">
            <a:spAutoFit/>
          </a:bodyPr>
          <a:lstStyle/>
          <a:p>
            <a:pPr algn="ctr"/>
            <a:r>
              <a:rPr sz="1100" b="1">
                <a:solidFill>
                  <a:srgbClr val="6F3CC2"/>
                </a:solidFill>
                <a:latin typeface="Calibri"/>
              </a:rPr>
              <a:t> </a:t>
            </a:r>
          </a:p>
        </p:txBody>
      </p:sp>
      <p:sp>
        <p:nvSpPr>
          <p:cNvPr id="152" name="TextBox 151"/>
          <p:cNvSpPr txBox="1"/>
          <p:nvPr/>
        </p:nvSpPr>
        <p:spPr>
          <a:xfrm>
            <a:off x="636079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53" name="Oval 152"/>
          <p:cNvSpPr/>
          <p:nvPr/>
        </p:nvSpPr>
        <p:spPr>
          <a:xfrm>
            <a:off x="6957060" y="4539352"/>
            <a:ext cx="400050" cy="383328"/>
          </a:xfrm>
          <a:prstGeom prst="ellipse">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695706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55" name="TextBox 154"/>
          <p:cNvSpPr txBox="1"/>
          <p:nvPr/>
        </p:nvSpPr>
        <p:spPr>
          <a:xfrm>
            <a:off x="641794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86F00"/>
                </a:solidFill>
                <a:latin typeface="Calibri"/>
              </a:rPr>
              <a:t>5. BRAND / PRICING POWER</a:t>
            </a:r>
          </a:p>
        </p:txBody>
      </p:sp>
      <p:sp>
        <p:nvSpPr>
          <p:cNvPr id="156" name="TextBox 155"/>
          <p:cNvSpPr txBox="1"/>
          <p:nvPr/>
        </p:nvSpPr>
        <p:spPr>
          <a:xfrm>
            <a:off x="641794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Premiumisation, positioning or pricing execution</a:t>
            </a:r>
          </a:p>
        </p:txBody>
      </p:sp>
      <p:sp>
        <p:nvSpPr>
          <p:cNvPr id="157" name="Rounded Rectangle 156"/>
          <p:cNvSpPr/>
          <p:nvPr/>
        </p:nvSpPr>
        <p:spPr>
          <a:xfrm>
            <a:off x="6661785" y="6027028"/>
            <a:ext cx="990600" cy="237298"/>
          </a:xfrm>
          <a:prstGeom prst="roundRect">
            <a:avLst>
              <a:gd name="adj" fmla="val 11538"/>
            </a:avLst>
          </a:prstGeom>
          <a:solidFill>
            <a:srgbClr val="FFFFFF"/>
          </a:solidFill>
          <a:ln w="1524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6661785" y="6036155"/>
            <a:ext cx="990600" cy="219044"/>
          </a:xfrm>
          <a:prstGeom prst="rect">
            <a:avLst/>
          </a:prstGeom>
          <a:noFill/>
        </p:spPr>
        <p:txBody>
          <a:bodyPr wrap="square" lIns="28575" rIns="28575" tIns="9525" bIns="9525" anchor="ctr">
            <a:spAutoFit/>
          </a:bodyPr>
          <a:lstStyle/>
          <a:p>
            <a:pPr algn="ctr"/>
            <a:r>
              <a:rPr sz="1100" b="1">
                <a:solidFill>
                  <a:srgbClr val="A86F00"/>
                </a:solidFill>
                <a:latin typeface="Calibri"/>
              </a:rPr>
              <a:t> </a:t>
            </a:r>
          </a:p>
        </p:txBody>
      </p:sp>
      <p:sp>
        <p:nvSpPr>
          <p:cNvPr id="159" name="Rounded Rectangle 158"/>
          <p:cNvSpPr/>
          <p:nvPr/>
        </p:nvSpPr>
        <p:spPr>
          <a:xfrm>
            <a:off x="8191500" y="4238166"/>
            <a:ext cx="3857625" cy="2391234"/>
          </a:xfrm>
          <a:prstGeom prst="roundRect">
            <a:avLst>
              <a:gd name="adj" fmla="val 2222"/>
            </a:avLst>
          </a:prstGeom>
          <a:solidFill>
            <a:srgbClr val="F4FAF9"/>
          </a:solidFill>
          <a:ln w="12700">
            <a:solidFill>
              <a:srgbClr val="CF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8191500" y="4311180"/>
            <a:ext cx="3857625" cy="182537"/>
          </a:xfrm>
          <a:prstGeom prst="rect">
            <a:avLst/>
          </a:prstGeom>
          <a:noFill/>
        </p:spPr>
        <p:txBody>
          <a:bodyPr wrap="square" lIns="28575" rIns="28575" tIns="9525" bIns="9525" anchor="ctr">
            <a:spAutoFit/>
          </a:bodyPr>
          <a:lstStyle/>
          <a:p>
            <a:pPr algn="ctr"/>
            <a:r>
              <a:rPr sz="1100" b="1">
                <a:solidFill>
                  <a:srgbClr val="1F6F63"/>
                </a:solidFill>
                <a:latin typeface="Calibri"/>
              </a:rPr>
              <a:t>BEST WAY TO USE THIS SLIDE</a:t>
            </a:r>
          </a:p>
        </p:txBody>
      </p:sp>
      <p:cxnSp>
        <p:nvCxnSpPr>
          <p:cNvPr id="161" name="Connector 160"/>
          <p:cNvCxnSpPr/>
          <p:nvPr/>
        </p:nvCxnSpPr>
        <p:spPr>
          <a:xfrm>
            <a:off x="8343900" y="4548478"/>
            <a:ext cx="3552825" cy="0"/>
          </a:xfrm>
          <a:prstGeom prst="line">
            <a:avLst/>
          </a:prstGeom>
          <a:ln w="12700">
            <a:solidFill>
              <a:srgbClr val="CFE3E0"/>
            </a:solidFill>
          </a:ln>
          <a:effectLst/>
        </p:spPr>
        <p:style>
          <a:lnRef idx="2">
            <a:schemeClr val="accent1"/>
          </a:lnRef>
          <a:fillRef idx="0">
            <a:schemeClr val="accent1"/>
          </a:fillRef>
          <a:effectRef idx="1">
            <a:schemeClr val="accent1"/>
          </a:effectRef>
          <a:fontRef idx="minor">
            <a:schemeClr val="tx1"/>
          </a:fontRef>
        </p:style>
      </p:cxnSp>
      <p:sp>
        <p:nvSpPr>
          <p:cNvPr id="162" name="Oval 161"/>
          <p:cNvSpPr/>
          <p:nvPr/>
        </p:nvSpPr>
        <p:spPr>
          <a:xfrm>
            <a:off x="8372475" y="4721889"/>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8372475" y="4767523"/>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4" name="TextBox 163"/>
          <p:cNvSpPr txBox="1"/>
          <p:nvPr/>
        </p:nvSpPr>
        <p:spPr>
          <a:xfrm>
            <a:off x="8743950" y="4694508"/>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Rank companies by impact on category growth</a:t>
            </a:r>
          </a:p>
        </p:txBody>
      </p:sp>
      <p:sp>
        <p:nvSpPr>
          <p:cNvPr id="165" name="Oval 164"/>
          <p:cNvSpPr/>
          <p:nvPr/>
        </p:nvSpPr>
        <p:spPr>
          <a:xfrm>
            <a:off x="8372475" y="5360768"/>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372475" y="540640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7" name="TextBox 166"/>
          <p:cNvSpPr txBox="1"/>
          <p:nvPr/>
        </p:nvSpPr>
        <p:spPr>
          <a:xfrm>
            <a:off x="8743950" y="533338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Mention the one move that explains their impact</a:t>
            </a:r>
          </a:p>
        </p:txBody>
      </p:sp>
      <p:sp>
        <p:nvSpPr>
          <p:cNvPr id="168" name="Oval 167"/>
          <p:cNvSpPr/>
          <p:nvPr/>
        </p:nvSpPr>
        <p:spPr>
          <a:xfrm>
            <a:off x="8372475" y="5999647"/>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372475" y="604528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70" name="TextBox 169"/>
          <p:cNvSpPr txBox="1"/>
          <p:nvPr/>
        </p:nvSpPr>
        <p:spPr>
          <a:xfrm>
            <a:off x="8743950" y="597226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Do not rely on market share alone</a:t>
            </a:r>
          </a:p>
        </p:txBody>
      </p:sp>
      <p:sp>
        <p:nvSpPr>
          <p:cNvPr id="171" name="TextBox 17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2" name="Picture 171" descr="lock.png"/>
          <p:cNvPicPr>
            <a:picLocks noChangeAspect="1"/>
          </p:cNvPicPr>
          <p:nvPr/>
        </p:nvPicPr>
        <p:blipFill>
          <a:blip r:embed="rId4"/>
          <a:stretch>
            <a:fillRect/>
          </a:stretch>
        </p:blipFill>
        <p:spPr>
          <a:xfrm>
            <a:off x="951015" y="6052078"/>
            <a:ext cx="128699" cy="187198"/>
          </a:xfrm>
          <a:prstGeom prst="rect">
            <a:avLst/>
          </a:prstGeom>
        </p:spPr>
      </p:pic>
      <p:pic>
        <p:nvPicPr>
          <p:cNvPr id="173" name="Picture 172" descr="lock.png"/>
          <p:cNvPicPr>
            <a:picLocks noChangeAspect="1"/>
          </p:cNvPicPr>
          <p:nvPr/>
        </p:nvPicPr>
        <p:blipFill>
          <a:blip r:embed="rId4"/>
          <a:stretch>
            <a:fillRect/>
          </a:stretch>
        </p:blipFill>
        <p:spPr>
          <a:xfrm>
            <a:off x="2486445" y="6052078"/>
            <a:ext cx="128699" cy="187198"/>
          </a:xfrm>
          <a:prstGeom prst="rect">
            <a:avLst/>
          </a:prstGeom>
        </p:spPr>
      </p:pic>
      <p:pic>
        <p:nvPicPr>
          <p:cNvPr id="174" name="Picture 173" descr="lock.png"/>
          <p:cNvPicPr>
            <a:picLocks noChangeAspect="1"/>
          </p:cNvPicPr>
          <p:nvPr/>
        </p:nvPicPr>
        <p:blipFill>
          <a:blip r:embed="rId4"/>
          <a:stretch>
            <a:fillRect/>
          </a:stretch>
        </p:blipFill>
        <p:spPr>
          <a:xfrm>
            <a:off x="4021875" y="6052078"/>
            <a:ext cx="128699" cy="187198"/>
          </a:xfrm>
          <a:prstGeom prst="rect">
            <a:avLst/>
          </a:prstGeom>
        </p:spPr>
      </p:pic>
      <p:pic>
        <p:nvPicPr>
          <p:cNvPr id="175" name="Picture 174" descr="lock.png"/>
          <p:cNvPicPr>
            <a:picLocks noChangeAspect="1"/>
          </p:cNvPicPr>
          <p:nvPr/>
        </p:nvPicPr>
        <p:blipFill>
          <a:blip r:embed="rId4"/>
          <a:stretch>
            <a:fillRect/>
          </a:stretch>
        </p:blipFill>
        <p:spPr>
          <a:xfrm>
            <a:off x="5557305" y="6052078"/>
            <a:ext cx="128699" cy="187198"/>
          </a:xfrm>
          <a:prstGeom prst="rect">
            <a:avLst/>
          </a:prstGeom>
        </p:spPr>
      </p:pic>
      <p:pic>
        <p:nvPicPr>
          <p:cNvPr id="176" name="Picture 175" descr="lock.png"/>
          <p:cNvPicPr>
            <a:picLocks noChangeAspect="1"/>
          </p:cNvPicPr>
          <p:nvPr/>
        </p:nvPicPr>
        <p:blipFill>
          <a:blip r:embed="rId4"/>
          <a:stretch>
            <a:fillRect/>
          </a:stretch>
        </p:blipFill>
        <p:spPr>
          <a:xfrm>
            <a:off x="7092735" y="6052078"/>
            <a:ext cx="128699" cy="187198"/>
          </a:xfrm>
          <a:prstGeom prst="rect">
            <a:avLst/>
          </a:prstGeom>
        </p:spPr>
      </p:pic>
      <p:sp>
        <p:nvSpPr>
          <p:cNvPr id="177" name="TextBox 176"/>
          <p:cNvSpPr txBox="1"/>
          <p:nvPr/>
        </p:nvSpPr>
        <p:spPr>
          <a:xfrm>
            <a:off x="4572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78" name="Picture 177" descr="lock.png"/>
          <p:cNvPicPr>
            <a:picLocks noChangeAspect="1"/>
          </p:cNvPicPr>
          <p:nvPr/>
        </p:nvPicPr>
        <p:blipFill>
          <a:blip r:embed="rId4"/>
          <a:stretch>
            <a:fillRect/>
          </a:stretch>
        </p:blipFill>
        <p:spPr>
          <a:xfrm>
            <a:off x="994083" y="2391038"/>
            <a:ext cx="92663" cy="134782"/>
          </a:xfrm>
          <a:prstGeom prst="rect">
            <a:avLst/>
          </a:prstGeom>
        </p:spPr>
      </p:pic>
      <p:sp>
        <p:nvSpPr>
          <p:cNvPr id="179" name="TextBox 178"/>
          <p:cNvSpPr txBox="1"/>
          <p:nvPr/>
        </p:nvSpPr>
        <p:spPr>
          <a:xfrm>
            <a:off x="28575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0" name="Picture 179" descr="lock.png"/>
          <p:cNvPicPr>
            <a:picLocks noChangeAspect="1"/>
          </p:cNvPicPr>
          <p:nvPr/>
        </p:nvPicPr>
        <p:blipFill>
          <a:blip r:embed="rId4"/>
          <a:stretch>
            <a:fillRect/>
          </a:stretch>
        </p:blipFill>
        <p:spPr>
          <a:xfrm>
            <a:off x="3394383" y="2391038"/>
            <a:ext cx="92663" cy="134782"/>
          </a:xfrm>
          <a:prstGeom prst="rect">
            <a:avLst/>
          </a:prstGeom>
        </p:spPr>
      </p:pic>
      <p:sp>
        <p:nvSpPr>
          <p:cNvPr id="181" name="TextBox 180"/>
          <p:cNvSpPr txBox="1"/>
          <p:nvPr/>
        </p:nvSpPr>
        <p:spPr>
          <a:xfrm>
            <a:off x="52578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2" name="Picture 181" descr="lock.png"/>
          <p:cNvPicPr>
            <a:picLocks noChangeAspect="1"/>
          </p:cNvPicPr>
          <p:nvPr/>
        </p:nvPicPr>
        <p:blipFill>
          <a:blip r:embed="rId4"/>
          <a:stretch>
            <a:fillRect/>
          </a:stretch>
        </p:blipFill>
        <p:spPr>
          <a:xfrm>
            <a:off x="5794683" y="2391038"/>
            <a:ext cx="92663" cy="134782"/>
          </a:xfrm>
          <a:prstGeom prst="rect">
            <a:avLst/>
          </a:prstGeom>
        </p:spPr>
      </p:pic>
      <p:sp>
        <p:nvSpPr>
          <p:cNvPr id="183" name="TextBox 182"/>
          <p:cNvSpPr txBox="1"/>
          <p:nvPr/>
        </p:nvSpPr>
        <p:spPr>
          <a:xfrm>
            <a:off x="76581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4" name="Picture 183" descr="lock.png"/>
          <p:cNvPicPr>
            <a:picLocks noChangeAspect="1"/>
          </p:cNvPicPr>
          <p:nvPr/>
        </p:nvPicPr>
        <p:blipFill>
          <a:blip r:embed="rId4"/>
          <a:stretch>
            <a:fillRect/>
          </a:stretch>
        </p:blipFill>
        <p:spPr>
          <a:xfrm>
            <a:off x="8194983" y="2391038"/>
            <a:ext cx="92663" cy="134782"/>
          </a:xfrm>
          <a:prstGeom prst="rect">
            <a:avLst/>
          </a:prstGeom>
        </p:spPr>
      </p:pic>
      <p:sp>
        <p:nvSpPr>
          <p:cNvPr id="185" name="TextBox 184"/>
          <p:cNvSpPr txBox="1"/>
          <p:nvPr/>
        </p:nvSpPr>
        <p:spPr>
          <a:xfrm>
            <a:off x="100584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6" name="Picture 185" descr="lock.png"/>
          <p:cNvPicPr>
            <a:picLocks noChangeAspect="1"/>
          </p:cNvPicPr>
          <p:nvPr/>
        </p:nvPicPr>
        <p:blipFill>
          <a:blip r:embed="rId4"/>
          <a:stretch>
            <a:fillRect/>
          </a:stretch>
        </p:blipFill>
        <p:spPr>
          <a:xfrm>
            <a:off x="10595283" y="2391038"/>
            <a:ext cx="92663" cy="134782"/>
          </a:xfrm>
          <a:prstGeom prst="rect">
            <a:avLst/>
          </a:prstGeom>
        </p:spPr>
      </p:pic>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Ear Wax Removal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Company Profiles &amp; Strategic Benchmarking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Prestige Consumer Healthcare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Prestige Consumer Healthcare Penetration &amp; Win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Prestige Consumer Healthcare SWOT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Prestige Consumer Healthcare Key Financials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Prestige Consumer Healthcare Strategy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Prestige Consumer Healthcare Executive Market Snapshot (1/5)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total market, addressable opportunity and share of market by end-market, region and product</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Executive snapshot and strategic positioning Prestige Consumer Healthcare: market, addressable opportunity and SOM splits by end-market, region and product.</a:t>
            </a:r>
          </a:p>
        </p:txBody>
      </p:sp>
      <p:sp>
        <p:nvSpPr>
          <p:cNvPr id="11" name="Rounded Rectangle 10"/>
          <p:cNvSpPr/>
          <p:nvPr/>
        </p:nvSpPr>
        <p:spPr>
          <a:xfrm>
            <a:off x="14287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TAM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Total market</a:t>
            </a:r>
          </a:p>
        </p:txBody>
      </p:sp>
      <p:sp>
        <p:nvSpPr>
          <p:cNvPr id="12" name="Rounded Rectangle 11"/>
          <p:cNvSpPr/>
          <p:nvPr/>
        </p:nvSpPr>
        <p:spPr>
          <a:xfrm>
            <a:off x="254317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SAM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Addressable</a:t>
            </a:r>
          </a:p>
        </p:txBody>
      </p:sp>
      <p:sp>
        <p:nvSpPr>
          <p:cNvPr id="13" name="Rounded Rectangle 12"/>
          <p:cNvSpPr/>
          <p:nvPr/>
        </p:nvSpPr>
        <p:spPr>
          <a:xfrm>
            <a:off x="4953000"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4" name="Rounded Rectangle 13"/>
          <p:cNvSpPr/>
          <p:nvPr/>
        </p:nvSpPr>
        <p:spPr>
          <a:xfrm>
            <a:off x="7353300"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Order momentum</a:t>
            </a:r>
          </a:p>
        </p:txBody>
      </p:sp>
      <p:sp>
        <p:nvSpPr>
          <p:cNvPr id="15" name="Rounded Rectangle 14"/>
          <p:cNvSpPr/>
          <p:nvPr/>
        </p:nvSpPr>
        <p:spPr>
          <a:xfrm>
            <a:off x="976312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Profitability</a:t>
            </a:r>
          </a:p>
        </p:txBody>
      </p:sp>
      <p:sp>
        <p:nvSpPr>
          <p:cNvPr id="16" name="Rounded Rectangle 15"/>
          <p:cNvSpPr/>
          <p:nvPr/>
        </p:nvSpPr>
        <p:spPr>
          <a:xfrm>
            <a:off x="142875" y="2065976"/>
            <a:ext cx="38290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End-Market (US$ Mn)</a:t>
            </a:r>
          </a:p>
        </p:txBody>
      </p:sp>
      <p:graphicFrame>
        <p:nvGraphicFramePr>
          <p:cNvPr id="18" name="Chart 17"/>
          <p:cNvGraphicFramePr>
            <a:graphicFrameLocks noGrp="1"/>
          </p:cNvGraphicFramePr>
          <p:nvPr/>
        </p:nvGraphicFramePr>
        <p:xfrm>
          <a:off x="238125" y="2351726"/>
          <a:ext cx="3638550" cy="2267379"/>
        </p:xfrm>
        <a:graphic>
          <a:graphicData uri="http://schemas.openxmlformats.org/drawingml/2006/chart">
            <c:chart xmlns:c="http://schemas.openxmlformats.org/drawingml/2006/chart" r:id="rId3"/>
          </a:graphicData>
        </a:graphic>
      </p:graphicFrame>
      <p:sp>
        <p:nvSpPr>
          <p:cNvPr id="19" name="Rounded Rectangle 18"/>
          <p:cNvSpPr/>
          <p:nvPr/>
        </p:nvSpPr>
        <p:spPr>
          <a:xfrm>
            <a:off x="4124325" y="2065976"/>
            <a:ext cx="38290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1957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Region (US$ Mn)</a:t>
            </a:r>
          </a:p>
        </p:txBody>
      </p:sp>
      <p:graphicFrame>
        <p:nvGraphicFramePr>
          <p:cNvPr id="21" name="Chart 20"/>
          <p:cNvGraphicFramePr>
            <a:graphicFrameLocks noGrp="1"/>
          </p:cNvGraphicFramePr>
          <p:nvPr/>
        </p:nvGraphicFramePr>
        <p:xfrm>
          <a:off x="4219575" y="2351726"/>
          <a:ext cx="3638550" cy="2267379"/>
        </p:xfrm>
        <a:graphic>
          <a:graphicData uri="http://schemas.openxmlformats.org/drawingml/2006/chart">
            <c:chart xmlns:c="http://schemas.openxmlformats.org/drawingml/2006/chart" r:id="rId4"/>
          </a:graphicData>
        </a:graphic>
      </p:graphicFrame>
      <p:sp>
        <p:nvSpPr>
          <p:cNvPr id="22" name="Rounded Rectangle 21"/>
          <p:cNvSpPr/>
          <p:nvPr/>
        </p:nvSpPr>
        <p:spPr>
          <a:xfrm>
            <a:off x="8105775" y="2065976"/>
            <a:ext cx="39433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01025" y="2123126"/>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Product Line (US$ Mn)</a:t>
            </a:r>
          </a:p>
        </p:txBody>
      </p:sp>
      <p:graphicFrame>
        <p:nvGraphicFramePr>
          <p:cNvPr id="24" name="Chart 23"/>
          <p:cNvGraphicFramePr>
            <a:graphicFrameLocks noGrp="1"/>
          </p:cNvGraphicFramePr>
          <p:nvPr/>
        </p:nvGraphicFramePr>
        <p:xfrm>
          <a:off x="8201025" y="2351726"/>
          <a:ext cx="3752850" cy="2267379"/>
        </p:xfrm>
        <a:graphic>
          <a:graphicData uri="http://schemas.openxmlformats.org/drawingml/2006/chart">
            <c:chart xmlns:c="http://schemas.openxmlformats.org/drawingml/2006/chart" r:id="rId5"/>
          </a:graphicData>
        </a:graphic>
      </p:graphicFrame>
      <p:sp>
        <p:nvSpPr>
          <p:cNvPr id="25" name="Rounded Rectangle 24"/>
          <p:cNvSpPr/>
          <p:nvPr/>
        </p:nvSpPr>
        <p:spPr>
          <a:xfrm>
            <a:off x="142875" y="4785777"/>
            <a:ext cx="11906250" cy="1807116"/>
          </a:xfrm>
          <a:prstGeom prst="roundRect">
            <a:avLst>
              <a:gd name="adj" fmla="val 42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4871502"/>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27" name="Rectangle 26"/>
          <p:cNvSpPr/>
          <p:nvPr/>
        </p:nvSpPr>
        <p:spPr>
          <a:xfrm>
            <a:off x="276225" y="5109627"/>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225" y="5195352"/>
            <a:ext cx="11639550" cy="132134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7"/>
          <a:stretch>
            <a:fillRect/>
          </a:stretch>
        </p:blipFill>
        <p:spPr>
          <a:xfrm>
            <a:off x="1202531" y="1522714"/>
            <a:ext cx="157162" cy="228600"/>
          </a:xfrm>
          <a:prstGeom prst="rect">
            <a:avLst/>
          </a:prstGeom>
        </p:spPr>
      </p:pic>
      <p:pic>
        <p:nvPicPr>
          <p:cNvPr id="31" name="Picture 30" descr="lock.png"/>
          <p:cNvPicPr>
            <a:picLocks noChangeAspect="1"/>
          </p:cNvPicPr>
          <p:nvPr/>
        </p:nvPicPr>
        <p:blipFill>
          <a:blip r:embed="rId7"/>
          <a:stretch>
            <a:fillRect/>
          </a:stretch>
        </p:blipFill>
        <p:spPr>
          <a:xfrm>
            <a:off x="3602831" y="1522714"/>
            <a:ext cx="157162" cy="228600"/>
          </a:xfrm>
          <a:prstGeom prst="rect">
            <a:avLst/>
          </a:prstGeom>
        </p:spPr>
      </p:pic>
      <p:pic>
        <p:nvPicPr>
          <p:cNvPr id="32" name="Picture 31" descr="lock.png"/>
          <p:cNvPicPr>
            <a:picLocks noChangeAspect="1"/>
          </p:cNvPicPr>
          <p:nvPr/>
        </p:nvPicPr>
        <p:blipFill>
          <a:blip r:embed="rId7"/>
          <a:stretch>
            <a:fillRect/>
          </a:stretch>
        </p:blipFill>
        <p:spPr>
          <a:xfrm>
            <a:off x="8412956" y="1522714"/>
            <a:ext cx="157162" cy="228600"/>
          </a:xfrm>
          <a:prstGeom prst="rect">
            <a:avLst/>
          </a:prstGeom>
        </p:spPr>
      </p:pic>
      <p:pic>
        <p:nvPicPr>
          <p:cNvPr id="33" name="Picture 32" descr="lock.png"/>
          <p:cNvPicPr>
            <a:picLocks noChangeAspect="1"/>
          </p:cNvPicPr>
          <p:nvPr/>
        </p:nvPicPr>
        <p:blipFill>
          <a:blip r:embed="rId7"/>
          <a:stretch>
            <a:fillRect/>
          </a:stretch>
        </p:blipFill>
        <p:spPr>
          <a:xfrm>
            <a:off x="10822781" y="1522714"/>
            <a:ext cx="157162" cy="228600"/>
          </a:xfrm>
          <a:prstGeom prst="rect">
            <a:avLst/>
          </a:prstGeom>
        </p:spPr>
      </p:pic>
      <p:pic>
        <p:nvPicPr>
          <p:cNvPr id="34" name="Picture 33" descr="lock.png"/>
          <p:cNvPicPr>
            <a:picLocks noChangeAspect="1"/>
          </p:cNvPicPr>
          <p:nvPr/>
        </p:nvPicPr>
        <p:blipFill>
          <a:blip r:embed="rId7"/>
          <a:stretch>
            <a:fillRect/>
          </a:stretch>
        </p:blipFill>
        <p:spPr>
          <a:xfrm>
            <a:off x="2104623" y="3299104"/>
            <a:ext cx="197242" cy="286897"/>
          </a:xfrm>
          <a:prstGeom prst="rect">
            <a:avLst/>
          </a:prstGeom>
        </p:spPr>
      </p:pic>
      <p:pic>
        <p:nvPicPr>
          <p:cNvPr id="35" name="Picture 34" descr="lock.png"/>
          <p:cNvPicPr>
            <a:picLocks noChangeAspect="1"/>
          </p:cNvPicPr>
          <p:nvPr/>
        </p:nvPicPr>
        <p:blipFill>
          <a:blip r:embed="rId7"/>
          <a:stretch>
            <a:fillRect/>
          </a:stretch>
        </p:blipFill>
        <p:spPr>
          <a:xfrm>
            <a:off x="6086073" y="3299104"/>
            <a:ext cx="197242" cy="286897"/>
          </a:xfrm>
          <a:prstGeom prst="rect">
            <a:avLst/>
          </a:prstGeom>
        </p:spPr>
      </p:pic>
      <p:pic>
        <p:nvPicPr>
          <p:cNvPr id="36" name="Picture 35" descr="lock.png"/>
          <p:cNvPicPr>
            <a:picLocks noChangeAspect="1"/>
          </p:cNvPicPr>
          <p:nvPr/>
        </p:nvPicPr>
        <p:blipFill>
          <a:blip r:embed="rId7"/>
          <a:stretch>
            <a:fillRect/>
          </a:stretch>
        </p:blipFill>
        <p:spPr>
          <a:xfrm>
            <a:off x="9278088" y="3145920"/>
            <a:ext cx="444576" cy="646656"/>
          </a:xfrm>
          <a:prstGeom prst="rect">
            <a:avLst/>
          </a:prstGeom>
        </p:spPr>
      </p:pic>
      <p:sp>
        <p:nvSpPr>
          <p:cNvPr id="37" name="TextBox 36"/>
          <p:cNvSpPr txBox="1"/>
          <p:nvPr/>
        </p:nvSpPr>
        <p:spPr>
          <a:xfrm>
            <a:off x="5758516" y="1377568"/>
            <a:ext cx="741641" cy="146456"/>
          </a:xfrm>
          <a:prstGeom prst="rect">
            <a:avLst/>
          </a:prstGeom>
          <a:noFill/>
        </p:spPr>
        <p:txBody>
          <a:bodyPr wrap="none" lIns="0" rIns="0" tIns="0" bIns="0">
            <a:spAutoFit/>
          </a:bodyPr>
          <a:lstStyle/>
          <a:p>
            <a:r>
              <a:rPr sz="835" b="1">
                <a:solidFill>
                  <a:srgbClr val="6C7A89"/>
                </a:solidFill>
                <a:latin typeface="Calibri"/>
              </a:rPr>
              <a:t>SOM (US$ MN)</a:t>
            </a:r>
          </a:p>
        </p:txBody>
      </p:sp>
      <p:pic>
        <p:nvPicPr>
          <p:cNvPr id="38" name="Picture 37" descr="lock.png"/>
          <p:cNvPicPr>
            <a:picLocks noChangeAspect="1"/>
          </p:cNvPicPr>
          <p:nvPr/>
        </p:nvPicPr>
        <p:blipFill>
          <a:blip r:embed="rId7"/>
          <a:stretch>
            <a:fillRect/>
          </a:stretch>
        </p:blipFill>
        <p:spPr>
          <a:xfrm>
            <a:off x="6017010" y="1533061"/>
            <a:ext cx="133378" cy="194005"/>
          </a:xfrm>
          <a:prstGeom prst="rect">
            <a:avLst/>
          </a:prstGeom>
        </p:spPr>
      </p:pic>
      <p:pic>
        <p:nvPicPr>
          <p:cNvPr id="39" name="Picture 38" descr="lock.png"/>
          <p:cNvPicPr>
            <a:picLocks noChangeAspect="1"/>
          </p:cNvPicPr>
          <p:nvPr/>
        </p:nvPicPr>
        <p:blipFill>
          <a:blip r:embed="rId7"/>
          <a:stretch>
            <a:fillRect/>
          </a:stretch>
        </p:blipFill>
        <p:spPr>
          <a:xfrm>
            <a:off x="5865805" y="1761621"/>
            <a:ext cx="97811" cy="142270"/>
          </a:xfrm>
          <a:prstGeom prst="rect">
            <a:avLst/>
          </a:prstGeom>
        </p:spPr>
      </p:pic>
      <p:sp>
        <p:nvSpPr>
          <p:cNvPr id="40" name="TextBox 39"/>
          <p:cNvSpPr txBox="1"/>
          <p:nvPr/>
        </p:nvSpPr>
        <p:spPr>
          <a:xfrm>
            <a:off x="5993102" y="1769053"/>
            <a:ext cx="389531" cy="146456"/>
          </a:xfrm>
          <a:prstGeom prst="rect">
            <a:avLst/>
          </a:prstGeom>
          <a:noFill/>
        </p:spPr>
        <p:txBody>
          <a:bodyPr wrap="none" lIns="0" rIns="0" tIns="0" bIns="0">
            <a:spAutoFit/>
          </a:bodyPr>
          <a:lstStyle/>
          <a:p>
            <a:r>
              <a:rPr sz="835" b="0">
                <a:solidFill>
                  <a:srgbClr val="6C7A89"/>
                </a:solidFill>
                <a:latin typeface="Calibri"/>
              </a:rPr>
              <a:t>of SAM</a:t>
            </a:r>
          </a:p>
        </p:txBody>
      </p:sp>
      <p:sp>
        <p:nvSpPr>
          <p:cNvPr id="41" name="TextBox 40"/>
          <p:cNvSpPr txBox="1"/>
          <p:nvPr/>
        </p:nvSpPr>
        <p:spPr>
          <a:xfrm>
            <a:off x="276225" y="5204877"/>
            <a:ext cx="3635598" cy="194310"/>
          </a:xfrm>
          <a:prstGeom prst="rect">
            <a:avLst/>
          </a:prstGeom>
          <a:noFill/>
        </p:spPr>
        <p:txBody>
          <a:bodyPr wrap="none" lIns="0" rIns="0" tIns="0" bIns="0">
            <a:spAutoFit/>
          </a:bodyPr>
          <a:lstStyle/>
          <a:p>
            <a:r>
              <a:rPr sz="1150" b="0">
                <a:solidFill>
                  <a:srgbClr val="2E2E2E"/>
                </a:solidFill>
                <a:latin typeface="Calibri"/>
              </a:rPr>
              <a:t>▪ Market Position: Prestige Consumer Healthcare captures ~</a:t>
            </a:r>
          </a:p>
        </p:txBody>
      </p:sp>
      <p:pic>
        <p:nvPicPr>
          <p:cNvPr id="42" name="Picture 41" descr="lock.png"/>
          <p:cNvPicPr>
            <a:picLocks noChangeAspect="1"/>
          </p:cNvPicPr>
          <p:nvPr/>
        </p:nvPicPr>
        <p:blipFill>
          <a:blip r:embed="rId7"/>
          <a:stretch>
            <a:fillRect/>
          </a:stretch>
        </p:blipFill>
        <p:spPr>
          <a:xfrm>
            <a:off x="3860977" y="5194653"/>
            <a:ext cx="134549" cy="195707"/>
          </a:xfrm>
          <a:prstGeom prst="rect">
            <a:avLst/>
          </a:prstGeom>
        </p:spPr>
      </p:pic>
      <p:sp>
        <p:nvSpPr>
          <p:cNvPr id="43" name="TextBox 42"/>
          <p:cNvSpPr txBox="1"/>
          <p:nvPr/>
        </p:nvSpPr>
        <p:spPr>
          <a:xfrm>
            <a:off x="4036086" y="5204877"/>
            <a:ext cx="4480520" cy="194310"/>
          </a:xfrm>
          <a:prstGeom prst="rect">
            <a:avLst/>
          </a:prstGeom>
          <a:noFill/>
        </p:spPr>
        <p:txBody>
          <a:bodyPr wrap="none" lIns="0" rIns="0" tIns="0" bIns="0">
            <a:spAutoFit/>
          </a:bodyPr>
          <a:lstStyle/>
          <a:p>
            <a:r>
              <a:rPr sz="1150" b="0">
                <a:solidFill>
                  <a:srgbClr val="2E2E2E"/>
                </a:solidFill>
                <a:latin typeface="Calibri"/>
              </a:rPr>
              <a:t>of a US$ Mn SAM, with its strongest end-market in 'General practitioners'.</a:t>
            </a:r>
          </a:p>
        </p:txBody>
      </p:sp>
      <p:sp>
        <p:nvSpPr>
          <p:cNvPr id="44" name="TextBox 43"/>
          <p:cNvSpPr txBox="1"/>
          <p:nvPr/>
        </p:nvSpPr>
        <p:spPr>
          <a:xfrm>
            <a:off x="276225" y="5432715"/>
            <a:ext cx="7358446" cy="194310"/>
          </a:xfrm>
          <a:prstGeom prst="rect">
            <a:avLst/>
          </a:prstGeom>
          <a:noFill/>
        </p:spPr>
        <p:txBody>
          <a:bodyPr wrap="none" lIns="0" rIns="0" tIns="0" bIns="0">
            <a:spAutoFit/>
          </a:bodyPr>
          <a:lstStyle/>
          <a:p>
            <a:r>
              <a:rPr sz="1150" b="0">
                <a:solidFill>
                  <a:srgbClr val="2E2E2E"/>
                </a:solidFill>
                <a:latin typeface="Calibri"/>
              </a:rPr>
              <a:t>▪ Geographic Balance: 'North America' is the largest SOM region; 'Rest of the World' shows the highest SAM penetration (~</a:t>
            </a:r>
          </a:p>
        </p:txBody>
      </p:sp>
      <p:pic>
        <p:nvPicPr>
          <p:cNvPr id="45" name="Picture 44" descr="lock.png"/>
          <p:cNvPicPr>
            <a:picLocks noChangeAspect="1"/>
          </p:cNvPicPr>
          <p:nvPr/>
        </p:nvPicPr>
        <p:blipFill>
          <a:blip r:embed="rId7"/>
          <a:stretch>
            <a:fillRect/>
          </a:stretch>
        </p:blipFill>
        <p:spPr>
          <a:xfrm>
            <a:off x="7583825" y="5422491"/>
            <a:ext cx="134549" cy="195707"/>
          </a:xfrm>
          <a:prstGeom prst="rect">
            <a:avLst/>
          </a:prstGeom>
        </p:spPr>
      </p:pic>
      <p:sp>
        <p:nvSpPr>
          <p:cNvPr id="46" name="TextBox 45"/>
          <p:cNvSpPr txBox="1"/>
          <p:nvPr/>
        </p:nvSpPr>
        <p:spPr>
          <a:xfrm>
            <a:off x="7758935" y="543271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7" name="TextBox 46"/>
          <p:cNvSpPr txBox="1"/>
          <p:nvPr/>
        </p:nvSpPr>
        <p:spPr>
          <a:xfrm>
            <a:off x="276225" y="5660552"/>
            <a:ext cx="1391791" cy="194310"/>
          </a:xfrm>
          <a:prstGeom prst="rect">
            <a:avLst/>
          </a:prstGeom>
          <a:noFill/>
        </p:spPr>
        <p:txBody>
          <a:bodyPr wrap="none" lIns="0" rIns="0" tIns="0" bIns="0">
            <a:spAutoFit/>
          </a:bodyPr>
          <a:lstStyle/>
          <a:p>
            <a:r>
              <a:rPr sz="1150" b="0">
                <a:solidFill>
                  <a:srgbClr val="2E2E2E"/>
                </a:solidFill>
                <a:latin typeface="Calibri"/>
              </a:rPr>
              <a:t>▪ Growth Trajectory: a</a:t>
            </a:r>
          </a:p>
        </p:txBody>
      </p:sp>
      <p:pic>
        <p:nvPicPr>
          <p:cNvPr id="48" name="Picture 47" descr="lock.png"/>
          <p:cNvPicPr>
            <a:picLocks noChangeAspect="1"/>
          </p:cNvPicPr>
          <p:nvPr/>
        </p:nvPicPr>
        <p:blipFill>
          <a:blip r:embed="rId7"/>
          <a:stretch>
            <a:fillRect/>
          </a:stretch>
        </p:blipFill>
        <p:spPr>
          <a:xfrm>
            <a:off x="1617169" y="5650329"/>
            <a:ext cx="134549" cy="195707"/>
          </a:xfrm>
          <a:prstGeom prst="rect">
            <a:avLst/>
          </a:prstGeom>
        </p:spPr>
      </p:pic>
      <p:sp>
        <p:nvSpPr>
          <p:cNvPr id="49" name="TextBox 48"/>
          <p:cNvSpPr txBox="1"/>
          <p:nvPr/>
        </p:nvSpPr>
        <p:spPr>
          <a:xfrm>
            <a:off x="1792279" y="5660552"/>
            <a:ext cx="1129072" cy="194310"/>
          </a:xfrm>
          <a:prstGeom prst="rect">
            <a:avLst/>
          </a:prstGeom>
          <a:noFill/>
        </p:spPr>
        <p:txBody>
          <a:bodyPr wrap="none" lIns="0" rIns="0" tIns="0" bIns="0">
            <a:spAutoFit/>
          </a:bodyPr>
          <a:lstStyle/>
          <a:p>
            <a:r>
              <a:rPr sz="1150" b="0">
                <a:solidFill>
                  <a:srgbClr val="2E2E2E"/>
                </a:solidFill>
                <a:latin typeface="Calibri"/>
              </a:rPr>
              <a:t>book-to-bill and ~</a:t>
            </a:r>
          </a:p>
        </p:txBody>
      </p:sp>
      <p:pic>
        <p:nvPicPr>
          <p:cNvPr id="50" name="Picture 49" descr="lock.png"/>
          <p:cNvPicPr>
            <a:picLocks noChangeAspect="1"/>
          </p:cNvPicPr>
          <p:nvPr/>
        </p:nvPicPr>
        <p:blipFill>
          <a:blip r:embed="rId7"/>
          <a:stretch>
            <a:fillRect/>
          </a:stretch>
        </p:blipFill>
        <p:spPr>
          <a:xfrm>
            <a:off x="2870505" y="5650329"/>
            <a:ext cx="134549" cy="195707"/>
          </a:xfrm>
          <a:prstGeom prst="rect">
            <a:avLst/>
          </a:prstGeom>
        </p:spPr>
      </p:pic>
      <p:sp>
        <p:nvSpPr>
          <p:cNvPr id="51" name="TextBox 50"/>
          <p:cNvSpPr txBox="1"/>
          <p:nvPr/>
        </p:nvSpPr>
        <p:spPr>
          <a:xfrm>
            <a:off x="3045614" y="5660552"/>
            <a:ext cx="4503594" cy="194310"/>
          </a:xfrm>
          <a:prstGeom prst="rect">
            <a:avLst/>
          </a:prstGeom>
          <a:noFill/>
        </p:spPr>
        <p:txBody>
          <a:bodyPr wrap="none" lIns="0" rIns="0" tIns="0" bIns="0">
            <a:spAutoFit/>
          </a:bodyPr>
          <a:lstStyle/>
          <a:p>
            <a:r>
              <a:rPr sz="1150" b="0">
                <a:solidFill>
                  <a:srgbClr val="2E2E2E"/>
                </a:solidFill>
                <a:latin typeface="Calibri"/>
              </a:rPr>
              <a:t>EBITDA margin point to a path to capture more of the addressable market.</a:t>
            </a:r>
          </a:p>
        </p:txBody>
      </p:sp>
      <p:sp>
        <p:nvSpPr>
          <p:cNvPr id="52" name="TextBox 51"/>
          <p:cNvSpPr txBox="1"/>
          <p:nvPr/>
        </p:nvSpPr>
        <p:spPr>
          <a:xfrm>
            <a:off x="276225" y="5888390"/>
            <a:ext cx="1353535" cy="194310"/>
          </a:xfrm>
          <a:prstGeom prst="rect">
            <a:avLst/>
          </a:prstGeom>
          <a:noFill/>
        </p:spPr>
        <p:txBody>
          <a:bodyPr wrap="none" lIns="0" rIns="0" tIns="0" bIns="0">
            <a:spAutoFit/>
          </a:bodyPr>
          <a:lstStyle/>
          <a:p>
            <a:r>
              <a:rPr sz="1150" b="0">
                <a:solidFill>
                  <a:srgbClr val="2E2E2E"/>
                </a:solidFill>
                <a:latin typeface="Calibri"/>
              </a:rPr>
              <a:t>▪ Competitive Edge: ~</a:t>
            </a:r>
          </a:p>
        </p:txBody>
      </p:sp>
      <p:pic>
        <p:nvPicPr>
          <p:cNvPr id="53" name="Picture 52" descr="lock.png"/>
          <p:cNvPicPr>
            <a:picLocks noChangeAspect="1"/>
          </p:cNvPicPr>
          <p:nvPr/>
        </p:nvPicPr>
        <p:blipFill>
          <a:blip r:embed="rId7"/>
          <a:stretch>
            <a:fillRect/>
          </a:stretch>
        </p:blipFill>
        <p:spPr>
          <a:xfrm>
            <a:off x="1578914" y="5878167"/>
            <a:ext cx="134549" cy="195707"/>
          </a:xfrm>
          <a:prstGeom prst="rect">
            <a:avLst/>
          </a:prstGeom>
        </p:spPr>
      </p:pic>
      <p:sp>
        <p:nvSpPr>
          <p:cNvPr id="54" name="TextBox 53"/>
          <p:cNvSpPr txBox="1"/>
          <p:nvPr/>
        </p:nvSpPr>
        <p:spPr>
          <a:xfrm>
            <a:off x="1754024" y="5888390"/>
            <a:ext cx="1072591" cy="194310"/>
          </a:xfrm>
          <a:prstGeom prst="rect">
            <a:avLst/>
          </a:prstGeom>
          <a:noFill/>
        </p:spPr>
        <p:txBody>
          <a:bodyPr wrap="none" lIns="0" rIns="0" tIns="0" bIns="0">
            <a:spAutoFit/>
          </a:bodyPr>
          <a:lstStyle/>
          <a:p>
            <a:r>
              <a:rPr sz="1150" b="0">
                <a:solidFill>
                  <a:srgbClr val="2E2E2E"/>
                </a:solidFill>
                <a:latin typeface="Calibri"/>
              </a:rPr>
              <a:t>win rate with a +</a:t>
            </a:r>
          </a:p>
        </p:txBody>
      </p:sp>
      <p:pic>
        <p:nvPicPr>
          <p:cNvPr id="55" name="Picture 54" descr="lock.png"/>
          <p:cNvPicPr>
            <a:picLocks noChangeAspect="1"/>
          </p:cNvPicPr>
          <p:nvPr/>
        </p:nvPicPr>
        <p:blipFill>
          <a:blip r:embed="rId7"/>
          <a:stretch>
            <a:fillRect/>
          </a:stretch>
        </p:blipFill>
        <p:spPr>
          <a:xfrm>
            <a:off x="2775769" y="5878167"/>
            <a:ext cx="134549" cy="195707"/>
          </a:xfrm>
          <a:prstGeom prst="rect">
            <a:avLst/>
          </a:prstGeom>
        </p:spPr>
      </p:pic>
      <p:sp>
        <p:nvSpPr>
          <p:cNvPr id="56" name="TextBox 55"/>
          <p:cNvSpPr txBox="1"/>
          <p:nvPr/>
        </p:nvSpPr>
        <p:spPr>
          <a:xfrm>
            <a:off x="2950879" y="5888390"/>
            <a:ext cx="1137059" cy="194310"/>
          </a:xfrm>
          <a:prstGeom prst="rect">
            <a:avLst/>
          </a:prstGeom>
          <a:noFill/>
        </p:spPr>
        <p:txBody>
          <a:bodyPr wrap="none" lIns="0" rIns="0" tIns="0" bIns="0">
            <a:spAutoFit/>
          </a:bodyPr>
          <a:lstStyle/>
          <a:p>
            <a:r>
              <a:rPr sz="1150" b="0">
                <a:solidFill>
                  <a:srgbClr val="2E2E2E"/>
                </a:solidFill>
                <a:latin typeface="Calibri"/>
              </a:rPr>
              <a:t>ASP premium and</a:t>
            </a:r>
          </a:p>
        </p:txBody>
      </p:sp>
      <p:pic>
        <p:nvPicPr>
          <p:cNvPr id="57" name="Picture 56" descr="lock.png"/>
          <p:cNvPicPr>
            <a:picLocks noChangeAspect="1"/>
          </p:cNvPicPr>
          <p:nvPr/>
        </p:nvPicPr>
        <p:blipFill>
          <a:blip r:embed="rId7"/>
          <a:stretch>
            <a:fillRect/>
          </a:stretch>
        </p:blipFill>
        <p:spPr>
          <a:xfrm>
            <a:off x="4037092" y="5878167"/>
            <a:ext cx="134549" cy="195707"/>
          </a:xfrm>
          <a:prstGeom prst="rect">
            <a:avLst/>
          </a:prstGeom>
        </p:spPr>
      </p:pic>
      <p:sp>
        <p:nvSpPr>
          <p:cNvPr id="58" name="TextBox 57"/>
          <p:cNvSpPr txBox="1"/>
          <p:nvPr/>
        </p:nvSpPr>
        <p:spPr>
          <a:xfrm>
            <a:off x="4212201" y="5888390"/>
            <a:ext cx="1259147" cy="194310"/>
          </a:xfrm>
          <a:prstGeom prst="rect">
            <a:avLst/>
          </a:prstGeom>
          <a:noFill/>
        </p:spPr>
        <p:txBody>
          <a:bodyPr wrap="none" lIns="0" rIns="0" tIns="0" bIns="0">
            <a:spAutoFit/>
          </a:bodyPr>
          <a:lstStyle/>
          <a:p>
            <a:r>
              <a:rPr sz="1150" b="0">
                <a:solidFill>
                  <a:srgbClr val="2E2E2E"/>
                </a:solidFill>
                <a:latin typeface="Calibri"/>
              </a:rPr>
              <a:t>x pipeline coverage.</a:t>
            </a:r>
          </a:p>
        </p:txBody>
      </p:sp>
      <p:sp>
        <p:nvSpPr>
          <p:cNvPr id="59" name="lockshield_18"/>
          <p:cNvSpPr/>
          <p:nvPr/>
        </p:nvSpPr>
        <p:spPr>
          <a:xfrm>
            <a:off x="23812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lockshield_21"/>
          <p:cNvSpPr/>
          <p:nvPr/>
        </p:nvSpPr>
        <p:spPr>
          <a:xfrm>
            <a:off x="421957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lockshield_24"/>
          <p:cNvSpPr/>
          <p:nvPr/>
        </p:nvSpPr>
        <p:spPr>
          <a:xfrm>
            <a:off x="8201025" y="2351726"/>
            <a:ext cx="37528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Prestige Consumer Healthcare Regional Penetration &amp; Win Position (2/5)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penetration and competitive positioning highlighting growth potential, win rates and sales efficiency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penetration and competitive positioning Prestige Consumer Healthcare: SOM vs SAM by region, win position, TAM/SAM/SOM and go-to-market benchmarks.</a:t>
            </a:r>
          </a:p>
        </p:txBody>
      </p:sp>
      <p:sp>
        <p:nvSpPr>
          <p:cNvPr id="11" name="Rounded Rectangle 10"/>
          <p:cNvSpPr/>
          <p:nvPr/>
        </p:nvSpPr>
        <p:spPr>
          <a:xfrm>
            <a:off x="142875" y="1299320"/>
            <a:ext cx="5905500" cy="2263459"/>
          </a:xfrm>
          <a:prstGeom prst="roundRect">
            <a:avLst>
              <a:gd name="adj" fmla="val 33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vs SAM Penetration by Region</a:t>
            </a:r>
          </a:p>
        </p:txBody>
      </p:sp>
      <p:graphicFrame>
        <p:nvGraphicFramePr>
          <p:cNvPr id="13" name="Chart 12"/>
          <p:cNvGraphicFramePr>
            <a:graphicFrameLocks noGrp="1"/>
          </p:cNvGraphicFramePr>
          <p:nvPr/>
        </p:nvGraphicFramePr>
        <p:xfrm>
          <a:off x="238125" y="1585070"/>
          <a:ext cx="5715000" cy="1920559"/>
        </p:xfrm>
        <a:graphic>
          <a:graphicData uri="http://schemas.openxmlformats.org/drawingml/2006/chart">
            <c:chart xmlns:c="http://schemas.openxmlformats.org/drawingml/2006/chart" r:id="rId3"/>
          </a:graphicData>
        </a:graphic>
      </p:graphicFrame>
      <p:sp>
        <p:nvSpPr>
          <p:cNvPr id="14" name="Rounded Rectangle 13"/>
          <p:cNvSpPr/>
          <p:nvPr/>
        </p:nvSpPr>
        <p:spPr>
          <a:xfrm>
            <a:off x="6162675" y="1299320"/>
            <a:ext cx="5886450" cy="2263459"/>
          </a:xfrm>
          <a:prstGeom prst="roundRect">
            <a:avLst>
              <a:gd name="adj" fmla="val 33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7925" y="135647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Competitive Win Position</a:t>
            </a:r>
          </a:p>
        </p:txBody>
      </p:sp>
      <p:cxnSp>
        <p:nvCxnSpPr>
          <p:cNvPr id="16" name="Connector 15"/>
          <p:cNvCxnSpPr/>
          <p:nvPr/>
        </p:nvCxnSpPr>
        <p:spPr>
          <a:xfrm>
            <a:off x="6581775" y="3219879"/>
            <a:ext cx="5257800" cy="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81775" y="1680320"/>
            <a:ext cx="0" cy="1539559"/>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67475" y="3238929"/>
            <a:ext cx="228600" cy="114300"/>
          </a:xfrm>
          <a:prstGeom prst="rect">
            <a:avLst/>
          </a:prstGeom>
          <a:noFill/>
        </p:spPr>
        <p:txBody>
          <a:bodyPr wrap="none" lIns="0" rIns="0" tIns="0" bIns="0">
            <a:spAutoFit/>
          </a:bodyPr>
          <a:lstStyle/>
          <a:p>
            <a:pPr algn="ctr"/>
            <a:r>
              <a:rPr sz="1100" b="0">
                <a:solidFill>
                  <a:srgbClr val="6C7A89"/>
                </a:solidFill>
                <a:latin typeface="Calibri"/>
              </a:rPr>
              <a:t>0</a:t>
            </a:r>
          </a:p>
        </p:txBody>
      </p:sp>
      <p:sp>
        <p:nvSpPr>
          <p:cNvPr id="19" name="TextBox 18"/>
          <p:cNvSpPr txBox="1"/>
          <p:nvPr/>
        </p:nvSpPr>
        <p:spPr>
          <a:xfrm>
            <a:off x="7969704" y="3238929"/>
            <a:ext cx="228600" cy="114300"/>
          </a:xfrm>
          <a:prstGeom prst="rect">
            <a:avLst/>
          </a:prstGeom>
          <a:noFill/>
        </p:spPr>
        <p:txBody>
          <a:bodyPr wrap="none" lIns="0" rIns="0" tIns="0" bIns="0">
            <a:spAutoFit/>
          </a:bodyPr>
          <a:lstStyle/>
          <a:p>
            <a:pPr algn="ctr"/>
            <a:r>
              <a:rPr sz="1100" b="0">
                <a:solidFill>
                  <a:srgbClr val="6C7A89"/>
                </a:solidFill>
                <a:latin typeface="Calibri"/>
              </a:rPr>
              <a:t>1</a:t>
            </a:r>
          </a:p>
        </p:txBody>
      </p:sp>
      <p:sp>
        <p:nvSpPr>
          <p:cNvPr id="20" name="TextBox 19"/>
          <p:cNvSpPr txBox="1"/>
          <p:nvPr/>
        </p:nvSpPr>
        <p:spPr>
          <a:xfrm>
            <a:off x="9471932" y="3238929"/>
            <a:ext cx="228600" cy="114300"/>
          </a:xfrm>
          <a:prstGeom prst="rect">
            <a:avLst/>
          </a:prstGeom>
          <a:noFill/>
        </p:spPr>
        <p:txBody>
          <a:bodyPr wrap="none" lIns="0" rIns="0" tIns="0" bIns="0">
            <a:spAutoFit/>
          </a:bodyPr>
          <a:lstStyle/>
          <a:p>
            <a:pPr algn="ctr"/>
            <a:r>
              <a:rPr sz="1100" b="0">
                <a:solidFill>
                  <a:srgbClr val="6C7A89"/>
                </a:solidFill>
                <a:latin typeface="Calibri"/>
              </a:rPr>
              <a:t>2</a:t>
            </a:r>
          </a:p>
        </p:txBody>
      </p:sp>
      <p:sp>
        <p:nvSpPr>
          <p:cNvPr id="21" name="TextBox 20"/>
          <p:cNvSpPr txBox="1"/>
          <p:nvPr/>
        </p:nvSpPr>
        <p:spPr>
          <a:xfrm>
            <a:off x="10974161" y="3238929"/>
            <a:ext cx="228600" cy="114300"/>
          </a:xfrm>
          <a:prstGeom prst="rect">
            <a:avLst/>
          </a:prstGeom>
          <a:noFill/>
        </p:spPr>
        <p:txBody>
          <a:bodyPr wrap="none" lIns="0" rIns="0" tIns="0" bIns="0">
            <a:spAutoFit/>
          </a:bodyPr>
          <a:lstStyle/>
          <a:p>
            <a:pPr algn="ctr"/>
            <a:r>
              <a:rPr sz="1100" b="0">
                <a:solidFill>
                  <a:srgbClr val="6C7A89"/>
                </a:solidFill>
                <a:latin typeface="Calibri"/>
              </a:rPr>
              <a:t>3</a:t>
            </a:r>
          </a:p>
        </p:txBody>
      </p:sp>
      <p:sp>
        <p:nvSpPr>
          <p:cNvPr id="22" name="TextBox 21"/>
          <p:cNvSpPr txBox="1"/>
          <p:nvPr/>
        </p:nvSpPr>
        <p:spPr>
          <a:xfrm>
            <a:off x="6581775" y="3353229"/>
            <a:ext cx="5257800" cy="114300"/>
          </a:xfrm>
          <a:prstGeom prst="rect">
            <a:avLst/>
          </a:prstGeom>
          <a:noFill/>
        </p:spPr>
        <p:txBody>
          <a:bodyPr wrap="square" lIns="28575" rIns="28575" tIns="9525" bIns="9525">
            <a:spAutoFit/>
          </a:bodyPr>
          <a:lstStyle/>
          <a:p>
            <a:pPr algn="ctr"/>
            <a:r>
              <a:rPr sz="1100" b="0">
                <a:solidFill>
                  <a:srgbClr val="6C7A89"/>
                </a:solidFill>
                <a:latin typeface="Calibri"/>
              </a:rPr>
              <a:t>Win Rate %</a:t>
            </a:r>
          </a:p>
        </p:txBody>
      </p:sp>
      <p:sp>
        <p:nvSpPr>
          <p:cNvPr id="23" name="TextBox 22"/>
          <p:cNvSpPr txBox="1"/>
          <p:nvPr/>
        </p:nvSpPr>
        <p:spPr>
          <a:xfrm rot="16200000">
            <a:off x="6029325" y="2373900"/>
            <a:ext cx="571500" cy="152400"/>
          </a:xfrm>
          <a:prstGeom prst="rect">
            <a:avLst/>
          </a:prstGeom>
          <a:noFill/>
        </p:spPr>
        <p:txBody>
          <a:bodyPr wrap="square" lIns="28575" rIns="28575" tIns="9525" bIns="9525">
            <a:spAutoFit/>
          </a:bodyPr>
          <a:lstStyle/>
          <a:p>
            <a:pPr algn="ctr"/>
            <a:r>
              <a:rPr sz="1100" b="0">
                <a:solidFill>
                  <a:srgbClr val="6C7A89"/>
                </a:solidFill>
                <a:latin typeface="Calibri"/>
              </a:rPr>
              <a:t>ASP vs Peer</a:t>
            </a:r>
          </a:p>
        </p:txBody>
      </p:sp>
      <p:sp>
        <p:nvSpPr>
          <p:cNvPr id="24" name="Oval 23"/>
          <p:cNvSpPr/>
          <p:nvPr/>
        </p:nvSpPr>
        <p:spPr>
          <a:xfrm>
            <a:off x="7359287" y="1979874"/>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45037" y="201797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Prestige Consumer Healthcare</a:t>
            </a:r>
          </a:p>
        </p:txBody>
      </p:sp>
      <p:sp>
        <p:nvSpPr>
          <p:cNvPr id="26" name="Oval 25"/>
          <p:cNvSpPr/>
          <p:nvPr/>
        </p:nvSpPr>
        <p:spPr>
          <a:xfrm>
            <a:off x="9283609" y="1912810"/>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26509" y="1979485"/>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Industry Avg.</a:t>
            </a:r>
          </a:p>
        </p:txBody>
      </p:sp>
      <p:sp>
        <p:nvSpPr>
          <p:cNvPr id="28" name="Oval 27"/>
          <p:cNvSpPr/>
          <p:nvPr/>
        </p:nvSpPr>
        <p:spPr>
          <a:xfrm>
            <a:off x="10513967" y="2711164"/>
            <a:ext cx="247650" cy="247650"/>
          </a:xfrm>
          <a:prstGeom prst="ellipse">
            <a:avLst/>
          </a:prstGeom>
          <a:solidFill>
            <a:srgbClr val="0E72A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06100" y="274926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Market Leader</a:t>
            </a:r>
          </a:p>
        </p:txBody>
      </p:sp>
      <p:sp>
        <p:nvSpPr>
          <p:cNvPr id="30" name="Rounded Rectangle 29"/>
          <p:cNvSpPr/>
          <p:nvPr/>
        </p:nvSpPr>
        <p:spPr>
          <a:xfrm>
            <a:off x="142875" y="3635794"/>
            <a:ext cx="5905500" cy="1661086"/>
          </a:xfrm>
          <a:prstGeom prst="roundRect">
            <a:avLst>
              <a:gd name="adj" fmla="val 4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9294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TAM · SAM · SOM (US$ Mn)</a:t>
            </a:r>
          </a:p>
        </p:txBody>
      </p:sp>
      <p:sp>
        <p:nvSpPr>
          <p:cNvPr id="32" name="Rectangle 31"/>
          <p:cNvSpPr/>
          <p:nvPr/>
        </p:nvSpPr>
        <p:spPr>
          <a:xfrm>
            <a:off x="238125" y="3921544"/>
            <a:ext cx="5715000" cy="363195"/>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3" name="Rectangle 32"/>
          <p:cNvSpPr/>
          <p:nvPr/>
        </p:nvSpPr>
        <p:spPr>
          <a:xfrm>
            <a:off x="238125" y="4399039"/>
            <a:ext cx="4400550" cy="363195"/>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4" name="Rectangle 33"/>
          <p:cNvSpPr/>
          <p:nvPr/>
        </p:nvSpPr>
        <p:spPr>
          <a:xfrm>
            <a:off x="238125" y="4876535"/>
            <a:ext cx="3086100" cy="363195"/>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5" name="Rounded Rectangle 34"/>
          <p:cNvSpPr/>
          <p:nvPr/>
        </p:nvSpPr>
        <p:spPr>
          <a:xfrm>
            <a:off x="6162675" y="3635794"/>
            <a:ext cx="5886450" cy="1661086"/>
          </a:xfrm>
          <a:prstGeom prst="roundRect">
            <a:avLst>
              <a:gd name="adj" fmla="val 4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57925" y="3692944"/>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Go-to-Market Benchmarks (Target vs Actual)</a:t>
            </a:r>
          </a:p>
        </p:txBody>
      </p:sp>
      <p:sp>
        <p:nvSpPr>
          <p:cNvPr id="37" name="Rectangle 36"/>
          <p:cNvSpPr/>
          <p:nvPr/>
        </p:nvSpPr>
        <p:spPr>
          <a:xfrm>
            <a:off x="10391775" y="3940594"/>
            <a:ext cx="95250" cy="952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0607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Target</a:t>
            </a:r>
          </a:p>
        </p:txBody>
      </p:sp>
      <p:sp>
        <p:nvSpPr>
          <p:cNvPr id="39" name="Rectangle 38"/>
          <p:cNvSpPr/>
          <p:nvPr/>
        </p:nvSpPr>
        <p:spPr>
          <a:xfrm>
            <a:off x="11134725" y="3940594"/>
            <a:ext cx="95250" cy="95250"/>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24902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Actual</a:t>
            </a:r>
          </a:p>
        </p:txBody>
      </p:sp>
      <p:sp>
        <p:nvSpPr>
          <p:cNvPr id="41" name="TextBox 40"/>
          <p:cNvSpPr txBox="1"/>
          <p:nvPr/>
        </p:nvSpPr>
        <p:spPr>
          <a:xfrm>
            <a:off x="6276975" y="4153941"/>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Conversion (%)</a:t>
            </a:r>
          </a:p>
        </p:txBody>
      </p:sp>
      <p:sp>
        <p:nvSpPr>
          <p:cNvPr id="42" name="Rectangle 41"/>
          <p:cNvSpPr/>
          <p:nvPr/>
        </p:nvSpPr>
        <p:spPr>
          <a:xfrm>
            <a:off x="7381875" y="4164998"/>
            <a:ext cx="1597914"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81875" y="4277766"/>
            <a:ext cx="301828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6975" y="4466337"/>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Sales Cycle (Days)</a:t>
            </a:r>
          </a:p>
        </p:txBody>
      </p:sp>
      <p:sp>
        <p:nvSpPr>
          <p:cNvPr id="45" name="Rectangle 44"/>
          <p:cNvSpPr/>
          <p:nvPr/>
        </p:nvSpPr>
        <p:spPr>
          <a:xfrm>
            <a:off x="7381875" y="4477393"/>
            <a:ext cx="3817239"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381875" y="4590162"/>
            <a:ext cx="2219325"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76975" y="4778732"/>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Pipeline Coverage</a:t>
            </a:r>
          </a:p>
        </p:txBody>
      </p:sp>
      <p:sp>
        <p:nvSpPr>
          <p:cNvPr id="48" name="Rectangle 47"/>
          <p:cNvSpPr/>
          <p:nvPr/>
        </p:nvSpPr>
        <p:spPr>
          <a:xfrm>
            <a:off x="7381875" y="4789789"/>
            <a:ext cx="2130552"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381875" y="4902557"/>
            <a:ext cx="390601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42875" y="5369895"/>
            <a:ext cx="11906250" cy="1259505"/>
          </a:xfrm>
          <a:prstGeom prst="roundRect">
            <a:avLst>
              <a:gd name="adj" fmla="val 60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6225" y="5455620"/>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2" name="Rectangle 51"/>
          <p:cNvSpPr/>
          <p:nvPr/>
        </p:nvSpPr>
        <p:spPr>
          <a:xfrm>
            <a:off x="276225" y="569374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6225" y="5779470"/>
            <a:ext cx="11639550" cy="77373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54" name="TextBox 5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5" name="Picture 54" descr="lock.png"/>
          <p:cNvPicPr>
            <a:picLocks noChangeAspect="1"/>
          </p:cNvPicPr>
          <p:nvPr/>
        </p:nvPicPr>
        <p:blipFill>
          <a:blip r:embed="rId5"/>
          <a:stretch>
            <a:fillRect/>
          </a:stretch>
        </p:blipFill>
        <p:spPr>
          <a:xfrm>
            <a:off x="3327425" y="2314517"/>
            <a:ext cx="199521" cy="290213"/>
          </a:xfrm>
          <a:prstGeom prst="rect">
            <a:avLst/>
          </a:prstGeom>
        </p:spPr>
      </p:pic>
      <p:sp>
        <p:nvSpPr>
          <p:cNvPr id="56" name="TextBox 55"/>
          <p:cNvSpPr txBox="1"/>
          <p:nvPr/>
        </p:nvSpPr>
        <p:spPr>
          <a:xfrm>
            <a:off x="352425" y="4015511"/>
            <a:ext cx="871202" cy="194310"/>
          </a:xfrm>
          <a:prstGeom prst="rect">
            <a:avLst/>
          </a:prstGeom>
          <a:noFill/>
        </p:spPr>
        <p:txBody>
          <a:bodyPr wrap="none" lIns="0" rIns="0" tIns="0" bIns="0">
            <a:spAutoFit/>
          </a:bodyPr>
          <a:lstStyle/>
          <a:p>
            <a:r>
              <a:rPr sz="1150" b="1">
                <a:solidFill>
                  <a:srgbClr val="FFFFFF"/>
                </a:solidFill>
                <a:latin typeface="Calibri"/>
              </a:rPr>
              <a:t>TAM · 100% ·</a:t>
            </a:r>
          </a:p>
        </p:txBody>
      </p:sp>
      <p:pic>
        <p:nvPicPr>
          <p:cNvPr id="57" name="Picture 56" descr="lock.png"/>
          <p:cNvPicPr>
            <a:picLocks noChangeAspect="1"/>
          </p:cNvPicPr>
          <p:nvPr/>
        </p:nvPicPr>
        <p:blipFill>
          <a:blip r:embed="rId5"/>
          <a:stretch>
            <a:fillRect/>
          </a:stretch>
        </p:blipFill>
        <p:spPr>
          <a:xfrm>
            <a:off x="1172781" y="4005288"/>
            <a:ext cx="134549" cy="195707"/>
          </a:xfrm>
          <a:prstGeom prst="rect">
            <a:avLst/>
          </a:prstGeom>
        </p:spPr>
      </p:pic>
      <p:sp>
        <p:nvSpPr>
          <p:cNvPr id="58" name="TextBox 57"/>
          <p:cNvSpPr txBox="1"/>
          <p:nvPr/>
        </p:nvSpPr>
        <p:spPr>
          <a:xfrm>
            <a:off x="1347890" y="4015511"/>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59" name="TextBox 58"/>
          <p:cNvSpPr txBox="1"/>
          <p:nvPr/>
        </p:nvSpPr>
        <p:spPr>
          <a:xfrm>
            <a:off x="352425" y="4493006"/>
            <a:ext cx="433623" cy="194310"/>
          </a:xfrm>
          <a:prstGeom prst="rect">
            <a:avLst/>
          </a:prstGeom>
          <a:noFill/>
        </p:spPr>
        <p:txBody>
          <a:bodyPr wrap="none" lIns="0" rIns="0" tIns="0" bIns="0">
            <a:spAutoFit/>
          </a:bodyPr>
          <a:lstStyle/>
          <a:p>
            <a:r>
              <a:rPr sz="1150" b="1">
                <a:solidFill>
                  <a:srgbClr val="FFFFFF"/>
                </a:solidFill>
                <a:latin typeface="Calibri"/>
              </a:rPr>
              <a:t>SAM ·</a:t>
            </a:r>
          </a:p>
        </p:txBody>
      </p:sp>
      <p:pic>
        <p:nvPicPr>
          <p:cNvPr id="60" name="Picture 59" descr="lock.png"/>
          <p:cNvPicPr>
            <a:picLocks noChangeAspect="1"/>
          </p:cNvPicPr>
          <p:nvPr/>
        </p:nvPicPr>
        <p:blipFill>
          <a:blip r:embed="rId5"/>
          <a:stretch>
            <a:fillRect/>
          </a:stretch>
        </p:blipFill>
        <p:spPr>
          <a:xfrm>
            <a:off x="735202" y="4482783"/>
            <a:ext cx="134549" cy="195707"/>
          </a:xfrm>
          <a:prstGeom prst="rect">
            <a:avLst/>
          </a:prstGeom>
        </p:spPr>
      </p:pic>
      <p:sp>
        <p:nvSpPr>
          <p:cNvPr id="61" name="TextBox 60"/>
          <p:cNvSpPr txBox="1"/>
          <p:nvPr/>
        </p:nvSpPr>
        <p:spPr>
          <a:xfrm>
            <a:off x="910311" y="4493006"/>
            <a:ext cx="594791" cy="194310"/>
          </a:xfrm>
          <a:prstGeom prst="rect">
            <a:avLst/>
          </a:prstGeom>
          <a:noFill/>
        </p:spPr>
        <p:txBody>
          <a:bodyPr wrap="none" lIns="0" rIns="0" tIns="0" bIns="0">
            <a:spAutoFit/>
          </a:bodyPr>
          <a:lstStyle/>
          <a:p>
            <a:r>
              <a:rPr sz="1150" b="1">
                <a:solidFill>
                  <a:srgbClr val="FFFFFF"/>
                </a:solidFill>
                <a:latin typeface="Calibri"/>
              </a:rPr>
              <a:t>of TAM ·</a:t>
            </a:r>
          </a:p>
        </p:txBody>
      </p:sp>
      <p:pic>
        <p:nvPicPr>
          <p:cNvPr id="62" name="Picture 61" descr="lock.png"/>
          <p:cNvPicPr>
            <a:picLocks noChangeAspect="1"/>
          </p:cNvPicPr>
          <p:nvPr/>
        </p:nvPicPr>
        <p:blipFill>
          <a:blip r:embed="rId5"/>
          <a:stretch>
            <a:fillRect/>
          </a:stretch>
        </p:blipFill>
        <p:spPr>
          <a:xfrm>
            <a:off x="1454256" y="4482783"/>
            <a:ext cx="134549" cy="195707"/>
          </a:xfrm>
          <a:prstGeom prst="rect">
            <a:avLst/>
          </a:prstGeom>
        </p:spPr>
      </p:pic>
      <p:sp>
        <p:nvSpPr>
          <p:cNvPr id="63" name="TextBox 62"/>
          <p:cNvSpPr txBox="1"/>
          <p:nvPr/>
        </p:nvSpPr>
        <p:spPr>
          <a:xfrm>
            <a:off x="1629366" y="4493006"/>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4" name="TextBox 63"/>
          <p:cNvSpPr txBox="1"/>
          <p:nvPr/>
        </p:nvSpPr>
        <p:spPr>
          <a:xfrm>
            <a:off x="352425" y="4970502"/>
            <a:ext cx="443892" cy="194310"/>
          </a:xfrm>
          <a:prstGeom prst="rect">
            <a:avLst/>
          </a:prstGeom>
          <a:noFill/>
        </p:spPr>
        <p:txBody>
          <a:bodyPr wrap="none" lIns="0" rIns="0" tIns="0" bIns="0">
            <a:spAutoFit/>
          </a:bodyPr>
          <a:lstStyle/>
          <a:p>
            <a:r>
              <a:rPr sz="1150" b="1">
                <a:solidFill>
                  <a:srgbClr val="FFFFFF"/>
                </a:solidFill>
                <a:latin typeface="Calibri"/>
              </a:rPr>
              <a:t>SOM ·</a:t>
            </a:r>
          </a:p>
        </p:txBody>
      </p:sp>
      <p:pic>
        <p:nvPicPr>
          <p:cNvPr id="65" name="Picture 64" descr="lock.png"/>
          <p:cNvPicPr>
            <a:picLocks noChangeAspect="1"/>
          </p:cNvPicPr>
          <p:nvPr/>
        </p:nvPicPr>
        <p:blipFill>
          <a:blip r:embed="rId5"/>
          <a:stretch>
            <a:fillRect/>
          </a:stretch>
        </p:blipFill>
        <p:spPr>
          <a:xfrm>
            <a:off x="745471" y="4960279"/>
            <a:ext cx="134549" cy="195707"/>
          </a:xfrm>
          <a:prstGeom prst="rect">
            <a:avLst/>
          </a:prstGeom>
        </p:spPr>
      </p:pic>
      <p:sp>
        <p:nvSpPr>
          <p:cNvPr id="66" name="TextBox 65"/>
          <p:cNvSpPr txBox="1"/>
          <p:nvPr/>
        </p:nvSpPr>
        <p:spPr>
          <a:xfrm>
            <a:off x="920580" y="4970502"/>
            <a:ext cx="591368" cy="194310"/>
          </a:xfrm>
          <a:prstGeom prst="rect">
            <a:avLst/>
          </a:prstGeom>
          <a:noFill/>
        </p:spPr>
        <p:txBody>
          <a:bodyPr wrap="none" lIns="0" rIns="0" tIns="0" bIns="0">
            <a:spAutoFit/>
          </a:bodyPr>
          <a:lstStyle/>
          <a:p>
            <a:r>
              <a:rPr sz="1150" b="1">
                <a:solidFill>
                  <a:srgbClr val="FFFFFF"/>
                </a:solidFill>
                <a:latin typeface="Calibri"/>
              </a:rPr>
              <a:t>of SAM ·</a:t>
            </a:r>
          </a:p>
        </p:txBody>
      </p:sp>
      <p:pic>
        <p:nvPicPr>
          <p:cNvPr id="67" name="Picture 66" descr="lock.png"/>
          <p:cNvPicPr>
            <a:picLocks noChangeAspect="1"/>
          </p:cNvPicPr>
          <p:nvPr/>
        </p:nvPicPr>
        <p:blipFill>
          <a:blip r:embed="rId5"/>
          <a:stretch>
            <a:fillRect/>
          </a:stretch>
        </p:blipFill>
        <p:spPr>
          <a:xfrm>
            <a:off x="1461102" y="4960279"/>
            <a:ext cx="134549" cy="195707"/>
          </a:xfrm>
          <a:prstGeom prst="rect">
            <a:avLst/>
          </a:prstGeom>
        </p:spPr>
      </p:pic>
      <p:sp>
        <p:nvSpPr>
          <p:cNvPr id="68" name="TextBox 67"/>
          <p:cNvSpPr txBox="1"/>
          <p:nvPr/>
        </p:nvSpPr>
        <p:spPr>
          <a:xfrm>
            <a:off x="1636212" y="4970502"/>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9" name="TextBox 68"/>
          <p:cNvSpPr txBox="1"/>
          <p:nvPr/>
        </p:nvSpPr>
        <p:spPr>
          <a:xfrm>
            <a:off x="276225" y="5788995"/>
            <a:ext cx="7663656" cy="186689"/>
          </a:xfrm>
          <a:prstGeom prst="rect">
            <a:avLst/>
          </a:prstGeom>
          <a:noFill/>
        </p:spPr>
        <p:txBody>
          <a:bodyPr wrap="none" lIns="0" rIns="0" tIns="0" bIns="0">
            <a:spAutoFit/>
          </a:bodyPr>
          <a:lstStyle/>
          <a:p>
            <a:r>
              <a:rPr sz="1100" b="0">
                <a:solidFill>
                  <a:srgbClr val="2E2E2E"/>
                </a:solidFill>
                <a:latin typeface="Calibri"/>
              </a:rPr>
              <a:t>▪ Regional Opportunity: 'Rest of the World' shows the highest SAM penetration; lower-penetration regions are the growth headroom.</a:t>
            </a:r>
          </a:p>
        </p:txBody>
      </p:sp>
      <p:sp>
        <p:nvSpPr>
          <p:cNvPr id="70" name="TextBox 69"/>
          <p:cNvSpPr txBox="1"/>
          <p:nvPr/>
        </p:nvSpPr>
        <p:spPr>
          <a:xfrm>
            <a:off x="276225" y="6006927"/>
            <a:ext cx="1297999" cy="186689"/>
          </a:xfrm>
          <a:prstGeom prst="rect">
            <a:avLst/>
          </a:prstGeom>
          <a:noFill/>
        </p:spPr>
        <p:txBody>
          <a:bodyPr wrap="none" lIns="0" rIns="0" tIns="0" bIns="0">
            <a:spAutoFit/>
          </a:bodyPr>
          <a:lstStyle/>
          <a:p>
            <a:r>
              <a:rPr sz="1100" b="0">
                <a:solidFill>
                  <a:srgbClr val="2E2E2E"/>
                </a:solidFill>
                <a:latin typeface="Calibri"/>
              </a:rPr>
              <a:t>▪ Competitive Edge: ~</a:t>
            </a:r>
          </a:p>
        </p:txBody>
      </p:sp>
      <p:pic>
        <p:nvPicPr>
          <p:cNvPr id="71" name="Picture 70" descr="lock.png"/>
          <p:cNvPicPr>
            <a:picLocks noChangeAspect="1"/>
          </p:cNvPicPr>
          <p:nvPr/>
        </p:nvPicPr>
        <p:blipFill>
          <a:blip r:embed="rId5"/>
          <a:stretch>
            <a:fillRect/>
          </a:stretch>
        </p:blipFill>
        <p:spPr>
          <a:xfrm>
            <a:off x="1522276" y="5997147"/>
            <a:ext cx="128699" cy="187198"/>
          </a:xfrm>
          <a:prstGeom prst="rect">
            <a:avLst/>
          </a:prstGeom>
        </p:spPr>
      </p:pic>
      <p:sp>
        <p:nvSpPr>
          <p:cNvPr id="72" name="TextBox 71"/>
          <p:cNvSpPr txBox="1"/>
          <p:nvPr/>
        </p:nvSpPr>
        <p:spPr>
          <a:xfrm>
            <a:off x="1689771" y="6006927"/>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73" name="Picture 72" descr="lock.png"/>
          <p:cNvPicPr>
            <a:picLocks noChangeAspect="1"/>
          </p:cNvPicPr>
          <p:nvPr/>
        </p:nvPicPr>
        <p:blipFill>
          <a:blip r:embed="rId5"/>
          <a:stretch>
            <a:fillRect/>
          </a:stretch>
        </p:blipFill>
        <p:spPr>
          <a:xfrm>
            <a:off x="2667093" y="5997147"/>
            <a:ext cx="128699" cy="187198"/>
          </a:xfrm>
          <a:prstGeom prst="rect">
            <a:avLst/>
          </a:prstGeom>
        </p:spPr>
      </p:pic>
      <p:sp>
        <p:nvSpPr>
          <p:cNvPr id="74" name="TextBox 73"/>
          <p:cNvSpPr txBox="1"/>
          <p:nvPr/>
        </p:nvSpPr>
        <p:spPr>
          <a:xfrm>
            <a:off x="2834589" y="6006927"/>
            <a:ext cx="2311400" cy="186689"/>
          </a:xfrm>
          <a:prstGeom prst="rect">
            <a:avLst/>
          </a:prstGeom>
          <a:noFill/>
        </p:spPr>
        <p:txBody>
          <a:bodyPr wrap="none" lIns="0" rIns="0" tIns="0" bIns="0">
            <a:spAutoFit/>
          </a:bodyPr>
          <a:lstStyle/>
          <a:p>
            <a:r>
              <a:rPr sz="1100" b="0">
                <a:solidFill>
                  <a:srgbClr val="2E2E2E"/>
                </a:solidFill>
                <a:latin typeface="Calibri"/>
              </a:rPr>
              <a:t>ASP premium signals value recognition;</a:t>
            </a:r>
          </a:p>
        </p:txBody>
      </p:sp>
      <p:pic>
        <p:nvPicPr>
          <p:cNvPr id="75" name="Picture 74" descr="lock.png"/>
          <p:cNvPicPr>
            <a:picLocks noChangeAspect="1"/>
          </p:cNvPicPr>
          <p:nvPr/>
        </p:nvPicPr>
        <p:blipFill>
          <a:blip r:embed="rId5"/>
          <a:stretch>
            <a:fillRect/>
          </a:stretch>
        </p:blipFill>
        <p:spPr>
          <a:xfrm>
            <a:off x="5094041" y="5997147"/>
            <a:ext cx="128699" cy="187198"/>
          </a:xfrm>
          <a:prstGeom prst="rect">
            <a:avLst/>
          </a:prstGeom>
        </p:spPr>
      </p:pic>
      <p:sp>
        <p:nvSpPr>
          <p:cNvPr id="76" name="TextBox 75"/>
          <p:cNvSpPr txBox="1"/>
          <p:nvPr/>
        </p:nvSpPr>
        <p:spPr>
          <a:xfrm>
            <a:off x="5261537" y="6006927"/>
            <a:ext cx="2251645" cy="186689"/>
          </a:xfrm>
          <a:prstGeom prst="rect">
            <a:avLst/>
          </a:prstGeom>
          <a:noFill/>
        </p:spPr>
        <p:txBody>
          <a:bodyPr wrap="none" lIns="0" rIns="0" tIns="0" bIns="0">
            <a:spAutoFit/>
          </a:bodyPr>
          <a:lstStyle/>
          <a:p>
            <a:r>
              <a:rPr sz="1100" b="0">
                <a:solidFill>
                  <a:srgbClr val="2E2E2E"/>
                </a:solidFill>
                <a:latin typeface="Calibri"/>
              </a:rPr>
              <a:t>x pipeline coverage underpins growth.</a:t>
            </a:r>
          </a:p>
        </p:txBody>
      </p:sp>
      <p:sp>
        <p:nvSpPr>
          <p:cNvPr id="77" name="TextBox 76"/>
          <p:cNvSpPr txBox="1"/>
          <p:nvPr/>
        </p:nvSpPr>
        <p:spPr>
          <a:xfrm>
            <a:off x="276225" y="6224859"/>
            <a:ext cx="2615015" cy="186689"/>
          </a:xfrm>
          <a:prstGeom prst="rect">
            <a:avLst/>
          </a:prstGeom>
          <a:noFill/>
        </p:spPr>
        <p:txBody>
          <a:bodyPr wrap="none" lIns="0" rIns="0" tIns="0" bIns="0">
            <a:spAutoFit/>
          </a:bodyPr>
          <a:lstStyle/>
          <a:p>
            <a:r>
              <a:rPr sz="1100" b="0">
                <a:solidFill>
                  <a:srgbClr val="2E2E2E"/>
                </a:solidFill>
                <a:latin typeface="Calibri"/>
              </a:rPr>
              <a:t>▪ Sales Efficiency: a ~95-day sales cycle and ~</a:t>
            </a:r>
          </a:p>
        </p:txBody>
      </p:sp>
      <p:pic>
        <p:nvPicPr>
          <p:cNvPr id="78" name="Picture 77" descr="lock.png"/>
          <p:cNvPicPr>
            <a:picLocks noChangeAspect="1"/>
          </p:cNvPicPr>
          <p:nvPr/>
        </p:nvPicPr>
        <p:blipFill>
          <a:blip r:embed="rId5"/>
          <a:stretch>
            <a:fillRect/>
          </a:stretch>
        </p:blipFill>
        <p:spPr>
          <a:xfrm>
            <a:off x="2839292" y="6215079"/>
            <a:ext cx="128699" cy="187198"/>
          </a:xfrm>
          <a:prstGeom prst="rect">
            <a:avLst/>
          </a:prstGeom>
        </p:spPr>
      </p:pic>
      <p:sp>
        <p:nvSpPr>
          <p:cNvPr id="79" name="TextBox 78"/>
          <p:cNvSpPr txBox="1"/>
          <p:nvPr/>
        </p:nvSpPr>
        <p:spPr>
          <a:xfrm>
            <a:off x="3006787" y="6224859"/>
            <a:ext cx="2384524" cy="186689"/>
          </a:xfrm>
          <a:prstGeom prst="rect">
            <a:avLst/>
          </a:prstGeom>
          <a:noFill/>
        </p:spPr>
        <p:txBody>
          <a:bodyPr wrap="none" lIns="0" rIns="0" tIns="0" bIns="0">
            <a:spAutoFit/>
          </a:bodyPr>
          <a:lstStyle/>
          <a:p>
            <a:r>
              <a:rPr sz="1100" b="0">
                <a:solidFill>
                  <a:srgbClr val="2E2E2E"/>
                </a:solidFill>
                <a:latin typeface="Calibri"/>
              </a:rPr>
              <a:t>conversion support faster share capture.</a:t>
            </a:r>
          </a:p>
        </p:txBody>
      </p:sp>
      <p:sp>
        <p:nvSpPr>
          <p:cNvPr id="80" name="lockshield_13"/>
          <p:cNvSpPr/>
          <p:nvPr/>
        </p:nvSpPr>
        <p:spPr>
          <a:xfrm>
            <a:off x="238125" y="1585070"/>
            <a:ext cx="5715000" cy="192055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Prestige Consumer Healthcare SWOT Analysis (3/5)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SWOT assessment of Prestige Consumer Healthcare: strengths, weaknesses, opportunities and threats shaping its competitive…</a:t>
            </a:r>
          </a:p>
        </p:txBody>
      </p:sp>
      <p:sp>
        <p:nvSpPr>
          <p:cNvPr id="10" name="TextBox 9"/>
          <p:cNvSpPr txBox="1"/>
          <p:nvPr/>
        </p:nvSpPr>
        <p:spPr>
          <a:xfrm>
            <a:off x="142875" y="1007261"/>
            <a:ext cx="11906250" cy="164283"/>
          </a:xfrm>
          <a:prstGeom prst="rect">
            <a:avLst/>
          </a:prstGeom>
          <a:noFill/>
        </p:spPr>
        <p:txBody>
          <a:bodyPr wrap="square" lIns="28575" rIns="28575" tIns="9525" bIns="9525" anchor="ctr">
            <a:spAutoFit/>
          </a:bodyPr>
          <a:lstStyle/>
          <a:p>
            <a:pPr algn="l"/>
            <a:r>
              <a:rPr sz="1150" b="0">
                <a:solidFill>
                  <a:srgbClr val="2E2E2E"/>
                </a:solidFill>
                <a:latin typeface="Calibri"/>
              </a:rPr>
              <a:t>SWOT assessment Prestige Consumer Healthcare: strengths, weaknesses, opportunities and threats (indicative).</a:t>
            </a:r>
          </a:p>
        </p:txBody>
      </p:sp>
      <p:cxnSp>
        <p:nvCxnSpPr>
          <p:cNvPr id="11" name="Connector 10"/>
          <p:cNvCxnSpPr/>
          <p:nvPr/>
        </p:nvCxnSpPr>
        <p:spPr>
          <a:xfrm>
            <a:off x="3810000" y="3891345"/>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6000" y="1919946"/>
            <a:ext cx="0" cy="3942799"/>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757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29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43612" y="1869748"/>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043612" y="58125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724400" y="2577079"/>
            <a:ext cx="1257300" cy="1204744"/>
          </a:xfrm>
          <a:prstGeom prst="roundRect">
            <a:avLst>
              <a:gd name="adj" fmla="val 12121"/>
            </a:avLst>
          </a:prstGeom>
          <a:noFill/>
          <a:ln w="19050">
            <a:solidFill>
              <a:srgbClr val="69B1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0300" y="2577079"/>
            <a:ext cx="1257300" cy="1204744"/>
          </a:xfrm>
          <a:prstGeom prst="roundRect">
            <a:avLst>
              <a:gd name="adj" fmla="val 12121"/>
            </a:avLst>
          </a:prstGeom>
          <a:noFill/>
          <a:ln w="19050">
            <a:solidFill>
              <a:srgbClr val="0B2E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724400" y="4000868"/>
            <a:ext cx="1257300" cy="1204744"/>
          </a:xfrm>
          <a:prstGeom prst="roundRect">
            <a:avLst>
              <a:gd name="adj" fmla="val 12121"/>
            </a:avLst>
          </a:prstGeom>
          <a:noFill/>
          <a:ln w="19050">
            <a:solidFill>
              <a:srgbClr val="A3531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10300" y="4000868"/>
            <a:ext cx="1257300" cy="1204744"/>
          </a:xfrm>
          <a:prstGeom prst="roundRect">
            <a:avLst>
              <a:gd name="adj" fmla="val 12121"/>
            </a:avLst>
          </a:prstGeom>
          <a:noFill/>
          <a:ln w="19050">
            <a:solidFill>
              <a:srgbClr val="A86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5524500" y="2978660"/>
            <a:ext cx="1143000" cy="803163"/>
          </a:xfrm>
          <a:custGeom>
            <a:avLst/>
            <a:gdLst/>
            <a:ahLst/>
            <a:cxnLst/>
            <a:rect l="l" t="t" r="r" b="b"/>
            <a:pathLst>
              <a:path w="120" h="88">
                <a:moveTo>
                  <a:pt x="0" y="0"/>
                </a:moveTo>
                <a:lnTo>
                  <a:pt x="120" y="0"/>
                </a:lnTo>
                <a:lnTo>
                  <a:pt x="60" y="88"/>
                </a:lnTo>
                <a:close/>
              </a:path>
            </a:pathLst>
          </a:cu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5524500" y="4000868"/>
            <a:ext cx="1143000" cy="803163"/>
          </a:xfrm>
          <a:custGeom>
            <a:avLst/>
            <a:gdLst/>
            <a:ahLst/>
            <a:cxnLst/>
            <a:rect l="l" t="t" r="r" b="b"/>
            <a:pathLst>
              <a:path w="120" h="88">
                <a:moveTo>
                  <a:pt x="0" y="88"/>
                </a:moveTo>
                <a:lnTo>
                  <a:pt x="120" y="88"/>
                </a:lnTo>
                <a:lnTo>
                  <a:pt x="60" y="0"/>
                </a:lnTo>
                <a:close/>
              </a:path>
            </a:pathLst>
          </a:cu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5143500" y="3343734"/>
            <a:ext cx="838200" cy="1095222"/>
          </a:xfrm>
          <a:custGeom>
            <a:avLst/>
            <a:gdLst/>
            <a:ahLst/>
            <a:cxnLst/>
            <a:rect l="l" t="t" r="r" b="b"/>
            <a:pathLst>
              <a:path w="88" h="120">
                <a:moveTo>
                  <a:pt x="0" y="0"/>
                </a:moveTo>
                <a:lnTo>
                  <a:pt x="0" y="120"/>
                </a:lnTo>
                <a:lnTo>
                  <a:pt x="88" y="60"/>
                </a:lnTo>
                <a:close/>
              </a:path>
            </a:pathLst>
          </a:cu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6210300" y="3343734"/>
            <a:ext cx="838200" cy="1095222"/>
          </a:xfrm>
          <a:custGeom>
            <a:avLst/>
            <a:gdLst/>
            <a:ahLst/>
            <a:cxnLst/>
            <a:rect l="l" t="t" r="r" b="b"/>
            <a:pathLst>
              <a:path w="88" h="120">
                <a:moveTo>
                  <a:pt x="88" y="0"/>
                </a:moveTo>
                <a:lnTo>
                  <a:pt x="88" y="120"/>
                </a:lnTo>
                <a:lnTo>
                  <a:pt x="0" y="60"/>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6450" y="3243339"/>
            <a:ext cx="419100" cy="273805"/>
          </a:xfrm>
          <a:prstGeom prst="rect">
            <a:avLst/>
          </a:prstGeom>
          <a:noFill/>
        </p:spPr>
        <p:txBody>
          <a:bodyPr wrap="none" lIns="0" rIns="0" tIns="0" bIns="0" anchor="ctr">
            <a:spAutoFit/>
          </a:bodyPr>
          <a:lstStyle/>
          <a:p>
            <a:pPr algn="ctr"/>
            <a:r>
              <a:rPr sz="2100" b="1">
                <a:solidFill>
                  <a:srgbClr val="1F2933"/>
                </a:solidFill>
                <a:latin typeface="Calibri"/>
              </a:rPr>
              <a:t>S</a:t>
            </a:r>
          </a:p>
        </p:txBody>
      </p:sp>
      <p:sp>
        <p:nvSpPr>
          <p:cNvPr id="26" name="TextBox 25"/>
          <p:cNvSpPr txBox="1"/>
          <p:nvPr/>
        </p:nvSpPr>
        <p:spPr>
          <a:xfrm>
            <a:off x="5886450" y="4265546"/>
            <a:ext cx="419100" cy="273805"/>
          </a:xfrm>
          <a:prstGeom prst="rect">
            <a:avLst/>
          </a:prstGeom>
          <a:noFill/>
        </p:spPr>
        <p:txBody>
          <a:bodyPr wrap="none" lIns="0" rIns="0" tIns="0" bIns="0" anchor="ctr">
            <a:spAutoFit/>
          </a:bodyPr>
          <a:lstStyle/>
          <a:p>
            <a:pPr algn="ctr"/>
            <a:r>
              <a:rPr sz="2100" b="1">
                <a:solidFill>
                  <a:srgbClr val="FFFFFF"/>
                </a:solidFill>
                <a:latin typeface="Calibri"/>
              </a:rPr>
              <a:t>O</a:t>
            </a:r>
          </a:p>
        </p:txBody>
      </p:sp>
      <p:sp>
        <p:nvSpPr>
          <p:cNvPr id="27" name="TextBox 26"/>
          <p:cNvSpPr txBox="1"/>
          <p:nvPr/>
        </p:nvSpPr>
        <p:spPr>
          <a:xfrm>
            <a:off x="53530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T</a:t>
            </a:r>
          </a:p>
        </p:txBody>
      </p:sp>
      <p:sp>
        <p:nvSpPr>
          <p:cNvPr id="28" name="TextBox 27"/>
          <p:cNvSpPr txBox="1"/>
          <p:nvPr/>
        </p:nvSpPr>
        <p:spPr>
          <a:xfrm>
            <a:off x="64198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W</a:t>
            </a:r>
          </a:p>
        </p:txBody>
      </p:sp>
      <p:sp>
        <p:nvSpPr>
          <p:cNvPr id="29" name="TextBox 28"/>
          <p:cNvSpPr txBox="1"/>
          <p:nvPr/>
        </p:nvSpPr>
        <p:spPr>
          <a:xfrm>
            <a:off x="190500" y="1299320"/>
            <a:ext cx="3667125" cy="182537"/>
          </a:xfrm>
          <a:prstGeom prst="rect">
            <a:avLst/>
          </a:prstGeom>
          <a:noFill/>
        </p:spPr>
        <p:txBody>
          <a:bodyPr wrap="square" lIns="28575" rIns="28575" tIns="9525" bIns="9525" anchor="ctr">
            <a:spAutoFit/>
          </a:bodyPr>
          <a:lstStyle/>
          <a:p>
            <a:pPr algn="l"/>
            <a:r>
              <a:rPr sz="1350" b="1">
                <a:solidFill>
                  <a:srgbClr val="0B2E4A"/>
                </a:solidFill>
                <a:latin typeface="Calibri"/>
              </a:rPr>
              <a:t>Strengths</a:t>
            </a:r>
          </a:p>
        </p:txBody>
      </p:sp>
      <p:sp>
        <p:nvSpPr>
          <p:cNvPr id="30" name="Rectangle 29"/>
          <p:cNvSpPr/>
          <p:nvPr/>
        </p:nvSpPr>
        <p:spPr>
          <a:xfrm>
            <a:off x="190500" y="1500111"/>
            <a:ext cx="1428750" cy="1825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04788" y="1605070"/>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3375"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Oval 32"/>
          <p:cNvSpPr/>
          <p:nvPr/>
        </p:nvSpPr>
        <p:spPr>
          <a:xfrm>
            <a:off x="204788" y="2116174"/>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3375"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Balanced SOM across regions and end-markets; strongest in 'North America'.</a:t>
            </a:r>
          </a:p>
        </p:txBody>
      </p:sp>
      <p:sp>
        <p:nvSpPr>
          <p:cNvPr id="35" name="Oval 34"/>
          <p:cNvSpPr/>
          <p:nvPr/>
        </p:nvSpPr>
        <p:spPr>
          <a:xfrm>
            <a:off x="204788" y="2627277"/>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3375"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7" name="TextBox 36"/>
          <p:cNvSpPr txBox="1"/>
          <p:nvPr/>
        </p:nvSpPr>
        <p:spPr>
          <a:xfrm>
            <a:off x="8334375" y="1299320"/>
            <a:ext cx="3667125" cy="182537"/>
          </a:xfrm>
          <a:prstGeom prst="rect">
            <a:avLst/>
          </a:prstGeom>
          <a:noFill/>
        </p:spPr>
        <p:txBody>
          <a:bodyPr wrap="square" lIns="28575" rIns="28575" tIns="9525" bIns="9525" anchor="ctr">
            <a:spAutoFit/>
          </a:bodyPr>
          <a:lstStyle/>
          <a:p>
            <a:pPr algn="l"/>
            <a:r>
              <a:rPr sz="1350" b="1">
                <a:solidFill>
                  <a:srgbClr val="082238"/>
                </a:solidFill>
                <a:latin typeface="Calibri"/>
              </a:rPr>
              <a:t>Weaknesses</a:t>
            </a:r>
          </a:p>
        </p:txBody>
      </p:sp>
      <p:sp>
        <p:nvSpPr>
          <p:cNvPr id="38" name="Rectangle 37"/>
          <p:cNvSpPr/>
          <p:nvPr/>
        </p:nvSpPr>
        <p:spPr>
          <a:xfrm>
            <a:off x="8334375" y="1500111"/>
            <a:ext cx="1428750" cy="18254"/>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348662" y="1605070"/>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77250"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Oval 40"/>
          <p:cNvSpPr/>
          <p:nvPr/>
        </p:nvSpPr>
        <p:spPr>
          <a:xfrm>
            <a:off x="8348662" y="2116174"/>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77250"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Uneven SAM penetration strong in 'Rest of the World', thin elsewhere.</a:t>
            </a:r>
          </a:p>
        </p:txBody>
      </p:sp>
      <p:sp>
        <p:nvSpPr>
          <p:cNvPr id="43" name="Oval 42"/>
          <p:cNvSpPr/>
          <p:nvPr/>
        </p:nvSpPr>
        <p:spPr>
          <a:xfrm>
            <a:off x="8348662" y="2627277"/>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77250"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Reliance on a few large accounts/regions raises concentration risk.</a:t>
            </a:r>
          </a:p>
        </p:txBody>
      </p:sp>
      <p:sp>
        <p:nvSpPr>
          <p:cNvPr id="45" name="TextBox 44"/>
          <p:cNvSpPr txBox="1"/>
          <p:nvPr/>
        </p:nvSpPr>
        <p:spPr>
          <a:xfrm>
            <a:off x="190500" y="4055629"/>
            <a:ext cx="3667125" cy="182537"/>
          </a:xfrm>
          <a:prstGeom prst="rect">
            <a:avLst/>
          </a:prstGeom>
          <a:noFill/>
        </p:spPr>
        <p:txBody>
          <a:bodyPr wrap="square" lIns="28575" rIns="28575" tIns="9525" bIns="9525" anchor="ctr">
            <a:spAutoFit/>
          </a:bodyPr>
          <a:lstStyle/>
          <a:p>
            <a:pPr algn="l"/>
            <a:r>
              <a:rPr sz="1350" b="1">
                <a:solidFill>
                  <a:srgbClr val="A35313"/>
                </a:solidFill>
                <a:latin typeface="Calibri"/>
              </a:rPr>
              <a:t>Threats</a:t>
            </a:r>
          </a:p>
        </p:txBody>
      </p:sp>
      <p:sp>
        <p:nvSpPr>
          <p:cNvPr id="46" name="Rectangle 45"/>
          <p:cNvSpPr/>
          <p:nvPr/>
        </p:nvSpPr>
        <p:spPr>
          <a:xfrm>
            <a:off x="190500" y="4256419"/>
            <a:ext cx="1428750" cy="1825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04788" y="4361379"/>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3375"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Oval 48"/>
          <p:cNvSpPr/>
          <p:nvPr/>
        </p:nvSpPr>
        <p:spPr>
          <a:xfrm>
            <a:off x="204788" y="4872482"/>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3375"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Input-cost inflation and price pressure can squeeze margin.</a:t>
            </a:r>
          </a:p>
        </p:txBody>
      </p:sp>
      <p:sp>
        <p:nvSpPr>
          <p:cNvPr id="51" name="Oval 50"/>
          <p:cNvSpPr/>
          <p:nvPr/>
        </p:nvSpPr>
        <p:spPr>
          <a:xfrm>
            <a:off x="204788" y="5383586"/>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3375"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Tier-1 incumbents and regulation raise barriers and switching friction.</a:t>
            </a:r>
          </a:p>
        </p:txBody>
      </p:sp>
      <p:sp>
        <p:nvSpPr>
          <p:cNvPr id="53" name="TextBox 52"/>
          <p:cNvSpPr txBox="1"/>
          <p:nvPr/>
        </p:nvSpPr>
        <p:spPr>
          <a:xfrm>
            <a:off x="8334375" y="4055629"/>
            <a:ext cx="3667125" cy="182537"/>
          </a:xfrm>
          <a:prstGeom prst="rect">
            <a:avLst/>
          </a:prstGeom>
          <a:noFill/>
        </p:spPr>
        <p:txBody>
          <a:bodyPr wrap="square" lIns="28575" rIns="28575" tIns="9525" bIns="9525" anchor="ctr">
            <a:spAutoFit/>
          </a:bodyPr>
          <a:lstStyle/>
          <a:p>
            <a:pPr algn="l"/>
            <a:r>
              <a:rPr sz="1350" b="1">
                <a:solidFill>
                  <a:srgbClr val="A86F00"/>
                </a:solidFill>
                <a:latin typeface="Calibri"/>
              </a:rPr>
              <a:t>Opportunities</a:t>
            </a:r>
          </a:p>
        </p:txBody>
      </p:sp>
      <p:sp>
        <p:nvSpPr>
          <p:cNvPr id="54" name="Rectangle 53"/>
          <p:cNvSpPr/>
          <p:nvPr/>
        </p:nvSpPr>
        <p:spPr>
          <a:xfrm>
            <a:off x="8334375" y="4256419"/>
            <a:ext cx="1428750" cy="1825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348662" y="4361379"/>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77250"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Premiumisation headroom in 'Irrigation Devices and Accessories' and adjacent high-value lines.</a:t>
            </a:r>
          </a:p>
        </p:txBody>
      </p:sp>
      <p:sp>
        <p:nvSpPr>
          <p:cNvPr id="57" name="Oval 56"/>
          <p:cNvSpPr/>
          <p:nvPr/>
        </p:nvSpPr>
        <p:spPr>
          <a:xfrm>
            <a:off x="8348662" y="4872482"/>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77250"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Under-penetrated regions offer share-capture runway.</a:t>
            </a:r>
          </a:p>
        </p:txBody>
      </p:sp>
      <p:sp>
        <p:nvSpPr>
          <p:cNvPr id="59" name="Oval 58"/>
          <p:cNvSpPr/>
          <p:nvPr/>
        </p:nvSpPr>
        <p:spPr>
          <a:xfrm>
            <a:off x="8348662" y="5383586"/>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77250"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shift to online and clinics opens new demand pools.</a:t>
            </a:r>
          </a:p>
        </p:txBody>
      </p:sp>
      <p:sp>
        <p:nvSpPr>
          <p:cNvPr id="61" name="TextBox 60"/>
          <p:cNvSpPr txBox="1"/>
          <p:nvPr/>
        </p:nvSpPr>
        <p:spPr>
          <a:xfrm>
            <a:off x="2857500" y="6428609"/>
            <a:ext cx="9191625" cy="182537"/>
          </a:xfrm>
          <a:prstGeom prst="rect">
            <a:avLst/>
          </a:prstGeom>
          <a:noFill/>
        </p:spPr>
        <p:txBody>
          <a:bodyPr wrap="square" lIns="28575" rIns="28575" tIns="9525" bIns="9525" anchor="ctr">
            <a:spAutoFit/>
          </a:bodyPr>
          <a:lstStyle/>
          <a:p>
            <a:pPr algn="l"/>
            <a:r>
              <a:rPr sz="1100" b="0">
                <a:solidFill>
                  <a:srgbClr val="C0392B"/>
                </a:solidFill>
                <a:latin typeface="Calibri"/>
              </a:rPr>
              <a:t>Note: competitor figures are indicative derived from market modelling and expert validation, not company disclosures.</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361950" y="1642784"/>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64" name="Picture 63" descr="lock.png"/>
          <p:cNvPicPr>
            <a:picLocks noChangeAspect="1"/>
          </p:cNvPicPr>
          <p:nvPr/>
        </p:nvPicPr>
        <p:blipFill>
          <a:blip r:embed="rId4"/>
          <a:stretch>
            <a:fillRect/>
          </a:stretch>
        </p:blipFill>
        <p:spPr>
          <a:xfrm>
            <a:off x="455778" y="1633005"/>
            <a:ext cx="128699" cy="187198"/>
          </a:xfrm>
          <a:prstGeom prst="rect">
            <a:avLst/>
          </a:prstGeom>
        </p:spPr>
      </p:pic>
      <p:sp>
        <p:nvSpPr>
          <p:cNvPr id="65" name="TextBox 64"/>
          <p:cNvSpPr txBox="1"/>
          <p:nvPr/>
        </p:nvSpPr>
        <p:spPr>
          <a:xfrm>
            <a:off x="623274" y="1642784"/>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66" name="Picture 65" descr="lock.png"/>
          <p:cNvPicPr>
            <a:picLocks noChangeAspect="1"/>
          </p:cNvPicPr>
          <p:nvPr/>
        </p:nvPicPr>
        <p:blipFill>
          <a:blip r:embed="rId4"/>
          <a:stretch>
            <a:fillRect/>
          </a:stretch>
        </p:blipFill>
        <p:spPr>
          <a:xfrm>
            <a:off x="1600596" y="1633005"/>
            <a:ext cx="128699" cy="187198"/>
          </a:xfrm>
          <a:prstGeom prst="rect">
            <a:avLst/>
          </a:prstGeom>
        </p:spPr>
      </p:pic>
      <p:sp>
        <p:nvSpPr>
          <p:cNvPr id="67" name="TextBox 66"/>
          <p:cNvSpPr txBox="1"/>
          <p:nvPr/>
        </p:nvSpPr>
        <p:spPr>
          <a:xfrm>
            <a:off x="1768092" y="1642784"/>
            <a:ext cx="1490662" cy="186689"/>
          </a:xfrm>
          <a:prstGeom prst="rect">
            <a:avLst/>
          </a:prstGeom>
          <a:noFill/>
        </p:spPr>
        <p:txBody>
          <a:bodyPr wrap="none" lIns="0" rIns="0" tIns="0" bIns="0">
            <a:spAutoFit/>
          </a:bodyPr>
          <a:lstStyle/>
          <a:p>
            <a:r>
              <a:rPr sz="1100" b="0">
                <a:solidFill>
                  <a:srgbClr val="2E2E2E"/>
                </a:solidFill>
                <a:latin typeface="Calibri"/>
              </a:rPr>
              <a:t>ASP premium clear value</a:t>
            </a:r>
          </a:p>
        </p:txBody>
      </p:sp>
      <p:sp>
        <p:nvSpPr>
          <p:cNvPr id="68" name="TextBox 67"/>
          <p:cNvSpPr txBox="1"/>
          <p:nvPr/>
        </p:nvSpPr>
        <p:spPr>
          <a:xfrm>
            <a:off x="361950" y="1810424"/>
            <a:ext cx="760238" cy="186689"/>
          </a:xfrm>
          <a:prstGeom prst="rect">
            <a:avLst/>
          </a:prstGeom>
          <a:noFill/>
        </p:spPr>
        <p:txBody>
          <a:bodyPr wrap="none" lIns="0" rIns="0" tIns="0" bIns="0">
            <a:spAutoFit/>
          </a:bodyPr>
          <a:lstStyle/>
          <a:p>
            <a:r>
              <a:rPr sz="1100" b="0">
                <a:solidFill>
                  <a:srgbClr val="2E2E2E"/>
                </a:solidFill>
                <a:latin typeface="Calibri"/>
              </a:rPr>
              <a:t>recognition.</a:t>
            </a:r>
          </a:p>
        </p:txBody>
      </p:sp>
      <p:pic>
        <p:nvPicPr>
          <p:cNvPr id="69" name="Picture 68" descr="lock.png"/>
          <p:cNvPicPr>
            <a:picLocks noChangeAspect="1"/>
          </p:cNvPicPr>
          <p:nvPr/>
        </p:nvPicPr>
        <p:blipFill>
          <a:blip r:embed="rId4"/>
          <a:stretch>
            <a:fillRect/>
          </a:stretch>
        </p:blipFill>
        <p:spPr>
          <a:xfrm>
            <a:off x="348482" y="2655212"/>
            <a:ext cx="128699" cy="187198"/>
          </a:xfrm>
          <a:prstGeom prst="rect">
            <a:avLst/>
          </a:prstGeom>
        </p:spPr>
      </p:pic>
      <p:sp>
        <p:nvSpPr>
          <p:cNvPr id="70" name="TextBox 69"/>
          <p:cNvSpPr txBox="1"/>
          <p:nvPr/>
        </p:nvSpPr>
        <p:spPr>
          <a:xfrm>
            <a:off x="515978" y="2664991"/>
            <a:ext cx="1083295" cy="186689"/>
          </a:xfrm>
          <a:prstGeom prst="rect">
            <a:avLst/>
          </a:prstGeom>
          <a:noFill/>
        </p:spPr>
        <p:txBody>
          <a:bodyPr wrap="none" lIns="0" rIns="0" tIns="0" bIns="0">
            <a:spAutoFit/>
          </a:bodyPr>
          <a:lstStyle/>
          <a:p>
            <a:r>
              <a:rPr sz="1100" b="0">
                <a:solidFill>
                  <a:srgbClr val="2E2E2E"/>
                </a:solidFill>
                <a:latin typeface="Calibri"/>
              </a:rPr>
              <a:t>book-to-bill and ~</a:t>
            </a:r>
          </a:p>
        </p:txBody>
      </p:sp>
      <p:pic>
        <p:nvPicPr>
          <p:cNvPr id="71" name="Picture 70" descr="lock.png"/>
          <p:cNvPicPr>
            <a:picLocks noChangeAspect="1"/>
          </p:cNvPicPr>
          <p:nvPr/>
        </p:nvPicPr>
        <p:blipFill>
          <a:blip r:embed="rId4"/>
          <a:stretch>
            <a:fillRect/>
          </a:stretch>
        </p:blipFill>
        <p:spPr>
          <a:xfrm>
            <a:off x="1547325" y="2655212"/>
            <a:ext cx="128699" cy="187198"/>
          </a:xfrm>
          <a:prstGeom prst="rect">
            <a:avLst/>
          </a:prstGeom>
        </p:spPr>
      </p:pic>
      <p:sp>
        <p:nvSpPr>
          <p:cNvPr id="72" name="TextBox 71"/>
          <p:cNvSpPr txBox="1"/>
          <p:nvPr/>
        </p:nvSpPr>
        <p:spPr>
          <a:xfrm>
            <a:off x="1714820" y="2664991"/>
            <a:ext cx="1304547" cy="186689"/>
          </a:xfrm>
          <a:prstGeom prst="rect">
            <a:avLst/>
          </a:prstGeom>
          <a:noFill/>
        </p:spPr>
        <p:txBody>
          <a:bodyPr wrap="none" lIns="0" rIns="0" tIns="0" bIns="0">
            <a:spAutoFit/>
          </a:bodyPr>
          <a:lstStyle/>
          <a:p>
            <a:r>
              <a:rPr sz="1100" b="0">
                <a:solidFill>
                  <a:srgbClr val="2E2E2E"/>
                </a:solidFill>
                <a:latin typeface="Calibri"/>
              </a:rPr>
              <a:t>EBITDA signal healthy</a:t>
            </a:r>
          </a:p>
        </p:txBody>
      </p:sp>
      <p:sp>
        <p:nvSpPr>
          <p:cNvPr id="73" name="TextBox 72"/>
          <p:cNvSpPr txBox="1"/>
          <p:nvPr/>
        </p:nvSpPr>
        <p:spPr>
          <a:xfrm>
            <a:off x="361950" y="2832631"/>
            <a:ext cx="783158" cy="186689"/>
          </a:xfrm>
          <a:prstGeom prst="rect">
            <a:avLst/>
          </a:prstGeom>
          <a:noFill/>
        </p:spPr>
        <p:txBody>
          <a:bodyPr wrap="none" lIns="0" rIns="0" tIns="0" bIns="0">
            <a:spAutoFit/>
          </a:bodyPr>
          <a:lstStyle/>
          <a:p>
            <a:r>
              <a:rPr sz="1100" b="0">
                <a:solidFill>
                  <a:srgbClr val="2E2E2E"/>
                </a:solidFill>
                <a:latin typeface="Calibri"/>
              </a:rPr>
              <a:t>momentum.</a:t>
            </a:r>
          </a:p>
        </p:txBody>
      </p:sp>
      <p:sp>
        <p:nvSpPr>
          <p:cNvPr id="74" name="TextBox 73"/>
          <p:cNvSpPr txBox="1"/>
          <p:nvPr/>
        </p:nvSpPr>
        <p:spPr>
          <a:xfrm>
            <a:off x="8505825" y="1726603"/>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75" name="Picture 74" descr="lock.png"/>
          <p:cNvPicPr>
            <a:picLocks noChangeAspect="1"/>
          </p:cNvPicPr>
          <p:nvPr/>
        </p:nvPicPr>
        <p:blipFill>
          <a:blip r:embed="rId4"/>
          <a:stretch>
            <a:fillRect/>
          </a:stretch>
        </p:blipFill>
        <p:spPr>
          <a:xfrm>
            <a:off x="8599653" y="1716825"/>
            <a:ext cx="128699" cy="187198"/>
          </a:xfrm>
          <a:prstGeom prst="rect">
            <a:avLst/>
          </a:prstGeom>
        </p:spPr>
      </p:pic>
      <p:sp>
        <p:nvSpPr>
          <p:cNvPr id="76" name="TextBox 75"/>
          <p:cNvSpPr txBox="1"/>
          <p:nvPr/>
        </p:nvSpPr>
        <p:spPr>
          <a:xfrm>
            <a:off x="8767149" y="1726603"/>
            <a:ext cx="2910582" cy="186689"/>
          </a:xfrm>
          <a:prstGeom prst="rect">
            <a:avLst/>
          </a:prstGeom>
          <a:noFill/>
        </p:spPr>
        <p:txBody>
          <a:bodyPr wrap="none" lIns="0" rIns="0" tIns="0" bIns="0">
            <a:spAutoFit/>
          </a:bodyPr>
          <a:lstStyle/>
          <a:p>
            <a:r>
              <a:rPr sz="1100" b="0">
                <a:solidFill>
                  <a:srgbClr val="2E2E2E"/>
                </a:solidFill>
                <a:latin typeface="Calibri"/>
              </a:rPr>
              <a:t>share leaves a scale gap versus the market leader.</a:t>
            </a:r>
          </a:p>
        </p:txBody>
      </p:sp>
      <p:sp>
        <p:nvSpPr>
          <p:cNvPr id="77" name="TextBox 76"/>
          <p:cNvSpPr txBox="1"/>
          <p:nvPr/>
        </p:nvSpPr>
        <p:spPr>
          <a:xfrm>
            <a:off x="361950" y="4482912"/>
            <a:ext cx="1324495" cy="186689"/>
          </a:xfrm>
          <a:prstGeom prst="rect">
            <a:avLst/>
          </a:prstGeom>
          <a:noFill/>
        </p:spPr>
        <p:txBody>
          <a:bodyPr wrap="none" lIns="0" rIns="0" tIns="0" bIns="0">
            <a:spAutoFit/>
          </a:bodyPr>
          <a:lstStyle/>
          <a:p>
            <a:r>
              <a:rPr sz="1100" b="0">
                <a:solidFill>
                  <a:srgbClr val="2E2E2E"/>
                </a:solidFill>
                <a:latin typeface="Calibri"/>
              </a:rPr>
              <a:t>Intense competition ~</a:t>
            </a:r>
          </a:p>
        </p:txBody>
      </p:sp>
      <p:pic>
        <p:nvPicPr>
          <p:cNvPr id="78" name="Picture 77" descr="lock.png"/>
          <p:cNvPicPr>
            <a:picLocks noChangeAspect="1"/>
          </p:cNvPicPr>
          <p:nvPr/>
        </p:nvPicPr>
        <p:blipFill>
          <a:blip r:embed="rId4"/>
          <a:stretch>
            <a:fillRect/>
          </a:stretch>
        </p:blipFill>
        <p:spPr>
          <a:xfrm>
            <a:off x="1634497" y="4473133"/>
            <a:ext cx="128699" cy="187198"/>
          </a:xfrm>
          <a:prstGeom prst="rect">
            <a:avLst/>
          </a:prstGeom>
        </p:spPr>
      </p:pic>
      <p:sp>
        <p:nvSpPr>
          <p:cNvPr id="79" name="TextBox 78"/>
          <p:cNvSpPr txBox="1"/>
          <p:nvPr/>
        </p:nvSpPr>
        <p:spPr>
          <a:xfrm>
            <a:off x="1801993" y="4482912"/>
            <a:ext cx="1738684" cy="186689"/>
          </a:xfrm>
          <a:prstGeom prst="rect">
            <a:avLst/>
          </a:prstGeom>
          <a:noFill/>
        </p:spPr>
        <p:txBody>
          <a:bodyPr wrap="none" lIns="0" rIns="0" tIns="0" bIns="0">
            <a:spAutoFit/>
          </a:bodyPr>
          <a:lstStyle/>
          <a:p>
            <a:r>
              <a:rPr sz="1100" b="0">
                <a:solidFill>
                  <a:srgbClr val="2E2E2E"/>
                </a:solidFill>
                <a:latin typeface="Calibri"/>
              </a:rPr>
              <a:t>x pipeline needed to convert.</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Prestige Consumer Healthcare Key Financials (4/5)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Prestige Consumer Healthcare's financial performance, key ratios and pricing, highlighting margin and momentum</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Key financials and pricing Prestige Consumer Healthcare (all figures indicative, USD Mn unless noted).</a:t>
            </a:r>
          </a:p>
        </p:txBody>
      </p:sp>
      <p:sp>
        <p:nvSpPr>
          <p:cNvPr id="11" name="Rounded Rectangle 10"/>
          <p:cNvSpPr/>
          <p:nvPr/>
        </p:nvSpPr>
        <p:spPr>
          <a:xfrm>
            <a:off x="142875" y="1354081"/>
            <a:ext cx="5905500" cy="1916638"/>
          </a:xfrm>
          <a:prstGeom prst="roundRect">
            <a:avLst>
              <a:gd name="adj" fmla="val 397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Prestige Consumer Healthcare Financial Performance</a:t>
            </a:r>
          </a:p>
        </p:txBody>
      </p:sp>
      <p:graphicFrame>
        <p:nvGraphicFramePr>
          <p:cNvPr id="13" name="Table 12"/>
          <p:cNvGraphicFramePr>
            <a:graphicFrameLocks noGrp="1"/>
          </p:cNvGraphicFramePr>
          <p:nvPr/>
        </p:nvGraphicFramePr>
        <p:xfrm>
          <a:off x="152400" y="1611256"/>
          <a:ext cx="5886449" cy="1449914"/>
        </p:xfrm>
        <a:graphic>
          <a:graphicData uri="http://schemas.openxmlformats.org/drawingml/2006/table">
            <a:tbl>
              <a:tblPr>
                <a:tableStyleId>{5C22544A-7EE6-4342-B048-85BDC9FD1C3A}</a:tableStyleId>
              </a:tblPr>
              <a:tblGrid>
                <a:gridCol w="2446649"/>
                <a:gridCol w="687960"/>
                <a:gridCol w="687960"/>
                <a:gridCol w="687960"/>
                <a:gridCol w="687960"/>
                <a:gridCol w="687960"/>
              </a:tblGrid>
              <a:tr h="246126">
                <a:tc>
                  <a:txBody>
                    <a:bodyPr wrap="none"/>
                    <a:lstStyle/>
                    <a:p>
                      <a:pPr algn="l"/>
                      <a:r>
                        <a:rPr sz="1100" b="1">
                          <a:solidFill>
                            <a:srgbClr val="0B2E4A"/>
                          </a:solidFill>
                          <a:latin typeface="Calibri"/>
                        </a:rPr>
                        <a:t>USD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300947">
                <a:tc>
                  <a:txBody>
                    <a:bodyPr wrap="none"/>
                    <a:lstStyle/>
                    <a:p>
                      <a:pPr algn="l"/>
                      <a:r>
                        <a:rPr sz="1100" b="1">
                          <a:solidFill>
                            <a:srgbClr val="2E2E2E"/>
                          </a:solidFill>
                          <a:latin typeface="Calibri"/>
                        </a:rPr>
                        <a:t>Revenue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Gross Profit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00947">
                <a:tc>
                  <a:txBody>
                    <a:bodyPr wrap="none"/>
                    <a:lstStyle/>
                    <a:p>
                      <a:pPr algn="l"/>
                      <a:r>
                        <a:rPr sz="1100" b="1">
                          <a:solidFill>
                            <a:srgbClr val="2E2E2E"/>
                          </a:solidFill>
                          <a:latin typeface="Calibri"/>
                        </a:rPr>
                        <a:t>Pre-Tax Profit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Profit After Tax / Net Profit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070695"/>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94397"/>
          </a:xfrm>
          <a:prstGeom prst="roundRect">
            <a:avLst>
              <a:gd name="adj" fmla="val 23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Prestige Consumer Healthcare Key Ratios</a:t>
            </a:r>
          </a:p>
        </p:txBody>
      </p:sp>
      <p:graphicFrame>
        <p:nvGraphicFramePr>
          <p:cNvPr id="17" name="Table 16"/>
          <p:cNvGraphicFramePr>
            <a:graphicFrameLocks noGrp="1"/>
          </p:cNvGraphicFramePr>
          <p:nvPr/>
        </p:nvGraphicFramePr>
        <p:xfrm>
          <a:off x="152400" y="3655670"/>
          <a:ext cx="5886450" cy="2727671"/>
        </p:xfrm>
        <a:graphic>
          <a:graphicData uri="http://schemas.openxmlformats.org/drawingml/2006/table">
            <a:tbl>
              <a:tblPr>
                <a:tableStyleId>{5C22544A-7EE6-4342-B048-85BDC9FD1C3A}</a:tableStyleId>
              </a:tblPr>
              <a:tblGrid>
                <a:gridCol w="1859260"/>
                <a:gridCol w="805438"/>
                <a:gridCol w="805438"/>
                <a:gridCol w="805438"/>
                <a:gridCol w="805438"/>
                <a:gridCol w="805438"/>
              </a:tblGrid>
              <a:tr h="246126">
                <a:tc>
                  <a:txBody>
                    <a:bodyPr wrap="none"/>
                    <a:lstStyle/>
                    <a:p>
                      <a:pPr algn="l"/>
                      <a:r>
                        <a:rPr sz="1100" b="1">
                          <a:solidFill>
                            <a:srgbClr val="0B2E4A"/>
                          </a:solidFill>
                          <a:latin typeface="Calibri"/>
                        </a:rPr>
                        <a:t>Key Ratios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496309">
                <a:tc>
                  <a:txBody>
                    <a:bodyPr wrap="none"/>
                    <a:lstStyle/>
                    <a:p>
                      <a:pPr algn="l"/>
                      <a:r>
                        <a:rPr sz="1100" b="1">
                          <a:solidFill>
                            <a:srgbClr val="2E2E2E"/>
                          </a:solidFill>
                          <a:latin typeface="Calibri"/>
                        </a:rPr>
                        <a:t>Gross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Pre-Tax Margin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96309">
                <a:tc>
                  <a:txBody>
                    <a:bodyPr wrap="none"/>
                    <a:lstStyle/>
                    <a:p>
                      <a:pPr algn="l"/>
                      <a:r>
                        <a:rPr sz="1100" b="1">
                          <a:solidFill>
                            <a:srgbClr val="2E2E2E"/>
                          </a:solidFill>
                          <a:latin typeface="Calibri"/>
                        </a:rPr>
                        <a:t>Net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Return on Equity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96309">
                <a:tc>
                  <a:txBody>
                    <a:bodyPr wrap="none"/>
                    <a:lstStyle/>
                    <a:p>
                      <a:pPr algn="l"/>
                      <a:r>
                        <a:rPr sz="1100" b="1">
                          <a:solidFill>
                            <a:srgbClr val="2E2E2E"/>
                          </a:solidFill>
                          <a:latin typeface="Calibri"/>
                        </a:rPr>
                        <a:t>Return on Assets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8" name="TextBox 17"/>
          <p:cNvSpPr txBox="1"/>
          <p:nvPr/>
        </p:nvSpPr>
        <p:spPr>
          <a:xfrm>
            <a:off x="219075" y="6392868"/>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1354081"/>
            <a:ext cx="584835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6025" y="1411231"/>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Prestige Consumer Healthcare Pricing Analysis (US$/Units)</a:t>
            </a:r>
          </a:p>
        </p:txBody>
      </p:sp>
      <p:graphicFrame>
        <p:nvGraphicFramePr>
          <p:cNvPr id="21" name="Table 20"/>
          <p:cNvGraphicFramePr>
            <a:graphicFrameLocks noGrp="1"/>
          </p:cNvGraphicFramePr>
          <p:nvPr/>
        </p:nvGraphicFramePr>
        <p:xfrm>
          <a:off x="6210300" y="1611256"/>
          <a:ext cx="5829299" cy="4772086"/>
        </p:xfrm>
        <a:graphic>
          <a:graphicData uri="http://schemas.openxmlformats.org/drawingml/2006/table">
            <a:tbl>
              <a:tblPr>
                <a:tableStyleId>{5C22544A-7EE6-4342-B048-85BDC9FD1C3A}</a:tableStyleId>
              </a:tblPr>
              <a:tblGrid>
                <a:gridCol w="4008155"/>
                <a:gridCol w="910572"/>
                <a:gridCol w="910572"/>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1131490">
                <a:tc>
                  <a:txBody>
                    <a:bodyPr wrap="none"/>
                    <a:lstStyle/>
                    <a:p>
                      <a:pPr algn="l"/>
                      <a:r>
                        <a:rPr sz="1100" b="1">
                          <a:solidFill>
                            <a:srgbClr val="2E2E2E"/>
                          </a:solidFill>
                          <a:latin typeface="Calibri"/>
                        </a:rPr>
                        <a:t>Irrigation Devices and Accessories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131490">
                <a:tc>
                  <a:txBody>
                    <a:bodyPr wrap="none"/>
                    <a:lstStyle/>
                    <a:p>
                      <a:pPr algn="l"/>
                      <a:r>
                        <a:rPr sz="1100" b="1">
                          <a:solidFill>
                            <a:srgbClr val="2E2E2E"/>
                          </a:solidFill>
                          <a:latin typeface="Calibri"/>
                        </a:rPr>
                        <a:t>Ear Drops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1131490">
                <a:tc>
                  <a:txBody>
                    <a:bodyPr wrap="none"/>
                    <a:lstStyle/>
                    <a:p>
                      <a:pPr algn="l"/>
                      <a:r>
                        <a:rPr sz="1100" b="1">
                          <a:solidFill>
                            <a:srgbClr val="2E2E2E"/>
                          </a:solidFill>
                          <a:latin typeface="Calibri"/>
                        </a:rPr>
                        <a:t>Ear Sprays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131490">
                <a:tc>
                  <a:txBody>
                    <a:bodyPr wrap="none"/>
                    <a:lstStyle/>
                    <a:p>
                      <a:pPr algn="l"/>
                      <a:r>
                        <a:rPr sz="1100" b="1">
                          <a:solidFill>
                            <a:srgbClr val="2E2E2E"/>
                          </a:solidFill>
                          <a:latin typeface="Calibri"/>
                        </a:rPr>
                        <a:t>Manual Removal Tools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22" name="TextBox 21"/>
          <p:cNvSpPr txBox="1"/>
          <p:nvPr/>
        </p:nvSpPr>
        <p:spPr>
          <a:xfrm>
            <a:off x="6276975" y="6392868"/>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4150927" y="2219246"/>
            <a:ext cx="330041" cy="480060"/>
          </a:xfrm>
          <a:prstGeom prst="rect">
            <a:avLst/>
          </a:prstGeom>
        </p:spPr>
      </p:pic>
      <p:pic>
        <p:nvPicPr>
          <p:cNvPr id="25" name="Picture 24" descr="lock.png"/>
          <p:cNvPicPr>
            <a:picLocks noChangeAspect="1"/>
          </p:cNvPicPr>
          <p:nvPr/>
        </p:nvPicPr>
        <p:blipFill>
          <a:blip r:embed="rId4"/>
          <a:stretch>
            <a:fillRect/>
          </a:stretch>
        </p:blipFill>
        <p:spPr>
          <a:xfrm>
            <a:off x="3838564" y="4875868"/>
            <a:ext cx="366712" cy="533400"/>
          </a:xfrm>
          <a:prstGeom prst="rect">
            <a:avLst/>
          </a:prstGeom>
        </p:spPr>
      </p:pic>
      <p:pic>
        <p:nvPicPr>
          <p:cNvPr id="26" name="Picture 25" descr="lock.png"/>
          <p:cNvPicPr>
            <a:picLocks noChangeAspect="1"/>
          </p:cNvPicPr>
          <p:nvPr/>
        </p:nvPicPr>
        <p:blipFill>
          <a:blip r:embed="rId4"/>
          <a:stretch>
            <a:fillRect/>
          </a:stretch>
        </p:blipFill>
        <p:spPr>
          <a:xfrm>
            <a:off x="10942337" y="3853662"/>
            <a:ext cx="366712" cy="533400"/>
          </a:xfrm>
          <a:prstGeom prst="rect">
            <a:avLst/>
          </a:prstGeom>
        </p:spPr>
      </p:pic>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Prestige Consumer Healthcare Strategy Analysis (5/5)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Prestige Consumer Healthcare's strategic priorities and the competitive moves that support them</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Strategy analysis Prestige Consumer Healthcare: strategic priorities and the competitive moves that support them (indicative).</a:t>
            </a:r>
          </a:p>
        </p:txBody>
      </p:sp>
      <p:sp>
        <p:nvSpPr>
          <p:cNvPr id="11" name="Rounded Rectangle 10"/>
          <p:cNvSpPr/>
          <p:nvPr/>
        </p:nvSpPr>
        <p:spPr>
          <a:xfrm>
            <a:off x="14287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MARKET SHARE</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of global value</a:t>
            </a:r>
          </a:p>
        </p:txBody>
      </p:sp>
      <p:sp>
        <p:nvSpPr>
          <p:cNvPr id="12" name="Rounded Rectangle 11"/>
          <p:cNvSpPr/>
          <p:nvPr/>
        </p:nvSpPr>
        <p:spPr>
          <a:xfrm>
            <a:off x="254317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WIN RATE</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deals won</a:t>
            </a:r>
          </a:p>
        </p:txBody>
      </p:sp>
      <p:sp>
        <p:nvSpPr>
          <p:cNvPr id="13" name="Rounded Rectangle 12"/>
          <p:cNvSpPr/>
          <p:nvPr/>
        </p:nvSpPr>
        <p:spPr>
          <a:xfrm>
            <a:off x="4953000"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ASP PREMIUM</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vs peers</a:t>
            </a:r>
          </a:p>
        </p:txBody>
      </p:sp>
      <p:sp>
        <p:nvSpPr>
          <p:cNvPr id="14" name="Rounded Rectangle 13"/>
          <p:cNvSpPr/>
          <p:nvPr/>
        </p:nvSpPr>
        <p:spPr>
          <a:xfrm>
            <a:off x="7353300"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order momentum</a:t>
            </a:r>
          </a:p>
        </p:txBody>
      </p:sp>
      <p:sp>
        <p:nvSpPr>
          <p:cNvPr id="15" name="Rounded Rectangle 14"/>
          <p:cNvSpPr/>
          <p:nvPr/>
        </p:nvSpPr>
        <p:spPr>
          <a:xfrm>
            <a:off x="976312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profitability</a:t>
            </a:r>
          </a:p>
        </p:txBody>
      </p:sp>
      <p:sp>
        <p:nvSpPr>
          <p:cNvPr id="16" name="Rounded Rectangle 15"/>
          <p:cNvSpPr/>
          <p:nvPr/>
        </p:nvSpPr>
        <p:spPr>
          <a:xfrm>
            <a:off x="142875" y="2084229"/>
            <a:ext cx="5905500" cy="4490410"/>
          </a:xfrm>
          <a:prstGeom prst="roundRect">
            <a:avLst>
              <a:gd name="adj" fmla="val 16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169954"/>
            <a:ext cx="5638800" cy="209550"/>
          </a:xfrm>
          <a:prstGeom prst="rect">
            <a:avLst/>
          </a:prstGeom>
          <a:noFill/>
        </p:spPr>
        <p:txBody>
          <a:bodyPr wrap="square" lIns="0" rIns="19050" tIns="9525" bIns="9525">
            <a:spAutoFit/>
          </a:bodyPr>
          <a:lstStyle/>
          <a:p>
            <a:pPr algn="l"/>
            <a:r>
              <a:rPr sz="1300" b="1">
                <a:solidFill>
                  <a:srgbClr val="0B2E4A"/>
                </a:solidFill>
                <a:latin typeface="Calibri"/>
              </a:rPr>
              <a:t>Strategic Priorities</a:t>
            </a:r>
          </a:p>
        </p:txBody>
      </p:sp>
      <p:sp>
        <p:nvSpPr>
          <p:cNvPr id="18" name="Rectangle 17"/>
          <p:cNvSpPr/>
          <p:nvPr/>
        </p:nvSpPr>
        <p:spPr>
          <a:xfrm>
            <a:off x="276225" y="2408079"/>
            <a:ext cx="5638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493804"/>
            <a:ext cx="563880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0" name="Rounded Rectangle 19"/>
          <p:cNvSpPr/>
          <p:nvPr/>
        </p:nvSpPr>
        <p:spPr>
          <a:xfrm>
            <a:off x="6200775" y="2084229"/>
            <a:ext cx="5848350" cy="4490410"/>
          </a:xfrm>
          <a:prstGeom prst="roundRect">
            <a:avLst>
              <a:gd name="adj" fmla="val 16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4125" y="2169954"/>
            <a:ext cx="5581650" cy="209550"/>
          </a:xfrm>
          <a:prstGeom prst="rect">
            <a:avLst/>
          </a:prstGeom>
          <a:noFill/>
        </p:spPr>
        <p:txBody>
          <a:bodyPr wrap="square" lIns="0" rIns="19050" tIns="9525" bIns="9525">
            <a:spAutoFit/>
          </a:bodyPr>
          <a:lstStyle/>
          <a:p>
            <a:pPr algn="l"/>
            <a:r>
              <a:rPr sz="1300" b="1">
                <a:solidFill>
                  <a:srgbClr val="0B2E4A"/>
                </a:solidFill>
                <a:latin typeface="Calibri"/>
              </a:rPr>
              <a:t>Competitive Moves</a:t>
            </a:r>
          </a:p>
        </p:txBody>
      </p:sp>
      <p:sp>
        <p:nvSpPr>
          <p:cNvPr id="22" name="Rectangle 21"/>
          <p:cNvSpPr/>
          <p:nvPr/>
        </p:nvSpPr>
        <p:spPr>
          <a:xfrm>
            <a:off x="6334125" y="2408079"/>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4125" y="2493804"/>
            <a:ext cx="558165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4"/>
          <a:stretch>
            <a:fillRect/>
          </a:stretch>
        </p:blipFill>
        <p:spPr>
          <a:xfrm>
            <a:off x="1202531" y="1540967"/>
            <a:ext cx="157162" cy="228600"/>
          </a:xfrm>
          <a:prstGeom prst="rect">
            <a:avLst/>
          </a:prstGeom>
        </p:spPr>
      </p:pic>
      <p:pic>
        <p:nvPicPr>
          <p:cNvPr id="26" name="Picture 25" descr="lock.png"/>
          <p:cNvPicPr>
            <a:picLocks noChangeAspect="1"/>
          </p:cNvPicPr>
          <p:nvPr/>
        </p:nvPicPr>
        <p:blipFill>
          <a:blip r:embed="rId4"/>
          <a:stretch>
            <a:fillRect/>
          </a:stretch>
        </p:blipFill>
        <p:spPr>
          <a:xfrm>
            <a:off x="3602831" y="1540967"/>
            <a:ext cx="157162" cy="228600"/>
          </a:xfrm>
          <a:prstGeom prst="rect">
            <a:avLst/>
          </a:prstGeom>
        </p:spPr>
      </p:pic>
      <p:pic>
        <p:nvPicPr>
          <p:cNvPr id="27" name="Picture 26" descr="lock.png"/>
          <p:cNvPicPr>
            <a:picLocks noChangeAspect="1"/>
          </p:cNvPicPr>
          <p:nvPr/>
        </p:nvPicPr>
        <p:blipFill>
          <a:blip r:embed="rId4"/>
          <a:stretch>
            <a:fillRect/>
          </a:stretch>
        </p:blipFill>
        <p:spPr>
          <a:xfrm>
            <a:off x="6012656" y="1540967"/>
            <a:ext cx="157162" cy="228600"/>
          </a:xfrm>
          <a:prstGeom prst="rect">
            <a:avLst/>
          </a:prstGeom>
        </p:spPr>
      </p:pic>
      <p:pic>
        <p:nvPicPr>
          <p:cNvPr id="28" name="Picture 27" descr="lock.png"/>
          <p:cNvPicPr>
            <a:picLocks noChangeAspect="1"/>
          </p:cNvPicPr>
          <p:nvPr/>
        </p:nvPicPr>
        <p:blipFill>
          <a:blip r:embed="rId4"/>
          <a:stretch>
            <a:fillRect/>
          </a:stretch>
        </p:blipFill>
        <p:spPr>
          <a:xfrm>
            <a:off x="8412956" y="1540967"/>
            <a:ext cx="157162" cy="228600"/>
          </a:xfrm>
          <a:prstGeom prst="rect">
            <a:avLst/>
          </a:prstGeom>
        </p:spPr>
      </p:pic>
      <p:pic>
        <p:nvPicPr>
          <p:cNvPr id="29" name="Picture 28" descr="lock.png"/>
          <p:cNvPicPr>
            <a:picLocks noChangeAspect="1"/>
          </p:cNvPicPr>
          <p:nvPr/>
        </p:nvPicPr>
        <p:blipFill>
          <a:blip r:embed="rId4"/>
          <a:stretch>
            <a:fillRect/>
          </a:stretch>
        </p:blipFill>
        <p:spPr>
          <a:xfrm>
            <a:off x="10822781" y="1540967"/>
            <a:ext cx="157162" cy="228600"/>
          </a:xfrm>
          <a:prstGeom prst="rect">
            <a:avLst/>
          </a:prstGeom>
        </p:spPr>
      </p:pic>
      <p:sp>
        <p:nvSpPr>
          <p:cNvPr id="30" name="TextBox 29"/>
          <p:cNvSpPr txBox="1"/>
          <p:nvPr/>
        </p:nvSpPr>
        <p:spPr>
          <a:xfrm>
            <a:off x="276225" y="2503329"/>
            <a:ext cx="5375647" cy="194310"/>
          </a:xfrm>
          <a:prstGeom prst="rect">
            <a:avLst/>
          </a:prstGeom>
          <a:noFill/>
        </p:spPr>
        <p:txBody>
          <a:bodyPr wrap="none" lIns="0" rIns="0" tIns="0" bIns="0">
            <a:spAutoFit/>
          </a:bodyPr>
          <a:lstStyle/>
          <a:p>
            <a:r>
              <a:rPr sz="1150" b="0">
                <a:solidFill>
                  <a:srgbClr val="2E2E2E"/>
                </a:solidFill>
                <a:latin typeface="Calibri"/>
              </a:rPr>
              <a:t>▪ Defend and extend leadership in 'General practitioners' Prestige Consumer Healthcare's</a:t>
            </a:r>
          </a:p>
        </p:txBody>
      </p:sp>
      <p:sp>
        <p:nvSpPr>
          <p:cNvPr id="31" name="TextBox 30"/>
          <p:cNvSpPr txBox="1"/>
          <p:nvPr/>
        </p:nvSpPr>
        <p:spPr>
          <a:xfrm>
            <a:off x="276225" y="2678589"/>
            <a:ext cx="3766529" cy="194310"/>
          </a:xfrm>
          <a:prstGeom prst="rect">
            <a:avLst/>
          </a:prstGeom>
          <a:noFill/>
        </p:spPr>
        <p:txBody>
          <a:bodyPr wrap="none" lIns="0" rIns="0" tIns="0" bIns="0">
            <a:spAutoFit/>
          </a:bodyPr>
          <a:lstStyle/>
          <a:p>
            <a:r>
              <a:rPr sz="1150" b="0">
                <a:solidFill>
                  <a:srgbClr val="2E2E2E"/>
                </a:solidFill>
                <a:latin typeface="Calibri"/>
              </a:rPr>
              <a:t>strongest end-market while scaling the next-best applications.</a:t>
            </a:r>
          </a:p>
        </p:txBody>
      </p:sp>
      <p:sp>
        <p:nvSpPr>
          <p:cNvPr id="32" name="TextBox 31"/>
          <p:cNvSpPr txBox="1"/>
          <p:nvPr/>
        </p:nvSpPr>
        <p:spPr>
          <a:xfrm>
            <a:off x="276225" y="2906426"/>
            <a:ext cx="909997" cy="194310"/>
          </a:xfrm>
          <a:prstGeom prst="rect">
            <a:avLst/>
          </a:prstGeom>
          <a:noFill/>
        </p:spPr>
        <p:txBody>
          <a:bodyPr wrap="none" lIns="0" rIns="0" tIns="0" bIns="0">
            <a:spAutoFit/>
          </a:bodyPr>
          <a:lstStyle/>
          <a:p>
            <a:r>
              <a:rPr sz="1150" b="0">
                <a:solidFill>
                  <a:srgbClr val="2E2E2E"/>
                </a:solidFill>
                <a:latin typeface="Calibri"/>
              </a:rPr>
              <a:t>▪ Convert its ~</a:t>
            </a:r>
          </a:p>
        </p:txBody>
      </p:sp>
      <p:pic>
        <p:nvPicPr>
          <p:cNvPr id="33" name="Picture 32" descr="lock.png"/>
          <p:cNvPicPr>
            <a:picLocks noChangeAspect="1"/>
          </p:cNvPicPr>
          <p:nvPr/>
        </p:nvPicPr>
        <p:blipFill>
          <a:blip r:embed="rId4"/>
          <a:stretch>
            <a:fillRect/>
          </a:stretch>
        </p:blipFill>
        <p:spPr>
          <a:xfrm>
            <a:off x="1135376" y="2896203"/>
            <a:ext cx="134549" cy="195707"/>
          </a:xfrm>
          <a:prstGeom prst="rect">
            <a:avLst/>
          </a:prstGeom>
        </p:spPr>
      </p:pic>
      <p:sp>
        <p:nvSpPr>
          <p:cNvPr id="34" name="TextBox 33"/>
          <p:cNvSpPr txBox="1"/>
          <p:nvPr/>
        </p:nvSpPr>
        <p:spPr>
          <a:xfrm>
            <a:off x="1310485" y="2906426"/>
            <a:ext cx="929109" cy="194310"/>
          </a:xfrm>
          <a:prstGeom prst="rect">
            <a:avLst/>
          </a:prstGeom>
          <a:noFill/>
        </p:spPr>
        <p:txBody>
          <a:bodyPr wrap="none" lIns="0" rIns="0" tIns="0" bIns="0">
            <a:spAutoFit/>
          </a:bodyPr>
          <a:lstStyle/>
          <a:p>
            <a:r>
              <a:rPr sz="1150" b="0">
                <a:solidFill>
                  <a:srgbClr val="2E2E2E"/>
                </a:solidFill>
                <a:latin typeface="Calibri"/>
              </a:rPr>
              <a:t>win rate and +</a:t>
            </a:r>
          </a:p>
        </p:txBody>
      </p:sp>
      <p:pic>
        <p:nvPicPr>
          <p:cNvPr id="35" name="Picture 34" descr="lock.png"/>
          <p:cNvPicPr>
            <a:picLocks noChangeAspect="1"/>
          </p:cNvPicPr>
          <p:nvPr/>
        </p:nvPicPr>
        <p:blipFill>
          <a:blip r:embed="rId4"/>
          <a:stretch>
            <a:fillRect/>
          </a:stretch>
        </p:blipFill>
        <p:spPr>
          <a:xfrm>
            <a:off x="2188748" y="2896203"/>
            <a:ext cx="134549" cy="195707"/>
          </a:xfrm>
          <a:prstGeom prst="rect">
            <a:avLst/>
          </a:prstGeom>
        </p:spPr>
      </p:pic>
      <p:sp>
        <p:nvSpPr>
          <p:cNvPr id="36" name="TextBox 35"/>
          <p:cNvSpPr txBox="1"/>
          <p:nvPr/>
        </p:nvSpPr>
        <p:spPr>
          <a:xfrm>
            <a:off x="2363857" y="2906426"/>
            <a:ext cx="3109019" cy="194310"/>
          </a:xfrm>
          <a:prstGeom prst="rect">
            <a:avLst/>
          </a:prstGeom>
          <a:noFill/>
        </p:spPr>
        <p:txBody>
          <a:bodyPr wrap="none" lIns="0" rIns="0" tIns="0" bIns="0">
            <a:spAutoFit/>
          </a:bodyPr>
          <a:lstStyle/>
          <a:p>
            <a:r>
              <a:rPr sz="1150" b="0">
                <a:solidFill>
                  <a:srgbClr val="2E2E2E"/>
                </a:solidFill>
                <a:latin typeface="Calibri"/>
              </a:rPr>
              <a:t>ASP premium into share gains through value-based</a:t>
            </a:r>
          </a:p>
        </p:txBody>
      </p:sp>
      <p:sp>
        <p:nvSpPr>
          <p:cNvPr id="37" name="TextBox 36"/>
          <p:cNvSpPr txBox="1"/>
          <p:nvPr/>
        </p:nvSpPr>
        <p:spPr>
          <a:xfrm>
            <a:off x="276225" y="3081686"/>
            <a:ext cx="489247" cy="194310"/>
          </a:xfrm>
          <a:prstGeom prst="rect">
            <a:avLst/>
          </a:prstGeom>
          <a:noFill/>
        </p:spPr>
        <p:txBody>
          <a:bodyPr wrap="none" lIns="0" rIns="0" tIns="0" bIns="0">
            <a:spAutoFit/>
          </a:bodyPr>
          <a:lstStyle/>
          <a:p>
            <a:r>
              <a:rPr sz="1150" b="0">
                <a:solidFill>
                  <a:srgbClr val="2E2E2E"/>
                </a:solidFill>
                <a:latin typeface="Calibri"/>
              </a:rPr>
              <a:t>selling.</a:t>
            </a:r>
          </a:p>
        </p:txBody>
      </p:sp>
      <p:sp>
        <p:nvSpPr>
          <p:cNvPr id="38" name="TextBox 37"/>
          <p:cNvSpPr txBox="1"/>
          <p:nvPr/>
        </p:nvSpPr>
        <p:spPr>
          <a:xfrm>
            <a:off x="276225" y="3309524"/>
            <a:ext cx="3294434" cy="194310"/>
          </a:xfrm>
          <a:prstGeom prst="rect">
            <a:avLst/>
          </a:prstGeom>
          <a:noFill/>
        </p:spPr>
        <p:txBody>
          <a:bodyPr wrap="none" lIns="0" rIns="0" tIns="0" bIns="0">
            <a:spAutoFit/>
          </a:bodyPr>
          <a:lstStyle/>
          <a:p>
            <a:r>
              <a:rPr sz="1150" b="0">
                <a:solidFill>
                  <a:srgbClr val="2E2E2E"/>
                </a:solidFill>
                <a:latin typeface="Calibri"/>
              </a:rPr>
              <a:t>▪ Raise SAM penetration beyond 'Rest of the World' (~</a:t>
            </a:r>
          </a:p>
        </p:txBody>
      </p:sp>
      <p:pic>
        <p:nvPicPr>
          <p:cNvPr id="39" name="Picture 38" descr="lock.png"/>
          <p:cNvPicPr>
            <a:picLocks noChangeAspect="1"/>
          </p:cNvPicPr>
          <p:nvPr/>
        </p:nvPicPr>
        <p:blipFill>
          <a:blip r:embed="rId4"/>
          <a:stretch>
            <a:fillRect/>
          </a:stretch>
        </p:blipFill>
        <p:spPr>
          <a:xfrm>
            <a:off x="3519813" y="3299301"/>
            <a:ext cx="134549" cy="195707"/>
          </a:xfrm>
          <a:prstGeom prst="rect">
            <a:avLst/>
          </a:prstGeom>
        </p:spPr>
      </p:pic>
      <p:sp>
        <p:nvSpPr>
          <p:cNvPr id="40" name="TextBox 39"/>
          <p:cNvSpPr txBox="1"/>
          <p:nvPr/>
        </p:nvSpPr>
        <p:spPr>
          <a:xfrm>
            <a:off x="3694922" y="3309524"/>
            <a:ext cx="2019064" cy="194310"/>
          </a:xfrm>
          <a:prstGeom prst="rect">
            <a:avLst/>
          </a:prstGeom>
          <a:noFill/>
        </p:spPr>
        <p:txBody>
          <a:bodyPr wrap="none" lIns="0" rIns="0" tIns="0" bIns="0">
            <a:spAutoFit/>
          </a:bodyPr>
          <a:lstStyle/>
          <a:p>
            <a:r>
              <a:rPr sz="1150" b="0">
                <a:solidFill>
                  <a:srgbClr val="2E2E2E"/>
                </a:solidFill>
                <a:latin typeface="Calibri"/>
              </a:rPr>
              <a:t>) into lower-penetration regions.</a:t>
            </a:r>
          </a:p>
        </p:txBody>
      </p:sp>
      <p:sp>
        <p:nvSpPr>
          <p:cNvPr id="41" name="TextBox 40"/>
          <p:cNvSpPr txBox="1"/>
          <p:nvPr/>
        </p:nvSpPr>
        <p:spPr>
          <a:xfrm>
            <a:off x="276225" y="3537362"/>
            <a:ext cx="694059" cy="194310"/>
          </a:xfrm>
          <a:prstGeom prst="rect">
            <a:avLst/>
          </a:prstGeom>
          <a:noFill/>
        </p:spPr>
        <p:txBody>
          <a:bodyPr wrap="none" lIns="0" rIns="0" tIns="0" bIns="0">
            <a:spAutoFit/>
          </a:bodyPr>
          <a:lstStyle/>
          <a:p>
            <a:r>
              <a:rPr sz="1150" b="0">
                <a:solidFill>
                  <a:srgbClr val="2E2E2E"/>
                </a:solidFill>
                <a:latin typeface="Calibri"/>
              </a:rPr>
              <a:t>▪ Sustain a</a:t>
            </a:r>
          </a:p>
        </p:txBody>
      </p:sp>
      <p:pic>
        <p:nvPicPr>
          <p:cNvPr id="42" name="Picture 41" descr="lock.png"/>
          <p:cNvPicPr>
            <a:picLocks noChangeAspect="1"/>
          </p:cNvPicPr>
          <p:nvPr/>
        </p:nvPicPr>
        <p:blipFill>
          <a:blip r:embed="rId4"/>
          <a:stretch>
            <a:fillRect/>
          </a:stretch>
        </p:blipFill>
        <p:spPr>
          <a:xfrm>
            <a:off x="919438" y="3527139"/>
            <a:ext cx="134549" cy="195707"/>
          </a:xfrm>
          <a:prstGeom prst="rect">
            <a:avLst/>
          </a:prstGeom>
        </p:spPr>
      </p:pic>
      <p:sp>
        <p:nvSpPr>
          <p:cNvPr id="43" name="TextBox 42"/>
          <p:cNvSpPr txBox="1"/>
          <p:nvPr/>
        </p:nvSpPr>
        <p:spPr>
          <a:xfrm>
            <a:off x="1094548" y="3537362"/>
            <a:ext cx="3750555" cy="194310"/>
          </a:xfrm>
          <a:prstGeom prst="rect">
            <a:avLst/>
          </a:prstGeom>
          <a:noFill/>
        </p:spPr>
        <p:txBody>
          <a:bodyPr wrap="none" lIns="0" rIns="0" tIns="0" bIns="0">
            <a:spAutoFit/>
          </a:bodyPr>
          <a:lstStyle/>
          <a:p>
            <a:r>
              <a:rPr sz="1150" b="0">
                <a:solidFill>
                  <a:srgbClr val="2E2E2E"/>
                </a:solidFill>
                <a:latin typeface="Calibri"/>
              </a:rPr>
              <a:t>book-to-bill with disciplined capacity and channel investment.</a:t>
            </a:r>
          </a:p>
        </p:txBody>
      </p:sp>
      <p:sp>
        <p:nvSpPr>
          <p:cNvPr id="44" name="TextBox 43"/>
          <p:cNvSpPr txBox="1"/>
          <p:nvPr/>
        </p:nvSpPr>
        <p:spPr>
          <a:xfrm>
            <a:off x="276225" y="3765200"/>
            <a:ext cx="5321163" cy="194310"/>
          </a:xfrm>
          <a:prstGeom prst="rect">
            <a:avLst/>
          </a:prstGeom>
          <a:noFill/>
        </p:spPr>
        <p:txBody>
          <a:bodyPr wrap="none" lIns="0" rIns="0" tIns="0" bIns="0">
            <a:spAutoFit/>
          </a:bodyPr>
          <a:lstStyle/>
          <a:p>
            <a:r>
              <a:rPr sz="1150" b="0">
                <a:solidFill>
                  <a:srgbClr val="2E2E2E"/>
                </a:solidFill>
                <a:latin typeface="Calibri"/>
              </a:rPr>
              <a:t>▪ Protect margin through corridor-based pricing and cost discipline as input prices move.</a:t>
            </a:r>
          </a:p>
        </p:txBody>
      </p:sp>
      <p:sp>
        <p:nvSpPr>
          <p:cNvPr id="45" name="TextBox 44"/>
          <p:cNvSpPr txBox="1"/>
          <p:nvPr/>
        </p:nvSpPr>
        <p:spPr>
          <a:xfrm>
            <a:off x="6334125" y="2503329"/>
            <a:ext cx="5023073" cy="194310"/>
          </a:xfrm>
          <a:prstGeom prst="rect">
            <a:avLst/>
          </a:prstGeom>
          <a:noFill/>
        </p:spPr>
        <p:txBody>
          <a:bodyPr wrap="none" lIns="0" rIns="0" tIns="0" bIns="0">
            <a:spAutoFit/>
          </a:bodyPr>
          <a:lstStyle/>
          <a:p>
            <a:r>
              <a:rPr sz="1150" b="0">
                <a:solidFill>
                  <a:srgbClr val="2E2E2E"/>
                </a:solidFill>
                <a:latin typeface="Calibri"/>
              </a:rPr>
              <a:t>▪ Premiumise the portfolio around 'Irrigation Devices and Accessories' and adjacent</a:t>
            </a:r>
          </a:p>
        </p:txBody>
      </p:sp>
      <p:sp>
        <p:nvSpPr>
          <p:cNvPr id="46" name="TextBox 45"/>
          <p:cNvSpPr txBox="1"/>
          <p:nvPr/>
        </p:nvSpPr>
        <p:spPr>
          <a:xfrm>
            <a:off x="6334125" y="2678589"/>
            <a:ext cx="2347391" cy="194310"/>
          </a:xfrm>
          <a:prstGeom prst="rect">
            <a:avLst/>
          </a:prstGeom>
          <a:noFill/>
        </p:spPr>
        <p:txBody>
          <a:bodyPr wrap="none" lIns="0" rIns="0" tIns="0" bIns="0">
            <a:spAutoFit/>
          </a:bodyPr>
          <a:lstStyle/>
          <a:p>
            <a:r>
              <a:rPr sz="1150" b="0">
                <a:solidFill>
                  <a:srgbClr val="2E2E2E"/>
                </a:solidFill>
                <a:latin typeface="Calibri"/>
              </a:rPr>
              <a:t>high-value lines to lift blended pricing.</a:t>
            </a:r>
          </a:p>
        </p:txBody>
      </p:sp>
      <p:sp>
        <p:nvSpPr>
          <p:cNvPr id="47" name="TextBox 46"/>
          <p:cNvSpPr txBox="1"/>
          <p:nvPr/>
        </p:nvSpPr>
        <p:spPr>
          <a:xfrm>
            <a:off x="6334125" y="2906426"/>
            <a:ext cx="5219613" cy="194310"/>
          </a:xfrm>
          <a:prstGeom prst="rect">
            <a:avLst/>
          </a:prstGeom>
          <a:noFill/>
        </p:spPr>
        <p:txBody>
          <a:bodyPr wrap="none" lIns="0" rIns="0" tIns="0" bIns="0">
            <a:spAutoFit/>
          </a:bodyPr>
          <a:lstStyle/>
          <a:p>
            <a:r>
              <a:rPr sz="1150" b="0">
                <a:solidFill>
                  <a:srgbClr val="2E2E2E"/>
                </a:solidFill>
                <a:latin typeface="Calibri"/>
              </a:rPr>
              <a:t>▪ Deepen presence in 'North America' (largest SOM region) and build out under-served</a:t>
            </a:r>
          </a:p>
        </p:txBody>
      </p:sp>
      <p:sp>
        <p:nvSpPr>
          <p:cNvPr id="48" name="TextBox 47"/>
          <p:cNvSpPr txBox="1"/>
          <p:nvPr/>
        </p:nvSpPr>
        <p:spPr>
          <a:xfrm>
            <a:off x="6334125" y="3081686"/>
            <a:ext cx="838113" cy="194310"/>
          </a:xfrm>
          <a:prstGeom prst="rect">
            <a:avLst/>
          </a:prstGeom>
          <a:noFill/>
        </p:spPr>
        <p:txBody>
          <a:bodyPr wrap="none" lIns="0" rIns="0" tIns="0" bIns="0">
            <a:spAutoFit/>
          </a:bodyPr>
          <a:lstStyle/>
          <a:p>
            <a:r>
              <a:rPr sz="1150" b="0">
                <a:solidFill>
                  <a:srgbClr val="2E2E2E"/>
                </a:solidFill>
                <a:latin typeface="Calibri"/>
              </a:rPr>
              <a:t>geographies.</a:t>
            </a:r>
          </a:p>
        </p:txBody>
      </p:sp>
      <p:sp>
        <p:nvSpPr>
          <p:cNvPr id="49" name="TextBox 48"/>
          <p:cNvSpPr txBox="1"/>
          <p:nvPr/>
        </p:nvSpPr>
        <p:spPr>
          <a:xfrm>
            <a:off x="6334125" y="3309524"/>
            <a:ext cx="5471144" cy="194310"/>
          </a:xfrm>
          <a:prstGeom prst="rect">
            <a:avLst/>
          </a:prstGeom>
          <a:noFill/>
        </p:spPr>
        <p:txBody>
          <a:bodyPr wrap="none" lIns="0" rIns="0" tIns="0" bIns="0">
            <a:spAutoFit/>
          </a:bodyPr>
          <a:lstStyle/>
          <a:p>
            <a:r>
              <a:rPr sz="1150" b="0">
                <a:solidFill>
                  <a:srgbClr val="2E2E2E"/>
                </a:solidFill>
                <a:latin typeface="Calibri"/>
              </a:rPr>
              <a:t>▪ Invest in R&amp;D, certification and selective M&amp;A to move up the price ladder and widen the</a:t>
            </a:r>
          </a:p>
        </p:txBody>
      </p:sp>
      <p:sp>
        <p:nvSpPr>
          <p:cNvPr id="50" name="TextBox 49"/>
          <p:cNvSpPr txBox="1"/>
          <p:nvPr/>
        </p:nvSpPr>
        <p:spPr>
          <a:xfrm>
            <a:off x="6334125" y="3484784"/>
            <a:ext cx="425636" cy="194310"/>
          </a:xfrm>
          <a:prstGeom prst="rect">
            <a:avLst/>
          </a:prstGeom>
          <a:noFill/>
        </p:spPr>
        <p:txBody>
          <a:bodyPr wrap="none" lIns="0" rIns="0" tIns="0" bIns="0">
            <a:spAutoFit/>
          </a:bodyPr>
          <a:lstStyle/>
          <a:p>
            <a:r>
              <a:rPr sz="1150" b="0">
                <a:solidFill>
                  <a:srgbClr val="2E2E2E"/>
                </a:solidFill>
                <a:latin typeface="Calibri"/>
              </a:rPr>
              <a:t>moat.</a:t>
            </a:r>
          </a:p>
        </p:txBody>
      </p:sp>
      <p:sp>
        <p:nvSpPr>
          <p:cNvPr id="51" name="TextBox 50"/>
          <p:cNvSpPr txBox="1"/>
          <p:nvPr/>
        </p:nvSpPr>
        <p:spPr>
          <a:xfrm>
            <a:off x="6334125" y="3712622"/>
            <a:ext cx="5267535" cy="194310"/>
          </a:xfrm>
          <a:prstGeom prst="rect">
            <a:avLst/>
          </a:prstGeom>
          <a:noFill/>
        </p:spPr>
        <p:txBody>
          <a:bodyPr wrap="none" lIns="0" rIns="0" tIns="0" bIns="0">
            <a:spAutoFit/>
          </a:bodyPr>
          <a:lstStyle/>
          <a:p>
            <a:r>
              <a:rPr sz="1150" b="0">
                <a:solidFill>
                  <a:srgbClr val="2E2E2E"/>
                </a:solidFill>
                <a:latin typeface="Calibri"/>
              </a:rPr>
              <a:t>▪ Diversify the customer base and secure supply to de-risk concentration and input-cost</a:t>
            </a:r>
          </a:p>
        </p:txBody>
      </p:sp>
      <p:sp>
        <p:nvSpPr>
          <p:cNvPr id="52" name="TextBox 51"/>
          <p:cNvSpPr txBox="1"/>
          <p:nvPr/>
        </p:nvSpPr>
        <p:spPr>
          <a:xfrm>
            <a:off x="6334125" y="3887882"/>
            <a:ext cx="509215" cy="194310"/>
          </a:xfrm>
          <a:prstGeom prst="rect">
            <a:avLst/>
          </a:prstGeom>
          <a:noFill/>
        </p:spPr>
        <p:txBody>
          <a:bodyPr wrap="none" lIns="0" rIns="0" tIns="0" bIns="0">
            <a:spAutoFit/>
          </a:bodyPr>
          <a:lstStyle/>
          <a:p>
            <a:r>
              <a:rPr sz="1150" b="0">
                <a:solidFill>
                  <a:srgbClr val="2E2E2E"/>
                </a:solidFill>
                <a:latin typeface="Calibri"/>
              </a:rPr>
              <a:t>shocks.</a:t>
            </a:r>
          </a:p>
        </p:txBody>
      </p:sp>
      <p:sp>
        <p:nvSpPr>
          <p:cNvPr id="53" name="TextBox 52"/>
          <p:cNvSpPr txBox="1"/>
          <p:nvPr/>
        </p:nvSpPr>
        <p:spPr>
          <a:xfrm>
            <a:off x="6334125" y="4115720"/>
            <a:ext cx="3102173" cy="194310"/>
          </a:xfrm>
          <a:prstGeom prst="rect">
            <a:avLst/>
          </a:prstGeom>
          <a:noFill/>
        </p:spPr>
        <p:txBody>
          <a:bodyPr wrap="none" lIns="0" rIns="0" tIns="0" bIns="0">
            <a:spAutoFit/>
          </a:bodyPr>
          <a:lstStyle/>
          <a:p>
            <a:r>
              <a:rPr sz="1150" b="0">
                <a:solidFill>
                  <a:srgbClr val="2E2E2E"/>
                </a:solidFill>
                <a:latin typeface="Calibri"/>
              </a:rPr>
              <a:t>▪ Sharpen go-to-market a ~95-day sales cycle and ~</a:t>
            </a:r>
          </a:p>
        </p:txBody>
      </p:sp>
      <p:pic>
        <p:nvPicPr>
          <p:cNvPr id="54" name="Picture 53" descr="lock.png"/>
          <p:cNvPicPr>
            <a:picLocks noChangeAspect="1"/>
          </p:cNvPicPr>
          <p:nvPr/>
        </p:nvPicPr>
        <p:blipFill>
          <a:blip r:embed="rId4"/>
          <a:stretch>
            <a:fillRect/>
          </a:stretch>
        </p:blipFill>
        <p:spPr>
          <a:xfrm>
            <a:off x="9385452" y="4105497"/>
            <a:ext cx="134549" cy="195707"/>
          </a:xfrm>
          <a:prstGeom prst="rect">
            <a:avLst/>
          </a:prstGeom>
        </p:spPr>
      </p:pic>
      <p:sp>
        <p:nvSpPr>
          <p:cNvPr id="55" name="TextBox 54"/>
          <p:cNvSpPr txBox="1"/>
          <p:nvPr/>
        </p:nvSpPr>
        <p:spPr>
          <a:xfrm>
            <a:off x="9560561" y="4115720"/>
            <a:ext cx="2003660" cy="194310"/>
          </a:xfrm>
          <a:prstGeom prst="rect">
            <a:avLst/>
          </a:prstGeom>
          <a:noFill/>
        </p:spPr>
        <p:txBody>
          <a:bodyPr wrap="none" lIns="0" rIns="0" tIns="0" bIns="0">
            <a:spAutoFit/>
          </a:bodyPr>
          <a:lstStyle/>
          <a:p>
            <a:r>
              <a:rPr sz="1150" b="0">
                <a:solidFill>
                  <a:srgbClr val="2E2E2E"/>
                </a:solidFill>
                <a:latin typeface="Calibri"/>
              </a:rPr>
              <a:t>conversion speed share capture.</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2">
            <a:extLst>
              <a:ext uri="{FF2B5EF4-FFF2-40B4-BE49-F238E27FC236}">
                <a16:creationId xmlns:a16="http://schemas.microsoft.com/office/drawing/2014/main" id="{CCC9DC92-CC39-269D-F4F6-1BCD7363F9A2}"/>
              </a:ext>
            </a:extLst>
          </p:cNvPr>
          <p:cNvSpPr/>
          <p:nvPr/>
        </p:nvSpPr>
        <p:spPr>
          <a:xfrm>
            <a:off x="0" y="0"/>
            <a:ext cx="12192000" cy="6858000"/>
          </a:xfrm>
          <a:prstGeom prst="rect">
            <a:avLst/>
          </a:prstGeom>
          <a:solidFill>
            <a:srgbClr val="FFFFFF"/>
          </a:solidFill>
          <a:ln>
            <a:solidFill>
              <a:srgbClr val="FFFFFF"/>
            </a:solidFill>
          </a:ln>
        </p:spPr>
        <p:style>
          <a:lnRef idx="2">
            <a:srgbClr val="2A5F8F">
              <a:shade val="15000"/>
            </a:srgbClr>
          </a:lnRef>
          <a:fillRef idx="1">
            <a:srgbClr val="2A5F8F"/>
          </a:fillRef>
          <a:effectRef idx="0">
            <a:srgbClr val="2A5F8F"/>
          </a:effectRef>
          <a:fontRef idx="minor">
            <a:srgbClr val="FFFFFF"/>
          </a:fontRef>
        </p:style>
        <p:txBody>
          <a:bodyPr rtlCol="0" anchor="ctr"/>
          <a:lstStyle/>
          <a:p>
            <a:pPr algn="ctr"/>
            <a:endParaRPr lang="en-US"/>
          </a:p>
        </p:txBody>
      </p:sp>
      <p:grpSp>
        <p:nvGrpSpPr>
          <p:cNvPr id="4" name="Group 23">
            <a:extLst>
              <a:ext uri="{FF2B5EF4-FFF2-40B4-BE49-F238E27FC236}">
                <a16:creationId xmlns:a16="http://schemas.microsoft.com/office/drawing/2014/main" id="{85B8B5CB-8306-A876-1A56-F5D391EBE3A2}"/>
              </a:ext>
            </a:extLst>
          </p:cNvPr>
          <p:cNvGrpSpPr>
            <a:grpSpLocks/>
          </p:cNvGrpSpPr>
          <p:nvPr/>
        </p:nvGrpSpPr>
        <p:grpSpPr bwMode="auto">
          <a:xfrm>
            <a:off x="152400" y="164419"/>
            <a:ext cx="12039600" cy="6021387"/>
            <a:chOff x="76010" y="229820"/>
            <a:chExt cx="12039981" cy="6021526"/>
          </a:xfrm>
        </p:grpSpPr>
        <p:sp>
          <p:nvSpPr>
            <p:cNvPr id="5" name="Rectangle 22">
              <a:extLst>
                <a:ext uri="{FF2B5EF4-FFF2-40B4-BE49-F238E27FC236}">
                  <a16:creationId xmlns:a16="http://schemas.microsoft.com/office/drawing/2014/main" id="{899C401F-7B85-B769-45BD-852117B2EFA8}"/>
                </a:ext>
              </a:extLst>
            </p:cNvPr>
            <p:cNvSpPr>
              <a:spLocks noChangeArrowheads="1"/>
            </p:cNvSpPr>
            <p:nvPr/>
          </p:nvSpPr>
          <p:spPr bwMode="auto">
            <a:xfrm>
              <a:off x="4523037" y="5943569"/>
              <a:ext cx="31459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tabLst>
                  <a:tab pos="930275" algn="l"/>
                </a:tabLst>
                <a:defRPr>
                  <a:solidFill>
                    <a:srgbClr val="000000"/>
                  </a:solidFill>
                  <a:latin typeface="Arial" panose="020B0604020202020204" pitchFamily="34" charset="0"/>
                  <a:cs typeface="Arial" panose="020B0604020202020204" pitchFamily="34" charset="0"/>
                </a:defRPr>
              </a:lvl1pPr>
              <a:lvl2pPr marL="742950" indent="-285750">
                <a:tabLst>
                  <a:tab pos="930275" algn="l"/>
                </a:tabLst>
                <a:defRPr>
                  <a:solidFill>
                    <a:srgbClr val="000000"/>
                  </a:solidFill>
                  <a:latin typeface="Arial" panose="020B0604020202020204" pitchFamily="34" charset="0"/>
                  <a:cs typeface="Arial" panose="020B0604020202020204" pitchFamily="34" charset="0"/>
                </a:defRPr>
              </a:lvl2pPr>
              <a:lvl3pPr marL="1143000" indent="-228600">
                <a:tabLst>
                  <a:tab pos="930275" algn="l"/>
                </a:tabLst>
                <a:defRPr>
                  <a:solidFill>
                    <a:srgbClr val="000000"/>
                  </a:solidFill>
                  <a:latin typeface="Arial" panose="020B0604020202020204" pitchFamily="34" charset="0"/>
                  <a:cs typeface="Arial" panose="020B0604020202020204" pitchFamily="34" charset="0"/>
                </a:defRPr>
              </a:lvl3pPr>
              <a:lvl4pPr marL="1600200" indent="-228600">
                <a:tabLst>
                  <a:tab pos="930275" algn="l"/>
                </a:tabLst>
                <a:defRPr>
                  <a:solidFill>
                    <a:srgbClr val="000000"/>
                  </a:solidFill>
                  <a:latin typeface="Arial" panose="020B0604020202020204" pitchFamily="34" charset="0"/>
                  <a:cs typeface="Arial" panose="020B0604020202020204" pitchFamily="34" charset="0"/>
                </a:defRPr>
              </a:lvl4pPr>
              <a:lvl5pPr marL="2057400" indent="-228600">
                <a:tabLst>
                  <a:tab pos="930275" algn="l"/>
                </a:tabLst>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9pPr>
            </a:lstStyle>
            <a:p>
              <a:pPr algn="ctr">
                <a:spcBef>
                  <a:spcPts val="200"/>
                </a:spcBef>
                <a:spcAft>
                  <a:spcPts val="200"/>
                </a:spcAft>
              </a:pPr>
              <a:r>
                <a:rPr lang="en-GB" altLang="en-US" sz="1400" b="1">
                  <a:ea typeface="MS PGothic" panose="020B0600070205080204" pitchFamily="34" charset="-128"/>
                </a:rPr>
                <a:t>Email: sales@futuremarketinsights.com</a:t>
              </a:r>
            </a:p>
          </p:txBody>
        </p:sp>
        <p:grpSp>
          <p:nvGrpSpPr>
            <p:cNvPr id="6" name="Group 21">
              <a:extLst>
                <a:ext uri="{FF2B5EF4-FFF2-40B4-BE49-F238E27FC236}">
                  <a16:creationId xmlns:a16="http://schemas.microsoft.com/office/drawing/2014/main" id="{5FBB3E24-8D41-905A-6BA3-11149D7E0A50}"/>
                </a:ext>
              </a:extLst>
            </p:cNvPr>
            <p:cNvGrpSpPr>
              <a:grpSpLocks/>
            </p:cNvGrpSpPr>
            <p:nvPr/>
          </p:nvGrpSpPr>
          <p:grpSpPr bwMode="auto">
            <a:xfrm>
              <a:off x="76010" y="229820"/>
              <a:ext cx="12039981" cy="5526596"/>
              <a:chOff x="76010" y="229820"/>
              <a:chExt cx="12039981" cy="5526596"/>
            </a:xfrm>
          </p:grpSpPr>
          <p:grpSp>
            <p:nvGrpSpPr>
              <p:cNvPr id="7" name="Group 24">
                <a:extLst>
                  <a:ext uri="{FF2B5EF4-FFF2-40B4-BE49-F238E27FC236}">
                    <a16:creationId xmlns:a16="http://schemas.microsoft.com/office/drawing/2014/main" id="{34C0848D-58FD-B698-603B-B8D2C7863B12}"/>
                  </a:ext>
                </a:extLst>
              </p:cNvPr>
              <p:cNvGrpSpPr>
                <a:grpSpLocks/>
              </p:cNvGrpSpPr>
              <p:nvPr/>
            </p:nvGrpSpPr>
            <p:grpSpPr bwMode="auto">
              <a:xfrm>
                <a:off x="76010" y="3513022"/>
                <a:ext cx="12039981" cy="54864"/>
                <a:chOff x="980685" y="3697699"/>
                <a:chExt cx="9950397" cy="54864"/>
              </a:xfrm>
            </p:grpSpPr>
            <p:sp>
              <p:nvSpPr>
                <p:cNvPr id="8" name="Rectangle 44">
                  <a:extLst>
                    <a:ext uri="{FF2B5EF4-FFF2-40B4-BE49-F238E27FC236}">
                      <a16:creationId xmlns:a16="http://schemas.microsoft.com/office/drawing/2014/main" id="{4C55A7B5-34B4-8F78-1AE4-63BEB5D835CF}"/>
                    </a:ext>
                  </a:extLst>
                </p:cNvPr>
                <p:cNvSpPr/>
                <p:nvPr/>
              </p:nvSpPr>
              <p:spPr>
                <a:xfrm>
                  <a:off x="980685" y="3697523"/>
                  <a:ext cx="3109499" cy="55563"/>
                </a:xfrm>
                <a:prstGeom prst="rect">
                  <a:avLst/>
                </a:prstGeom>
                <a:solidFill>
                  <a:srgbClr val="92C73E"/>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sp>
              <p:nvSpPr>
                <p:cNvPr id="9" name="Rectangle 45">
                  <a:extLst>
                    <a:ext uri="{FF2B5EF4-FFF2-40B4-BE49-F238E27FC236}">
                      <a16:creationId xmlns:a16="http://schemas.microsoft.com/office/drawing/2014/main" id="{F34EF18C-34C1-6B37-6F48-1B3AC01098EE}"/>
                    </a:ext>
                  </a:extLst>
                </p:cNvPr>
                <p:cNvSpPr/>
                <p:nvPr/>
              </p:nvSpPr>
              <p:spPr>
                <a:xfrm>
                  <a:off x="4401134" y="3697523"/>
                  <a:ext cx="3109499" cy="55563"/>
                </a:xfrm>
                <a:prstGeom prst="rect">
                  <a:avLst/>
                </a:prstGeom>
                <a:solidFill>
                  <a:srgbClr val="EF5123"/>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sp>
              <p:nvSpPr>
                <p:cNvPr id="10" name="Rectangle 46">
                  <a:extLst>
                    <a:ext uri="{FF2B5EF4-FFF2-40B4-BE49-F238E27FC236}">
                      <a16:creationId xmlns:a16="http://schemas.microsoft.com/office/drawing/2014/main" id="{1DC20229-C001-A2E1-EEF4-879BB49DF54C}"/>
                    </a:ext>
                  </a:extLst>
                </p:cNvPr>
                <p:cNvSpPr/>
                <p:nvPr/>
              </p:nvSpPr>
              <p:spPr>
                <a:xfrm>
                  <a:off x="7821583" y="3697523"/>
                  <a:ext cx="3109499" cy="55563"/>
                </a:xfrm>
                <a:prstGeom prst="rect">
                  <a:avLst/>
                </a:prstGeom>
                <a:solidFill>
                  <a:srgbClr val="8F288C"/>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grpSp>
          <p:grpSp>
            <p:nvGrpSpPr>
              <p:cNvPr id="11" name="Group 7">
                <a:extLst>
                  <a:ext uri="{FF2B5EF4-FFF2-40B4-BE49-F238E27FC236}">
                    <a16:creationId xmlns:a16="http://schemas.microsoft.com/office/drawing/2014/main" id="{F5B19A97-FB1F-FD32-44EF-0C72BC8DD69D}"/>
                  </a:ext>
                </a:extLst>
              </p:cNvPr>
              <p:cNvGrpSpPr>
                <a:grpSpLocks/>
              </p:cNvGrpSpPr>
              <p:nvPr/>
            </p:nvGrpSpPr>
            <p:grpSpPr bwMode="auto">
              <a:xfrm>
                <a:off x="249774" y="3716063"/>
                <a:ext cx="11668690" cy="2040353"/>
                <a:chOff x="249774" y="3716063"/>
                <a:chExt cx="11668690" cy="2040353"/>
              </a:xfrm>
            </p:grpSpPr>
            <p:cxnSp>
              <p:nvCxnSpPr>
                <p:cNvPr id="12" name="Straight Connector 13">
                  <a:extLst>
                    <a:ext uri="{FF2B5EF4-FFF2-40B4-BE49-F238E27FC236}">
                      <a16:creationId xmlns:a16="http://schemas.microsoft.com/office/drawing/2014/main" id="{6212A6C9-95CF-65EB-6160-29A1FA8799D8}"/>
                    </a:ext>
                  </a:extLst>
                </p:cNvPr>
                <p:cNvCxnSpPr/>
                <p:nvPr/>
              </p:nvCxnSpPr>
              <p:spPr>
                <a:xfrm>
                  <a:off x="2973289"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cxnSp>
              <p:nvCxnSpPr>
                <p:cNvPr id="13" name="Straight Connector 14">
                  <a:extLst>
                    <a:ext uri="{FF2B5EF4-FFF2-40B4-BE49-F238E27FC236}">
                      <a16:creationId xmlns:a16="http://schemas.microsoft.com/office/drawing/2014/main" id="{5569CE85-C66C-AE72-E1E5-D22A37A01501}"/>
                    </a:ext>
                  </a:extLst>
                </p:cNvPr>
                <p:cNvCxnSpPr/>
                <p:nvPr/>
              </p:nvCxnSpPr>
              <p:spPr>
                <a:xfrm>
                  <a:off x="6226179"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cxnSp>
              <p:nvCxnSpPr>
                <p:cNvPr id="14" name="Straight Connector 15">
                  <a:extLst>
                    <a:ext uri="{FF2B5EF4-FFF2-40B4-BE49-F238E27FC236}">
                      <a16:creationId xmlns:a16="http://schemas.microsoft.com/office/drawing/2014/main" id="{7FFA3833-E6A1-2A12-9739-19E5C6B0D04D}"/>
                    </a:ext>
                  </a:extLst>
                </p:cNvPr>
                <p:cNvCxnSpPr/>
                <p:nvPr/>
              </p:nvCxnSpPr>
              <p:spPr>
                <a:xfrm>
                  <a:off x="9426680"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grpSp>
              <p:nvGrpSpPr>
                <p:cNvPr id="15" name="Group 3">
                  <a:extLst>
                    <a:ext uri="{FF2B5EF4-FFF2-40B4-BE49-F238E27FC236}">
                      <a16:creationId xmlns:a16="http://schemas.microsoft.com/office/drawing/2014/main" id="{D6026827-3752-097F-C4B9-B5B0A33C1EE7}"/>
                    </a:ext>
                  </a:extLst>
                </p:cNvPr>
                <p:cNvGrpSpPr>
                  <a:grpSpLocks/>
                </p:cNvGrpSpPr>
                <p:nvPr/>
              </p:nvGrpSpPr>
              <p:grpSpPr bwMode="auto">
                <a:xfrm>
                  <a:off x="6746181" y="3731157"/>
                  <a:ext cx="2280186" cy="1706483"/>
                  <a:chOff x="6498583" y="3532655"/>
                  <a:chExt cx="2280186" cy="1706483"/>
                </a:xfrm>
              </p:grpSpPr>
              <p:grpSp>
                <p:nvGrpSpPr>
                  <p:cNvPr id="16" name="Group 28">
                    <a:extLst>
                      <a:ext uri="{FF2B5EF4-FFF2-40B4-BE49-F238E27FC236}">
                        <a16:creationId xmlns:a16="http://schemas.microsoft.com/office/drawing/2014/main" id="{F6A97133-09A9-4882-223C-0670F6DFD7E0}"/>
                      </a:ext>
                    </a:extLst>
                  </p:cNvPr>
                  <p:cNvGrpSpPr>
                    <a:grpSpLocks/>
                  </p:cNvGrpSpPr>
                  <p:nvPr/>
                </p:nvGrpSpPr>
                <p:grpSpPr bwMode="auto">
                  <a:xfrm>
                    <a:off x="6498583" y="3653110"/>
                    <a:ext cx="2280186" cy="1586028"/>
                    <a:chOff x="6373418" y="3837787"/>
                    <a:chExt cx="2280186" cy="1586028"/>
                  </a:xfrm>
                </p:grpSpPr>
                <p:sp>
                  <p:nvSpPr>
                    <p:cNvPr id="17" name="TextBox 39">
                      <a:extLst>
                        <a:ext uri="{FF2B5EF4-FFF2-40B4-BE49-F238E27FC236}">
                          <a16:creationId xmlns:a16="http://schemas.microsoft.com/office/drawing/2014/main" id="{46D75380-0311-71C0-CC91-426529CAAF89}"/>
                        </a:ext>
                      </a:extLst>
                    </p:cNvPr>
                    <p:cNvSpPr txBox="1">
                      <a:spLocks noChangeArrowheads="1"/>
                    </p:cNvSpPr>
                    <p:nvPr/>
                  </p:nvSpPr>
                  <p:spPr bwMode="auto">
                    <a:xfrm>
                      <a:off x="6734296" y="3837787"/>
                      <a:ext cx="19193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FF4500"/>
                          </a:solidFill>
                        </a:rPr>
                        <a:t>Middle East &amp; Africa</a:t>
                      </a:r>
                    </a:p>
                  </p:txBody>
                </p:sp>
                <p:sp>
                  <p:nvSpPr>
                    <p:cNvPr id="18" name="TextBox 42">
                      <a:extLst>
                        <a:ext uri="{FF2B5EF4-FFF2-40B4-BE49-F238E27FC236}">
                          <a16:creationId xmlns:a16="http://schemas.microsoft.com/office/drawing/2014/main" id="{5809E9B9-E741-68AD-D217-E199E00794EE}"/>
                        </a:ext>
                      </a:extLst>
                    </p:cNvPr>
                    <p:cNvSpPr txBox="1"/>
                    <p:nvPr/>
                  </p:nvSpPr>
                  <p:spPr>
                    <a:xfrm>
                      <a:off x="6374132" y="4322952"/>
                      <a:ext cx="1760594" cy="306395"/>
                    </a:xfrm>
                    <a:prstGeom prst="rect">
                      <a:avLst/>
                    </a:prstGeom>
                    <a:noFill/>
                  </p:spPr>
                  <p:txBody>
                    <a:bodyPr wrap="none">
                      <a:spAutoFit/>
                    </a:bodyPr>
                    <a:lstStyle/>
                    <a:p>
                      <a:pPr>
                        <a:defRPr/>
                      </a:pPr>
                      <a:r>
                        <a:rPr lang="en-IN" sz="1400" b="1" dirty="0">
                          <a:solidFill>
                            <a:srgbClr val="F8F8F8">
                              <a:lumMod val="25000"/>
                            </a:srgbClr>
                          </a:solidFill>
                        </a:rPr>
                        <a:t>Market Access DMCC</a:t>
                      </a:r>
                    </a:p>
                  </p:txBody>
                </p:sp>
                <p:sp>
                  <p:nvSpPr>
                    <p:cNvPr id="19" name="TextBox 41">
                      <a:extLst>
                        <a:ext uri="{FF2B5EF4-FFF2-40B4-BE49-F238E27FC236}">
                          <a16:creationId xmlns:a16="http://schemas.microsoft.com/office/drawing/2014/main" id="{9B546961-C861-56A8-7E65-8596A932CE67}"/>
                        </a:ext>
                      </a:extLst>
                    </p:cNvPr>
                    <p:cNvSpPr txBox="1">
                      <a:spLocks noChangeArrowheads="1"/>
                    </p:cNvSpPr>
                    <p:nvPr/>
                  </p:nvSpPr>
                  <p:spPr bwMode="auto">
                    <a:xfrm>
                      <a:off x="6373418" y="4592818"/>
                      <a:ext cx="212314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1602-6 Jumeirah Bay X2 Tower,</a:t>
                      </a:r>
                    </a:p>
                    <a:p>
                      <a:r>
                        <a:rPr lang="en-US" altLang="en-US" sz="1200"/>
                        <a:t>Plot No: JLT-PH2-X2A,</a:t>
                      </a:r>
                    </a:p>
                    <a:p>
                      <a:r>
                        <a:rPr lang="en-US" altLang="en-US" sz="1200"/>
                        <a:t>Jumeirah Lakes Towers, Dubai,</a:t>
                      </a:r>
                    </a:p>
                    <a:p>
                      <a:r>
                        <a:rPr lang="en-US" altLang="en-US" sz="1200"/>
                        <a:t>United Arab Emirates</a:t>
                      </a:r>
                      <a:endParaRPr lang="en-IN" altLang="en-US" sz="1200"/>
                    </a:p>
                  </p:txBody>
                </p:sp>
              </p:grpSp>
              <p:pic>
                <p:nvPicPr>
                  <p:cNvPr id="20" name="Picture 40">
                    <a:extLst>
                      <a:ext uri="{FF2B5EF4-FFF2-40B4-BE49-F238E27FC236}">
                        <a16:creationId xmlns:a16="http://schemas.microsoft.com/office/drawing/2014/main" id="{5156A16E-B887-4177-3106-696D2F06FC26}"/>
                      </a:ext>
                    </a:extLst>
                  </p:cNvPr>
                  <p:cNvPicPr>
                    <a:picLocks noChangeAspect="1"/>
                  </p:cNvPicPr>
                  <p:nvPr/>
                </p:nvPicPr>
                <p:blipFill>
                  <a:blip r:embed="rId2">
                    <a:duotone>
                      <a:srgbClr val="A35313">
                        <a:shade val="45000"/>
                        <a:satMod val="135000"/>
                      </a:srgbClr>
                      <a:prstClr val="white"/>
                    </a:duotone>
                  </a:blip>
                  <a:stretch>
                    <a:fillRect/>
                  </a:stretch>
                </p:blipFill>
                <p:spPr>
                  <a:xfrm>
                    <a:off x="6553299" y="3532655"/>
                    <a:ext cx="314753" cy="579465"/>
                  </a:xfrm>
                  <a:prstGeom prst="rect">
                    <a:avLst/>
                  </a:prstGeom>
                </p:spPr>
              </p:pic>
            </p:grpSp>
            <p:grpSp>
              <p:nvGrpSpPr>
                <p:cNvPr id="21" name="Group 5">
                  <a:extLst>
                    <a:ext uri="{FF2B5EF4-FFF2-40B4-BE49-F238E27FC236}">
                      <a16:creationId xmlns:a16="http://schemas.microsoft.com/office/drawing/2014/main" id="{2A4B2992-1262-B6DC-A65D-C0A800D496DF}"/>
                    </a:ext>
                  </a:extLst>
                </p:cNvPr>
                <p:cNvGrpSpPr>
                  <a:grpSpLocks/>
                </p:cNvGrpSpPr>
                <p:nvPr/>
              </p:nvGrpSpPr>
              <p:grpSpPr bwMode="auto">
                <a:xfrm>
                  <a:off x="3461337" y="3716063"/>
                  <a:ext cx="2276777" cy="2040353"/>
                  <a:chOff x="3837718" y="3645035"/>
                  <a:chExt cx="2276777" cy="2040353"/>
                </a:xfrm>
              </p:grpSpPr>
              <p:grpSp>
                <p:nvGrpSpPr>
                  <p:cNvPr id="22" name="Group 27">
                    <a:extLst>
                      <a:ext uri="{FF2B5EF4-FFF2-40B4-BE49-F238E27FC236}">
                        <a16:creationId xmlns:a16="http://schemas.microsoft.com/office/drawing/2014/main" id="{6828E551-2150-B3BA-D2CA-97B824FA8924}"/>
                      </a:ext>
                    </a:extLst>
                  </p:cNvPr>
                  <p:cNvGrpSpPr>
                    <a:grpSpLocks/>
                  </p:cNvGrpSpPr>
                  <p:nvPr/>
                </p:nvGrpSpPr>
                <p:grpSpPr bwMode="auto">
                  <a:xfrm>
                    <a:off x="3837718" y="3780584"/>
                    <a:ext cx="2276777" cy="1904804"/>
                    <a:chOff x="3358345" y="3965261"/>
                    <a:chExt cx="2276777" cy="1904804"/>
                  </a:xfrm>
                </p:grpSpPr>
                <p:sp>
                  <p:nvSpPr>
                    <p:cNvPr id="23" name="TextBox 42">
                      <a:extLst>
                        <a:ext uri="{FF2B5EF4-FFF2-40B4-BE49-F238E27FC236}">
                          <a16:creationId xmlns:a16="http://schemas.microsoft.com/office/drawing/2014/main" id="{A41A6F39-951D-AE17-5A44-85C21DFFF8C3}"/>
                        </a:ext>
                      </a:extLst>
                    </p:cNvPr>
                    <p:cNvSpPr txBox="1">
                      <a:spLocks noChangeArrowheads="1"/>
                    </p:cNvSpPr>
                    <p:nvPr/>
                  </p:nvSpPr>
                  <p:spPr bwMode="auto">
                    <a:xfrm>
                      <a:off x="3744196" y="3965261"/>
                      <a:ext cx="9705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048B42"/>
                          </a:solidFill>
                        </a:rPr>
                        <a:t>Americas</a:t>
                      </a:r>
                    </a:p>
                  </p:txBody>
                </p:sp>
                <p:sp>
                  <p:nvSpPr>
                    <p:cNvPr id="24" name="TextBox 36">
                      <a:extLst>
                        <a:ext uri="{FF2B5EF4-FFF2-40B4-BE49-F238E27FC236}">
                          <a16:creationId xmlns:a16="http://schemas.microsoft.com/office/drawing/2014/main" id="{40F1E73B-005C-8069-CCAA-3318246B265D}"/>
                        </a:ext>
                      </a:extLst>
                    </p:cNvPr>
                    <p:cNvSpPr txBox="1"/>
                    <p:nvPr/>
                  </p:nvSpPr>
                  <p:spPr>
                    <a:xfrm>
                      <a:off x="3357675" y="4448839"/>
                      <a:ext cx="1871722" cy="307982"/>
                    </a:xfrm>
                    <a:prstGeom prst="rect">
                      <a:avLst/>
                    </a:prstGeom>
                    <a:noFill/>
                  </p:spPr>
                  <p:txBody>
                    <a:bodyPr wrap="none">
                      <a:spAutoFit/>
                    </a:bodyPr>
                    <a:lstStyle/>
                    <a:p>
                      <a:pPr>
                        <a:defRPr/>
                      </a:pPr>
                      <a:r>
                        <a:rPr lang="en-IN" sz="1400" b="1" dirty="0">
                          <a:solidFill>
                            <a:srgbClr val="F8F8F8">
                              <a:lumMod val="25000"/>
                            </a:srgbClr>
                          </a:solidFill>
                        </a:rPr>
                        <a:t>Future Market Insights</a:t>
                      </a:r>
                    </a:p>
                  </p:txBody>
                </p:sp>
                <p:sp>
                  <p:nvSpPr>
                    <p:cNvPr id="25" name="TextBox 44">
                      <a:extLst>
                        <a:ext uri="{FF2B5EF4-FFF2-40B4-BE49-F238E27FC236}">
                          <a16:creationId xmlns:a16="http://schemas.microsoft.com/office/drawing/2014/main" id="{4ACA2C08-410D-CEED-63E0-EB4A1E0D76C3}"/>
                        </a:ext>
                      </a:extLst>
                    </p:cNvPr>
                    <p:cNvSpPr txBox="1">
                      <a:spLocks noChangeArrowheads="1"/>
                    </p:cNvSpPr>
                    <p:nvPr/>
                  </p:nvSpPr>
                  <p:spPr bwMode="auto">
                    <a:xfrm>
                      <a:off x="3358345" y="4720292"/>
                      <a:ext cx="227677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616 Corporate Way, Suite 2-9018,</a:t>
                      </a:r>
                    </a:p>
                    <a:p>
                      <a:r>
                        <a:rPr lang="en-US" altLang="en-US" sz="1200"/>
                        <a:t>Valley Cottage, NY 10989,</a:t>
                      </a:r>
                    </a:p>
                    <a:p>
                      <a:r>
                        <a:rPr lang="en-US" altLang="en-US" sz="1200"/>
                        <a:t>United States</a:t>
                      </a:r>
                      <a:endParaRPr lang="en-IN" altLang="en-US" sz="1200"/>
                    </a:p>
                  </p:txBody>
                </p:sp>
                <p:sp>
                  <p:nvSpPr>
                    <p:cNvPr id="26" name="TextBox 45">
                      <a:extLst>
                        <a:ext uri="{FF2B5EF4-FFF2-40B4-BE49-F238E27FC236}">
                          <a16:creationId xmlns:a16="http://schemas.microsoft.com/office/drawing/2014/main" id="{FE65EAAC-CE25-57B8-E88C-905CD3E8F924}"/>
                        </a:ext>
                      </a:extLst>
                    </p:cNvPr>
                    <p:cNvSpPr txBox="1">
                      <a:spLocks noChangeArrowheads="1"/>
                    </p:cNvSpPr>
                    <p:nvPr/>
                  </p:nvSpPr>
                  <p:spPr bwMode="auto">
                    <a:xfrm>
                      <a:off x="3358345" y="5593066"/>
                      <a:ext cx="14073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+1-347-918-3531</a:t>
                      </a:r>
                      <a:endParaRPr lang="en-IN" altLang="en-US" sz="1200"/>
                    </a:p>
                  </p:txBody>
                </p:sp>
              </p:grpSp>
              <p:pic>
                <p:nvPicPr>
                  <p:cNvPr id="27" name="Picture 34">
                    <a:extLst>
                      <a:ext uri="{FF2B5EF4-FFF2-40B4-BE49-F238E27FC236}">
                        <a16:creationId xmlns:a16="http://schemas.microsoft.com/office/drawing/2014/main" id="{AE4DE93F-AF7B-7477-A367-DD4AF96A40A2}"/>
                      </a:ext>
                    </a:extLst>
                  </p:cNvPr>
                  <p:cNvPicPr>
                    <a:picLocks noChangeAspect="1"/>
                  </p:cNvPicPr>
                  <p:nvPr/>
                </p:nvPicPr>
                <p:blipFill>
                  <a:blip r:embed="rId3">
                    <a:duotone>
                      <a:srgbClr val="008189">
                        <a:shade val="45000"/>
                        <a:satMod val="135000"/>
                      </a:srgbClr>
                      <a:prstClr val="white"/>
                    </a:duotone>
                  </a:blip>
                  <a:stretch>
                    <a:fillRect/>
                  </a:stretch>
                </p:blipFill>
                <p:spPr>
                  <a:xfrm>
                    <a:off x="3941302" y="3645035"/>
                    <a:ext cx="304826" cy="609653"/>
                  </a:xfrm>
                  <a:prstGeom prst="rect">
                    <a:avLst/>
                  </a:prstGeom>
                </p:spPr>
              </p:pic>
            </p:grpSp>
            <p:grpSp>
              <p:nvGrpSpPr>
                <p:cNvPr id="28" name="Group 6">
                  <a:extLst>
                    <a:ext uri="{FF2B5EF4-FFF2-40B4-BE49-F238E27FC236}">
                      <a16:creationId xmlns:a16="http://schemas.microsoft.com/office/drawing/2014/main" id="{190EABA1-B31E-3B09-B1F2-A13884B8AD17}"/>
                    </a:ext>
                  </a:extLst>
                </p:cNvPr>
                <p:cNvGrpSpPr>
                  <a:grpSpLocks/>
                </p:cNvGrpSpPr>
                <p:nvPr/>
              </p:nvGrpSpPr>
              <p:grpSpPr bwMode="auto">
                <a:xfrm>
                  <a:off x="249774" y="3783125"/>
                  <a:ext cx="2236703" cy="1973291"/>
                  <a:chOff x="1216927" y="3772923"/>
                  <a:chExt cx="2236703" cy="1973291"/>
                </a:xfrm>
              </p:grpSpPr>
              <p:grpSp>
                <p:nvGrpSpPr>
                  <p:cNvPr id="29" name="Group 25">
                    <a:extLst>
                      <a:ext uri="{FF2B5EF4-FFF2-40B4-BE49-F238E27FC236}">
                        <a16:creationId xmlns:a16="http://schemas.microsoft.com/office/drawing/2014/main" id="{A1A8DC19-AF5B-6C89-F2CD-2778F01B419C}"/>
                      </a:ext>
                    </a:extLst>
                  </p:cNvPr>
                  <p:cNvGrpSpPr>
                    <a:grpSpLocks/>
                  </p:cNvGrpSpPr>
                  <p:nvPr/>
                </p:nvGrpSpPr>
                <p:grpSpPr bwMode="auto">
                  <a:xfrm>
                    <a:off x="1216927" y="3841410"/>
                    <a:ext cx="2236703" cy="1904804"/>
                    <a:chOff x="343272" y="4026087"/>
                    <a:chExt cx="2236703" cy="1904804"/>
                  </a:xfrm>
                </p:grpSpPr>
                <p:sp>
                  <p:nvSpPr>
                    <p:cNvPr id="30" name="TextBox 29">
                      <a:extLst>
                        <a:ext uri="{FF2B5EF4-FFF2-40B4-BE49-F238E27FC236}">
                          <a16:creationId xmlns:a16="http://schemas.microsoft.com/office/drawing/2014/main" id="{C78C136C-FF65-10A5-69D0-6976A498591E}"/>
                        </a:ext>
                      </a:extLst>
                    </p:cNvPr>
                    <p:cNvSpPr txBox="1"/>
                    <p:nvPr/>
                  </p:nvSpPr>
                  <p:spPr>
                    <a:xfrm>
                      <a:off x="963283" y="4025467"/>
                      <a:ext cx="1347831" cy="338146"/>
                    </a:xfrm>
                    <a:prstGeom prst="rect">
                      <a:avLst/>
                    </a:prstGeom>
                    <a:noFill/>
                  </p:spPr>
                  <p:txBody>
                    <a:bodyPr wrap="none">
                      <a:spAutoFit/>
                    </a:bodyPr>
                    <a:lstStyle/>
                    <a:p>
                      <a:pPr>
                        <a:defRPr/>
                      </a:pPr>
                      <a:r>
                        <a:rPr lang="en-IN" sz="1600" b="1" dirty="0">
                          <a:solidFill>
                            <a:srgbClr val="2A5F8F">
                              <a:lumMod val="50000"/>
                            </a:srgbClr>
                          </a:solidFill>
                        </a:rPr>
                        <a:t>Headquarters</a:t>
                      </a:r>
                    </a:p>
                  </p:txBody>
                </p:sp>
                <p:sp>
                  <p:nvSpPr>
                    <p:cNvPr id="31" name="TextBox 30">
                      <a:extLst>
                        <a:ext uri="{FF2B5EF4-FFF2-40B4-BE49-F238E27FC236}">
                          <a16:creationId xmlns:a16="http://schemas.microsoft.com/office/drawing/2014/main" id="{5CFB6527-6D97-69B5-C71C-CC03EB68BBF7}"/>
                        </a:ext>
                      </a:extLst>
                    </p:cNvPr>
                    <p:cNvSpPr txBox="1"/>
                    <p:nvPr/>
                  </p:nvSpPr>
                  <p:spPr>
                    <a:xfrm>
                      <a:off x="342551" y="4509666"/>
                      <a:ext cx="2225746" cy="307982"/>
                    </a:xfrm>
                    <a:prstGeom prst="rect">
                      <a:avLst/>
                    </a:prstGeom>
                    <a:noFill/>
                  </p:spPr>
                  <p:txBody>
                    <a:bodyPr wrap="none">
                      <a:spAutoFit/>
                    </a:bodyPr>
                    <a:lstStyle/>
                    <a:p>
                      <a:pPr>
                        <a:defRPr/>
                      </a:pPr>
                      <a:r>
                        <a:rPr lang="en-IN" sz="1400" b="1" dirty="0">
                          <a:solidFill>
                            <a:srgbClr val="F8F8F8">
                              <a:lumMod val="25000"/>
                            </a:srgbClr>
                          </a:solidFill>
                        </a:rPr>
                        <a:t>Future Market Insights, Inc.</a:t>
                      </a:r>
                    </a:p>
                  </p:txBody>
                </p:sp>
                <p:sp>
                  <p:nvSpPr>
                    <p:cNvPr id="32" name="TextBox 48">
                      <a:extLst>
                        <a:ext uri="{FF2B5EF4-FFF2-40B4-BE49-F238E27FC236}">
                          <a16:creationId xmlns:a16="http://schemas.microsoft.com/office/drawing/2014/main" id="{5E42A1C6-BB29-D226-788C-C515B7D7F676}"/>
                        </a:ext>
                      </a:extLst>
                    </p:cNvPr>
                    <p:cNvSpPr txBox="1">
                      <a:spLocks noChangeArrowheads="1"/>
                    </p:cNvSpPr>
                    <p:nvPr/>
                  </p:nvSpPr>
                  <p:spPr bwMode="auto">
                    <a:xfrm>
                      <a:off x="343272" y="4781118"/>
                      <a:ext cx="223670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Christiana Corporate,</a:t>
                      </a:r>
                    </a:p>
                    <a:p>
                      <a:r>
                        <a:rPr lang="en-US" altLang="en-US" sz="1200"/>
                        <a:t>200 Continental Drive, Suite 401,</a:t>
                      </a:r>
                    </a:p>
                    <a:p>
                      <a:r>
                        <a:rPr lang="en-US" altLang="en-US" sz="1200"/>
                        <a:t>Newark, Delaware - 19713,</a:t>
                      </a:r>
                    </a:p>
                    <a:p>
                      <a:r>
                        <a:rPr lang="en-US" altLang="en-US" sz="1200"/>
                        <a:t>United States</a:t>
                      </a:r>
                      <a:endParaRPr lang="en-IN" altLang="en-US" sz="1200"/>
                    </a:p>
                  </p:txBody>
                </p:sp>
                <p:sp>
                  <p:nvSpPr>
                    <p:cNvPr id="33" name="TextBox 49">
                      <a:extLst>
                        <a:ext uri="{FF2B5EF4-FFF2-40B4-BE49-F238E27FC236}">
                          <a16:creationId xmlns:a16="http://schemas.microsoft.com/office/drawing/2014/main" id="{7B0EBAC2-0F15-2082-71DE-E18F4A36524D}"/>
                        </a:ext>
                      </a:extLst>
                    </p:cNvPr>
                    <p:cNvSpPr txBox="1">
                      <a:spLocks noChangeArrowheads="1"/>
                    </p:cNvSpPr>
                    <p:nvPr/>
                  </p:nvSpPr>
                  <p:spPr bwMode="auto">
                    <a:xfrm>
                      <a:off x="343272" y="5653892"/>
                      <a:ext cx="14073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+1-845-579-5705</a:t>
                      </a:r>
                      <a:endParaRPr lang="en-IN" altLang="en-US" sz="1200"/>
                    </a:p>
                  </p:txBody>
                </p:sp>
              </p:grpSp>
              <p:pic>
                <p:nvPicPr>
                  <p:cNvPr id="34" name="Picture 28">
                    <a:extLst>
                      <a:ext uri="{FF2B5EF4-FFF2-40B4-BE49-F238E27FC236}">
                        <a16:creationId xmlns:a16="http://schemas.microsoft.com/office/drawing/2014/main" id="{B598E670-72B9-922C-CBE9-A98B47FD87DC}"/>
                      </a:ext>
                    </a:extLst>
                  </p:cNvPr>
                  <p:cNvPicPr>
                    <a:picLocks noChangeAspect="1"/>
                  </p:cNvPicPr>
                  <p:nvPr/>
                </p:nvPicPr>
                <p:blipFill>
                  <a:blip r:embed="rId4">
                    <a:duotone>
                      <a:srgbClr val="2A5F8F">
                        <a:shade val="45000"/>
                        <a:satMod val="135000"/>
                      </a:srgbClr>
                      <a:prstClr val="white"/>
                    </a:duotone>
                  </a:blip>
                  <a:stretch>
                    <a:fillRect/>
                  </a:stretch>
                </p:blipFill>
                <p:spPr>
                  <a:xfrm>
                    <a:off x="1306513" y="3772923"/>
                    <a:ext cx="469433" cy="475529"/>
                  </a:xfrm>
                  <a:prstGeom prst="rect">
                    <a:avLst/>
                  </a:prstGeom>
                </p:spPr>
              </p:pic>
            </p:grpSp>
            <p:grpSp>
              <p:nvGrpSpPr>
                <p:cNvPr id="35" name="Group 2">
                  <a:extLst>
                    <a:ext uri="{FF2B5EF4-FFF2-40B4-BE49-F238E27FC236}">
                      <a16:creationId xmlns:a16="http://schemas.microsoft.com/office/drawing/2014/main" id="{4F9635CF-9D3F-75B0-5B7E-AEF9828266C3}"/>
                    </a:ext>
                  </a:extLst>
                </p:cNvPr>
                <p:cNvGrpSpPr>
                  <a:grpSpLocks/>
                </p:cNvGrpSpPr>
                <p:nvPr/>
              </p:nvGrpSpPr>
              <p:grpSpPr bwMode="auto">
                <a:xfrm>
                  <a:off x="9935559" y="3767762"/>
                  <a:ext cx="1982905" cy="1988654"/>
                  <a:chOff x="9005815" y="3745083"/>
                  <a:chExt cx="1982905" cy="1988654"/>
                </a:xfrm>
              </p:grpSpPr>
              <p:grpSp>
                <p:nvGrpSpPr>
                  <p:cNvPr id="36" name="Group 29">
                    <a:extLst>
                      <a:ext uri="{FF2B5EF4-FFF2-40B4-BE49-F238E27FC236}">
                        <a16:creationId xmlns:a16="http://schemas.microsoft.com/office/drawing/2014/main" id="{17F31F47-291F-4405-8AEA-EC1AAB6AA332}"/>
                      </a:ext>
                    </a:extLst>
                  </p:cNvPr>
                  <p:cNvGrpSpPr>
                    <a:grpSpLocks/>
                  </p:cNvGrpSpPr>
                  <p:nvPr/>
                </p:nvGrpSpPr>
                <p:grpSpPr bwMode="auto">
                  <a:xfrm>
                    <a:off x="9005815" y="3828933"/>
                    <a:ext cx="1982905" cy="1904804"/>
                    <a:chOff x="9388489" y="4013610"/>
                    <a:chExt cx="1982905" cy="1904804"/>
                  </a:xfrm>
                </p:grpSpPr>
                <p:sp>
                  <p:nvSpPr>
                    <p:cNvPr id="37" name="TextBox 32">
                      <a:extLst>
                        <a:ext uri="{FF2B5EF4-FFF2-40B4-BE49-F238E27FC236}">
                          <a16:creationId xmlns:a16="http://schemas.microsoft.com/office/drawing/2014/main" id="{C20F854C-8002-E239-0772-DDA0A057E702}"/>
                        </a:ext>
                      </a:extLst>
                    </p:cNvPr>
                    <p:cNvSpPr txBox="1">
                      <a:spLocks noChangeArrowheads="1"/>
                    </p:cNvSpPr>
                    <p:nvPr/>
                  </p:nvSpPr>
                  <p:spPr bwMode="auto">
                    <a:xfrm>
                      <a:off x="9829414" y="4013610"/>
                      <a:ext cx="7897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8F288C"/>
                          </a:solidFill>
                        </a:rPr>
                        <a:t>Europe</a:t>
                      </a:r>
                    </a:p>
                  </p:txBody>
                </p:sp>
                <p:sp>
                  <p:nvSpPr>
                    <p:cNvPr id="38" name="TextBox 23">
                      <a:extLst>
                        <a:ext uri="{FF2B5EF4-FFF2-40B4-BE49-F238E27FC236}">
                          <a16:creationId xmlns:a16="http://schemas.microsoft.com/office/drawing/2014/main" id="{3322F8A5-D2B8-33CA-96AC-DF4EE7ACCB80}"/>
                        </a:ext>
                      </a:extLst>
                    </p:cNvPr>
                    <p:cNvSpPr txBox="1"/>
                    <p:nvPr/>
                  </p:nvSpPr>
                  <p:spPr>
                    <a:xfrm>
                      <a:off x="9389214" y="4498775"/>
                      <a:ext cx="1870134" cy="307982"/>
                    </a:xfrm>
                    <a:prstGeom prst="rect">
                      <a:avLst/>
                    </a:prstGeom>
                    <a:noFill/>
                  </p:spPr>
                  <p:txBody>
                    <a:bodyPr wrap="none">
                      <a:spAutoFit/>
                    </a:bodyPr>
                    <a:lstStyle/>
                    <a:p>
                      <a:pPr>
                        <a:defRPr/>
                      </a:pPr>
                      <a:r>
                        <a:rPr lang="en-IN" sz="1400" b="1" dirty="0">
                          <a:solidFill>
                            <a:srgbClr val="F8F8F8">
                              <a:lumMod val="25000"/>
                            </a:srgbClr>
                          </a:solidFill>
                        </a:rPr>
                        <a:t>Future Market Insights</a:t>
                      </a:r>
                    </a:p>
                  </p:txBody>
                </p:sp>
                <p:sp>
                  <p:nvSpPr>
                    <p:cNvPr id="39" name="TextBox 36">
                      <a:extLst>
                        <a:ext uri="{FF2B5EF4-FFF2-40B4-BE49-F238E27FC236}">
                          <a16:creationId xmlns:a16="http://schemas.microsoft.com/office/drawing/2014/main" id="{BF5AF88F-6B60-2785-4EAA-4D18C1EE2E10}"/>
                        </a:ext>
                      </a:extLst>
                    </p:cNvPr>
                    <p:cNvSpPr txBox="1">
                      <a:spLocks noChangeArrowheads="1"/>
                    </p:cNvSpPr>
                    <p:nvPr/>
                  </p:nvSpPr>
                  <p:spPr bwMode="auto">
                    <a:xfrm>
                      <a:off x="9402137" y="4768641"/>
                      <a:ext cx="196925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3rd Floor, 207 Regent Street,</a:t>
                      </a:r>
                    </a:p>
                    <a:p>
                      <a:r>
                        <a:rPr lang="en-US" altLang="en-US" sz="1200"/>
                        <a:t>London W1B 3HH</a:t>
                      </a:r>
                    </a:p>
                    <a:p>
                      <a:r>
                        <a:rPr lang="en-US" altLang="en-US" sz="1200"/>
                        <a:t>United Kingdom</a:t>
                      </a:r>
                      <a:endParaRPr lang="en-IN" altLang="en-US" sz="1200"/>
                    </a:p>
                  </p:txBody>
                </p:sp>
                <p:sp>
                  <p:nvSpPr>
                    <p:cNvPr id="40" name="TextBox 37">
                      <a:extLst>
                        <a:ext uri="{FF2B5EF4-FFF2-40B4-BE49-F238E27FC236}">
                          <a16:creationId xmlns:a16="http://schemas.microsoft.com/office/drawing/2014/main" id="{6C7DE665-66A8-41DE-5008-32252CDA85C7}"/>
                        </a:ext>
                      </a:extLst>
                    </p:cNvPr>
                    <p:cNvSpPr txBox="1">
                      <a:spLocks noChangeArrowheads="1"/>
                    </p:cNvSpPr>
                    <p:nvPr/>
                  </p:nvSpPr>
                  <p:spPr bwMode="auto">
                    <a:xfrm>
                      <a:off x="9388489" y="5641415"/>
                      <a:ext cx="16882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D: +44 (0) 20 3287 4268</a:t>
                      </a:r>
                      <a:endParaRPr lang="en-IN" altLang="en-US" sz="1200"/>
                    </a:p>
                  </p:txBody>
                </p:sp>
                <p:sp>
                  <p:nvSpPr>
                    <p:cNvPr id="41" name="TextBox 38">
                      <a:extLst>
                        <a:ext uri="{FF2B5EF4-FFF2-40B4-BE49-F238E27FC236}">
                          <a16:creationId xmlns:a16="http://schemas.microsoft.com/office/drawing/2014/main" id="{7192F681-8D30-360D-BE9D-3B3024A1F2DD}"/>
                        </a:ext>
                      </a:extLst>
                    </p:cNvPr>
                    <p:cNvSpPr txBox="1">
                      <a:spLocks noChangeArrowheads="1"/>
                    </p:cNvSpPr>
                    <p:nvPr/>
                  </p:nvSpPr>
                  <p:spPr bwMode="auto">
                    <a:xfrm>
                      <a:off x="9388489" y="5392439"/>
                      <a:ext cx="169424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+ 44 (0) 20 8123 9659</a:t>
                      </a:r>
                      <a:endParaRPr lang="en-IN" altLang="en-US" sz="1200"/>
                    </a:p>
                  </p:txBody>
                </p:sp>
              </p:grpSp>
              <p:pic>
                <p:nvPicPr>
                  <p:cNvPr id="42" name="Picture 21">
                    <a:extLst>
                      <a:ext uri="{FF2B5EF4-FFF2-40B4-BE49-F238E27FC236}">
                        <a16:creationId xmlns:a16="http://schemas.microsoft.com/office/drawing/2014/main" id="{0DB190B5-E4D9-2234-7560-F46B079C348A}"/>
                      </a:ext>
                    </a:extLst>
                  </p:cNvPr>
                  <p:cNvPicPr>
                    <a:picLocks noChangeAspect="1"/>
                  </p:cNvPicPr>
                  <p:nvPr/>
                </p:nvPicPr>
                <p:blipFill>
                  <a:blip r:embed="rId5">
                    <a:duotone>
                      <a:srgbClr val="40315E">
                        <a:shade val="45000"/>
                        <a:satMod val="135000"/>
                      </a:srgbClr>
                      <a:prstClr val="white"/>
                    </a:duotone>
                  </a:blip>
                  <a:stretch>
                    <a:fillRect/>
                  </a:stretch>
                </p:blipFill>
                <p:spPr>
                  <a:xfrm>
                    <a:off x="9124235" y="3745083"/>
                    <a:ext cx="348835" cy="506254"/>
                  </a:xfrm>
                  <a:prstGeom prst="rect">
                    <a:avLst/>
                  </a:prstGeom>
                </p:spPr>
              </p:pic>
            </p:grpSp>
          </p:grpSp>
          <p:sp>
            <p:nvSpPr>
              <p:cNvPr id="43" name="TextBox 55">
                <a:extLst>
                  <a:ext uri="{FF2B5EF4-FFF2-40B4-BE49-F238E27FC236}">
                    <a16:creationId xmlns:a16="http://schemas.microsoft.com/office/drawing/2014/main" id="{143EC9E9-5458-9CB8-6ACE-446AFE79BB51}"/>
                  </a:ext>
                </a:extLst>
              </p:cNvPr>
              <p:cNvSpPr txBox="1">
                <a:spLocks noChangeArrowheads="1"/>
              </p:cNvSpPr>
              <p:nvPr/>
            </p:nvSpPr>
            <p:spPr bwMode="auto">
              <a:xfrm>
                <a:off x="274514" y="798871"/>
                <a:ext cx="1890261" cy="2041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pPr algn="ctr">
                  <a:lnSpc>
                    <a:spcPts val="7600"/>
                  </a:lnSpc>
                </a:pPr>
                <a:r>
                  <a:rPr lang="en-IN" altLang="en-US" sz="8000">
                    <a:solidFill>
                      <a:srgbClr val="00B0F0"/>
                    </a:solidFill>
                    <a:latin typeface="Juxtaposer"/>
                  </a:rPr>
                  <a:t>Thank</a:t>
                </a:r>
                <a:br>
                  <a:rPr lang="en-IN" altLang="en-US" sz="8000">
                    <a:solidFill>
                      <a:srgbClr val="00B0F0"/>
                    </a:solidFill>
                    <a:latin typeface="Juxtaposer"/>
                  </a:rPr>
                </a:br>
                <a:r>
                  <a:rPr lang="en-IN" altLang="en-US" sz="8000">
                    <a:solidFill>
                      <a:srgbClr val="00B0F0"/>
                    </a:solidFill>
                    <a:latin typeface="Juxtaposer"/>
                  </a:rPr>
                  <a:t>You</a:t>
                </a:r>
              </a:p>
            </p:txBody>
          </p:sp>
          <p:pic>
            <p:nvPicPr>
              <p:cNvPr id="44" name="Picture 10">
                <a:extLst>
                  <a:ext uri="{FF2B5EF4-FFF2-40B4-BE49-F238E27FC236}">
                    <a16:creationId xmlns:a16="http://schemas.microsoft.com/office/drawing/2014/main" id="{BB144989-CF53-8B1E-220B-C1AE23628EE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492719" y="229820"/>
                <a:ext cx="3171090" cy="3179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5" name="Group 19">
                <a:extLst>
                  <a:ext uri="{FF2B5EF4-FFF2-40B4-BE49-F238E27FC236}">
                    <a16:creationId xmlns:a16="http://schemas.microsoft.com/office/drawing/2014/main" id="{31EE7083-91D9-EAE9-7B4A-61CD2CD28015}"/>
                  </a:ext>
                </a:extLst>
              </p:cNvPr>
              <p:cNvGrpSpPr>
                <a:grpSpLocks/>
              </p:cNvGrpSpPr>
              <p:nvPr/>
            </p:nvGrpSpPr>
            <p:grpSpPr bwMode="auto">
              <a:xfrm>
                <a:off x="6166925" y="272562"/>
                <a:ext cx="5750562" cy="3051976"/>
                <a:chOff x="6166925" y="272562"/>
                <a:chExt cx="5750562" cy="3051976"/>
              </a:xfrm>
            </p:grpSpPr>
            <p:pic>
              <p:nvPicPr>
                <p:cNvPr id="46" name="Picture 1">
                  <a:extLst>
                    <a:ext uri="{FF2B5EF4-FFF2-40B4-BE49-F238E27FC236}">
                      <a16:creationId xmlns:a16="http://schemas.microsoft.com/office/drawing/2014/main" id="{021C83A4-8483-5171-EA6C-FF76CE65A12D}"/>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66925" y="2103900"/>
                  <a:ext cx="5750562" cy="12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58">
                  <a:extLst>
                    <a:ext uri="{FF2B5EF4-FFF2-40B4-BE49-F238E27FC236}">
                      <a16:creationId xmlns:a16="http://schemas.microsoft.com/office/drawing/2014/main" id="{38693FBE-DE43-1025-B0DC-2ADDCCB25AB1}"/>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493725" y="272562"/>
                  <a:ext cx="3096962" cy="1740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spTree>
  </p:cSld>
  <p:clrMapOvr>
    <a:masterClrMapping/>
  </p:clrMapOvr>
</p:sld>
</file>

<file path=ppt/theme/theme1.xml><?xml version="1.0" encoding="utf-8"?>
<a:theme xmlns:a="http://schemas.openxmlformats.org/drawingml/2006/main" name="Office Theme">
  <a:themeElements>
    <a:clrScheme name="Custom 70">
      <a:dk1>
        <a:sysClr val="windowText" lastClr="000000"/>
      </a:dk1>
      <a:lt1>
        <a:sysClr val="window" lastClr="FFFFFF"/>
      </a:lt1>
      <a:dk2>
        <a:srgbClr val="000000"/>
      </a:dk2>
      <a:lt2>
        <a:srgbClr val="F8F8F8"/>
      </a:lt2>
      <a:accent1>
        <a:srgbClr val="3D85C6"/>
      </a:accent1>
      <a:accent2>
        <a:srgbClr val="9E7E0A"/>
      </a:accent2>
      <a:accent3>
        <a:srgbClr val="40315E"/>
      </a:accent3>
      <a:accent4>
        <a:srgbClr val="008189"/>
      </a:accent4>
      <a:accent5>
        <a:srgbClr val="A35313"/>
      </a:accent5>
      <a:accent6>
        <a:srgbClr val="5F5F5F"/>
      </a:accent6>
      <a:hlink>
        <a:srgbClr val="5F5F5F"/>
      </a:hlink>
      <a:folHlink>
        <a:srgbClr val="919191"/>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